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postoperative wound infections mostly appear AFTER discharge — exactly when nobody is looking at the wound. Our thread for the next ten minutes is the translation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not a knowledge gap in professionals — it is an observation gap at home, plus laypeople being unable to tell normal from abnormal. Explainability beats predictive accuracy in a patient-facing safety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Personas drive design decisions: images instead of terminology because of Peter; alerts only from ORANGE upwards because of Sandra; classification as a separate FHIR Observation because of Dr Keller.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deliberately separated: CDC defines WHAT an SSI is, NICE says WHEN to act, Southampton says HOW to describe the wound visually. NICE 1.1.3 is the legitimation of the whole use case — it already requires that patients be taught to recognise an SSI; we operationalise a recommendation that usually ends up as a leaflet. And we grade our own evidence rather than citing it uncritically.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hinge of the whole talk: the image selection is the answer to the translation problem, and it is anchored in a published instrument rather than invented by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out loud: four lanes, so responsibility is explicit. One business rule task — the app decides nothing itself, it executes the L3 decision table. Every completed check is written to the record, INCLUDING green: without that baseline the surgeon has no trajectory at the follow-up appointment. Two end events: check completed, or case handed to the practice. Real BPMN 2.0, editable in bpmn.io — not a flowchart with diamonds.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element carries a DE-ID that is identical in the data dictionary, the L3, the test protocol and the FHIR export. That is what makes traceability demonstrable rather than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order is explicit and tested. Information rules I1–I5 are non-exclusive and fire alongside the classification — a scab note appears next to a warning, never instead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critical thinking. Each challenge has a type, a decision, a rationale, an implication and a risk level in the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lecture explicitly permits authoring in a tailored format and translating at the boundary. We disclose that we do not achieve full software neutrality — a deliberate trade-off for maintainability and available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VIDEO HERE — submission/WundCheck_L4_Demo.mp4, 1 min 46 s, 1920×1080, screen recording of the running app. Start it, then stay silent until the threshold change; only narrate over the last part. The screenshots on this slide are the fallback if the video does not start. Step 3 is the important one — it is the live proof that the layer separation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B-07 and B-08 could not have been found by reading the decision table — only by executing it. That is exactly what the assignment means by L2–L4 translation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critical stakeholder group is the practice: if the alerts are experienced as a burden, the implementation fails regardless of how good the classification is. Hence alerts only from ORANGE upwards, and alert load as an explicit monitoring indicator.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could argue for Category III via sepsis risk. We chose II because the IMDRF category describes the typical condition, not the rare extreme. The reasoning matters more than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names before submission. Keep it concrete — 'we all worked together' is the weakest possible 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E"/>
        </a:solidFill>
      </p:bgPr>
    </p:bg>
    <p:spTree>
      <p:nvGrpSpPr>
        <p:cNvPr id="1" name=""/>
        <p:cNvGrpSpPr/>
        <p:nvPr/>
      </p:nvGrpSpPr>
      <p:grpSpPr>
        <a:xfrm>
          <a:off x="0" y="0"/>
          <a:ext cx="0" cy="0"/>
          <a:chOff x="0" y="0"/>
          <a:chExt cx="0" cy="0"/>
        </a:xfrm>
      </p:grpSpPr>
      <p:sp>
        <p:nvSpPr>
          <p:cNvPr id="2" name="Text 0"/>
          <p:cNvSpPr/>
          <p:nvPr/>
        </p:nvSpPr>
        <p:spPr>
          <a:xfrm>
            <a:off x="566928" y="1572768"/>
            <a:ext cx="8229600" cy="86868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WundCheck</a:t>
            </a:r>
            <a:endParaRPr lang="en-US" sz="5200" dirty="0"/>
          </a:p>
        </p:txBody>
      </p:sp>
      <p:sp>
        <p:nvSpPr>
          <p:cNvPr id="3" name="Text 1"/>
          <p:cNvSpPr/>
          <p:nvPr/>
        </p:nvSpPr>
        <p:spPr>
          <a:xfrm>
            <a:off x="566928" y="2487168"/>
            <a:ext cx="7863840" cy="548640"/>
          </a:xfrm>
          <a:prstGeom prst="rect">
            <a:avLst/>
          </a:prstGeom>
          <a:noFill/>
          <a:ln/>
        </p:spPr>
        <p:txBody>
          <a:bodyPr wrap="square" lIns="0" tIns="0" rIns="0" bIns="0" rtlCol="0" anchor="ctr"/>
          <a:lstStyle/>
          <a:p>
            <a:pPr indent="0" marL="0">
              <a:buNone/>
            </a:pPr>
            <a:r>
              <a:rPr lang="en-US" sz="1700" dirty="0">
                <a:solidFill>
                  <a:srgbClr val="C9D6E4"/>
                </a:solidFill>
                <a:latin typeface="Calibri" pitchFamily="34" charset="0"/>
                <a:ea typeface="Calibri" pitchFamily="34" charset="-122"/>
                <a:cs typeface="Calibri" pitchFamily="34" charset="-120"/>
              </a:rPr>
              <a:t>A mini CDSS that puts the daily wound check in the hands of the patient</a:t>
            </a:r>
            <a:endParaRPr lang="en-US" sz="1700" dirty="0"/>
          </a:p>
        </p:txBody>
      </p:sp>
      <p:sp>
        <p:nvSpPr>
          <p:cNvPr id="4" name="Text 2"/>
          <p:cNvSpPr/>
          <p:nvPr/>
        </p:nvSpPr>
        <p:spPr>
          <a:xfrm>
            <a:off x="566928" y="3200400"/>
            <a:ext cx="8046720" cy="822960"/>
          </a:xfrm>
          <a:prstGeom prst="rect">
            <a:avLst/>
          </a:prstGeom>
          <a:noFill/>
          <a:ln/>
        </p:spPr>
        <p:txBody>
          <a:bodyPr wrap="square" lIns="0" tIns="0" rIns="0" bIns="0" rtlCol="0" anchor="ctr"/>
          <a:lstStyle/>
          <a:p>
            <a:pPr indent="0" marL="0">
              <a:lnSpc>
                <a:spcPts val="2000"/>
              </a:lnSpc>
              <a:buNone/>
            </a:pPr>
            <a:r>
              <a:rPr lang="en-US" sz="1350" i="1" dirty="0">
                <a:solidFill>
                  <a:srgbClr val="8FA3B8"/>
                </a:solidFill>
                <a:latin typeface="Calibri" pitchFamily="34" charset="0"/>
                <a:ea typeface="Calibri" pitchFamily="34" charset="-122"/>
                <a:cs typeface="Calibri" pitchFamily="34" charset="-120"/>
              </a:rPr>
              <a:t>We translated a guideline written for health professionals into an instrument for laypersons —</a:t>
            </a:r>
            <a:endParaRPr lang="en-US" sz="1350" dirty="0"/>
          </a:p>
          <a:p>
            <a:pPr indent="0" marL="0">
              <a:lnSpc>
                <a:spcPts val="2000"/>
              </a:lnSpc>
              <a:buNone/>
            </a:pPr>
            <a:r>
              <a:rPr lang="en-US" sz="1350" i="1" dirty="0">
                <a:solidFill>
                  <a:srgbClr val="8FA3B8"/>
                </a:solidFill>
                <a:latin typeface="Calibri" pitchFamily="34" charset="0"/>
                <a:ea typeface="Calibri" pitchFamily="34" charset="-122"/>
                <a:cs typeface="Calibri" pitchFamily="34" charset="-120"/>
              </a:rPr>
              <a:t>and learned where that translation becomes dangerous.</a:t>
            </a:r>
            <a:endParaRPr lang="en-US" sz="1350" dirty="0"/>
          </a:p>
        </p:txBody>
      </p:sp>
      <p:sp>
        <p:nvSpPr>
          <p:cNvPr id="5" name="Text 3"/>
          <p:cNvSpPr/>
          <p:nvPr/>
        </p:nvSpPr>
        <p:spPr>
          <a:xfrm>
            <a:off x="566928" y="4617720"/>
            <a:ext cx="210312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48</a:t>
            </a:r>
            <a:endParaRPr lang="en-US" sz="3400" dirty="0"/>
          </a:p>
        </p:txBody>
      </p:sp>
      <p:sp>
        <p:nvSpPr>
          <p:cNvPr id="6" name="Text 4"/>
          <p:cNvSpPr/>
          <p:nvPr/>
        </p:nvSpPr>
        <p:spPr>
          <a:xfrm>
            <a:off x="566928" y="5193792"/>
            <a:ext cx="2103120" cy="274320"/>
          </a:xfrm>
          <a:prstGeom prst="rect">
            <a:avLst/>
          </a:prstGeom>
          <a:noFill/>
          <a:ln/>
        </p:spPr>
        <p:txBody>
          <a:bodyPr wrap="square" lIns="0" tIns="0" rIns="0" bIns="0" rtlCol="0" anchor="ctr"/>
          <a:lstStyle/>
          <a:p>
            <a:pPr indent="0" marL="0">
              <a:buNone/>
            </a:pPr>
            <a:r>
              <a:rPr lang="en-US" sz="1100" dirty="0">
                <a:solidFill>
                  <a:srgbClr val="8FA3B8"/>
                </a:solidFill>
                <a:latin typeface="Calibri" pitchFamily="34" charset="0"/>
                <a:ea typeface="Calibri" pitchFamily="34" charset="-122"/>
                <a:cs typeface="Calibri" pitchFamily="34" charset="-120"/>
              </a:rPr>
              <a:t>data elements</a:t>
            </a:r>
            <a:endParaRPr lang="en-US" sz="1100" dirty="0"/>
          </a:p>
        </p:txBody>
      </p:sp>
      <p:sp>
        <p:nvSpPr>
          <p:cNvPr id="7" name="Text 5"/>
          <p:cNvSpPr/>
          <p:nvPr/>
        </p:nvSpPr>
        <p:spPr>
          <a:xfrm>
            <a:off x="2898648" y="4617720"/>
            <a:ext cx="210312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18</a:t>
            </a:r>
            <a:endParaRPr lang="en-US" sz="3400" dirty="0"/>
          </a:p>
        </p:txBody>
      </p:sp>
      <p:sp>
        <p:nvSpPr>
          <p:cNvPr id="8" name="Text 6"/>
          <p:cNvSpPr/>
          <p:nvPr/>
        </p:nvSpPr>
        <p:spPr>
          <a:xfrm>
            <a:off x="2898648" y="5193792"/>
            <a:ext cx="2103120" cy="274320"/>
          </a:xfrm>
          <a:prstGeom prst="rect">
            <a:avLst/>
          </a:prstGeom>
          <a:noFill/>
          <a:ln/>
        </p:spPr>
        <p:txBody>
          <a:bodyPr wrap="square" lIns="0" tIns="0" rIns="0" bIns="0" rtlCol="0" anchor="ctr"/>
          <a:lstStyle/>
          <a:p>
            <a:pPr indent="0" marL="0">
              <a:buNone/>
            </a:pPr>
            <a:r>
              <a:rPr lang="en-US" sz="1100" dirty="0">
                <a:solidFill>
                  <a:srgbClr val="8FA3B8"/>
                </a:solidFill>
                <a:latin typeface="Calibri" pitchFamily="34" charset="0"/>
                <a:ea typeface="Calibri" pitchFamily="34" charset="-122"/>
                <a:cs typeface="Calibri" pitchFamily="34" charset="-120"/>
              </a:rPr>
              <a:t>decision rules</a:t>
            </a:r>
            <a:endParaRPr lang="en-US" sz="1100" dirty="0"/>
          </a:p>
        </p:txBody>
      </p:sp>
      <p:sp>
        <p:nvSpPr>
          <p:cNvPr id="9" name="Text 7"/>
          <p:cNvSpPr/>
          <p:nvPr/>
        </p:nvSpPr>
        <p:spPr>
          <a:xfrm>
            <a:off x="5230368" y="4617720"/>
            <a:ext cx="210312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9</a:t>
            </a:r>
            <a:endParaRPr lang="en-US" sz="3400" dirty="0"/>
          </a:p>
        </p:txBody>
      </p:sp>
      <p:sp>
        <p:nvSpPr>
          <p:cNvPr id="10" name="Text 8"/>
          <p:cNvSpPr/>
          <p:nvPr/>
        </p:nvSpPr>
        <p:spPr>
          <a:xfrm>
            <a:off x="5230368" y="5193792"/>
            <a:ext cx="2103120" cy="274320"/>
          </a:xfrm>
          <a:prstGeom prst="rect">
            <a:avLst/>
          </a:prstGeom>
          <a:noFill/>
          <a:ln/>
        </p:spPr>
        <p:txBody>
          <a:bodyPr wrap="square" lIns="0" tIns="0" rIns="0" bIns="0" rtlCol="0" anchor="ctr"/>
          <a:lstStyle/>
          <a:p>
            <a:pPr indent="0" marL="0">
              <a:buNone/>
            </a:pPr>
            <a:r>
              <a:rPr lang="en-US" sz="1100" dirty="0">
                <a:solidFill>
                  <a:srgbClr val="8FA3B8"/>
                </a:solidFill>
                <a:latin typeface="Calibri" pitchFamily="34" charset="0"/>
                <a:ea typeface="Calibri" pitchFamily="34" charset="-122"/>
                <a:cs typeface="Calibri" pitchFamily="34" charset="-120"/>
              </a:rPr>
              <a:t>L1→L2 challenges</a:t>
            </a:r>
            <a:endParaRPr lang="en-US" sz="1100" dirty="0"/>
          </a:p>
        </p:txBody>
      </p:sp>
      <p:sp>
        <p:nvSpPr>
          <p:cNvPr id="11" name="Text 9"/>
          <p:cNvSpPr/>
          <p:nvPr/>
        </p:nvSpPr>
        <p:spPr>
          <a:xfrm>
            <a:off x="7562088" y="4617720"/>
            <a:ext cx="210312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8</a:t>
            </a:r>
            <a:endParaRPr lang="en-US" sz="3400" dirty="0"/>
          </a:p>
        </p:txBody>
      </p:sp>
      <p:sp>
        <p:nvSpPr>
          <p:cNvPr id="12" name="Text 10"/>
          <p:cNvSpPr/>
          <p:nvPr/>
        </p:nvSpPr>
        <p:spPr>
          <a:xfrm>
            <a:off x="7562088" y="5193792"/>
            <a:ext cx="2103120" cy="274320"/>
          </a:xfrm>
          <a:prstGeom prst="rect">
            <a:avLst/>
          </a:prstGeom>
          <a:noFill/>
          <a:ln/>
        </p:spPr>
        <p:txBody>
          <a:bodyPr wrap="square" lIns="0" tIns="0" rIns="0" bIns="0" rtlCol="0" anchor="ctr"/>
          <a:lstStyle/>
          <a:p>
            <a:pPr indent="0" marL="0">
              <a:buNone/>
            </a:pPr>
            <a:r>
              <a:rPr lang="en-US" sz="1100" dirty="0">
                <a:solidFill>
                  <a:srgbClr val="8FA3B8"/>
                </a:solidFill>
                <a:latin typeface="Calibri" pitchFamily="34" charset="0"/>
                <a:ea typeface="Calibri" pitchFamily="34" charset="-122"/>
                <a:cs typeface="Calibri" pitchFamily="34" charset="-120"/>
              </a:rPr>
              <a:t>defects fixed</a:t>
            </a:r>
            <a:endParaRPr lang="en-US" sz="1100" dirty="0"/>
          </a:p>
        </p:txBody>
      </p:sp>
      <p:sp>
        <p:nvSpPr>
          <p:cNvPr id="13" name="Text 11"/>
          <p:cNvSpPr/>
          <p:nvPr/>
        </p:nvSpPr>
        <p:spPr>
          <a:xfrm>
            <a:off x="566928" y="6089904"/>
            <a:ext cx="8229600" cy="274320"/>
          </a:xfrm>
          <a:prstGeom prst="rect">
            <a:avLst/>
          </a:prstGeom>
          <a:noFill/>
          <a:ln/>
        </p:spPr>
        <p:txBody>
          <a:bodyPr wrap="square" lIns="0" tIns="0" rIns="0" bIns="0" rtlCol="0" anchor="ctr"/>
          <a:lstStyle/>
          <a:p>
            <a:pPr indent="0" marL="0">
              <a:buNone/>
            </a:pPr>
            <a:r>
              <a:rPr lang="en-US" sz="1100" dirty="0">
                <a:solidFill>
                  <a:srgbClr val="8FA3B8"/>
                </a:solidFill>
                <a:latin typeface="Calibri" pitchFamily="34" charset="0"/>
                <a:ea typeface="Calibri" pitchFamily="34" charset="-122"/>
                <a:cs typeface="Calibri" pitchFamily="34" charset="-120"/>
              </a:rPr>
              <a:t>FHNW  ·  MSc Medical Informatics  ·  Clinical Decision Support Systems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HEALTH SYSTEM NEED</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Surgical site infections appear after discharge — when nobody is looking</a:t>
            </a:r>
            <a:endParaRPr lang="en-US" sz="2700" dirty="0"/>
          </a:p>
        </p:txBody>
      </p:sp>
      <p:sp>
        <p:nvSpPr>
          <p:cNvPr id="4" name="Shape 2"/>
          <p:cNvSpPr/>
          <p:nvPr/>
        </p:nvSpPr>
        <p:spPr>
          <a:xfrm>
            <a:off x="566928" y="1700784"/>
            <a:ext cx="3474720" cy="1572768"/>
          </a:xfrm>
          <a:prstGeom prst="roundRect">
            <a:avLst>
              <a:gd name="adj" fmla="val 5233"/>
            </a:avLst>
          </a:prstGeom>
          <a:solidFill>
            <a:srgbClr val="FFFFFF"/>
          </a:solidFill>
          <a:ln w="12700">
            <a:solidFill>
              <a:srgbClr val="DDE5EE"/>
            </a:solidFill>
            <a:prstDash val="solid"/>
          </a:ln>
        </p:spPr>
      </p:sp>
      <p:sp>
        <p:nvSpPr>
          <p:cNvPr id="5" name="Text 3"/>
          <p:cNvSpPr/>
          <p:nvPr/>
        </p:nvSpPr>
        <p:spPr>
          <a:xfrm>
            <a:off x="822960" y="1847088"/>
            <a:ext cx="3017520" cy="384048"/>
          </a:xfrm>
          <a:prstGeom prst="rect">
            <a:avLst/>
          </a:prstGeom>
          <a:noFill/>
          <a:ln/>
        </p:spPr>
        <p:txBody>
          <a:bodyPr wrap="square" lIns="0" tIns="0" rIns="0" bIns="0" rtlCol="0" anchor="ctr"/>
          <a:lstStyle/>
          <a:p>
            <a:pPr indent="0" marL="0">
              <a:buNone/>
            </a:pPr>
            <a:r>
              <a:rPr lang="en-US" sz="2600" b="1" dirty="0">
                <a:solidFill>
                  <a:srgbClr val="12202E"/>
                </a:solidFill>
                <a:latin typeface="Cambria" pitchFamily="34" charset="0"/>
                <a:ea typeface="Cambria" pitchFamily="34" charset="-122"/>
                <a:cs typeface="Cambria" pitchFamily="34" charset="-120"/>
              </a:rPr>
              <a:t>60.1 %</a:t>
            </a:r>
            <a:endParaRPr lang="en-US" sz="2600" dirty="0"/>
          </a:p>
        </p:txBody>
      </p:sp>
      <p:sp>
        <p:nvSpPr>
          <p:cNvPr id="6" name="Text 4"/>
          <p:cNvSpPr/>
          <p:nvPr/>
        </p:nvSpPr>
        <p:spPr>
          <a:xfrm>
            <a:off x="822960" y="2286000"/>
            <a:ext cx="3017520" cy="914400"/>
          </a:xfrm>
          <a:prstGeom prst="rect">
            <a:avLst/>
          </a:prstGeom>
          <a:noFill/>
          <a:ln/>
        </p:spPr>
        <p:txBody>
          <a:bodyPr wrap="square" lIns="0" tIns="0" rIns="0" bIns="0" rtlCol="0" anchor="t"/>
          <a:lstStyle/>
          <a:p>
            <a:pPr indent="0" marL="0">
              <a:lnSpc>
                <a:spcPts val="1400"/>
              </a:lnSpc>
              <a:buNone/>
            </a:pPr>
            <a:r>
              <a:rPr lang="en-US" sz="1100" dirty="0">
                <a:solidFill>
                  <a:srgbClr val="5D7186"/>
                </a:solidFill>
                <a:latin typeface="Calibri" pitchFamily="34" charset="0"/>
                <a:ea typeface="Calibri" pitchFamily="34" charset="-122"/>
                <a:cs typeface="Calibri" pitchFamily="34" charset="-120"/>
              </a:rPr>
              <a:t>of surgical site infections occur after discharge — systematic review of 1.4 million operations. The CDC surveillance window runs 30 days, 90 for implants.</a:t>
            </a:r>
            <a:endParaRPr lang="en-US" sz="1100" dirty="0"/>
          </a:p>
        </p:txBody>
      </p:sp>
      <p:sp>
        <p:nvSpPr>
          <p:cNvPr id="7" name="Shape 5"/>
          <p:cNvSpPr/>
          <p:nvPr/>
        </p:nvSpPr>
        <p:spPr>
          <a:xfrm>
            <a:off x="4279392" y="1700784"/>
            <a:ext cx="3474720" cy="1572768"/>
          </a:xfrm>
          <a:prstGeom prst="roundRect">
            <a:avLst>
              <a:gd name="adj" fmla="val 5233"/>
            </a:avLst>
          </a:prstGeom>
          <a:solidFill>
            <a:srgbClr val="FFFFFF"/>
          </a:solidFill>
          <a:ln w="12700">
            <a:solidFill>
              <a:srgbClr val="DDE5EE"/>
            </a:solidFill>
            <a:prstDash val="solid"/>
          </a:ln>
        </p:spPr>
      </p:sp>
      <p:sp>
        <p:nvSpPr>
          <p:cNvPr id="8" name="Text 6"/>
          <p:cNvSpPr/>
          <p:nvPr/>
        </p:nvSpPr>
        <p:spPr>
          <a:xfrm>
            <a:off x="4535424" y="1847088"/>
            <a:ext cx="3017520" cy="384048"/>
          </a:xfrm>
          <a:prstGeom prst="rect">
            <a:avLst/>
          </a:prstGeom>
          <a:noFill/>
          <a:ln/>
        </p:spPr>
        <p:txBody>
          <a:bodyPr wrap="square" lIns="0" tIns="0" rIns="0" bIns="0" rtlCol="0" anchor="ctr"/>
          <a:lstStyle/>
          <a:p>
            <a:pPr indent="0" marL="0">
              <a:buNone/>
            </a:pPr>
            <a:r>
              <a:rPr lang="en-US" sz="1900" b="1" dirty="0">
                <a:solidFill>
                  <a:srgbClr val="C25C07"/>
                </a:solidFill>
                <a:latin typeface="Cambria" pitchFamily="34" charset="0"/>
                <a:ea typeface="Cambria" pitchFamily="34" charset="-122"/>
                <a:cs typeface="Cambria" pitchFamily="34" charset="-120"/>
              </a:rPr>
              <a:t>Too late</a:t>
            </a:r>
            <a:endParaRPr lang="en-US" sz="1900" dirty="0"/>
          </a:p>
        </p:txBody>
      </p:sp>
      <p:sp>
        <p:nvSpPr>
          <p:cNvPr id="9" name="Text 7"/>
          <p:cNvSpPr/>
          <p:nvPr/>
        </p:nvSpPr>
        <p:spPr>
          <a:xfrm>
            <a:off x="4535424" y="2286000"/>
            <a:ext cx="3017520" cy="914400"/>
          </a:xfrm>
          <a:prstGeom prst="rect">
            <a:avLst/>
          </a:prstGeom>
          <a:noFill/>
          <a:ln/>
        </p:spPr>
        <p:txBody>
          <a:bodyPr wrap="square" lIns="0" tIns="0" rIns="0" bIns="0" rtlCol="0" anchor="t"/>
          <a:lstStyle/>
          <a:p>
            <a:pPr indent="0" marL="0">
              <a:lnSpc>
                <a:spcPts val="1400"/>
              </a:lnSpc>
              <a:buNone/>
            </a:pPr>
            <a:r>
              <a:rPr lang="en-US" sz="1100" dirty="0">
                <a:solidFill>
                  <a:srgbClr val="5D7186"/>
                </a:solidFill>
                <a:latin typeface="Calibri" pitchFamily="34" charset="0"/>
                <a:ea typeface="Calibri" pitchFamily="34" charset="-122"/>
                <a:cs typeface="Calibri" pitchFamily="34" charset="-120"/>
              </a:rPr>
              <a:t>Warning signs are read as normal. The infection progresses; treatment starts days later than it could.</a:t>
            </a:r>
            <a:endParaRPr lang="en-US" sz="1100" dirty="0"/>
          </a:p>
        </p:txBody>
      </p:sp>
      <p:sp>
        <p:nvSpPr>
          <p:cNvPr id="10" name="Shape 8"/>
          <p:cNvSpPr/>
          <p:nvPr/>
        </p:nvSpPr>
        <p:spPr>
          <a:xfrm>
            <a:off x="7991856" y="1700784"/>
            <a:ext cx="3474720" cy="1572768"/>
          </a:xfrm>
          <a:prstGeom prst="roundRect">
            <a:avLst>
              <a:gd name="adj" fmla="val 5233"/>
            </a:avLst>
          </a:prstGeom>
          <a:solidFill>
            <a:srgbClr val="FFFFFF"/>
          </a:solidFill>
          <a:ln w="12700">
            <a:solidFill>
              <a:srgbClr val="DDE5EE"/>
            </a:solidFill>
            <a:prstDash val="solid"/>
          </a:ln>
        </p:spPr>
      </p:sp>
      <p:sp>
        <p:nvSpPr>
          <p:cNvPr id="11" name="Text 9"/>
          <p:cNvSpPr/>
          <p:nvPr/>
        </p:nvSpPr>
        <p:spPr>
          <a:xfrm>
            <a:off x="8247888" y="1847088"/>
            <a:ext cx="3017520" cy="384048"/>
          </a:xfrm>
          <a:prstGeom prst="rect">
            <a:avLst/>
          </a:prstGeom>
          <a:noFill/>
          <a:ln/>
        </p:spPr>
        <p:txBody>
          <a:bodyPr wrap="square" lIns="0" tIns="0" rIns="0" bIns="0" rtlCol="0" anchor="ctr"/>
          <a:lstStyle/>
          <a:p>
            <a:pPr indent="0" marL="0">
              <a:buNone/>
            </a:pPr>
            <a:r>
              <a:rPr lang="en-US" sz="1900" b="1" dirty="0">
                <a:solidFill>
                  <a:srgbClr val="C25C07"/>
                </a:solidFill>
                <a:latin typeface="Cambria" pitchFamily="34" charset="0"/>
                <a:ea typeface="Cambria" pitchFamily="34" charset="-122"/>
                <a:cs typeface="Cambria" pitchFamily="34" charset="-120"/>
              </a:rPr>
              <a:t>Too early</a:t>
            </a:r>
            <a:endParaRPr lang="en-US" sz="1900" dirty="0"/>
          </a:p>
        </p:txBody>
      </p:sp>
      <p:sp>
        <p:nvSpPr>
          <p:cNvPr id="12" name="Text 10"/>
          <p:cNvSpPr/>
          <p:nvPr/>
        </p:nvSpPr>
        <p:spPr>
          <a:xfrm>
            <a:off x="8247888" y="2286000"/>
            <a:ext cx="3017520" cy="914400"/>
          </a:xfrm>
          <a:prstGeom prst="rect">
            <a:avLst/>
          </a:prstGeom>
          <a:noFill/>
          <a:ln/>
        </p:spPr>
        <p:txBody>
          <a:bodyPr wrap="square" lIns="0" tIns="0" rIns="0" bIns="0" rtlCol="0" anchor="t"/>
          <a:lstStyle/>
          <a:p>
            <a:pPr indent="0" marL="0">
              <a:lnSpc>
                <a:spcPts val="1400"/>
              </a:lnSpc>
              <a:buNone/>
            </a:pPr>
            <a:r>
              <a:rPr lang="en-US" sz="1100" dirty="0">
                <a:solidFill>
                  <a:srgbClr val="5D7186"/>
                </a:solidFill>
                <a:latin typeface="Calibri" pitchFamily="34" charset="0"/>
                <a:ea typeface="Calibri" pitchFamily="34" charset="-122"/>
                <a:cs typeface="Calibri" pitchFamily="34" charset="-120"/>
              </a:rPr>
              <a:t>Normal healing signs — a scab, day-2 redness — trigger calls that bind practice staff and worry patients.</a:t>
            </a:r>
            <a:endParaRPr lang="en-US" sz="1100" dirty="0"/>
          </a:p>
        </p:txBody>
      </p:sp>
      <p:sp>
        <p:nvSpPr>
          <p:cNvPr id="13" name="Text 11"/>
          <p:cNvSpPr/>
          <p:nvPr/>
        </p:nvSpPr>
        <p:spPr>
          <a:xfrm>
            <a:off x="566928" y="3346704"/>
            <a:ext cx="11064240" cy="310896"/>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SSI incidence in Europe 0.5–10.1 % depending on procedure (ECDC 2017: 10,149 SSIs in 648,512 operations) · 9.5 % after colon surgery, 1.0 % after hip replacement (WHO) · Switzerland: &gt; 170 hospitals in the Swissnoso surveillance programme</a:t>
            </a:r>
            <a:endParaRPr lang="en-US" sz="950" dirty="0"/>
          </a:p>
        </p:txBody>
      </p:sp>
      <p:sp>
        <p:nvSpPr>
          <p:cNvPr id="14" name="Shape 12"/>
          <p:cNvSpPr/>
          <p:nvPr/>
        </p:nvSpPr>
        <p:spPr>
          <a:xfrm>
            <a:off x="566928" y="3767328"/>
            <a:ext cx="6858000" cy="2212848"/>
          </a:xfrm>
          <a:prstGeom prst="roundRect">
            <a:avLst>
              <a:gd name="adj" fmla="val 3719"/>
            </a:avLst>
          </a:prstGeom>
          <a:solidFill>
            <a:srgbClr val="F5F7FA"/>
          </a:solidFill>
          <a:ln w="12700">
            <a:solidFill>
              <a:srgbClr val="DDE5EE"/>
            </a:solidFill>
            <a:prstDash val="solid"/>
          </a:ln>
        </p:spPr>
      </p:sp>
      <p:sp>
        <p:nvSpPr>
          <p:cNvPr id="15" name="Text 13"/>
          <p:cNvSpPr/>
          <p:nvPr/>
        </p:nvSpPr>
        <p:spPr>
          <a:xfrm>
            <a:off x="841248" y="3950208"/>
            <a:ext cx="6309360" cy="292608"/>
          </a:xfrm>
          <a:prstGeom prst="rect">
            <a:avLst/>
          </a:prstGeom>
          <a:noFill/>
          <a:ln/>
        </p:spPr>
        <p:txBody>
          <a:bodyPr wrap="square" lIns="0" tIns="0" rIns="0" bIns="0" rtlCol="0" anchor="ctr"/>
          <a:lstStyle/>
          <a:p>
            <a:pPr indent="0" marL="0">
              <a:buNone/>
            </a:pPr>
            <a:r>
              <a:rPr lang="en-US" sz="1300" b="1" dirty="0">
                <a:solidFill>
                  <a:srgbClr val="12202E"/>
                </a:solidFill>
                <a:latin typeface="Calibri" pitchFamily="34" charset="0"/>
                <a:ea typeface="Calibri" pitchFamily="34" charset="-122"/>
                <a:cs typeface="Calibri" pitchFamily="34" charset="-120"/>
              </a:rPr>
              <a:t>Why a knowledge-based CDSS — and not the alternatives</a:t>
            </a:r>
            <a:endParaRPr lang="en-US" sz="1300" dirty="0"/>
          </a:p>
        </p:txBody>
      </p:sp>
      <p:sp>
        <p:nvSpPr>
          <p:cNvPr id="16" name="Text 14"/>
          <p:cNvSpPr/>
          <p:nvPr/>
        </p:nvSpPr>
        <p:spPr>
          <a:xfrm>
            <a:off x="841248" y="4352544"/>
            <a:ext cx="1920240" cy="274320"/>
          </a:xfrm>
          <a:prstGeom prst="rect">
            <a:avLst/>
          </a:prstGeom>
          <a:noFill/>
          <a:ln/>
        </p:spPr>
        <p:txBody>
          <a:bodyPr wrap="square" lIns="0" tIns="0" rIns="0" bIns="0" rtlCol="0" anchor="ctr"/>
          <a:lstStyle/>
          <a:p>
            <a:pPr indent="0" marL="0">
              <a:buNone/>
            </a:pPr>
            <a:r>
              <a:rPr lang="en-US" sz="1150" b="1" dirty="0">
                <a:solidFill>
                  <a:srgbClr val="12202E"/>
                </a:solidFill>
                <a:latin typeface="Calibri" pitchFamily="34" charset="0"/>
                <a:ea typeface="Calibri" pitchFamily="34" charset="-122"/>
                <a:cs typeface="Calibri" pitchFamily="34" charset="-120"/>
              </a:rPr>
              <a:t>Information leaflet</a:t>
            </a:r>
            <a:endParaRPr lang="en-US" sz="1150" dirty="0"/>
          </a:p>
        </p:txBody>
      </p:sp>
      <p:sp>
        <p:nvSpPr>
          <p:cNvPr id="17" name="Text 15"/>
          <p:cNvSpPr/>
          <p:nvPr/>
        </p:nvSpPr>
        <p:spPr>
          <a:xfrm>
            <a:off x="2807208" y="4352544"/>
            <a:ext cx="4343400" cy="274320"/>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already exists everywhere; no feedback on the actual finding</a:t>
            </a:r>
            <a:endParaRPr lang="en-US" sz="1100" dirty="0"/>
          </a:p>
        </p:txBody>
      </p:sp>
      <p:sp>
        <p:nvSpPr>
          <p:cNvPr id="18" name="Text 16"/>
          <p:cNvSpPr/>
          <p:nvPr/>
        </p:nvSpPr>
        <p:spPr>
          <a:xfrm>
            <a:off x="841248" y="4754880"/>
            <a:ext cx="1920240" cy="274320"/>
          </a:xfrm>
          <a:prstGeom prst="rect">
            <a:avLst/>
          </a:prstGeom>
          <a:noFill/>
          <a:ln/>
        </p:spPr>
        <p:txBody>
          <a:bodyPr wrap="square" lIns="0" tIns="0" rIns="0" bIns="0" rtlCol="0" anchor="ctr"/>
          <a:lstStyle/>
          <a:p>
            <a:pPr indent="0" marL="0">
              <a:buNone/>
            </a:pPr>
            <a:r>
              <a:rPr lang="en-US" sz="1150" b="1" dirty="0">
                <a:solidFill>
                  <a:srgbClr val="12202E"/>
                </a:solidFill>
                <a:latin typeface="Calibri" pitchFamily="34" charset="0"/>
                <a:ea typeface="Calibri" pitchFamily="34" charset="-122"/>
                <a:cs typeface="Calibri" pitchFamily="34" charset="-120"/>
              </a:rPr>
              <a:t>Telephone follow-up</a:t>
            </a:r>
            <a:endParaRPr lang="en-US" sz="1150" dirty="0"/>
          </a:p>
        </p:txBody>
      </p:sp>
      <p:sp>
        <p:nvSpPr>
          <p:cNvPr id="19" name="Text 17"/>
          <p:cNvSpPr/>
          <p:nvPr/>
        </p:nvSpPr>
        <p:spPr>
          <a:xfrm>
            <a:off x="2807208" y="4754880"/>
            <a:ext cx="4343400" cy="274320"/>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not deliverable daily; “the wound looks odd” is not usable data</a:t>
            </a:r>
            <a:endParaRPr lang="en-US" sz="1100" dirty="0"/>
          </a:p>
        </p:txBody>
      </p:sp>
      <p:sp>
        <p:nvSpPr>
          <p:cNvPr id="20" name="Text 18"/>
          <p:cNvSpPr/>
          <p:nvPr/>
        </p:nvSpPr>
        <p:spPr>
          <a:xfrm>
            <a:off x="841248" y="5157216"/>
            <a:ext cx="1920240" cy="274320"/>
          </a:xfrm>
          <a:prstGeom prst="rect">
            <a:avLst/>
          </a:prstGeom>
          <a:noFill/>
          <a:ln/>
        </p:spPr>
        <p:txBody>
          <a:bodyPr wrap="square" lIns="0" tIns="0" rIns="0" bIns="0" rtlCol="0" anchor="ctr"/>
          <a:lstStyle/>
          <a:p>
            <a:pPr indent="0" marL="0">
              <a:buNone/>
            </a:pPr>
            <a:r>
              <a:rPr lang="en-US" sz="1150" b="1" dirty="0">
                <a:solidFill>
                  <a:srgbClr val="12202E"/>
                </a:solidFill>
                <a:latin typeface="Calibri" pitchFamily="34" charset="0"/>
                <a:ea typeface="Calibri" pitchFamily="34" charset="-122"/>
                <a:cs typeface="Calibri" pitchFamily="34" charset="-120"/>
              </a:rPr>
              <a:t>Photo-based ML</a:t>
            </a:r>
            <a:endParaRPr lang="en-US" sz="1150" dirty="0"/>
          </a:p>
        </p:txBody>
      </p:sp>
      <p:sp>
        <p:nvSpPr>
          <p:cNvPr id="21" name="Text 19"/>
          <p:cNvSpPr/>
          <p:nvPr/>
        </p:nvSpPr>
        <p:spPr>
          <a:xfrm>
            <a:off x="2807208" y="5157216"/>
            <a:ext cx="4343400" cy="274320"/>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light, angle and skin tone vary; decisions not explainable</a:t>
            </a:r>
            <a:endParaRPr lang="en-US" sz="1100" dirty="0"/>
          </a:p>
        </p:txBody>
      </p:sp>
      <p:sp>
        <p:nvSpPr>
          <p:cNvPr id="22" name="Text 20"/>
          <p:cNvSpPr/>
          <p:nvPr/>
        </p:nvSpPr>
        <p:spPr>
          <a:xfrm>
            <a:off x="841248" y="5559552"/>
            <a:ext cx="1920240" cy="274320"/>
          </a:xfrm>
          <a:prstGeom prst="rect">
            <a:avLst/>
          </a:prstGeom>
          <a:noFill/>
          <a:ln/>
        </p:spPr>
        <p:txBody>
          <a:bodyPr wrap="square" lIns="0" tIns="0" rIns="0" bIns="0" rtlCol="0" anchor="ctr"/>
          <a:lstStyle/>
          <a:p>
            <a:pPr indent="0" marL="0">
              <a:buNone/>
            </a:pPr>
            <a:r>
              <a:rPr lang="en-US" sz="1150" b="1" dirty="0">
                <a:solidFill>
                  <a:srgbClr val="1A7F4B"/>
                </a:solidFill>
                <a:latin typeface="Calibri" pitchFamily="34" charset="0"/>
                <a:ea typeface="Calibri" pitchFamily="34" charset="-122"/>
                <a:cs typeface="Calibri" pitchFamily="34" charset="-120"/>
              </a:rPr>
              <a:t>Rule-based CDSS</a:t>
            </a:r>
            <a:endParaRPr lang="en-US" sz="1150" dirty="0"/>
          </a:p>
        </p:txBody>
      </p:sp>
      <p:sp>
        <p:nvSpPr>
          <p:cNvPr id="23" name="Text 21"/>
          <p:cNvSpPr/>
          <p:nvPr/>
        </p:nvSpPr>
        <p:spPr>
          <a:xfrm>
            <a:off x="2807208" y="5559552"/>
            <a:ext cx="4343400" cy="274320"/>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traceable to a guideline, reviewable, maintainable by clinicians</a:t>
            </a:r>
            <a:endParaRPr lang="en-US" sz="1100" dirty="0"/>
          </a:p>
        </p:txBody>
      </p:sp>
      <p:sp>
        <p:nvSpPr>
          <p:cNvPr id="24" name="Shape 22"/>
          <p:cNvSpPr/>
          <p:nvPr/>
        </p:nvSpPr>
        <p:spPr>
          <a:xfrm>
            <a:off x="7754112" y="3767328"/>
            <a:ext cx="3877056" cy="2212848"/>
          </a:xfrm>
          <a:prstGeom prst="roundRect">
            <a:avLst>
              <a:gd name="adj" fmla="val 3719"/>
            </a:avLst>
          </a:prstGeom>
          <a:solidFill>
            <a:srgbClr val="FFFFFF"/>
          </a:solidFill>
          <a:ln w="12700">
            <a:solidFill>
              <a:srgbClr val="DDE5EE"/>
            </a:solidFill>
            <a:prstDash val="solid"/>
          </a:ln>
        </p:spPr>
      </p:sp>
      <p:sp>
        <p:nvSpPr>
          <p:cNvPr id="25" name="Text 23"/>
          <p:cNvSpPr/>
          <p:nvPr/>
        </p:nvSpPr>
        <p:spPr>
          <a:xfrm>
            <a:off x="8010144" y="3950208"/>
            <a:ext cx="3383280" cy="274320"/>
          </a:xfrm>
          <a:prstGeom prst="rect">
            <a:avLst/>
          </a:prstGeom>
          <a:noFill/>
          <a:ln/>
        </p:spPr>
        <p:txBody>
          <a:bodyPr wrap="square" lIns="0" tIns="0" rIns="0" bIns="0" rtlCol="0" anchor="ctr"/>
          <a:lstStyle/>
          <a:p>
            <a:pPr indent="0" marL="0">
              <a:buNone/>
            </a:pPr>
            <a:r>
              <a:rPr lang="en-US" sz="1300" b="1" dirty="0">
                <a:solidFill>
                  <a:srgbClr val="12202E"/>
                </a:solidFill>
                <a:latin typeface="Calibri" pitchFamily="34" charset="0"/>
                <a:ea typeface="Calibri" pitchFamily="34" charset="-122"/>
                <a:cs typeface="Calibri" pitchFamily="34" charset="-120"/>
              </a:rPr>
              <a:t>Scope</a:t>
            </a:r>
            <a:endParaRPr lang="en-US" sz="1300" dirty="0"/>
          </a:p>
        </p:txBody>
      </p:sp>
      <p:sp>
        <p:nvSpPr>
          <p:cNvPr id="26" name="Text 24"/>
          <p:cNvSpPr/>
          <p:nvPr/>
        </p:nvSpPr>
        <p:spPr>
          <a:xfrm>
            <a:off x="8010144" y="4315968"/>
            <a:ext cx="3383280" cy="731520"/>
          </a:xfrm>
          <a:prstGeom prst="rect">
            <a:avLst/>
          </a:prstGeom>
          <a:noFill/>
          <a:ln/>
        </p:spPr>
        <p:txBody>
          <a:bodyPr wrap="square" lIns="0" tIns="0" rIns="0" bIns="0" rtlCol="0" anchor="t"/>
          <a:lstStyle/>
          <a:p>
            <a:pPr indent="0" marL="0">
              <a:lnSpc>
                <a:spcPts val="1600"/>
              </a:lnSpc>
              <a:buNone/>
            </a:pPr>
            <a:r>
              <a:rPr lang="en-US" sz="1150" dirty="0">
                <a:solidFill>
                  <a:srgbClr val="12202E"/>
                </a:solidFill>
                <a:latin typeface="Calibri" pitchFamily="34" charset="0"/>
                <a:ea typeface="Calibri" pitchFamily="34" charset="-122"/>
                <a:cs typeface="Calibri" pitchFamily="34" charset="-120"/>
              </a:rPr>
              <a:t>Adults · elective surgery · wounds with primary closure · any body region.</a:t>
            </a:r>
            <a:endParaRPr lang="en-US" sz="1150" dirty="0"/>
          </a:p>
        </p:txBody>
      </p:sp>
      <p:sp>
        <p:nvSpPr>
          <p:cNvPr id="27" name="Text 25"/>
          <p:cNvSpPr/>
          <p:nvPr/>
        </p:nvSpPr>
        <p:spPr>
          <a:xfrm>
            <a:off x="8010144" y="5029200"/>
            <a:ext cx="3383280" cy="237744"/>
          </a:xfrm>
          <a:prstGeom prst="rect">
            <a:avLst/>
          </a:prstGeom>
          <a:noFill/>
          <a:ln/>
        </p:spPr>
        <p:txBody>
          <a:bodyPr wrap="square" lIns="0" tIns="0" rIns="0" bIns="0" rtlCol="0" anchor="ctr"/>
          <a:lstStyle/>
          <a:p>
            <a:pPr indent="0" marL="0">
              <a:buNone/>
            </a:pPr>
            <a:r>
              <a:rPr lang="en-US" sz="1050" b="1" dirty="0">
                <a:solidFill>
                  <a:srgbClr val="C0281C"/>
                </a:solidFill>
                <a:latin typeface="Calibri" pitchFamily="34" charset="0"/>
                <a:ea typeface="Calibri" pitchFamily="34" charset="-122"/>
                <a:cs typeface="Calibri" pitchFamily="34" charset="-120"/>
              </a:rPr>
              <a:t>Not covered</a:t>
            </a:r>
            <a:endParaRPr lang="en-US" sz="1050" dirty="0"/>
          </a:p>
        </p:txBody>
      </p:sp>
      <p:sp>
        <p:nvSpPr>
          <p:cNvPr id="28" name="Text 26"/>
          <p:cNvSpPr/>
          <p:nvPr/>
        </p:nvSpPr>
        <p:spPr>
          <a:xfrm>
            <a:off x="8010144" y="5303520"/>
            <a:ext cx="3383280" cy="685800"/>
          </a:xfrm>
          <a:prstGeom prst="rect">
            <a:avLst/>
          </a:prstGeom>
          <a:noFill/>
          <a:ln/>
        </p:spPr>
        <p:txBody>
          <a:bodyPr wrap="square" lIns="0" tIns="0" rIns="0" bIns="0" rtlCol="0" anchor="t"/>
          <a:lstStyle/>
          <a:p>
            <a:pPr indent="0" marL="0">
              <a:lnSpc>
                <a:spcPts val="1500"/>
              </a:lnSpc>
              <a:buNone/>
            </a:pPr>
            <a:r>
              <a:rPr lang="en-US" sz="1100" dirty="0">
                <a:solidFill>
                  <a:srgbClr val="5D7186"/>
                </a:solidFill>
                <a:latin typeface="Calibri" pitchFamily="34" charset="0"/>
                <a:ea typeface="Calibri" pitchFamily="34" charset="-122"/>
                <a:cs typeface="Calibri" pitchFamily="34" charset="-120"/>
              </a:rPr>
              <a:t>Chronic wounds · burns · secondary healing · children · contaminated emergencies</a:t>
            </a:r>
            <a:endParaRPr lang="en-US" sz="1100" dirty="0"/>
          </a:p>
        </p:txBody>
      </p:sp>
      <p:sp>
        <p:nvSpPr>
          <p:cNvPr id="29" name="Text 27"/>
          <p:cNvSpPr/>
          <p:nvPr/>
        </p:nvSpPr>
        <p:spPr>
          <a:xfrm>
            <a:off x="566928" y="6089904"/>
            <a:ext cx="11064240" cy="274320"/>
          </a:xfrm>
          <a:prstGeom prst="rect">
            <a:avLst/>
          </a:prstGeom>
          <a:noFill/>
          <a:ln/>
        </p:spPr>
        <p:txBody>
          <a:bodyPr wrap="square" lIns="0" tIns="0" rIns="0" bIns="0" rtlCol="0" anchor="ctr"/>
          <a:lstStyle/>
          <a:p>
            <a:pPr indent="0" marL="0">
              <a:buNone/>
            </a:pPr>
            <a:r>
              <a:rPr lang="en-US" sz="850" i="1" dirty="0">
                <a:solidFill>
                  <a:srgbClr val="5D7186"/>
                </a:solidFill>
                <a:latin typeface="Calibri" pitchFamily="34" charset="0"/>
                <a:ea typeface="Calibri" pitchFamily="34" charset="-122"/>
                <a:cs typeface="Calibri" pitchFamily="34" charset="-120"/>
              </a:rPr>
              <a:t>Woelber et al., Surg Infect 2016;17(5):510–19  ·  ECDC Annual Epidemiological Report 2017  ·  WHO Global Guidelines for the Prevention of SSI  ·  CDC/NHSN SSI Event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PERSONAS &amp; SCENARIOS</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Three users on three levels — only one of them operates the app</a:t>
            </a:r>
            <a:endParaRPr lang="en-US" sz="2700" dirty="0"/>
          </a:p>
        </p:txBody>
      </p:sp>
      <p:sp>
        <p:nvSpPr>
          <p:cNvPr id="4" name="Shape 2"/>
          <p:cNvSpPr/>
          <p:nvPr/>
        </p:nvSpPr>
        <p:spPr>
          <a:xfrm>
            <a:off x="566928" y="1664208"/>
            <a:ext cx="3474720" cy="2121408"/>
          </a:xfrm>
          <a:prstGeom prst="roundRect">
            <a:avLst>
              <a:gd name="adj" fmla="val 3879"/>
            </a:avLst>
          </a:prstGeom>
          <a:solidFill>
            <a:srgbClr val="FFFFFF"/>
          </a:solidFill>
          <a:ln w="12700">
            <a:solidFill>
              <a:srgbClr val="DDE5EE"/>
            </a:solidFill>
            <a:prstDash val="solid"/>
          </a:ln>
        </p:spPr>
      </p:sp>
      <p:sp>
        <p:nvSpPr>
          <p:cNvPr id="5" name="Shape 3"/>
          <p:cNvSpPr/>
          <p:nvPr/>
        </p:nvSpPr>
        <p:spPr>
          <a:xfrm>
            <a:off x="822960" y="1865376"/>
            <a:ext cx="420624" cy="420624"/>
          </a:xfrm>
          <a:prstGeom prst="ellipse">
            <a:avLst/>
          </a:prstGeom>
          <a:solidFill>
            <a:srgbClr val="12202E"/>
          </a:solidFill>
          <a:ln w="12700">
            <a:solidFill>
              <a:srgbClr val="12202E"/>
            </a:solidFill>
            <a:prstDash val="solid"/>
          </a:ln>
        </p:spPr>
      </p:sp>
      <p:sp>
        <p:nvSpPr>
          <p:cNvPr id="6" name="Text 4"/>
          <p:cNvSpPr/>
          <p:nvPr/>
        </p:nvSpPr>
        <p:spPr>
          <a:xfrm>
            <a:off x="822960" y="186537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53312" y="1865376"/>
            <a:ext cx="2514600" cy="256032"/>
          </a:xfrm>
          <a:prstGeom prst="rect">
            <a:avLst/>
          </a:prstGeom>
          <a:noFill/>
          <a:ln/>
        </p:spPr>
        <p:txBody>
          <a:bodyPr wrap="square" lIns="0" tIns="0" rIns="0" bIns="0" rtlCol="0" anchor="ctr"/>
          <a:lstStyle/>
          <a:p>
            <a:pPr indent="0" marL="0">
              <a:buNone/>
            </a:pPr>
            <a:r>
              <a:rPr lang="en-US" sz="1300" b="1" dirty="0">
                <a:solidFill>
                  <a:srgbClr val="12202E"/>
                </a:solidFill>
                <a:latin typeface="Calibri" pitchFamily="34" charset="0"/>
                <a:ea typeface="Calibri" pitchFamily="34" charset="-122"/>
                <a:cs typeface="Calibri" pitchFamily="34" charset="-120"/>
              </a:rPr>
              <a:t>Peter Brunner, 58</a:t>
            </a:r>
            <a:endParaRPr lang="en-US" sz="1300" dirty="0"/>
          </a:p>
        </p:txBody>
      </p:sp>
      <p:sp>
        <p:nvSpPr>
          <p:cNvPr id="8" name="Text 6"/>
          <p:cNvSpPr/>
          <p:nvPr/>
        </p:nvSpPr>
        <p:spPr>
          <a:xfrm>
            <a:off x="1353312" y="2103120"/>
            <a:ext cx="2514600" cy="219456"/>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Patient · primary user</a:t>
            </a:r>
            <a:endParaRPr lang="en-US" sz="1000" dirty="0"/>
          </a:p>
        </p:txBody>
      </p:sp>
      <p:sp>
        <p:nvSpPr>
          <p:cNvPr id="9" name="Text 7"/>
          <p:cNvSpPr/>
          <p:nvPr/>
        </p:nvSpPr>
        <p:spPr>
          <a:xfrm>
            <a:off x="822960" y="2487168"/>
            <a:ext cx="2999232" cy="868680"/>
          </a:xfrm>
          <a:prstGeom prst="rect">
            <a:avLst/>
          </a:prstGeom>
          <a:noFill/>
          <a:ln/>
        </p:spPr>
        <p:txBody>
          <a:bodyPr wrap="square" lIns="0" tIns="0" rIns="0" bIns="0" rtlCol="0" anchor="t"/>
          <a:lstStyle/>
          <a:p>
            <a:pPr indent="0" marL="0">
              <a:lnSpc>
                <a:spcPts val="1500"/>
              </a:lnSpc>
              <a:buNone/>
            </a:pPr>
            <a:r>
              <a:rPr lang="en-US" sz="1100" dirty="0">
                <a:solidFill>
                  <a:srgbClr val="5D7186"/>
                </a:solidFill>
                <a:latin typeface="Calibri" pitchFamily="34" charset="0"/>
                <a:ea typeface="Calibri" pitchFamily="34" charset="-122"/>
                <a:cs typeface="Calibri" pitchFamily="34" charset="-120"/>
              </a:rPr>
              <a:t>Knee replacement 4 days ago. Little medical knowledge, reading glasses, uses everyday apps.</a:t>
            </a:r>
            <a:endParaRPr lang="en-US" sz="1100" dirty="0"/>
          </a:p>
        </p:txBody>
      </p:sp>
      <p:sp>
        <p:nvSpPr>
          <p:cNvPr id="10" name="Text 8"/>
          <p:cNvSpPr/>
          <p:nvPr/>
        </p:nvSpPr>
        <p:spPr>
          <a:xfrm>
            <a:off x="822960" y="3127248"/>
            <a:ext cx="2999232" cy="548640"/>
          </a:xfrm>
          <a:prstGeom prst="rect">
            <a:avLst/>
          </a:prstGeom>
          <a:noFill/>
          <a:ln/>
        </p:spPr>
        <p:txBody>
          <a:bodyPr wrap="square" lIns="0" tIns="0" rIns="0" bIns="0" rtlCol="0" anchor="ctr"/>
          <a:lstStyle/>
          <a:p>
            <a:pPr indent="0" marL="0">
              <a:lnSpc>
                <a:spcPts val="1500"/>
              </a:lnSpc>
              <a:buNone/>
            </a:pPr>
            <a:r>
              <a:rPr lang="en-US" sz="1100" i="1" dirty="0">
                <a:solidFill>
                  <a:srgbClr val="12202E"/>
                </a:solidFill>
                <a:latin typeface="Calibri" pitchFamily="34" charset="0"/>
                <a:ea typeface="Calibri" pitchFamily="34" charset="-122"/>
                <a:cs typeface="Calibri" pitchFamily="34" charset="-120"/>
              </a:rPr>
              <a:t>“I want to know it is fine — without calling anyone.”</a:t>
            </a:r>
            <a:endParaRPr lang="en-US" sz="1100" dirty="0"/>
          </a:p>
        </p:txBody>
      </p:sp>
      <p:sp>
        <p:nvSpPr>
          <p:cNvPr id="11" name="Shape 9"/>
          <p:cNvSpPr/>
          <p:nvPr/>
        </p:nvSpPr>
        <p:spPr>
          <a:xfrm>
            <a:off x="4279392" y="1664208"/>
            <a:ext cx="3474720" cy="2121408"/>
          </a:xfrm>
          <a:prstGeom prst="roundRect">
            <a:avLst>
              <a:gd name="adj" fmla="val 3879"/>
            </a:avLst>
          </a:prstGeom>
          <a:solidFill>
            <a:srgbClr val="FFFFFF"/>
          </a:solidFill>
          <a:ln w="12700">
            <a:solidFill>
              <a:srgbClr val="DDE5EE"/>
            </a:solidFill>
            <a:prstDash val="solid"/>
          </a:ln>
        </p:spPr>
      </p:sp>
      <p:sp>
        <p:nvSpPr>
          <p:cNvPr id="12" name="Shape 10"/>
          <p:cNvSpPr/>
          <p:nvPr/>
        </p:nvSpPr>
        <p:spPr>
          <a:xfrm>
            <a:off x="4535424" y="1865376"/>
            <a:ext cx="420624" cy="420624"/>
          </a:xfrm>
          <a:prstGeom prst="ellipse">
            <a:avLst/>
          </a:prstGeom>
          <a:solidFill>
            <a:srgbClr val="12202E"/>
          </a:solidFill>
          <a:ln w="12700">
            <a:solidFill>
              <a:srgbClr val="12202E"/>
            </a:solidFill>
            <a:prstDash val="solid"/>
          </a:ln>
        </p:spPr>
      </p:sp>
      <p:sp>
        <p:nvSpPr>
          <p:cNvPr id="13" name="Text 11"/>
          <p:cNvSpPr/>
          <p:nvPr/>
        </p:nvSpPr>
        <p:spPr>
          <a:xfrm>
            <a:off x="4535424" y="186537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5065776" y="1865376"/>
            <a:ext cx="2514600" cy="256032"/>
          </a:xfrm>
          <a:prstGeom prst="rect">
            <a:avLst/>
          </a:prstGeom>
          <a:noFill/>
          <a:ln/>
        </p:spPr>
        <p:txBody>
          <a:bodyPr wrap="square" lIns="0" tIns="0" rIns="0" bIns="0" rtlCol="0" anchor="ctr"/>
          <a:lstStyle/>
          <a:p>
            <a:pPr indent="0" marL="0">
              <a:buNone/>
            </a:pPr>
            <a:r>
              <a:rPr lang="en-US" sz="1300" b="1" dirty="0">
                <a:solidFill>
                  <a:srgbClr val="12202E"/>
                </a:solidFill>
                <a:latin typeface="Calibri" pitchFamily="34" charset="0"/>
                <a:ea typeface="Calibri" pitchFamily="34" charset="-122"/>
                <a:cs typeface="Calibri" pitchFamily="34" charset="-120"/>
              </a:rPr>
              <a:t>Sandra Meier, 34</a:t>
            </a:r>
            <a:endParaRPr lang="en-US" sz="1300" dirty="0"/>
          </a:p>
        </p:txBody>
      </p:sp>
      <p:sp>
        <p:nvSpPr>
          <p:cNvPr id="15" name="Text 13"/>
          <p:cNvSpPr/>
          <p:nvPr/>
        </p:nvSpPr>
        <p:spPr>
          <a:xfrm>
            <a:off x="5065776" y="2103120"/>
            <a:ext cx="2514600" cy="219456"/>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Practice assistant · secondary</a:t>
            </a:r>
            <a:endParaRPr lang="en-US" sz="1000" dirty="0"/>
          </a:p>
        </p:txBody>
      </p:sp>
      <p:sp>
        <p:nvSpPr>
          <p:cNvPr id="16" name="Text 14"/>
          <p:cNvSpPr/>
          <p:nvPr/>
        </p:nvSpPr>
        <p:spPr>
          <a:xfrm>
            <a:off x="4535424" y="2487168"/>
            <a:ext cx="2999232" cy="868680"/>
          </a:xfrm>
          <a:prstGeom prst="rect">
            <a:avLst/>
          </a:prstGeom>
          <a:noFill/>
          <a:ln/>
        </p:spPr>
        <p:txBody>
          <a:bodyPr wrap="square" lIns="0" tIns="0" rIns="0" bIns="0" rtlCol="0" anchor="t"/>
          <a:lstStyle/>
          <a:p>
            <a:pPr indent="0" marL="0">
              <a:lnSpc>
                <a:spcPts val="1500"/>
              </a:lnSpc>
              <a:buNone/>
            </a:pPr>
            <a:r>
              <a:rPr lang="en-US" sz="1100" dirty="0">
                <a:solidFill>
                  <a:srgbClr val="5D7186"/>
                </a:solidFill>
                <a:latin typeface="Calibri" pitchFamily="34" charset="0"/>
                <a:ea typeface="Calibri" pitchFamily="34" charset="-122"/>
                <a:cs typeface="Calibri" pitchFamily="34" charset="-120"/>
              </a:rPr>
              <a:t>Triages calls and messages all day. High workload, no time for guessing games.</a:t>
            </a:r>
            <a:endParaRPr lang="en-US" sz="1100" dirty="0"/>
          </a:p>
        </p:txBody>
      </p:sp>
      <p:sp>
        <p:nvSpPr>
          <p:cNvPr id="17" name="Text 15"/>
          <p:cNvSpPr/>
          <p:nvPr/>
        </p:nvSpPr>
        <p:spPr>
          <a:xfrm>
            <a:off x="4535424" y="3127248"/>
            <a:ext cx="2999232" cy="548640"/>
          </a:xfrm>
          <a:prstGeom prst="rect">
            <a:avLst/>
          </a:prstGeom>
          <a:noFill/>
          <a:ln/>
        </p:spPr>
        <p:txBody>
          <a:bodyPr wrap="square" lIns="0" tIns="0" rIns="0" bIns="0" rtlCol="0" anchor="ctr"/>
          <a:lstStyle/>
          <a:p>
            <a:pPr indent="0" marL="0">
              <a:lnSpc>
                <a:spcPts val="1500"/>
              </a:lnSpc>
              <a:buNone/>
            </a:pPr>
            <a:r>
              <a:rPr lang="en-US" sz="1100" i="1" dirty="0">
                <a:solidFill>
                  <a:srgbClr val="12202E"/>
                </a:solidFill>
                <a:latin typeface="Calibri" pitchFamily="34" charset="0"/>
                <a:ea typeface="Calibri" pitchFamily="34" charset="-122"/>
                <a:cs typeface="Calibri" pitchFamily="34" charset="-120"/>
              </a:rPr>
              <a:t>“I need to see in 10 seconds whether this needs an appointment today.”</a:t>
            </a:r>
            <a:endParaRPr lang="en-US" sz="1100" dirty="0"/>
          </a:p>
        </p:txBody>
      </p:sp>
      <p:sp>
        <p:nvSpPr>
          <p:cNvPr id="18" name="Shape 16"/>
          <p:cNvSpPr/>
          <p:nvPr/>
        </p:nvSpPr>
        <p:spPr>
          <a:xfrm>
            <a:off x="7991856" y="1664208"/>
            <a:ext cx="3474720" cy="2121408"/>
          </a:xfrm>
          <a:prstGeom prst="roundRect">
            <a:avLst>
              <a:gd name="adj" fmla="val 3879"/>
            </a:avLst>
          </a:prstGeom>
          <a:solidFill>
            <a:srgbClr val="FFFFFF"/>
          </a:solidFill>
          <a:ln w="12700">
            <a:solidFill>
              <a:srgbClr val="DDE5EE"/>
            </a:solidFill>
            <a:prstDash val="solid"/>
          </a:ln>
        </p:spPr>
      </p:sp>
      <p:sp>
        <p:nvSpPr>
          <p:cNvPr id="19" name="Shape 17"/>
          <p:cNvSpPr/>
          <p:nvPr/>
        </p:nvSpPr>
        <p:spPr>
          <a:xfrm>
            <a:off x="8247888" y="1865376"/>
            <a:ext cx="420624" cy="420624"/>
          </a:xfrm>
          <a:prstGeom prst="ellipse">
            <a:avLst/>
          </a:prstGeom>
          <a:solidFill>
            <a:srgbClr val="12202E"/>
          </a:solidFill>
          <a:ln w="12700">
            <a:solidFill>
              <a:srgbClr val="12202E"/>
            </a:solidFill>
            <a:prstDash val="solid"/>
          </a:ln>
        </p:spPr>
      </p:sp>
      <p:sp>
        <p:nvSpPr>
          <p:cNvPr id="20" name="Text 18"/>
          <p:cNvSpPr/>
          <p:nvPr/>
        </p:nvSpPr>
        <p:spPr>
          <a:xfrm>
            <a:off x="8247888" y="186537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8778240" y="1865376"/>
            <a:ext cx="2514600" cy="256032"/>
          </a:xfrm>
          <a:prstGeom prst="rect">
            <a:avLst/>
          </a:prstGeom>
          <a:noFill/>
          <a:ln/>
        </p:spPr>
        <p:txBody>
          <a:bodyPr wrap="square" lIns="0" tIns="0" rIns="0" bIns="0" rtlCol="0" anchor="ctr"/>
          <a:lstStyle/>
          <a:p>
            <a:pPr indent="0" marL="0">
              <a:buNone/>
            </a:pPr>
            <a:r>
              <a:rPr lang="en-US" sz="1300" b="1" dirty="0">
                <a:solidFill>
                  <a:srgbClr val="12202E"/>
                </a:solidFill>
                <a:latin typeface="Calibri" pitchFamily="34" charset="0"/>
                <a:ea typeface="Calibri" pitchFamily="34" charset="-122"/>
                <a:cs typeface="Calibri" pitchFamily="34" charset="-120"/>
              </a:rPr>
              <a:t>Dr Anna Keller, 45</a:t>
            </a:r>
            <a:endParaRPr lang="en-US" sz="1300" dirty="0"/>
          </a:p>
        </p:txBody>
      </p:sp>
      <p:sp>
        <p:nvSpPr>
          <p:cNvPr id="22" name="Text 20"/>
          <p:cNvSpPr/>
          <p:nvPr/>
        </p:nvSpPr>
        <p:spPr>
          <a:xfrm>
            <a:off x="8778240" y="2103120"/>
            <a:ext cx="2514600" cy="219456"/>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Surgeon · tertiary</a:t>
            </a:r>
            <a:endParaRPr lang="en-US" sz="1000" dirty="0"/>
          </a:p>
        </p:txBody>
      </p:sp>
      <p:sp>
        <p:nvSpPr>
          <p:cNvPr id="23" name="Text 21"/>
          <p:cNvSpPr/>
          <p:nvPr/>
        </p:nvSpPr>
        <p:spPr>
          <a:xfrm>
            <a:off x="8247888" y="2487168"/>
            <a:ext cx="2999232" cy="868680"/>
          </a:xfrm>
          <a:prstGeom prst="rect">
            <a:avLst/>
          </a:prstGeom>
          <a:noFill/>
          <a:ln/>
        </p:spPr>
        <p:txBody>
          <a:bodyPr wrap="square" lIns="0" tIns="0" rIns="0" bIns="0" rtlCol="0" anchor="t"/>
          <a:lstStyle/>
          <a:p>
            <a:pPr indent="0" marL="0">
              <a:lnSpc>
                <a:spcPts val="1500"/>
              </a:lnSpc>
              <a:buNone/>
            </a:pPr>
            <a:r>
              <a:rPr lang="en-US" sz="1100" dirty="0">
                <a:solidFill>
                  <a:srgbClr val="5D7186"/>
                </a:solidFill>
                <a:latin typeface="Calibri" pitchFamily="34" charset="0"/>
                <a:ea typeface="Calibri" pitchFamily="34" charset="-122"/>
                <a:cs typeface="Calibri" pitchFamily="34" charset="-120"/>
              </a:rPr>
              <a:t>Operates and runs follow-ups. Wants the trajectory, not a retrospective recollection.</a:t>
            </a:r>
            <a:endParaRPr lang="en-US" sz="1100" dirty="0"/>
          </a:p>
        </p:txBody>
      </p:sp>
      <p:sp>
        <p:nvSpPr>
          <p:cNvPr id="24" name="Text 22"/>
          <p:cNvSpPr/>
          <p:nvPr/>
        </p:nvSpPr>
        <p:spPr>
          <a:xfrm>
            <a:off x="8247888" y="3127248"/>
            <a:ext cx="2999232" cy="548640"/>
          </a:xfrm>
          <a:prstGeom prst="rect">
            <a:avLst/>
          </a:prstGeom>
          <a:noFill/>
          <a:ln/>
        </p:spPr>
        <p:txBody>
          <a:bodyPr wrap="square" lIns="0" tIns="0" rIns="0" bIns="0" rtlCol="0" anchor="ctr"/>
          <a:lstStyle/>
          <a:p>
            <a:pPr indent="0" marL="0">
              <a:lnSpc>
                <a:spcPts val="1500"/>
              </a:lnSpc>
              <a:buNone/>
            </a:pPr>
            <a:r>
              <a:rPr lang="en-US" sz="1100" i="1" dirty="0">
                <a:solidFill>
                  <a:srgbClr val="12202E"/>
                </a:solidFill>
                <a:latin typeface="Calibri" pitchFamily="34" charset="0"/>
                <a:ea typeface="Calibri" pitchFamily="34" charset="-122"/>
                <a:cs typeface="Calibri" pitchFamily="34" charset="-120"/>
              </a:rPr>
              <a:t>“I want the full trend without opening every single answer.”</a:t>
            </a:r>
            <a:endParaRPr lang="en-US" sz="1100" dirty="0"/>
          </a:p>
        </p:txBody>
      </p:sp>
      <p:sp>
        <p:nvSpPr>
          <p:cNvPr id="25" name="Shape 23"/>
          <p:cNvSpPr/>
          <p:nvPr/>
        </p:nvSpPr>
        <p:spPr>
          <a:xfrm>
            <a:off x="566928" y="4315968"/>
            <a:ext cx="11064240" cy="1700784"/>
          </a:xfrm>
          <a:prstGeom prst="roundRect">
            <a:avLst>
              <a:gd name="adj" fmla="val 4839"/>
            </a:avLst>
          </a:prstGeom>
          <a:solidFill>
            <a:srgbClr val="E8F6EE"/>
          </a:solidFill>
          <a:ln w="12700">
            <a:solidFill>
              <a:srgbClr val="A8D9BF"/>
            </a:solidFill>
            <a:prstDash val="solid"/>
          </a:ln>
        </p:spPr>
      </p:sp>
      <p:sp>
        <p:nvSpPr>
          <p:cNvPr id="26" name="Shape 24"/>
          <p:cNvSpPr/>
          <p:nvPr/>
        </p:nvSpPr>
        <p:spPr>
          <a:xfrm>
            <a:off x="841248" y="4535424"/>
            <a:ext cx="1371600" cy="256032"/>
          </a:xfrm>
          <a:prstGeom prst="roundRect">
            <a:avLst>
              <a:gd name="adj" fmla="val 50000"/>
            </a:avLst>
          </a:prstGeom>
          <a:solidFill>
            <a:srgbClr val="FFFFFF"/>
          </a:solidFill>
          <a:ln w="12700">
            <a:solidFill>
              <a:srgbClr val="FFFFFF"/>
            </a:solidFill>
            <a:prstDash val="solid"/>
          </a:ln>
        </p:spPr>
      </p:sp>
      <p:sp>
        <p:nvSpPr>
          <p:cNvPr id="27" name="Text 25"/>
          <p:cNvSpPr/>
          <p:nvPr/>
        </p:nvSpPr>
        <p:spPr>
          <a:xfrm>
            <a:off x="841248" y="4535424"/>
            <a:ext cx="1371600" cy="256032"/>
          </a:xfrm>
          <a:prstGeom prst="rect">
            <a:avLst/>
          </a:prstGeom>
          <a:noFill/>
          <a:ln/>
        </p:spPr>
        <p:txBody>
          <a:bodyPr wrap="square" lIns="0" tIns="0" rIns="0" bIns="0" rtlCol="0" anchor="ctr"/>
          <a:lstStyle/>
          <a:p>
            <a:pPr algn="ctr" indent="0" marL="0">
              <a:buNone/>
            </a:pPr>
            <a:r>
              <a:rPr lang="en-US" sz="950" b="1" dirty="0">
                <a:solidFill>
                  <a:srgbClr val="1A7F4B"/>
                </a:solidFill>
                <a:latin typeface="Calibri" pitchFamily="34" charset="0"/>
                <a:ea typeface="Calibri" pitchFamily="34" charset="-122"/>
                <a:cs typeface="Calibri" pitchFamily="34" charset="-120"/>
              </a:rPr>
              <a:t>SCENARIO A</a:t>
            </a:r>
            <a:endParaRPr lang="en-US" sz="950" dirty="0"/>
          </a:p>
        </p:txBody>
      </p:sp>
      <p:sp>
        <p:nvSpPr>
          <p:cNvPr id="28" name="Text 26"/>
          <p:cNvSpPr/>
          <p:nvPr/>
        </p:nvSpPr>
        <p:spPr>
          <a:xfrm>
            <a:off x="2350008" y="4535424"/>
            <a:ext cx="2743200" cy="256032"/>
          </a:xfrm>
          <a:prstGeom prst="rect">
            <a:avLst/>
          </a:prstGeom>
          <a:noFill/>
          <a:ln/>
        </p:spPr>
        <p:txBody>
          <a:bodyPr wrap="square" lIns="0" tIns="0" rIns="0" bIns="0" rtlCol="0" anchor="ctr"/>
          <a:lstStyle/>
          <a:p>
            <a:pPr indent="0" marL="0">
              <a:buNone/>
            </a:pPr>
            <a:r>
              <a:rPr lang="en-US" sz="1250" b="1" dirty="0">
                <a:solidFill>
                  <a:srgbClr val="1A7F4B"/>
                </a:solidFill>
                <a:latin typeface="Calibri" pitchFamily="34" charset="0"/>
                <a:ea typeface="Calibri" pitchFamily="34" charset="-122"/>
                <a:cs typeface="Calibri" pitchFamily="34" charset="-120"/>
              </a:rPr>
              <a:t>Day 6 — the scab</a:t>
            </a:r>
            <a:endParaRPr lang="en-US" sz="1250" dirty="0"/>
          </a:p>
        </p:txBody>
      </p:sp>
      <p:sp>
        <p:nvSpPr>
          <p:cNvPr id="29" name="Text 27"/>
          <p:cNvSpPr/>
          <p:nvPr/>
        </p:nvSpPr>
        <p:spPr>
          <a:xfrm>
            <a:off x="841248" y="4882896"/>
            <a:ext cx="10515600" cy="960120"/>
          </a:xfrm>
          <a:prstGeom prst="rect">
            <a:avLst/>
          </a:prstGeom>
          <a:noFill/>
          <a:ln/>
        </p:spPr>
        <p:txBody>
          <a:bodyPr wrap="square" lIns="0" tIns="0" rIns="0" bIns="0" rtlCol="0" anchor="t"/>
          <a:lstStyle/>
          <a:p>
            <a:pPr indent="0" marL="0">
              <a:lnSpc>
                <a:spcPts val="1700"/>
              </a:lnSpc>
              <a:buNone/>
            </a:pPr>
            <a:r>
              <a:rPr lang="en-US" sz="1200" dirty="0">
                <a:solidFill>
                  <a:srgbClr val="12202E"/>
                </a:solidFill>
                <a:latin typeface="Calibri" pitchFamily="34" charset="0"/>
                <a:ea typeface="Calibri" pitchFamily="34" charset="-122"/>
                <a:cs typeface="Calibri" pitchFamily="34" charset="-120"/>
              </a:rPr>
              <a:t>36.9 °C, pain 2/10 and better than yesterday — but a brown scab has formed, and Peter's brother once had a wound infection. WundCheck returns GREEN with “a scab is a normal sign of healing — do not pick it off”. Peter does not call the clinic. The entry still goes into the record, so Dr Keller sees an unbroken trajectory at the suture removal appointment.</a:t>
            </a:r>
            <a:endParaRPr lang="en-US" sz="1200" dirty="0"/>
          </a:p>
        </p:txBody>
      </p:sp>
      <p:sp>
        <p:nvSpPr>
          <p:cNvPr id="30" name="Text 28"/>
          <p:cNvSpPr/>
          <p:nvPr/>
        </p:nvSpPr>
        <p:spPr>
          <a:xfrm>
            <a:off x="841248" y="5742432"/>
            <a:ext cx="10515600" cy="256032"/>
          </a:xfrm>
          <a:prstGeom prst="rect">
            <a:avLst/>
          </a:prstGeom>
          <a:noFill/>
          <a:ln/>
        </p:spPr>
        <p:txBody>
          <a:bodyPr wrap="square" lIns="0" tIns="0" rIns="0" bIns="0" rtlCol="0" anchor="ctr"/>
          <a:lstStyle/>
          <a:p>
            <a:pPr indent="0" marL="0">
              <a:buNone/>
            </a:pPr>
            <a:r>
              <a:rPr lang="en-US" sz="1150" b="1" i="1" dirty="0">
                <a:solidFill>
                  <a:srgbClr val="1A7F4B"/>
                </a:solidFill>
                <a:latin typeface="Calibri" pitchFamily="34" charset="0"/>
                <a:ea typeface="Calibri" pitchFamily="34" charset="-122"/>
                <a:cs typeface="Calibri" pitchFamily="34" charset="-120"/>
              </a:rPr>
              <a:t>The call that is avoided is worth as much as the one that is triggered.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GUIDELINES &amp; EVIDENCE</a:t>
            </a:r>
            <a:endParaRPr lang="en-US" sz="1050" dirty="0"/>
          </a:p>
        </p:txBody>
      </p:sp>
      <p:sp>
        <p:nvSpPr>
          <p:cNvPr id="3" name="Text 1"/>
          <p:cNvSpPr/>
          <p:nvPr/>
        </p:nvSpPr>
        <p:spPr>
          <a:xfrm>
            <a:off x="566928" y="640080"/>
            <a:ext cx="841248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Four sources, three roles — and one we deliberately discarded</a:t>
            </a:r>
            <a:endParaRPr lang="en-US" sz="2700" dirty="0"/>
          </a:p>
        </p:txBody>
      </p:sp>
      <p:sp>
        <p:nvSpPr>
          <p:cNvPr id="4" name="Shape 2"/>
          <p:cNvSpPr/>
          <p:nvPr/>
        </p:nvSpPr>
        <p:spPr>
          <a:xfrm>
            <a:off x="9290304" y="475488"/>
            <a:ext cx="475488" cy="274320"/>
          </a:xfrm>
          <a:prstGeom prst="roundRect">
            <a:avLst>
              <a:gd name="adj" fmla="val 46667"/>
            </a:avLst>
          </a:prstGeom>
          <a:solidFill>
            <a:srgbClr val="12202E"/>
          </a:solidFill>
          <a:ln w="12700">
            <a:solidFill>
              <a:srgbClr val="12202E"/>
            </a:solidFill>
            <a:prstDash val="solid"/>
          </a:ln>
        </p:spPr>
      </p:sp>
      <p:sp>
        <p:nvSpPr>
          <p:cNvPr id="5" name="Text 3"/>
          <p:cNvSpPr/>
          <p:nvPr/>
        </p:nvSpPr>
        <p:spPr>
          <a:xfrm>
            <a:off x="9290304" y="475488"/>
            <a:ext cx="47548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L1</a:t>
            </a:r>
            <a:endParaRPr lang="en-US" sz="1050" dirty="0"/>
          </a:p>
        </p:txBody>
      </p:sp>
      <p:sp>
        <p:nvSpPr>
          <p:cNvPr id="6" name="Text 4"/>
          <p:cNvSpPr/>
          <p:nvPr/>
        </p:nvSpPr>
        <p:spPr>
          <a:xfrm>
            <a:off x="9765792"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9912096" y="475488"/>
            <a:ext cx="475488" cy="274320"/>
          </a:xfrm>
          <a:prstGeom prst="roundRect">
            <a:avLst>
              <a:gd name="adj" fmla="val 46667"/>
            </a:avLst>
          </a:prstGeom>
          <a:solidFill>
            <a:srgbClr val="F5F7FA"/>
          </a:solidFill>
          <a:ln w="12700">
            <a:solidFill>
              <a:srgbClr val="DDE5EE"/>
            </a:solidFill>
            <a:prstDash val="solid"/>
          </a:ln>
        </p:spPr>
      </p:sp>
      <p:sp>
        <p:nvSpPr>
          <p:cNvPr id="8" name="Text 6"/>
          <p:cNvSpPr/>
          <p:nvPr/>
        </p:nvSpPr>
        <p:spPr>
          <a:xfrm>
            <a:off x="9912096"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L2</a:t>
            </a:r>
            <a:endParaRPr lang="en-US" sz="1050" dirty="0"/>
          </a:p>
        </p:txBody>
      </p:sp>
      <p:sp>
        <p:nvSpPr>
          <p:cNvPr id="9" name="Text 7"/>
          <p:cNvSpPr/>
          <p:nvPr/>
        </p:nvSpPr>
        <p:spPr>
          <a:xfrm>
            <a:off x="10387584"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533888" y="475488"/>
            <a:ext cx="475488" cy="274320"/>
          </a:xfrm>
          <a:prstGeom prst="roundRect">
            <a:avLst>
              <a:gd name="adj" fmla="val 46667"/>
            </a:avLst>
          </a:prstGeom>
          <a:solidFill>
            <a:srgbClr val="F5F7FA"/>
          </a:solidFill>
          <a:ln w="12700">
            <a:solidFill>
              <a:srgbClr val="DDE5EE"/>
            </a:solidFill>
            <a:prstDash val="solid"/>
          </a:ln>
        </p:spPr>
      </p:sp>
      <p:sp>
        <p:nvSpPr>
          <p:cNvPr id="11" name="Text 9"/>
          <p:cNvSpPr/>
          <p:nvPr/>
        </p:nvSpPr>
        <p:spPr>
          <a:xfrm>
            <a:off x="10533888"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L3</a:t>
            </a:r>
            <a:endParaRPr lang="en-US" sz="1050" dirty="0"/>
          </a:p>
        </p:txBody>
      </p:sp>
      <p:sp>
        <p:nvSpPr>
          <p:cNvPr id="12" name="Text 10"/>
          <p:cNvSpPr/>
          <p:nvPr/>
        </p:nvSpPr>
        <p:spPr>
          <a:xfrm>
            <a:off x="11009376"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1155680" y="475488"/>
            <a:ext cx="475488" cy="274320"/>
          </a:xfrm>
          <a:prstGeom prst="roundRect">
            <a:avLst>
              <a:gd name="adj" fmla="val 46667"/>
            </a:avLst>
          </a:prstGeom>
          <a:solidFill>
            <a:srgbClr val="F5F7FA"/>
          </a:solidFill>
          <a:ln w="12700">
            <a:solidFill>
              <a:srgbClr val="DDE5EE"/>
            </a:solidFill>
            <a:prstDash val="solid"/>
          </a:ln>
        </p:spPr>
      </p:sp>
      <p:sp>
        <p:nvSpPr>
          <p:cNvPr id="14" name="Text 12"/>
          <p:cNvSpPr/>
          <p:nvPr/>
        </p:nvSpPr>
        <p:spPr>
          <a:xfrm>
            <a:off x="11155680"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L4</a:t>
            </a:r>
            <a:endParaRPr lang="en-US" sz="1050" dirty="0"/>
          </a:p>
        </p:txBody>
      </p:sp>
      <p:sp>
        <p:nvSpPr>
          <p:cNvPr id="15" name="Shape 13"/>
          <p:cNvSpPr/>
          <p:nvPr/>
        </p:nvSpPr>
        <p:spPr>
          <a:xfrm>
            <a:off x="566928" y="1664208"/>
            <a:ext cx="11064240" cy="658368"/>
          </a:xfrm>
          <a:prstGeom prst="roundRect">
            <a:avLst>
              <a:gd name="adj" fmla="val 12500"/>
            </a:avLst>
          </a:prstGeom>
          <a:solidFill>
            <a:srgbClr val="FFFFFF"/>
          </a:solidFill>
          <a:ln w="12700">
            <a:solidFill>
              <a:srgbClr val="DDE5EE"/>
            </a:solidFill>
            <a:prstDash val="solid"/>
          </a:ln>
        </p:spPr>
      </p:sp>
      <p:sp>
        <p:nvSpPr>
          <p:cNvPr id="16" name="Text 14"/>
          <p:cNvSpPr/>
          <p:nvPr/>
        </p:nvSpPr>
        <p:spPr>
          <a:xfrm>
            <a:off x="804672" y="1737360"/>
            <a:ext cx="1965960" cy="512064"/>
          </a:xfrm>
          <a:prstGeom prst="rect">
            <a:avLst/>
          </a:prstGeom>
          <a:noFill/>
          <a:ln/>
        </p:spPr>
        <p:txBody>
          <a:bodyPr wrap="square" lIns="0" tIns="0" rIns="0" bIns="0" rtlCol="0" anchor="ctr"/>
          <a:lstStyle/>
          <a:p>
            <a:pPr indent="0" marL="0">
              <a:buNone/>
            </a:pPr>
            <a:r>
              <a:rPr lang="en-US" sz="1250" b="1" dirty="0">
                <a:solidFill>
                  <a:srgbClr val="12202E"/>
                </a:solidFill>
                <a:latin typeface="Calibri" pitchFamily="34" charset="0"/>
                <a:ea typeface="Calibri" pitchFamily="34" charset="-122"/>
                <a:cs typeface="Calibri" pitchFamily="34" charset="-120"/>
              </a:rPr>
              <a:t>CDC / NHSN</a:t>
            </a:r>
            <a:endParaRPr lang="en-US" sz="1250" dirty="0"/>
          </a:p>
        </p:txBody>
      </p:sp>
      <p:sp>
        <p:nvSpPr>
          <p:cNvPr id="17" name="Text 15"/>
          <p:cNvSpPr/>
          <p:nvPr/>
        </p:nvSpPr>
        <p:spPr>
          <a:xfrm>
            <a:off x="2807208" y="1737360"/>
            <a:ext cx="1783080" cy="512064"/>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Normative — definition</a:t>
            </a:r>
            <a:endParaRPr lang="en-US" sz="1050" dirty="0"/>
          </a:p>
        </p:txBody>
      </p:sp>
      <p:sp>
        <p:nvSpPr>
          <p:cNvPr id="18" name="Text 16"/>
          <p:cNvSpPr/>
          <p:nvPr/>
        </p:nvSpPr>
        <p:spPr>
          <a:xfrm>
            <a:off x="4681728" y="1737360"/>
            <a:ext cx="5120640" cy="512064"/>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Superficial vs. deep incisional SSI, 30/90-day window, the five clinical signs</a:t>
            </a:r>
            <a:endParaRPr lang="en-US" sz="1150" dirty="0"/>
          </a:p>
        </p:txBody>
      </p:sp>
      <p:sp>
        <p:nvSpPr>
          <p:cNvPr id="19" name="Text 17"/>
          <p:cNvSpPr/>
          <p:nvPr/>
        </p:nvSpPr>
        <p:spPr>
          <a:xfrm>
            <a:off x="9893808" y="1737360"/>
            <a:ext cx="1554480" cy="512064"/>
          </a:xfrm>
          <a:prstGeom prst="rect">
            <a:avLst/>
          </a:prstGeom>
          <a:noFill/>
          <a:ln/>
        </p:spPr>
        <p:txBody>
          <a:bodyPr wrap="square" lIns="0" tIns="0" rIns="0" bIns="0" rtlCol="0" anchor="ctr"/>
          <a:lstStyle/>
          <a:p>
            <a:pPr algn="r" indent="0" marL="0">
              <a:buNone/>
            </a:pPr>
            <a:r>
              <a:rPr lang="en-US" sz="1000" i="1" dirty="0">
                <a:solidFill>
                  <a:srgbClr val="5D7186"/>
                </a:solidFill>
                <a:latin typeface="Calibri" pitchFamily="34" charset="0"/>
                <a:ea typeface="Calibri" pitchFamily="34" charset="-122"/>
                <a:cs typeface="Calibri" pitchFamily="34" charset="-120"/>
              </a:rPr>
              <a:t>Surveillance definition</a:t>
            </a:r>
            <a:endParaRPr lang="en-US" sz="1000" dirty="0"/>
          </a:p>
        </p:txBody>
      </p:sp>
      <p:sp>
        <p:nvSpPr>
          <p:cNvPr id="20" name="Shape 18"/>
          <p:cNvSpPr/>
          <p:nvPr/>
        </p:nvSpPr>
        <p:spPr>
          <a:xfrm>
            <a:off x="566928" y="2423160"/>
            <a:ext cx="11064240" cy="658368"/>
          </a:xfrm>
          <a:prstGeom prst="roundRect">
            <a:avLst>
              <a:gd name="adj" fmla="val 12500"/>
            </a:avLst>
          </a:prstGeom>
          <a:solidFill>
            <a:srgbClr val="FFFFFF"/>
          </a:solidFill>
          <a:ln w="12700">
            <a:solidFill>
              <a:srgbClr val="DDE5EE"/>
            </a:solidFill>
            <a:prstDash val="solid"/>
          </a:ln>
        </p:spPr>
      </p:sp>
      <p:sp>
        <p:nvSpPr>
          <p:cNvPr id="21" name="Text 19"/>
          <p:cNvSpPr/>
          <p:nvPr/>
        </p:nvSpPr>
        <p:spPr>
          <a:xfrm>
            <a:off x="804672" y="2496312"/>
            <a:ext cx="1965960" cy="512064"/>
          </a:xfrm>
          <a:prstGeom prst="rect">
            <a:avLst/>
          </a:prstGeom>
          <a:noFill/>
          <a:ln/>
        </p:spPr>
        <p:txBody>
          <a:bodyPr wrap="square" lIns="0" tIns="0" rIns="0" bIns="0" rtlCol="0" anchor="ctr"/>
          <a:lstStyle/>
          <a:p>
            <a:pPr indent="0" marL="0">
              <a:buNone/>
            </a:pPr>
            <a:r>
              <a:rPr lang="en-US" sz="1250" b="1" dirty="0">
                <a:solidFill>
                  <a:srgbClr val="12202E"/>
                </a:solidFill>
                <a:latin typeface="Calibri" pitchFamily="34" charset="0"/>
                <a:ea typeface="Calibri" pitchFamily="34" charset="-122"/>
                <a:cs typeface="Calibri" pitchFamily="34" charset="-120"/>
              </a:rPr>
              <a:t>NICE NG125</a:t>
            </a:r>
            <a:endParaRPr lang="en-US" sz="1250" dirty="0"/>
          </a:p>
        </p:txBody>
      </p:sp>
      <p:sp>
        <p:nvSpPr>
          <p:cNvPr id="22" name="Text 20"/>
          <p:cNvSpPr/>
          <p:nvPr/>
        </p:nvSpPr>
        <p:spPr>
          <a:xfrm>
            <a:off x="2807208" y="2496312"/>
            <a:ext cx="1783080" cy="512064"/>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Normative — management</a:t>
            </a:r>
            <a:endParaRPr lang="en-US" sz="1050" dirty="0"/>
          </a:p>
        </p:txBody>
      </p:sp>
      <p:sp>
        <p:nvSpPr>
          <p:cNvPr id="23" name="Text 21"/>
          <p:cNvSpPr/>
          <p:nvPr/>
        </p:nvSpPr>
        <p:spPr>
          <a:xfrm>
            <a:off x="4681728" y="2496312"/>
            <a:ext cx="5120640" cy="512064"/>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Post-operative wound care; §1.1.3 requires patients be taught to recognise an SSI</a:t>
            </a:r>
            <a:endParaRPr lang="en-US" sz="1150" dirty="0"/>
          </a:p>
        </p:txBody>
      </p:sp>
      <p:sp>
        <p:nvSpPr>
          <p:cNvPr id="24" name="Text 22"/>
          <p:cNvSpPr/>
          <p:nvPr/>
        </p:nvSpPr>
        <p:spPr>
          <a:xfrm>
            <a:off x="9893808" y="2496312"/>
            <a:ext cx="1554480" cy="512064"/>
          </a:xfrm>
          <a:prstGeom prst="rect">
            <a:avLst/>
          </a:prstGeom>
          <a:noFill/>
          <a:ln/>
        </p:spPr>
        <p:txBody>
          <a:bodyPr wrap="square" lIns="0" tIns="0" rIns="0" bIns="0" rtlCol="0" anchor="ctr"/>
          <a:lstStyle/>
          <a:p>
            <a:pPr algn="r" indent="0" marL="0">
              <a:buNone/>
            </a:pPr>
            <a:r>
              <a:rPr lang="en-US" sz="1000" i="1" dirty="0">
                <a:solidFill>
                  <a:srgbClr val="5D7186"/>
                </a:solidFill>
                <a:latin typeface="Calibri" pitchFamily="34" charset="0"/>
                <a:ea typeface="Calibri" pitchFamily="34" charset="-122"/>
                <a:cs typeface="Calibri" pitchFamily="34" charset="-120"/>
              </a:rPr>
              <a:t>Evidence-based guideline</a:t>
            </a:r>
            <a:endParaRPr lang="en-US" sz="1000" dirty="0"/>
          </a:p>
        </p:txBody>
      </p:sp>
      <p:sp>
        <p:nvSpPr>
          <p:cNvPr id="25" name="Shape 23"/>
          <p:cNvSpPr/>
          <p:nvPr/>
        </p:nvSpPr>
        <p:spPr>
          <a:xfrm>
            <a:off x="566928" y="3182112"/>
            <a:ext cx="11064240" cy="658368"/>
          </a:xfrm>
          <a:prstGeom prst="roundRect">
            <a:avLst>
              <a:gd name="adj" fmla="val 12500"/>
            </a:avLst>
          </a:prstGeom>
          <a:solidFill>
            <a:srgbClr val="FFFFFF"/>
          </a:solidFill>
          <a:ln w="12700">
            <a:solidFill>
              <a:srgbClr val="DDE5EE"/>
            </a:solidFill>
            <a:prstDash val="solid"/>
          </a:ln>
        </p:spPr>
      </p:sp>
      <p:sp>
        <p:nvSpPr>
          <p:cNvPr id="26" name="Text 24"/>
          <p:cNvSpPr/>
          <p:nvPr/>
        </p:nvSpPr>
        <p:spPr>
          <a:xfrm>
            <a:off x="804672" y="3255264"/>
            <a:ext cx="1965960" cy="512064"/>
          </a:xfrm>
          <a:prstGeom prst="rect">
            <a:avLst/>
          </a:prstGeom>
          <a:noFill/>
          <a:ln/>
        </p:spPr>
        <p:txBody>
          <a:bodyPr wrap="square" lIns="0" tIns="0" rIns="0" bIns="0" rtlCol="0" anchor="ctr"/>
          <a:lstStyle/>
          <a:p>
            <a:pPr indent="0" marL="0">
              <a:buNone/>
            </a:pPr>
            <a:r>
              <a:rPr lang="en-US" sz="1250" b="1" dirty="0">
                <a:solidFill>
                  <a:srgbClr val="12202E"/>
                </a:solidFill>
                <a:latin typeface="Calibri" pitchFamily="34" charset="0"/>
                <a:ea typeface="Calibri" pitchFamily="34" charset="-122"/>
                <a:cs typeface="Calibri" pitchFamily="34" charset="-120"/>
              </a:rPr>
              <a:t>Southampton score</a:t>
            </a:r>
            <a:endParaRPr lang="en-US" sz="1250" dirty="0"/>
          </a:p>
        </p:txBody>
      </p:sp>
      <p:sp>
        <p:nvSpPr>
          <p:cNvPr id="27" name="Text 25"/>
          <p:cNvSpPr/>
          <p:nvPr/>
        </p:nvSpPr>
        <p:spPr>
          <a:xfrm>
            <a:off x="2807208" y="3255264"/>
            <a:ext cx="1783080" cy="512064"/>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Instrument</a:t>
            </a:r>
            <a:endParaRPr lang="en-US" sz="1050" dirty="0"/>
          </a:p>
        </p:txBody>
      </p:sp>
      <p:sp>
        <p:nvSpPr>
          <p:cNvPr id="28" name="Text 26"/>
          <p:cNvSpPr/>
          <p:nvPr/>
        </p:nvSpPr>
        <p:spPr>
          <a:xfrm>
            <a:off x="4681728" y="3255264"/>
            <a:ext cx="5120640" cy="512064"/>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Visual grading 0–V — the anchor for our image selection</a:t>
            </a:r>
            <a:endParaRPr lang="en-US" sz="1150" dirty="0"/>
          </a:p>
        </p:txBody>
      </p:sp>
      <p:sp>
        <p:nvSpPr>
          <p:cNvPr id="29" name="Text 27"/>
          <p:cNvSpPr/>
          <p:nvPr/>
        </p:nvSpPr>
        <p:spPr>
          <a:xfrm>
            <a:off x="9893808" y="3255264"/>
            <a:ext cx="1554480" cy="512064"/>
          </a:xfrm>
          <a:prstGeom prst="rect">
            <a:avLst/>
          </a:prstGeom>
          <a:noFill/>
          <a:ln/>
        </p:spPr>
        <p:txBody>
          <a:bodyPr wrap="square" lIns="0" tIns="0" rIns="0" bIns="0" rtlCol="0" anchor="ctr"/>
          <a:lstStyle/>
          <a:p>
            <a:pPr algn="r" indent="0" marL="0">
              <a:buNone/>
            </a:pPr>
            <a:r>
              <a:rPr lang="en-US" sz="1000" i="1" dirty="0">
                <a:solidFill>
                  <a:srgbClr val="5D7186"/>
                </a:solidFill>
                <a:latin typeface="Calibri" pitchFamily="34" charset="0"/>
                <a:ea typeface="Calibri" pitchFamily="34" charset="-122"/>
                <a:cs typeface="Calibri" pitchFamily="34" charset="-120"/>
              </a:rPr>
              <a:t>Validated instrument</a:t>
            </a:r>
            <a:endParaRPr lang="en-US" sz="1000" dirty="0"/>
          </a:p>
        </p:txBody>
      </p:sp>
      <p:sp>
        <p:nvSpPr>
          <p:cNvPr id="30" name="Shape 28"/>
          <p:cNvSpPr/>
          <p:nvPr/>
        </p:nvSpPr>
        <p:spPr>
          <a:xfrm>
            <a:off x="566928" y="3941064"/>
            <a:ext cx="11064240" cy="658368"/>
          </a:xfrm>
          <a:prstGeom prst="roundRect">
            <a:avLst>
              <a:gd name="adj" fmla="val 12500"/>
            </a:avLst>
          </a:prstGeom>
          <a:solidFill>
            <a:srgbClr val="F5F7FA"/>
          </a:solidFill>
          <a:ln w="12700">
            <a:solidFill>
              <a:srgbClr val="DDE5EE"/>
            </a:solidFill>
            <a:prstDash val="solid"/>
          </a:ln>
        </p:spPr>
      </p:sp>
      <p:sp>
        <p:nvSpPr>
          <p:cNvPr id="31" name="Text 29"/>
          <p:cNvSpPr/>
          <p:nvPr/>
        </p:nvSpPr>
        <p:spPr>
          <a:xfrm>
            <a:off x="804672" y="4014216"/>
            <a:ext cx="1965960" cy="512064"/>
          </a:xfrm>
          <a:prstGeom prst="rect">
            <a:avLst/>
          </a:prstGeom>
          <a:noFill/>
          <a:ln/>
        </p:spPr>
        <p:txBody>
          <a:bodyPr wrap="square" lIns="0" tIns="0" rIns="0" bIns="0" rtlCol="0" anchor="ctr"/>
          <a:lstStyle/>
          <a:p>
            <a:pPr indent="0" marL="0">
              <a:buNone/>
            </a:pPr>
            <a:r>
              <a:rPr lang="en-US" sz="1250" b="1" dirty="0">
                <a:solidFill>
                  <a:srgbClr val="12202E"/>
                </a:solidFill>
                <a:latin typeface="Calibri" pitchFamily="34" charset="0"/>
                <a:ea typeface="Calibri" pitchFamily="34" charset="-122"/>
                <a:cs typeface="Calibri" pitchFamily="34" charset="-120"/>
              </a:rPr>
              <a:t>Campwala et al. 2019</a:t>
            </a:r>
            <a:endParaRPr lang="en-US" sz="1250" dirty="0"/>
          </a:p>
        </p:txBody>
      </p:sp>
      <p:sp>
        <p:nvSpPr>
          <p:cNvPr id="32" name="Text 30"/>
          <p:cNvSpPr/>
          <p:nvPr/>
        </p:nvSpPr>
        <p:spPr>
          <a:xfrm>
            <a:off x="2807208" y="4014216"/>
            <a:ext cx="1783080" cy="512064"/>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Evidence</a:t>
            </a:r>
            <a:endParaRPr lang="en-US" sz="1050" dirty="0"/>
          </a:p>
        </p:txBody>
      </p:sp>
      <p:sp>
        <p:nvSpPr>
          <p:cNvPr id="33" name="Text 31"/>
          <p:cNvSpPr/>
          <p:nvPr/>
        </p:nvSpPr>
        <p:spPr>
          <a:xfrm>
            <a:off x="4681728" y="4014216"/>
            <a:ext cx="5120640" cy="512064"/>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Compares CDC, ASEPSIS and Southampton</a:t>
            </a:r>
            <a:endParaRPr lang="en-US" sz="1150" dirty="0"/>
          </a:p>
        </p:txBody>
      </p:sp>
      <p:sp>
        <p:nvSpPr>
          <p:cNvPr id="34" name="Text 32"/>
          <p:cNvSpPr/>
          <p:nvPr/>
        </p:nvSpPr>
        <p:spPr>
          <a:xfrm>
            <a:off x="9893808" y="4014216"/>
            <a:ext cx="1554480" cy="512064"/>
          </a:xfrm>
          <a:prstGeom prst="rect">
            <a:avLst/>
          </a:prstGeom>
          <a:noFill/>
          <a:ln/>
        </p:spPr>
        <p:txBody>
          <a:bodyPr wrap="square" lIns="0" tIns="0" rIns="0" bIns="0" rtlCol="0" anchor="ctr"/>
          <a:lstStyle/>
          <a:p>
            <a:pPr algn="r" indent="0" marL="0">
              <a:buNone/>
            </a:pPr>
            <a:r>
              <a:rPr lang="en-US" sz="1000" i="1" dirty="0">
                <a:solidFill>
                  <a:srgbClr val="C0281C"/>
                </a:solidFill>
                <a:latin typeface="Calibri" pitchFamily="34" charset="0"/>
                <a:ea typeface="Calibri" pitchFamily="34" charset="-122"/>
                <a:cs typeface="Calibri" pitchFamily="34" charset="-120"/>
              </a:rPr>
              <a:t>Retrospective, n = 22</a:t>
            </a:r>
            <a:endParaRPr lang="en-US" sz="1000" dirty="0"/>
          </a:p>
        </p:txBody>
      </p:sp>
      <p:sp>
        <p:nvSpPr>
          <p:cNvPr id="35" name="Shape 33"/>
          <p:cNvSpPr/>
          <p:nvPr/>
        </p:nvSpPr>
        <p:spPr>
          <a:xfrm>
            <a:off x="566928" y="4791456"/>
            <a:ext cx="5440680" cy="1517904"/>
          </a:xfrm>
          <a:prstGeom prst="roundRect">
            <a:avLst>
              <a:gd name="adj" fmla="val 5422"/>
            </a:avLst>
          </a:prstGeom>
          <a:solidFill>
            <a:srgbClr val="12202E"/>
          </a:solidFill>
          <a:ln w="12700">
            <a:solidFill>
              <a:srgbClr val="12202E"/>
            </a:solidFill>
            <a:prstDash val="solid"/>
          </a:ln>
        </p:spPr>
      </p:sp>
      <p:sp>
        <p:nvSpPr>
          <p:cNvPr id="36" name="Text 34"/>
          <p:cNvSpPr/>
          <p:nvPr/>
        </p:nvSpPr>
        <p:spPr>
          <a:xfrm>
            <a:off x="822960" y="4937760"/>
            <a:ext cx="49377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Why we discarded ASEPSIS — the best performer</a:t>
            </a:r>
            <a:endParaRPr lang="en-US" sz="1200" dirty="0"/>
          </a:p>
        </p:txBody>
      </p:sp>
      <p:sp>
        <p:nvSpPr>
          <p:cNvPr id="37" name="Text 35"/>
          <p:cNvSpPr/>
          <p:nvPr/>
        </p:nvSpPr>
        <p:spPr>
          <a:xfrm>
            <a:off x="822960" y="5230368"/>
            <a:ext cx="4937760" cy="960120"/>
          </a:xfrm>
          <a:prstGeom prst="rect">
            <a:avLst/>
          </a:prstGeom>
          <a:noFill/>
          <a:ln/>
        </p:spPr>
        <p:txBody>
          <a:bodyPr wrap="square" lIns="0" tIns="0" rIns="0" bIns="0" rtlCol="0" anchor="t"/>
          <a:lstStyle/>
          <a:p>
            <a:pPr indent="0" marL="0">
              <a:lnSpc>
                <a:spcPts val="1500"/>
              </a:lnSpc>
              <a:buNone/>
            </a:pPr>
            <a:r>
              <a:rPr lang="en-US" sz="1100" dirty="0">
                <a:solidFill>
                  <a:srgbClr val="C9D6E4"/>
                </a:solidFill>
                <a:latin typeface="Calibri" pitchFamily="34" charset="0"/>
                <a:ea typeface="Calibri" pitchFamily="34" charset="-122"/>
                <a:cs typeface="Calibri" pitchFamily="34" charset="-120"/>
              </a:rPr>
              <a:t>It needs antibiotic administration, drainage, debridement, inpatient days and culture results. None of that is obtainable by a patient at home. We chose the usable instrument over the statistically better one — and we say so.</a:t>
            </a:r>
            <a:endParaRPr lang="en-US" sz="1100" dirty="0"/>
          </a:p>
        </p:txBody>
      </p:sp>
      <p:sp>
        <p:nvSpPr>
          <p:cNvPr id="38" name="Shape 36"/>
          <p:cNvSpPr/>
          <p:nvPr/>
        </p:nvSpPr>
        <p:spPr>
          <a:xfrm>
            <a:off x="6190488" y="4791456"/>
            <a:ext cx="5440680" cy="1517904"/>
          </a:xfrm>
          <a:prstGeom prst="roundRect">
            <a:avLst>
              <a:gd name="adj" fmla="val 5422"/>
            </a:avLst>
          </a:prstGeom>
          <a:solidFill>
            <a:srgbClr val="FBE7E5"/>
          </a:solidFill>
          <a:ln w="12700">
            <a:solidFill>
              <a:srgbClr val="F0ACA6"/>
            </a:solidFill>
            <a:prstDash val="solid"/>
          </a:ln>
        </p:spPr>
      </p:sp>
      <p:sp>
        <p:nvSpPr>
          <p:cNvPr id="39" name="Text 37"/>
          <p:cNvSpPr/>
          <p:nvPr/>
        </p:nvSpPr>
        <p:spPr>
          <a:xfrm>
            <a:off x="6446520" y="4937760"/>
            <a:ext cx="4937760" cy="256032"/>
          </a:xfrm>
          <a:prstGeom prst="rect">
            <a:avLst/>
          </a:prstGeom>
          <a:noFill/>
          <a:ln/>
        </p:spPr>
        <p:txBody>
          <a:bodyPr wrap="square" lIns="0" tIns="0" rIns="0" bIns="0" rtlCol="0" anchor="ctr"/>
          <a:lstStyle/>
          <a:p>
            <a:pPr indent="0" marL="0">
              <a:buNone/>
            </a:pPr>
            <a:r>
              <a:rPr lang="en-US" sz="1200" b="1" dirty="0">
                <a:solidFill>
                  <a:srgbClr val="C0281C"/>
                </a:solidFill>
                <a:latin typeface="Calibri" pitchFamily="34" charset="0"/>
                <a:ea typeface="Calibri" pitchFamily="34" charset="-122"/>
                <a:cs typeface="Calibri" pitchFamily="34" charset="-120"/>
              </a:rPr>
              <a:t>How good is our evidence? Not very — and that shapes the use</a:t>
            </a:r>
            <a:endParaRPr lang="en-US" sz="1200" dirty="0"/>
          </a:p>
        </p:txBody>
      </p:sp>
      <p:sp>
        <p:nvSpPr>
          <p:cNvPr id="40" name="Text 38"/>
          <p:cNvSpPr/>
          <p:nvPr/>
        </p:nvSpPr>
        <p:spPr>
          <a:xfrm>
            <a:off x="6446520" y="5230368"/>
            <a:ext cx="4937760" cy="960120"/>
          </a:xfrm>
          <a:prstGeom prst="rect">
            <a:avLst/>
          </a:prstGeom>
          <a:noFill/>
          <a:ln/>
        </p:spPr>
        <p:txBody>
          <a:bodyPr wrap="square" lIns="0" tIns="0" rIns="0" bIns="0" rtlCol="0" anchor="t"/>
          <a:lstStyle/>
          <a:p>
            <a:pPr indent="0" marL="0">
              <a:lnSpc>
                <a:spcPts val="1300"/>
              </a:lnSpc>
              <a:buNone/>
            </a:pPr>
            <a:r>
              <a:rPr lang="en-US" sz="1050" dirty="0">
                <a:solidFill>
                  <a:srgbClr val="12202E"/>
                </a:solidFill>
                <a:latin typeface="Calibri" pitchFamily="34" charset="0"/>
                <a:ea typeface="Calibri" pitchFamily="34" charset="-122"/>
                <a:cs typeface="Calibri" pitchFamily="34" charset="-120"/>
              </a:rPr>
              <a:t>Campwala et al.: n = 22, retrospective, single-centre, implant-based breast reconstruction — a population far from ours, and the endpoint is implant failure, not detection of infection. Southampton showed only limited predictive value there.</a:t>
            </a:r>
            <a:endParaRPr lang="en-US" sz="1050" dirty="0"/>
          </a:p>
          <a:p>
            <a:pPr indent="0" marL="0">
              <a:lnSpc>
                <a:spcPts val="1300"/>
              </a:lnSpc>
              <a:buNone/>
            </a:pPr>
            <a:endParaRPr lang="en-US" sz="1050" dirty="0"/>
          </a:p>
          <a:p>
            <a:pPr indent="0" marL="0">
              <a:lnSpc>
                <a:spcPts val="1300"/>
              </a:lnSpc>
              <a:buNone/>
            </a:pPr>
            <a:r>
              <a:rPr lang="en-US" sz="1050" dirty="0">
                <a:solidFill>
                  <a:srgbClr val="12202E"/>
                </a:solidFill>
                <a:latin typeface="Calibri" pitchFamily="34" charset="0"/>
                <a:ea typeface="Calibri" pitchFamily="34" charset="-122"/>
                <a:cs typeface="Calibri" pitchFamily="34" charset="-120"/>
              </a:rPr>
              <a:t>So we use it as a communication and triage grid, not as a prognostic instrument.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L1 → L2 · SOUTHAMPTON MAPPING</a:t>
            </a:r>
            <a:endParaRPr lang="en-US" sz="1050" dirty="0"/>
          </a:p>
        </p:txBody>
      </p:sp>
      <p:sp>
        <p:nvSpPr>
          <p:cNvPr id="3" name="Text 1"/>
          <p:cNvSpPr/>
          <p:nvPr/>
        </p:nvSpPr>
        <p:spPr>
          <a:xfrm>
            <a:off x="566928" y="640080"/>
            <a:ext cx="841248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Our image selection is a published grading, not a UI whim</a:t>
            </a:r>
            <a:endParaRPr lang="en-US" sz="2700" dirty="0"/>
          </a:p>
        </p:txBody>
      </p:sp>
      <p:sp>
        <p:nvSpPr>
          <p:cNvPr id="4" name="Shape 2"/>
          <p:cNvSpPr/>
          <p:nvPr/>
        </p:nvSpPr>
        <p:spPr>
          <a:xfrm>
            <a:off x="9290304" y="475488"/>
            <a:ext cx="475488" cy="274320"/>
          </a:xfrm>
          <a:prstGeom prst="roundRect">
            <a:avLst>
              <a:gd name="adj" fmla="val 46667"/>
            </a:avLst>
          </a:prstGeom>
          <a:solidFill>
            <a:srgbClr val="F5F7FA"/>
          </a:solidFill>
          <a:ln w="12700">
            <a:solidFill>
              <a:srgbClr val="DDE5EE"/>
            </a:solidFill>
            <a:prstDash val="solid"/>
          </a:ln>
        </p:spPr>
      </p:sp>
      <p:sp>
        <p:nvSpPr>
          <p:cNvPr id="5" name="Text 3"/>
          <p:cNvSpPr/>
          <p:nvPr/>
        </p:nvSpPr>
        <p:spPr>
          <a:xfrm>
            <a:off x="9290304"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L1</a:t>
            </a:r>
            <a:endParaRPr lang="en-US" sz="1050" dirty="0"/>
          </a:p>
        </p:txBody>
      </p:sp>
      <p:sp>
        <p:nvSpPr>
          <p:cNvPr id="6" name="Text 4"/>
          <p:cNvSpPr/>
          <p:nvPr/>
        </p:nvSpPr>
        <p:spPr>
          <a:xfrm>
            <a:off x="9765792"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9912096" y="475488"/>
            <a:ext cx="475488" cy="274320"/>
          </a:xfrm>
          <a:prstGeom prst="roundRect">
            <a:avLst>
              <a:gd name="adj" fmla="val 46667"/>
            </a:avLst>
          </a:prstGeom>
          <a:solidFill>
            <a:srgbClr val="12202E"/>
          </a:solidFill>
          <a:ln w="12700">
            <a:solidFill>
              <a:srgbClr val="12202E"/>
            </a:solidFill>
            <a:prstDash val="solid"/>
          </a:ln>
        </p:spPr>
      </p:sp>
      <p:sp>
        <p:nvSpPr>
          <p:cNvPr id="8" name="Text 6"/>
          <p:cNvSpPr/>
          <p:nvPr/>
        </p:nvSpPr>
        <p:spPr>
          <a:xfrm>
            <a:off x="9912096" y="475488"/>
            <a:ext cx="47548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L2</a:t>
            </a:r>
            <a:endParaRPr lang="en-US" sz="1050" dirty="0"/>
          </a:p>
        </p:txBody>
      </p:sp>
      <p:sp>
        <p:nvSpPr>
          <p:cNvPr id="9" name="Text 7"/>
          <p:cNvSpPr/>
          <p:nvPr/>
        </p:nvSpPr>
        <p:spPr>
          <a:xfrm>
            <a:off x="10387584"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533888" y="475488"/>
            <a:ext cx="475488" cy="274320"/>
          </a:xfrm>
          <a:prstGeom prst="roundRect">
            <a:avLst>
              <a:gd name="adj" fmla="val 46667"/>
            </a:avLst>
          </a:prstGeom>
          <a:solidFill>
            <a:srgbClr val="F5F7FA"/>
          </a:solidFill>
          <a:ln w="12700">
            <a:solidFill>
              <a:srgbClr val="DDE5EE"/>
            </a:solidFill>
            <a:prstDash val="solid"/>
          </a:ln>
        </p:spPr>
      </p:sp>
      <p:sp>
        <p:nvSpPr>
          <p:cNvPr id="11" name="Text 9"/>
          <p:cNvSpPr/>
          <p:nvPr/>
        </p:nvSpPr>
        <p:spPr>
          <a:xfrm>
            <a:off x="10533888"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L3</a:t>
            </a:r>
            <a:endParaRPr lang="en-US" sz="1050" dirty="0"/>
          </a:p>
        </p:txBody>
      </p:sp>
      <p:sp>
        <p:nvSpPr>
          <p:cNvPr id="12" name="Text 10"/>
          <p:cNvSpPr/>
          <p:nvPr/>
        </p:nvSpPr>
        <p:spPr>
          <a:xfrm>
            <a:off x="11009376"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1155680" y="475488"/>
            <a:ext cx="475488" cy="274320"/>
          </a:xfrm>
          <a:prstGeom prst="roundRect">
            <a:avLst>
              <a:gd name="adj" fmla="val 46667"/>
            </a:avLst>
          </a:prstGeom>
          <a:solidFill>
            <a:srgbClr val="F5F7FA"/>
          </a:solidFill>
          <a:ln w="12700">
            <a:solidFill>
              <a:srgbClr val="DDE5EE"/>
            </a:solidFill>
            <a:prstDash val="solid"/>
          </a:ln>
        </p:spPr>
      </p:sp>
      <p:sp>
        <p:nvSpPr>
          <p:cNvPr id="14" name="Text 12"/>
          <p:cNvSpPr/>
          <p:nvPr/>
        </p:nvSpPr>
        <p:spPr>
          <a:xfrm>
            <a:off x="11155680"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L4</a:t>
            </a:r>
            <a:endParaRPr lang="en-US" sz="1050" dirty="0"/>
          </a:p>
        </p:txBody>
      </p:sp>
      <p:sp>
        <p:nvSpPr>
          <p:cNvPr id="15" name="Shape 13"/>
          <p:cNvSpPr/>
          <p:nvPr/>
        </p:nvSpPr>
        <p:spPr>
          <a:xfrm>
            <a:off x="566928" y="1645920"/>
            <a:ext cx="7772400" cy="566928"/>
          </a:xfrm>
          <a:prstGeom prst="roundRect">
            <a:avLst>
              <a:gd name="adj" fmla="val 14516"/>
            </a:avLst>
          </a:prstGeom>
          <a:solidFill>
            <a:srgbClr val="FFFFFF"/>
          </a:solidFill>
          <a:ln w="12700">
            <a:solidFill>
              <a:srgbClr val="DDE5EE"/>
            </a:solidFill>
            <a:prstDash val="solid"/>
          </a:ln>
        </p:spPr>
      </p:sp>
      <p:sp>
        <p:nvSpPr>
          <p:cNvPr id="16" name="Shape 14"/>
          <p:cNvSpPr/>
          <p:nvPr/>
        </p:nvSpPr>
        <p:spPr>
          <a:xfrm>
            <a:off x="713232" y="1773936"/>
            <a:ext cx="457200" cy="310896"/>
          </a:xfrm>
          <a:prstGeom prst="roundRect">
            <a:avLst>
              <a:gd name="adj" fmla="val 23529"/>
            </a:avLst>
          </a:prstGeom>
          <a:solidFill>
            <a:srgbClr val="E8F6EE"/>
          </a:solidFill>
          <a:ln w="12700">
            <a:solidFill>
              <a:srgbClr val="E8F6EE"/>
            </a:solidFill>
            <a:prstDash val="solid"/>
          </a:ln>
        </p:spPr>
      </p:sp>
      <p:sp>
        <p:nvSpPr>
          <p:cNvPr id="17" name="Text 15"/>
          <p:cNvSpPr/>
          <p:nvPr/>
        </p:nvSpPr>
        <p:spPr>
          <a:xfrm>
            <a:off x="713232" y="1773936"/>
            <a:ext cx="457200" cy="310896"/>
          </a:xfrm>
          <a:prstGeom prst="rect">
            <a:avLst/>
          </a:prstGeom>
          <a:noFill/>
          <a:ln/>
        </p:spPr>
        <p:txBody>
          <a:bodyPr wrap="square" lIns="0" tIns="0" rIns="0" bIns="0" rtlCol="0" anchor="ctr"/>
          <a:lstStyle/>
          <a:p>
            <a:pPr algn="ctr" indent="0" marL="0">
              <a:buNone/>
            </a:pPr>
            <a:r>
              <a:rPr lang="en-US" sz="1150" b="1" dirty="0">
                <a:solidFill>
                  <a:srgbClr val="1A7F4B"/>
                </a:solidFill>
                <a:latin typeface="Calibri" pitchFamily="34" charset="0"/>
                <a:ea typeface="Calibri" pitchFamily="34" charset="-122"/>
                <a:cs typeface="Calibri" pitchFamily="34" charset="-120"/>
              </a:rPr>
              <a:t>0</a:t>
            </a:r>
            <a:endParaRPr lang="en-US" sz="1150" dirty="0"/>
          </a:p>
        </p:txBody>
      </p:sp>
      <p:sp>
        <p:nvSpPr>
          <p:cNvPr id="18" name="Text 16"/>
          <p:cNvSpPr/>
          <p:nvPr/>
        </p:nvSpPr>
        <p:spPr>
          <a:xfrm>
            <a:off x="1298448" y="1645920"/>
            <a:ext cx="4114800" cy="566928"/>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Normal healing</a:t>
            </a:r>
            <a:endParaRPr lang="en-US" sz="1150" dirty="0"/>
          </a:p>
        </p:txBody>
      </p:sp>
      <p:sp>
        <p:nvSpPr>
          <p:cNvPr id="19" name="Text 17"/>
          <p:cNvSpPr/>
          <p:nvPr/>
        </p:nvSpPr>
        <p:spPr>
          <a:xfrm>
            <a:off x="5504688" y="1645920"/>
            <a:ext cx="2743200" cy="566928"/>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  Calm &amp; dry</a:t>
            </a:r>
            <a:endParaRPr lang="en-US" sz="1100" dirty="0"/>
          </a:p>
        </p:txBody>
      </p:sp>
      <p:sp>
        <p:nvSpPr>
          <p:cNvPr id="20" name="Shape 18"/>
          <p:cNvSpPr/>
          <p:nvPr/>
        </p:nvSpPr>
        <p:spPr>
          <a:xfrm>
            <a:off x="566928" y="2322576"/>
            <a:ext cx="7772400" cy="566928"/>
          </a:xfrm>
          <a:prstGeom prst="roundRect">
            <a:avLst>
              <a:gd name="adj" fmla="val 14516"/>
            </a:avLst>
          </a:prstGeom>
          <a:solidFill>
            <a:srgbClr val="F5F7FA"/>
          </a:solidFill>
          <a:ln w="12700">
            <a:solidFill>
              <a:srgbClr val="DDE5EE"/>
            </a:solidFill>
            <a:prstDash val="solid"/>
          </a:ln>
        </p:spPr>
      </p:sp>
      <p:sp>
        <p:nvSpPr>
          <p:cNvPr id="21" name="Shape 19"/>
          <p:cNvSpPr/>
          <p:nvPr/>
        </p:nvSpPr>
        <p:spPr>
          <a:xfrm>
            <a:off x="713232" y="2450592"/>
            <a:ext cx="457200" cy="310896"/>
          </a:xfrm>
          <a:prstGeom prst="roundRect">
            <a:avLst>
              <a:gd name="adj" fmla="val 23529"/>
            </a:avLst>
          </a:prstGeom>
          <a:solidFill>
            <a:srgbClr val="E8F6EE"/>
          </a:solidFill>
          <a:ln w="12700">
            <a:solidFill>
              <a:srgbClr val="E8F6EE"/>
            </a:solidFill>
            <a:prstDash val="solid"/>
          </a:ln>
        </p:spPr>
      </p:sp>
      <p:sp>
        <p:nvSpPr>
          <p:cNvPr id="22" name="Text 20"/>
          <p:cNvSpPr/>
          <p:nvPr/>
        </p:nvSpPr>
        <p:spPr>
          <a:xfrm>
            <a:off x="713232" y="2450592"/>
            <a:ext cx="457200" cy="310896"/>
          </a:xfrm>
          <a:prstGeom prst="rect">
            <a:avLst/>
          </a:prstGeom>
          <a:noFill/>
          <a:ln/>
        </p:spPr>
        <p:txBody>
          <a:bodyPr wrap="square" lIns="0" tIns="0" rIns="0" bIns="0" rtlCol="0" anchor="ctr"/>
          <a:lstStyle/>
          <a:p>
            <a:pPr algn="ctr" indent="0" marL="0">
              <a:buNone/>
            </a:pPr>
            <a:r>
              <a:rPr lang="en-US" sz="1150" b="1" dirty="0">
                <a:solidFill>
                  <a:srgbClr val="1A7F4B"/>
                </a:solidFill>
                <a:latin typeface="Calibri" pitchFamily="34" charset="0"/>
                <a:ea typeface="Calibri" pitchFamily="34" charset="-122"/>
                <a:cs typeface="Calibri" pitchFamily="34" charset="-120"/>
              </a:rPr>
              <a:t>I</a:t>
            </a:r>
            <a:endParaRPr lang="en-US" sz="1150" dirty="0"/>
          </a:p>
        </p:txBody>
      </p:sp>
      <p:sp>
        <p:nvSpPr>
          <p:cNvPr id="23" name="Text 21"/>
          <p:cNvSpPr/>
          <p:nvPr/>
        </p:nvSpPr>
        <p:spPr>
          <a:xfrm>
            <a:off x="1298448" y="2322576"/>
            <a:ext cx="4114800" cy="566928"/>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Mild bruising and/or erythema</a:t>
            </a:r>
            <a:endParaRPr lang="en-US" sz="1150" dirty="0"/>
          </a:p>
        </p:txBody>
      </p:sp>
      <p:sp>
        <p:nvSpPr>
          <p:cNvPr id="24" name="Text 22"/>
          <p:cNvSpPr/>
          <p:nvPr/>
        </p:nvSpPr>
        <p:spPr>
          <a:xfrm>
            <a:off x="5504688" y="2322576"/>
            <a:ext cx="2743200" cy="566928"/>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  Slightly reddened</a:t>
            </a:r>
            <a:endParaRPr lang="en-US" sz="1100" dirty="0"/>
          </a:p>
        </p:txBody>
      </p:sp>
      <p:sp>
        <p:nvSpPr>
          <p:cNvPr id="25" name="Shape 23"/>
          <p:cNvSpPr/>
          <p:nvPr/>
        </p:nvSpPr>
        <p:spPr>
          <a:xfrm>
            <a:off x="566928" y="2999232"/>
            <a:ext cx="7772400" cy="566928"/>
          </a:xfrm>
          <a:prstGeom prst="roundRect">
            <a:avLst>
              <a:gd name="adj" fmla="val 14516"/>
            </a:avLst>
          </a:prstGeom>
          <a:solidFill>
            <a:srgbClr val="FFFFFF"/>
          </a:solidFill>
          <a:ln w="12700">
            <a:solidFill>
              <a:srgbClr val="DDE5EE"/>
            </a:solidFill>
            <a:prstDash val="solid"/>
          </a:ln>
        </p:spPr>
      </p:sp>
      <p:sp>
        <p:nvSpPr>
          <p:cNvPr id="26" name="Shape 24"/>
          <p:cNvSpPr/>
          <p:nvPr/>
        </p:nvSpPr>
        <p:spPr>
          <a:xfrm>
            <a:off x="713232" y="3127248"/>
            <a:ext cx="457200" cy="310896"/>
          </a:xfrm>
          <a:prstGeom prst="roundRect">
            <a:avLst>
              <a:gd name="adj" fmla="val 23529"/>
            </a:avLst>
          </a:prstGeom>
          <a:solidFill>
            <a:srgbClr val="FBF2DC"/>
          </a:solidFill>
          <a:ln w="12700">
            <a:solidFill>
              <a:srgbClr val="FBF2DC"/>
            </a:solidFill>
            <a:prstDash val="solid"/>
          </a:ln>
        </p:spPr>
      </p:sp>
      <p:sp>
        <p:nvSpPr>
          <p:cNvPr id="27" name="Text 25"/>
          <p:cNvSpPr/>
          <p:nvPr/>
        </p:nvSpPr>
        <p:spPr>
          <a:xfrm>
            <a:off x="713232" y="3127248"/>
            <a:ext cx="457200" cy="310896"/>
          </a:xfrm>
          <a:prstGeom prst="rect">
            <a:avLst/>
          </a:prstGeom>
          <a:noFill/>
          <a:ln/>
        </p:spPr>
        <p:txBody>
          <a:bodyPr wrap="square" lIns="0" tIns="0" rIns="0" bIns="0" rtlCol="0" anchor="ctr"/>
          <a:lstStyle/>
          <a:p>
            <a:pPr algn="ctr" indent="0" marL="0">
              <a:buNone/>
            </a:pPr>
            <a:r>
              <a:rPr lang="en-US" sz="1150" b="1" dirty="0">
                <a:solidFill>
                  <a:srgbClr val="9C6D00"/>
                </a:solidFill>
                <a:latin typeface="Calibri" pitchFamily="34" charset="0"/>
                <a:ea typeface="Calibri" pitchFamily="34" charset="-122"/>
                <a:cs typeface="Calibri" pitchFamily="34" charset="-120"/>
              </a:rPr>
              <a:t>II</a:t>
            </a:r>
            <a:endParaRPr lang="en-US" sz="1150" dirty="0"/>
          </a:p>
        </p:txBody>
      </p:sp>
      <p:sp>
        <p:nvSpPr>
          <p:cNvPr id="28" name="Text 26"/>
          <p:cNvSpPr/>
          <p:nvPr/>
        </p:nvSpPr>
        <p:spPr>
          <a:xfrm>
            <a:off x="1298448" y="2999232"/>
            <a:ext cx="4114800" cy="566928"/>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Erythema plus other signs of inflammation</a:t>
            </a:r>
            <a:endParaRPr lang="en-US" sz="1150" dirty="0"/>
          </a:p>
        </p:txBody>
      </p:sp>
      <p:sp>
        <p:nvSpPr>
          <p:cNvPr id="29" name="Text 27"/>
          <p:cNvSpPr/>
          <p:nvPr/>
        </p:nvSpPr>
        <p:spPr>
          <a:xfrm>
            <a:off x="5504688" y="2999232"/>
            <a:ext cx="2743200" cy="566928"/>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  Markedly reddened &amp; swollen</a:t>
            </a:r>
            <a:endParaRPr lang="en-US" sz="1100" dirty="0"/>
          </a:p>
        </p:txBody>
      </p:sp>
      <p:sp>
        <p:nvSpPr>
          <p:cNvPr id="30" name="Shape 28"/>
          <p:cNvSpPr/>
          <p:nvPr/>
        </p:nvSpPr>
        <p:spPr>
          <a:xfrm>
            <a:off x="566928" y="3675888"/>
            <a:ext cx="7772400" cy="566928"/>
          </a:xfrm>
          <a:prstGeom prst="roundRect">
            <a:avLst>
              <a:gd name="adj" fmla="val 14516"/>
            </a:avLst>
          </a:prstGeom>
          <a:solidFill>
            <a:srgbClr val="F5F7FA"/>
          </a:solidFill>
          <a:ln w="12700">
            <a:solidFill>
              <a:srgbClr val="DDE5EE"/>
            </a:solidFill>
            <a:prstDash val="solid"/>
          </a:ln>
        </p:spPr>
      </p:sp>
      <p:sp>
        <p:nvSpPr>
          <p:cNvPr id="31" name="Shape 29"/>
          <p:cNvSpPr/>
          <p:nvPr/>
        </p:nvSpPr>
        <p:spPr>
          <a:xfrm>
            <a:off x="713232" y="3803904"/>
            <a:ext cx="457200" cy="310896"/>
          </a:xfrm>
          <a:prstGeom prst="roundRect">
            <a:avLst>
              <a:gd name="adj" fmla="val 23529"/>
            </a:avLst>
          </a:prstGeom>
          <a:solidFill>
            <a:srgbClr val="FCEADB"/>
          </a:solidFill>
          <a:ln w="12700">
            <a:solidFill>
              <a:srgbClr val="FCEADB"/>
            </a:solidFill>
            <a:prstDash val="solid"/>
          </a:ln>
        </p:spPr>
      </p:sp>
      <p:sp>
        <p:nvSpPr>
          <p:cNvPr id="32" name="Text 30"/>
          <p:cNvSpPr/>
          <p:nvPr/>
        </p:nvSpPr>
        <p:spPr>
          <a:xfrm>
            <a:off x="713232" y="3803904"/>
            <a:ext cx="457200" cy="310896"/>
          </a:xfrm>
          <a:prstGeom prst="rect">
            <a:avLst/>
          </a:prstGeom>
          <a:noFill/>
          <a:ln/>
        </p:spPr>
        <p:txBody>
          <a:bodyPr wrap="square" lIns="0" tIns="0" rIns="0" bIns="0" rtlCol="0" anchor="ctr"/>
          <a:lstStyle/>
          <a:p>
            <a:pPr algn="ctr" indent="0" marL="0">
              <a:buNone/>
            </a:pPr>
            <a:r>
              <a:rPr lang="en-US" sz="1150" b="1" dirty="0">
                <a:solidFill>
                  <a:srgbClr val="C25C07"/>
                </a:solidFill>
                <a:latin typeface="Calibri" pitchFamily="34" charset="0"/>
                <a:ea typeface="Calibri" pitchFamily="34" charset="-122"/>
                <a:cs typeface="Calibri" pitchFamily="34" charset="-120"/>
              </a:rPr>
              <a:t>III</a:t>
            </a:r>
            <a:endParaRPr lang="en-US" sz="1150" dirty="0"/>
          </a:p>
        </p:txBody>
      </p:sp>
      <p:sp>
        <p:nvSpPr>
          <p:cNvPr id="33" name="Text 31"/>
          <p:cNvSpPr/>
          <p:nvPr/>
        </p:nvSpPr>
        <p:spPr>
          <a:xfrm>
            <a:off x="1298448" y="3675888"/>
            <a:ext cx="4114800" cy="566928"/>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Clear / serous / bloody discharge</a:t>
            </a:r>
            <a:endParaRPr lang="en-US" sz="1150" dirty="0"/>
          </a:p>
        </p:txBody>
      </p:sp>
      <p:sp>
        <p:nvSpPr>
          <p:cNvPr id="34" name="Text 32"/>
          <p:cNvSpPr/>
          <p:nvPr/>
        </p:nvSpPr>
        <p:spPr>
          <a:xfrm>
            <a:off x="5504688" y="3675888"/>
            <a:ext cx="2743200" cy="566928"/>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  Clear or bloody discharge</a:t>
            </a:r>
            <a:endParaRPr lang="en-US" sz="1100" dirty="0"/>
          </a:p>
        </p:txBody>
      </p:sp>
      <p:sp>
        <p:nvSpPr>
          <p:cNvPr id="35" name="Shape 33"/>
          <p:cNvSpPr/>
          <p:nvPr/>
        </p:nvSpPr>
        <p:spPr>
          <a:xfrm>
            <a:off x="566928" y="4352544"/>
            <a:ext cx="7772400" cy="566928"/>
          </a:xfrm>
          <a:prstGeom prst="roundRect">
            <a:avLst>
              <a:gd name="adj" fmla="val 14516"/>
            </a:avLst>
          </a:prstGeom>
          <a:solidFill>
            <a:srgbClr val="FFFFFF"/>
          </a:solidFill>
          <a:ln w="12700">
            <a:solidFill>
              <a:srgbClr val="DDE5EE"/>
            </a:solidFill>
            <a:prstDash val="solid"/>
          </a:ln>
        </p:spPr>
      </p:sp>
      <p:sp>
        <p:nvSpPr>
          <p:cNvPr id="36" name="Shape 34"/>
          <p:cNvSpPr/>
          <p:nvPr/>
        </p:nvSpPr>
        <p:spPr>
          <a:xfrm>
            <a:off x="713232" y="4480560"/>
            <a:ext cx="457200" cy="310896"/>
          </a:xfrm>
          <a:prstGeom prst="roundRect">
            <a:avLst>
              <a:gd name="adj" fmla="val 23529"/>
            </a:avLst>
          </a:prstGeom>
          <a:solidFill>
            <a:srgbClr val="FCEADB"/>
          </a:solidFill>
          <a:ln w="12700">
            <a:solidFill>
              <a:srgbClr val="FCEADB"/>
            </a:solidFill>
            <a:prstDash val="solid"/>
          </a:ln>
        </p:spPr>
      </p:sp>
      <p:sp>
        <p:nvSpPr>
          <p:cNvPr id="37" name="Text 35"/>
          <p:cNvSpPr/>
          <p:nvPr/>
        </p:nvSpPr>
        <p:spPr>
          <a:xfrm>
            <a:off x="713232" y="4480560"/>
            <a:ext cx="457200" cy="310896"/>
          </a:xfrm>
          <a:prstGeom prst="rect">
            <a:avLst/>
          </a:prstGeom>
          <a:noFill/>
          <a:ln/>
        </p:spPr>
        <p:txBody>
          <a:bodyPr wrap="square" lIns="0" tIns="0" rIns="0" bIns="0" rtlCol="0" anchor="ctr"/>
          <a:lstStyle/>
          <a:p>
            <a:pPr algn="ctr" indent="0" marL="0">
              <a:buNone/>
            </a:pPr>
            <a:r>
              <a:rPr lang="en-US" sz="1150" b="1" dirty="0">
                <a:solidFill>
                  <a:srgbClr val="C25C07"/>
                </a:solidFill>
                <a:latin typeface="Calibri" pitchFamily="34" charset="0"/>
                <a:ea typeface="Calibri" pitchFamily="34" charset="-122"/>
                <a:cs typeface="Calibri" pitchFamily="34" charset="-120"/>
              </a:rPr>
              <a:t>IV</a:t>
            </a:r>
            <a:endParaRPr lang="en-US" sz="1150" dirty="0"/>
          </a:p>
        </p:txBody>
      </p:sp>
      <p:sp>
        <p:nvSpPr>
          <p:cNvPr id="38" name="Text 36"/>
          <p:cNvSpPr/>
          <p:nvPr/>
        </p:nvSpPr>
        <p:spPr>
          <a:xfrm>
            <a:off x="1298448" y="4352544"/>
            <a:ext cx="4114800" cy="566928"/>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Pus</a:t>
            </a:r>
            <a:endParaRPr lang="en-US" sz="1150" dirty="0"/>
          </a:p>
        </p:txBody>
      </p:sp>
      <p:sp>
        <p:nvSpPr>
          <p:cNvPr id="39" name="Text 37"/>
          <p:cNvSpPr/>
          <p:nvPr/>
        </p:nvSpPr>
        <p:spPr>
          <a:xfrm>
            <a:off x="5504688" y="4352544"/>
            <a:ext cx="2743200" cy="566928"/>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  Cloudy / purulent discharge</a:t>
            </a:r>
            <a:endParaRPr lang="en-US" sz="1100" dirty="0"/>
          </a:p>
        </p:txBody>
      </p:sp>
      <p:sp>
        <p:nvSpPr>
          <p:cNvPr id="40" name="Shape 38"/>
          <p:cNvSpPr/>
          <p:nvPr/>
        </p:nvSpPr>
        <p:spPr>
          <a:xfrm>
            <a:off x="566928" y="5029200"/>
            <a:ext cx="7772400" cy="566928"/>
          </a:xfrm>
          <a:prstGeom prst="roundRect">
            <a:avLst>
              <a:gd name="adj" fmla="val 14516"/>
            </a:avLst>
          </a:prstGeom>
          <a:solidFill>
            <a:srgbClr val="F5F7FA"/>
          </a:solidFill>
          <a:ln w="12700">
            <a:solidFill>
              <a:srgbClr val="DDE5EE"/>
            </a:solidFill>
            <a:prstDash val="solid"/>
          </a:ln>
        </p:spPr>
      </p:sp>
      <p:sp>
        <p:nvSpPr>
          <p:cNvPr id="41" name="Shape 39"/>
          <p:cNvSpPr/>
          <p:nvPr/>
        </p:nvSpPr>
        <p:spPr>
          <a:xfrm>
            <a:off x="713232" y="5157216"/>
            <a:ext cx="457200" cy="310896"/>
          </a:xfrm>
          <a:prstGeom prst="roundRect">
            <a:avLst>
              <a:gd name="adj" fmla="val 23529"/>
            </a:avLst>
          </a:prstGeom>
          <a:solidFill>
            <a:srgbClr val="FBE7E5"/>
          </a:solidFill>
          <a:ln w="12700">
            <a:solidFill>
              <a:srgbClr val="FBE7E5"/>
            </a:solidFill>
            <a:prstDash val="solid"/>
          </a:ln>
        </p:spPr>
      </p:sp>
      <p:sp>
        <p:nvSpPr>
          <p:cNvPr id="42" name="Text 40"/>
          <p:cNvSpPr/>
          <p:nvPr/>
        </p:nvSpPr>
        <p:spPr>
          <a:xfrm>
            <a:off x="713232" y="5157216"/>
            <a:ext cx="457200" cy="310896"/>
          </a:xfrm>
          <a:prstGeom prst="rect">
            <a:avLst/>
          </a:prstGeom>
          <a:noFill/>
          <a:ln/>
        </p:spPr>
        <p:txBody>
          <a:bodyPr wrap="square" lIns="0" tIns="0" rIns="0" bIns="0" rtlCol="0" anchor="ctr"/>
          <a:lstStyle/>
          <a:p>
            <a:pPr algn="ctr" indent="0" marL="0">
              <a:buNone/>
            </a:pPr>
            <a:r>
              <a:rPr lang="en-US" sz="1150" b="1" dirty="0">
                <a:solidFill>
                  <a:srgbClr val="C0281C"/>
                </a:solidFill>
                <a:latin typeface="Calibri" pitchFamily="34" charset="0"/>
                <a:ea typeface="Calibri" pitchFamily="34" charset="-122"/>
                <a:cs typeface="Calibri" pitchFamily="34" charset="-120"/>
              </a:rPr>
              <a:t>V</a:t>
            </a:r>
            <a:endParaRPr lang="en-US" sz="1150" dirty="0"/>
          </a:p>
        </p:txBody>
      </p:sp>
      <p:sp>
        <p:nvSpPr>
          <p:cNvPr id="43" name="Text 41"/>
          <p:cNvSpPr/>
          <p:nvPr/>
        </p:nvSpPr>
        <p:spPr>
          <a:xfrm>
            <a:off x="1298448" y="5029200"/>
            <a:ext cx="4114800" cy="566928"/>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Deep infection ± tissue breakdown</a:t>
            </a:r>
            <a:endParaRPr lang="en-US" sz="1150" dirty="0"/>
          </a:p>
        </p:txBody>
      </p:sp>
      <p:sp>
        <p:nvSpPr>
          <p:cNvPr id="44" name="Text 42"/>
          <p:cNvSpPr/>
          <p:nvPr/>
        </p:nvSpPr>
        <p:spPr>
          <a:xfrm>
            <a:off x="5504688" y="5029200"/>
            <a:ext cx="2743200" cy="566928"/>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  Open / pus</a:t>
            </a:r>
            <a:endParaRPr lang="en-US" sz="1100" dirty="0"/>
          </a:p>
        </p:txBody>
      </p:sp>
      <p:sp>
        <p:nvSpPr>
          <p:cNvPr id="45" name="Shape 43"/>
          <p:cNvSpPr/>
          <p:nvPr/>
        </p:nvSpPr>
        <p:spPr>
          <a:xfrm>
            <a:off x="8613648" y="1645920"/>
            <a:ext cx="3017520" cy="2103120"/>
          </a:xfrm>
          <a:prstGeom prst="roundRect">
            <a:avLst>
              <a:gd name="adj" fmla="val 3913"/>
            </a:avLst>
          </a:prstGeom>
          <a:solidFill>
            <a:srgbClr val="FFFFFF"/>
          </a:solidFill>
          <a:ln w="12700">
            <a:solidFill>
              <a:srgbClr val="DDE5EE"/>
            </a:solidFill>
            <a:prstDash val="solid"/>
          </a:ln>
        </p:spPr>
      </p:sp>
      <p:sp>
        <p:nvSpPr>
          <p:cNvPr id="46" name="Text 44"/>
          <p:cNvSpPr/>
          <p:nvPr/>
        </p:nvSpPr>
        <p:spPr>
          <a:xfrm>
            <a:off x="8842248" y="1810512"/>
            <a:ext cx="2560320" cy="256032"/>
          </a:xfrm>
          <a:prstGeom prst="rect">
            <a:avLst/>
          </a:prstGeom>
          <a:noFill/>
          <a:ln/>
        </p:spPr>
        <p:txBody>
          <a:bodyPr wrap="square" lIns="0" tIns="0" rIns="0" bIns="0" rtlCol="0" anchor="ctr"/>
          <a:lstStyle/>
          <a:p>
            <a:pPr indent="0" marL="0">
              <a:buNone/>
            </a:pPr>
            <a:r>
              <a:rPr lang="en-US" sz="1200" b="1" dirty="0">
                <a:solidFill>
                  <a:srgbClr val="12202E"/>
                </a:solidFill>
                <a:latin typeface="Calibri" pitchFamily="34" charset="0"/>
                <a:ea typeface="Calibri" pitchFamily="34" charset="-122"/>
                <a:cs typeface="Calibri" pitchFamily="34" charset="-120"/>
              </a:rPr>
              <a:t>What this buys us</a:t>
            </a:r>
            <a:endParaRPr lang="en-US" sz="1200" dirty="0"/>
          </a:p>
        </p:txBody>
      </p:sp>
      <p:sp>
        <p:nvSpPr>
          <p:cNvPr id="47" name="Text 45"/>
          <p:cNvSpPr/>
          <p:nvPr/>
        </p:nvSpPr>
        <p:spPr>
          <a:xfrm>
            <a:off x="8842248" y="2103120"/>
            <a:ext cx="2560320" cy="1417320"/>
          </a:xfrm>
          <a:prstGeom prst="rect">
            <a:avLst/>
          </a:prstGeom>
          <a:noFill/>
          <a:ln/>
        </p:spPr>
        <p:txBody>
          <a:bodyPr wrap="square" lIns="0" tIns="0" rIns="0" bIns="0" rtlCol="0" anchor="t"/>
          <a:lstStyle/>
          <a:p>
            <a:pPr marL="177800" indent="-177800">
              <a:lnSpc>
                <a:spcPts val="1500"/>
              </a:lnSpc>
              <a:spcAft>
                <a:spcPts val="700"/>
              </a:spcAft>
              <a:buSzPct val="100000"/>
              <a:buChar char="•"/>
            </a:pPr>
            <a:r>
              <a:rPr lang="en-US" sz="1100" dirty="0">
                <a:solidFill>
                  <a:srgbClr val="5D7186"/>
                </a:solidFill>
                <a:latin typeface="Calibri" pitchFamily="34" charset="0"/>
                <a:ea typeface="Calibri" pitchFamily="34" charset="-122"/>
                <a:cs typeface="Calibri" pitchFamily="34" charset="-120"/>
              </a:rPr>
              <a:t>a citable source for our core interaction</a:t>
            </a:r>
            <a:endParaRPr lang="en-US" sz="1100" dirty="0"/>
          </a:p>
          <a:p>
            <a:pPr marL="177800" indent="-177800">
              <a:lnSpc>
                <a:spcPts val="1500"/>
              </a:lnSpc>
              <a:spcAft>
                <a:spcPts val="700"/>
              </a:spcAft>
              <a:buSzPct val="100000"/>
              <a:buChar char="•"/>
            </a:pPr>
            <a:r>
              <a:rPr lang="en-US" sz="1100" dirty="0">
                <a:solidFill>
                  <a:srgbClr val="5D7186"/>
                </a:solidFill>
                <a:latin typeface="Calibri" pitchFamily="34" charset="0"/>
                <a:ea typeface="Calibri" pitchFamily="34" charset="-122"/>
                <a:cs typeface="Calibri" pitchFamily="34" charset="-120"/>
              </a:rPr>
              <a:t>a non-trivial derived element</a:t>
            </a:r>
            <a:endParaRPr lang="en-US" sz="1100" dirty="0"/>
          </a:p>
          <a:p>
            <a:pPr marL="177800" indent="-177800">
              <a:lnSpc>
                <a:spcPts val="1500"/>
              </a:lnSpc>
              <a:spcAft>
                <a:spcPts val="700"/>
              </a:spcAft>
              <a:buSzPct val="100000"/>
              <a:buChar char="•"/>
            </a:pPr>
            <a:r>
              <a:rPr lang="en-US" sz="1100" dirty="0">
                <a:solidFill>
                  <a:srgbClr val="5D7186"/>
                </a:solidFill>
                <a:latin typeface="Calibri" pitchFamily="34" charset="0"/>
                <a:ea typeface="Calibri" pitchFamily="34" charset="-122"/>
                <a:cs typeface="Calibri" pitchFamily="34" charset="-120"/>
              </a:rPr>
              <a:t>an honest, evidenced limitation</a:t>
            </a:r>
            <a:endParaRPr lang="en-US" sz="1100" dirty="0"/>
          </a:p>
        </p:txBody>
      </p:sp>
      <p:sp>
        <p:nvSpPr>
          <p:cNvPr id="48" name="Shape 46"/>
          <p:cNvSpPr/>
          <p:nvPr/>
        </p:nvSpPr>
        <p:spPr>
          <a:xfrm>
            <a:off x="8613648" y="3931920"/>
            <a:ext cx="3017520" cy="1773936"/>
          </a:xfrm>
          <a:prstGeom prst="roundRect">
            <a:avLst>
              <a:gd name="adj" fmla="val 4639"/>
            </a:avLst>
          </a:prstGeom>
          <a:solidFill>
            <a:srgbClr val="FBE7E5"/>
          </a:solidFill>
          <a:ln w="12700">
            <a:solidFill>
              <a:srgbClr val="F0ACA6"/>
            </a:solidFill>
            <a:prstDash val="solid"/>
          </a:ln>
        </p:spPr>
      </p:sp>
      <p:sp>
        <p:nvSpPr>
          <p:cNvPr id="49" name="Text 47"/>
          <p:cNvSpPr/>
          <p:nvPr/>
        </p:nvSpPr>
        <p:spPr>
          <a:xfrm>
            <a:off x="8842248" y="4096512"/>
            <a:ext cx="2560320" cy="256032"/>
          </a:xfrm>
          <a:prstGeom prst="rect">
            <a:avLst/>
          </a:prstGeom>
          <a:noFill/>
          <a:ln/>
        </p:spPr>
        <p:txBody>
          <a:bodyPr wrap="square" lIns="0" tIns="0" rIns="0" bIns="0" rtlCol="0" anchor="ctr"/>
          <a:lstStyle/>
          <a:p>
            <a:pPr indent="0" marL="0">
              <a:buNone/>
            </a:pPr>
            <a:r>
              <a:rPr lang="en-US" sz="1200" b="1" dirty="0">
                <a:solidFill>
                  <a:srgbClr val="C0281C"/>
                </a:solidFill>
                <a:latin typeface="Calibri" pitchFamily="34" charset="0"/>
                <a:ea typeface="Calibri" pitchFamily="34" charset="-122"/>
                <a:cs typeface="Calibri" pitchFamily="34" charset="-120"/>
              </a:rPr>
              <a:t>The adaptation problem</a:t>
            </a:r>
            <a:endParaRPr lang="en-US" sz="1200" dirty="0"/>
          </a:p>
        </p:txBody>
      </p:sp>
      <p:sp>
        <p:nvSpPr>
          <p:cNvPr id="50" name="Text 48"/>
          <p:cNvSpPr/>
          <p:nvPr/>
        </p:nvSpPr>
        <p:spPr>
          <a:xfrm>
            <a:off x="8842248" y="4425696"/>
            <a:ext cx="2560320" cy="1188720"/>
          </a:xfrm>
          <a:prstGeom prst="rect">
            <a:avLst/>
          </a:prstGeom>
          <a:noFill/>
          <a:ln/>
        </p:spPr>
        <p:txBody>
          <a:bodyPr wrap="square" lIns="0" tIns="0" rIns="0" bIns="0" rtlCol="0" anchor="t"/>
          <a:lstStyle/>
          <a:p>
            <a:pPr indent="0" marL="0">
              <a:lnSpc>
                <a:spcPts val="1400"/>
              </a:lnSpc>
              <a:buNone/>
            </a:pPr>
            <a:r>
              <a:rPr lang="en-US" sz="1050" dirty="0">
                <a:solidFill>
                  <a:srgbClr val="12202E"/>
                </a:solidFill>
                <a:latin typeface="Calibri" pitchFamily="34" charset="0"/>
                <a:ea typeface="Calibri" pitchFamily="34" charset="-122"/>
                <a:cs typeface="Calibri" pitchFamily="34" charset="-120"/>
              </a:rPr>
              <a:t>Southampton grades “&gt; 2 cm along the wound”. Patients do not measure. We ask “one small spot or the whole wound?” — closer to usable, further from precise.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L2 · HIGH-LEVEL WORKFLOW (BPMN)</a:t>
            </a:r>
            <a:endParaRPr lang="en-US" sz="1050" dirty="0"/>
          </a:p>
        </p:txBody>
      </p:sp>
      <p:sp>
        <p:nvSpPr>
          <p:cNvPr id="3" name="Text 1"/>
          <p:cNvSpPr/>
          <p:nvPr/>
        </p:nvSpPr>
        <p:spPr>
          <a:xfrm>
            <a:off x="566928" y="640080"/>
            <a:ext cx="841248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The logic sits in a business rule task — not in the app</a:t>
            </a:r>
            <a:endParaRPr lang="en-US" sz="2700" dirty="0"/>
          </a:p>
        </p:txBody>
      </p:sp>
      <p:sp>
        <p:nvSpPr>
          <p:cNvPr id="4" name="Shape 2"/>
          <p:cNvSpPr/>
          <p:nvPr/>
        </p:nvSpPr>
        <p:spPr>
          <a:xfrm>
            <a:off x="9290304" y="475488"/>
            <a:ext cx="475488" cy="274320"/>
          </a:xfrm>
          <a:prstGeom prst="roundRect">
            <a:avLst>
              <a:gd name="adj" fmla="val 46667"/>
            </a:avLst>
          </a:prstGeom>
          <a:solidFill>
            <a:srgbClr val="F5F7FA"/>
          </a:solidFill>
          <a:ln w="12700">
            <a:solidFill>
              <a:srgbClr val="DDE5EE"/>
            </a:solidFill>
            <a:prstDash val="solid"/>
          </a:ln>
        </p:spPr>
      </p:sp>
      <p:sp>
        <p:nvSpPr>
          <p:cNvPr id="5" name="Text 3"/>
          <p:cNvSpPr/>
          <p:nvPr/>
        </p:nvSpPr>
        <p:spPr>
          <a:xfrm>
            <a:off x="9290304"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L1</a:t>
            </a:r>
            <a:endParaRPr lang="en-US" sz="1050" dirty="0"/>
          </a:p>
        </p:txBody>
      </p:sp>
      <p:sp>
        <p:nvSpPr>
          <p:cNvPr id="6" name="Text 4"/>
          <p:cNvSpPr/>
          <p:nvPr/>
        </p:nvSpPr>
        <p:spPr>
          <a:xfrm>
            <a:off x="9765792"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9912096" y="475488"/>
            <a:ext cx="475488" cy="274320"/>
          </a:xfrm>
          <a:prstGeom prst="roundRect">
            <a:avLst>
              <a:gd name="adj" fmla="val 46667"/>
            </a:avLst>
          </a:prstGeom>
          <a:solidFill>
            <a:srgbClr val="12202E"/>
          </a:solidFill>
          <a:ln w="12700">
            <a:solidFill>
              <a:srgbClr val="12202E"/>
            </a:solidFill>
            <a:prstDash val="solid"/>
          </a:ln>
        </p:spPr>
      </p:sp>
      <p:sp>
        <p:nvSpPr>
          <p:cNvPr id="8" name="Text 6"/>
          <p:cNvSpPr/>
          <p:nvPr/>
        </p:nvSpPr>
        <p:spPr>
          <a:xfrm>
            <a:off x="9912096" y="475488"/>
            <a:ext cx="47548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L2</a:t>
            </a:r>
            <a:endParaRPr lang="en-US" sz="1050" dirty="0"/>
          </a:p>
        </p:txBody>
      </p:sp>
      <p:sp>
        <p:nvSpPr>
          <p:cNvPr id="9" name="Text 7"/>
          <p:cNvSpPr/>
          <p:nvPr/>
        </p:nvSpPr>
        <p:spPr>
          <a:xfrm>
            <a:off x="10387584"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533888" y="475488"/>
            <a:ext cx="475488" cy="274320"/>
          </a:xfrm>
          <a:prstGeom prst="roundRect">
            <a:avLst>
              <a:gd name="adj" fmla="val 46667"/>
            </a:avLst>
          </a:prstGeom>
          <a:solidFill>
            <a:srgbClr val="F5F7FA"/>
          </a:solidFill>
          <a:ln w="12700">
            <a:solidFill>
              <a:srgbClr val="DDE5EE"/>
            </a:solidFill>
            <a:prstDash val="solid"/>
          </a:ln>
        </p:spPr>
      </p:sp>
      <p:sp>
        <p:nvSpPr>
          <p:cNvPr id="11" name="Text 9"/>
          <p:cNvSpPr/>
          <p:nvPr/>
        </p:nvSpPr>
        <p:spPr>
          <a:xfrm>
            <a:off x="10533888"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L3</a:t>
            </a:r>
            <a:endParaRPr lang="en-US" sz="1050" dirty="0"/>
          </a:p>
        </p:txBody>
      </p:sp>
      <p:sp>
        <p:nvSpPr>
          <p:cNvPr id="12" name="Text 10"/>
          <p:cNvSpPr/>
          <p:nvPr/>
        </p:nvSpPr>
        <p:spPr>
          <a:xfrm>
            <a:off x="11009376"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1155680" y="475488"/>
            <a:ext cx="475488" cy="274320"/>
          </a:xfrm>
          <a:prstGeom prst="roundRect">
            <a:avLst>
              <a:gd name="adj" fmla="val 46667"/>
            </a:avLst>
          </a:prstGeom>
          <a:solidFill>
            <a:srgbClr val="F5F7FA"/>
          </a:solidFill>
          <a:ln w="12700">
            <a:solidFill>
              <a:srgbClr val="DDE5EE"/>
            </a:solidFill>
            <a:prstDash val="solid"/>
          </a:ln>
        </p:spPr>
      </p:sp>
      <p:sp>
        <p:nvSpPr>
          <p:cNvPr id="14" name="Text 12"/>
          <p:cNvSpPr/>
          <p:nvPr/>
        </p:nvSpPr>
        <p:spPr>
          <a:xfrm>
            <a:off x="11155680"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L4</a:t>
            </a:r>
            <a:endParaRPr lang="en-US" sz="1050" dirty="0"/>
          </a:p>
        </p:txBody>
      </p:sp>
      <p:pic>
        <p:nvPicPr>
          <p:cNvPr id="15" name="Image 0" descr="workflow-highlevel.png">    </p:cNvPr>
          <p:cNvPicPr>
            <a:picLocks noChangeAspect="1"/>
          </p:cNvPicPr>
          <p:nvPr/>
        </p:nvPicPr>
        <p:blipFill>
          <a:blip r:embed="rId1"/>
          <a:stretch>
            <a:fillRect/>
          </a:stretch>
        </p:blipFill>
        <p:spPr>
          <a:xfrm>
            <a:off x="1202436" y="1499616"/>
            <a:ext cx="9784080" cy="49265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L2 · DATA DICTIONARY</a:t>
            </a:r>
            <a:endParaRPr lang="en-US" sz="1050" dirty="0"/>
          </a:p>
        </p:txBody>
      </p:sp>
      <p:sp>
        <p:nvSpPr>
          <p:cNvPr id="3" name="Text 1"/>
          <p:cNvSpPr/>
          <p:nvPr/>
        </p:nvSpPr>
        <p:spPr>
          <a:xfrm>
            <a:off x="566928" y="640080"/>
            <a:ext cx="841248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48 data elements — every one traceable to a guideline</a:t>
            </a:r>
            <a:endParaRPr lang="en-US" sz="2700" dirty="0"/>
          </a:p>
        </p:txBody>
      </p:sp>
      <p:sp>
        <p:nvSpPr>
          <p:cNvPr id="4" name="Shape 2"/>
          <p:cNvSpPr/>
          <p:nvPr/>
        </p:nvSpPr>
        <p:spPr>
          <a:xfrm>
            <a:off x="9290304" y="475488"/>
            <a:ext cx="475488" cy="274320"/>
          </a:xfrm>
          <a:prstGeom prst="roundRect">
            <a:avLst>
              <a:gd name="adj" fmla="val 46667"/>
            </a:avLst>
          </a:prstGeom>
          <a:solidFill>
            <a:srgbClr val="F5F7FA"/>
          </a:solidFill>
          <a:ln w="12700">
            <a:solidFill>
              <a:srgbClr val="DDE5EE"/>
            </a:solidFill>
            <a:prstDash val="solid"/>
          </a:ln>
        </p:spPr>
      </p:sp>
      <p:sp>
        <p:nvSpPr>
          <p:cNvPr id="5" name="Text 3"/>
          <p:cNvSpPr/>
          <p:nvPr/>
        </p:nvSpPr>
        <p:spPr>
          <a:xfrm>
            <a:off x="9290304"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L1</a:t>
            </a:r>
            <a:endParaRPr lang="en-US" sz="1050" dirty="0"/>
          </a:p>
        </p:txBody>
      </p:sp>
      <p:sp>
        <p:nvSpPr>
          <p:cNvPr id="6" name="Text 4"/>
          <p:cNvSpPr/>
          <p:nvPr/>
        </p:nvSpPr>
        <p:spPr>
          <a:xfrm>
            <a:off x="9765792"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9912096" y="475488"/>
            <a:ext cx="475488" cy="274320"/>
          </a:xfrm>
          <a:prstGeom prst="roundRect">
            <a:avLst>
              <a:gd name="adj" fmla="val 46667"/>
            </a:avLst>
          </a:prstGeom>
          <a:solidFill>
            <a:srgbClr val="12202E"/>
          </a:solidFill>
          <a:ln w="12700">
            <a:solidFill>
              <a:srgbClr val="12202E"/>
            </a:solidFill>
            <a:prstDash val="solid"/>
          </a:ln>
        </p:spPr>
      </p:sp>
      <p:sp>
        <p:nvSpPr>
          <p:cNvPr id="8" name="Text 6"/>
          <p:cNvSpPr/>
          <p:nvPr/>
        </p:nvSpPr>
        <p:spPr>
          <a:xfrm>
            <a:off x="9912096" y="475488"/>
            <a:ext cx="47548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L2</a:t>
            </a:r>
            <a:endParaRPr lang="en-US" sz="1050" dirty="0"/>
          </a:p>
        </p:txBody>
      </p:sp>
      <p:sp>
        <p:nvSpPr>
          <p:cNvPr id="9" name="Text 7"/>
          <p:cNvSpPr/>
          <p:nvPr/>
        </p:nvSpPr>
        <p:spPr>
          <a:xfrm>
            <a:off x="10387584"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533888" y="475488"/>
            <a:ext cx="475488" cy="274320"/>
          </a:xfrm>
          <a:prstGeom prst="roundRect">
            <a:avLst>
              <a:gd name="adj" fmla="val 46667"/>
            </a:avLst>
          </a:prstGeom>
          <a:solidFill>
            <a:srgbClr val="F5F7FA"/>
          </a:solidFill>
          <a:ln w="12700">
            <a:solidFill>
              <a:srgbClr val="DDE5EE"/>
            </a:solidFill>
            <a:prstDash val="solid"/>
          </a:ln>
        </p:spPr>
      </p:sp>
      <p:sp>
        <p:nvSpPr>
          <p:cNvPr id="11" name="Text 9"/>
          <p:cNvSpPr/>
          <p:nvPr/>
        </p:nvSpPr>
        <p:spPr>
          <a:xfrm>
            <a:off x="10533888"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L3</a:t>
            </a:r>
            <a:endParaRPr lang="en-US" sz="1050" dirty="0"/>
          </a:p>
        </p:txBody>
      </p:sp>
      <p:sp>
        <p:nvSpPr>
          <p:cNvPr id="12" name="Text 10"/>
          <p:cNvSpPr/>
          <p:nvPr/>
        </p:nvSpPr>
        <p:spPr>
          <a:xfrm>
            <a:off x="11009376"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1155680" y="475488"/>
            <a:ext cx="475488" cy="274320"/>
          </a:xfrm>
          <a:prstGeom prst="roundRect">
            <a:avLst>
              <a:gd name="adj" fmla="val 46667"/>
            </a:avLst>
          </a:prstGeom>
          <a:solidFill>
            <a:srgbClr val="F5F7FA"/>
          </a:solidFill>
          <a:ln w="12700">
            <a:solidFill>
              <a:srgbClr val="DDE5EE"/>
            </a:solidFill>
            <a:prstDash val="solid"/>
          </a:ln>
        </p:spPr>
      </p:sp>
      <p:sp>
        <p:nvSpPr>
          <p:cNvPr id="14" name="Text 12"/>
          <p:cNvSpPr/>
          <p:nvPr/>
        </p:nvSpPr>
        <p:spPr>
          <a:xfrm>
            <a:off x="11155680"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L4</a:t>
            </a:r>
            <a:endParaRPr lang="en-US" sz="1050" dirty="0"/>
          </a:p>
        </p:txBody>
      </p:sp>
      <p:sp>
        <p:nvSpPr>
          <p:cNvPr id="15" name="Shape 13"/>
          <p:cNvSpPr/>
          <p:nvPr/>
        </p:nvSpPr>
        <p:spPr>
          <a:xfrm>
            <a:off x="566928" y="1627632"/>
            <a:ext cx="2606040" cy="1170432"/>
          </a:xfrm>
          <a:prstGeom prst="roundRect">
            <a:avLst>
              <a:gd name="adj" fmla="val 7031"/>
            </a:avLst>
          </a:prstGeom>
          <a:solidFill>
            <a:srgbClr val="F5F7FA"/>
          </a:solidFill>
          <a:ln w="12700">
            <a:solidFill>
              <a:srgbClr val="DDE5EE"/>
            </a:solidFill>
            <a:prstDash val="solid"/>
          </a:ln>
        </p:spPr>
      </p:sp>
      <p:sp>
        <p:nvSpPr>
          <p:cNvPr id="16" name="Text 14"/>
          <p:cNvSpPr/>
          <p:nvPr/>
        </p:nvSpPr>
        <p:spPr>
          <a:xfrm>
            <a:off x="804672" y="1755648"/>
            <a:ext cx="2103120" cy="603504"/>
          </a:xfrm>
          <a:prstGeom prst="rect">
            <a:avLst/>
          </a:prstGeom>
          <a:noFill/>
          <a:ln/>
        </p:spPr>
        <p:txBody>
          <a:bodyPr wrap="square" lIns="0" tIns="0" rIns="0" bIns="0" rtlCol="0" anchor="ctr"/>
          <a:lstStyle/>
          <a:p>
            <a:pPr indent="0" marL="0">
              <a:buNone/>
            </a:pPr>
            <a:r>
              <a:rPr lang="en-US" sz="3600" b="1" dirty="0">
                <a:solidFill>
                  <a:srgbClr val="12202E"/>
                </a:solidFill>
                <a:latin typeface="Cambria" pitchFamily="34" charset="0"/>
                <a:ea typeface="Cambria" pitchFamily="34" charset="-122"/>
                <a:cs typeface="Cambria" pitchFamily="34" charset="-120"/>
              </a:rPr>
              <a:t>48</a:t>
            </a:r>
            <a:endParaRPr lang="en-US" sz="3600" dirty="0"/>
          </a:p>
        </p:txBody>
      </p:sp>
      <p:sp>
        <p:nvSpPr>
          <p:cNvPr id="17" name="Text 15"/>
          <p:cNvSpPr/>
          <p:nvPr/>
        </p:nvSpPr>
        <p:spPr>
          <a:xfrm>
            <a:off x="804672" y="2377440"/>
            <a:ext cx="2103120" cy="274320"/>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data elements</a:t>
            </a:r>
            <a:endParaRPr lang="en-US" sz="1100" dirty="0"/>
          </a:p>
        </p:txBody>
      </p:sp>
      <p:sp>
        <p:nvSpPr>
          <p:cNvPr id="18" name="Shape 16"/>
          <p:cNvSpPr/>
          <p:nvPr/>
        </p:nvSpPr>
        <p:spPr>
          <a:xfrm>
            <a:off x="3355848" y="1627632"/>
            <a:ext cx="2606040" cy="1170432"/>
          </a:xfrm>
          <a:prstGeom prst="roundRect">
            <a:avLst>
              <a:gd name="adj" fmla="val 7031"/>
            </a:avLst>
          </a:prstGeom>
          <a:solidFill>
            <a:srgbClr val="F5F7FA"/>
          </a:solidFill>
          <a:ln w="12700">
            <a:solidFill>
              <a:srgbClr val="DDE5EE"/>
            </a:solidFill>
            <a:prstDash val="solid"/>
          </a:ln>
        </p:spPr>
      </p:sp>
      <p:sp>
        <p:nvSpPr>
          <p:cNvPr id="19" name="Text 17"/>
          <p:cNvSpPr/>
          <p:nvPr/>
        </p:nvSpPr>
        <p:spPr>
          <a:xfrm>
            <a:off x="3593592" y="1755648"/>
            <a:ext cx="2103120" cy="603504"/>
          </a:xfrm>
          <a:prstGeom prst="rect">
            <a:avLst/>
          </a:prstGeom>
          <a:noFill/>
          <a:ln/>
        </p:spPr>
        <p:txBody>
          <a:bodyPr wrap="square" lIns="0" tIns="0" rIns="0" bIns="0" rtlCol="0" anchor="ctr"/>
          <a:lstStyle/>
          <a:p>
            <a:pPr indent="0" marL="0">
              <a:buNone/>
            </a:pPr>
            <a:r>
              <a:rPr lang="en-US" sz="3600" b="1" dirty="0">
                <a:solidFill>
                  <a:srgbClr val="12202E"/>
                </a:solidFill>
                <a:latin typeface="Cambria" pitchFamily="34" charset="0"/>
                <a:ea typeface="Cambria" pitchFamily="34" charset="-122"/>
                <a:cs typeface="Cambria" pitchFamily="34" charset="-120"/>
              </a:rPr>
              <a:t>9</a:t>
            </a:r>
            <a:endParaRPr lang="en-US" sz="3600" dirty="0"/>
          </a:p>
        </p:txBody>
      </p:sp>
      <p:sp>
        <p:nvSpPr>
          <p:cNvPr id="20" name="Text 18"/>
          <p:cNvSpPr/>
          <p:nvPr/>
        </p:nvSpPr>
        <p:spPr>
          <a:xfrm>
            <a:off x="3593592" y="2377440"/>
            <a:ext cx="2103120" cy="274320"/>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derived</a:t>
            </a:r>
            <a:endParaRPr lang="en-US" sz="1100" dirty="0"/>
          </a:p>
        </p:txBody>
      </p:sp>
      <p:sp>
        <p:nvSpPr>
          <p:cNvPr id="21" name="Shape 19"/>
          <p:cNvSpPr/>
          <p:nvPr/>
        </p:nvSpPr>
        <p:spPr>
          <a:xfrm>
            <a:off x="6144768" y="1627632"/>
            <a:ext cx="2606040" cy="1170432"/>
          </a:xfrm>
          <a:prstGeom prst="roundRect">
            <a:avLst>
              <a:gd name="adj" fmla="val 7031"/>
            </a:avLst>
          </a:prstGeom>
          <a:solidFill>
            <a:srgbClr val="F5F7FA"/>
          </a:solidFill>
          <a:ln w="12700">
            <a:solidFill>
              <a:srgbClr val="DDE5EE"/>
            </a:solidFill>
            <a:prstDash val="solid"/>
          </a:ln>
        </p:spPr>
      </p:sp>
      <p:sp>
        <p:nvSpPr>
          <p:cNvPr id="22" name="Text 20"/>
          <p:cNvSpPr/>
          <p:nvPr/>
        </p:nvSpPr>
        <p:spPr>
          <a:xfrm>
            <a:off x="6382512" y="1755648"/>
            <a:ext cx="2103120" cy="603504"/>
          </a:xfrm>
          <a:prstGeom prst="rect">
            <a:avLst/>
          </a:prstGeom>
          <a:noFill/>
          <a:ln/>
        </p:spPr>
        <p:txBody>
          <a:bodyPr wrap="square" lIns="0" tIns="0" rIns="0" bIns="0" rtlCol="0" anchor="ctr"/>
          <a:lstStyle/>
          <a:p>
            <a:pPr indent="0" marL="0">
              <a:buNone/>
            </a:pPr>
            <a:r>
              <a:rPr lang="en-US" sz="3600" b="1" dirty="0">
                <a:solidFill>
                  <a:srgbClr val="12202E"/>
                </a:solidFill>
                <a:latin typeface="Cambria" pitchFamily="34" charset="0"/>
                <a:ea typeface="Cambria" pitchFamily="34" charset="-122"/>
                <a:cs typeface="Cambria" pitchFamily="34" charset="-120"/>
              </a:rPr>
              <a:t>38</a:t>
            </a:r>
            <a:endParaRPr lang="en-US" sz="3600" dirty="0"/>
          </a:p>
        </p:txBody>
      </p:sp>
      <p:sp>
        <p:nvSpPr>
          <p:cNvPr id="23" name="Text 21"/>
          <p:cNvSpPr/>
          <p:nvPr/>
        </p:nvSpPr>
        <p:spPr>
          <a:xfrm>
            <a:off x="6382512" y="2377440"/>
            <a:ext cx="2103120" cy="274320"/>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terminology-bound</a:t>
            </a:r>
            <a:endParaRPr lang="en-US" sz="1100" dirty="0"/>
          </a:p>
        </p:txBody>
      </p:sp>
      <p:sp>
        <p:nvSpPr>
          <p:cNvPr id="24" name="Shape 22"/>
          <p:cNvSpPr/>
          <p:nvPr/>
        </p:nvSpPr>
        <p:spPr>
          <a:xfrm>
            <a:off x="8933688" y="1627632"/>
            <a:ext cx="2606040" cy="1170432"/>
          </a:xfrm>
          <a:prstGeom prst="roundRect">
            <a:avLst>
              <a:gd name="adj" fmla="val 7031"/>
            </a:avLst>
          </a:prstGeom>
          <a:solidFill>
            <a:srgbClr val="F5F7FA"/>
          </a:solidFill>
          <a:ln w="12700">
            <a:solidFill>
              <a:srgbClr val="DDE5EE"/>
            </a:solidFill>
            <a:prstDash val="solid"/>
          </a:ln>
        </p:spPr>
      </p:sp>
      <p:sp>
        <p:nvSpPr>
          <p:cNvPr id="25" name="Text 23"/>
          <p:cNvSpPr/>
          <p:nvPr/>
        </p:nvSpPr>
        <p:spPr>
          <a:xfrm>
            <a:off x="9171432" y="1755648"/>
            <a:ext cx="2103120" cy="603504"/>
          </a:xfrm>
          <a:prstGeom prst="rect">
            <a:avLst/>
          </a:prstGeom>
          <a:noFill/>
          <a:ln/>
        </p:spPr>
        <p:txBody>
          <a:bodyPr wrap="square" lIns="0" tIns="0" rIns="0" bIns="0" rtlCol="0" anchor="ctr"/>
          <a:lstStyle/>
          <a:p>
            <a:pPr indent="0" marL="0">
              <a:buNone/>
            </a:pPr>
            <a:r>
              <a:rPr lang="en-US" sz="3600" b="1" dirty="0">
                <a:solidFill>
                  <a:srgbClr val="12202E"/>
                </a:solidFill>
                <a:latin typeface="Cambria" pitchFamily="34" charset="0"/>
                <a:ea typeface="Cambria" pitchFamily="34" charset="-122"/>
                <a:cs typeface="Cambria" pitchFamily="34" charset="-120"/>
              </a:rPr>
              <a:t>47</a:t>
            </a:r>
            <a:endParaRPr lang="en-US" sz="3600" dirty="0"/>
          </a:p>
        </p:txBody>
      </p:sp>
      <p:sp>
        <p:nvSpPr>
          <p:cNvPr id="26" name="Text 24"/>
          <p:cNvSpPr/>
          <p:nvPr/>
        </p:nvSpPr>
        <p:spPr>
          <a:xfrm>
            <a:off x="9171432" y="2377440"/>
            <a:ext cx="2103120" cy="274320"/>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FHIR-mapped</a:t>
            </a:r>
            <a:endParaRPr lang="en-US" sz="1100" dirty="0"/>
          </a:p>
        </p:txBody>
      </p:sp>
      <p:sp>
        <p:nvSpPr>
          <p:cNvPr id="27" name="Text 25"/>
          <p:cNvSpPr/>
          <p:nvPr/>
        </p:nvSpPr>
        <p:spPr>
          <a:xfrm>
            <a:off x="566928" y="3072384"/>
            <a:ext cx="777240" cy="237744"/>
          </a:xfrm>
          <a:prstGeom prst="rect">
            <a:avLst/>
          </a:prstGeom>
          <a:noFill/>
          <a:ln/>
        </p:spPr>
        <p:txBody>
          <a:bodyPr wrap="square" lIns="0" tIns="0" rIns="0" bIns="0" rtlCol="0" anchor="ctr"/>
          <a:lstStyle/>
          <a:p>
            <a:pPr indent="0" marL="0">
              <a:buNone/>
            </a:pPr>
            <a:r>
              <a:rPr lang="en-US" sz="900" b="1" spc="100" kern="0" dirty="0">
                <a:solidFill>
                  <a:srgbClr val="5D7186"/>
                </a:solidFill>
                <a:latin typeface="Calibri" pitchFamily="34" charset="0"/>
                <a:ea typeface="Calibri" pitchFamily="34" charset="-122"/>
                <a:cs typeface="Calibri" pitchFamily="34" charset="-120"/>
              </a:rPr>
              <a:t>ID</a:t>
            </a:r>
            <a:endParaRPr lang="en-US" sz="900" dirty="0"/>
          </a:p>
        </p:txBody>
      </p:sp>
      <p:sp>
        <p:nvSpPr>
          <p:cNvPr id="28" name="Text 26"/>
          <p:cNvSpPr/>
          <p:nvPr/>
        </p:nvSpPr>
        <p:spPr>
          <a:xfrm>
            <a:off x="1399032" y="3072384"/>
            <a:ext cx="2331720" cy="237744"/>
          </a:xfrm>
          <a:prstGeom prst="rect">
            <a:avLst/>
          </a:prstGeom>
          <a:noFill/>
          <a:ln/>
        </p:spPr>
        <p:txBody>
          <a:bodyPr wrap="square" lIns="0" tIns="0" rIns="0" bIns="0" rtlCol="0" anchor="ctr"/>
          <a:lstStyle/>
          <a:p>
            <a:pPr indent="0" marL="0">
              <a:buNone/>
            </a:pPr>
            <a:r>
              <a:rPr lang="en-US" sz="900" b="1" spc="100" kern="0" dirty="0">
                <a:solidFill>
                  <a:srgbClr val="5D7186"/>
                </a:solidFill>
                <a:latin typeface="Calibri" pitchFamily="34" charset="0"/>
                <a:ea typeface="Calibri" pitchFamily="34" charset="-122"/>
                <a:cs typeface="Calibri" pitchFamily="34" charset="-120"/>
              </a:rPr>
              <a:t>ELEMENT</a:t>
            </a:r>
            <a:endParaRPr lang="en-US" sz="900" dirty="0"/>
          </a:p>
        </p:txBody>
      </p:sp>
      <p:sp>
        <p:nvSpPr>
          <p:cNvPr id="29" name="Text 27"/>
          <p:cNvSpPr/>
          <p:nvPr/>
        </p:nvSpPr>
        <p:spPr>
          <a:xfrm>
            <a:off x="3785616" y="3072384"/>
            <a:ext cx="1234440" cy="237744"/>
          </a:xfrm>
          <a:prstGeom prst="rect">
            <a:avLst/>
          </a:prstGeom>
          <a:noFill/>
          <a:ln/>
        </p:spPr>
        <p:txBody>
          <a:bodyPr wrap="square" lIns="0" tIns="0" rIns="0" bIns="0" rtlCol="0" anchor="ctr"/>
          <a:lstStyle/>
          <a:p>
            <a:pPr indent="0" marL="0">
              <a:buNone/>
            </a:pPr>
            <a:r>
              <a:rPr lang="en-US" sz="900" b="1" spc="100" kern="0" dirty="0">
                <a:solidFill>
                  <a:srgbClr val="5D7186"/>
                </a:solidFill>
                <a:latin typeface="Calibri" pitchFamily="34" charset="0"/>
                <a:ea typeface="Calibri" pitchFamily="34" charset="-122"/>
                <a:cs typeface="Calibri" pitchFamily="34" charset="-120"/>
              </a:rPr>
              <a:t>TYPE</a:t>
            </a:r>
            <a:endParaRPr lang="en-US" sz="900" dirty="0"/>
          </a:p>
        </p:txBody>
      </p:sp>
      <p:sp>
        <p:nvSpPr>
          <p:cNvPr id="30" name="Text 28"/>
          <p:cNvSpPr/>
          <p:nvPr/>
        </p:nvSpPr>
        <p:spPr>
          <a:xfrm>
            <a:off x="5074920" y="3072384"/>
            <a:ext cx="1691640" cy="237744"/>
          </a:xfrm>
          <a:prstGeom prst="rect">
            <a:avLst/>
          </a:prstGeom>
          <a:noFill/>
          <a:ln/>
        </p:spPr>
        <p:txBody>
          <a:bodyPr wrap="square" lIns="0" tIns="0" rIns="0" bIns="0" rtlCol="0" anchor="ctr"/>
          <a:lstStyle/>
          <a:p>
            <a:pPr indent="0" marL="0">
              <a:buNone/>
            </a:pPr>
            <a:r>
              <a:rPr lang="en-US" sz="900" b="1" spc="100" kern="0" dirty="0">
                <a:solidFill>
                  <a:srgbClr val="5D7186"/>
                </a:solidFill>
                <a:latin typeface="Calibri" pitchFamily="34" charset="0"/>
                <a:ea typeface="Calibri" pitchFamily="34" charset="-122"/>
                <a:cs typeface="Calibri" pitchFamily="34" charset="-120"/>
              </a:rPr>
              <a:t>TERMINOLOGY</a:t>
            </a:r>
            <a:endParaRPr lang="en-US" sz="900" dirty="0"/>
          </a:p>
        </p:txBody>
      </p:sp>
      <p:sp>
        <p:nvSpPr>
          <p:cNvPr id="31" name="Text 29"/>
          <p:cNvSpPr/>
          <p:nvPr/>
        </p:nvSpPr>
        <p:spPr>
          <a:xfrm>
            <a:off x="6821424" y="3072384"/>
            <a:ext cx="2240280" cy="237744"/>
          </a:xfrm>
          <a:prstGeom prst="rect">
            <a:avLst/>
          </a:prstGeom>
          <a:noFill/>
          <a:ln/>
        </p:spPr>
        <p:txBody>
          <a:bodyPr wrap="square" lIns="0" tIns="0" rIns="0" bIns="0" rtlCol="0" anchor="ctr"/>
          <a:lstStyle/>
          <a:p>
            <a:pPr indent="0" marL="0">
              <a:buNone/>
            </a:pPr>
            <a:r>
              <a:rPr lang="en-US" sz="900" b="1" spc="100" kern="0" dirty="0">
                <a:solidFill>
                  <a:srgbClr val="5D7186"/>
                </a:solidFill>
                <a:latin typeface="Calibri" pitchFamily="34" charset="0"/>
                <a:ea typeface="Calibri" pitchFamily="34" charset="-122"/>
                <a:cs typeface="Calibri" pitchFamily="34" charset="-120"/>
              </a:rPr>
              <a:t>FHIR</a:t>
            </a:r>
            <a:endParaRPr lang="en-US" sz="900" dirty="0"/>
          </a:p>
        </p:txBody>
      </p:sp>
      <p:sp>
        <p:nvSpPr>
          <p:cNvPr id="32" name="Text 30"/>
          <p:cNvSpPr/>
          <p:nvPr/>
        </p:nvSpPr>
        <p:spPr>
          <a:xfrm>
            <a:off x="9116568" y="3072384"/>
            <a:ext cx="2651760" cy="237744"/>
          </a:xfrm>
          <a:prstGeom prst="rect">
            <a:avLst/>
          </a:prstGeom>
          <a:noFill/>
          <a:ln/>
        </p:spPr>
        <p:txBody>
          <a:bodyPr wrap="square" lIns="0" tIns="0" rIns="0" bIns="0" rtlCol="0" anchor="ctr"/>
          <a:lstStyle/>
          <a:p>
            <a:pPr indent="0" marL="0">
              <a:buNone/>
            </a:pPr>
            <a:r>
              <a:rPr lang="en-US" sz="900" b="1" spc="100" kern="0" dirty="0">
                <a:solidFill>
                  <a:srgbClr val="5D7186"/>
                </a:solidFill>
                <a:latin typeface="Calibri" pitchFamily="34" charset="0"/>
                <a:ea typeface="Calibri" pitchFamily="34" charset="-122"/>
                <a:cs typeface="Calibri" pitchFamily="34" charset="-120"/>
              </a:rPr>
              <a:t>L1 SOURCE</a:t>
            </a:r>
            <a:endParaRPr lang="en-US" sz="900" dirty="0"/>
          </a:p>
        </p:txBody>
      </p:sp>
      <p:sp>
        <p:nvSpPr>
          <p:cNvPr id="33" name="Shape 31"/>
          <p:cNvSpPr/>
          <p:nvPr/>
        </p:nvSpPr>
        <p:spPr>
          <a:xfrm>
            <a:off x="566928" y="3364992"/>
            <a:ext cx="11064240" cy="384048"/>
          </a:xfrm>
          <a:prstGeom prst="roundRect">
            <a:avLst>
              <a:gd name="adj" fmla="val 21429"/>
            </a:avLst>
          </a:prstGeom>
          <a:solidFill>
            <a:srgbClr val="F5F7FA"/>
          </a:solidFill>
          <a:ln w="12700">
            <a:solidFill>
              <a:srgbClr val="DDE5EE"/>
            </a:solidFill>
            <a:prstDash val="solid"/>
          </a:ln>
        </p:spPr>
      </p:sp>
      <p:sp>
        <p:nvSpPr>
          <p:cNvPr id="34" name="Text 32"/>
          <p:cNvSpPr/>
          <p:nvPr/>
        </p:nvSpPr>
        <p:spPr>
          <a:xfrm>
            <a:off x="585216" y="3364992"/>
            <a:ext cx="777240" cy="38404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DE-020</a:t>
            </a:r>
            <a:endParaRPr lang="en-US" sz="1000" dirty="0"/>
          </a:p>
        </p:txBody>
      </p:sp>
      <p:sp>
        <p:nvSpPr>
          <p:cNvPr id="35" name="Text 33"/>
          <p:cNvSpPr/>
          <p:nvPr/>
        </p:nvSpPr>
        <p:spPr>
          <a:xfrm>
            <a:off x="1417320" y="3364992"/>
            <a:ext cx="2331720" cy="38404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Body temperature</a:t>
            </a:r>
            <a:endParaRPr lang="en-US" sz="1000" dirty="0"/>
          </a:p>
        </p:txBody>
      </p:sp>
      <p:sp>
        <p:nvSpPr>
          <p:cNvPr id="36" name="Text 34"/>
          <p:cNvSpPr/>
          <p:nvPr/>
        </p:nvSpPr>
        <p:spPr>
          <a:xfrm>
            <a:off x="3803904" y="3364992"/>
            <a:ext cx="1234440" cy="38404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decimal</a:t>
            </a:r>
            <a:endParaRPr lang="en-US" sz="1000" dirty="0"/>
          </a:p>
        </p:txBody>
      </p:sp>
      <p:sp>
        <p:nvSpPr>
          <p:cNvPr id="37" name="Text 35"/>
          <p:cNvSpPr/>
          <p:nvPr/>
        </p:nvSpPr>
        <p:spPr>
          <a:xfrm>
            <a:off x="5093208" y="3364992"/>
            <a:ext cx="169164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LOINC 8310-5</a:t>
            </a:r>
            <a:endParaRPr lang="en-US" sz="1000" dirty="0"/>
          </a:p>
        </p:txBody>
      </p:sp>
      <p:sp>
        <p:nvSpPr>
          <p:cNvPr id="38" name="Text 36"/>
          <p:cNvSpPr/>
          <p:nvPr/>
        </p:nvSpPr>
        <p:spPr>
          <a:xfrm>
            <a:off x="6839712" y="3364992"/>
            <a:ext cx="224028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Observation.valueQuantity</a:t>
            </a:r>
            <a:endParaRPr lang="en-US" sz="1000" dirty="0"/>
          </a:p>
        </p:txBody>
      </p:sp>
      <p:sp>
        <p:nvSpPr>
          <p:cNvPr id="39" name="Text 37"/>
          <p:cNvSpPr/>
          <p:nvPr/>
        </p:nvSpPr>
        <p:spPr>
          <a:xfrm>
            <a:off x="9134856" y="3364992"/>
            <a:ext cx="265176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CDC — fever &gt; 38 °C</a:t>
            </a:r>
            <a:endParaRPr lang="en-US" sz="1000" dirty="0"/>
          </a:p>
        </p:txBody>
      </p:sp>
      <p:sp>
        <p:nvSpPr>
          <p:cNvPr id="40" name="Shape 38"/>
          <p:cNvSpPr/>
          <p:nvPr/>
        </p:nvSpPr>
        <p:spPr>
          <a:xfrm>
            <a:off x="566928" y="3822192"/>
            <a:ext cx="11064240" cy="384048"/>
          </a:xfrm>
          <a:prstGeom prst="roundRect">
            <a:avLst>
              <a:gd name="adj" fmla="val 21429"/>
            </a:avLst>
          </a:prstGeom>
          <a:solidFill>
            <a:srgbClr val="FFFFFF"/>
          </a:solidFill>
          <a:ln w="12700">
            <a:solidFill>
              <a:srgbClr val="FFFFFF"/>
            </a:solidFill>
            <a:prstDash val="solid"/>
          </a:ln>
        </p:spPr>
      </p:sp>
      <p:sp>
        <p:nvSpPr>
          <p:cNvPr id="41" name="Text 39"/>
          <p:cNvSpPr/>
          <p:nvPr/>
        </p:nvSpPr>
        <p:spPr>
          <a:xfrm>
            <a:off x="585216" y="3822192"/>
            <a:ext cx="777240" cy="38404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DE-030</a:t>
            </a:r>
            <a:endParaRPr lang="en-US" sz="1000" dirty="0"/>
          </a:p>
        </p:txBody>
      </p:sp>
      <p:sp>
        <p:nvSpPr>
          <p:cNvPr id="42" name="Text 40"/>
          <p:cNvSpPr/>
          <p:nvPr/>
        </p:nvSpPr>
        <p:spPr>
          <a:xfrm>
            <a:off x="1417320" y="3822192"/>
            <a:ext cx="2331720" cy="38404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Wound appearance</a:t>
            </a:r>
            <a:endParaRPr lang="en-US" sz="1000" dirty="0"/>
          </a:p>
        </p:txBody>
      </p:sp>
      <p:sp>
        <p:nvSpPr>
          <p:cNvPr id="43" name="Text 41"/>
          <p:cNvSpPr/>
          <p:nvPr/>
        </p:nvSpPr>
        <p:spPr>
          <a:xfrm>
            <a:off x="3803904" y="3822192"/>
            <a:ext cx="1234440" cy="38404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select_one</a:t>
            </a:r>
            <a:endParaRPr lang="en-US" sz="1000" dirty="0"/>
          </a:p>
        </p:txBody>
      </p:sp>
      <p:sp>
        <p:nvSpPr>
          <p:cNvPr id="44" name="Text 42"/>
          <p:cNvSpPr/>
          <p:nvPr/>
        </p:nvSpPr>
        <p:spPr>
          <a:xfrm>
            <a:off x="5093208" y="3822192"/>
            <a:ext cx="169164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SNOMED 225552003</a:t>
            </a:r>
            <a:endParaRPr lang="en-US" sz="1000" dirty="0"/>
          </a:p>
        </p:txBody>
      </p:sp>
      <p:sp>
        <p:nvSpPr>
          <p:cNvPr id="45" name="Text 43"/>
          <p:cNvSpPr/>
          <p:nvPr/>
        </p:nvSpPr>
        <p:spPr>
          <a:xfrm>
            <a:off x="6839712" y="3822192"/>
            <a:ext cx="224028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Observation.valueCodeable</a:t>
            </a:r>
            <a:endParaRPr lang="en-US" sz="1000" dirty="0"/>
          </a:p>
        </p:txBody>
      </p:sp>
      <p:sp>
        <p:nvSpPr>
          <p:cNvPr id="46" name="Text 44"/>
          <p:cNvSpPr/>
          <p:nvPr/>
        </p:nvSpPr>
        <p:spPr>
          <a:xfrm>
            <a:off x="9134856" y="3822192"/>
            <a:ext cx="265176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Southampton 0–V</a:t>
            </a:r>
            <a:endParaRPr lang="en-US" sz="1000" dirty="0"/>
          </a:p>
        </p:txBody>
      </p:sp>
      <p:sp>
        <p:nvSpPr>
          <p:cNvPr id="47" name="Shape 45"/>
          <p:cNvSpPr/>
          <p:nvPr/>
        </p:nvSpPr>
        <p:spPr>
          <a:xfrm>
            <a:off x="566928" y="4279392"/>
            <a:ext cx="11064240" cy="384048"/>
          </a:xfrm>
          <a:prstGeom prst="roundRect">
            <a:avLst>
              <a:gd name="adj" fmla="val 21429"/>
            </a:avLst>
          </a:prstGeom>
          <a:solidFill>
            <a:srgbClr val="F5F7FA"/>
          </a:solidFill>
          <a:ln w="12700">
            <a:solidFill>
              <a:srgbClr val="DDE5EE"/>
            </a:solidFill>
            <a:prstDash val="solid"/>
          </a:ln>
        </p:spPr>
      </p:sp>
      <p:sp>
        <p:nvSpPr>
          <p:cNvPr id="48" name="Text 46"/>
          <p:cNvSpPr/>
          <p:nvPr/>
        </p:nvSpPr>
        <p:spPr>
          <a:xfrm>
            <a:off x="585216" y="4279392"/>
            <a:ext cx="777240" cy="38404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DE-032</a:t>
            </a:r>
            <a:endParaRPr lang="en-US" sz="1000" dirty="0"/>
          </a:p>
        </p:txBody>
      </p:sp>
      <p:sp>
        <p:nvSpPr>
          <p:cNvPr id="49" name="Text 47"/>
          <p:cNvSpPr/>
          <p:nvPr/>
        </p:nvSpPr>
        <p:spPr>
          <a:xfrm>
            <a:off x="1417320" y="4279392"/>
            <a:ext cx="2331720" cy="38404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Red streak</a:t>
            </a:r>
            <a:endParaRPr lang="en-US" sz="1000" dirty="0"/>
          </a:p>
        </p:txBody>
      </p:sp>
      <p:sp>
        <p:nvSpPr>
          <p:cNvPr id="50" name="Text 48"/>
          <p:cNvSpPr/>
          <p:nvPr/>
        </p:nvSpPr>
        <p:spPr>
          <a:xfrm>
            <a:off x="3803904" y="4279392"/>
            <a:ext cx="1234440" cy="38404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select_one</a:t>
            </a:r>
            <a:endParaRPr lang="en-US" sz="1000" dirty="0"/>
          </a:p>
        </p:txBody>
      </p:sp>
      <p:sp>
        <p:nvSpPr>
          <p:cNvPr id="51" name="Text 49"/>
          <p:cNvSpPr/>
          <p:nvPr/>
        </p:nvSpPr>
        <p:spPr>
          <a:xfrm>
            <a:off x="5093208" y="4279392"/>
            <a:ext cx="169164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SNOMED 46117009</a:t>
            </a:r>
            <a:endParaRPr lang="en-US" sz="1000" dirty="0"/>
          </a:p>
        </p:txBody>
      </p:sp>
      <p:sp>
        <p:nvSpPr>
          <p:cNvPr id="52" name="Text 50"/>
          <p:cNvSpPr/>
          <p:nvPr/>
        </p:nvSpPr>
        <p:spPr>
          <a:xfrm>
            <a:off x="6839712" y="4279392"/>
            <a:ext cx="224028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Observation.valueCodeable</a:t>
            </a:r>
            <a:endParaRPr lang="en-US" sz="1000" dirty="0"/>
          </a:p>
        </p:txBody>
      </p:sp>
      <p:sp>
        <p:nvSpPr>
          <p:cNvPr id="53" name="Text 51"/>
          <p:cNvSpPr/>
          <p:nvPr/>
        </p:nvSpPr>
        <p:spPr>
          <a:xfrm>
            <a:off x="9134856" y="4279392"/>
            <a:ext cx="265176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NICE NG125 §1.4.9</a:t>
            </a:r>
            <a:endParaRPr lang="en-US" sz="1000" dirty="0"/>
          </a:p>
        </p:txBody>
      </p:sp>
      <p:sp>
        <p:nvSpPr>
          <p:cNvPr id="54" name="Shape 52"/>
          <p:cNvSpPr/>
          <p:nvPr/>
        </p:nvSpPr>
        <p:spPr>
          <a:xfrm>
            <a:off x="566928" y="4736592"/>
            <a:ext cx="11064240" cy="384048"/>
          </a:xfrm>
          <a:prstGeom prst="roundRect">
            <a:avLst>
              <a:gd name="adj" fmla="val 21429"/>
            </a:avLst>
          </a:prstGeom>
          <a:solidFill>
            <a:srgbClr val="FFFFFF"/>
          </a:solidFill>
          <a:ln w="12700">
            <a:solidFill>
              <a:srgbClr val="FFFFFF"/>
            </a:solidFill>
            <a:prstDash val="solid"/>
          </a:ln>
        </p:spPr>
      </p:sp>
      <p:sp>
        <p:nvSpPr>
          <p:cNvPr id="55" name="Text 53"/>
          <p:cNvSpPr/>
          <p:nvPr/>
        </p:nvSpPr>
        <p:spPr>
          <a:xfrm>
            <a:off x="585216" y="4736592"/>
            <a:ext cx="777240" cy="38404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DE-035</a:t>
            </a:r>
            <a:endParaRPr lang="en-US" sz="1000" dirty="0"/>
          </a:p>
        </p:txBody>
      </p:sp>
      <p:sp>
        <p:nvSpPr>
          <p:cNvPr id="56" name="Text 54"/>
          <p:cNvSpPr/>
          <p:nvPr/>
        </p:nvSpPr>
        <p:spPr>
          <a:xfrm>
            <a:off x="1417320" y="4736592"/>
            <a:ext cx="2331720" cy="38404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Discharge</a:t>
            </a:r>
            <a:endParaRPr lang="en-US" sz="1000" dirty="0"/>
          </a:p>
        </p:txBody>
      </p:sp>
      <p:sp>
        <p:nvSpPr>
          <p:cNvPr id="57" name="Text 55"/>
          <p:cNvSpPr/>
          <p:nvPr/>
        </p:nvSpPr>
        <p:spPr>
          <a:xfrm>
            <a:off x="3803904" y="4736592"/>
            <a:ext cx="1234440" cy="38404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select_one</a:t>
            </a:r>
            <a:endParaRPr lang="en-US" sz="1000" dirty="0"/>
          </a:p>
        </p:txBody>
      </p:sp>
      <p:sp>
        <p:nvSpPr>
          <p:cNvPr id="58" name="Text 56"/>
          <p:cNvSpPr/>
          <p:nvPr/>
        </p:nvSpPr>
        <p:spPr>
          <a:xfrm>
            <a:off x="5093208" y="4736592"/>
            <a:ext cx="169164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SNOMED 449736006</a:t>
            </a:r>
            <a:endParaRPr lang="en-US" sz="1000" dirty="0"/>
          </a:p>
        </p:txBody>
      </p:sp>
      <p:sp>
        <p:nvSpPr>
          <p:cNvPr id="59" name="Text 57"/>
          <p:cNvSpPr/>
          <p:nvPr/>
        </p:nvSpPr>
        <p:spPr>
          <a:xfrm>
            <a:off x="6839712" y="4736592"/>
            <a:ext cx="224028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Observation.valueCodeable</a:t>
            </a:r>
            <a:endParaRPr lang="en-US" sz="1000" dirty="0"/>
          </a:p>
        </p:txBody>
      </p:sp>
      <p:sp>
        <p:nvSpPr>
          <p:cNvPr id="60" name="Text 58"/>
          <p:cNvSpPr/>
          <p:nvPr/>
        </p:nvSpPr>
        <p:spPr>
          <a:xfrm>
            <a:off x="9134856" y="4736592"/>
            <a:ext cx="265176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CDC — purulent drainage</a:t>
            </a:r>
            <a:endParaRPr lang="en-US" sz="1000" dirty="0"/>
          </a:p>
        </p:txBody>
      </p:sp>
      <p:sp>
        <p:nvSpPr>
          <p:cNvPr id="61" name="Shape 59"/>
          <p:cNvSpPr/>
          <p:nvPr/>
        </p:nvSpPr>
        <p:spPr>
          <a:xfrm>
            <a:off x="566928" y="5193792"/>
            <a:ext cx="11064240" cy="384048"/>
          </a:xfrm>
          <a:prstGeom prst="roundRect">
            <a:avLst>
              <a:gd name="adj" fmla="val 21429"/>
            </a:avLst>
          </a:prstGeom>
          <a:solidFill>
            <a:srgbClr val="F5F7FA"/>
          </a:solidFill>
          <a:ln w="12700">
            <a:solidFill>
              <a:srgbClr val="DDE5EE"/>
            </a:solidFill>
            <a:prstDash val="solid"/>
          </a:ln>
        </p:spPr>
      </p:sp>
      <p:sp>
        <p:nvSpPr>
          <p:cNvPr id="62" name="Text 60"/>
          <p:cNvSpPr/>
          <p:nvPr/>
        </p:nvSpPr>
        <p:spPr>
          <a:xfrm>
            <a:off x="585216" y="5193792"/>
            <a:ext cx="777240" cy="38404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DE-045</a:t>
            </a:r>
            <a:endParaRPr lang="en-US" sz="1000" dirty="0"/>
          </a:p>
        </p:txBody>
      </p:sp>
      <p:sp>
        <p:nvSpPr>
          <p:cNvPr id="63" name="Text 61"/>
          <p:cNvSpPr/>
          <p:nvPr/>
        </p:nvSpPr>
        <p:spPr>
          <a:xfrm>
            <a:off x="1417320" y="5193792"/>
            <a:ext cx="2331720" cy="38404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Southampton grade</a:t>
            </a:r>
            <a:endParaRPr lang="en-US" sz="1000" dirty="0"/>
          </a:p>
        </p:txBody>
      </p:sp>
      <p:sp>
        <p:nvSpPr>
          <p:cNvPr id="64" name="Text 62"/>
          <p:cNvSpPr/>
          <p:nvPr/>
        </p:nvSpPr>
        <p:spPr>
          <a:xfrm>
            <a:off x="3803904" y="5193792"/>
            <a:ext cx="1234440" cy="38404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calculated</a:t>
            </a:r>
            <a:endParaRPr lang="en-US" sz="1000" dirty="0"/>
          </a:p>
        </p:txBody>
      </p:sp>
      <p:sp>
        <p:nvSpPr>
          <p:cNvPr id="65" name="Text 63"/>
          <p:cNvSpPr/>
          <p:nvPr/>
        </p:nvSpPr>
        <p:spPr>
          <a:xfrm>
            <a:off x="5093208" y="5193792"/>
            <a:ext cx="169164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SNOMED 225552003</a:t>
            </a:r>
            <a:endParaRPr lang="en-US" sz="1000" dirty="0"/>
          </a:p>
        </p:txBody>
      </p:sp>
      <p:sp>
        <p:nvSpPr>
          <p:cNvPr id="66" name="Text 64"/>
          <p:cNvSpPr/>
          <p:nvPr/>
        </p:nvSpPr>
        <p:spPr>
          <a:xfrm>
            <a:off x="6839712" y="5193792"/>
            <a:ext cx="224028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Observation.valueCodeable</a:t>
            </a:r>
            <a:endParaRPr lang="en-US" sz="1000" dirty="0"/>
          </a:p>
        </p:txBody>
      </p:sp>
      <p:sp>
        <p:nvSpPr>
          <p:cNvPr id="67" name="Text 65"/>
          <p:cNvSpPr/>
          <p:nvPr/>
        </p:nvSpPr>
        <p:spPr>
          <a:xfrm>
            <a:off x="9134856" y="5193792"/>
            <a:ext cx="2651760" cy="384048"/>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Southampton</a:t>
            </a:r>
            <a:endParaRPr lang="en-US" sz="1000" dirty="0"/>
          </a:p>
        </p:txBody>
      </p:sp>
      <p:sp>
        <p:nvSpPr>
          <p:cNvPr id="68" name="Shape 66"/>
          <p:cNvSpPr/>
          <p:nvPr/>
        </p:nvSpPr>
        <p:spPr>
          <a:xfrm>
            <a:off x="566928" y="5815584"/>
            <a:ext cx="11064240" cy="658368"/>
          </a:xfrm>
          <a:prstGeom prst="roundRect">
            <a:avLst>
              <a:gd name="adj" fmla="val 12500"/>
            </a:avLst>
          </a:prstGeom>
          <a:solidFill>
            <a:srgbClr val="12202E"/>
          </a:solidFill>
          <a:ln w="12700">
            <a:solidFill>
              <a:srgbClr val="12202E"/>
            </a:solidFill>
            <a:prstDash val="solid"/>
          </a:ln>
        </p:spPr>
      </p:sp>
      <p:sp>
        <p:nvSpPr>
          <p:cNvPr id="69" name="Text 67"/>
          <p:cNvSpPr/>
          <p:nvPr/>
        </p:nvSpPr>
        <p:spPr>
          <a:xfrm>
            <a:off x="841248" y="5815584"/>
            <a:ext cx="10515600" cy="658368"/>
          </a:xfrm>
          <a:prstGeom prst="rect">
            <a:avLst/>
          </a:prstGeom>
          <a:noFill/>
          <a:ln/>
        </p:spPr>
        <p:txBody>
          <a:bodyPr wrap="square" lIns="0" tIns="0" rIns="0" bIns="0" rtlCol="0" anchor="ctr"/>
          <a:lstStyle/>
          <a:p>
            <a:pPr indent="0" marL="0">
              <a:buNone/>
            </a:pPr>
            <a:r>
              <a:rPr lang="en-US" sz="1150" dirty="0">
                <a:solidFill>
                  <a:srgbClr val="C9D6E4"/>
                </a:solidFill>
                <a:latin typeface="Calibri" pitchFamily="34" charset="0"/>
                <a:ea typeface="Calibri" pitchFamily="34" charset="-122"/>
                <a:cs typeface="Calibri" pitchFamily="34" charset="-120"/>
              </a:rPr>
              <a:t>Sequence follows the patient, not the guideline: baseline data once, then “how do I feel”, then the wound — because inspecting it means opening the dressing.</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L2 · DECISION LOGIC</a:t>
            </a:r>
            <a:endParaRPr lang="en-US" sz="1050" dirty="0"/>
          </a:p>
        </p:txBody>
      </p:sp>
      <p:sp>
        <p:nvSpPr>
          <p:cNvPr id="3" name="Text 1"/>
          <p:cNvSpPr/>
          <p:nvPr/>
        </p:nvSpPr>
        <p:spPr>
          <a:xfrm>
            <a:off x="566928" y="640080"/>
            <a:ext cx="841248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Worst-first: a reassuring finding can never overwrite a warning</a:t>
            </a:r>
            <a:endParaRPr lang="en-US" sz="2700" dirty="0"/>
          </a:p>
        </p:txBody>
      </p:sp>
      <p:sp>
        <p:nvSpPr>
          <p:cNvPr id="4" name="Shape 2"/>
          <p:cNvSpPr/>
          <p:nvPr/>
        </p:nvSpPr>
        <p:spPr>
          <a:xfrm>
            <a:off x="9290304" y="475488"/>
            <a:ext cx="475488" cy="274320"/>
          </a:xfrm>
          <a:prstGeom prst="roundRect">
            <a:avLst>
              <a:gd name="adj" fmla="val 46667"/>
            </a:avLst>
          </a:prstGeom>
          <a:solidFill>
            <a:srgbClr val="F5F7FA"/>
          </a:solidFill>
          <a:ln w="12700">
            <a:solidFill>
              <a:srgbClr val="DDE5EE"/>
            </a:solidFill>
            <a:prstDash val="solid"/>
          </a:ln>
        </p:spPr>
      </p:sp>
      <p:sp>
        <p:nvSpPr>
          <p:cNvPr id="5" name="Text 3"/>
          <p:cNvSpPr/>
          <p:nvPr/>
        </p:nvSpPr>
        <p:spPr>
          <a:xfrm>
            <a:off x="9290304"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L1</a:t>
            </a:r>
            <a:endParaRPr lang="en-US" sz="1050" dirty="0"/>
          </a:p>
        </p:txBody>
      </p:sp>
      <p:sp>
        <p:nvSpPr>
          <p:cNvPr id="6" name="Text 4"/>
          <p:cNvSpPr/>
          <p:nvPr/>
        </p:nvSpPr>
        <p:spPr>
          <a:xfrm>
            <a:off x="9765792"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9912096" y="475488"/>
            <a:ext cx="475488" cy="274320"/>
          </a:xfrm>
          <a:prstGeom prst="roundRect">
            <a:avLst>
              <a:gd name="adj" fmla="val 46667"/>
            </a:avLst>
          </a:prstGeom>
          <a:solidFill>
            <a:srgbClr val="12202E"/>
          </a:solidFill>
          <a:ln w="12700">
            <a:solidFill>
              <a:srgbClr val="12202E"/>
            </a:solidFill>
            <a:prstDash val="solid"/>
          </a:ln>
        </p:spPr>
      </p:sp>
      <p:sp>
        <p:nvSpPr>
          <p:cNvPr id="8" name="Text 6"/>
          <p:cNvSpPr/>
          <p:nvPr/>
        </p:nvSpPr>
        <p:spPr>
          <a:xfrm>
            <a:off x="9912096" y="475488"/>
            <a:ext cx="47548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L2</a:t>
            </a:r>
            <a:endParaRPr lang="en-US" sz="1050" dirty="0"/>
          </a:p>
        </p:txBody>
      </p:sp>
      <p:sp>
        <p:nvSpPr>
          <p:cNvPr id="9" name="Text 7"/>
          <p:cNvSpPr/>
          <p:nvPr/>
        </p:nvSpPr>
        <p:spPr>
          <a:xfrm>
            <a:off x="10387584"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533888" y="475488"/>
            <a:ext cx="475488" cy="274320"/>
          </a:xfrm>
          <a:prstGeom prst="roundRect">
            <a:avLst>
              <a:gd name="adj" fmla="val 46667"/>
            </a:avLst>
          </a:prstGeom>
          <a:solidFill>
            <a:srgbClr val="F5F7FA"/>
          </a:solidFill>
          <a:ln w="12700">
            <a:solidFill>
              <a:srgbClr val="DDE5EE"/>
            </a:solidFill>
            <a:prstDash val="solid"/>
          </a:ln>
        </p:spPr>
      </p:sp>
      <p:sp>
        <p:nvSpPr>
          <p:cNvPr id="11" name="Text 9"/>
          <p:cNvSpPr/>
          <p:nvPr/>
        </p:nvSpPr>
        <p:spPr>
          <a:xfrm>
            <a:off x="10533888"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L3</a:t>
            </a:r>
            <a:endParaRPr lang="en-US" sz="1050" dirty="0"/>
          </a:p>
        </p:txBody>
      </p:sp>
      <p:sp>
        <p:nvSpPr>
          <p:cNvPr id="12" name="Text 10"/>
          <p:cNvSpPr/>
          <p:nvPr/>
        </p:nvSpPr>
        <p:spPr>
          <a:xfrm>
            <a:off x="11009376"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1155680" y="475488"/>
            <a:ext cx="475488" cy="274320"/>
          </a:xfrm>
          <a:prstGeom prst="roundRect">
            <a:avLst>
              <a:gd name="adj" fmla="val 46667"/>
            </a:avLst>
          </a:prstGeom>
          <a:solidFill>
            <a:srgbClr val="F5F7FA"/>
          </a:solidFill>
          <a:ln w="12700">
            <a:solidFill>
              <a:srgbClr val="DDE5EE"/>
            </a:solidFill>
            <a:prstDash val="solid"/>
          </a:ln>
        </p:spPr>
      </p:sp>
      <p:sp>
        <p:nvSpPr>
          <p:cNvPr id="14" name="Text 12"/>
          <p:cNvSpPr/>
          <p:nvPr/>
        </p:nvSpPr>
        <p:spPr>
          <a:xfrm>
            <a:off x="11155680"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L4</a:t>
            </a:r>
            <a:endParaRPr lang="en-US" sz="1050" dirty="0"/>
          </a:p>
        </p:txBody>
      </p:sp>
      <p:sp>
        <p:nvSpPr>
          <p:cNvPr id="15" name="Shape 13"/>
          <p:cNvSpPr/>
          <p:nvPr/>
        </p:nvSpPr>
        <p:spPr>
          <a:xfrm>
            <a:off x="566928" y="1645920"/>
            <a:ext cx="7589520" cy="786384"/>
          </a:xfrm>
          <a:prstGeom prst="roundRect">
            <a:avLst>
              <a:gd name="adj" fmla="val 10465"/>
            </a:avLst>
          </a:prstGeom>
          <a:solidFill>
            <a:srgbClr val="FBE7E5"/>
          </a:solidFill>
          <a:ln w="12700">
            <a:solidFill>
              <a:srgbClr val="FBE7E5"/>
            </a:solidFill>
            <a:prstDash val="solid"/>
          </a:ln>
        </p:spPr>
      </p:sp>
      <p:sp>
        <p:nvSpPr>
          <p:cNvPr id="16" name="Text 14"/>
          <p:cNvSpPr/>
          <p:nvPr/>
        </p:nvSpPr>
        <p:spPr>
          <a:xfrm>
            <a:off x="841248" y="1719072"/>
            <a:ext cx="2286000" cy="292608"/>
          </a:xfrm>
          <a:prstGeom prst="rect">
            <a:avLst/>
          </a:prstGeom>
          <a:noFill/>
          <a:ln/>
        </p:spPr>
        <p:txBody>
          <a:bodyPr wrap="square" lIns="0" tIns="0" rIns="0" bIns="0" rtlCol="0" anchor="ctr"/>
          <a:lstStyle/>
          <a:p>
            <a:pPr indent="0" marL="0">
              <a:buNone/>
            </a:pPr>
            <a:r>
              <a:rPr lang="en-US" sz="1300" b="1" dirty="0">
                <a:solidFill>
                  <a:srgbClr val="C0281C"/>
                </a:solidFill>
                <a:latin typeface="Calibri" pitchFamily="34" charset="0"/>
                <a:ea typeface="Calibri" pitchFamily="34" charset="-122"/>
                <a:cs typeface="Calibri" pitchFamily="34" charset="-120"/>
              </a:rPr>
              <a:t>RED · emergency</a:t>
            </a:r>
            <a:endParaRPr lang="en-US" sz="1300" dirty="0"/>
          </a:p>
        </p:txBody>
      </p:sp>
      <p:sp>
        <p:nvSpPr>
          <p:cNvPr id="17" name="Text 15"/>
          <p:cNvSpPr/>
          <p:nvPr/>
        </p:nvSpPr>
        <p:spPr>
          <a:xfrm>
            <a:off x="841248" y="2048256"/>
            <a:ext cx="2286000" cy="274320"/>
          </a:xfrm>
          <a:prstGeom prst="rect">
            <a:avLst/>
          </a:prstGeom>
          <a:noFill/>
          <a:ln/>
        </p:spPr>
        <p:txBody>
          <a:bodyPr wrap="square" lIns="0" tIns="0" rIns="0" bIns="0" rtlCol="0" anchor="ctr"/>
          <a:lstStyle/>
          <a:p>
            <a:pPr indent="0" marL="0">
              <a:buNone/>
            </a:pPr>
            <a:r>
              <a:rPr lang="en-US" sz="1050" dirty="0">
                <a:solidFill>
                  <a:srgbClr val="C0281C"/>
                </a:solidFill>
                <a:latin typeface="Calibri" pitchFamily="34" charset="0"/>
                <a:ea typeface="Calibri" pitchFamily="34" charset="-122"/>
                <a:cs typeface="Calibri" pitchFamily="34" charset="-120"/>
              </a:rPr>
              <a:t>R1  R2  R3</a:t>
            </a:r>
            <a:endParaRPr lang="en-US" sz="1050" dirty="0"/>
          </a:p>
        </p:txBody>
      </p:sp>
      <p:sp>
        <p:nvSpPr>
          <p:cNvPr id="18" name="Text 16"/>
          <p:cNvSpPr/>
          <p:nvPr/>
        </p:nvSpPr>
        <p:spPr>
          <a:xfrm>
            <a:off x="3310128" y="1645920"/>
            <a:ext cx="4663440" cy="786384"/>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Systemic signs · lymphangitis · dehiscence or pus</a:t>
            </a:r>
            <a:endParaRPr lang="en-US" sz="1150" dirty="0"/>
          </a:p>
        </p:txBody>
      </p:sp>
      <p:sp>
        <p:nvSpPr>
          <p:cNvPr id="19" name="Text 17"/>
          <p:cNvSpPr/>
          <p:nvPr/>
        </p:nvSpPr>
        <p:spPr>
          <a:xfrm>
            <a:off x="4133088" y="2432304"/>
            <a:ext cx="365760" cy="146304"/>
          </a:xfrm>
          <a:prstGeom prst="rect">
            <a:avLst/>
          </a:prstGeom>
          <a:noFill/>
          <a:ln/>
        </p:spPr>
        <p:txBody>
          <a:bodyPr wrap="square" lIns="0" tIns="0" rIns="0" bIns="0" rtlCol="0" anchor="ctr"/>
          <a:lstStyle/>
          <a:p>
            <a:pPr algn="ct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566928" y="2578608"/>
            <a:ext cx="7589520" cy="786384"/>
          </a:xfrm>
          <a:prstGeom prst="roundRect">
            <a:avLst>
              <a:gd name="adj" fmla="val 10465"/>
            </a:avLst>
          </a:prstGeom>
          <a:solidFill>
            <a:srgbClr val="FCEADB"/>
          </a:solidFill>
          <a:ln w="12700">
            <a:solidFill>
              <a:srgbClr val="FCEADB"/>
            </a:solidFill>
            <a:prstDash val="solid"/>
          </a:ln>
        </p:spPr>
      </p:sp>
      <p:sp>
        <p:nvSpPr>
          <p:cNvPr id="21" name="Text 19"/>
          <p:cNvSpPr/>
          <p:nvPr/>
        </p:nvSpPr>
        <p:spPr>
          <a:xfrm>
            <a:off x="841248" y="2651760"/>
            <a:ext cx="2286000" cy="292608"/>
          </a:xfrm>
          <a:prstGeom prst="rect">
            <a:avLst/>
          </a:prstGeom>
          <a:noFill/>
          <a:ln/>
        </p:spPr>
        <p:txBody>
          <a:bodyPr wrap="square" lIns="0" tIns="0" rIns="0" bIns="0" rtlCol="0" anchor="ctr"/>
          <a:lstStyle/>
          <a:p>
            <a:pPr indent="0" marL="0">
              <a:buNone/>
            </a:pPr>
            <a:r>
              <a:rPr lang="en-US" sz="1300" b="1" dirty="0">
                <a:solidFill>
                  <a:srgbClr val="C25C07"/>
                </a:solidFill>
                <a:latin typeface="Calibri" pitchFamily="34" charset="0"/>
                <a:ea typeface="Calibri" pitchFamily="34" charset="-122"/>
                <a:cs typeface="Calibri" pitchFamily="34" charset="-120"/>
              </a:rPr>
              <a:t>ORANGE · suspected</a:t>
            </a:r>
            <a:endParaRPr lang="en-US" sz="1300" dirty="0"/>
          </a:p>
        </p:txBody>
      </p:sp>
      <p:sp>
        <p:nvSpPr>
          <p:cNvPr id="22" name="Text 20"/>
          <p:cNvSpPr/>
          <p:nvPr/>
        </p:nvSpPr>
        <p:spPr>
          <a:xfrm>
            <a:off x="841248" y="2980944"/>
            <a:ext cx="2286000" cy="274320"/>
          </a:xfrm>
          <a:prstGeom prst="rect">
            <a:avLst/>
          </a:prstGeom>
          <a:noFill/>
          <a:ln/>
        </p:spPr>
        <p:txBody>
          <a:bodyPr wrap="square" lIns="0" tIns="0" rIns="0" bIns="0" rtlCol="0" anchor="ctr"/>
          <a:lstStyle/>
          <a:p>
            <a:pPr indent="0" marL="0">
              <a:buNone/>
            </a:pPr>
            <a:r>
              <a:rPr lang="en-US" sz="1050" dirty="0">
                <a:solidFill>
                  <a:srgbClr val="C25C07"/>
                </a:solidFill>
                <a:latin typeface="Calibri" pitchFamily="34" charset="0"/>
                <a:ea typeface="Calibri" pitchFamily="34" charset="-122"/>
                <a:cs typeface="Calibri" pitchFamily="34" charset="-120"/>
              </a:rPr>
              <a:t>R9  R4  R5  R11  R12</a:t>
            </a:r>
            <a:endParaRPr lang="en-US" sz="1050" dirty="0"/>
          </a:p>
        </p:txBody>
      </p:sp>
      <p:sp>
        <p:nvSpPr>
          <p:cNvPr id="23" name="Text 21"/>
          <p:cNvSpPr/>
          <p:nvPr/>
        </p:nvSpPr>
        <p:spPr>
          <a:xfrm>
            <a:off x="3310128" y="2578608"/>
            <a:ext cx="4663440" cy="786384"/>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Feeling unwell · purulent discharge · fever · persistence</a:t>
            </a:r>
            <a:endParaRPr lang="en-US" sz="1150" dirty="0"/>
          </a:p>
        </p:txBody>
      </p:sp>
      <p:sp>
        <p:nvSpPr>
          <p:cNvPr id="24" name="Text 22"/>
          <p:cNvSpPr/>
          <p:nvPr/>
        </p:nvSpPr>
        <p:spPr>
          <a:xfrm>
            <a:off x="4133088" y="3364992"/>
            <a:ext cx="365760" cy="146304"/>
          </a:xfrm>
          <a:prstGeom prst="rect">
            <a:avLst/>
          </a:prstGeom>
          <a:noFill/>
          <a:ln/>
        </p:spPr>
        <p:txBody>
          <a:bodyPr wrap="square" lIns="0" tIns="0" rIns="0" bIns="0" rtlCol="0" anchor="ctr"/>
          <a:lstStyle/>
          <a:p>
            <a:pPr algn="ct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25" name="Shape 23"/>
          <p:cNvSpPr/>
          <p:nvPr/>
        </p:nvSpPr>
        <p:spPr>
          <a:xfrm>
            <a:off x="566928" y="3511296"/>
            <a:ext cx="7589520" cy="786384"/>
          </a:xfrm>
          <a:prstGeom prst="roundRect">
            <a:avLst>
              <a:gd name="adj" fmla="val 10465"/>
            </a:avLst>
          </a:prstGeom>
          <a:solidFill>
            <a:srgbClr val="FBF2DC"/>
          </a:solidFill>
          <a:ln w="12700">
            <a:solidFill>
              <a:srgbClr val="FBF2DC"/>
            </a:solidFill>
            <a:prstDash val="solid"/>
          </a:ln>
        </p:spPr>
      </p:sp>
      <p:sp>
        <p:nvSpPr>
          <p:cNvPr id="26" name="Text 24"/>
          <p:cNvSpPr/>
          <p:nvPr/>
        </p:nvSpPr>
        <p:spPr>
          <a:xfrm>
            <a:off x="841248" y="3584448"/>
            <a:ext cx="2286000" cy="292608"/>
          </a:xfrm>
          <a:prstGeom prst="rect">
            <a:avLst/>
          </a:prstGeom>
          <a:noFill/>
          <a:ln/>
        </p:spPr>
        <p:txBody>
          <a:bodyPr wrap="square" lIns="0" tIns="0" rIns="0" bIns="0" rtlCol="0" anchor="ctr"/>
          <a:lstStyle/>
          <a:p>
            <a:pPr indent="0" marL="0">
              <a:buNone/>
            </a:pPr>
            <a:r>
              <a:rPr lang="en-US" sz="1300" b="1" dirty="0">
                <a:solidFill>
                  <a:srgbClr val="9C6D00"/>
                </a:solidFill>
                <a:latin typeface="Calibri" pitchFamily="34" charset="0"/>
                <a:ea typeface="Calibri" pitchFamily="34" charset="-122"/>
                <a:cs typeface="Calibri" pitchFamily="34" charset="-120"/>
              </a:rPr>
              <a:t>YELLOW · abnormal</a:t>
            </a:r>
            <a:endParaRPr lang="en-US" sz="1300" dirty="0"/>
          </a:p>
        </p:txBody>
      </p:sp>
      <p:sp>
        <p:nvSpPr>
          <p:cNvPr id="27" name="Text 25"/>
          <p:cNvSpPr/>
          <p:nvPr/>
        </p:nvSpPr>
        <p:spPr>
          <a:xfrm>
            <a:off x="841248" y="3913632"/>
            <a:ext cx="2286000" cy="274320"/>
          </a:xfrm>
          <a:prstGeom prst="rect">
            <a:avLst/>
          </a:prstGeom>
          <a:noFill/>
          <a:ln/>
        </p:spPr>
        <p:txBody>
          <a:bodyPr wrap="square" lIns="0" tIns="0" rIns="0" bIns="0" rtlCol="0" anchor="ctr"/>
          <a:lstStyle/>
          <a:p>
            <a:pPr indent="0" marL="0">
              <a:buNone/>
            </a:pPr>
            <a:r>
              <a:rPr lang="en-US" sz="1050" dirty="0">
                <a:solidFill>
                  <a:srgbClr val="9C6D00"/>
                </a:solidFill>
                <a:latin typeface="Calibri" pitchFamily="34" charset="0"/>
                <a:ea typeface="Calibri" pitchFamily="34" charset="-122"/>
                <a:cs typeface="Calibri" pitchFamily="34" charset="-120"/>
              </a:rPr>
              <a:t>R6b  R6a  R7  R10</a:t>
            </a:r>
            <a:endParaRPr lang="en-US" sz="1050" dirty="0"/>
          </a:p>
        </p:txBody>
      </p:sp>
      <p:sp>
        <p:nvSpPr>
          <p:cNvPr id="28" name="Text 26"/>
          <p:cNvSpPr/>
          <p:nvPr/>
        </p:nvSpPr>
        <p:spPr>
          <a:xfrm>
            <a:off x="3310128" y="3511296"/>
            <a:ext cx="4663440" cy="786384"/>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Inflammation · wound gap · bleeding on anticoagulants</a:t>
            </a:r>
            <a:endParaRPr lang="en-US" sz="1150" dirty="0"/>
          </a:p>
        </p:txBody>
      </p:sp>
      <p:sp>
        <p:nvSpPr>
          <p:cNvPr id="29" name="Text 27"/>
          <p:cNvSpPr/>
          <p:nvPr/>
        </p:nvSpPr>
        <p:spPr>
          <a:xfrm>
            <a:off x="4133088" y="4297680"/>
            <a:ext cx="365760" cy="146304"/>
          </a:xfrm>
          <a:prstGeom prst="rect">
            <a:avLst/>
          </a:prstGeom>
          <a:noFill/>
          <a:ln/>
        </p:spPr>
        <p:txBody>
          <a:bodyPr wrap="square" lIns="0" tIns="0" rIns="0" bIns="0" rtlCol="0" anchor="ctr"/>
          <a:lstStyle/>
          <a:p>
            <a:pPr algn="ct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30" name="Shape 28"/>
          <p:cNvSpPr/>
          <p:nvPr/>
        </p:nvSpPr>
        <p:spPr>
          <a:xfrm>
            <a:off x="566928" y="4443984"/>
            <a:ext cx="7589520" cy="786384"/>
          </a:xfrm>
          <a:prstGeom prst="roundRect">
            <a:avLst>
              <a:gd name="adj" fmla="val 10465"/>
            </a:avLst>
          </a:prstGeom>
          <a:solidFill>
            <a:srgbClr val="E8F6EE"/>
          </a:solidFill>
          <a:ln w="12700">
            <a:solidFill>
              <a:srgbClr val="E8F6EE"/>
            </a:solidFill>
            <a:prstDash val="solid"/>
          </a:ln>
        </p:spPr>
      </p:sp>
      <p:sp>
        <p:nvSpPr>
          <p:cNvPr id="31" name="Text 29"/>
          <p:cNvSpPr/>
          <p:nvPr/>
        </p:nvSpPr>
        <p:spPr>
          <a:xfrm>
            <a:off x="841248" y="4517136"/>
            <a:ext cx="2286000" cy="292608"/>
          </a:xfrm>
          <a:prstGeom prst="rect">
            <a:avLst/>
          </a:prstGeom>
          <a:noFill/>
          <a:ln/>
        </p:spPr>
        <p:txBody>
          <a:bodyPr wrap="square" lIns="0" tIns="0" rIns="0" bIns="0" rtlCol="0" anchor="ctr"/>
          <a:lstStyle/>
          <a:p>
            <a:pPr indent="0" marL="0">
              <a:buNone/>
            </a:pPr>
            <a:r>
              <a:rPr lang="en-US" sz="1300" b="1" dirty="0">
                <a:solidFill>
                  <a:srgbClr val="1A7F4B"/>
                </a:solidFill>
                <a:latin typeface="Calibri" pitchFamily="34" charset="0"/>
                <a:ea typeface="Calibri" pitchFamily="34" charset="-122"/>
                <a:cs typeface="Calibri" pitchFamily="34" charset="-120"/>
              </a:rPr>
              <a:t>GREEN · all clear</a:t>
            </a:r>
            <a:endParaRPr lang="en-US" sz="1300" dirty="0"/>
          </a:p>
        </p:txBody>
      </p:sp>
      <p:sp>
        <p:nvSpPr>
          <p:cNvPr id="32" name="Text 30"/>
          <p:cNvSpPr/>
          <p:nvPr/>
        </p:nvSpPr>
        <p:spPr>
          <a:xfrm>
            <a:off x="841248" y="4846320"/>
            <a:ext cx="2286000" cy="274320"/>
          </a:xfrm>
          <a:prstGeom prst="rect">
            <a:avLst/>
          </a:prstGeom>
          <a:noFill/>
          <a:ln/>
        </p:spPr>
        <p:txBody>
          <a:bodyPr wrap="square" lIns="0" tIns="0" rIns="0" bIns="0" rtlCol="0" anchor="ctr"/>
          <a:lstStyle/>
          <a:p>
            <a:pPr indent="0" marL="0">
              <a:buNone/>
            </a:pPr>
            <a:r>
              <a:rPr lang="en-US" sz="1050" dirty="0">
                <a:solidFill>
                  <a:srgbClr val="1A7F4B"/>
                </a:solidFill>
                <a:latin typeface="Calibri" pitchFamily="34" charset="0"/>
                <a:ea typeface="Calibri" pitchFamily="34" charset="-122"/>
                <a:cs typeface="Calibri" pitchFamily="34" charset="-120"/>
              </a:rPr>
              <a:t>R8</a:t>
            </a:r>
            <a:endParaRPr lang="en-US" sz="1050" dirty="0"/>
          </a:p>
        </p:txBody>
      </p:sp>
      <p:sp>
        <p:nvSpPr>
          <p:cNvPr id="33" name="Text 31"/>
          <p:cNvSpPr/>
          <p:nvPr/>
        </p:nvSpPr>
        <p:spPr>
          <a:xfrm>
            <a:off x="3310128" y="4443984"/>
            <a:ext cx="4663440" cy="786384"/>
          </a:xfrm>
          <a:prstGeom prst="rect">
            <a:avLst/>
          </a:prstGeom>
          <a:noFill/>
          <a:ln/>
        </p:spPr>
        <p:txBody>
          <a:bodyPr wrap="square" lIns="0" tIns="0" rIns="0" bIns="0" rtlCol="0" anchor="ctr"/>
          <a:lstStyle/>
          <a:p>
            <a:pPr indent="0" marL="0">
              <a:buNone/>
            </a:pPr>
            <a:r>
              <a:rPr lang="en-US" sz="1150" dirty="0">
                <a:solidFill>
                  <a:srgbClr val="12202E"/>
                </a:solidFill>
                <a:latin typeface="Calibri" pitchFamily="34" charset="0"/>
                <a:ea typeface="Calibri" pitchFamily="34" charset="-122"/>
                <a:cs typeface="Calibri" pitchFamily="34" charset="-120"/>
              </a:rPr>
              <a:t>Catch-all — never “everything is fine” without a contact hint</a:t>
            </a:r>
            <a:endParaRPr lang="en-US" sz="1150" dirty="0"/>
          </a:p>
        </p:txBody>
      </p:sp>
      <p:sp>
        <p:nvSpPr>
          <p:cNvPr id="34" name="Shape 32"/>
          <p:cNvSpPr/>
          <p:nvPr/>
        </p:nvSpPr>
        <p:spPr>
          <a:xfrm>
            <a:off x="8430768" y="1645920"/>
            <a:ext cx="3200400" cy="1737360"/>
          </a:xfrm>
          <a:prstGeom prst="roundRect">
            <a:avLst>
              <a:gd name="adj" fmla="val 4737"/>
            </a:avLst>
          </a:prstGeom>
          <a:solidFill>
            <a:srgbClr val="F5F7FA"/>
          </a:solidFill>
          <a:ln w="12700">
            <a:solidFill>
              <a:srgbClr val="DDE5EE"/>
            </a:solidFill>
            <a:prstDash val="solid"/>
          </a:ln>
        </p:spPr>
      </p:sp>
      <p:sp>
        <p:nvSpPr>
          <p:cNvPr id="35" name="Text 33"/>
          <p:cNvSpPr/>
          <p:nvPr/>
        </p:nvSpPr>
        <p:spPr>
          <a:xfrm>
            <a:off x="8668512" y="1810512"/>
            <a:ext cx="2743200" cy="256032"/>
          </a:xfrm>
          <a:prstGeom prst="rect">
            <a:avLst/>
          </a:prstGeom>
          <a:noFill/>
          <a:ln/>
        </p:spPr>
        <p:txBody>
          <a:bodyPr wrap="square" lIns="0" tIns="0" rIns="0" bIns="0" rtlCol="0" anchor="ctr"/>
          <a:lstStyle/>
          <a:p>
            <a:pPr indent="0" marL="0">
              <a:buNone/>
            </a:pPr>
            <a:r>
              <a:rPr lang="en-US" sz="1200" b="1" dirty="0">
                <a:solidFill>
                  <a:srgbClr val="12202E"/>
                </a:solidFill>
                <a:latin typeface="Calibri" pitchFamily="34" charset="0"/>
                <a:ea typeface="Calibri" pitchFamily="34" charset="-122"/>
                <a:cs typeface="Calibri" pitchFamily="34" charset="-120"/>
              </a:rPr>
              <a:t>Why worst-first</a:t>
            </a:r>
            <a:endParaRPr lang="en-US" sz="1200" dirty="0"/>
          </a:p>
        </p:txBody>
      </p:sp>
      <p:sp>
        <p:nvSpPr>
          <p:cNvPr id="36" name="Text 34"/>
          <p:cNvSpPr/>
          <p:nvPr/>
        </p:nvSpPr>
        <p:spPr>
          <a:xfrm>
            <a:off x="8668512" y="2139696"/>
            <a:ext cx="2743200" cy="1234440"/>
          </a:xfrm>
          <a:prstGeom prst="rect">
            <a:avLst/>
          </a:prstGeom>
          <a:noFill/>
          <a:ln/>
        </p:spPr>
        <p:txBody>
          <a:bodyPr wrap="square" lIns="0" tIns="0" rIns="0" bIns="0" rtlCol="0" anchor="t"/>
          <a:lstStyle/>
          <a:p>
            <a:pPr indent="0" marL="0">
              <a:lnSpc>
                <a:spcPts val="1500"/>
              </a:lnSpc>
              <a:buNone/>
            </a:pPr>
            <a:r>
              <a:rPr lang="en-US" sz="1100" dirty="0">
                <a:solidFill>
                  <a:srgbClr val="5D7186"/>
                </a:solidFill>
                <a:latin typeface="Calibri" pitchFamily="34" charset="0"/>
                <a:ea typeface="Calibri" pitchFamily="34" charset="-122"/>
                <a:cs typeface="Calibri" pitchFamily="34" charset="-120"/>
              </a:rPr>
              <a:t>A false alarm costs a phone call. False reassurance can delay an infection by days. We accept a higher false-alarm rate on purpose.</a:t>
            </a:r>
            <a:endParaRPr lang="en-US" sz="1100" dirty="0"/>
          </a:p>
        </p:txBody>
      </p:sp>
      <p:sp>
        <p:nvSpPr>
          <p:cNvPr id="37" name="Shape 35"/>
          <p:cNvSpPr/>
          <p:nvPr/>
        </p:nvSpPr>
        <p:spPr>
          <a:xfrm>
            <a:off x="8430768" y="3566160"/>
            <a:ext cx="3200400" cy="1755648"/>
          </a:xfrm>
          <a:prstGeom prst="roundRect">
            <a:avLst>
              <a:gd name="adj" fmla="val 4688"/>
            </a:avLst>
          </a:prstGeom>
          <a:solidFill>
            <a:srgbClr val="FFFFFF"/>
          </a:solidFill>
          <a:ln w="12700">
            <a:solidFill>
              <a:srgbClr val="DDE5EE"/>
            </a:solidFill>
            <a:prstDash val="solid"/>
          </a:ln>
        </p:spPr>
      </p:sp>
      <p:sp>
        <p:nvSpPr>
          <p:cNvPr id="38" name="Text 36"/>
          <p:cNvSpPr/>
          <p:nvPr/>
        </p:nvSpPr>
        <p:spPr>
          <a:xfrm>
            <a:off x="8668512" y="3730752"/>
            <a:ext cx="2743200" cy="256032"/>
          </a:xfrm>
          <a:prstGeom prst="rect">
            <a:avLst/>
          </a:prstGeom>
          <a:noFill/>
          <a:ln/>
        </p:spPr>
        <p:txBody>
          <a:bodyPr wrap="square" lIns="0" tIns="0" rIns="0" bIns="0" rtlCol="0" anchor="ctr"/>
          <a:lstStyle/>
          <a:p>
            <a:pPr indent="0" marL="0">
              <a:buNone/>
            </a:pPr>
            <a:r>
              <a:rPr lang="en-US" sz="1200" b="1" dirty="0">
                <a:solidFill>
                  <a:srgbClr val="12202E"/>
                </a:solidFill>
                <a:latin typeface="Calibri" pitchFamily="34" charset="0"/>
                <a:ea typeface="Calibri" pitchFamily="34" charset="-122"/>
                <a:cs typeface="Calibri" pitchFamily="34" charset="-120"/>
              </a:rPr>
              <a:t>Two-pass evaluation</a:t>
            </a:r>
            <a:endParaRPr lang="en-US" sz="1200" dirty="0"/>
          </a:p>
        </p:txBody>
      </p:sp>
      <p:sp>
        <p:nvSpPr>
          <p:cNvPr id="39" name="Text 37"/>
          <p:cNvSpPr/>
          <p:nvPr/>
        </p:nvSpPr>
        <p:spPr>
          <a:xfrm>
            <a:off x="8668512" y="4059936"/>
            <a:ext cx="2743200" cy="1188720"/>
          </a:xfrm>
          <a:prstGeom prst="rect">
            <a:avLst/>
          </a:prstGeom>
          <a:noFill/>
          <a:ln/>
        </p:spPr>
        <p:txBody>
          <a:bodyPr wrap="square" lIns="0" tIns="0" rIns="0" bIns="0" rtlCol="0" anchor="t"/>
          <a:lstStyle/>
          <a:p>
            <a:pPr indent="0" marL="0">
              <a:lnSpc>
                <a:spcPts val="1500"/>
              </a:lnSpc>
              <a:buNone/>
            </a:pPr>
            <a:r>
              <a:rPr lang="en-US" sz="1100" dirty="0">
                <a:solidFill>
                  <a:srgbClr val="5D7186"/>
                </a:solidFill>
                <a:latin typeface="Calibri" pitchFamily="34" charset="0"/>
                <a:ea typeface="Calibri" pitchFamily="34" charset="-122"/>
                <a:cs typeface="Calibri" pitchFamily="34" charset="-120"/>
              </a:rPr>
              <a:t>One rule needs the classification as its own input. The rules run twice — the worse result wins, so a second pass can escalate but never de-escalate.</a:t>
            </a:r>
            <a:endParaRPr lang="en-US" sz="1100" dirty="0"/>
          </a:p>
        </p:txBody>
      </p:sp>
      <p:sp>
        <p:nvSpPr>
          <p:cNvPr id="40" name="Text 38"/>
          <p:cNvSpPr/>
          <p:nvPr/>
        </p:nvSpPr>
        <p:spPr>
          <a:xfrm>
            <a:off x="566928" y="5577840"/>
            <a:ext cx="11064240" cy="365760"/>
          </a:xfrm>
          <a:prstGeom prst="rect">
            <a:avLst/>
          </a:prstGeom>
          <a:noFill/>
          <a:ln/>
        </p:spPr>
        <p:txBody>
          <a:bodyPr wrap="square" lIns="0" tIns="0" rIns="0" bIns="0" rtlCol="0" anchor="ctr"/>
          <a:lstStyle/>
          <a:p>
            <a:pPr indent="0" marL="0">
              <a:buNone/>
            </a:pPr>
            <a:r>
              <a:rPr lang="en-US" sz="1150" i="1" dirty="0">
                <a:solidFill>
                  <a:srgbClr val="5D7186"/>
                </a:solidFill>
                <a:latin typeface="Calibri" pitchFamily="34" charset="0"/>
                <a:ea typeface="Calibri" pitchFamily="34" charset="-122"/>
                <a:cs typeface="Calibri" pitchFamily="34" charset="-120"/>
              </a:rPr>
              <a:t>All thresholds are named constants in the L3 with their source — a guideline change is one line, not a release.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L1 → L2 · TRANSLATION CHALLENGES</a:t>
            </a:r>
            <a:endParaRPr lang="en-US" sz="1050" dirty="0"/>
          </a:p>
        </p:txBody>
      </p:sp>
      <p:sp>
        <p:nvSpPr>
          <p:cNvPr id="3" name="Text 1"/>
          <p:cNvSpPr/>
          <p:nvPr/>
        </p:nvSpPr>
        <p:spPr>
          <a:xfrm>
            <a:off x="566928" y="640080"/>
            <a:ext cx="841248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Nine places where the guideline left us on our own</a:t>
            </a:r>
            <a:endParaRPr lang="en-US" sz="2700" dirty="0"/>
          </a:p>
        </p:txBody>
      </p:sp>
      <p:sp>
        <p:nvSpPr>
          <p:cNvPr id="4" name="Shape 2"/>
          <p:cNvSpPr/>
          <p:nvPr/>
        </p:nvSpPr>
        <p:spPr>
          <a:xfrm>
            <a:off x="9290304" y="475488"/>
            <a:ext cx="475488" cy="274320"/>
          </a:xfrm>
          <a:prstGeom prst="roundRect">
            <a:avLst>
              <a:gd name="adj" fmla="val 46667"/>
            </a:avLst>
          </a:prstGeom>
          <a:solidFill>
            <a:srgbClr val="F5F7FA"/>
          </a:solidFill>
          <a:ln w="12700">
            <a:solidFill>
              <a:srgbClr val="DDE5EE"/>
            </a:solidFill>
            <a:prstDash val="solid"/>
          </a:ln>
        </p:spPr>
      </p:sp>
      <p:sp>
        <p:nvSpPr>
          <p:cNvPr id="5" name="Text 3"/>
          <p:cNvSpPr/>
          <p:nvPr/>
        </p:nvSpPr>
        <p:spPr>
          <a:xfrm>
            <a:off x="9290304"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L1</a:t>
            </a:r>
            <a:endParaRPr lang="en-US" sz="1050" dirty="0"/>
          </a:p>
        </p:txBody>
      </p:sp>
      <p:sp>
        <p:nvSpPr>
          <p:cNvPr id="6" name="Text 4"/>
          <p:cNvSpPr/>
          <p:nvPr/>
        </p:nvSpPr>
        <p:spPr>
          <a:xfrm>
            <a:off x="9765792"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9912096" y="475488"/>
            <a:ext cx="475488" cy="274320"/>
          </a:xfrm>
          <a:prstGeom prst="roundRect">
            <a:avLst>
              <a:gd name="adj" fmla="val 46667"/>
            </a:avLst>
          </a:prstGeom>
          <a:solidFill>
            <a:srgbClr val="12202E"/>
          </a:solidFill>
          <a:ln w="12700">
            <a:solidFill>
              <a:srgbClr val="12202E"/>
            </a:solidFill>
            <a:prstDash val="solid"/>
          </a:ln>
        </p:spPr>
      </p:sp>
      <p:sp>
        <p:nvSpPr>
          <p:cNvPr id="8" name="Text 6"/>
          <p:cNvSpPr/>
          <p:nvPr/>
        </p:nvSpPr>
        <p:spPr>
          <a:xfrm>
            <a:off x="9912096" y="475488"/>
            <a:ext cx="47548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L2</a:t>
            </a:r>
            <a:endParaRPr lang="en-US" sz="1050" dirty="0"/>
          </a:p>
        </p:txBody>
      </p:sp>
      <p:sp>
        <p:nvSpPr>
          <p:cNvPr id="9" name="Text 7"/>
          <p:cNvSpPr/>
          <p:nvPr/>
        </p:nvSpPr>
        <p:spPr>
          <a:xfrm>
            <a:off x="10387584"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533888" y="475488"/>
            <a:ext cx="475488" cy="274320"/>
          </a:xfrm>
          <a:prstGeom prst="roundRect">
            <a:avLst>
              <a:gd name="adj" fmla="val 46667"/>
            </a:avLst>
          </a:prstGeom>
          <a:solidFill>
            <a:srgbClr val="F5F7FA"/>
          </a:solidFill>
          <a:ln w="12700">
            <a:solidFill>
              <a:srgbClr val="DDE5EE"/>
            </a:solidFill>
            <a:prstDash val="solid"/>
          </a:ln>
        </p:spPr>
      </p:sp>
      <p:sp>
        <p:nvSpPr>
          <p:cNvPr id="11" name="Text 9"/>
          <p:cNvSpPr/>
          <p:nvPr/>
        </p:nvSpPr>
        <p:spPr>
          <a:xfrm>
            <a:off x="10533888"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L3</a:t>
            </a:r>
            <a:endParaRPr lang="en-US" sz="1050" dirty="0"/>
          </a:p>
        </p:txBody>
      </p:sp>
      <p:sp>
        <p:nvSpPr>
          <p:cNvPr id="12" name="Text 10"/>
          <p:cNvSpPr/>
          <p:nvPr/>
        </p:nvSpPr>
        <p:spPr>
          <a:xfrm>
            <a:off x="11009376"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1155680" y="475488"/>
            <a:ext cx="475488" cy="274320"/>
          </a:xfrm>
          <a:prstGeom prst="roundRect">
            <a:avLst>
              <a:gd name="adj" fmla="val 46667"/>
            </a:avLst>
          </a:prstGeom>
          <a:solidFill>
            <a:srgbClr val="F5F7FA"/>
          </a:solidFill>
          <a:ln w="12700">
            <a:solidFill>
              <a:srgbClr val="DDE5EE"/>
            </a:solidFill>
            <a:prstDash val="solid"/>
          </a:ln>
        </p:spPr>
      </p:sp>
      <p:sp>
        <p:nvSpPr>
          <p:cNvPr id="14" name="Text 12"/>
          <p:cNvSpPr/>
          <p:nvPr/>
        </p:nvSpPr>
        <p:spPr>
          <a:xfrm>
            <a:off x="11155680"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L4</a:t>
            </a:r>
            <a:endParaRPr lang="en-US" sz="1050" dirty="0"/>
          </a:p>
        </p:txBody>
      </p:sp>
      <p:sp>
        <p:nvSpPr>
          <p:cNvPr id="15" name="Shape 13"/>
          <p:cNvSpPr/>
          <p:nvPr/>
        </p:nvSpPr>
        <p:spPr>
          <a:xfrm>
            <a:off x="566928" y="1645920"/>
            <a:ext cx="3474720" cy="640080"/>
          </a:xfrm>
          <a:prstGeom prst="roundRect">
            <a:avLst>
              <a:gd name="adj" fmla="val 12857"/>
            </a:avLst>
          </a:prstGeom>
          <a:solidFill>
            <a:srgbClr val="FBE7E5"/>
          </a:solidFill>
          <a:ln w="12700">
            <a:solidFill>
              <a:srgbClr val="F0ACA6"/>
            </a:solidFill>
            <a:prstDash val="solid"/>
          </a:ln>
        </p:spPr>
      </p:sp>
      <p:sp>
        <p:nvSpPr>
          <p:cNvPr id="16" name="Text 14"/>
          <p:cNvSpPr/>
          <p:nvPr/>
        </p:nvSpPr>
        <p:spPr>
          <a:xfrm>
            <a:off x="768096" y="1700784"/>
            <a:ext cx="640080" cy="256032"/>
          </a:xfrm>
          <a:prstGeom prst="rect">
            <a:avLst/>
          </a:prstGeom>
          <a:noFill/>
          <a:ln/>
        </p:spPr>
        <p:txBody>
          <a:bodyPr wrap="square" lIns="0" tIns="0" rIns="0" bIns="0" rtlCol="0" anchor="ctr"/>
          <a:lstStyle/>
          <a:p>
            <a:pPr indent="0" marL="0">
              <a:buNone/>
            </a:pPr>
            <a:r>
              <a:rPr lang="en-US" sz="1000" b="1" dirty="0">
                <a:solidFill>
                  <a:srgbClr val="C0281C"/>
                </a:solidFill>
                <a:latin typeface="Calibri" pitchFamily="34" charset="0"/>
                <a:ea typeface="Calibri" pitchFamily="34" charset="-122"/>
                <a:cs typeface="Calibri" pitchFamily="34" charset="-120"/>
              </a:rPr>
              <a:t>C-01</a:t>
            </a:r>
            <a:endParaRPr lang="en-US" sz="1000" dirty="0"/>
          </a:p>
        </p:txBody>
      </p:sp>
      <p:sp>
        <p:nvSpPr>
          <p:cNvPr id="17" name="Text 15"/>
          <p:cNvSpPr/>
          <p:nvPr/>
        </p:nvSpPr>
        <p:spPr>
          <a:xfrm>
            <a:off x="768096" y="1920240"/>
            <a:ext cx="3108960" cy="310896"/>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Professional instrument → layperson instrument</a:t>
            </a:r>
            <a:endParaRPr lang="en-US" sz="1100" dirty="0"/>
          </a:p>
        </p:txBody>
      </p:sp>
      <p:sp>
        <p:nvSpPr>
          <p:cNvPr id="18" name="Shape 16"/>
          <p:cNvSpPr/>
          <p:nvPr/>
        </p:nvSpPr>
        <p:spPr>
          <a:xfrm>
            <a:off x="4279392" y="1645920"/>
            <a:ext cx="3474720" cy="640080"/>
          </a:xfrm>
          <a:prstGeom prst="roundRect">
            <a:avLst>
              <a:gd name="adj" fmla="val 12857"/>
            </a:avLst>
          </a:prstGeom>
          <a:solidFill>
            <a:srgbClr val="FFFFFF"/>
          </a:solidFill>
          <a:ln w="12700">
            <a:solidFill>
              <a:srgbClr val="DDE5EE"/>
            </a:solidFill>
            <a:prstDash val="solid"/>
          </a:ln>
        </p:spPr>
      </p:sp>
      <p:sp>
        <p:nvSpPr>
          <p:cNvPr id="19" name="Text 17"/>
          <p:cNvSpPr/>
          <p:nvPr/>
        </p:nvSpPr>
        <p:spPr>
          <a:xfrm>
            <a:off x="4480560" y="1700784"/>
            <a:ext cx="640080" cy="256032"/>
          </a:xfrm>
          <a:prstGeom prst="rect">
            <a:avLst/>
          </a:prstGeom>
          <a:noFill/>
          <a:ln/>
        </p:spPr>
        <p:txBody>
          <a:bodyPr wrap="square" lIns="0" tIns="0" rIns="0" bIns="0" rtlCol="0" anchor="ctr"/>
          <a:lstStyle/>
          <a:p>
            <a:pPr indent="0" marL="0">
              <a:buNone/>
            </a:pPr>
            <a:r>
              <a:rPr lang="en-US" sz="1000" b="1" dirty="0">
                <a:solidFill>
                  <a:srgbClr val="5D7186"/>
                </a:solidFill>
                <a:latin typeface="Calibri" pitchFamily="34" charset="0"/>
                <a:ea typeface="Calibri" pitchFamily="34" charset="-122"/>
                <a:cs typeface="Calibri" pitchFamily="34" charset="-120"/>
              </a:rPr>
              <a:t>C-02</a:t>
            </a:r>
            <a:endParaRPr lang="en-US" sz="1000" dirty="0"/>
          </a:p>
        </p:txBody>
      </p:sp>
      <p:sp>
        <p:nvSpPr>
          <p:cNvPr id="20" name="Text 18"/>
          <p:cNvSpPr/>
          <p:nvPr/>
        </p:nvSpPr>
        <p:spPr>
          <a:xfrm>
            <a:off x="4480560" y="1920240"/>
            <a:ext cx="3108960" cy="310896"/>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Sub-grades without centimetres</a:t>
            </a:r>
            <a:endParaRPr lang="en-US" sz="1100" dirty="0"/>
          </a:p>
        </p:txBody>
      </p:sp>
      <p:sp>
        <p:nvSpPr>
          <p:cNvPr id="21" name="Shape 19"/>
          <p:cNvSpPr/>
          <p:nvPr/>
        </p:nvSpPr>
        <p:spPr>
          <a:xfrm>
            <a:off x="7991856" y="1645920"/>
            <a:ext cx="3474720" cy="640080"/>
          </a:xfrm>
          <a:prstGeom prst="roundRect">
            <a:avLst>
              <a:gd name="adj" fmla="val 12857"/>
            </a:avLst>
          </a:prstGeom>
          <a:solidFill>
            <a:srgbClr val="FBE7E5"/>
          </a:solidFill>
          <a:ln w="12700">
            <a:solidFill>
              <a:srgbClr val="F0ACA6"/>
            </a:solidFill>
            <a:prstDash val="solid"/>
          </a:ln>
        </p:spPr>
      </p:sp>
      <p:sp>
        <p:nvSpPr>
          <p:cNvPr id="22" name="Text 20"/>
          <p:cNvSpPr/>
          <p:nvPr/>
        </p:nvSpPr>
        <p:spPr>
          <a:xfrm>
            <a:off x="8193024" y="1700784"/>
            <a:ext cx="640080" cy="256032"/>
          </a:xfrm>
          <a:prstGeom prst="rect">
            <a:avLst/>
          </a:prstGeom>
          <a:noFill/>
          <a:ln/>
        </p:spPr>
        <p:txBody>
          <a:bodyPr wrap="square" lIns="0" tIns="0" rIns="0" bIns="0" rtlCol="0" anchor="ctr"/>
          <a:lstStyle/>
          <a:p>
            <a:pPr indent="0" marL="0">
              <a:buNone/>
            </a:pPr>
            <a:r>
              <a:rPr lang="en-US" sz="1000" b="1" dirty="0">
                <a:solidFill>
                  <a:srgbClr val="C0281C"/>
                </a:solidFill>
                <a:latin typeface="Calibri" pitchFamily="34" charset="0"/>
                <a:ea typeface="Calibri" pitchFamily="34" charset="-122"/>
                <a:cs typeface="Calibri" pitchFamily="34" charset="-120"/>
              </a:rPr>
              <a:t>C-03</a:t>
            </a:r>
            <a:endParaRPr lang="en-US" sz="1000" dirty="0"/>
          </a:p>
        </p:txBody>
      </p:sp>
      <p:sp>
        <p:nvSpPr>
          <p:cNvPr id="23" name="Text 21"/>
          <p:cNvSpPr/>
          <p:nvPr/>
        </p:nvSpPr>
        <p:spPr>
          <a:xfrm>
            <a:off x="8193024" y="1920240"/>
            <a:ext cx="3108960" cy="310896"/>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When does redness stop being normal?</a:t>
            </a:r>
            <a:endParaRPr lang="en-US" sz="1100" dirty="0"/>
          </a:p>
        </p:txBody>
      </p:sp>
      <p:sp>
        <p:nvSpPr>
          <p:cNvPr id="24" name="Shape 22"/>
          <p:cNvSpPr/>
          <p:nvPr/>
        </p:nvSpPr>
        <p:spPr>
          <a:xfrm>
            <a:off x="566928" y="2395728"/>
            <a:ext cx="3474720" cy="640080"/>
          </a:xfrm>
          <a:prstGeom prst="roundRect">
            <a:avLst>
              <a:gd name="adj" fmla="val 12857"/>
            </a:avLst>
          </a:prstGeom>
          <a:solidFill>
            <a:srgbClr val="FFFFFF"/>
          </a:solidFill>
          <a:ln w="12700">
            <a:solidFill>
              <a:srgbClr val="DDE5EE"/>
            </a:solidFill>
            <a:prstDash val="solid"/>
          </a:ln>
        </p:spPr>
      </p:sp>
      <p:sp>
        <p:nvSpPr>
          <p:cNvPr id="25" name="Text 23"/>
          <p:cNvSpPr/>
          <p:nvPr/>
        </p:nvSpPr>
        <p:spPr>
          <a:xfrm>
            <a:off x="768096" y="2450592"/>
            <a:ext cx="640080" cy="256032"/>
          </a:xfrm>
          <a:prstGeom prst="rect">
            <a:avLst/>
          </a:prstGeom>
          <a:noFill/>
          <a:ln/>
        </p:spPr>
        <p:txBody>
          <a:bodyPr wrap="square" lIns="0" tIns="0" rIns="0" bIns="0" rtlCol="0" anchor="ctr"/>
          <a:lstStyle/>
          <a:p>
            <a:pPr indent="0" marL="0">
              <a:buNone/>
            </a:pPr>
            <a:r>
              <a:rPr lang="en-US" sz="1000" b="1" dirty="0">
                <a:solidFill>
                  <a:srgbClr val="5D7186"/>
                </a:solidFill>
                <a:latin typeface="Calibri" pitchFamily="34" charset="0"/>
                <a:ea typeface="Calibri" pitchFamily="34" charset="-122"/>
                <a:cs typeface="Calibri" pitchFamily="34" charset="-120"/>
              </a:rPr>
              <a:t>C-04</a:t>
            </a:r>
            <a:endParaRPr lang="en-US" sz="1000" dirty="0"/>
          </a:p>
        </p:txBody>
      </p:sp>
      <p:sp>
        <p:nvSpPr>
          <p:cNvPr id="26" name="Text 24"/>
          <p:cNvSpPr/>
          <p:nvPr/>
        </p:nvSpPr>
        <p:spPr>
          <a:xfrm>
            <a:off x="768096" y="2670048"/>
            <a:ext cx="3108960" cy="310896"/>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Scab: warning or reassurance?</a:t>
            </a:r>
            <a:endParaRPr lang="en-US" sz="1100" dirty="0"/>
          </a:p>
        </p:txBody>
      </p:sp>
      <p:sp>
        <p:nvSpPr>
          <p:cNvPr id="27" name="Shape 25"/>
          <p:cNvSpPr/>
          <p:nvPr/>
        </p:nvSpPr>
        <p:spPr>
          <a:xfrm>
            <a:off x="4279392" y="2395728"/>
            <a:ext cx="3474720" cy="640080"/>
          </a:xfrm>
          <a:prstGeom prst="roundRect">
            <a:avLst>
              <a:gd name="adj" fmla="val 12857"/>
            </a:avLst>
          </a:prstGeom>
          <a:solidFill>
            <a:srgbClr val="FFFFFF"/>
          </a:solidFill>
          <a:ln w="12700">
            <a:solidFill>
              <a:srgbClr val="DDE5EE"/>
            </a:solidFill>
            <a:prstDash val="solid"/>
          </a:ln>
        </p:spPr>
      </p:sp>
      <p:sp>
        <p:nvSpPr>
          <p:cNvPr id="28" name="Text 26"/>
          <p:cNvSpPr/>
          <p:nvPr/>
        </p:nvSpPr>
        <p:spPr>
          <a:xfrm>
            <a:off x="4480560" y="2450592"/>
            <a:ext cx="640080" cy="256032"/>
          </a:xfrm>
          <a:prstGeom prst="rect">
            <a:avLst/>
          </a:prstGeom>
          <a:noFill/>
          <a:ln/>
        </p:spPr>
        <p:txBody>
          <a:bodyPr wrap="square" lIns="0" tIns="0" rIns="0" bIns="0" rtlCol="0" anchor="ctr"/>
          <a:lstStyle/>
          <a:p>
            <a:pPr indent="0" marL="0">
              <a:buNone/>
            </a:pPr>
            <a:r>
              <a:rPr lang="en-US" sz="1000" b="1" dirty="0">
                <a:solidFill>
                  <a:srgbClr val="5D7186"/>
                </a:solidFill>
                <a:latin typeface="Calibri" pitchFamily="34" charset="0"/>
                <a:ea typeface="Calibri" pitchFamily="34" charset="-122"/>
                <a:cs typeface="Calibri" pitchFamily="34" charset="-120"/>
              </a:rPr>
              <a:t>C-05</a:t>
            </a:r>
            <a:endParaRPr lang="en-US" sz="1000" dirty="0"/>
          </a:p>
        </p:txBody>
      </p:sp>
      <p:sp>
        <p:nvSpPr>
          <p:cNvPr id="29" name="Text 27"/>
          <p:cNvSpPr/>
          <p:nvPr/>
        </p:nvSpPr>
        <p:spPr>
          <a:xfrm>
            <a:off x="4480560" y="2670048"/>
            <a:ext cx="3108960" cy="310896"/>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CDC criteria assume a clinical examination</a:t>
            </a:r>
            <a:endParaRPr lang="en-US" sz="1100" dirty="0"/>
          </a:p>
        </p:txBody>
      </p:sp>
      <p:sp>
        <p:nvSpPr>
          <p:cNvPr id="30" name="Shape 28"/>
          <p:cNvSpPr/>
          <p:nvPr/>
        </p:nvSpPr>
        <p:spPr>
          <a:xfrm>
            <a:off x="7991856" y="2395728"/>
            <a:ext cx="3474720" cy="640080"/>
          </a:xfrm>
          <a:prstGeom prst="roundRect">
            <a:avLst>
              <a:gd name="adj" fmla="val 12857"/>
            </a:avLst>
          </a:prstGeom>
          <a:solidFill>
            <a:srgbClr val="FFFFFF"/>
          </a:solidFill>
          <a:ln w="12700">
            <a:solidFill>
              <a:srgbClr val="DDE5EE"/>
            </a:solidFill>
            <a:prstDash val="solid"/>
          </a:ln>
        </p:spPr>
      </p:sp>
      <p:sp>
        <p:nvSpPr>
          <p:cNvPr id="31" name="Text 29"/>
          <p:cNvSpPr/>
          <p:nvPr/>
        </p:nvSpPr>
        <p:spPr>
          <a:xfrm>
            <a:off x="8193024" y="2450592"/>
            <a:ext cx="640080" cy="256032"/>
          </a:xfrm>
          <a:prstGeom prst="rect">
            <a:avLst/>
          </a:prstGeom>
          <a:noFill/>
          <a:ln/>
        </p:spPr>
        <p:txBody>
          <a:bodyPr wrap="square" lIns="0" tIns="0" rIns="0" bIns="0" rtlCol="0" anchor="ctr"/>
          <a:lstStyle/>
          <a:p>
            <a:pPr indent="0" marL="0">
              <a:buNone/>
            </a:pPr>
            <a:r>
              <a:rPr lang="en-US" sz="1000" b="1" dirty="0">
                <a:solidFill>
                  <a:srgbClr val="5D7186"/>
                </a:solidFill>
                <a:latin typeface="Calibri" pitchFamily="34" charset="0"/>
                <a:ea typeface="Calibri" pitchFamily="34" charset="-122"/>
                <a:cs typeface="Calibri" pitchFamily="34" charset="-120"/>
              </a:rPr>
              <a:t>C-06</a:t>
            </a:r>
            <a:endParaRPr lang="en-US" sz="1000" dirty="0"/>
          </a:p>
        </p:txBody>
      </p:sp>
      <p:sp>
        <p:nvSpPr>
          <p:cNvPr id="32" name="Text 30"/>
          <p:cNvSpPr/>
          <p:nvPr/>
        </p:nvSpPr>
        <p:spPr>
          <a:xfrm>
            <a:off x="8193024" y="2670048"/>
            <a:ext cx="3108960" cy="310896"/>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Southampton as triage, not prognosis</a:t>
            </a:r>
            <a:endParaRPr lang="en-US" sz="1100" dirty="0"/>
          </a:p>
        </p:txBody>
      </p:sp>
      <p:sp>
        <p:nvSpPr>
          <p:cNvPr id="33" name="Shape 31"/>
          <p:cNvSpPr/>
          <p:nvPr/>
        </p:nvSpPr>
        <p:spPr>
          <a:xfrm>
            <a:off x="566928" y="3145536"/>
            <a:ext cx="3474720" cy="640080"/>
          </a:xfrm>
          <a:prstGeom prst="roundRect">
            <a:avLst>
              <a:gd name="adj" fmla="val 12857"/>
            </a:avLst>
          </a:prstGeom>
          <a:solidFill>
            <a:srgbClr val="FFFFFF"/>
          </a:solidFill>
          <a:ln w="12700">
            <a:solidFill>
              <a:srgbClr val="DDE5EE"/>
            </a:solidFill>
            <a:prstDash val="solid"/>
          </a:ln>
        </p:spPr>
      </p:sp>
      <p:sp>
        <p:nvSpPr>
          <p:cNvPr id="34" name="Text 32"/>
          <p:cNvSpPr/>
          <p:nvPr/>
        </p:nvSpPr>
        <p:spPr>
          <a:xfrm>
            <a:off x="768096" y="3200400"/>
            <a:ext cx="640080" cy="256032"/>
          </a:xfrm>
          <a:prstGeom prst="rect">
            <a:avLst/>
          </a:prstGeom>
          <a:noFill/>
          <a:ln/>
        </p:spPr>
        <p:txBody>
          <a:bodyPr wrap="square" lIns="0" tIns="0" rIns="0" bIns="0" rtlCol="0" anchor="ctr"/>
          <a:lstStyle/>
          <a:p>
            <a:pPr indent="0" marL="0">
              <a:buNone/>
            </a:pPr>
            <a:r>
              <a:rPr lang="en-US" sz="1000" b="1" dirty="0">
                <a:solidFill>
                  <a:srgbClr val="5D7186"/>
                </a:solidFill>
                <a:latin typeface="Calibri" pitchFamily="34" charset="0"/>
                <a:ea typeface="Calibri" pitchFamily="34" charset="-122"/>
                <a:cs typeface="Calibri" pitchFamily="34" charset="-120"/>
              </a:rPr>
              <a:t>C-07</a:t>
            </a:r>
            <a:endParaRPr lang="en-US" sz="1000" dirty="0"/>
          </a:p>
        </p:txBody>
      </p:sp>
      <p:sp>
        <p:nvSpPr>
          <p:cNvPr id="35" name="Text 33"/>
          <p:cNvSpPr/>
          <p:nvPr/>
        </p:nvSpPr>
        <p:spPr>
          <a:xfrm>
            <a:off x="768096" y="3419856"/>
            <a:ext cx="3108960" cy="310896"/>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Two fever thresholds instead of one</a:t>
            </a:r>
            <a:endParaRPr lang="en-US" sz="1100" dirty="0"/>
          </a:p>
        </p:txBody>
      </p:sp>
      <p:sp>
        <p:nvSpPr>
          <p:cNvPr id="36" name="Shape 34"/>
          <p:cNvSpPr/>
          <p:nvPr/>
        </p:nvSpPr>
        <p:spPr>
          <a:xfrm>
            <a:off x="4279392" y="3145536"/>
            <a:ext cx="3474720" cy="640080"/>
          </a:xfrm>
          <a:prstGeom prst="roundRect">
            <a:avLst>
              <a:gd name="adj" fmla="val 12857"/>
            </a:avLst>
          </a:prstGeom>
          <a:solidFill>
            <a:srgbClr val="FFFFFF"/>
          </a:solidFill>
          <a:ln w="12700">
            <a:solidFill>
              <a:srgbClr val="DDE5EE"/>
            </a:solidFill>
            <a:prstDash val="solid"/>
          </a:ln>
        </p:spPr>
      </p:sp>
      <p:sp>
        <p:nvSpPr>
          <p:cNvPr id="37" name="Text 35"/>
          <p:cNvSpPr/>
          <p:nvPr/>
        </p:nvSpPr>
        <p:spPr>
          <a:xfrm>
            <a:off x="4480560" y="3200400"/>
            <a:ext cx="640080" cy="256032"/>
          </a:xfrm>
          <a:prstGeom prst="rect">
            <a:avLst/>
          </a:prstGeom>
          <a:noFill/>
          <a:ln/>
        </p:spPr>
        <p:txBody>
          <a:bodyPr wrap="square" lIns="0" tIns="0" rIns="0" bIns="0" rtlCol="0" anchor="ctr"/>
          <a:lstStyle/>
          <a:p>
            <a:pPr indent="0" marL="0">
              <a:buNone/>
            </a:pPr>
            <a:r>
              <a:rPr lang="en-US" sz="1000" b="1" dirty="0">
                <a:solidFill>
                  <a:srgbClr val="5D7186"/>
                </a:solidFill>
                <a:latin typeface="Calibri" pitchFamily="34" charset="0"/>
                <a:ea typeface="Calibri" pitchFamily="34" charset="-122"/>
                <a:cs typeface="Calibri" pitchFamily="34" charset="-120"/>
              </a:rPr>
              <a:t>C-08</a:t>
            </a:r>
            <a:endParaRPr lang="en-US" sz="1000" dirty="0"/>
          </a:p>
        </p:txBody>
      </p:sp>
      <p:sp>
        <p:nvSpPr>
          <p:cNvPr id="38" name="Text 36"/>
          <p:cNvSpPr/>
          <p:nvPr/>
        </p:nvSpPr>
        <p:spPr>
          <a:xfrm>
            <a:off x="4480560" y="3419856"/>
            <a:ext cx="3108960" cy="310896"/>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No trajectory on the first day</a:t>
            </a:r>
            <a:endParaRPr lang="en-US" sz="1100" dirty="0"/>
          </a:p>
        </p:txBody>
      </p:sp>
      <p:sp>
        <p:nvSpPr>
          <p:cNvPr id="39" name="Shape 37"/>
          <p:cNvSpPr/>
          <p:nvPr/>
        </p:nvSpPr>
        <p:spPr>
          <a:xfrm>
            <a:off x="7991856" y="3145536"/>
            <a:ext cx="3474720" cy="640080"/>
          </a:xfrm>
          <a:prstGeom prst="roundRect">
            <a:avLst>
              <a:gd name="adj" fmla="val 12857"/>
            </a:avLst>
          </a:prstGeom>
          <a:solidFill>
            <a:srgbClr val="FFFFFF"/>
          </a:solidFill>
          <a:ln w="12700">
            <a:solidFill>
              <a:srgbClr val="DDE5EE"/>
            </a:solidFill>
            <a:prstDash val="solid"/>
          </a:ln>
        </p:spPr>
      </p:sp>
      <p:sp>
        <p:nvSpPr>
          <p:cNvPr id="40" name="Text 38"/>
          <p:cNvSpPr/>
          <p:nvPr/>
        </p:nvSpPr>
        <p:spPr>
          <a:xfrm>
            <a:off x="8193024" y="3200400"/>
            <a:ext cx="640080" cy="256032"/>
          </a:xfrm>
          <a:prstGeom prst="rect">
            <a:avLst/>
          </a:prstGeom>
          <a:noFill/>
          <a:ln/>
        </p:spPr>
        <p:txBody>
          <a:bodyPr wrap="square" lIns="0" tIns="0" rIns="0" bIns="0" rtlCol="0" anchor="ctr"/>
          <a:lstStyle/>
          <a:p>
            <a:pPr indent="0" marL="0">
              <a:buNone/>
            </a:pPr>
            <a:r>
              <a:rPr lang="en-US" sz="1000" b="1" dirty="0">
                <a:solidFill>
                  <a:srgbClr val="5D7186"/>
                </a:solidFill>
                <a:latin typeface="Calibri" pitchFamily="34" charset="0"/>
                <a:ea typeface="Calibri" pitchFamily="34" charset="-122"/>
                <a:cs typeface="Calibri" pitchFamily="34" charset="-120"/>
              </a:rPr>
              <a:t>C-09</a:t>
            </a:r>
            <a:endParaRPr lang="en-US" sz="1000" dirty="0"/>
          </a:p>
        </p:txBody>
      </p:sp>
      <p:sp>
        <p:nvSpPr>
          <p:cNvPr id="41" name="Text 39"/>
          <p:cNvSpPr/>
          <p:nvPr/>
        </p:nvSpPr>
        <p:spPr>
          <a:xfrm>
            <a:off x="8193024" y="3419856"/>
            <a:ext cx="3108960" cy="310896"/>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Severity scale ≠ urgency of action</a:t>
            </a:r>
            <a:endParaRPr lang="en-US" sz="1100" dirty="0"/>
          </a:p>
        </p:txBody>
      </p:sp>
      <p:sp>
        <p:nvSpPr>
          <p:cNvPr id="42" name="Shape 40"/>
          <p:cNvSpPr/>
          <p:nvPr/>
        </p:nvSpPr>
        <p:spPr>
          <a:xfrm>
            <a:off x="566928" y="4041648"/>
            <a:ext cx="11064240" cy="1810512"/>
          </a:xfrm>
          <a:prstGeom prst="roundRect">
            <a:avLst>
              <a:gd name="adj" fmla="val 4545"/>
            </a:avLst>
          </a:prstGeom>
          <a:solidFill>
            <a:srgbClr val="12202E"/>
          </a:solidFill>
          <a:ln w="12700">
            <a:solidFill>
              <a:srgbClr val="12202E"/>
            </a:solidFill>
            <a:prstDash val="solid"/>
          </a:ln>
        </p:spPr>
      </p:sp>
      <p:sp>
        <p:nvSpPr>
          <p:cNvPr id="43" name="Text 41"/>
          <p:cNvSpPr/>
          <p:nvPr/>
        </p:nvSpPr>
        <p:spPr>
          <a:xfrm>
            <a:off x="859536" y="4206240"/>
            <a:ext cx="104241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two highest-risk decisions sit in the same place</a:t>
            </a:r>
            <a:endParaRPr lang="en-US" sz="1300" dirty="0"/>
          </a:p>
        </p:txBody>
      </p:sp>
      <p:sp>
        <p:nvSpPr>
          <p:cNvPr id="44" name="Text 42"/>
          <p:cNvSpPr/>
          <p:nvPr/>
        </p:nvSpPr>
        <p:spPr>
          <a:xfrm>
            <a:off x="859536" y="4480560"/>
            <a:ext cx="10424160" cy="603504"/>
          </a:xfrm>
          <a:prstGeom prst="rect">
            <a:avLst/>
          </a:prstGeom>
          <a:noFill/>
          <a:ln/>
        </p:spPr>
        <p:txBody>
          <a:bodyPr wrap="square" lIns="0" tIns="0" rIns="0" bIns="0" rtlCol="0" anchor="t"/>
          <a:lstStyle/>
          <a:p>
            <a:pPr indent="0" marL="0">
              <a:lnSpc>
                <a:spcPts val="1600"/>
              </a:lnSpc>
              <a:buNone/>
            </a:pPr>
            <a:r>
              <a:rPr lang="en-US" sz="1150" b="1" dirty="0">
                <a:solidFill>
                  <a:srgbClr val="FFFFFF"/>
                </a:solidFill>
                <a:latin typeface="Calibri" pitchFamily="34" charset="0"/>
                <a:ea typeface="Calibri" pitchFamily="34" charset="-122"/>
                <a:cs typeface="Calibri" pitchFamily="34" charset="-120"/>
              </a:rPr>
              <a:t>C-01   </a:t>
            </a:r>
            <a:pPr indent="0" marL="0">
              <a:lnSpc>
                <a:spcPts val="1600"/>
              </a:lnSpc>
              <a:buNone/>
            </a:pPr>
            <a:r>
              <a:rPr lang="en-US" sz="1150" dirty="0">
                <a:solidFill>
                  <a:srgbClr val="C9D6E4"/>
                </a:solidFill>
                <a:latin typeface="Calibri" pitchFamily="34" charset="0"/>
                <a:ea typeface="Calibri" pitchFamily="34" charset="-122"/>
                <a:cs typeface="Calibri" pitchFamily="34" charset="-120"/>
              </a:rPr>
              <a:t>Southampton was built for trained staff. We turned it into an image selection for laypersons. That is our core idea — and it is unvalidated.</a:t>
            </a:r>
            <a:endParaRPr lang="en-US" sz="1150" dirty="0"/>
          </a:p>
        </p:txBody>
      </p:sp>
      <p:sp>
        <p:nvSpPr>
          <p:cNvPr id="45" name="Text 43"/>
          <p:cNvSpPr/>
          <p:nvPr/>
        </p:nvSpPr>
        <p:spPr>
          <a:xfrm>
            <a:off x="859536" y="5084064"/>
            <a:ext cx="10424160" cy="603504"/>
          </a:xfrm>
          <a:prstGeom prst="rect">
            <a:avLst/>
          </a:prstGeom>
          <a:noFill/>
          <a:ln/>
        </p:spPr>
        <p:txBody>
          <a:bodyPr wrap="square" lIns="0" tIns="0" rIns="0" bIns="0" rtlCol="0" anchor="t"/>
          <a:lstStyle/>
          <a:p>
            <a:pPr indent="0" marL="0">
              <a:lnSpc>
                <a:spcPts val="1600"/>
              </a:lnSpc>
              <a:buNone/>
            </a:pPr>
            <a:r>
              <a:rPr lang="en-US" sz="1150" b="1" dirty="0">
                <a:solidFill>
                  <a:srgbClr val="FFFFFF"/>
                </a:solidFill>
                <a:latin typeface="Calibri" pitchFamily="34" charset="0"/>
                <a:ea typeface="Calibri" pitchFamily="34" charset="-122"/>
                <a:cs typeface="Calibri" pitchFamily="34" charset="-120"/>
              </a:rPr>
              <a:t>C-03   </a:t>
            </a:r>
            <a:pPr indent="0" marL="0">
              <a:lnSpc>
                <a:spcPts val="1600"/>
              </a:lnSpc>
              <a:buNone/>
            </a:pPr>
            <a:r>
              <a:rPr lang="en-US" sz="1150" dirty="0">
                <a:solidFill>
                  <a:srgbClr val="C9D6E4"/>
                </a:solidFill>
                <a:latin typeface="Calibri" pitchFamily="34" charset="0"/>
                <a:ea typeface="Calibri" pitchFamily="34" charset="-122"/>
                <a:cs typeface="Calibri" pitchFamily="34" charset="-120"/>
              </a:rPr>
              <a:t>No source defines the day on which redness stops being physiological. We set day 3. Too early means false alarms; too late means delayed detection.</a:t>
            </a:r>
            <a:endParaRPr lang="en-US" sz="1150" dirty="0"/>
          </a:p>
        </p:txBody>
      </p:sp>
      <p:sp>
        <p:nvSpPr>
          <p:cNvPr id="46" name="Text 44"/>
          <p:cNvSpPr/>
          <p:nvPr/>
        </p:nvSpPr>
        <p:spPr>
          <a:xfrm>
            <a:off x="566928" y="5998464"/>
            <a:ext cx="11064240" cy="274320"/>
          </a:xfrm>
          <a:prstGeom prst="rect">
            <a:avLst/>
          </a:prstGeom>
          <a:noFill/>
          <a:ln/>
        </p:spPr>
        <p:txBody>
          <a:bodyPr wrap="square" lIns="0" tIns="0" rIns="0" bIns="0" rtlCol="0" anchor="ctr"/>
          <a:lstStyle/>
          <a:p>
            <a:pPr indent="0" marL="0">
              <a:buNone/>
            </a:pPr>
            <a:r>
              <a:rPr lang="en-US" sz="1150" i="1" dirty="0">
                <a:solidFill>
                  <a:srgbClr val="5D7186"/>
                </a:solidFill>
                <a:latin typeface="Calibri" pitchFamily="34" charset="0"/>
                <a:ea typeface="Calibri" pitchFamily="34" charset="-122"/>
                <a:cs typeface="Calibri" pitchFamily="34" charset="-120"/>
              </a:rPr>
              <a:t>All nine would need clinical sign-off. We do not have it — and we list that as a limitation.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L3 · ARCHITECTURE DECISION</a:t>
            </a:r>
            <a:endParaRPr lang="en-US" sz="1050" dirty="0"/>
          </a:p>
        </p:txBody>
      </p:sp>
      <p:sp>
        <p:nvSpPr>
          <p:cNvPr id="3" name="Text 1"/>
          <p:cNvSpPr/>
          <p:nvPr/>
        </p:nvSpPr>
        <p:spPr>
          <a:xfrm>
            <a:off x="566928" y="640080"/>
            <a:ext cx="841248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Author in readable JSON, speak standards at the interface</a:t>
            </a:r>
            <a:endParaRPr lang="en-US" sz="2700" dirty="0"/>
          </a:p>
        </p:txBody>
      </p:sp>
      <p:sp>
        <p:nvSpPr>
          <p:cNvPr id="4" name="Shape 2"/>
          <p:cNvSpPr/>
          <p:nvPr/>
        </p:nvSpPr>
        <p:spPr>
          <a:xfrm>
            <a:off x="9290304" y="475488"/>
            <a:ext cx="475488" cy="274320"/>
          </a:xfrm>
          <a:prstGeom prst="roundRect">
            <a:avLst>
              <a:gd name="adj" fmla="val 46667"/>
            </a:avLst>
          </a:prstGeom>
          <a:solidFill>
            <a:srgbClr val="F5F7FA"/>
          </a:solidFill>
          <a:ln w="12700">
            <a:solidFill>
              <a:srgbClr val="DDE5EE"/>
            </a:solidFill>
            <a:prstDash val="solid"/>
          </a:ln>
        </p:spPr>
      </p:sp>
      <p:sp>
        <p:nvSpPr>
          <p:cNvPr id="5" name="Text 3"/>
          <p:cNvSpPr/>
          <p:nvPr/>
        </p:nvSpPr>
        <p:spPr>
          <a:xfrm>
            <a:off x="9290304"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L1</a:t>
            </a:r>
            <a:endParaRPr lang="en-US" sz="1050" dirty="0"/>
          </a:p>
        </p:txBody>
      </p:sp>
      <p:sp>
        <p:nvSpPr>
          <p:cNvPr id="6" name="Text 4"/>
          <p:cNvSpPr/>
          <p:nvPr/>
        </p:nvSpPr>
        <p:spPr>
          <a:xfrm>
            <a:off x="9765792"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9912096" y="475488"/>
            <a:ext cx="475488" cy="274320"/>
          </a:xfrm>
          <a:prstGeom prst="roundRect">
            <a:avLst>
              <a:gd name="adj" fmla="val 46667"/>
            </a:avLst>
          </a:prstGeom>
          <a:solidFill>
            <a:srgbClr val="F5F7FA"/>
          </a:solidFill>
          <a:ln w="12700">
            <a:solidFill>
              <a:srgbClr val="DDE5EE"/>
            </a:solidFill>
            <a:prstDash val="solid"/>
          </a:ln>
        </p:spPr>
      </p:sp>
      <p:sp>
        <p:nvSpPr>
          <p:cNvPr id="8" name="Text 6"/>
          <p:cNvSpPr/>
          <p:nvPr/>
        </p:nvSpPr>
        <p:spPr>
          <a:xfrm>
            <a:off x="9912096"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L2</a:t>
            </a:r>
            <a:endParaRPr lang="en-US" sz="1050" dirty="0"/>
          </a:p>
        </p:txBody>
      </p:sp>
      <p:sp>
        <p:nvSpPr>
          <p:cNvPr id="9" name="Text 7"/>
          <p:cNvSpPr/>
          <p:nvPr/>
        </p:nvSpPr>
        <p:spPr>
          <a:xfrm>
            <a:off x="10387584"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533888" y="475488"/>
            <a:ext cx="475488" cy="274320"/>
          </a:xfrm>
          <a:prstGeom prst="roundRect">
            <a:avLst>
              <a:gd name="adj" fmla="val 46667"/>
            </a:avLst>
          </a:prstGeom>
          <a:solidFill>
            <a:srgbClr val="12202E"/>
          </a:solidFill>
          <a:ln w="12700">
            <a:solidFill>
              <a:srgbClr val="12202E"/>
            </a:solidFill>
            <a:prstDash val="solid"/>
          </a:ln>
        </p:spPr>
      </p:sp>
      <p:sp>
        <p:nvSpPr>
          <p:cNvPr id="11" name="Text 9"/>
          <p:cNvSpPr/>
          <p:nvPr/>
        </p:nvSpPr>
        <p:spPr>
          <a:xfrm>
            <a:off x="10533888" y="475488"/>
            <a:ext cx="47548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L3</a:t>
            </a:r>
            <a:endParaRPr lang="en-US" sz="1050" dirty="0"/>
          </a:p>
        </p:txBody>
      </p:sp>
      <p:sp>
        <p:nvSpPr>
          <p:cNvPr id="12" name="Text 10"/>
          <p:cNvSpPr/>
          <p:nvPr/>
        </p:nvSpPr>
        <p:spPr>
          <a:xfrm>
            <a:off x="11009376" y="475488"/>
            <a:ext cx="146304" cy="274320"/>
          </a:xfrm>
          <a:prstGeom prst="rect">
            <a:avLst/>
          </a:prstGeom>
          <a:noFill/>
          <a:ln/>
        </p:spPr>
        <p:txBody>
          <a:bodyPr wrap="square" lIns="0" tIns="0" rIns="0" bIns="0" rtlCol="0" anchor="ctr"/>
          <a:lstStyle/>
          <a:p>
            <a:pPr algn="ctr" indent="0" marL="0">
              <a:buNone/>
            </a:pPr>
            <a:r>
              <a:rPr lang="en-US" sz="1100" dirty="0">
                <a:solidFill>
                  <a:srgbClr val="DDE5EE"/>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1155680" y="475488"/>
            <a:ext cx="475488" cy="274320"/>
          </a:xfrm>
          <a:prstGeom prst="roundRect">
            <a:avLst>
              <a:gd name="adj" fmla="val 46667"/>
            </a:avLst>
          </a:prstGeom>
          <a:solidFill>
            <a:srgbClr val="F5F7FA"/>
          </a:solidFill>
          <a:ln w="12700">
            <a:solidFill>
              <a:srgbClr val="DDE5EE"/>
            </a:solidFill>
            <a:prstDash val="solid"/>
          </a:ln>
        </p:spPr>
      </p:sp>
      <p:sp>
        <p:nvSpPr>
          <p:cNvPr id="14" name="Text 12"/>
          <p:cNvSpPr/>
          <p:nvPr/>
        </p:nvSpPr>
        <p:spPr>
          <a:xfrm>
            <a:off x="11155680" y="475488"/>
            <a:ext cx="475488" cy="274320"/>
          </a:xfrm>
          <a:prstGeom prst="rect">
            <a:avLst/>
          </a:prstGeom>
          <a:noFill/>
          <a:ln/>
        </p:spPr>
        <p:txBody>
          <a:bodyPr wrap="square" lIns="0" tIns="0" rIns="0" bIns="0" rtlCol="0" anchor="ctr"/>
          <a:lstStyle/>
          <a:p>
            <a:pPr algn="ctr" indent="0" marL="0">
              <a:buNone/>
            </a:pPr>
            <a:r>
              <a:rPr lang="en-US" sz="1050" b="1" dirty="0">
                <a:solidFill>
                  <a:srgbClr val="5D7186"/>
                </a:solidFill>
                <a:latin typeface="Calibri" pitchFamily="34" charset="0"/>
                <a:ea typeface="Calibri" pitchFamily="34" charset="-122"/>
                <a:cs typeface="Calibri" pitchFamily="34" charset="-120"/>
              </a:rPr>
              <a:t>L4</a:t>
            </a:r>
            <a:endParaRPr lang="en-US" sz="1050" dirty="0"/>
          </a:p>
        </p:txBody>
      </p:sp>
      <p:sp>
        <p:nvSpPr>
          <p:cNvPr id="15" name="Shape 13"/>
          <p:cNvSpPr/>
          <p:nvPr/>
        </p:nvSpPr>
        <p:spPr>
          <a:xfrm>
            <a:off x="566928" y="1645920"/>
            <a:ext cx="11064240" cy="749808"/>
          </a:xfrm>
          <a:prstGeom prst="roundRect">
            <a:avLst>
              <a:gd name="adj" fmla="val 10976"/>
            </a:avLst>
          </a:prstGeom>
          <a:solidFill>
            <a:srgbClr val="FFFFFF"/>
          </a:solidFill>
          <a:ln w="12700">
            <a:solidFill>
              <a:srgbClr val="DDE5EE"/>
            </a:solidFill>
            <a:prstDash val="solid"/>
          </a:ln>
        </p:spPr>
      </p:sp>
      <p:sp>
        <p:nvSpPr>
          <p:cNvPr id="16" name="Text 14"/>
          <p:cNvSpPr/>
          <p:nvPr/>
        </p:nvSpPr>
        <p:spPr>
          <a:xfrm>
            <a:off x="804672" y="1645920"/>
            <a:ext cx="2651760" cy="749808"/>
          </a:xfrm>
          <a:prstGeom prst="rect">
            <a:avLst/>
          </a:prstGeom>
          <a:noFill/>
          <a:ln/>
        </p:spPr>
        <p:txBody>
          <a:bodyPr wrap="square" lIns="0" tIns="0" rIns="0" bIns="0" rtlCol="0" anchor="ctr"/>
          <a:lstStyle/>
          <a:p>
            <a:pPr indent="0" marL="0">
              <a:buNone/>
            </a:pPr>
            <a:r>
              <a:rPr lang="en-US" sz="1200" b="1" dirty="0">
                <a:solidFill>
                  <a:srgbClr val="12202E"/>
                </a:solidFill>
                <a:latin typeface="Calibri" pitchFamily="34" charset="0"/>
                <a:ea typeface="Calibri" pitchFamily="34" charset="-122"/>
                <a:cs typeface="Calibri" pitchFamily="34" charset="-120"/>
              </a:rPr>
              <a:t>XLSForm / ODK</a:t>
            </a:r>
            <a:endParaRPr lang="en-US" sz="1200" dirty="0"/>
          </a:p>
        </p:txBody>
      </p:sp>
      <p:sp>
        <p:nvSpPr>
          <p:cNvPr id="17" name="Text 15"/>
          <p:cNvSpPr/>
          <p:nvPr/>
        </p:nvSpPr>
        <p:spPr>
          <a:xfrm>
            <a:off x="3584448" y="1645920"/>
            <a:ext cx="3337560" cy="749808"/>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Established, executable by existing engines</a:t>
            </a:r>
            <a:endParaRPr lang="en-US" sz="1050" dirty="0"/>
          </a:p>
        </p:txBody>
      </p:sp>
      <p:sp>
        <p:nvSpPr>
          <p:cNvPr id="18" name="Text 16"/>
          <p:cNvSpPr/>
          <p:nvPr/>
        </p:nvSpPr>
        <p:spPr>
          <a:xfrm>
            <a:off x="7470648" y="1645920"/>
            <a:ext cx="3657600" cy="749808"/>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Standard widgets cannot carry our image cards — the L4 would dictate the UX</a:t>
            </a:r>
            <a:endParaRPr lang="en-US" sz="1050" dirty="0"/>
          </a:p>
        </p:txBody>
      </p:sp>
      <p:sp>
        <p:nvSpPr>
          <p:cNvPr id="19" name="Shape 17"/>
          <p:cNvSpPr/>
          <p:nvPr/>
        </p:nvSpPr>
        <p:spPr>
          <a:xfrm>
            <a:off x="566928" y="2505456"/>
            <a:ext cx="11064240" cy="749808"/>
          </a:xfrm>
          <a:prstGeom prst="roundRect">
            <a:avLst>
              <a:gd name="adj" fmla="val 10976"/>
            </a:avLst>
          </a:prstGeom>
          <a:solidFill>
            <a:srgbClr val="FFFFFF"/>
          </a:solidFill>
          <a:ln w="12700">
            <a:solidFill>
              <a:srgbClr val="DDE5EE"/>
            </a:solidFill>
            <a:prstDash val="solid"/>
          </a:ln>
        </p:spPr>
      </p:sp>
      <p:sp>
        <p:nvSpPr>
          <p:cNvPr id="20" name="Text 18"/>
          <p:cNvSpPr/>
          <p:nvPr/>
        </p:nvSpPr>
        <p:spPr>
          <a:xfrm>
            <a:off x="804672" y="2505456"/>
            <a:ext cx="2651760" cy="749808"/>
          </a:xfrm>
          <a:prstGeom prst="rect">
            <a:avLst/>
          </a:prstGeom>
          <a:noFill/>
          <a:ln/>
        </p:spPr>
        <p:txBody>
          <a:bodyPr wrap="square" lIns="0" tIns="0" rIns="0" bIns="0" rtlCol="0" anchor="ctr"/>
          <a:lstStyle/>
          <a:p>
            <a:pPr indent="0" marL="0">
              <a:buNone/>
            </a:pPr>
            <a:r>
              <a:rPr lang="en-US" sz="1200" b="1" dirty="0">
                <a:solidFill>
                  <a:srgbClr val="12202E"/>
                </a:solidFill>
                <a:latin typeface="Calibri" pitchFamily="34" charset="0"/>
                <a:ea typeface="Calibri" pitchFamily="34" charset="-122"/>
                <a:cs typeface="Calibri" pitchFamily="34" charset="-120"/>
              </a:rPr>
              <a:t>FHIR Questionnaire + CQL</a:t>
            </a:r>
            <a:endParaRPr lang="en-US" sz="1200" dirty="0"/>
          </a:p>
        </p:txBody>
      </p:sp>
      <p:sp>
        <p:nvSpPr>
          <p:cNvPr id="21" name="Text 19"/>
          <p:cNvSpPr/>
          <p:nvPr/>
        </p:nvSpPr>
        <p:spPr>
          <a:xfrm>
            <a:off x="3584448" y="2505456"/>
            <a:ext cx="3337560" cy="749808"/>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Full standard, WHO SMART compliant</a:t>
            </a:r>
            <a:endParaRPr lang="en-US" sz="1050" dirty="0"/>
          </a:p>
        </p:txBody>
      </p:sp>
      <p:sp>
        <p:nvSpPr>
          <p:cNvPr id="22" name="Text 20"/>
          <p:cNvSpPr/>
          <p:nvPr/>
        </p:nvSpPr>
        <p:spPr>
          <a:xfrm>
            <a:off x="7470648" y="2505456"/>
            <a:ext cx="3657600" cy="749808"/>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“FHIR resources are not human readable” — not reviewable by our clinical lead in six days</a:t>
            </a:r>
            <a:endParaRPr lang="en-US" sz="1050" dirty="0"/>
          </a:p>
        </p:txBody>
      </p:sp>
      <p:sp>
        <p:nvSpPr>
          <p:cNvPr id="23" name="Shape 21"/>
          <p:cNvSpPr/>
          <p:nvPr/>
        </p:nvSpPr>
        <p:spPr>
          <a:xfrm>
            <a:off x="566928" y="3364992"/>
            <a:ext cx="11064240" cy="749808"/>
          </a:xfrm>
          <a:prstGeom prst="roundRect">
            <a:avLst>
              <a:gd name="adj" fmla="val 10976"/>
            </a:avLst>
          </a:prstGeom>
          <a:solidFill>
            <a:srgbClr val="FFFFFF"/>
          </a:solidFill>
          <a:ln w="12700">
            <a:solidFill>
              <a:srgbClr val="DDE5EE"/>
            </a:solidFill>
            <a:prstDash val="solid"/>
          </a:ln>
        </p:spPr>
      </p:sp>
      <p:sp>
        <p:nvSpPr>
          <p:cNvPr id="24" name="Text 22"/>
          <p:cNvSpPr/>
          <p:nvPr/>
        </p:nvSpPr>
        <p:spPr>
          <a:xfrm>
            <a:off x="804672" y="3364992"/>
            <a:ext cx="2651760" cy="749808"/>
          </a:xfrm>
          <a:prstGeom prst="rect">
            <a:avLst/>
          </a:prstGeom>
          <a:noFill/>
          <a:ln/>
        </p:spPr>
        <p:txBody>
          <a:bodyPr wrap="square" lIns="0" tIns="0" rIns="0" bIns="0" rtlCol="0" anchor="ctr"/>
          <a:lstStyle/>
          <a:p>
            <a:pPr indent="0" marL="0">
              <a:buNone/>
            </a:pPr>
            <a:r>
              <a:rPr lang="en-US" sz="1200" b="1" dirty="0">
                <a:solidFill>
                  <a:srgbClr val="12202E"/>
                </a:solidFill>
                <a:latin typeface="Calibri" pitchFamily="34" charset="0"/>
                <a:ea typeface="Calibri" pitchFamily="34" charset="-122"/>
                <a:cs typeface="Calibri" pitchFamily="34" charset="-120"/>
              </a:rPr>
              <a:t>Hardcoding in the app</a:t>
            </a:r>
            <a:endParaRPr lang="en-US" sz="1200" dirty="0"/>
          </a:p>
        </p:txBody>
      </p:sp>
      <p:sp>
        <p:nvSpPr>
          <p:cNvPr id="25" name="Text 23"/>
          <p:cNvSpPr/>
          <p:nvPr/>
        </p:nvSpPr>
        <p:spPr>
          <a:xfrm>
            <a:off x="3584448" y="3364992"/>
            <a:ext cx="3337560" cy="749808"/>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Fastest to a prototype</a:t>
            </a:r>
            <a:endParaRPr lang="en-US" sz="1050" dirty="0"/>
          </a:p>
        </p:txBody>
      </p:sp>
      <p:sp>
        <p:nvSpPr>
          <p:cNvPr id="26" name="Text 24"/>
          <p:cNvSpPr/>
          <p:nvPr/>
        </p:nvSpPr>
        <p:spPr>
          <a:xfrm>
            <a:off x="7470648" y="3364992"/>
            <a:ext cx="3657600" cy="749808"/>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Every rule change needs a developer and a rebuild</a:t>
            </a:r>
            <a:endParaRPr lang="en-US" sz="1050" dirty="0"/>
          </a:p>
        </p:txBody>
      </p:sp>
      <p:sp>
        <p:nvSpPr>
          <p:cNvPr id="27" name="Shape 25"/>
          <p:cNvSpPr/>
          <p:nvPr/>
        </p:nvSpPr>
        <p:spPr>
          <a:xfrm>
            <a:off x="566928" y="4224528"/>
            <a:ext cx="11064240" cy="749808"/>
          </a:xfrm>
          <a:prstGeom prst="roundRect">
            <a:avLst>
              <a:gd name="adj" fmla="val 10976"/>
            </a:avLst>
          </a:prstGeom>
          <a:solidFill>
            <a:srgbClr val="E8F6EE"/>
          </a:solidFill>
          <a:ln w="12700">
            <a:solidFill>
              <a:srgbClr val="A8D9BF"/>
            </a:solidFill>
            <a:prstDash val="solid"/>
          </a:ln>
        </p:spPr>
      </p:sp>
      <p:sp>
        <p:nvSpPr>
          <p:cNvPr id="28" name="Text 26"/>
          <p:cNvSpPr/>
          <p:nvPr/>
        </p:nvSpPr>
        <p:spPr>
          <a:xfrm>
            <a:off x="804672" y="4224528"/>
            <a:ext cx="2651760" cy="749808"/>
          </a:xfrm>
          <a:prstGeom prst="rect">
            <a:avLst/>
          </a:prstGeom>
          <a:noFill/>
          <a:ln/>
        </p:spPr>
        <p:txBody>
          <a:bodyPr wrap="square" lIns="0" tIns="0" rIns="0" bIns="0" rtlCol="0" anchor="ctr"/>
          <a:lstStyle/>
          <a:p>
            <a:pPr indent="0" marL="0">
              <a:buNone/>
            </a:pPr>
            <a:r>
              <a:rPr lang="en-US" sz="1200" b="1" dirty="0">
                <a:solidFill>
                  <a:srgbClr val="1A7F4B"/>
                </a:solidFill>
                <a:latin typeface="Calibri" pitchFamily="34" charset="0"/>
                <a:ea typeface="Calibri" pitchFamily="34" charset="-122"/>
                <a:cs typeface="Calibri" pitchFamily="34" charset="-120"/>
              </a:rPr>
              <a:t>Custom JSON + FHIR at the edge</a:t>
            </a:r>
            <a:endParaRPr lang="en-US" sz="1200" dirty="0"/>
          </a:p>
        </p:txBody>
      </p:sp>
      <p:sp>
        <p:nvSpPr>
          <p:cNvPr id="29" name="Text 27"/>
          <p:cNvSpPr/>
          <p:nvPr/>
        </p:nvSpPr>
        <p:spPr>
          <a:xfrm>
            <a:off x="3584448" y="4224528"/>
            <a:ext cx="3337560" cy="749808"/>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Reads like the L2; full control of the UX; standards where they count</a:t>
            </a:r>
            <a:endParaRPr lang="en-US" sz="1050" dirty="0"/>
          </a:p>
        </p:txBody>
      </p:sp>
      <p:sp>
        <p:nvSpPr>
          <p:cNvPr id="30" name="Text 28"/>
          <p:cNvSpPr/>
          <p:nvPr/>
        </p:nvSpPr>
        <p:spPr>
          <a:xfrm>
            <a:off x="7470648" y="4224528"/>
            <a:ext cx="3657600" cy="749808"/>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No existing engine runs it directly; expression language is not CQL</a:t>
            </a:r>
            <a:endParaRPr lang="en-US" sz="1050" dirty="0"/>
          </a:p>
        </p:txBody>
      </p:sp>
      <p:sp>
        <p:nvSpPr>
          <p:cNvPr id="31" name="Text 29"/>
          <p:cNvSpPr/>
          <p:nvPr/>
        </p:nvSpPr>
        <p:spPr>
          <a:xfrm>
            <a:off x="11173968" y="4224528"/>
            <a:ext cx="365760" cy="749808"/>
          </a:xfrm>
          <a:prstGeom prst="rect">
            <a:avLst/>
          </a:prstGeom>
          <a:noFill/>
          <a:ln/>
        </p:spPr>
        <p:txBody>
          <a:bodyPr wrap="square" lIns="0" tIns="0" rIns="0" bIns="0" rtlCol="0" anchor="ctr"/>
          <a:lstStyle/>
          <a:p>
            <a:pPr algn="ctr" indent="0" marL="0">
              <a:buNone/>
            </a:pPr>
            <a:r>
              <a:rPr lang="en-US" sz="1600" b="1" dirty="0">
                <a:solidFill>
                  <a:srgbClr val="1A7F4B"/>
                </a:solidFill>
                <a:latin typeface="Calibri" pitchFamily="34" charset="0"/>
                <a:ea typeface="Calibri" pitchFamily="34" charset="-122"/>
                <a:cs typeface="Calibri" pitchFamily="34" charset="-120"/>
              </a:rPr>
              <a:t>✓</a:t>
            </a:r>
            <a:endParaRPr lang="en-US" sz="1600" dirty="0"/>
          </a:p>
        </p:txBody>
      </p:sp>
      <p:sp>
        <p:nvSpPr>
          <p:cNvPr id="32" name="Shape 30"/>
          <p:cNvSpPr/>
          <p:nvPr/>
        </p:nvSpPr>
        <p:spPr>
          <a:xfrm>
            <a:off x="566928" y="5120640"/>
            <a:ext cx="11064240" cy="960120"/>
          </a:xfrm>
          <a:prstGeom prst="roundRect">
            <a:avLst>
              <a:gd name="adj" fmla="val 8571"/>
            </a:avLst>
          </a:prstGeom>
          <a:solidFill>
            <a:srgbClr val="12202E"/>
          </a:solidFill>
          <a:ln w="12700">
            <a:solidFill>
              <a:srgbClr val="12202E"/>
            </a:solidFill>
            <a:prstDash val="solid"/>
          </a:ln>
        </p:spPr>
      </p:sp>
      <p:sp>
        <p:nvSpPr>
          <p:cNvPr id="33" name="Text 31"/>
          <p:cNvSpPr/>
          <p:nvPr/>
        </p:nvSpPr>
        <p:spPr>
          <a:xfrm>
            <a:off x="859536" y="5120640"/>
            <a:ext cx="10515600" cy="9601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And we can prove it: a check scans the app source for every element id, threshold, code system and endpoint. Any clinical content in the L4 fails the build.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02E"/>
        </a:solidFill>
      </p:bgPr>
    </p:bg>
    <p:spTree>
      <p:nvGrpSpPr>
        <p:cNvPr id="1" name=""/>
        <p:cNvGrpSpPr/>
        <p:nvPr/>
      </p:nvGrpSpPr>
      <p:grpSpPr>
        <a:xfrm>
          <a:off x="0" y="0"/>
          <a:ext cx="0" cy="0"/>
          <a:chOff x="0" y="0"/>
          <a:chExt cx="0" cy="0"/>
        </a:xfrm>
      </p:grpSpPr>
      <p:sp>
        <p:nvSpPr>
          <p:cNvPr id="2" name="Text 0"/>
          <p:cNvSpPr/>
          <p:nvPr/>
        </p:nvSpPr>
        <p:spPr>
          <a:xfrm>
            <a:off x="566928" y="384048"/>
            <a:ext cx="5486400" cy="274320"/>
          </a:xfrm>
          <a:prstGeom prst="rect">
            <a:avLst/>
          </a:prstGeom>
          <a:noFill/>
          <a:ln/>
        </p:spPr>
        <p:txBody>
          <a:bodyPr wrap="square" lIns="0" tIns="0" rIns="0" bIns="0" rtlCol="0" anchor="ctr"/>
          <a:lstStyle/>
          <a:p>
            <a:pPr indent="0" marL="0">
              <a:buNone/>
            </a:pPr>
            <a:r>
              <a:rPr lang="en-US" sz="1050" b="1" spc="160" kern="0" dirty="0">
                <a:solidFill>
                  <a:srgbClr val="8FA3B8"/>
                </a:solidFill>
                <a:latin typeface="Calibri" pitchFamily="34" charset="0"/>
                <a:ea typeface="Calibri" pitchFamily="34" charset="-122"/>
                <a:cs typeface="Calibri" pitchFamily="34" charset="-120"/>
              </a:rPr>
              <a:t>DEMO</a:t>
            </a:r>
            <a:endParaRPr lang="en-US" sz="1050" dirty="0"/>
          </a:p>
        </p:txBody>
      </p:sp>
      <p:sp>
        <p:nvSpPr>
          <p:cNvPr id="3" name="Text 1"/>
          <p:cNvSpPr/>
          <p:nvPr/>
        </p:nvSpPr>
        <p:spPr>
          <a:xfrm>
            <a:off x="566928" y="640080"/>
            <a:ext cx="1051560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One patient, two days — and a threshold change with no rebuild</a:t>
            </a:r>
            <a:endParaRPr lang="en-US" sz="2500" dirty="0"/>
          </a:p>
        </p:txBody>
      </p:sp>
      <p:pic>
        <p:nvPicPr>
          <p:cNvPr id="4" name="Image 0" descr="result-green.png">    </p:cNvPr>
          <p:cNvPicPr>
            <a:picLocks noChangeAspect="1"/>
          </p:cNvPicPr>
          <p:nvPr/>
        </p:nvPicPr>
        <p:blipFill>
          <a:blip r:embed="rId1"/>
          <a:stretch>
            <a:fillRect/>
          </a:stretch>
        </p:blipFill>
        <p:spPr>
          <a:xfrm>
            <a:off x="566928" y="1481328"/>
            <a:ext cx="5394960" cy="2348698"/>
          </a:xfrm>
          <a:prstGeom prst="rect">
            <a:avLst/>
          </a:prstGeom>
        </p:spPr>
      </p:pic>
      <p:pic>
        <p:nvPicPr>
          <p:cNvPr id="5" name="Image 1" descr="result-orange.png">    </p:cNvPr>
          <p:cNvPicPr>
            <a:picLocks noChangeAspect="1"/>
          </p:cNvPicPr>
          <p:nvPr/>
        </p:nvPicPr>
        <p:blipFill>
          <a:blip r:embed="rId2"/>
          <a:stretch>
            <a:fillRect/>
          </a:stretch>
        </p:blipFill>
        <p:spPr>
          <a:xfrm>
            <a:off x="566928" y="4041648"/>
            <a:ext cx="5394960" cy="2202924"/>
          </a:xfrm>
          <a:prstGeom prst="rect">
            <a:avLst/>
          </a:prstGeom>
        </p:spPr>
      </p:pic>
      <p:sp>
        <p:nvSpPr>
          <p:cNvPr id="6" name="Shape 2"/>
          <p:cNvSpPr/>
          <p:nvPr/>
        </p:nvSpPr>
        <p:spPr>
          <a:xfrm>
            <a:off x="6510528" y="1517904"/>
            <a:ext cx="347472" cy="347472"/>
          </a:xfrm>
          <a:prstGeom prst="ellipse">
            <a:avLst/>
          </a:prstGeom>
          <a:solidFill>
            <a:srgbClr val="1D3148"/>
          </a:solidFill>
          <a:ln w="12700">
            <a:solidFill>
              <a:srgbClr val="8FA3B8"/>
            </a:solidFill>
            <a:prstDash val="solid"/>
          </a:ln>
        </p:spPr>
      </p:sp>
      <p:sp>
        <p:nvSpPr>
          <p:cNvPr id="7" name="Text 3"/>
          <p:cNvSpPr/>
          <p:nvPr/>
        </p:nvSpPr>
        <p:spPr>
          <a:xfrm>
            <a:off x="6510528" y="15179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4"/>
          <p:cNvSpPr/>
          <p:nvPr/>
        </p:nvSpPr>
        <p:spPr>
          <a:xfrm>
            <a:off x="6986016" y="1527048"/>
            <a:ext cx="42976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Day 6 — GREEN · Scenario A</a:t>
            </a:r>
            <a:endParaRPr lang="en-US" sz="1300" dirty="0"/>
          </a:p>
        </p:txBody>
      </p:sp>
      <p:sp>
        <p:nvSpPr>
          <p:cNvPr id="9" name="Text 5"/>
          <p:cNvSpPr/>
          <p:nvPr/>
        </p:nvSpPr>
        <p:spPr>
          <a:xfrm>
            <a:off x="6986016" y="1801368"/>
            <a:ext cx="4297680" cy="731520"/>
          </a:xfrm>
          <a:prstGeom prst="rect">
            <a:avLst/>
          </a:prstGeom>
          <a:noFill/>
          <a:ln/>
        </p:spPr>
        <p:txBody>
          <a:bodyPr wrap="square" lIns="0" tIns="0" rIns="0" bIns="0" rtlCol="0" anchor="ctr"/>
          <a:lstStyle/>
          <a:p>
            <a:pPr indent="0" marL="0">
              <a:lnSpc>
                <a:spcPts val="1400"/>
              </a:lnSpc>
              <a:buNone/>
            </a:pPr>
            <a:r>
              <a:rPr lang="en-US" sz="1050" dirty="0">
                <a:solidFill>
                  <a:srgbClr val="C9D6E4"/>
                </a:solidFill>
                <a:latin typeface="Calibri" pitchFamily="34" charset="0"/>
                <a:ea typeface="Calibri" pitchFamily="34" charset="-122"/>
                <a:cs typeface="Calibri" pitchFamily="34" charset="-120"/>
              </a:rPr>
              <a:t>A scab worries the patient. The system reassures and names the reason. No call to the clinic.</a:t>
            </a:r>
            <a:endParaRPr lang="en-US" sz="1050" dirty="0"/>
          </a:p>
        </p:txBody>
      </p:sp>
      <p:sp>
        <p:nvSpPr>
          <p:cNvPr id="10" name="Shape 6"/>
          <p:cNvSpPr/>
          <p:nvPr/>
        </p:nvSpPr>
        <p:spPr>
          <a:xfrm>
            <a:off x="6510528" y="2651760"/>
            <a:ext cx="347472" cy="347472"/>
          </a:xfrm>
          <a:prstGeom prst="ellipse">
            <a:avLst/>
          </a:prstGeom>
          <a:solidFill>
            <a:srgbClr val="1D3148"/>
          </a:solidFill>
          <a:ln w="12700">
            <a:solidFill>
              <a:srgbClr val="8FA3B8"/>
            </a:solidFill>
            <a:prstDash val="solid"/>
          </a:ln>
        </p:spPr>
      </p:sp>
      <p:sp>
        <p:nvSpPr>
          <p:cNvPr id="11" name="Text 7"/>
          <p:cNvSpPr/>
          <p:nvPr/>
        </p:nvSpPr>
        <p:spPr>
          <a:xfrm>
            <a:off x="6510528" y="26517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8"/>
          <p:cNvSpPr/>
          <p:nvPr/>
        </p:nvSpPr>
        <p:spPr>
          <a:xfrm>
            <a:off x="6986016" y="2660904"/>
            <a:ext cx="42976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Day 7 — ORANGE · Scenario B</a:t>
            </a:r>
            <a:endParaRPr lang="en-US" sz="1300" dirty="0"/>
          </a:p>
        </p:txBody>
      </p:sp>
      <p:sp>
        <p:nvSpPr>
          <p:cNvPr id="13" name="Text 9"/>
          <p:cNvSpPr/>
          <p:nvPr/>
        </p:nvSpPr>
        <p:spPr>
          <a:xfrm>
            <a:off x="6986016" y="2935224"/>
            <a:ext cx="4297680" cy="731520"/>
          </a:xfrm>
          <a:prstGeom prst="rect">
            <a:avLst/>
          </a:prstGeom>
          <a:noFill/>
          <a:ln/>
        </p:spPr>
        <p:txBody>
          <a:bodyPr wrap="square" lIns="0" tIns="0" rIns="0" bIns="0" rtlCol="0" anchor="ctr"/>
          <a:lstStyle/>
          <a:p>
            <a:pPr indent="0" marL="0">
              <a:lnSpc>
                <a:spcPts val="1400"/>
              </a:lnSpc>
              <a:buNone/>
            </a:pPr>
            <a:r>
              <a:rPr lang="en-US" sz="1050" dirty="0">
                <a:solidFill>
                  <a:srgbClr val="C9D6E4"/>
                </a:solidFill>
                <a:latin typeface="Calibri" pitchFamily="34" charset="0"/>
                <a:ea typeface="Calibri" pitchFamily="34" charset="-122"/>
                <a:cs typeface="Calibri" pitchFamily="34" charset="-120"/>
              </a:rPr>
              <a:t>Purulent discharge, 38.3 °C. R4 fires, the patient is told to contact the practice today, a FHIR Communication goes out.</a:t>
            </a:r>
            <a:endParaRPr lang="en-US" sz="1050" dirty="0"/>
          </a:p>
        </p:txBody>
      </p:sp>
      <p:sp>
        <p:nvSpPr>
          <p:cNvPr id="14" name="Shape 10"/>
          <p:cNvSpPr/>
          <p:nvPr/>
        </p:nvSpPr>
        <p:spPr>
          <a:xfrm>
            <a:off x="6510528" y="3785616"/>
            <a:ext cx="347472" cy="347472"/>
          </a:xfrm>
          <a:prstGeom prst="ellipse">
            <a:avLst/>
          </a:prstGeom>
          <a:solidFill>
            <a:srgbClr val="1D3148"/>
          </a:solidFill>
          <a:ln w="12700">
            <a:solidFill>
              <a:srgbClr val="8FA3B8"/>
            </a:solidFill>
            <a:prstDash val="solid"/>
          </a:ln>
        </p:spPr>
      </p:sp>
      <p:sp>
        <p:nvSpPr>
          <p:cNvPr id="15" name="Text 11"/>
          <p:cNvSpPr/>
          <p:nvPr/>
        </p:nvSpPr>
        <p:spPr>
          <a:xfrm>
            <a:off x="6510528" y="378561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2"/>
          <p:cNvSpPr/>
          <p:nvPr/>
        </p:nvSpPr>
        <p:spPr>
          <a:xfrm>
            <a:off x="6986016" y="3794760"/>
            <a:ext cx="42976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Threshold change</a:t>
            </a:r>
            <a:endParaRPr lang="en-US" sz="1300" dirty="0"/>
          </a:p>
        </p:txBody>
      </p:sp>
      <p:sp>
        <p:nvSpPr>
          <p:cNvPr id="17" name="Text 13"/>
          <p:cNvSpPr/>
          <p:nvPr/>
        </p:nvSpPr>
        <p:spPr>
          <a:xfrm>
            <a:off x="6986016" y="4069080"/>
            <a:ext cx="4297680" cy="731520"/>
          </a:xfrm>
          <a:prstGeom prst="rect">
            <a:avLst/>
          </a:prstGeom>
          <a:noFill/>
          <a:ln/>
        </p:spPr>
        <p:txBody>
          <a:bodyPr wrap="square" lIns="0" tIns="0" rIns="0" bIns="0" rtlCol="0" anchor="ctr"/>
          <a:lstStyle/>
          <a:p>
            <a:pPr indent="0" marL="0">
              <a:lnSpc>
                <a:spcPts val="1400"/>
              </a:lnSpc>
              <a:buNone/>
            </a:pPr>
            <a:r>
              <a:rPr lang="en-US" sz="1050" dirty="0">
                <a:solidFill>
                  <a:srgbClr val="C9D6E4"/>
                </a:solidFill>
                <a:latin typeface="Calibri" pitchFamily="34" charset="0"/>
                <a:ea typeface="Calibri" pitchFamily="34" charset="-122"/>
                <a:cs typeface="Calibri" pitchFamily="34" charset="-120"/>
              </a:rPr>
              <a:t>fever_orange 38.0 → 37.5 in the L3 inspector. Same case, different result. No rebuild, no developer, not a line of code.</a:t>
            </a:r>
            <a:endParaRPr lang="en-US" sz="1050" dirty="0"/>
          </a:p>
        </p:txBody>
      </p:sp>
      <p:sp>
        <p:nvSpPr>
          <p:cNvPr id="18" name="Shape 14"/>
          <p:cNvSpPr/>
          <p:nvPr/>
        </p:nvSpPr>
        <p:spPr>
          <a:xfrm>
            <a:off x="6510528" y="4992624"/>
            <a:ext cx="4773168" cy="1517904"/>
          </a:xfrm>
          <a:prstGeom prst="roundRect">
            <a:avLst>
              <a:gd name="adj" fmla="val 5422"/>
            </a:avLst>
          </a:prstGeom>
          <a:solidFill>
            <a:srgbClr val="1D3148"/>
          </a:solidFill>
          <a:ln w="12700">
            <a:solidFill>
              <a:srgbClr val="1D3148"/>
            </a:solidFill>
            <a:prstDash val="solid"/>
          </a:ln>
        </p:spPr>
      </p:sp>
      <p:sp>
        <p:nvSpPr>
          <p:cNvPr id="19" name="Text 15"/>
          <p:cNvSpPr/>
          <p:nvPr/>
        </p:nvSpPr>
        <p:spPr>
          <a:xfrm>
            <a:off x="6748272" y="5120640"/>
            <a:ext cx="438912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Why the interface looks like this</a:t>
            </a:r>
            <a:endParaRPr lang="en-US" sz="1200" dirty="0"/>
          </a:p>
        </p:txBody>
      </p:sp>
      <p:sp>
        <p:nvSpPr>
          <p:cNvPr id="20" name="Text 16"/>
          <p:cNvSpPr/>
          <p:nvPr/>
        </p:nvSpPr>
        <p:spPr>
          <a:xfrm>
            <a:off x="6748272" y="5394960"/>
            <a:ext cx="4389120" cy="1005840"/>
          </a:xfrm>
          <a:prstGeom prst="rect">
            <a:avLst/>
          </a:prstGeom>
          <a:noFill/>
          <a:ln/>
        </p:spPr>
        <p:txBody>
          <a:bodyPr wrap="square" lIns="0" tIns="0" rIns="0" bIns="0" rtlCol="0" anchor="t"/>
          <a:lstStyle/>
          <a:p>
            <a:pPr marL="152400" indent="-152400">
              <a:lnSpc>
                <a:spcPts val="1200"/>
              </a:lnSpc>
              <a:spcAft>
                <a:spcPts val="300"/>
              </a:spcAft>
              <a:buSzPct val="100000"/>
              <a:buChar char="•"/>
            </a:pPr>
            <a:r>
              <a:rPr lang="en-US" sz="950" dirty="0">
                <a:solidFill>
                  <a:srgbClr val="C9D6E4"/>
                </a:solidFill>
                <a:latin typeface="Calibri" pitchFamily="34" charset="0"/>
                <a:ea typeface="Calibri" pitchFamily="34" charset="-122"/>
                <a:cs typeface="Calibri" pitchFamily="34" charset="-120"/>
              </a:rPr>
              <a:t>Images, not clinical terms — crosses language and literacy barriers</a:t>
            </a:r>
            <a:endParaRPr lang="en-US" sz="950" dirty="0"/>
          </a:p>
          <a:p>
            <a:pPr marL="152400" indent="-152400">
              <a:lnSpc>
                <a:spcPts val="1200"/>
              </a:lnSpc>
              <a:spcAft>
                <a:spcPts val="300"/>
              </a:spcAft>
              <a:buSzPct val="100000"/>
              <a:buChar char="•"/>
            </a:pPr>
            <a:r>
              <a:rPr lang="en-US" sz="950" dirty="0">
                <a:solidFill>
                  <a:srgbClr val="C9D6E4"/>
                </a:solidFill>
                <a:latin typeface="Calibri" pitchFamily="34" charset="0"/>
                <a:ea typeface="Calibri" pitchFamily="34" charset="-122"/>
                <a:cs typeface="Calibri" pitchFamily="34" charset="-120"/>
              </a:rPr>
              <a:t>The result names its reason, not just a colour — against automation bias</a:t>
            </a:r>
            <a:endParaRPr lang="en-US" sz="950" dirty="0"/>
          </a:p>
          <a:p>
            <a:pPr marL="152400" indent="-152400">
              <a:lnSpc>
                <a:spcPts val="1200"/>
              </a:lnSpc>
              <a:spcAft>
                <a:spcPts val="300"/>
              </a:spcAft>
              <a:buSzPct val="100000"/>
              <a:buChar char="•"/>
            </a:pPr>
            <a:r>
              <a:rPr lang="en-US" sz="950" dirty="0">
                <a:solidFill>
                  <a:srgbClr val="C9D6E4"/>
                </a:solidFill>
                <a:latin typeface="Calibri" pitchFamily="34" charset="0"/>
                <a:ea typeface="Calibri" pitchFamily="34" charset="-122"/>
                <a:cs typeface="Calibri" pitchFamily="34" charset="-120"/>
              </a:rPr>
              <a:t>Reassurance is a first-class output, not a leftover</a:t>
            </a:r>
            <a:endParaRPr lang="en-US" sz="950" dirty="0"/>
          </a:p>
          <a:p>
            <a:pPr marL="152400" indent="-152400">
              <a:lnSpc>
                <a:spcPts val="1200"/>
              </a:lnSpc>
              <a:spcAft>
                <a:spcPts val="300"/>
              </a:spcAft>
              <a:buSzPct val="100000"/>
              <a:buChar char="•"/>
            </a:pPr>
            <a:r>
              <a:rPr lang="en-US" sz="950" dirty="0">
                <a:solidFill>
                  <a:srgbClr val="C9D6E4"/>
                </a:solidFill>
                <a:latin typeface="Calibri" pitchFamily="34" charset="0"/>
                <a:ea typeface="Calibri" pitchFamily="34" charset="-122"/>
                <a:cs typeface="Calibri" pitchFamily="34" charset="-120"/>
              </a:rPr>
              <a:t>Baseline data once only — a daily check has to stay under 3 minutes</a:t>
            </a:r>
            <a:endParaRPr lang="en-US" sz="950" dirty="0"/>
          </a:p>
        </p:txBody>
      </p:sp>
      <p:sp>
        <p:nvSpPr>
          <p:cNvPr id="21" name="Text 17"/>
          <p:cNvSpPr/>
          <p:nvPr/>
        </p:nvSpPr>
        <p:spPr>
          <a:xfrm>
            <a:off x="566928" y="6455664"/>
            <a:ext cx="5486400" cy="274320"/>
          </a:xfrm>
          <a:prstGeom prst="rect">
            <a:avLst/>
          </a:prstGeom>
          <a:noFill/>
          <a:ln/>
        </p:spPr>
        <p:txBody>
          <a:bodyPr wrap="square" lIns="0" tIns="0" rIns="0" bIns="0" rtlCol="0" anchor="ctr"/>
          <a:lstStyle/>
          <a:p>
            <a:pPr algn="ctr" indent="0" marL="0">
              <a:buNone/>
            </a:pPr>
            <a:r>
              <a:rPr lang="en-US" sz="950" i="1" dirty="0">
                <a:solidFill>
                  <a:srgbClr val="8FA3B8"/>
                </a:solidFill>
                <a:latin typeface="Calibri" pitchFamily="34" charset="0"/>
                <a:ea typeface="Calibri" pitchFamily="34" charset="-122"/>
                <a:cs typeface="Calibri" pitchFamily="34" charset="-120"/>
              </a:rPr>
              <a:t>▶  Demo video: submission/WundCheck_L4_Demo.mp4 · 1:46   ·   Single HTML file · offline · no installation · EN / DE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QUALITY ASSURANCE</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Two defects were invisible until the rules actually ran</a:t>
            </a:r>
            <a:endParaRPr lang="en-US" sz="2700" dirty="0"/>
          </a:p>
        </p:txBody>
      </p:sp>
      <p:sp>
        <p:nvSpPr>
          <p:cNvPr id="4" name="Shape 2"/>
          <p:cNvSpPr/>
          <p:nvPr/>
        </p:nvSpPr>
        <p:spPr>
          <a:xfrm>
            <a:off x="566928" y="1627632"/>
            <a:ext cx="7132320" cy="457200"/>
          </a:xfrm>
          <a:prstGeom prst="roundRect">
            <a:avLst>
              <a:gd name="adj" fmla="val 18000"/>
            </a:avLst>
          </a:prstGeom>
          <a:solidFill>
            <a:srgbClr val="FFFFFF"/>
          </a:solidFill>
          <a:ln w="12700">
            <a:solidFill>
              <a:srgbClr val="FFFFFF"/>
            </a:solidFill>
            <a:prstDash val="solid"/>
          </a:ln>
        </p:spPr>
      </p:sp>
      <p:sp>
        <p:nvSpPr>
          <p:cNvPr id="5" name="Shape 3"/>
          <p:cNvSpPr/>
          <p:nvPr/>
        </p:nvSpPr>
        <p:spPr>
          <a:xfrm>
            <a:off x="749808" y="1783080"/>
            <a:ext cx="146304" cy="146304"/>
          </a:xfrm>
          <a:prstGeom prst="ellipse">
            <a:avLst/>
          </a:prstGeom>
          <a:solidFill>
            <a:srgbClr val="C0281C"/>
          </a:solidFill>
          <a:ln w="12700">
            <a:solidFill>
              <a:srgbClr val="C0281C"/>
            </a:solidFill>
            <a:prstDash val="solid"/>
          </a:ln>
        </p:spPr>
      </p:sp>
      <p:sp>
        <p:nvSpPr>
          <p:cNvPr id="6" name="Text 4"/>
          <p:cNvSpPr/>
          <p:nvPr/>
        </p:nvSpPr>
        <p:spPr>
          <a:xfrm>
            <a:off x="1024128" y="1627632"/>
            <a:ext cx="594360" cy="457200"/>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B-01</a:t>
            </a:r>
            <a:endParaRPr lang="en-US" sz="1050" dirty="0"/>
          </a:p>
        </p:txBody>
      </p:sp>
      <p:sp>
        <p:nvSpPr>
          <p:cNvPr id="7" name="Text 5"/>
          <p:cNvSpPr/>
          <p:nvPr/>
        </p:nvSpPr>
        <p:spPr>
          <a:xfrm>
            <a:off x="1664208" y="1627632"/>
            <a:ext cx="5303520" cy="457200"/>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Marked inflammation on day 1–2 classified GREEN</a:t>
            </a:r>
            <a:endParaRPr lang="en-US" sz="1100" dirty="0"/>
          </a:p>
        </p:txBody>
      </p:sp>
      <p:sp>
        <p:nvSpPr>
          <p:cNvPr id="8" name="Text 6"/>
          <p:cNvSpPr/>
          <p:nvPr/>
        </p:nvSpPr>
        <p:spPr>
          <a:xfrm>
            <a:off x="6876288" y="1627632"/>
            <a:ext cx="685800" cy="457200"/>
          </a:xfrm>
          <a:prstGeom prst="rect">
            <a:avLst/>
          </a:prstGeom>
          <a:noFill/>
          <a:ln/>
        </p:spPr>
        <p:txBody>
          <a:bodyPr wrap="square" lIns="0" tIns="0" rIns="0" bIns="0" rtlCol="0" anchor="ctr"/>
          <a:lstStyle/>
          <a:p>
            <a:pPr algn="r" indent="0" marL="0">
              <a:buNone/>
            </a:pPr>
            <a:r>
              <a:rPr lang="en-US" sz="950" dirty="0">
                <a:solidFill>
                  <a:srgbClr val="5D7186"/>
                </a:solidFill>
                <a:latin typeface="Calibri" pitchFamily="34" charset="0"/>
                <a:ea typeface="Calibri" pitchFamily="34" charset="-122"/>
                <a:cs typeface="Calibri" pitchFamily="34" charset="-120"/>
              </a:rPr>
              <a:t>L2</a:t>
            </a:r>
            <a:endParaRPr lang="en-US" sz="950" dirty="0"/>
          </a:p>
        </p:txBody>
      </p:sp>
      <p:sp>
        <p:nvSpPr>
          <p:cNvPr id="9" name="Shape 7"/>
          <p:cNvSpPr/>
          <p:nvPr/>
        </p:nvSpPr>
        <p:spPr>
          <a:xfrm>
            <a:off x="566928" y="2176272"/>
            <a:ext cx="7132320" cy="457200"/>
          </a:xfrm>
          <a:prstGeom prst="roundRect">
            <a:avLst>
              <a:gd name="adj" fmla="val 18000"/>
            </a:avLst>
          </a:prstGeom>
          <a:solidFill>
            <a:srgbClr val="F5F7FA"/>
          </a:solidFill>
          <a:ln w="12700">
            <a:solidFill>
              <a:srgbClr val="DDE5EE"/>
            </a:solidFill>
            <a:prstDash val="solid"/>
          </a:ln>
        </p:spPr>
      </p:sp>
      <p:sp>
        <p:nvSpPr>
          <p:cNvPr id="10" name="Shape 8"/>
          <p:cNvSpPr/>
          <p:nvPr/>
        </p:nvSpPr>
        <p:spPr>
          <a:xfrm>
            <a:off x="749808" y="2331720"/>
            <a:ext cx="146304" cy="146304"/>
          </a:xfrm>
          <a:prstGeom prst="ellipse">
            <a:avLst/>
          </a:prstGeom>
          <a:solidFill>
            <a:srgbClr val="C0281C"/>
          </a:solidFill>
          <a:ln w="12700">
            <a:solidFill>
              <a:srgbClr val="C0281C"/>
            </a:solidFill>
            <a:prstDash val="solid"/>
          </a:ln>
        </p:spPr>
      </p:sp>
      <p:sp>
        <p:nvSpPr>
          <p:cNvPr id="11" name="Text 9"/>
          <p:cNvSpPr/>
          <p:nvPr/>
        </p:nvSpPr>
        <p:spPr>
          <a:xfrm>
            <a:off x="1024128" y="2176272"/>
            <a:ext cx="594360" cy="457200"/>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B-02</a:t>
            </a:r>
            <a:endParaRPr lang="en-US" sz="1050" dirty="0"/>
          </a:p>
        </p:txBody>
      </p:sp>
      <p:sp>
        <p:nvSpPr>
          <p:cNvPr id="12" name="Text 10"/>
          <p:cNvSpPr/>
          <p:nvPr/>
        </p:nvSpPr>
        <p:spPr>
          <a:xfrm>
            <a:off x="1664208" y="2176272"/>
            <a:ext cx="5303520" cy="457200"/>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“I feel really unwell” triggered nothing at all</a:t>
            </a:r>
            <a:endParaRPr lang="en-US" sz="1100" dirty="0"/>
          </a:p>
        </p:txBody>
      </p:sp>
      <p:sp>
        <p:nvSpPr>
          <p:cNvPr id="13" name="Text 11"/>
          <p:cNvSpPr/>
          <p:nvPr/>
        </p:nvSpPr>
        <p:spPr>
          <a:xfrm>
            <a:off x="6876288" y="2176272"/>
            <a:ext cx="685800" cy="457200"/>
          </a:xfrm>
          <a:prstGeom prst="rect">
            <a:avLst/>
          </a:prstGeom>
          <a:noFill/>
          <a:ln/>
        </p:spPr>
        <p:txBody>
          <a:bodyPr wrap="square" lIns="0" tIns="0" rIns="0" bIns="0" rtlCol="0" anchor="ctr"/>
          <a:lstStyle/>
          <a:p>
            <a:pPr algn="r" indent="0" marL="0">
              <a:buNone/>
            </a:pPr>
            <a:r>
              <a:rPr lang="en-US" sz="950" dirty="0">
                <a:solidFill>
                  <a:srgbClr val="5D7186"/>
                </a:solidFill>
                <a:latin typeface="Calibri" pitchFamily="34" charset="0"/>
                <a:ea typeface="Calibri" pitchFamily="34" charset="-122"/>
                <a:cs typeface="Calibri" pitchFamily="34" charset="-120"/>
              </a:rPr>
              <a:t>L2</a:t>
            </a:r>
            <a:endParaRPr lang="en-US" sz="950" dirty="0"/>
          </a:p>
        </p:txBody>
      </p:sp>
      <p:sp>
        <p:nvSpPr>
          <p:cNvPr id="14" name="Shape 12"/>
          <p:cNvSpPr/>
          <p:nvPr/>
        </p:nvSpPr>
        <p:spPr>
          <a:xfrm>
            <a:off x="566928" y="2724912"/>
            <a:ext cx="7132320" cy="457200"/>
          </a:xfrm>
          <a:prstGeom prst="roundRect">
            <a:avLst>
              <a:gd name="adj" fmla="val 18000"/>
            </a:avLst>
          </a:prstGeom>
          <a:solidFill>
            <a:srgbClr val="FFFFFF"/>
          </a:solidFill>
          <a:ln w="12700">
            <a:solidFill>
              <a:srgbClr val="FFFFFF"/>
            </a:solidFill>
            <a:prstDash val="solid"/>
          </a:ln>
        </p:spPr>
      </p:sp>
      <p:sp>
        <p:nvSpPr>
          <p:cNvPr id="15" name="Shape 13"/>
          <p:cNvSpPr/>
          <p:nvPr/>
        </p:nvSpPr>
        <p:spPr>
          <a:xfrm>
            <a:off x="749808" y="2880360"/>
            <a:ext cx="146304" cy="146304"/>
          </a:xfrm>
          <a:prstGeom prst="ellipse">
            <a:avLst/>
          </a:prstGeom>
          <a:solidFill>
            <a:srgbClr val="C0281C"/>
          </a:solidFill>
          <a:ln w="12700">
            <a:solidFill>
              <a:srgbClr val="C0281C"/>
            </a:solidFill>
            <a:prstDash val="solid"/>
          </a:ln>
        </p:spPr>
      </p:sp>
      <p:sp>
        <p:nvSpPr>
          <p:cNvPr id="16" name="Text 14"/>
          <p:cNvSpPr/>
          <p:nvPr/>
        </p:nvSpPr>
        <p:spPr>
          <a:xfrm>
            <a:off x="1024128" y="2724912"/>
            <a:ext cx="594360" cy="457200"/>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B-03</a:t>
            </a:r>
            <a:endParaRPr lang="en-US" sz="1050" dirty="0"/>
          </a:p>
        </p:txBody>
      </p:sp>
      <p:sp>
        <p:nvSpPr>
          <p:cNvPr id="17" name="Text 15"/>
          <p:cNvSpPr/>
          <p:nvPr/>
        </p:nvSpPr>
        <p:spPr>
          <a:xfrm>
            <a:off x="1664208" y="2724912"/>
            <a:ext cx="5303520" cy="457200"/>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Emergency rule unreachable behind conditional logic</a:t>
            </a:r>
            <a:endParaRPr lang="en-US" sz="1100" dirty="0"/>
          </a:p>
        </p:txBody>
      </p:sp>
      <p:sp>
        <p:nvSpPr>
          <p:cNvPr id="18" name="Text 16"/>
          <p:cNvSpPr/>
          <p:nvPr/>
        </p:nvSpPr>
        <p:spPr>
          <a:xfrm>
            <a:off x="6876288" y="2724912"/>
            <a:ext cx="685800" cy="457200"/>
          </a:xfrm>
          <a:prstGeom prst="rect">
            <a:avLst/>
          </a:prstGeom>
          <a:noFill/>
          <a:ln/>
        </p:spPr>
        <p:txBody>
          <a:bodyPr wrap="square" lIns="0" tIns="0" rIns="0" bIns="0" rtlCol="0" anchor="ctr"/>
          <a:lstStyle/>
          <a:p>
            <a:pPr algn="r" indent="0" marL="0">
              <a:buNone/>
            </a:pPr>
            <a:r>
              <a:rPr lang="en-US" sz="950" dirty="0">
                <a:solidFill>
                  <a:srgbClr val="5D7186"/>
                </a:solidFill>
                <a:latin typeface="Calibri" pitchFamily="34" charset="0"/>
                <a:ea typeface="Calibri" pitchFamily="34" charset="-122"/>
                <a:cs typeface="Calibri" pitchFamily="34" charset="-120"/>
              </a:rPr>
              <a:t>L2/L3</a:t>
            </a:r>
            <a:endParaRPr lang="en-US" sz="950" dirty="0"/>
          </a:p>
        </p:txBody>
      </p:sp>
      <p:sp>
        <p:nvSpPr>
          <p:cNvPr id="19" name="Shape 17"/>
          <p:cNvSpPr/>
          <p:nvPr/>
        </p:nvSpPr>
        <p:spPr>
          <a:xfrm>
            <a:off x="566928" y="3273552"/>
            <a:ext cx="7132320" cy="457200"/>
          </a:xfrm>
          <a:prstGeom prst="roundRect">
            <a:avLst>
              <a:gd name="adj" fmla="val 18000"/>
            </a:avLst>
          </a:prstGeom>
          <a:solidFill>
            <a:srgbClr val="F5F7FA"/>
          </a:solidFill>
          <a:ln w="12700">
            <a:solidFill>
              <a:srgbClr val="DDE5EE"/>
            </a:solidFill>
            <a:prstDash val="solid"/>
          </a:ln>
        </p:spPr>
      </p:sp>
      <p:sp>
        <p:nvSpPr>
          <p:cNvPr id="20" name="Shape 18"/>
          <p:cNvSpPr/>
          <p:nvPr/>
        </p:nvSpPr>
        <p:spPr>
          <a:xfrm>
            <a:off x="749808" y="3429000"/>
            <a:ext cx="146304" cy="146304"/>
          </a:xfrm>
          <a:prstGeom prst="ellipse">
            <a:avLst/>
          </a:prstGeom>
          <a:solidFill>
            <a:srgbClr val="9C6D00"/>
          </a:solidFill>
          <a:ln w="12700">
            <a:solidFill>
              <a:srgbClr val="9C6D00"/>
            </a:solidFill>
            <a:prstDash val="solid"/>
          </a:ln>
        </p:spPr>
      </p:sp>
      <p:sp>
        <p:nvSpPr>
          <p:cNvPr id="21" name="Text 19"/>
          <p:cNvSpPr/>
          <p:nvPr/>
        </p:nvSpPr>
        <p:spPr>
          <a:xfrm>
            <a:off x="1024128" y="3273552"/>
            <a:ext cx="594360" cy="457200"/>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B-04</a:t>
            </a:r>
            <a:endParaRPr lang="en-US" sz="1050" dirty="0"/>
          </a:p>
        </p:txBody>
      </p:sp>
      <p:sp>
        <p:nvSpPr>
          <p:cNvPr id="22" name="Text 20"/>
          <p:cNvSpPr/>
          <p:nvPr/>
        </p:nvSpPr>
        <p:spPr>
          <a:xfrm>
            <a:off x="1664208" y="3273552"/>
            <a:ext cx="5303520" cy="457200"/>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Fever threshold duplicated in two places</a:t>
            </a:r>
            <a:endParaRPr lang="en-US" sz="1100" dirty="0"/>
          </a:p>
        </p:txBody>
      </p:sp>
      <p:sp>
        <p:nvSpPr>
          <p:cNvPr id="23" name="Text 21"/>
          <p:cNvSpPr/>
          <p:nvPr/>
        </p:nvSpPr>
        <p:spPr>
          <a:xfrm>
            <a:off x="6876288" y="3273552"/>
            <a:ext cx="685800" cy="457200"/>
          </a:xfrm>
          <a:prstGeom prst="rect">
            <a:avLst/>
          </a:prstGeom>
          <a:noFill/>
          <a:ln/>
        </p:spPr>
        <p:txBody>
          <a:bodyPr wrap="square" lIns="0" tIns="0" rIns="0" bIns="0" rtlCol="0" anchor="ctr"/>
          <a:lstStyle/>
          <a:p>
            <a:pPr algn="r" indent="0" marL="0">
              <a:buNone/>
            </a:pPr>
            <a:r>
              <a:rPr lang="en-US" sz="950" dirty="0">
                <a:solidFill>
                  <a:srgbClr val="5D7186"/>
                </a:solidFill>
                <a:latin typeface="Calibri" pitchFamily="34" charset="0"/>
                <a:ea typeface="Calibri" pitchFamily="34" charset="-122"/>
                <a:cs typeface="Calibri" pitchFamily="34" charset="-120"/>
              </a:rPr>
              <a:t>L3</a:t>
            </a:r>
            <a:endParaRPr lang="en-US" sz="950" dirty="0"/>
          </a:p>
        </p:txBody>
      </p:sp>
      <p:sp>
        <p:nvSpPr>
          <p:cNvPr id="24" name="Shape 22"/>
          <p:cNvSpPr/>
          <p:nvPr/>
        </p:nvSpPr>
        <p:spPr>
          <a:xfrm>
            <a:off x="566928" y="3822192"/>
            <a:ext cx="7132320" cy="457200"/>
          </a:xfrm>
          <a:prstGeom prst="roundRect">
            <a:avLst>
              <a:gd name="adj" fmla="val 18000"/>
            </a:avLst>
          </a:prstGeom>
          <a:solidFill>
            <a:srgbClr val="FFFFFF"/>
          </a:solidFill>
          <a:ln w="12700">
            <a:solidFill>
              <a:srgbClr val="FFFFFF"/>
            </a:solidFill>
            <a:prstDash val="solid"/>
          </a:ln>
        </p:spPr>
      </p:sp>
      <p:sp>
        <p:nvSpPr>
          <p:cNvPr id="25" name="Shape 23"/>
          <p:cNvSpPr/>
          <p:nvPr/>
        </p:nvSpPr>
        <p:spPr>
          <a:xfrm>
            <a:off x="749808" y="3977640"/>
            <a:ext cx="146304" cy="146304"/>
          </a:xfrm>
          <a:prstGeom prst="ellipse">
            <a:avLst/>
          </a:prstGeom>
          <a:solidFill>
            <a:srgbClr val="1A7F4B"/>
          </a:solidFill>
          <a:ln w="12700">
            <a:solidFill>
              <a:srgbClr val="1A7F4B"/>
            </a:solidFill>
            <a:prstDash val="solid"/>
          </a:ln>
        </p:spPr>
      </p:sp>
      <p:sp>
        <p:nvSpPr>
          <p:cNvPr id="26" name="Text 24"/>
          <p:cNvSpPr/>
          <p:nvPr/>
        </p:nvSpPr>
        <p:spPr>
          <a:xfrm>
            <a:off x="1024128" y="3822192"/>
            <a:ext cx="594360" cy="457200"/>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B-05</a:t>
            </a:r>
            <a:endParaRPr lang="en-US" sz="1050" dirty="0"/>
          </a:p>
        </p:txBody>
      </p:sp>
      <p:sp>
        <p:nvSpPr>
          <p:cNvPr id="27" name="Text 25"/>
          <p:cNvSpPr/>
          <p:nvPr/>
        </p:nvSpPr>
        <p:spPr>
          <a:xfrm>
            <a:off x="1664208" y="3822192"/>
            <a:ext cx="5303520" cy="457200"/>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Anticoagulant status collected but never used</a:t>
            </a:r>
            <a:endParaRPr lang="en-US" sz="1100" dirty="0"/>
          </a:p>
        </p:txBody>
      </p:sp>
      <p:sp>
        <p:nvSpPr>
          <p:cNvPr id="28" name="Text 26"/>
          <p:cNvSpPr/>
          <p:nvPr/>
        </p:nvSpPr>
        <p:spPr>
          <a:xfrm>
            <a:off x="6876288" y="3822192"/>
            <a:ext cx="685800" cy="457200"/>
          </a:xfrm>
          <a:prstGeom prst="rect">
            <a:avLst/>
          </a:prstGeom>
          <a:noFill/>
          <a:ln/>
        </p:spPr>
        <p:txBody>
          <a:bodyPr wrap="square" lIns="0" tIns="0" rIns="0" bIns="0" rtlCol="0" anchor="ctr"/>
          <a:lstStyle/>
          <a:p>
            <a:pPr algn="r" indent="0" marL="0">
              <a:buNone/>
            </a:pPr>
            <a:r>
              <a:rPr lang="en-US" sz="950" dirty="0">
                <a:solidFill>
                  <a:srgbClr val="5D7186"/>
                </a:solidFill>
                <a:latin typeface="Calibri" pitchFamily="34" charset="0"/>
                <a:ea typeface="Calibri" pitchFamily="34" charset="-122"/>
                <a:cs typeface="Calibri" pitchFamily="34" charset="-120"/>
              </a:rPr>
              <a:t>L2</a:t>
            </a:r>
            <a:endParaRPr lang="en-US" sz="950" dirty="0"/>
          </a:p>
        </p:txBody>
      </p:sp>
      <p:sp>
        <p:nvSpPr>
          <p:cNvPr id="29" name="Shape 27"/>
          <p:cNvSpPr/>
          <p:nvPr/>
        </p:nvSpPr>
        <p:spPr>
          <a:xfrm>
            <a:off x="566928" y="4370832"/>
            <a:ext cx="7132320" cy="457200"/>
          </a:xfrm>
          <a:prstGeom prst="roundRect">
            <a:avLst>
              <a:gd name="adj" fmla="val 18000"/>
            </a:avLst>
          </a:prstGeom>
          <a:solidFill>
            <a:srgbClr val="F5F7FA"/>
          </a:solidFill>
          <a:ln w="12700">
            <a:solidFill>
              <a:srgbClr val="DDE5EE"/>
            </a:solidFill>
            <a:prstDash val="solid"/>
          </a:ln>
        </p:spPr>
      </p:sp>
      <p:sp>
        <p:nvSpPr>
          <p:cNvPr id="30" name="Shape 28"/>
          <p:cNvSpPr/>
          <p:nvPr/>
        </p:nvSpPr>
        <p:spPr>
          <a:xfrm>
            <a:off x="749808" y="4526280"/>
            <a:ext cx="146304" cy="146304"/>
          </a:xfrm>
          <a:prstGeom prst="ellipse">
            <a:avLst/>
          </a:prstGeom>
          <a:solidFill>
            <a:srgbClr val="9C6D00"/>
          </a:solidFill>
          <a:ln w="12700">
            <a:solidFill>
              <a:srgbClr val="9C6D00"/>
            </a:solidFill>
            <a:prstDash val="solid"/>
          </a:ln>
        </p:spPr>
      </p:sp>
      <p:sp>
        <p:nvSpPr>
          <p:cNvPr id="31" name="Text 29"/>
          <p:cNvSpPr/>
          <p:nvPr/>
        </p:nvSpPr>
        <p:spPr>
          <a:xfrm>
            <a:off x="1024128" y="4370832"/>
            <a:ext cx="594360" cy="457200"/>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B-06</a:t>
            </a:r>
            <a:endParaRPr lang="en-US" sz="1050" dirty="0"/>
          </a:p>
        </p:txBody>
      </p:sp>
      <p:sp>
        <p:nvSpPr>
          <p:cNvPr id="32" name="Text 30"/>
          <p:cNvSpPr/>
          <p:nvPr/>
        </p:nvSpPr>
        <p:spPr>
          <a:xfrm>
            <a:off x="1664208" y="4370832"/>
            <a:ext cx="5303520" cy="457200"/>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Southampton IV mapped RED in one doc, ORANGE in another</a:t>
            </a:r>
            <a:endParaRPr lang="en-US" sz="1100" dirty="0"/>
          </a:p>
        </p:txBody>
      </p:sp>
      <p:sp>
        <p:nvSpPr>
          <p:cNvPr id="33" name="Text 31"/>
          <p:cNvSpPr/>
          <p:nvPr/>
        </p:nvSpPr>
        <p:spPr>
          <a:xfrm>
            <a:off x="6876288" y="4370832"/>
            <a:ext cx="685800" cy="457200"/>
          </a:xfrm>
          <a:prstGeom prst="rect">
            <a:avLst/>
          </a:prstGeom>
          <a:noFill/>
          <a:ln/>
        </p:spPr>
        <p:txBody>
          <a:bodyPr wrap="square" lIns="0" tIns="0" rIns="0" bIns="0" rtlCol="0" anchor="ctr"/>
          <a:lstStyle/>
          <a:p>
            <a:pPr algn="r" indent="0" marL="0">
              <a:buNone/>
            </a:pPr>
            <a:r>
              <a:rPr lang="en-US" sz="950" dirty="0">
                <a:solidFill>
                  <a:srgbClr val="5D7186"/>
                </a:solidFill>
                <a:latin typeface="Calibri" pitchFamily="34" charset="0"/>
                <a:ea typeface="Calibri" pitchFamily="34" charset="-122"/>
                <a:cs typeface="Calibri" pitchFamily="34" charset="-120"/>
              </a:rPr>
              <a:t>L2</a:t>
            </a:r>
            <a:endParaRPr lang="en-US" sz="950" dirty="0"/>
          </a:p>
        </p:txBody>
      </p:sp>
      <p:sp>
        <p:nvSpPr>
          <p:cNvPr id="34" name="Shape 32"/>
          <p:cNvSpPr/>
          <p:nvPr/>
        </p:nvSpPr>
        <p:spPr>
          <a:xfrm>
            <a:off x="566928" y="4919472"/>
            <a:ext cx="7132320" cy="457200"/>
          </a:xfrm>
          <a:prstGeom prst="roundRect">
            <a:avLst>
              <a:gd name="adj" fmla="val 18000"/>
            </a:avLst>
          </a:prstGeom>
          <a:solidFill>
            <a:srgbClr val="FFFFFF"/>
          </a:solidFill>
          <a:ln w="12700">
            <a:solidFill>
              <a:srgbClr val="FFFFFF"/>
            </a:solidFill>
            <a:prstDash val="solid"/>
          </a:ln>
        </p:spPr>
      </p:sp>
      <p:sp>
        <p:nvSpPr>
          <p:cNvPr id="35" name="Shape 33"/>
          <p:cNvSpPr/>
          <p:nvPr/>
        </p:nvSpPr>
        <p:spPr>
          <a:xfrm>
            <a:off x="749808" y="5074920"/>
            <a:ext cx="146304" cy="146304"/>
          </a:xfrm>
          <a:prstGeom prst="ellipse">
            <a:avLst/>
          </a:prstGeom>
          <a:solidFill>
            <a:srgbClr val="C0281C"/>
          </a:solidFill>
          <a:ln w="12700">
            <a:solidFill>
              <a:srgbClr val="C0281C"/>
            </a:solidFill>
            <a:prstDash val="solid"/>
          </a:ln>
        </p:spPr>
      </p:sp>
      <p:sp>
        <p:nvSpPr>
          <p:cNvPr id="36" name="Text 34"/>
          <p:cNvSpPr/>
          <p:nvPr/>
        </p:nvSpPr>
        <p:spPr>
          <a:xfrm>
            <a:off x="1024128" y="4919472"/>
            <a:ext cx="594360" cy="457200"/>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B-07</a:t>
            </a:r>
            <a:endParaRPr lang="en-US" sz="1050" dirty="0"/>
          </a:p>
        </p:txBody>
      </p:sp>
      <p:sp>
        <p:nvSpPr>
          <p:cNvPr id="37" name="Text 35"/>
          <p:cNvSpPr/>
          <p:nvPr/>
        </p:nvSpPr>
        <p:spPr>
          <a:xfrm>
            <a:off x="1664208" y="4919472"/>
            <a:ext cx="5303520" cy="457200"/>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Trend rule could never fire — circular dependency</a:t>
            </a:r>
            <a:endParaRPr lang="en-US" sz="1100" dirty="0"/>
          </a:p>
        </p:txBody>
      </p:sp>
      <p:sp>
        <p:nvSpPr>
          <p:cNvPr id="38" name="Text 36"/>
          <p:cNvSpPr/>
          <p:nvPr/>
        </p:nvSpPr>
        <p:spPr>
          <a:xfrm>
            <a:off x="6876288" y="4919472"/>
            <a:ext cx="685800" cy="457200"/>
          </a:xfrm>
          <a:prstGeom prst="rect">
            <a:avLst/>
          </a:prstGeom>
          <a:noFill/>
          <a:ln/>
        </p:spPr>
        <p:txBody>
          <a:bodyPr wrap="square" lIns="0" tIns="0" rIns="0" bIns="0" rtlCol="0" anchor="ctr"/>
          <a:lstStyle/>
          <a:p>
            <a:pPr algn="r" indent="0" marL="0">
              <a:buNone/>
            </a:pPr>
            <a:r>
              <a:rPr lang="en-US" sz="950" dirty="0">
                <a:solidFill>
                  <a:srgbClr val="5D7186"/>
                </a:solidFill>
                <a:latin typeface="Calibri" pitchFamily="34" charset="0"/>
                <a:ea typeface="Calibri" pitchFamily="34" charset="-122"/>
                <a:cs typeface="Calibri" pitchFamily="34" charset="-120"/>
              </a:rPr>
              <a:t>L3/L4</a:t>
            </a:r>
            <a:endParaRPr lang="en-US" sz="950" dirty="0"/>
          </a:p>
        </p:txBody>
      </p:sp>
      <p:sp>
        <p:nvSpPr>
          <p:cNvPr id="39" name="Shape 37"/>
          <p:cNvSpPr/>
          <p:nvPr/>
        </p:nvSpPr>
        <p:spPr>
          <a:xfrm>
            <a:off x="566928" y="5468112"/>
            <a:ext cx="7132320" cy="457200"/>
          </a:xfrm>
          <a:prstGeom prst="roundRect">
            <a:avLst>
              <a:gd name="adj" fmla="val 18000"/>
            </a:avLst>
          </a:prstGeom>
          <a:solidFill>
            <a:srgbClr val="F5F7FA"/>
          </a:solidFill>
          <a:ln w="12700">
            <a:solidFill>
              <a:srgbClr val="DDE5EE"/>
            </a:solidFill>
            <a:prstDash val="solid"/>
          </a:ln>
        </p:spPr>
      </p:sp>
      <p:sp>
        <p:nvSpPr>
          <p:cNvPr id="40" name="Shape 38"/>
          <p:cNvSpPr/>
          <p:nvPr/>
        </p:nvSpPr>
        <p:spPr>
          <a:xfrm>
            <a:off x="749808" y="5623560"/>
            <a:ext cx="146304" cy="146304"/>
          </a:xfrm>
          <a:prstGeom prst="ellipse">
            <a:avLst/>
          </a:prstGeom>
          <a:solidFill>
            <a:srgbClr val="9C6D00"/>
          </a:solidFill>
          <a:ln w="12700">
            <a:solidFill>
              <a:srgbClr val="9C6D00"/>
            </a:solidFill>
            <a:prstDash val="solid"/>
          </a:ln>
        </p:spPr>
      </p:sp>
      <p:sp>
        <p:nvSpPr>
          <p:cNvPr id="41" name="Text 39"/>
          <p:cNvSpPr/>
          <p:nvPr/>
        </p:nvSpPr>
        <p:spPr>
          <a:xfrm>
            <a:off x="1024128" y="5468112"/>
            <a:ext cx="594360" cy="457200"/>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B-08</a:t>
            </a:r>
            <a:endParaRPr lang="en-US" sz="1050" dirty="0"/>
          </a:p>
        </p:txBody>
      </p:sp>
      <p:sp>
        <p:nvSpPr>
          <p:cNvPr id="42" name="Text 40"/>
          <p:cNvSpPr/>
          <p:nvPr/>
        </p:nvSpPr>
        <p:spPr>
          <a:xfrm>
            <a:off x="1664208" y="5468112"/>
            <a:ext cx="5303520" cy="457200"/>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That same rule was unreachable even after the fix</a:t>
            </a:r>
            <a:endParaRPr lang="en-US" sz="1100" dirty="0"/>
          </a:p>
        </p:txBody>
      </p:sp>
      <p:sp>
        <p:nvSpPr>
          <p:cNvPr id="43" name="Text 41"/>
          <p:cNvSpPr/>
          <p:nvPr/>
        </p:nvSpPr>
        <p:spPr>
          <a:xfrm>
            <a:off x="6876288" y="5468112"/>
            <a:ext cx="685800" cy="457200"/>
          </a:xfrm>
          <a:prstGeom prst="rect">
            <a:avLst/>
          </a:prstGeom>
          <a:noFill/>
          <a:ln/>
        </p:spPr>
        <p:txBody>
          <a:bodyPr wrap="square" lIns="0" tIns="0" rIns="0" bIns="0" rtlCol="0" anchor="ctr"/>
          <a:lstStyle/>
          <a:p>
            <a:pPr algn="r" indent="0" marL="0">
              <a:buNone/>
            </a:pPr>
            <a:r>
              <a:rPr lang="en-US" sz="950" dirty="0">
                <a:solidFill>
                  <a:srgbClr val="5D7186"/>
                </a:solidFill>
                <a:latin typeface="Calibri" pitchFamily="34" charset="0"/>
                <a:ea typeface="Calibri" pitchFamily="34" charset="-122"/>
                <a:cs typeface="Calibri" pitchFamily="34" charset="-120"/>
              </a:rPr>
              <a:t>L2</a:t>
            </a:r>
            <a:endParaRPr lang="en-US" sz="950" dirty="0"/>
          </a:p>
        </p:txBody>
      </p:sp>
      <p:sp>
        <p:nvSpPr>
          <p:cNvPr id="44" name="Shape 42"/>
          <p:cNvSpPr/>
          <p:nvPr/>
        </p:nvSpPr>
        <p:spPr>
          <a:xfrm>
            <a:off x="8293608" y="1627632"/>
            <a:ext cx="3337560" cy="786384"/>
          </a:xfrm>
          <a:prstGeom prst="roundRect">
            <a:avLst>
              <a:gd name="adj" fmla="val 10465"/>
            </a:avLst>
          </a:prstGeom>
          <a:solidFill>
            <a:srgbClr val="F5F7FA"/>
          </a:solidFill>
          <a:ln w="12700">
            <a:solidFill>
              <a:srgbClr val="DDE5EE"/>
            </a:solidFill>
            <a:prstDash val="solid"/>
          </a:ln>
        </p:spPr>
      </p:sp>
      <p:sp>
        <p:nvSpPr>
          <p:cNvPr id="45" name="Text 43"/>
          <p:cNvSpPr/>
          <p:nvPr/>
        </p:nvSpPr>
        <p:spPr>
          <a:xfrm>
            <a:off x="8531352" y="1627632"/>
            <a:ext cx="1371600" cy="786384"/>
          </a:xfrm>
          <a:prstGeom prst="rect">
            <a:avLst/>
          </a:prstGeom>
          <a:noFill/>
          <a:ln/>
        </p:spPr>
        <p:txBody>
          <a:bodyPr wrap="square" lIns="0" tIns="0" rIns="0" bIns="0" rtlCol="0" anchor="ctr"/>
          <a:lstStyle/>
          <a:p>
            <a:pPr indent="0" marL="0">
              <a:buNone/>
            </a:pPr>
            <a:r>
              <a:rPr lang="en-US" sz="2200" b="1" dirty="0">
                <a:solidFill>
                  <a:srgbClr val="12202E"/>
                </a:solidFill>
                <a:latin typeface="Cambria" pitchFamily="34" charset="0"/>
                <a:ea typeface="Cambria" pitchFamily="34" charset="-122"/>
                <a:cs typeface="Cambria" pitchFamily="34" charset="-120"/>
              </a:rPr>
              <a:t>19/19</a:t>
            </a:r>
            <a:endParaRPr lang="en-US" sz="2200" dirty="0"/>
          </a:p>
        </p:txBody>
      </p:sp>
      <p:sp>
        <p:nvSpPr>
          <p:cNvPr id="46" name="Text 44"/>
          <p:cNvSpPr/>
          <p:nvPr/>
        </p:nvSpPr>
        <p:spPr>
          <a:xfrm>
            <a:off x="9893808" y="1627632"/>
            <a:ext cx="1691640" cy="786384"/>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decision-logic tests</a:t>
            </a:r>
            <a:endParaRPr lang="en-US" sz="1050" dirty="0"/>
          </a:p>
        </p:txBody>
      </p:sp>
      <p:sp>
        <p:nvSpPr>
          <p:cNvPr id="47" name="Shape 45"/>
          <p:cNvSpPr/>
          <p:nvPr/>
        </p:nvSpPr>
        <p:spPr>
          <a:xfrm>
            <a:off x="8293608" y="2542032"/>
            <a:ext cx="3337560" cy="786384"/>
          </a:xfrm>
          <a:prstGeom prst="roundRect">
            <a:avLst>
              <a:gd name="adj" fmla="val 10465"/>
            </a:avLst>
          </a:prstGeom>
          <a:solidFill>
            <a:srgbClr val="F5F7FA"/>
          </a:solidFill>
          <a:ln w="12700">
            <a:solidFill>
              <a:srgbClr val="DDE5EE"/>
            </a:solidFill>
            <a:prstDash val="solid"/>
          </a:ln>
        </p:spPr>
      </p:sp>
      <p:sp>
        <p:nvSpPr>
          <p:cNvPr id="48" name="Text 46"/>
          <p:cNvSpPr/>
          <p:nvPr/>
        </p:nvSpPr>
        <p:spPr>
          <a:xfrm>
            <a:off x="8531352" y="2542032"/>
            <a:ext cx="1371600" cy="786384"/>
          </a:xfrm>
          <a:prstGeom prst="rect">
            <a:avLst/>
          </a:prstGeom>
          <a:noFill/>
          <a:ln/>
        </p:spPr>
        <p:txBody>
          <a:bodyPr wrap="square" lIns="0" tIns="0" rIns="0" bIns="0" rtlCol="0" anchor="ctr"/>
          <a:lstStyle/>
          <a:p>
            <a:pPr indent="0" marL="0">
              <a:buNone/>
            </a:pPr>
            <a:r>
              <a:rPr lang="en-US" sz="2200" b="1" dirty="0">
                <a:solidFill>
                  <a:srgbClr val="12202E"/>
                </a:solidFill>
                <a:latin typeface="Cambria" pitchFamily="34" charset="0"/>
                <a:ea typeface="Cambria" pitchFamily="34" charset="-122"/>
                <a:cs typeface="Cambria" pitchFamily="34" charset="-120"/>
              </a:rPr>
              <a:t>20/20</a:t>
            </a:r>
            <a:endParaRPr lang="en-US" sz="2200" dirty="0"/>
          </a:p>
        </p:txBody>
      </p:sp>
      <p:sp>
        <p:nvSpPr>
          <p:cNvPr id="49" name="Text 47"/>
          <p:cNvSpPr/>
          <p:nvPr/>
        </p:nvSpPr>
        <p:spPr>
          <a:xfrm>
            <a:off x="9893808" y="2542032"/>
            <a:ext cx="1691640" cy="786384"/>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FHIR conformance checks</a:t>
            </a:r>
            <a:endParaRPr lang="en-US" sz="1050" dirty="0"/>
          </a:p>
        </p:txBody>
      </p:sp>
      <p:sp>
        <p:nvSpPr>
          <p:cNvPr id="50" name="Shape 48"/>
          <p:cNvSpPr/>
          <p:nvPr/>
        </p:nvSpPr>
        <p:spPr>
          <a:xfrm>
            <a:off x="8293608" y="3456432"/>
            <a:ext cx="3337560" cy="786384"/>
          </a:xfrm>
          <a:prstGeom prst="roundRect">
            <a:avLst>
              <a:gd name="adj" fmla="val 10465"/>
            </a:avLst>
          </a:prstGeom>
          <a:solidFill>
            <a:srgbClr val="F5F7FA"/>
          </a:solidFill>
          <a:ln w="12700">
            <a:solidFill>
              <a:srgbClr val="DDE5EE"/>
            </a:solidFill>
            <a:prstDash val="solid"/>
          </a:ln>
        </p:spPr>
      </p:sp>
      <p:sp>
        <p:nvSpPr>
          <p:cNvPr id="51" name="Text 49"/>
          <p:cNvSpPr/>
          <p:nvPr/>
        </p:nvSpPr>
        <p:spPr>
          <a:xfrm>
            <a:off x="8531352" y="3456432"/>
            <a:ext cx="1371600" cy="786384"/>
          </a:xfrm>
          <a:prstGeom prst="rect">
            <a:avLst/>
          </a:prstGeom>
          <a:noFill/>
          <a:ln/>
        </p:spPr>
        <p:txBody>
          <a:bodyPr wrap="square" lIns="0" tIns="0" rIns="0" bIns="0" rtlCol="0" anchor="ctr"/>
          <a:lstStyle/>
          <a:p>
            <a:pPr indent="0" marL="0">
              <a:buNone/>
            </a:pPr>
            <a:r>
              <a:rPr lang="en-US" sz="2200" b="1" dirty="0">
                <a:solidFill>
                  <a:srgbClr val="12202E"/>
                </a:solidFill>
                <a:latin typeface="Cambria" pitchFamily="34" charset="0"/>
                <a:ea typeface="Cambria" pitchFamily="34" charset="-122"/>
                <a:cs typeface="Cambria" pitchFamily="34" charset="-120"/>
              </a:rPr>
              <a:t>6</a:t>
            </a:r>
            <a:endParaRPr lang="en-US" sz="2200" dirty="0"/>
          </a:p>
        </p:txBody>
      </p:sp>
      <p:sp>
        <p:nvSpPr>
          <p:cNvPr id="52" name="Text 50"/>
          <p:cNvSpPr/>
          <p:nvPr/>
        </p:nvSpPr>
        <p:spPr>
          <a:xfrm>
            <a:off x="9893808" y="3456432"/>
            <a:ext cx="1691640" cy="786384"/>
          </a:xfrm>
          <a:prstGeom prst="rect">
            <a:avLst/>
          </a:prstGeom>
          <a:noFill/>
          <a:ln/>
        </p:spPr>
        <p:txBody>
          <a:bodyPr wrap="square" lIns="0" tIns="0" rIns="0" bIns="0" rtlCol="0" anchor="ctr"/>
          <a:lstStyle/>
          <a:p>
            <a:pPr indent="0" marL="0">
              <a:buNone/>
            </a:pPr>
            <a:r>
              <a:rPr lang="en-US" sz="1050" dirty="0">
                <a:solidFill>
                  <a:srgbClr val="5D7186"/>
                </a:solidFill>
                <a:latin typeface="Calibri" pitchFamily="34" charset="0"/>
                <a:ea typeface="Calibri" pitchFamily="34" charset="-122"/>
                <a:cs typeface="Calibri" pitchFamily="34" charset="-120"/>
              </a:rPr>
              <a:t>hazards ranked</a:t>
            </a:r>
            <a:endParaRPr lang="en-US" sz="1050" dirty="0"/>
          </a:p>
        </p:txBody>
      </p:sp>
      <p:sp>
        <p:nvSpPr>
          <p:cNvPr id="53" name="Shape 51"/>
          <p:cNvSpPr/>
          <p:nvPr/>
        </p:nvSpPr>
        <p:spPr>
          <a:xfrm>
            <a:off x="8293608" y="4370832"/>
            <a:ext cx="3337560" cy="1664208"/>
          </a:xfrm>
          <a:prstGeom prst="roundRect">
            <a:avLst>
              <a:gd name="adj" fmla="val 4945"/>
            </a:avLst>
          </a:prstGeom>
          <a:solidFill>
            <a:srgbClr val="12202E"/>
          </a:solidFill>
          <a:ln w="12700">
            <a:solidFill>
              <a:srgbClr val="12202E"/>
            </a:solidFill>
            <a:prstDash val="solid"/>
          </a:ln>
        </p:spPr>
      </p:sp>
      <p:sp>
        <p:nvSpPr>
          <p:cNvPr id="54" name="Text 52"/>
          <p:cNvSpPr/>
          <p:nvPr/>
        </p:nvSpPr>
        <p:spPr>
          <a:xfrm>
            <a:off x="8531352" y="4535424"/>
            <a:ext cx="28346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Residual risk</a:t>
            </a:r>
            <a:endParaRPr lang="en-US" sz="1200" dirty="0"/>
          </a:p>
        </p:txBody>
      </p:sp>
      <p:sp>
        <p:nvSpPr>
          <p:cNvPr id="55" name="Text 53"/>
          <p:cNvSpPr/>
          <p:nvPr/>
        </p:nvSpPr>
        <p:spPr>
          <a:xfrm>
            <a:off x="8531352" y="4846320"/>
            <a:ext cx="2834640" cy="1097280"/>
          </a:xfrm>
          <a:prstGeom prst="rect">
            <a:avLst/>
          </a:prstGeom>
          <a:noFill/>
          <a:ln/>
        </p:spPr>
        <p:txBody>
          <a:bodyPr wrap="square" lIns="0" tIns="0" rIns="0" bIns="0" rtlCol="0" anchor="t"/>
          <a:lstStyle/>
          <a:p>
            <a:pPr indent="0" marL="0">
              <a:lnSpc>
                <a:spcPts val="1400"/>
              </a:lnSpc>
              <a:buNone/>
            </a:pPr>
            <a:r>
              <a:rPr lang="en-US" sz="1050" dirty="0">
                <a:solidFill>
                  <a:srgbClr val="C9D6E4"/>
                </a:solidFill>
                <a:latin typeface="Calibri" pitchFamily="34" charset="0"/>
                <a:ea typeface="Calibri" pitchFamily="34" charset="-122"/>
                <a:cs typeface="Calibri" pitchFamily="34" charset="-120"/>
              </a:rPr>
              <a:t>We never tested the one thing our whole approach rests on: whether laypeople assign the images correctly. That is monitored after deployment — GREEN cases that still present to a physician within 72 h.</a:t>
            </a:r>
            <a:endParaRPr lang="en-US" sz="1050" dirty="0"/>
          </a:p>
        </p:txBody>
      </p:sp>
      <p:sp>
        <p:nvSpPr>
          <p:cNvPr id="56" name="Text 54"/>
          <p:cNvSpPr/>
          <p:nvPr/>
        </p:nvSpPr>
        <p:spPr>
          <a:xfrm>
            <a:off x="566928" y="6089904"/>
            <a:ext cx="7132320" cy="274320"/>
          </a:xfrm>
          <a:prstGeom prst="rect">
            <a:avLst/>
          </a:prstGeom>
          <a:noFill/>
          <a:ln/>
        </p:spPr>
        <p:txBody>
          <a:bodyPr wrap="square" lIns="0" tIns="0" rIns="0" bIns="0" rtlCol="0" anchor="ctr"/>
          <a:lstStyle/>
          <a:p>
            <a:pPr indent="0" marL="0">
              <a:buNone/>
            </a:pPr>
            <a:r>
              <a:rPr lang="en-US" sz="1100" i="1" dirty="0">
                <a:solidFill>
                  <a:srgbClr val="5D7186"/>
                </a:solidFill>
                <a:latin typeface="Calibri" pitchFamily="34" charset="0"/>
                <a:ea typeface="Calibri" pitchFamily="34" charset="-122"/>
                <a:cs typeface="Calibri" pitchFamily="34" charset="-120"/>
              </a:rPr>
              <a:t>Risk-based testing per Day 5: identify hazards → rank by risk → test critical paths first → document residual risk.</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IMPLEMENTATION, MONITORING &amp; EVALUATION</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How it reaches users, how it is maintained, how we would know it works</a:t>
            </a:r>
            <a:endParaRPr lang="en-US" sz="2700" dirty="0"/>
          </a:p>
        </p:txBody>
      </p:sp>
      <p:sp>
        <p:nvSpPr>
          <p:cNvPr id="4" name="Shape 2"/>
          <p:cNvSpPr/>
          <p:nvPr/>
        </p:nvSpPr>
        <p:spPr>
          <a:xfrm>
            <a:off x="566928" y="1609344"/>
            <a:ext cx="1956816" cy="969264"/>
          </a:xfrm>
          <a:prstGeom prst="roundRect">
            <a:avLst>
              <a:gd name="adj" fmla="val 8491"/>
            </a:avLst>
          </a:prstGeom>
          <a:solidFill>
            <a:srgbClr val="FFFFFF"/>
          </a:solidFill>
          <a:ln w="12700">
            <a:solidFill>
              <a:srgbClr val="DDE5EE"/>
            </a:solidFill>
            <a:prstDash val="solid"/>
          </a:ln>
        </p:spPr>
      </p:sp>
      <p:sp>
        <p:nvSpPr>
          <p:cNvPr id="5" name="Text 3"/>
          <p:cNvSpPr/>
          <p:nvPr/>
        </p:nvSpPr>
        <p:spPr>
          <a:xfrm>
            <a:off x="731520" y="1682496"/>
            <a:ext cx="1691640" cy="256032"/>
          </a:xfrm>
          <a:prstGeom prst="rect">
            <a:avLst/>
          </a:prstGeom>
          <a:noFill/>
          <a:ln/>
        </p:spPr>
        <p:txBody>
          <a:bodyPr wrap="square" lIns="0" tIns="0" rIns="0" bIns="0" rtlCol="0" anchor="ctr"/>
          <a:lstStyle/>
          <a:p>
            <a:pPr indent="0" marL="0">
              <a:buNone/>
            </a:pPr>
            <a:r>
              <a:rPr lang="en-US" sz="1150" b="1" dirty="0">
                <a:solidFill>
                  <a:srgbClr val="12202E"/>
                </a:solidFill>
                <a:latin typeface="Calibri" pitchFamily="34" charset="0"/>
                <a:ea typeface="Calibri" pitchFamily="34" charset="-122"/>
                <a:cs typeface="Calibri" pitchFamily="34" charset="-120"/>
              </a:rPr>
              <a:t>0 · Preparation</a:t>
            </a:r>
            <a:endParaRPr lang="en-US" sz="1150" dirty="0"/>
          </a:p>
        </p:txBody>
      </p:sp>
      <p:sp>
        <p:nvSpPr>
          <p:cNvPr id="6" name="Text 4"/>
          <p:cNvSpPr/>
          <p:nvPr/>
        </p:nvSpPr>
        <p:spPr>
          <a:xfrm>
            <a:off x="731520" y="1920240"/>
            <a:ext cx="169164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clinical sign-off</a:t>
            </a:r>
            <a:endParaRPr lang="en-US" sz="950" dirty="0"/>
          </a:p>
        </p:txBody>
      </p:sp>
      <p:sp>
        <p:nvSpPr>
          <p:cNvPr id="7" name="Text 5"/>
          <p:cNvSpPr/>
          <p:nvPr/>
        </p:nvSpPr>
        <p:spPr>
          <a:xfrm>
            <a:off x="731520" y="2304288"/>
            <a:ext cx="1691640" cy="201168"/>
          </a:xfrm>
          <a:prstGeom prst="rect">
            <a:avLst/>
          </a:prstGeom>
          <a:noFill/>
          <a:ln/>
        </p:spPr>
        <p:txBody>
          <a:bodyPr wrap="square" lIns="0" tIns="0" rIns="0" bIns="0" rtlCol="0" anchor="ctr"/>
          <a:lstStyle/>
          <a:p>
            <a:pPr indent="0" marL="0">
              <a:buNone/>
            </a:pPr>
            <a:r>
              <a:rPr lang="en-US" sz="900" i="1" dirty="0">
                <a:solidFill>
                  <a:srgbClr val="5D7186"/>
                </a:solidFill>
                <a:latin typeface="Calibri" pitchFamily="34" charset="0"/>
                <a:ea typeface="Calibri" pitchFamily="34" charset="-122"/>
                <a:cs typeface="Calibri" pitchFamily="34" charset="-120"/>
              </a:rPr>
              <a:t>4 wk</a:t>
            </a:r>
            <a:endParaRPr lang="en-US" sz="900" dirty="0"/>
          </a:p>
        </p:txBody>
      </p:sp>
      <p:sp>
        <p:nvSpPr>
          <p:cNvPr id="8" name="Shape 6"/>
          <p:cNvSpPr/>
          <p:nvPr/>
        </p:nvSpPr>
        <p:spPr>
          <a:xfrm>
            <a:off x="2843784" y="1609344"/>
            <a:ext cx="1956816" cy="969264"/>
          </a:xfrm>
          <a:prstGeom prst="roundRect">
            <a:avLst>
              <a:gd name="adj" fmla="val 8491"/>
            </a:avLst>
          </a:prstGeom>
          <a:solidFill>
            <a:srgbClr val="12202E"/>
          </a:solidFill>
          <a:ln w="12700">
            <a:solidFill>
              <a:srgbClr val="12202E"/>
            </a:solidFill>
            <a:prstDash val="solid"/>
          </a:ln>
        </p:spPr>
      </p:sp>
      <p:sp>
        <p:nvSpPr>
          <p:cNvPr id="9" name="Text 7"/>
          <p:cNvSpPr/>
          <p:nvPr/>
        </p:nvSpPr>
        <p:spPr>
          <a:xfrm>
            <a:off x="3008376" y="1682496"/>
            <a:ext cx="169164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1 · Pilot</a:t>
            </a:r>
            <a:endParaRPr lang="en-US" sz="1150" dirty="0"/>
          </a:p>
        </p:txBody>
      </p:sp>
      <p:sp>
        <p:nvSpPr>
          <p:cNvPr id="10" name="Text 8"/>
          <p:cNvSpPr/>
          <p:nvPr/>
        </p:nvSpPr>
        <p:spPr>
          <a:xfrm>
            <a:off x="3008376" y="1920240"/>
            <a:ext cx="1691640" cy="384048"/>
          </a:xfrm>
          <a:prstGeom prst="rect">
            <a:avLst/>
          </a:prstGeom>
          <a:noFill/>
          <a:ln/>
        </p:spPr>
        <p:txBody>
          <a:bodyPr wrap="square" lIns="0" tIns="0" rIns="0" bIns="0" rtlCol="0" anchor="ctr"/>
          <a:lstStyle/>
          <a:p>
            <a:pPr indent="0" marL="0">
              <a:lnSpc>
                <a:spcPts val="1200"/>
              </a:lnSpc>
              <a:buNone/>
            </a:pPr>
            <a:r>
              <a:rPr lang="en-US" sz="950" dirty="0">
                <a:solidFill>
                  <a:srgbClr val="C9D6E4"/>
                </a:solidFill>
                <a:latin typeface="Calibri" pitchFamily="34" charset="0"/>
                <a:ea typeface="Calibri" pitchFamily="34" charset="-122"/>
                <a:cs typeface="Calibri" pitchFamily="34" charset="-120"/>
              </a:rPr>
              <a:t>1 hospital, 30 patients</a:t>
            </a:r>
            <a:endParaRPr lang="en-US" sz="950" dirty="0"/>
          </a:p>
        </p:txBody>
      </p:sp>
      <p:sp>
        <p:nvSpPr>
          <p:cNvPr id="11" name="Text 9"/>
          <p:cNvSpPr/>
          <p:nvPr/>
        </p:nvSpPr>
        <p:spPr>
          <a:xfrm>
            <a:off x="3008376" y="2304288"/>
            <a:ext cx="1691640" cy="201168"/>
          </a:xfrm>
          <a:prstGeom prst="rect">
            <a:avLst/>
          </a:prstGeom>
          <a:noFill/>
          <a:ln/>
        </p:spPr>
        <p:txBody>
          <a:bodyPr wrap="square" lIns="0" tIns="0" rIns="0" bIns="0" rtlCol="0" anchor="ctr"/>
          <a:lstStyle/>
          <a:p>
            <a:pPr indent="0" marL="0">
              <a:buNone/>
            </a:pPr>
            <a:r>
              <a:rPr lang="en-US" sz="900" i="1" dirty="0">
                <a:solidFill>
                  <a:srgbClr val="8FA3B8"/>
                </a:solidFill>
                <a:latin typeface="Calibri" pitchFamily="34" charset="0"/>
                <a:ea typeface="Calibri" pitchFamily="34" charset="-122"/>
                <a:cs typeface="Calibri" pitchFamily="34" charset="-120"/>
              </a:rPr>
              <a:t>3 mo</a:t>
            </a:r>
            <a:endParaRPr lang="en-US" sz="900" dirty="0"/>
          </a:p>
        </p:txBody>
      </p:sp>
      <p:sp>
        <p:nvSpPr>
          <p:cNvPr id="12" name="Shape 10"/>
          <p:cNvSpPr/>
          <p:nvPr/>
        </p:nvSpPr>
        <p:spPr>
          <a:xfrm>
            <a:off x="5120640" y="1609344"/>
            <a:ext cx="1956816" cy="969264"/>
          </a:xfrm>
          <a:prstGeom prst="roundRect">
            <a:avLst>
              <a:gd name="adj" fmla="val 8491"/>
            </a:avLst>
          </a:prstGeom>
          <a:solidFill>
            <a:srgbClr val="FFFFFF"/>
          </a:solidFill>
          <a:ln w="12700">
            <a:solidFill>
              <a:srgbClr val="DDE5EE"/>
            </a:solidFill>
            <a:prstDash val="solid"/>
          </a:ln>
        </p:spPr>
      </p:sp>
      <p:sp>
        <p:nvSpPr>
          <p:cNvPr id="13" name="Text 11"/>
          <p:cNvSpPr/>
          <p:nvPr/>
        </p:nvSpPr>
        <p:spPr>
          <a:xfrm>
            <a:off x="5285232" y="1682496"/>
            <a:ext cx="1691640" cy="256032"/>
          </a:xfrm>
          <a:prstGeom prst="rect">
            <a:avLst/>
          </a:prstGeom>
          <a:noFill/>
          <a:ln/>
        </p:spPr>
        <p:txBody>
          <a:bodyPr wrap="square" lIns="0" tIns="0" rIns="0" bIns="0" rtlCol="0" anchor="ctr"/>
          <a:lstStyle/>
          <a:p>
            <a:pPr indent="0" marL="0">
              <a:buNone/>
            </a:pPr>
            <a:r>
              <a:rPr lang="en-US" sz="1150" b="1" dirty="0">
                <a:solidFill>
                  <a:srgbClr val="12202E"/>
                </a:solidFill>
                <a:latin typeface="Calibri" pitchFamily="34" charset="0"/>
                <a:ea typeface="Calibri" pitchFamily="34" charset="-122"/>
                <a:cs typeface="Calibri" pitchFamily="34" charset="-120"/>
              </a:rPr>
              <a:t>2 · Evaluation</a:t>
            </a:r>
            <a:endParaRPr lang="en-US" sz="1150" dirty="0"/>
          </a:p>
        </p:txBody>
      </p:sp>
      <p:sp>
        <p:nvSpPr>
          <p:cNvPr id="14" name="Text 12"/>
          <p:cNvSpPr/>
          <p:nvPr/>
        </p:nvSpPr>
        <p:spPr>
          <a:xfrm>
            <a:off x="5285232" y="1920240"/>
            <a:ext cx="169164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rule revision, UX rework</a:t>
            </a:r>
            <a:endParaRPr lang="en-US" sz="950" dirty="0"/>
          </a:p>
        </p:txBody>
      </p:sp>
      <p:sp>
        <p:nvSpPr>
          <p:cNvPr id="15" name="Text 13"/>
          <p:cNvSpPr/>
          <p:nvPr/>
        </p:nvSpPr>
        <p:spPr>
          <a:xfrm>
            <a:off x="5285232" y="2304288"/>
            <a:ext cx="1691640" cy="201168"/>
          </a:xfrm>
          <a:prstGeom prst="rect">
            <a:avLst/>
          </a:prstGeom>
          <a:noFill/>
          <a:ln/>
        </p:spPr>
        <p:txBody>
          <a:bodyPr wrap="square" lIns="0" tIns="0" rIns="0" bIns="0" rtlCol="0" anchor="ctr"/>
          <a:lstStyle/>
          <a:p>
            <a:pPr indent="0" marL="0">
              <a:buNone/>
            </a:pPr>
            <a:r>
              <a:rPr lang="en-US" sz="900" i="1" dirty="0">
                <a:solidFill>
                  <a:srgbClr val="5D7186"/>
                </a:solidFill>
                <a:latin typeface="Calibri" pitchFamily="34" charset="0"/>
                <a:ea typeface="Calibri" pitchFamily="34" charset="-122"/>
                <a:cs typeface="Calibri" pitchFamily="34" charset="-120"/>
              </a:rPr>
              <a:t>2 mo</a:t>
            </a:r>
            <a:endParaRPr lang="en-US" sz="900" dirty="0"/>
          </a:p>
        </p:txBody>
      </p:sp>
      <p:sp>
        <p:nvSpPr>
          <p:cNvPr id="16" name="Shape 14"/>
          <p:cNvSpPr/>
          <p:nvPr/>
        </p:nvSpPr>
        <p:spPr>
          <a:xfrm>
            <a:off x="7397496" y="1609344"/>
            <a:ext cx="1956816" cy="969264"/>
          </a:xfrm>
          <a:prstGeom prst="roundRect">
            <a:avLst>
              <a:gd name="adj" fmla="val 8491"/>
            </a:avLst>
          </a:prstGeom>
          <a:solidFill>
            <a:srgbClr val="FFFFFF"/>
          </a:solidFill>
          <a:ln w="12700">
            <a:solidFill>
              <a:srgbClr val="DDE5EE"/>
            </a:solidFill>
            <a:prstDash val="solid"/>
          </a:ln>
        </p:spPr>
      </p:sp>
      <p:sp>
        <p:nvSpPr>
          <p:cNvPr id="17" name="Text 15"/>
          <p:cNvSpPr/>
          <p:nvPr/>
        </p:nvSpPr>
        <p:spPr>
          <a:xfrm>
            <a:off x="7562088" y="1682496"/>
            <a:ext cx="1691640" cy="256032"/>
          </a:xfrm>
          <a:prstGeom prst="rect">
            <a:avLst/>
          </a:prstGeom>
          <a:noFill/>
          <a:ln/>
        </p:spPr>
        <p:txBody>
          <a:bodyPr wrap="square" lIns="0" tIns="0" rIns="0" bIns="0" rtlCol="0" anchor="ctr"/>
          <a:lstStyle/>
          <a:p>
            <a:pPr indent="0" marL="0">
              <a:buNone/>
            </a:pPr>
            <a:r>
              <a:rPr lang="en-US" sz="1150" b="1" dirty="0">
                <a:solidFill>
                  <a:srgbClr val="12202E"/>
                </a:solidFill>
                <a:latin typeface="Calibri" pitchFamily="34" charset="0"/>
                <a:ea typeface="Calibri" pitchFamily="34" charset="-122"/>
                <a:cs typeface="Calibri" pitchFamily="34" charset="-120"/>
              </a:rPr>
              <a:t>3 · Expansion</a:t>
            </a:r>
            <a:endParaRPr lang="en-US" sz="1150" dirty="0"/>
          </a:p>
        </p:txBody>
      </p:sp>
      <p:sp>
        <p:nvSpPr>
          <p:cNvPr id="18" name="Text 16"/>
          <p:cNvSpPr/>
          <p:nvPr/>
        </p:nvSpPr>
        <p:spPr>
          <a:xfrm>
            <a:off x="7562088" y="1920240"/>
            <a:ext cx="169164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HIS integration live</a:t>
            </a:r>
            <a:endParaRPr lang="en-US" sz="950" dirty="0"/>
          </a:p>
        </p:txBody>
      </p:sp>
      <p:sp>
        <p:nvSpPr>
          <p:cNvPr id="19" name="Text 17"/>
          <p:cNvSpPr/>
          <p:nvPr/>
        </p:nvSpPr>
        <p:spPr>
          <a:xfrm>
            <a:off x="7562088" y="2304288"/>
            <a:ext cx="1691640" cy="201168"/>
          </a:xfrm>
          <a:prstGeom prst="rect">
            <a:avLst/>
          </a:prstGeom>
          <a:noFill/>
          <a:ln/>
        </p:spPr>
        <p:txBody>
          <a:bodyPr wrap="square" lIns="0" tIns="0" rIns="0" bIns="0" rtlCol="0" anchor="ctr"/>
          <a:lstStyle/>
          <a:p>
            <a:pPr indent="0" marL="0">
              <a:buNone/>
            </a:pPr>
            <a:r>
              <a:rPr lang="en-US" sz="900" i="1" dirty="0">
                <a:solidFill>
                  <a:srgbClr val="5D7186"/>
                </a:solidFill>
                <a:latin typeface="Calibri" pitchFamily="34" charset="0"/>
                <a:ea typeface="Calibri" pitchFamily="34" charset="-122"/>
                <a:cs typeface="Calibri" pitchFamily="34" charset="-120"/>
              </a:rPr>
              <a:t>6 mo</a:t>
            </a:r>
            <a:endParaRPr lang="en-US" sz="900" dirty="0"/>
          </a:p>
        </p:txBody>
      </p:sp>
      <p:sp>
        <p:nvSpPr>
          <p:cNvPr id="20" name="Shape 18"/>
          <p:cNvSpPr/>
          <p:nvPr/>
        </p:nvSpPr>
        <p:spPr>
          <a:xfrm>
            <a:off x="9674352" y="1609344"/>
            <a:ext cx="1956816" cy="969264"/>
          </a:xfrm>
          <a:prstGeom prst="roundRect">
            <a:avLst>
              <a:gd name="adj" fmla="val 8491"/>
            </a:avLst>
          </a:prstGeom>
          <a:solidFill>
            <a:srgbClr val="FFFFFF"/>
          </a:solidFill>
          <a:ln w="12700">
            <a:solidFill>
              <a:srgbClr val="DDE5EE"/>
            </a:solidFill>
            <a:prstDash val="solid"/>
          </a:ln>
        </p:spPr>
      </p:sp>
      <p:sp>
        <p:nvSpPr>
          <p:cNvPr id="21" name="Text 19"/>
          <p:cNvSpPr/>
          <p:nvPr/>
        </p:nvSpPr>
        <p:spPr>
          <a:xfrm>
            <a:off x="9838944" y="1682496"/>
            <a:ext cx="1691640" cy="256032"/>
          </a:xfrm>
          <a:prstGeom prst="rect">
            <a:avLst/>
          </a:prstGeom>
          <a:noFill/>
          <a:ln/>
        </p:spPr>
        <p:txBody>
          <a:bodyPr wrap="square" lIns="0" tIns="0" rIns="0" bIns="0" rtlCol="0" anchor="ctr"/>
          <a:lstStyle/>
          <a:p>
            <a:pPr indent="0" marL="0">
              <a:buNone/>
            </a:pPr>
            <a:r>
              <a:rPr lang="en-US" sz="1150" b="1" dirty="0">
                <a:solidFill>
                  <a:srgbClr val="12202E"/>
                </a:solidFill>
                <a:latin typeface="Calibri" pitchFamily="34" charset="0"/>
                <a:ea typeface="Calibri" pitchFamily="34" charset="-122"/>
                <a:cs typeface="Calibri" pitchFamily="34" charset="-120"/>
              </a:rPr>
              <a:t>4 · Scaling</a:t>
            </a:r>
            <a:endParaRPr lang="en-US" sz="1150" dirty="0"/>
          </a:p>
        </p:txBody>
      </p:sp>
      <p:sp>
        <p:nvSpPr>
          <p:cNvPr id="22" name="Text 20"/>
          <p:cNvSpPr/>
          <p:nvPr/>
        </p:nvSpPr>
        <p:spPr>
          <a:xfrm>
            <a:off x="9838944" y="1920240"/>
            <a:ext cx="169164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further sites, languages</a:t>
            </a:r>
            <a:endParaRPr lang="en-US" sz="950" dirty="0"/>
          </a:p>
        </p:txBody>
      </p:sp>
      <p:sp>
        <p:nvSpPr>
          <p:cNvPr id="23" name="Text 21"/>
          <p:cNvSpPr/>
          <p:nvPr/>
        </p:nvSpPr>
        <p:spPr>
          <a:xfrm>
            <a:off x="9838944" y="2304288"/>
            <a:ext cx="1691640" cy="201168"/>
          </a:xfrm>
          <a:prstGeom prst="rect">
            <a:avLst/>
          </a:prstGeom>
          <a:noFill/>
          <a:ln/>
        </p:spPr>
        <p:txBody>
          <a:bodyPr wrap="square" lIns="0" tIns="0" rIns="0" bIns="0" rtlCol="0" anchor="ctr"/>
          <a:lstStyle/>
          <a:p>
            <a:pPr indent="0" marL="0">
              <a:buNone/>
            </a:pPr>
            <a:r>
              <a:rPr lang="en-US" sz="900" i="1" dirty="0">
                <a:solidFill>
                  <a:srgbClr val="5D7186"/>
                </a:solidFill>
                <a:latin typeface="Calibri" pitchFamily="34" charset="0"/>
                <a:ea typeface="Calibri" pitchFamily="34" charset="-122"/>
                <a:cs typeface="Calibri" pitchFamily="34" charset="-120"/>
              </a:rPr>
              <a:t>open</a:t>
            </a:r>
            <a:endParaRPr lang="en-US" sz="900" dirty="0"/>
          </a:p>
        </p:txBody>
      </p:sp>
      <p:sp>
        <p:nvSpPr>
          <p:cNvPr id="24" name="Text 22"/>
          <p:cNvSpPr/>
          <p:nvPr/>
        </p:nvSpPr>
        <p:spPr>
          <a:xfrm>
            <a:off x="566928" y="2798064"/>
            <a:ext cx="3474720" cy="274320"/>
          </a:xfrm>
          <a:prstGeom prst="rect">
            <a:avLst/>
          </a:prstGeom>
          <a:noFill/>
          <a:ln/>
        </p:spPr>
        <p:txBody>
          <a:bodyPr wrap="square" lIns="0" tIns="0" rIns="0" bIns="0" rtlCol="0" anchor="ctr"/>
          <a:lstStyle/>
          <a:p>
            <a:pPr indent="0" marL="0">
              <a:buNone/>
            </a:pPr>
            <a:r>
              <a:rPr lang="en-US" sz="1300" b="1" dirty="0">
                <a:solidFill>
                  <a:srgbClr val="12202E"/>
                </a:solidFill>
                <a:latin typeface="Calibri" pitchFamily="34" charset="0"/>
                <a:ea typeface="Calibri" pitchFamily="34" charset="-122"/>
                <a:cs typeface="Calibri" pitchFamily="34" charset="-120"/>
              </a:rPr>
              <a:t>Implementation</a:t>
            </a:r>
            <a:endParaRPr lang="en-US" sz="1300" dirty="0"/>
          </a:p>
        </p:txBody>
      </p:sp>
      <p:sp>
        <p:nvSpPr>
          <p:cNvPr id="25" name="Shape 23"/>
          <p:cNvSpPr/>
          <p:nvPr/>
        </p:nvSpPr>
        <p:spPr>
          <a:xfrm>
            <a:off x="566928" y="3145536"/>
            <a:ext cx="3538728" cy="658368"/>
          </a:xfrm>
          <a:prstGeom prst="roundRect">
            <a:avLst>
              <a:gd name="adj" fmla="val 12500"/>
            </a:avLst>
          </a:prstGeom>
          <a:solidFill>
            <a:srgbClr val="F5F7FA"/>
          </a:solidFill>
          <a:ln w="12700">
            <a:solidFill>
              <a:srgbClr val="DDE5EE"/>
            </a:solidFill>
            <a:prstDash val="solid"/>
          </a:ln>
        </p:spPr>
      </p:sp>
      <p:sp>
        <p:nvSpPr>
          <p:cNvPr id="26" name="Text 24"/>
          <p:cNvSpPr/>
          <p:nvPr/>
        </p:nvSpPr>
        <p:spPr>
          <a:xfrm>
            <a:off x="768096" y="3191256"/>
            <a:ext cx="3108960" cy="219456"/>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Provision</a:t>
            </a:r>
            <a:endParaRPr lang="en-US" sz="1100" dirty="0"/>
          </a:p>
        </p:txBody>
      </p:sp>
      <p:sp>
        <p:nvSpPr>
          <p:cNvPr id="27" name="Text 25"/>
          <p:cNvSpPr/>
          <p:nvPr/>
        </p:nvSpPr>
        <p:spPr>
          <a:xfrm>
            <a:off x="768096" y="3401568"/>
            <a:ext cx="310896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QR code on the discharge sheet — no app store, no account, no install</a:t>
            </a:r>
            <a:endParaRPr lang="en-US" sz="950" dirty="0"/>
          </a:p>
        </p:txBody>
      </p:sp>
      <p:sp>
        <p:nvSpPr>
          <p:cNvPr id="28" name="Shape 26"/>
          <p:cNvSpPr/>
          <p:nvPr/>
        </p:nvSpPr>
        <p:spPr>
          <a:xfrm>
            <a:off x="566928" y="3895344"/>
            <a:ext cx="3538728" cy="658368"/>
          </a:xfrm>
          <a:prstGeom prst="roundRect">
            <a:avLst>
              <a:gd name="adj" fmla="val 12500"/>
            </a:avLst>
          </a:prstGeom>
          <a:solidFill>
            <a:srgbClr val="F5F7FA"/>
          </a:solidFill>
          <a:ln w="12700">
            <a:solidFill>
              <a:srgbClr val="DDE5EE"/>
            </a:solidFill>
            <a:prstDash val="solid"/>
          </a:ln>
        </p:spPr>
      </p:sp>
      <p:sp>
        <p:nvSpPr>
          <p:cNvPr id="29" name="Text 27"/>
          <p:cNvSpPr/>
          <p:nvPr/>
        </p:nvSpPr>
        <p:spPr>
          <a:xfrm>
            <a:off x="768096" y="3941064"/>
            <a:ext cx="3108960" cy="219456"/>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Training</a:t>
            </a:r>
            <a:endParaRPr lang="en-US" sz="1100" dirty="0"/>
          </a:p>
        </p:txBody>
      </p:sp>
      <p:sp>
        <p:nvSpPr>
          <p:cNvPr id="30" name="Text 28"/>
          <p:cNvSpPr/>
          <p:nvPr/>
        </p:nvSpPr>
        <p:spPr>
          <a:xfrm>
            <a:off x="768096" y="4151376"/>
            <a:ext cx="310896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Patient 5 min at discharge (first check done together) · practice 30 min · onboarding module for new staff</a:t>
            </a:r>
            <a:endParaRPr lang="en-US" sz="950" dirty="0"/>
          </a:p>
        </p:txBody>
      </p:sp>
      <p:sp>
        <p:nvSpPr>
          <p:cNvPr id="31" name="Shape 29"/>
          <p:cNvSpPr/>
          <p:nvPr/>
        </p:nvSpPr>
        <p:spPr>
          <a:xfrm>
            <a:off x="566928" y="4645152"/>
            <a:ext cx="3538728" cy="658368"/>
          </a:xfrm>
          <a:prstGeom prst="roundRect">
            <a:avLst>
              <a:gd name="adj" fmla="val 12500"/>
            </a:avLst>
          </a:prstGeom>
          <a:solidFill>
            <a:srgbClr val="F5F7FA"/>
          </a:solidFill>
          <a:ln w="12700">
            <a:solidFill>
              <a:srgbClr val="DDE5EE"/>
            </a:solidFill>
            <a:prstDash val="solid"/>
          </a:ln>
        </p:spPr>
      </p:sp>
      <p:sp>
        <p:nvSpPr>
          <p:cNvPr id="32" name="Text 30"/>
          <p:cNvSpPr/>
          <p:nvPr/>
        </p:nvSpPr>
        <p:spPr>
          <a:xfrm>
            <a:off x="768096" y="4690872"/>
            <a:ext cx="3108960" cy="219456"/>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Maintenance</a:t>
            </a:r>
            <a:endParaRPr lang="en-US" sz="1100" dirty="0"/>
          </a:p>
        </p:txBody>
      </p:sp>
      <p:sp>
        <p:nvSpPr>
          <p:cNvPr id="33" name="Text 31"/>
          <p:cNvSpPr/>
          <p:nvPr/>
        </p:nvSpPr>
        <p:spPr>
          <a:xfrm>
            <a:off x="768096" y="4901184"/>
            <a:ext cx="310896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Clinical department owns the content; four-eyes sign-off; guideline update to live in ≤ 4 weeks</a:t>
            </a:r>
            <a:endParaRPr lang="en-US" sz="950" dirty="0"/>
          </a:p>
        </p:txBody>
      </p:sp>
      <p:sp>
        <p:nvSpPr>
          <p:cNvPr id="34" name="Shape 32"/>
          <p:cNvSpPr/>
          <p:nvPr/>
        </p:nvSpPr>
        <p:spPr>
          <a:xfrm>
            <a:off x="566928" y="5394960"/>
            <a:ext cx="3538728" cy="658368"/>
          </a:xfrm>
          <a:prstGeom prst="roundRect">
            <a:avLst>
              <a:gd name="adj" fmla="val 12500"/>
            </a:avLst>
          </a:prstGeom>
          <a:solidFill>
            <a:srgbClr val="F5F7FA"/>
          </a:solidFill>
          <a:ln w="12700">
            <a:solidFill>
              <a:srgbClr val="DDE5EE"/>
            </a:solidFill>
            <a:prstDash val="solid"/>
          </a:ln>
        </p:spPr>
      </p:sp>
      <p:sp>
        <p:nvSpPr>
          <p:cNvPr id="35" name="Text 33"/>
          <p:cNvSpPr/>
          <p:nvPr/>
        </p:nvSpPr>
        <p:spPr>
          <a:xfrm>
            <a:off x="768096" y="5440680"/>
            <a:ext cx="3108960" cy="219456"/>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Integration</a:t>
            </a:r>
            <a:endParaRPr lang="en-US" sz="1100" dirty="0"/>
          </a:p>
        </p:txBody>
      </p:sp>
      <p:sp>
        <p:nvSpPr>
          <p:cNvPr id="36" name="Text 34"/>
          <p:cNvSpPr/>
          <p:nvPr/>
        </p:nvSpPr>
        <p:spPr>
          <a:xfrm>
            <a:off x="768096" y="5650992"/>
            <a:ext cx="310896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FHIR R4 to the HIS / Swiss EPD; endpoint is L3 configuration</a:t>
            </a:r>
            <a:endParaRPr lang="en-US" sz="950" dirty="0"/>
          </a:p>
        </p:txBody>
      </p:sp>
      <p:sp>
        <p:nvSpPr>
          <p:cNvPr id="37" name="Text 35"/>
          <p:cNvSpPr/>
          <p:nvPr/>
        </p:nvSpPr>
        <p:spPr>
          <a:xfrm>
            <a:off x="4279392" y="2798064"/>
            <a:ext cx="3474720" cy="274320"/>
          </a:xfrm>
          <a:prstGeom prst="rect">
            <a:avLst/>
          </a:prstGeom>
          <a:noFill/>
          <a:ln/>
        </p:spPr>
        <p:txBody>
          <a:bodyPr wrap="square" lIns="0" tIns="0" rIns="0" bIns="0" rtlCol="0" anchor="ctr"/>
          <a:lstStyle/>
          <a:p>
            <a:pPr indent="0" marL="0">
              <a:buNone/>
            </a:pPr>
            <a:r>
              <a:rPr lang="en-US" sz="1300" b="1" dirty="0">
                <a:solidFill>
                  <a:srgbClr val="5D7186"/>
                </a:solidFill>
                <a:latin typeface="Calibri" pitchFamily="34" charset="0"/>
                <a:ea typeface="Calibri" pitchFamily="34" charset="-122"/>
                <a:cs typeface="Calibri" pitchFamily="34" charset="-120"/>
              </a:rPr>
              <a:t>Monitoring</a:t>
            </a:r>
            <a:endParaRPr lang="en-US" sz="1300" dirty="0"/>
          </a:p>
        </p:txBody>
      </p:sp>
      <p:sp>
        <p:nvSpPr>
          <p:cNvPr id="38" name="Shape 36"/>
          <p:cNvSpPr/>
          <p:nvPr/>
        </p:nvSpPr>
        <p:spPr>
          <a:xfrm>
            <a:off x="4279392" y="3145536"/>
            <a:ext cx="3538728" cy="658368"/>
          </a:xfrm>
          <a:prstGeom prst="roundRect">
            <a:avLst>
              <a:gd name="adj" fmla="val 12500"/>
            </a:avLst>
          </a:prstGeom>
          <a:solidFill>
            <a:srgbClr val="FFFFFF"/>
          </a:solidFill>
          <a:ln w="12700">
            <a:solidFill>
              <a:srgbClr val="DDE5EE"/>
            </a:solidFill>
            <a:prstDash val="solid"/>
          </a:ln>
        </p:spPr>
      </p:sp>
      <p:sp>
        <p:nvSpPr>
          <p:cNvPr id="39" name="Text 37"/>
          <p:cNvSpPr/>
          <p:nvPr/>
        </p:nvSpPr>
        <p:spPr>
          <a:xfrm>
            <a:off x="4480560" y="3191256"/>
            <a:ext cx="3108960" cy="219456"/>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Functionality</a:t>
            </a:r>
            <a:endParaRPr lang="en-US" sz="1100" dirty="0"/>
          </a:p>
        </p:txBody>
      </p:sp>
      <p:sp>
        <p:nvSpPr>
          <p:cNvPr id="40" name="Text 38"/>
          <p:cNvSpPr/>
          <p:nvPr/>
        </p:nvSpPr>
        <p:spPr>
          <a:xfrm>
            <a:off x="4480560" y="3401568"/>
            <a:ext cx="310896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&gt; 99 % error-free runs</a:t>
            </a:r>
            <a:endParaRPr lang="en-US" sz="950" dirty="0"/>
          </a:p>
        </p:txBody>
      </p:sp>
      <p:sp>
        <p:nvSpPr>
          <p:cNvPr id="41" name="Shape 39"/>
          <p:cNvSpPr/>
          <p:nvPr/>
        </p:nvSpPr>
        <p:spPr>
          <a:xfrm>
            <a:off x="4279392" y="3895344"/>
            <a:ext cx="3538728" cy="658368"/>
          </a:xfrm>
          <a:prstGeom prst="roundRect">
            <a:avLst>
              <a:gd name="adj" fmla="val 12500"/>
            </a:avLst>
          </a:prstGeom>
          <a:solidFill>
            <a:srgbClr val="FFFFFF"/>
          </a:solidFill>
          <a:ln w="12700">
            <a:solidFill>
              <a:srgbClr val="DDE5EE"/>
            </a:solidFill>
            <a:prstDash val="solid"/>
          </a:ln>
        </p:spPr>
      </p:sp>
      <p:sp>
        <p:nvSpPr>
          <p:cNvPr id="42" name="Text 40"/>
          <p:cNvSpPr/>
          <p:nvPr/>
        </p:nvSpPr>
        <p:spPr>
          <a:xfrm>
            <a:off x="4480560" y="3941064"/>
            <a:ext cx="3108960" cy="219456"/>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Stability</a:t>
            </a:r>
            <a:endParaRPr lang="en-US" sz="1100" dirty="0"/>
          </a:p>
        </p:txBody>
      </p:sp>
      <p:sp>
        <p:nvSpPr>
          <p:cNvPr id="43" name="Text 41"/>
          <p:cNvSpPr/>
          <p:nvPr/>
        </p:nvSpPr>
        <p:spPr>
          <a:xfrm>
            <a:off x="4480560" y="4151376"/>
            <a:ext cx="310896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zero data loss on network drop</a:t>
            </a:r>
            <a:endParaRPr lang="en-US" sz="950" dirty="0"/>
          </a:p>
        </p:txBody>
      </p:sp>
      <p:sp>
        <p:nvSpPr>
          <p:cNvPr id="44" name="Shape 42"/>
          <p:cNvSpPr/>
          <p:nvPr/>
        </p:nvSpPr>
        <p:spPr>
          <a:xfrm>
            <a:off x="4279392" y="4645152"/>
            <a:ext cx="3538728" cy="658368"/>
          </a:xfrm>
          <a:prstGeom prst="roundRect">
            <a:avLst>
              <a:gd name="adj" fmla="val 12500"/>
            </a:avLst>
          </a:prstGeom>
          <a:solidFill>
            <a:srgbClr val="FFFFFF"/>
          </a:solidFill>
          <a:ln w="12700">
            <a:solidFill>
              <a:srgbClr val="DDE5EE"/>
            </a:solidFill>
            <a:prstDash val="solid"/>
          </a:ln>
        </p:spPr>
      </p:sp>
      <p:sp>
        <p:nvSpPr>
          <p:cNvPr id="45" name="Text 43"/>
          <p:cNvSpPr/>
          <p:nvPr/>
        </p:nvSpPr>
        <p:spPr>
          <a:xfrm>
            <a:off x="4480560" y="4690872"/>
            <a:ext cx="3108960" cy="219456"/>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Fidelity</a:t>
            </a:r>
            <a:endParaRPr lang="en-US" sz="1100" dirty="0"/>
          </a:p>
        </p:txBody>
      </p:sp>
      <p:sp>
        <p:nvSpPr>
          <p:cNvPr id="46" name="Text 44"/>
          <p:cNvSpPr/>
          <p:nvPr/>
        </p:nvSpPr>
        <p:spPr>
          <a:xfrm>
            <a:off x="4480560" y="4901184"/>
            <a:ext cx="310896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&gt; 70 % of days checked</a:t>
            </a:r>
            <a:endParaRPr lang="en-US" sz="950" dirty="0"/>
          </a:p>
        </p:txBody>
      </p:sp>
      <p:sp>
        <p:nvSpPr>
          <p:cNvPr id="47" name="Shape 45"/>
          <p:cNvSpPr/>
          <p:nvPr/>
        </p:nvSpPr>
        <p:spPr>
          <a:xfrm>
            <a:off x="4279392" y="5394960"/>
            <a:ext cx="3538728" cy="658368"/>
          </a:xfrm>
          <a:prstGeom prst="roundRect">
            <a:avLst>
              <a:gd name="adj" fmla="val 12500"/>
            </a:avLst>
          </a:prstGeom>
          <a:solidFill>
            <a:srgbClr val="FFFFFF"/>
          </a:solidFill>
          <a:ln w="12700">
            <a:solidFill>
              <a:srgbClr val="DDE5EE"/>
            </a:solidFill>
            <a:prstDash val="solid"/>
          </a:ln>
        </p:spPr>
      </p:sp>
      <p:sp>
        <p:nvSpPr>
          <p:cNvPr id="48" name="Text 46"/>
          <p:cNvSpPr/>
          <p:nvPr/>
        </p:nvSpPr>
        <p:spPr>
          <a:xfrm>
            <a:off x="4480560" y="5440680"/>
            <a:ext cx="3108960" cy="219456"/>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Data quality</a:t>
            </a:r>
            <a:endParaRPr lang="en-US" sz="1100" dirty="0"/>
          </a:p>
        </p:txBody>
      </p:sp>
      <p:sp>
        <p:nvSpPr>
          <p:cNvPr id="49" name="Text 47"/>
          <p:cNvSpPr/>
          <p:nvPr/>
        </p:nvSpPr>
        <p:spPr>
          <a:xfrm>
            <a:off x="4480560" y="5650992"/>
            <a:ext cx="310896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&lt; 5 % incomplete entries</a:t>
            </a:r>
            <a:endParaRPr lang="en-US" sz="950" dirty="0"/>
          </a:p>
        </p:txBody>
      </p:sp>
      <p:sp>
        <p:nvSpPr>
          <p:cNvPr id="50" name="Text 48"/>
          <p:cNvSpPr/>
          <p:nvPr/>
        </p:nvSpPr>
        <p:spPr>
          <a:xfrm>
            <a:off x="7991856" y="2798064"/>
            <a:ext cx="3474720" cy="274320"/>
          </a:xfrm>
          <a:prstGeom prst="rect">
            <a:avLst/>
          </a:prstGeom>
          <a:noFill/>
          <a:ln/>
        </p:spPr>
        <p:txBody>
          <a:bodyPr wrap="square" lIns="0" tIns="0" rIns="0" bIns="0" rtlCol="0" anchor="ctr"/>
          <a:lstStyle/>
          <a:p>
            <a:pPr indent="0" marL="0">
              <a:buNone/>
            </a:pPr>
            <a:r>
              <a:rPr lang="en-US" sz="1300" b="1" dirty="0">
                <a:solidFill>
                  <a:srgbClr val="5D7186"/>
                </a:solidFill>
                <a:latin typeface="Calibri" pitchFamily="34" charset="0"/>
                <a:ea typeface="Calibri" pitchFamily="34" charset="-122"/>
                <a:cs typeface="Calibri" pitchFamily="34" charset="-120"/>
              </a:rPr>
              <a:t>Evaluation</a:t>
            </a:r>
            <a:endParaRPr lang="en-US" sz="1300" dirty="0"/>
          </a:p>
        </p:txBody>
      </p:sp>
      <p:sp>
        <p:nvSpPr>
          <p:cNvPr id="51" name="Shape 49"/>
          <p:cNvSpPr/>
          <p:nvPr/>
        </p:nvSpPr>
        <p:spPr>
          <a:xfrm>
            <a:off x="7991856" y="3145536"/>
            <a:ext cx="3538728" cy="658368"/>
          </a:xfrm>
          <a:prstGeom prst="roundRect">
            <a:avLst>
              <a:gd name="adj" fmla="val 12500"/>
            </a:avLst>
          </a:prstGeom>
          <a:solidFill>
            <a:srgbClr val="FFFFFF"/>
          </a:solidFill>
          <a:ln w="12700">
            <a:solidFill>
              <a:srgbClr val="DDE5EE"/>
            </a:solidFill>
            <a:prstDash val="solid"/>
          </a:ln>
        </p:spPr>
      </p:sp>
      <p:sp>
        <p:nvSpPr>
          <p:cNvPr id="52" name="Text 50"/>
          <p:cNvSpPr/>
          <p:nvPr/>
        </p:nvSpPr>
        <p:spPr>
          <a:xfrm>
            <a:off x="8193024" y="3191256"/>
            <a:ext cx="3108960" cy="219456"/>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Pilot</a:t>
            </a:r>
            <a:endParaRPr lang="en-US" sz="1100" dirty="0"/>
          </a:p>
        </p:txBody>
      </p:sp>
      <p:sp>
        <p:nvSpPr>
          <p:cNvPr id="53" name="Text 51"/>
          <p:cNvSpPr/>
          <p:nvPr/>
        </p:nvSpPr>
        <p:spPr>
          <a:xfrm>
            <a:off x="8193024" y="3401568"/>
            <a:ext cx="310896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SUS + patient-vs-clinician agreement (κ)</a:t>
            </a:r>
            <a:endParaRPr lang="en-US" sz="950" dirty="0"/>
          </a:p>
        </p:txBody>
      </p:sp>
      <p:sp>
        <p:nvSpPr>
          <p:cNvPr id="54" name="Shape 52"/>
          <p:cNvSpPr/>
          <p:nvPr/>
        </p:nvSpPr>
        <p:spPr>
          <a:xfrm>
            <a:off x="7991856" y="3895344"/>
            <a:ext cx="3538728" cy="658368"/>
          </a:xfrm>
          <a:prstGeom prst="roundRect">
            <a:avLst>
              <a:gd name="adj" fmla="val 12500"/>
            </a:avLst>
          </a:prstGeom>
          <a:solidFill>
            <a:srgbClr val="FFFFFF"/>
          </a:solidFill>
          <a:ln w="12700">
            <a:solidFill>
              <a:srgbClr val="DDE5EE"/>
            </a:solidFill>
            <a:prstDash val="solid"/>
          </a:ln>
        </p:spPr>
      </p:sp>
      <p:sp>
        <p:nvSpPr>
          <p:cNvPr id="55" name="Text 53"/>
          <p:cNvSpPr/>
          <p:nvPr/>
        </p:nvSpPr>
        <p:spPr>
          <a:xfrm>
            <a:off x="8193024" y="3941064"/>
            <a:ext cx="3108960" cy="219456"/>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Demonstration</a:t>
            </a:r>
            <a:endParaRPr lang="en-US" sz="1100" dirty="0"/>
          </a:p>
        </p:txBody>
      </p:sp>
      <p:sp>
        <p:nvSpPr>
          <p:cNvPr id="56" name="Text 54"/>
          <p:cNvSpPr/>
          <p:nvPr/>
        </p:nvSpPr>
        <p:spPr>
          <a:xfrm>
            <a:off x="8193024" y="4151376"/>
            <a:ext cx="310896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chart review — time to medical contact</a:t>
            </a:r>
            <a:endParaRPr lang="en-US" sz="950" dirty="0"/>
          </a:p>
        </p:txBody>
      </p:sp>
      <p:sp>
        <p:nvSpPr>
          <p:cNvPr id="57" name="Shape 55"/>
          <p:cNvSpPr/>
          <p:nvPr/>
        </p:nvSpPr>
        <p:spPr>
          <a:xfrm>
            <a:off x="7991856" y="4645152"/>
            <a:ext cx="3538728" cy="658368"/>
          </a:xfrm>
          <a:prstGeom prst="roundRect">
            <a:avLst>
              <a:gd name="adj" fmla="val 12500"/>
            </a:avLst>
          </a:prstGeom>
          <a:solidFill>
            <a:srgbClr val="FFFFFF"/>
          </a:solidFill>
          <a:ln w="12700">
            <a:solidFill>
              <a:srgbClr val="DDE5EE"/>
            </a:solidFill>
            <a:prstDash val="solid"/>
          </a:ln>
        </p:spPr>
      </p:sp>
      <p:sp>
        <p:nvSpPr>
          <p:cNvPr id="58" name="Text 56"/>
          <p:cNvSpPr/>
          <p:nvPr/>
        </p:nvSpPr>
        <p:spPr>
          <a:xfrm>
            <a:off x="8193024" y="4690872"/>
            <a:ext cx="3108960" cy="219456"/>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Scale-up</a:t>
            </a:r>
            <a:endParaRPr lang="en-US" sz="1100" dirty="0"/>
          </a:p>
        </p:txBody>
      </p:sp>
      <p:sp>
        <p:nvSpPr>
          <p:cNvPr id="59" name="Text 57"/>
          <p:cNvSpPr/>
          <p:nvPr/>
        </p:nvSpPr>
        <p:spPr>
          <a:xfrm>
            <a:off x="8193024" y="4901184"/>
            <a:ext cx="310896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stepped-wedge; SSI rate, readmissions</a:t>
            </a:r>
            <a:endParaRPr lang="en-US" sz="950" dirty="0"/>
          </a:p>
        </p:txBody>
      </p:sp>
      <p:sp>
        <p:nvSpPr>
          <p:cNvPr id="60" name="Shape 58"/>
          <p:cNvSpPr/>
          <p:nvPr/>
        </p:nvSpPr>
        <p:spPr>
          <a:xfrm>
            <a:off x="7991856" y="5394960"/>
            <a:ext cx="3538728" cy="658368"/>
          </a:xfrm>
          <a:prstGeom prst="roundRect">
            <a:avLst>
              <a:gd name="adj" fmla="val 12500"/>
            </a:avLst>
          </a:prstGeom>
          <a:solidFill>
            <a:srgbClr val="FFFFFF"/>
          </a:solidFill>
          <a:ln w="12700">
            <a:solidFill>
              <a:srgbClr val="DDE5EE"/>
            </a:solidFill>
            <a:prstDash val="solid"/>
          </a:ln>
        </p:spPr>
      </p:sp>
      <p:sp>
        <p:nvSpPr>
          <p:cNvPr id="61" name="Text 59"/>
          <p:cNvSpPr/>
          <p:nvPr/>
        </p:nvSpPr>
        <p:spPr>
          <a:xfrm>
            <a:off x="8193024" y="5440680"/>
            <a:ext cx="3108960" cy="219456"/>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Adverse effects</a:t>
            </a:r>
            <a:endParaRPr lang="en-US" sz="1100" dirty="0"/>
          </a:p>
        </p:txBody>
      </p:sp>
      <p:sp>
        <p:nvSpPr>
          <p:cNvPr id="62" name="Text 60"/>
          <p:cNvSpPr/>
          <p:nvPr/>
        </p:nvSpPr>
        <p:spPr>
          <a:xfrm>
            <a:off x="8193024" y="5650992"/>
            <a:ext cx="3108960" cy="384048"/>
          </a:xfrm>
          <a:prstGeom prst="rect">
            <a:avLst/>
          </a:prstGeom>
          <a:noFill/>
          <a:ln/>
        </p:spPr>
        <p:txBody>
          <a:bodyPr wrap="square" lIns="0" tIns="0" rIns="0" bIns="0" rtlCol="0" anchor="ctr"/>
          <a:lstStyle/>
          <a:p>
            <a:pPr indent="0" marL="0">
              <a:lnSpc>
                <a:spcPts val="1200"/>
              </a:lnSpc>
              <a:buNone/>
            </a:pPr>
            <a:r>
              <a:rPr lang="en-US" sz="950" dirty="0">
                <a:solidFill>
                  <a:srgbClr val="5D7186"/>
                </a:solidFill>
                <a:latin typeface="Calibri" pitchFamily="34" charset="0"/>
                <a:ea typeface="Calibri" pitchFamily="34" charset="-122"/>
                <a:cs typeface="Calibri" pitchFamily="34" charset="-120"/>
              </a:rPr>
              <a:t>false alarms, alert overrides, equity</a:t>
            </a:r>
            <a:endParaRPr lang="en-US" sz="950" dirty="0"/>
          </a:p>
        </p:txBody>
      </p:sp>
      <p:sp>
        <p:nvSpPr>
          <p:cNvPr id="63" name="Text 61"/>
          <p:cNvSpPr/>
          <p:nvPr/>
        </p:nvSpPr>
        <p:spPr>
          <a:xfrm>
            <a:off x="566928" y="6181344"/>
            <a:ext cx="11064240" cy="274320"/>
          </a:xfrm>
          <a:prstGeom prst="rect">
            <a:avLst/>
          </a:prstGeom>
          <a:noFill/>
          <a:ln/>
        </p:spPr>
        <p:txBody>
          <a:bodyPr wrap="square" lIns="0" tIns="0" rIns="0" bIns="0" rtlCol="0" anchor="ctr"/>
          <a:lstStyle/>
          <a:p>
            <a:pPr indent="0" marL="0">
              <a:buNone/>
            </a:pPr>
            <a:r>
              <a:rPr lang="en-US" sz="1000" i="1" dirty="0">
                <a:solidFill>
                  <a:srgbClr val="5D7186"/>
                </a:solidFill>
                <a:latin typeface="Calibri" pitchFamily="34" charset="0"/>
                <a:ea typeface="Calibri" pitchFamily="34" charset="-122"/>
                <a:cs typeface="Calibri" pitchFamily="34" charset="-120"/>
              </a:rPr>
              <a:t>Interoperability reached: structural yes · semantic partly · organisational no.  ·  Most important safety indicator: GREEN cases that still present to a physician within 72 h.</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EXPECTED IMPACT &amp; REGULATION</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False reassurance weighs more than a false alarm</a:t>
            </a:r>
            <a:endParaRPr lang="en-US" sz="2700" dirty="0"/>
          </a:p>
        </p:txBody>
      </p:sp>
      <p:sp>
        <p:nvSpPr>
          <p:cNvPr id="4" name="Shape 2"/>
          <p:cNvSpPr/>
          <p:nvPr/>
        </p:nvSpPr>
        <p:spPr>
          <a:xfrm>
            <a:off x="566928" y="1645920"/>
            <a:ext cx="5394960" cy="2377440"/>
          </a:xfrm>
          <a:prstGeom prst="roundRect">
            <a:avLst>
              <a:gd name="adj" fmla="val 3462"/>
            </a:avLst>
          </a:prstGeom>
          <a:solidFill>
            <a:srgbClr val="E8F6EE"/>
          </a:solidFill>
          <a:ln w="12700">
            <a:solidFill>
              <a:srgbClr val="A8D9BF"/>
            </a:solidFill>
            <a:prstDash val="solid"/>
          </a:ln>
        </p:spPr>
      </p:sp>
      <p:sp>
        <p:nvSpPr>
          <p:cNvPr id="5" name="Text 3"/>
          <p:cNvSpPr/>
          <p:nvPr/>
        </p:nvSpPr>
        <p:spPr>
          <a:xfrm>
            <a:off x="822960" y="1810512"/>
            <a:ext cx="2743200" cy="256032"/>
          </a:xfrm>
          <a:prstGeom prst="rect">
            <a:avLst/>
          </a:prstGeom>
          <a:noFill/>
          <a:ln/>
        </p:spPr>
        <p:txBody>
          <a:bodyPr wrap="square" lIns="0" tIns="0" rIns="0" bIns="0" rtlCol="0" anchor="ctr"/>
          <a:lstStyle/>
          <a:p>
            <a:pPr indent="0" marL="0">
              <a:buNone/>
            </a:pPr>
            <a:r>
              <a:rPr lang="en-US" sz="1300" b="1" dirty="0">
                <a:solidFill>
                  <a:srgbClr val="1A7F4B"/>
                </a:solidFill>
                <a:latin typeface="Calibri" pitchFamily="34" charset="0"/>
                <a:ea typeface="Calibri" pitchFamily="34" charset="-122"/>
                <a:cs typeface="Calibri" pitchFamily="34" charset="-120"/>
              </a:rPr>
              <a:t>Benefits</a:t>
            </a:r>
            <a:endParaRPr lang="en-US" sz="1300" dirty="0"/>
          </a:p>
        </p:txBody>
      </p:sp>
      <p:sp>
        <p:nvSpPr>
          <p:cNvPr id="6" name="Text 4"/>
          <p:cNvSpPr/>
          <p:nvPr/>
        </p:nvSpPr>
        <p:spPr>
          <a:xfrm>
            <a:off x="822960" y="2084832"/>
            <a:ext cx="4892040" cy="1783080"/>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Earlier treatment when an infection develops</a:t>
            </a:r>
            <a:endParaRPr lang="en-US" sz="1150" dirty="0"/>
          </a:p>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Fewer contacts without clinical consequence</a:t>
            </a:r>
            <a:endParaRPr lang="en-US" sz="1150" dirty="0"/>
          </a:p>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Complete trajectory for the follow-up appointment</a:t>
            </a:r>
            <a:endParaRPr lang="en-US" sz="1150" dirty="0"/>
          </a:p>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Structured, standardised follow-up data</a:t>
            </a:r>
            <a:endParaRPr lang="en-US" sz="1150" dirty="0"/>
          </a:p>
        </p:txBody>
      </p:sp>
      <p:sp>
        <p:nvSpPr>
          <p:cNvPr id="7" name="Shape 5"/>
          <p:cNvSpPr/>
          <p:nvPr/>
        </p:nvSpPr>
        <p:spPr>
          <a:xfrm>
            <a:off x="6236208" y="1645920"/>
            <a:ext cx="5394960" cy="2377440"/>
          </a:xfrm>
          <a:prstGeom prst="roundRect">
            <a:avLst>
              <a:gd name="adj" fmla="val 3462"/>
            </a:avLst>
          </a:prstGeom>
          <a:solidFill>
            <a:srgbClr val="FBE7E5"/>
          </a:solidFill>
          <a:ln w="12700">
            <a:solidFill>
              <a:srgbClr val="F0ACA6"/>
            </a:solidFill>
            <a:prstDash val="solid"/>
          </a:ln>
        </p:spPr>
      </p:sp>
      <p:sp>
        <p:nvSpPr>
          <p:cNvPr id="8" name="Text 6"/>
          <p:cNvSpPr/>
          <p:nvPr/>
        </p:nvSpPr>
        <p:spPr>
          <a:xfrm>
            <a:off x="6492240" y="1810512"/>
            <a:ext cx="2743200" cy="256032"/>
          </a:xfrm>
          <a:prstGeom prst="rect">
            <a:avLst/>
          </a:prstGeom>
          <a:noFill/>
          <a:ln/>
        </p:spPr>
        <p:txBody>
          <a:bodyPr wrap="square" lIns="0" tIns="0" rIns="0" bIns="0" rtlCol="0" anchor="ctr"/>
          <a:lstStyle/>
          <a:p>
            <a:pPr indent="0" marL="0">
              <a:buNone/>
            </a:pPr>
            <a:r>
              <a:rPr lang="en-US" sz="1300" b="1" dirty="0">
                <a:solidFill>
                  <a:srgbClr val="C0281C"/>
                </a:solidFill>
                <a:latin typeface="Calibri" pitchFamily="34" charset="0"/>
                <a:ea typeface="Calibri" pitchFamily="34" charset="-122"/>
                <a:cs typeface="Calibri" pitchFamily="34" charset="-120"/>
              </a:rPr>
              <a:t>Risks</a:t>
            </a:r>
            <a:endParaRPr lang="en-US" sz="1300" dirty="0"/>
          </a:p>
        </p:txBody>
      </p:sp>
      <p:sp>
        <p:nvSpPr>
          <p:cNvPr id="9" name="Text 7"/>
          <p:cNvSpPr/>
          <p:nvPr/>
        </p:nvSpPr>
        <p:spPr>
          <a:xfrm>
            <a:off x="6492240" y="2084832"/>
            <a:ext cx="4892040" cy="1783080"/>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Automation bias — the patient stops observing</a:t>
            </a:r>
            <a:endParaRPr lang="en-US" sz="1150" dirty="0"/>
          </a:p>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Alert fatigue in the practice</a:t>
            </a:r>
            <a:endParaRPr lang="en-US" sz="1150" dirty="0"/>
          </a:p>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Scaling our own errors consistently, at volume</a:t>
            </a:r>
            <a:endParaRPr lang="en-US" sz="1150" dirty="0"/>
          </a:p>
          <a:p>
            <a:pPr marL="177800" indent="-177800">
              <a:lnSpc>
                <a:spcPts val="1500"/>
              </a:lnSpc>
              <a:spcAft>
                <a:spcPts val="600"/>
              </a:spcAft>
              <a:buSzPct val="100000"/>
              <a:buChar char="•"/>
            </a:pPr>
            <a:r>
              <a:rPr lang="en-US" sz="1150" dirty="0">
                <a:solidFill>
                  <a:srgbClr val="12202E"/>
                </a:solidFill>
                <a:latin typeface="Calibri" pitchFamily="34" charset="0"/>
                <a:ea typeface="Calibri" pitchFamily="34" charset="-122"/>
                <a:cs typeface="Calibri" pitchFamily="34" charset="-120"/>
              </a:rPr>
              <a:t>Digital divide — the gap may widen</a:t>
            </a:r>
            <a:endParaRPr lang="en-US" sz="1150" dirty="0"/>
          </a:p>
        </p:txBody>
      </p:sp>
      <p:sp>
        <p:nvSpPr>
          <p:cNvPr id="10" name="Text 8"/>
          <p:cNvSpPr/>
          <p:nvPr/>
        </p:nvSpPr>
        <p:spPr>
          <a:xfrm>
            <a:off x="566928" y="4224528"/>
            <a:ext cx="6766560" cy="310896"/>
          </a:xfrm>
          <a:prstGeom prst="rect">
            <a:avLst/>
          </a:prstGeom>
          <a:noFill/>
          <a:ln/>
        </p:spPr>
        <p:txBody>
          <a:bodyPr wrap="square" lIns="0" tIns="0" rIns="0" bIns="0" rtlCol="0" anchor="ctr"/>
          <a:lstStyle/>
          <a:p>
            <a:pPr indent="0" marL="0">
              <a:buNone/>
            </a:pPr>
            <a:r>
              <a:rPr lang="en-US" sz="1400" b="1" dirty="0">
                <a:solidFill>
                  <a:srgbClr val="12202E"/>
                </a:solidFill>
                <a:latin typeface="Calibri" pitchFamily="34" charset="0"/>
                <a:ea typeface="Calibri" pitchFamily="34" charset="-122"/>
                <a:cs typeface="Calibri" pitchFamily="34" charset="-120"/>
              </a:rPr>
              <a:t>Is WundCheck a medical device?  Yes — SaMD, IMDRF Category II</a:t>
            </a:r>
            <a:endParaRPr lang="en-US" sz="1400" dirty="0"/>
          </a:p>
        </p:txBody>
      </p:sp>
      <p:sp>
        <p:nvSpPr>
          <p:cNvPr id="11" name="Text 9"/>
          <p:cNvSpPr/>
          <p:nvPr/>
        </p:nvSpPr>
        <p:spPr>
          <a:xfrm>
            <a:off x="566928" y="4590288"/>
            <a:ext cx="6766560" cy="1554480"/>
          </a:xfrm>
          <a:prstGeom prst="rect">
            <a:avLst/>
          </a:prstGeom>
          <a:noFill/>
          <a:ln/>
        </p:spPr>
        <p:txBody>
          <a:bodyPr wrap="square" lIns="0" tIns="0" rIns="0" bIns="0" rtlCol="0" anchor="t"/>
          <a:lstStyle/>
          <a:p>
            <a:pPr indent="0" marL="0">
              <a:lnSpc>
                <a:spcPts val="1600"/>
              </a:lnSpc>
              <a:buNone/>
            </a:pPr>
            <a:r>
              <a:rPr lang="en-US" sz="1150" dirty="0">
                <a:solidFill>
                  <a:srgbClr val="5D7186"/>
                </a:solidFill>
                <a:latin typeface="Calibri" pitchFamily="34" charset="0"/>
                <a:ea typeface="Calibri" pitchFamily="34" charset="-122"/>
                <a:cs typeface="Calibri" pitchFamily="34" charset="-120"/>
              </a:rPr>
              <a:t>State of the healthcare situation = serious: an untreated SSI is not self-limiting and can lead to sepsis or revision surgery. Significance of information = drive clinical management: we neither diagnose nor treat, but we determine whether and when clinical action is taken.</a:t>
            </a:r>
            <a:endParaRPr lang="en-US" sz="1150" dirty="0"/>
          </a:p>
          <a:p>
            <a:pPr indent="0" marL="0">
              <a:lnSpc>
                <a:spcPts val="1600"/>
              </a:lnSpc>
              <a:buNone/>
            </a:pPr>
            <a:endParaRPr lang="en-US" sz="1150" dirty="0"/>
          </a:p>
          <a:p>
            <a:pPr indent="0" marL="0">
              <a:lnSpc>
                <a:spcPts val="1600"/>
              </a:lnSpc>
              <a:buNone/>
            </a:pPr>
            <a:r>
              <a:rPr lang="en-US" sz="1150" dirty="0">
                <a:solidFill>
                  <a:srgbClr val="5D7186"/>
                </a:solidFill>
                <a:latin typeface="Calibri" pitchFamily="34" charset="0"/>
                <a:ea typeface="Calibri" pitchFamily="34" charset="-122"/>
                <a:cs typeface="Calibri" pitchFamily="34" charset="-120"/>
              </a:rPr>
              <a:t>Standards that would apply: ISO 14971 · IEC 62304 · IEC 62366 · ISO 13485. The EU AI Act does not — the system is rule-based, a deliberate consequence of avoiding image analysis.</a:t>
            </a:r>
            <a:endParaRPr lang="en-US" sz="1150" dirty="0"/>
          </a:p>
        </p:txBody>
      </p:sp>
      <p:sp>
        <p:nvSpPr>
          <p:cNvPr id="12" name="Text 10"/>
          <p:cNvSpPr/>
          <p:nvPr/>
        </p:nvSpPr>
        <p:spPr>
          <a:xfrm>
            <a:off x="7790688" y="4224528"/>
            <a:ext cx="932688" cy="347472"/>
          </a:xfrm>
          <a:prstGeom prst="rect">
            <a:avLst/>
          </a:prstGeom>
          <a:noFill/>
          <a:ln/>
        </p:spPr>
        <p:txBody>
          <a:bodyPr wrap="square" lIns="0" tIns="0" rIns="0" bIns="0" rtlCol="0" anchor="ctr"/>
          <a:lstStyle/>
          <a:p>
            <a:pPr algn="l" indent="0" marL="0">
              <a:buNone/>
            </a:pPr>
            <a:endParaRPr lang="en-US" sz="950" dirty="0"/>
          </a:p>
        </p:txBody>
      </p:sp>
      <p:sp>
        <p:nvSpPr>
          <p:cNvPr id="13" name="Text 11"/>
          <p:cNvSpPr/>
          <p:nvPr/>
        </p:nvSpPr>
        <p:spPr>
          <a:xfrm>
            <a:off x="8759952" y="4224528"/>
            <a:ext cx="932688" cy="347472"/>
          </a:xfrm>
          <a:prstGeom prst="rect">
            <a:avLst/>
          </a:prstGeom>
          <a:noFill/>
          <a:ln/>
        </p:spPr>
        <p:txBody>
          <a:bodyPr wrap="square" lIns="0" tIns="0" rIns="0" bIns="0" rtlCol="0" anchor="ctr"/>
          <a:lstStyle/>
          <a:p>
            <a:pPr algn="ctr" indent="0" marL="0">
              <a:buNone/>
            </a:pPr>
            <a:r>
              <a:rPr lang="en-US" sz="950" b="1" dirty="0">
                <a:solidFill>
                  <a:srgbClr val="5D7186"/>
                </a:solidFill>
                <a:latin typeface="Calibri" pitchFamily="34" charset="0"/>
                <a:ea typeface="Calibri" pitchFamily="34" charset="-122"/>
                <a:cs typeface="Calibri" pitchFamily="34" charset="-120"/>
              </a:rPr>
              <a:t>Inform</a:t>
            </a:r>
            <a:endParaRPr lang="en-US" sz="950" dirty="0"/>
          </a:p>
        </p:txBody>
      </p:sp>
      <p:sp>
        <p:nvSpPr>
          <p:cNvPr id="14" name="Text 12"/>
          <p:cNvSpPr/>
          <p:nvPr/>
        </p:nvSpPr>
        <p:spPr>
          <a:xfrm>
            <a:off x="9729216" y="4224528"/>
            <a:ext cx="932688" cy="347472"/>
          </a:xfrm>
          <a:prstGeom prst="rect">
            <a:avLst/>
          </a:prstGeom>
          <a:noFill/>
          <a:ln/>
        </p:spPr>
        <p:txBody>
          <a:bodyPr wrap="square" lIns="0" tIns="0" rIns="0" bIns="0" rtlCol="0" anchor="ctr"/>
          <a:lstStyle/>
          <a:p>
            <a:pPr algn="ctr" indent="0" marL="0">
              <a:buNone/>
            </a:pPr>
            <a:r>
              <a:rPr lang="en-US" sz="950" b="1" dirty="0">
                <a:solidFill>
                  <a:srgbClr val="5D7186"/>
                </a:solidFill>
                <a:latin typeface="Calibri" pitchFamily="34" charset="0"/>
                <a:ea typeface="Calibri" pitchFamily="34" charset="-122"/>
                <a:cs typeface="Calibri" pitchFamily="34" charset="-120"/>
              </a:rPr>
              <a:t>Drive</a:t>
            </a:r>
            <a:endParaRPr lang="en-US" sz="950" dirty="0"/>
          </a:p>
        </p:txBody>
      </p:sp>
      <p:sp>
        <p:nvSpPr>
          <p:cNvPr id="15" name="Text 13"/>
          <p:cNvSpPr/>
          <p:nvPr/>
        </p:nvSpPr>
        <p:spPr>
          <a:xfrm>
            <a:off x="10698480" y="4224528"/>
            <a:ext cx="932688" cy="347472"/>
          </a:xfrm>
          <a:prstGeom prst="rect">
            <a:avLst/>
          </a:prstGeom>
          <a:noFill/>
          <a:ln/>
        </p:spPr>
        <p:txBody>
          <a:bodyPr wrap="square" lIns="0" tIns="0" rIns="0" bIns="0" rtlCol="0" anchor="ctr"/>
          <a:lstStyle/>
          <a:p>
            <a:pPr algn="ctr" indent="0" marL="0">
              <a:buNone/>
            </a:pPr>
            <a:r>
              <a:rPr lang="en-US" sz="950" b="1" dirty="0">
                <a:solidFill>
                  <a:srgbClr val="5D7186"/>
                </a:solidFill>
                <a:latin typeface="Calibri" pitchFamily="34" charset="0"/>
                <a:ea typeface="Calibri" pitchFamily="34" charset="-122"/>
                <a:cs typeface="Calibri" pitchFamily="34" charset="-120"/>
              </a:rPr>
              <a:t>Treat/dx</a:t>
            </a:r>
            <a:endParaRPr lang="en-US" sz="950" dirty="0"/>
          </a:p>
        </p:txBody>
      </p:sp>
      <p:sp>
        <p:nvSpPr>
          <p:cNvPr id="16" name="Text 14"/>
          <p:cNvSpPr/>
          <p:nvPr/>
        </p:nvSpPr>
        <p:spPr>
          <a:xfrm>
            <a:off x="7790688" y="4608576"/>
            <a:ext cx="932688" cy="347472"/>
          </a:xfrm>
          <a:prstGeom prst="rect">
            <a:avLst/>
          </a:prstGeom>
          <a:noFill/>
          <a:ln/>
        </p:spPr>
        <p:txBody>
          <a:bodyPr wrap="square" lIns="0" tIns="0" rIns="0" bIns="0" rtlCol="0" anchor="ctr"/>
          <a:lstStyle/>
          <a:p>
            <a:pPr algn="l" indent="0" marL="0">
              <a:buNone/>
            </a:pPr>
            <a:r>
              <a:rPr lang="en-US" sz="950" b="1" dirty="0">
                <a:solidFill>
                  <a:srgbClr val="5D7186"/>
                </a:solidFill>
                <a:latin typeface="Calibri" pitchFamily="34" charset="0"/>
                <a:ea typeface="Calibri" pitchFamily="34" charset="-122"/>
                <a:cs typeface="Calibri" pitchFamily="34" charset="-120"/>
              </a:rPr>
              <a:t>Critical</a:t>
            </a:r>
            <a:endParaRPr lang="en-US" sz="950" dirty="0"/>
          </a:p>
        </p:txBody>
      </p:sp>
      <p:sp>
        <p:nvSpPr>
          <p:cNvPr id="17" name="Shape 15"/>
          <p:cNvSpPr/>
          <p:nvPr/>
        </p:nvSpPr>
        <p:spPr>
          <a:xfrm>
            <a:off x="8759952" y="4608576"/>
            <a:ext cx="932688" cy="347472"/>
          </a:xfrm>
          <a:prstGeom prst="rect">
            <a:avLst/>
          </a:prstGeom>
          <a:solidFill>
            <a:srgbClr val="F5F7FA"/>
          </a:solidFill>
          <a:ln w="12700">
            <a:solidFill>
              <a:srgbClr val="DDE5EE"/>
            </a:solidFill>
            <a:prstDash val="solid"/>
          </a:ln>
        </p:spPr>
      </p:sp>
      <p:sp>
        <p:nvSpPr>
          <p:cNvPr id="18" name="Text 16"/>
          <p:cNvSpPr/>
          <p:nvPr/>
        </p:nvSpPr>
        <p:spPr>
          <a:xfrm>
            <a:off x="8759952" y="4608576"/>
            <a:ext cx="932688" cy="347472"/>
          </a:xfrm>
          <a:prstGeom prst="rect">
            <a:avLst/>
          </a:prstGeom>
          <a:noFill/>
          <a:ln/>
        </p:spPr>
        <p:txBody>
          <a:bodyPr wrap="square" lIns="0" tIns="0" rIns="0" bIns="0" rtlCol="0" anchor="ctr"/>
          <a:lstStyle/>
          <a:p>
            <a:pPr algn="ctr" indent="0" marL="0">
              <a:buNone/>
            </a:pPr>
            <a:r>
              <a:rPr lang="en-US" sz="1100" dirty="0">
                <a:solidFill>
                  <a:srgbClr val="12202E"/>
                </a:solidFill>
                <a:latin typeface="Calibri" pitchFamily="34" charset="0"/>
                <a:ea typeface="Calibri" pitchFamily="34" charset="-122"/>
                <a:cs typeface="Calibri" pitchFamily="34" charset="-120"/>
              </a:rPr>
              <a:t>IV</a:t>
            </a:r>
            <a:endParaRPr lang="en-US" sz="1100" dirty="0"/>
          </a:p>
        </p:txBody>
      </p:sp>
      <p:sp>
        <p:nvSpPr>
          <p:cNvPr id="19" name="Shape 17"/>
          <p:cNvSpPr/>
          <p:nvPr/>
        </p:nvSpPr>
        <p:spPr>
          <a:xfrm>
            <a:off x="9729216" y="4608576"/>
            <a:ext cx="932688" cy="347472"/>
          </a:xfrm>
          <a:prstGeom prst="rect">
            <a:avLst/>
          </a:prstGeom>
          <a:solidFill>
            <a:srgbClr val="F5F7FA"/>
          </a:solidFill>
          <a:ln w="12700">
            <a:solidFill>
              <a:srgbClr val="DDE5EE"/>
            </a:solidFill>
            <a:prstDash val="solid"/>
          </a:ln>
        </p:spPr>
      </p:sp>
      <p:sp>
        <p:nvSpPr>
          <p:cNvPr id="20" name="Text 18"/>
          <p:cNvSpPr/>
          <p:nvPr/>
        </p:nvSpPr>
        <p:spPr>
          <a:xfrm>
            <a:off x="9729216" y="4608576"/>
            <a:ext cx="932688" cy="347472"/>
          </a:xfrm>
          <a:prstGeom prst="rect">
            <a:avLst/>
          </a:prstGeom>
          <a:noFill/>
          <a:ln/>
        </p:spPr>
        <p:txBody>
          <a:bodyPr wrap="square" lIns="0" tIns="0" rIns="0" bIns="0" rtlCol="0" anchor="ctr"/>
          <a:lstStyle/>
          <a:p>
            <a:pPr algn="ctr" indent="0" marL="0">
              <a:buNone/>
            </a:pPr>
            <a:r>
              <a:rPr lang="en-US" sz="1100" dirty="0">
                <a:solidFill>
                  <a:srgbClr val="12202E"/>
                </a:solidFill>
                <a:latin typeface="Calibri" pitchFamily="34" charset="0"/>
                <a:ea typeface="Calibri" pitchFamily="34" charset="-122"/>
                <a:cs typeface="Calibri" pitchFamily="34" charset="-120"/>
              </a:rPr>
              <a:t>III</a:t>
            </a:r>
            <a:endParaRPr lang="en-US" sz="1100" dirty="0"/>
          </a:p>
        </p:txBody>
      </p:sp>
      <p:sp>
        <p:nvSpPr>
          <p:cNvPr id="21" name="Shape 19"/>
          <p:cNvSpPr/>
          <p:nvPr/>
        </p:nvSpPr>
        <p:spPr>
          <a:xfrm>
            <a:off x="10698480" y="4608576"/>
            <a:ext cx="932688" cy="347472"/>
          </a:xfrm>
          <a:prstGeom prst="rect">
            <a:avLst/>
          </a:prstGeom>
          <a:solidFill>
            <a:srgbClr val="F5F7FA"/>
          </a:solidFill>
          <a:ln w="12700">
            <a:solidFill>
              <a:srgbClr val="DDE5EE"/>
            </a:solidFill>
            <a:prstDash val="solid"/>
          </a:ln>
        </p:spPr>
      </p:sp>
      <p:sp>
        <p:nvSpPr>
          <p:cNvPr id="22" name="Text 20"/>
          <p:cNvSpPr/>
          <p:nvPr/>
        </p:nvSpPr>
        <p:spPr>
          <a:xfrm>
            <a:off x="10698480" y="4608576"/>
            <a:ext cx="932688" cy="347472"/>
          </a:xfrm>
          <a:prstGeom prst="rect">
            <a:avLst/>
          </a:prstGeom>
          <a:noFill/>
          <a:ln/>
        </p:spPr>
        <p:txBody>
          <a:bodyPr wrap="square" lIns="0" tIns="0" rIns="0" bIns="0" rtlCol="0" anchor="ctr"/>
          <a:lstStyle/>
          <a:p>
            <a:pPr algn="ctr" indent="0" marL="0">
              <a:buNone/>
            </a:pPr>
            <a:r>
              <a:rPr lang="en-US" sz="1100" dirty="0">
                <a:solidFill>
                  <a:srgbClr val="12202E"/>
                </a:solidFill>
                <a:latin typeface="Calibri" pitchFamily="34" charset="0"/>
                <a:ea typeface="Calibri" pitchFamily="34" charset="-122"/>
                <a:cs typeface="Calibri" pitchFamily="34" charset="-120"/>
              </a:rPr>
              <a:t>II</a:t>
            </a:r>
            <a:endParaRPr lang="en-US" sz="1100" dirty="0"/>
          </a:p>
        </p:txBody>
      </p:sp>
      <p:sp>
        <p:nvSpPr>
          <p:cNvPr id="23" name="Text 21"/>
          <p:cNvSpPr/>
          <p:nvPr/>
        </p:nvSpPr>
        <p:spPr>
          <a:xfrm>
            <a:off x="7790688" y="4992624"/>
            <a:ext cx="932688" cy="347472"/>
          </a:xfrm>
          <a:prstGeom prst="rect">
            <a:avLst/>
          </a:prstGeom>
          <a:noFill/>
          <a:ln/>
        </p:spPr>
        <p:txBody>
          <a:bodyPr wrap="square" lIns="0" tIns="0" rIns="0" bIns="0" rtlCol="0" anchor="ctr"/>
          <a:lstStyle/>
          <a:p>
            <a:pPr algn="l" indent="0" marL="0">
              <a:buNone/>
            </a:pPr>
            <a:r>
              <a:rPr lang="en-US" sz="950" b="1" dirty="0">
                <a:solidFill>
                  <a:srgbClr val="5D7186"/>
                </a:solidFill>
                <a:latin typeface="Calibri" pitchFamily="34" charset="0"/>
                <a:ea typeface="Calibri" pitchFamily="34" charset="-122"/>
                <a:cs typeface="Calibri" pitchFamily="34" charset="-120"/>
              </a:rPr>
              <a:t>Serious</a:t>
            </a:r>
            <a:endParaRPr lang="en-US" sz="950" dirty="0"/>
          </a:p>
        </p:txBody>
      </p:sp>
      <p:sp>
        <p:nvSpPr>
          <p:cNvPr id="24" name="Shape 22"/>
          <p:cNvSpPr/>
          <p:nvPr/>
        </p:nvSpPr>
        <p:spPr>
          <a:xfrm>
            <a:off x="8759952" y="4992624"/>
            <a:ext cx="932688" cy="347472"/>
          </a:xfrm>
          <a:prstGeom prst="rect">
            <a:avLst/>
          </a:prstGeom>
          <a:solidFill>
            <a:srgbClr val="F5F7FA"/>
          </a:solidFill>
          <a:ln w="12700">
            <a:solidFill>
              <a:srgbClr val="DDE5EE"/>
            </a:solidFill>
            <a:prstDash val="solid"/>
          </a:ln>
        </p:spPr>
      </p:sp>
      <p:sp>
        <p:nvSpPr>
          <p:cNvPr id="25" name="Text 23"/>
          <p:cNvSpPr/>
          <p:nvPr/>
        </p:nvSpPr>
        <p:spPr>
          <a:xfrm>
            <a:off x="8759952" y="4992624"/>
            <a:ext cx="932688" cy="347472"/>
          </a:xfrm>
          <a:prstGeom prst="rect">
            <a:avLst/>
          </a:prstGeom>
          <a:noFill/>
          <a:ln/>
        </p:spPr>
        <p:txBody>
          <a:bodyPr wrap="square" lIns="0" tIns="0" rIns="0" bIns="0" rtlCol="0" anchor="ctr"/>
          <a:lstStyle/>
          <a:p>
            <a:pPr algn="ctr" indent="0" marL="0">
              <a:buNone/>
            </a:pPr>
            <a:r>
              <a:rPr lang="en-US" sz="1100" dirty="0">
                <a:solidFill>
                  <a:srgbClr val="12202E"/>
                </a:solidFill>
                <a:latin typeface="Calibri" pitchFamily="34" charset="0"/>
                <a:ea typeface="Calibri" pitchFamily="34" charset="-122"/>
                <a:cs typeface="Calibri" pitchFamily="34" charset="-120"/>
              </a:rPr>
              <a:t>III</a:t>
            </a:r>
            <a:endParaRPr lang="en-US" sz="1100" dirty="0"/>
          </a:p>
        </p:txBody>
      </p:sp>
      <p:sp>
        <p:nvSpPr>
          <p:cNvPr id="26" name="Shape 24"/>
          <p:cNvSpPr/>
          <p:nvPr/>
        </p:nvSpPr>
        <p:spPr>
          <a:xfrm>
            <a:off x="9729216" y="4992624"/>
            <a:ext cx="932688" cy="347472"/>
          </a:xfrm>
          <a:prstGeom prst="rect">
            <a:avLst/>
          </a:prstGeom>
          <a:solidFill>
            <a:srgbClr val="12202E"/>
          </a:solidFill>
          <a:ln w="12700">
            <a:solidFill>
              <a:srgbClr val="12202E"/>
            </a:solidFill>
            <a:prstDash val="solid"/>
          </a:ln>
        </p:spPr>
      </p:sp>
      <p:sp>
        <p:nvSpPr>
          <p:cNvPr id="27" name="Text 25"/>
          <p:cNvSpPr/>
          <p:nvPr/>
        </p:nvSpPr>
        <p:spPr>
          <a:xfrm>
            <a:off x="9729216" y="4992624"/>
            <a:ext cx="9326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II</a:t>
            </a:r>
            <a:endParaRPr lang="en-US" sz="1100" dirty="0"/>
          </a:p>
        </p:txBody>
      </p:sp>
      <p:sp>
        <p:nvSpPr>
          <p:cNvPr id="28" name="Shape 26"/>
          <p:cNvSpPr/>
          <p:nvPr/>
        </p:nvSpPr>
        <p:spPr>
          <a:xfrm>
            <a:off x="10698480" y="4992624"/>
            <a:ext cx="932688" cy="347472"/>
          </a:xfrm>
          <a:prstGeom prst="rect">
            <a:avLst/>
          </a:prstGeom>
          <a:solidFill>
            <a:srgbClr val="F5F7FA"/>
          </a:solidFill>
          <a:ln w="12700">
            <a:solidFill>
              <a:srgbClr val="DDE5EE"/>
            </a:solidFill>
            <a:prstDash val="solid"/>
          </a:ln>
        </p:spPr>
      </p:sp>
      <p:sp>
        <p:nvSpPr>
          <p:cNvPr id="29" name="Text 27"/>
          <p:cNvSpPr/>
          <p:nvPr/>
        </p:nvSpPr>
        <p:spPr>
          <a:xfrm>
            <a:off x="10698480" y="4992624"/>
            <a:ext cx="932688" cy="347472"/>
          </a:xfrm>
          <a:prstGeom prst="rect">
            <a:avLst/>
          </a:prstGeom>
          <a:noFill/>
          <a:ln/>
        </p:spPr>
        <p:txBody>
          <a:bodyPr wrap="square" lIns="0" tIns="0" rIns="0" bIns="0" rtlCol="0" anchor="ctr"/>
          <a:lstStyle/>
          <a:p>
            <a:pPr algn="ctr" indent="0" marL="0">
              <a:buNone/>
            </a:pPr>
            <a:r>
              <a:rPr lang="en-US" sz="1100" dirty="0">
                <a:solidFill>
                  <a:srgbClr val="12202E"/>
                </a:solidFill>
                <a:latin typeface="Calibri" pitchFamily="34" charset="0"/>
                <a:ea typeface="Calibri" pitchFamily="34" charset="-122"/>
                <a:cs typeface="Calibri" pitchFamily="34" charset="-120"/>
              </a:rPr>
              <a:t>I</a:t>
            </a:r>
            <a:endParaRPr lang="en-US" sz="1100" dirty="0"/>
          </a:p>
        </p:txBody>
      </p:sp>
      <p:sp>
        <p:nvSpPr>
          <p:cNvPr id="30" name="Text 28"/>
          <p:cNvSpPr/>
          <p:nvPr/>
        </p:nvSpPr>
        <p:spPr>
          <a:xfrm>
            <a:off x="7790688" y="5376672"/>
            <a:ext cx="932688" cy="347472"/>
          </a:xfrm>
          <a:prstGeom prst="rect">
            <a:avLst/>
          </a:prstGeom>
          <a:noFill/>
          <a:ln/>
        </p:spPr>
        <p:txBody>
          <a:bodyPr wrap="square" lIns="0" tIns="0" rIns="0" bIns="0" rtlCol="0" anchor="ctr"/>
          <a:lstStyle/>
          <a:p>
            <a:pPr algn="l" indent="0" marL="0">
              <a:buNone/>
            </a:pPr>
            <a:r>
              <a:rPr lang="en-US" sz="950" b="1" dirty="0">
                <a:solidFill>
                  <a:srgbClr val="5D7186"/>
                </a:solidFill>
                <a:latin typeface="Calibri" pitchFamily="34" charset="0"/>
                <a:ea typeface="Calibri" pitchFamily="34" charset="-122"/>
                <a:cs typeface="Calibri" pitchFamily="34" charset="-120"/>
              </a:rPr>
              <a:t>Non-serious</a:t>
            </a:r>
            <a:endParaRPr lang="en-US" sz="950" dirty="0"/>
          </a:p>
        </p:txBody>
      </p:sp>
      <p:sp>
        <p:nvSpPr>
          <p:cNvPr id="31" name="Shape 29"/>
          <p:cNvSpPr/>
          <p:nvPr/>
        </p:nvSpPr>
        <p:spPr>
          <a:xfrm>
            <a:off x="8759952" y="5376672"/>
            <a:ext cx="932688" cy="347472"/>
          </a:xfrm>
          <a:prstGeom prst="rect">
            <a:avLst/>
          </a:prstGeom>
          <a:solidFill>
            <a:srgbClr val="F5F7FA"/>
          </a:solidFill>
          <a:ln w="12700">
            <a:solidFill>
              <a:srgbClr val="DDE5EE"/>
            </a:solidFill>
            <a:prstDash val="solid"/>
          </a:ln>
        </p:spPr>
      </p:sp>
      <p:sp>
        <p:nvSpPr>
          <p:cNvPr id="32" name="Text 30"/>
          <p:cNvSpPr/>
          <p:nvPr/>
        </p:nvSpPr>
        <p:spPr>
          <a:xfrm>
            <a:off x="8759952" y="5376672"/>
            <a:ext cx="932688" cy="347472"/>
          </a:xfrm>
          <a:prstGeom prst="rect">
            <a:avLst/>
          </a:prstGeom>
          <a:noFill/>
          <a:ln/>
        </p:spPr>
        <p:txBody>
          <a:bodyPr wrap="square" lIns="0" tIns="0" rIns="0" bIns="0" rtlCol="0" anchor="ctr"/>
          <a:lstStyle/>
          <a:p>
            <a:pPr algn="ctr" indent="0" marL="0">
              <a:buNone/>
            </a:pPr>
            <a:r>
              <a:rPr lang="en-US" sz="1100" dirty="0">
                <a:solidFill>
                  <a:srgbClr val="12202E"/>
                </a:solidFill>
                <a:latin typeface="Calibri" pitchFamily="34" charset="0"/>
                <a:ea typeface="Calibri" pitchFamily="34" charset="-122"/>
                <a:cs typeface="Calibri" pitchFamily="34" charset="-120"/>
              </a:rPr>
              <a:t>II</a:t>
            </a:r>
            <a:endParaRPr lang="en-US" sz="1100" dirty="0"/>
          </a:p>
        </p:txBody>
      </p:sp>
      <p:sp>
        <p:nvSpPr>
          <p:cNvPr id="33" name="Shape 31"/>
          <p:cNvSpPr/>
          <p:nvPr/>
        </p:nvSpPr>
        <p:spPr>
          <a:xfrm>
            <a:off x="9729216" y="5376672"/>
            <a:ext cx="932688" cy="347472"/>
          </a:xfrm>
          <a:prstGeom prst="rect">
            <a:avLst/>
          </a:prstGeom>
          <a:solidFill>
            <a:srgbClr val="F5F7FA"/>
          </a:solidFill>
          <a:ln w="12700">
            <a:solidFill>
              <a:srgbClr val="DDE5EE"/>
            </a:solidFill>
            <a:prstDash val="solid"/>
          </a:ln>
        </p:spPr>
      </p:sp>
      <p:sp>
        <p:nvSpPr>
          <p:cNvPr id="34" name="Text 32"/>
          <p:cNvSpPr/>
          <p:nvPr/>
        </p:nvSpPr>
        <p:spPr>
          <a:xfrm>
            <a:off x="9729216" y="5376672"/>
            <a:ext cx="932688" cy="347472"/>
          </a:xfrm>
          <a:prstGeom prst="rect">
            <a:avLst/>
          </a:prstGeom>
          <a:noFill/>
          <a:ln/>
        </p:spPr>
        <p:txBody>
          <a:bodyPr wrap="square" lIns="0" tIns="0" rIns="0" bIns="0" rtlCol="0" anchor="ctr"/>
          <a:lstStyle/>
          <a:p>
            <a:pPr algn="ctr" indent="0" marL="0">
              <a:buNone/>
            </a:pPr>
            <a:r>
              <a:rPr lang="en-US" sz="1100" dirty="0">
                <a:solidFill>
                  <a:srgbClr val="12202E"/>
                </a:solidFill>
                <a:latin typeface="Calibri" pitchFamily="34" charset="0"/>
                <a:ea typeface="Calibri" pitchFamily="34" charset="-122"/>
                <a:cs typeface="Calibri" pitchFamily="34" charset="-120"/>
              </a:rPr>
              <a:t>I</a:t>
            </a:r>
            <a:endParaRPr lang="en-US" sz="1100" dirty="0"/>
          </a:p>
        </p:txBody>
      </p:sp>
      <p:sp>
        <p:nvSpPr>
          <p:cNvPr id="35" name="Shape 33"/>
          <p:cNvSpPr/>
          <p:nvPr/>
        </p:nvSpPr>
        <p:spPr>
          <a:xfrm>
            <a:off x="10698480" y="5376672"/>
            <a:ext cx="932688" cy="347472"/>
          </a:xfrm>
          <a:prstGeom prst="rect">
            <a:avLst/>
          </a:prstGeom>
          <a:solidFill>
            <a:srgbClr val="F5F7FA"/>
          </a:solidFill>
          <a:ln w="12700">
            <a:solidFill>
              <a:srgbClr val="DDE5EE"/>
            </a:solidFill>
            <a:prstDash val="solid"/>
          </a:ln>
        </p:spPr>
      </p:sp>
      <p:sp>
        <p:nvSpPr>
          <p:cNvPr id="36" name="Text 34"/>
          <p:cNvSpPr/>
          <p:nvPr/>
        </p:nvSpPr>
        <p:spPr>
          <a:xfrm>
            <a:off x="10698480" y="5376672"/>
            <a:ext cx="932688" cy="347472"/>
          </a:xfrm>
          <a:prstGeom prst="rect">
            <a:avLst/>
          </a:prstGeom>
          <a:noFill/>
          <a:ln/>
        </p:spPr>
        <p:txBody>
          <a:bodyPr wrap="square" lIns="0" tIns="0" rIns="0" bIns="0" rtlCol="0" anchor="ctr"/>
          <a:lstStyle/>
          <a:p>
            <a:pPr algn="ctr" indent="0" marL="0">
              <a:buNone/>
            </a:pPr>
            <a:r>
              <a:rPr lang="en-US" sz="1100" dirty="0">
                <a:solidFill>
                  <a:srgbClr val="12202E"/>
                </a:solidFill>
                <a:latin typeface="Calibri" pitchFamily="34" charset="0"/>
                <a:ea typeface="Calibri" pitchFamily="34" charset="-122"/>
                <a:cs typeface="Calibri" pitchFamily="34" charset="-120"/>
              </a:rPr>
              <a:t>I</a:t>
            </a:r>
            <a:endParaRPr lang="en-US" sz="1100" dirty="0"/>
          </a:p>
        </p:txBody>
      </p:sp>
      <p:sp>
        <p:nvSpPr>
          <p:cNvPr id="37" name="Text 35"/>
          <p:cNvSpPr/>
          <p:nvPr/>
        </p:nvSpPr>
        <p:spPr>
          <a:xfrm>
            <a:off x="7790688" y="5760720"/>
            <a:ext cx="3840480" cy="237744"/>
          </a:xfrm>
          <a:prstGeom prst="rect">
            <a:avLst/>
          </a:prstGeom>
          <a:noFill/>
          <a:ln/>
        </p:spPr>
        <p:txBody>
          <a:bodyPr wrap="square" lIns="0" tIns="0" rIns="0" bIns="0" rtlCol="0" anchor="ctr"/>
          <a:lstStyle/>
          <a:p>
            <a:pPr indent="0" marL="0">
              <a:buNone/>
            </a:pPr>
            <a:r>
              <a:rPr lang="en-US" sz="1000" i="1" dirty="0">
                <a:solidFill>
                  <a:srgbClr val="5D7186"/>
                </a:solidFill>
                <a:latin typeface="Calibri" pitchFamily="34" charset="0"/>
                <a:ea typeface="Calibri" pitchFamily="34" charset="-122"/>
                <a:cs typeface="Calibri" pitchFamily="34" charset="-120"/>
              </a:rPr>
              <a:t>IMDRF risk categorisation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02E"/>
        </a:solidFill>
      </p:bgPr>
    </p:bg>
    <p:spTree>
      <p:nvGrpSpPr>
        <p:cNvPr id="1" name=""/>
        <p:cNvGrpSpPr/>
        <p:nvPr/>
      </p:nvGrpSpPr>
      <p:grpSpPr>
        <a:xfrm>
          <a:off x="0" y="0"/>
          <a:ext cx="0" cy="0"/>
          <a:chOff x="0" y="0"/>
          <a:chExt cx="0" cy="0"/>
        </a:xfrm>
      </p:grpSpPr>
      <p:sp>
        <p:nvSpPr>
          <p:cNvPr id="2" name="Text 0"/>
          <p:cNvSpPr/>
          <p:nvPr/>
        </p:nvSpPr>
        <p:spPr>
          <a:xfrm>
            <a:off x="566928" y="658368"/>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Individual contributions</a:t>
            </a:r>
            <a:endParaRPr lang="en-US" sz="3000" dirty="0"/>
          </a:p>
        </p:txBody>
      </p:sp>
      <p:sp>
        <p:nvSpPr>
          <p:cNvPr id="3" name="Shape 1"/>
          <p:cNvSpPr/>
          <p:nvPr/>
        </p:nvSpPr>
        <p:spPr>
          <a:xfrm>
            <a:off x="566928" y="1572768"/>
            <a:ext cx="11064240" cy="877824"/>
          </a:xfrm>
          <a:prstGeom prst="roundRect">
            <a:avLst>
              <a:gd name="adj" fmla="val 9375"/>
            </a:avLst>
          </a:prstGeom>
          <a:solidFill>
            <a:srgbClr val="1D3148"/>
          </a:solidFill>
          <a:ln w="12700">
            <a:solidFill>
              <a:srgbClr val="1D3148"/>
            </a:solidFill>
            <a:prstDash val="solid"/>
          </a:ln>
        </p:spPr>
      </p:sp>
      <p:sp>
        <p:nvSpPr>
          <p:cNvPr id="4" name="Text 2"/>
          <p:cNvSpPr/>
          <p:nvPr/>
        </p:nvSpPr>
        <p:spPr>
          <a:xfrm>
            <a:off x="859536" y="1682496"/>
            <a:ext cx="26517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Clinical lead</a:t>
            </a:r>
            <a:endParaRPr lang="en-US" sz="1300" dirty="0"/>
          </a:p>
        </p:txBody>
      </p:sp>
      <p:sp>
        <p:nvSpPr>
          <p:cNvPr id="5" name="Text 3"/>
          <p:cNvSpPr/>
          <p:nvPr/>
        </p:nvSpPr>
        <p:spPr>
          <a:xfrm>
            <a:off x="859536" y="1993392"/>
            <a:ext cx="2651760" cy="274320"/>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Name  ______________</a:t>
            </a:r>
            <a:endParaRPr lang="en-US" sz="1000" dirty="0"/>
          </a:p>
        </p:txBody>
      </p:sp>
      <p:sp>
        <p:nvSpPr>
          <p:cNvPr id="6" name="Text 4"/>
          <p:cNvSpPr/>
          <p:nvPr/>
        </p:nvSpPr>
        <p:spPr>
          <a:xfrm>
            <a:off x="3675888" y="1572768"/>
            <a:ext cx="6035040" cy="877824"/>
          </a:xfrm>
          <a:prstGeom prst="rect">
            <a:avLst/>
          </a:prstGeom>
          <a:noFill/>
          <a:ln/>
        </p:spPr>
        <p:txBody>
          <a:bodyPr wrap="square" lIns="0" tIns="0" rIns="0" bIns="0" rtlCol="0" anchor="ctr"/>
          <a:lstStyle/>
          <a:p>
            <a:pPr indent="0" marL="0">
              <a:buNone/>
            </a:pPr>
            <a:r>
              <a:rPr lang="en-US" sz="1150" dirty="0">
                <a:solidFill>
                  <a:srgbClr val="D6E2EE"/>
                </a:solidFill>
                <a:latin typeface="Calibri" pitchFamily="34" charset="0"/>
                <a:ea typeface="Calibri" pitchFamily="34" charset="-122"/>
                <a:cs typeface="Calibri" pitchFamily="34" charset="-120"/>
              </a:rPr>
              <a:t>L1 sources &amp; evidence appraisal · health need · personas · L1→L2 challenges</a:t>
            </a:r>
            <a:endParaRPr lang="en-US" sz="1150" dirty="0"/>
          </a:p>
        </p:txBody>
      </p:sp>
      <p:sp>
        <p:nvSpPr>
          <p:cNvPr id="7" name="Text 5"/>
          <p:cNvSpPr/>
          <p:nvPr/>
        </p:nvSpPr>
        <p:spPr>
          <a:xfrm>
            <a:off x="9802368" y="1572768"/>
            <a:ext cx="1536192" cy="877824"/>
          </a:xfrm>
          <a:prstGeom prst="rect">
            <a:avLst/>
          </a:prstGeom>
          <a:noFill/>
          <a:ln/>
        </p:spPr>
        <p:txBody>
          <a:bodyPr wrap="square" lIns="0" tIns="0" rIns="0" bIns="0" rtlCol="0" anchor="ctr"/>
          <a:lstStyle/>
          <a:p>
            <a:pPr algn="r" indent="0" marL="0">
              <a:buNone/>
            </a:pPr>
            <a:r>
              <a:rPr lang="en-US" sz="1050" dirty="0">
                <a:solidFill>
                  <a:srgbClr val="AFC2D6"/>
                </a:solidFill>
                <a:latin typeface="Calibri" pitchFamily="34" charset="0"/>
                <a:ea typeface="Calibri" pitchFamily="34" charset="-122"/>
                <a:cs typeface="Calibri" pitchFamily="34" charset="-120"/>
              </a:rPr>
              <a:t>Slides 2–5, 9</a:t>
            </a:r>
            <a:endParaRPr lang="en-US" sz="1050" dirty="0"/>
          </a:p>
        </p:txBody>
      </p:sp>
      <p:sp>
        <p:nvSpPr>
          <p:cNvPr id="8" name="Shape 6"/>
          <p:cNvSpPr/>
          <p:nvPr/>
        </p:nvSpPr>
        <p:spPr>
          <a:xfrm>
            <a:off x="566928" y="2615184"/>
            <a:ext cx="11064240" cy="877824"/>
          </a:xfrm>
          <a:prstGeom prst="roundRect">
            <a:avLst>
              <a:gd name="adj" fmla="val 9375"/>
            </a:avLst>
          </a:prstGeom>
          <a:solidFill>
            <a:srgbClr val="1D3148"/>
          </a:solidFill>
          <a:ln w="12700">
            <a:solidFill>
              <a:srgbClr val="1D3148"/>
            </a:solidFill>
            <a:prstDash val="solid"/>
          </a:ln>
        </p:spPr>
      </p:sp>
      <p:sp>
        <p:nvSpPr>
          <p:cNvPr id="9" name="Text 7"/>
          <p:cNvSpPr/>
          <p:nvPr/>
        </p:nvSpPr>
        <p:spPr>
          <a:xfrm>
            <a:off x="859536" y="2724912"/>
            <a:ext cx="26517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L2 lead</a:t>
            </a:r>
            <a:endParaRPr lang="en-US" sz="1300" dirty="0"/>
          </a:p>
        </p:txBody>
      </p:sp>
      <p:sp>
        <p:nvSpPr>
          <p:cNvPr id="10" name="Text 8"/>
          <p:cNvSpPr/>
          <p:nvPr/>
        </p:nvSpPr>
        <p:spPr>
          <a:xfrm>
            <a:off x="859536" y="3035808"/>
            <a:ext cx="2651760" cy="274320"/>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Name  ______________</a:t>
            </a:r>
            <a:endParaRPr lang="en-US" sz="1000" dirty="0"/>
          </a:p>
        </p:txBody>
      </p:sp>
      <p:sp>
        <p:nvSpPr>
          <p:cNvPr id="11" name="Text 9"/>
          <p:cNvSpPr/>
          <p:nvPr/>
        </p:nvSpPr>
        <p:spPr>
          <a:xfrm>
            <a:off x="3675888" y="2615184"/>
            <a:ext cx="6035040" cy="877824"/>
          </a:xfrm>
          <a:prstGeom prst="rect">
            <a:avLst/>
          </a:prstGeom>
          <a:noFill/>
          <a:ln/>
        </p:spPr>
        <p:txBody>
          <a:bodyPr wrap="square" lIns="0" tIns="0" rIns="0" bIns="0" rtlCol="0" anchor="ctr"/>
          <a:lstStyle/>
          <a:p>
            <a:pPr indent="0" marL="0">
              <a:buNone/>
            </a:pPr>
            <a:r>
              <a:rPr lang="en-US" sz="1150" dirty="0">
                <a:solidFill>
                  <a:srgbClr val="D6E2EE"/>
                </a:solidFill>
                <a:latin typeface="Calibri" pitchFamily="34" charset="0"/>
                <a:ea typeface="Calibri" pitchFamily="34" charset="-122"/>
                <a:cs typeface="Calibri" pitchFamily="34" charset="-120"/>
              </a:rPr>
              <a:t>BPMN · data dictionary · decision table · terminology mapping</a:t>
            </a:r>
            <a:endParaRPr lang="en-US" sz="1150" dirty="0"/>
          </a:p>
        </p:txBody>
      </p:sp>
      <p:sp>
        <p:nvSpPr>
          <p:cNvPr id="12" name="Text 10"/>
          <p:cNvSpPr/>
          <p:nvPr/>
        </p:nvSpPr>
        <p:spPr>
          <a:xfrm>
            <a:off x="9802368" y="2615184"/>
            <a:ext cx="1536192" cy="877824"/>
          </a:xfrm>
          <a:prstGeom prst="rect">
            <a:avLst/>
          </a:prstGeom>
          <a:noFill/>
          <a:ln/>
        </p:spPr>
        <p:txBody>
          <a:bodyPr wrap="square" lIns="0" tIns="0" rIns="0" bIns="0" rtlCol="0" anchor="ctr"/>
          <a:lstStyle/>
          <a:p>
            <a:pPr algn="r" indent="0" marL="0">
              <a:buNone/>
            </a:pPr>
            <a:r>
              <a:rPr lang="en-US" sz="1050" dirty="0">
                <a:solidFill>
                  <a:srgbClr val="AFC2D6"/>
                </a:solidFill>
                <a:latin typeface="Calibri" pitchFamily="34" charset="0"/>
                <a:ea typeface="Calibri" pitchFamily="34" charset="-122"/>
                <a:cs typeface="Calibri" pitchFamily="34" charset="-120"/>
              </a:rPr>
              <a:t>Slides 6–8</a:t>
            </a:r>
            <a:endParaRPr lang="en-US" sz="1050" dirty="0"/>
          </a:p>
        </p:txBody>
      </p:sp>
      <p:sp>
        <p:nvSpPr>
          <p:cNvPr id="13" name="Shape 11"/>
          <p:cNvSpPr/>
          <p:nvPr/>
        </p:nvSpPr>
        <p:spPr>
          <a:xfrm>
            <a:off x="566928" y="3657600"/>
            <a:ext cx="11064240" cy="877824"/>
          </a:xfrm>
          <a:prstGeom prst="roundRect">
            <a:avLst>
              <a:gd name="adj" fmla="val 9375"/>
            </a:avLst>
          </a:prstGeom>
          <a:solidFill>
            <a:srgbClr val="1D3148"/>
          </a:solidFill>
          <a:ln w="12700">
            <a:solidFill>
              <a:srgbClr val="1D3148"/>
            </a:solidFill>
            <a:prstDash val="solid"/>
          </a:ln>
        </p:spPr>
      </p:sp>
      <p:sp>
        <p:nvSpPr>
          <p:cNvPr id="14" name="Text 12"/>
          <p:cNvSpPr/>
          <p:nvPr/>
        </p:nvSpPr>
        <p:spPr>
          <a:xfrm>
            <a:off x="859536" y="3767328"/>
            <a:ext cx="26517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Tech lead</a:t>
            </a:r>
            <a:endParaRPr lang="en-US" sz="1300" dirty="0"/>
          </a:p>
        </p:txBody>
      </p:sp>
      <p:sp>
        <p:nvSpPr>
          <p:cNvPr id="15" name="Text 13"/>
          <p:cNvSpPr/>
          <p:nvPr/>
        </p:nvSpPr>
        <p:spPr>
          <a:xfrm>
            <a:off x="859536" y="4078224"/>
            <a:ext cx="2651760" cy="274320"/>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Name  ______________</a:t>
            </a:r>
            <a:endParaRPr lang="en-US" sz="1000" dirty="0"/>
          </a:p>
        </p:txBody>
      </p:sp>
      <p:sp>
        <p:nvSpPr>
          <p:cNvPr id="16" name="Text 14"/>
          <p:cNvSpPr/>
          <p:nvPr/>
        </p:nvSpPr>
        <p:spPr>
          <a:xfrm>
            <a:off x="3675888" y="3657600"/>
            <a:ext cx="6035040" cy="877824"/>
          </a:xfrm>
          <a:prstGeom prst="rect">
            <a:avLst/>
          </a:prstGeom>
          <a:noFill/>
          <a:ln/>
        </p:spPr>
        <p:txBody>
          <a:bodyPr wrap="square" lIns="0" tIns="0" rIns="0" bIns="0" rtlCol="0" anchor="ctr"/>
          <a:lstStyle/>
          <a:p>
            <a:pPr indent="0" marL="0">
              <a:buNone/>
            </a:pPr>
            <a:r>
              <a:rPr lang="en-US" sz="1150" dirty="0">
                <a:solidFill>
                  <a:srgbClr val="D6E2EE"/>
                </a:solidFill>
                <a:latin typeface="Calibri" pitchFamily="34" charset="0"/>
                <a:ea typeface="Calibri" pitchFamily="34" charset="-122"/>
                <a:cs typeface="Calibri" pitchFamily="34" charset="-120"/>
              </a:rPr>
              <a:t>L3 schema · application · FHIR interface · demo</a:t>
            </a:r>
            <a:endParaRPr lang="en-US" sz="1150" dirty="0"/>
          </a:p>
        </p:txBody>
      </p:sp>
      <p:sp>
        <p:nvSpPr>
          <p:cNvPr id="17" name="Text 15"/>
          <p:cNvSpPr/>
          <p:nvPr/>
        </p:nvSpPr>
        <p:spPr>
          <a:xfrm>
            <a:off x="9802368" y="3657600"/>
            <a:ext cx="1536192" cy="877824"/>
          </a:xfrm>
          <a:prstGeom prst="rect">
            <a:avLst/>
          </a:prstGeom>
          <a:noFill/>
          <a:ln/>
        </p:spPr>
        <p:txBody>
          <a:bodyPr wrap="square" lIns="0" tIns="0" rIns="0" bIns="0" rtlCol="0" anchor="ctr"/>
          <a:lstStyle/>
          <a:p>
            <a:pPr algn="r" indent="0" marL="0">
              <a:buNone/>
            </a:pPr>
            <a:r>
              <a:rPr lang="en-US" sz="1050" dirty="0">
                <a:solidFill>
                  <a:srgbClr val="AFC2D6"/>
                </a:solidFill>
                <a:latin typeface="Calibri" pitchFamily="34" charset="0"/>
                <a:ea typeface="Calibri" pitchFamily="34" charset="-122"/>
                <a:cs typeface="Calibri" pitchFamily="34" charset="-120"/>
              </a:rPr>
              <a:t>Slides 10–11</a:t>
            </a:r>
            <a:endParaRPr lang="en-US" sz="1050" dirty="0"/>
          </a:p>
        </p:txBody>
      </p:sp>
      <p:sp>
        <p:nvSpPr>
          <p:cNvPr id="18" name="Shape 16"/>
          <p:cNvSpPr/>
          <p:nvPr/>
        </p:nvSpPr>
        <p:spPr>
          <a:xfrm>
            <a:off x="566928" y="4700016"/>
            <a:ext cx="11064240" cy="877824"/>
          </a:xfrm>
          <a:prstGeom prst="roundRect">
            <a:avLst>
              <a:gd name="adj" fmla="val 9375"/>
            </a:avLst>
          </a:prstGeom>
          <a:solidFill>
            <a:srgbClr val="1D3148"/>
          </a:solidFill>
          <a:ln w="12700">
            <a:solidFill>
              <a:srgbClr val="1D3148"/>
            </a:solidFill>
            <a:prstDash val="solid"/>
          </a:ln>
        </p:spPr>
      </p:sp>
      <p:sp>
        <p:nvSpPr>
          <p:cNvPr id="19" name="Text 17"/>
          <p:cNvSpPr/>
          <p:nvPr/>
        </p:nvSpPr>
        <p:spPr>
          <a:xfrm>
            <a:off x="859536" y="4809744"/>
            <a:ext cx="26517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QA &amp; implementation lead</a:t>
            </a:r>
            <a:endParaRPr lang="en-US" sz="1300" dirty="0"/>
          </a:p>
        </p:txBody>
      </p:sp>
      <p:sp>
        <p:nvSpPr>
          <p:cNvPr id="20" name="Text 18"/>
          <p:cNvSpPr/>
          <p:nvPr/>
        </p:nvSpPr>
        <p:spPr>
          <a:xfrm>
            <a:off x="859536" y="5120640"/>
            <a:ext cx="2651760" cy="274320"/>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Name  ______________</a:t>
            </a:r>
            <a:endParaRPr lang="en-US" sz="1000" dirty="0"/>
          </a:p>
        </p:txBody>
      </p:sp>
      <p:sp>
        <p:nvSpPr>
          <p:cNvPr id="21" name="Text 19"/>
          <p:cNvSpPr/>
          <p:nvPr/>
        </p:nvSpPr>
        <p:spPr>
          <a:xfrm>
            <a:off x="3675888" y="4700016"/>
            <a:ext cx="6035040" cy="877824"/>
          </a:xfrm>
          <a:prstGeom prst="rect">
            <a:avLst/>
          </a:prstGeom>
          <a:noFill/>
          <a:ln/>
        </p:spPr>
        <p:txBody>
          <a:bodyPr wrap="square" lIns="0" tIns="0" rIns="0" bIns="0" rtlCol="0" anchor="ctr"/>
          <a:lstStyle/>
          <a:p>
            <a:pPr indent="0" marL="0">
              <a:buNone/>
            </a:pPr>
            <a:r>
              <a:rPr lang="en-US" sz="1150" dirty="0">
                <a:solidFill>
                  <a:srgbClr val="D6E2EE"/>
                </a:solidFill>
                <a:latin typeface="Calibri" pitchFamily="34" charset="0"/>
                <a:ea typeface="Calibri" pitchFamily="34" charset="-122"/>
                <a:cs typeface="Calibri" pitchFamily="34" charset="-120"/>
              </a:rPr>
              <a:t>hazard analysis · test protocol · bug log · M&amp;E · impact · regulation</a:t>
            </a:r>
            <a:endParaRPr lang="en-US" sz="1150" dirty="0"/>
          </a:p>
        </p:txBody>
      </p:sp>
      <p:sp>
        <p:nvSpPr>
          <p:cNvPr id="22" name="Text 20"/>
          <p:cNvSpPr/>
          <p:nvPr/>
        </p:nvSpPr>
        <p:spPr>
          <a:xfrm>
            <a:off x="9802368" y="4700016"/>
            <a:ext cx="1536192" cy="877824"/>
          </a:xfrm>
          <a:prstGeom prst="rect">
            <a:avLst/>
          </a:prstGeom>
          <a:noFill/>
          <a:ln/>
        </p:spPr>
        <p:txBody>
          <a:bodyPr wrap="square" lIns="0" tIns="0" rIns="0" bIns="0" rtlCol="0" anchor="ctr"/>
          <a:lstStyle/>
          <a:p>
            <a:pPr algn="r" indent="0" marL="0">
              <a:buNone/>
            </a:pPr>
            <a:r>
              <a:rPr lang="en-US" sz="1050" dirty="0">
                <a:solidFill>
                  <a:srgbClr val="AFC2D6"/>
                </a:solidFill>
                <a:latin typeface="Calibri" pitchFamily="34" charset="0"/>
                <a:ea typeface="Calibri" pitchFamily="34" charset="-122"/>
                <a:cs typeface="Calibri" pitchFamily="34" charset="-120"/>
              </a:rPr>
              <a:t>Slides 12–14</a:t>
            </a:r>
            <a:endParaRPr lang="en-US" sz="1050" dirty="0"/>
          </a:p>
        </p:txBody>
      </p:sp>
      <p:sp>
        <p:nvSpPr>
          <p:cNvPr id="23" name="Text 21"/>
          <p:cNvSpPr/>
          <p:nvPr/>
        </p:nvSpPr>
        <p:spPr>
          <a:xfrm>
            <a:off x="566928" y="5870448"/>
            <a:ext cx="11064240" cy="274320"/>
          </a:xfrm>
          <a:prstGeom prst="rect">
            <a:avLst/>
          </a:prstGeom>
          <a:noFill/>
          <a:ln/>
        </p:spPr>
        <p:txBody>
          <a:bodyPr wrap="square" lIns="0" tIns="0" rIns="0" bIns="0" rtlCol="0" anchor="ctr"/>
          <a:lstStyle/>
          <a:p>
            <a:pPr indent="0" marL="0">
              <a:buNone/>
            </a:pPr>
            <a:r>
              <a:rPr lang="en-US" sz="1150" i="1" dirty="0">
                <a:solidFill>
                  <a:srgbClr val="8FA3B8"/>
                </a:solidFill>
                <a:latin typeface="Calibri" pitchFamily="34" charset="0"/>
                <a:ea typeface="Calibri" pitchFamily="34" charset="-122"/>
                <a:cs typeface="Calibri" pitchFamily="34" charset="-120"/>
              </a:rPr>
              <a:t>Every member can answer questions on the whole project, not only their own part.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BACKUP · L2</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Decision table — all 18 rules</a:t>
            </a:r>
            <a:endParaRPr lang="en-US" sz="2700" dirty="0"/>
          </a:p>
        </p:txBody>
      </p:sp>
      <p:sp>
        <p:nvSpPr>
          <p:cNvPr id="4" name="Shape 2"/>
          <p:cNvSpPr/>
          <p:nvPr/>
        </p:nvSpPr>
        <p:spPr>
          <a:xfrm>
            <a:off x="566928" y="1572768"/>
            <a:ext cx="73152" cy="292608"/>
          </a:xfrm>
          <a:prstGeom prst="rect">
            <a:avLst/>
          </a:prstGeom>
          <a:solidFill>
            <a:srgbClr val="C0281C"/>
          </a:solidFill>
          <a:ln w="12700">
            <a:solidFill>
              <a:srgbClr val="C0281C"/>
            </a:solidFill>
            <a:prstDash val="solid"/>
          </a:ln>
        </p:spPr>
      </p:sp>
      <p:sp>
        <p:nvSpPr>
          <p:cNvPr id="5" name="Text 3"/>
          <p:cNvSpPr/>
          <p:nvPr/>
        </p:nvSpPr>
        <p:spPr>
          <a:xfrm>
            <a:off x="768096" y="1572768"/>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R1</a:t>
            </a:r>
            <a:endParaRPr lang="en-US" sz="1000" dirty="0"/>
          </a:p>
        </p:txBody>
      </p:sp>
      <p:sp>
        <p:nvSpPr>
          <p:cNvPr id="6" name="Text 4"/>
          <p:cNvSpPr/>
          <p:nvPr/>
        </p:nvSpPr>
        <p:spPr>
          <a:xfrm>
            <a:off x="1527048" y="1572768"/>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temp ≥ 39 OR chills = 1</a:t>
            </a:r>
            <a:endParaRPr lang="en-US" sz="1000" dirty="0"/>
          </a:p>
        </p:txBody>
      </p:sp>
      <p:sp>
        <p:nvSpPr>
          <p:cNvPr id="7" name="Text 5"/>
          <p:cNvSpPr/>
          <p:nvPr/>
        </p:nvSpPr>
        <p:spPr>
          <a:xfrm>
            <a:off x="8796528" y="1572768"/>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CDC · sepsis red flags</a:t>
            </a:r>
            <a:endParaRPr lang="en-US" sz="950" dirty="0"/>
          </a:p>
        </p:txBody>
      </p:sp>
      <p:sp>
        <p:nvSpPr>
          <p:cNvPr id="8" name="Shape 6"/>
          <p:cNvSpPr/>
          <p:nvPr/>
        </p:nvSpPr>
        <p:spPr>
          <a:xfrm>
            <a:off x="566928" y="1911096"/>
            <a:ext cx="73152" cy="292608"/>
          </a:xfrm>
          <a:prstGeom prst="rect">
            <a:avLst/>
          </a:prstGeom>
          <a:solidFill>
            <a:srgbClr val="C0281C"/>
          </a:solidFill>
          <a:ln w="12700">
            <a:solidFill>
              <a:srgbClr val="C0281C"/>
            </a:solidFill>
            <a:prstDash val="solid"/>
          </a:ln>
        </p:spPr>
      </p:sp>
      <p:sp>
        <p:nvSpPr>
          <p:cNvPr id="9" name="Text 7"/>
          <p:cNvSpPr/>
          <p:nvPr/>
        </p:nvSpPr>
        <p:spPr>
          <a:xfrm>
            <a:off x="768096" y="1911096"/>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R2</a:t>
            </a:r>
            <a:endParaRPr lang="en-US" sz="1000" dirty="0"/>
          </a:p>
        </p:txBody>
      </p:sp>
      <p:sp>
        <p:nvSpPr>
          <p:cNvPr id="10" name="Text 8"/>
          <p:cNvSpPr/>
          <p:nvPr/>
        </p:nvSpPr>
        <p:spPr>
          <a:xfrm>
            <a:off x="1527048" y="1911096"/>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red_streak = 1 OR redness_extent = 4</a:t>
            </a:r>
            <a:endParaRPr lang="en-US" sz="1000" dirty="0"/>
          </a:p>
        </p:txBody>
      </p:sp>
      <p:sp>
        <p:nvSpPr>
          <p:cNvPr id="11" name="Text 9"/>
          <p:cNvSpPr/>
          <p:nvPr/>
        </p:nvSpPr>
        <p:spPr>
          <a:xfrm>
            <a:off x="8796528" y="1911096"/>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NICE NG125 §1.4.9</a:t>
            </a:r>
            <a:endParaRPr lang="en-US" sz="950" dirty="0"/>
          </a:p>
        </p:txBody>
      </p:sp>
      <p:sp>
        <p:nvSpPr>
          <p:cNvPr id="12" name="Shape 10"/>
          <p:cNvSpPr/>
          <p:nvPr/>
        </p:nvSpPr>
        <p:spPr>
          <a:xfrm>
            <a:off x="566928" y="2249424"/>
            <a:ext cx="73152" cy="292608"/>
          </a:xfrm>
          <a:prstGeom prst="rect">
            <a:avLst/>
          </a:prstGeom>
          <a:solidFill>
            <a:srgbClr val="C0281C"/>
          </a:solidFill>
          <a:ln w="12700">
            <a:solidFill>
              <a:srgbClr val="C0281C"/>
            </a:solidFill>
            <a:prstDash val="solid"/>
          </a:ln>
        </p:spPr>
      </p:sp>
      <p:sp>
        <p:nvSpPr>
          <p:cNvPr id="13" name="Text 11"/>
          <p:cNvSpPr/>
          <p:nvPr/>
        </p:nvSpPr>
        <p:spPr>
          <a:xfrm>
            <a:off x="768096" y="2249424"/>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R3</a:t>
            </a:r>
            <a:endParaRPr lang="en-US" sz="1000" dirty="0"/>
          </a:p>
        </p:txBody>
      </p:sp>
      <p:sp>
        <p:nvSpPr>
          <p:cNvPr id="14" name="Text 12"/>
          <p:cNvSpPr/>
          <p:nvPr/>
        </p:nvSpPr>
        <p:spPr>
          <a:xfrm>
            <a:off x="1527048" y="2249424"/>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wound_open = 2 OR bleeding = 2 OR wound_state = 4</a:t>
            </a:r>
            <a:endParaRPr lang="en-US" sz="1000" dirty="0"/>
          </a:p>
        </p:txBody>
      </p:sp>
      <p:sp>
        <p:nvSpPr>
          <p:cNvPr id="15" name="Text 13"/>
          <p:cNvSpPr/>
          <p:nvPr/>
        </p:nvSpPr>
        <p:spPr>
          <a:xfrm>
            <a:off x="8796528" y="2249424"/>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CDC deep incisional</a:t>
            </a:r>
            <a:endParaRPr lang="en-US" sz="950" dirty="0"/>
          </a:p>
        </p:txBody>
      </p:sp>
      <p:sp>
        <p:nvSpPr>
          <p:cNvPr id="16" name="Shape 14"/>
          <p:cNvSpPr/>
          <p:nvPr/>
        </p:nvSpPr>
        <p:spPr>
          <a:xfrm>
            <a:off x="566928" y="2587752"/>
            <a:ext cx="73152" cy="292608"/>
          </a:xfrm>
          <a:prstGeom prst="rect">
            <a:avLst/>
          </a:prstGeom>
          <a:solidFill>
            <a:srgbClr val="C25C07"/>
          </a:solidFill>
          <a:ln w="12700">
            <a:solidFill>
              <a:srgbClr val="C25C07"/>
            </a:solidFill>
            <a:prstDash val="solid"/>
          </a:ln>
        </p:spPr>
      </p:sp>
      <p:sp>
        <p:nvSpPr>
          <p:cNvPr id="17" name="Text 15"/>
          <p:cNvSpPr/>
          <p:nvPr/>
        </p:nvSpPr>
        <p:spPr>
          <a:xfrm>
            <a:off x="768096" y="2587752"/>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R9</a:t>
            </a:r>
            <a:endParaRPr lang="en-US" sz="1000" dirty="0"/>
          </a:p>
        </p:txBody>
      </p:sp>
      <p:sp>
        <p:nvSpPr>
          <p:cNvPr id="18" name="Text 16"/>
          <p:cNvSpPr/>
          <p:nvPr/>
        </p:nvSpPr>
        <p:spPr>
          <a:xfrm>
            <a:off x="1527048" y="2587752"/>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wellbeing = 2 OR nausea_vomiting = 2</a:t>
            </a:r>
            <a:endParaRPr lang="en-US" sz="1000" dirty="0"/>
          </a:p>
        </p:txBody>
      </p:sp>
      <p:sp>
        <p:nvSpPr>
          <p:cNvPr id="19" name="Text 17"/>
          <p:cNvSpPr/>
          <p:nvPr/>
        </p:nvSpPr>
        <p:spPr>
          <a:xfrm>
            <a:off x="8796528" y="2587752"/>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systemic signs</a:t>
            </a:r>
            <a:endParaRPr lang="en-US" sz="950" dirty="0"/>
          </a:p>
        </p:txBody>
      </p:sp>
      <p:sp>
        <p:nvSpPr>
          <p:cNvPr id="20" name="Shape 18"/>
          <p:cNvSpPr/>
          <p:nvPr/>
        </p:nvSpPr>
        <p:spPr>
          <a:xfrm>
            <a:off x="566928" y="2926080"/>
            <a:ext cx="73152" cy="292608"/>
          </a:xfrm>
          <a:prstGeom prst="rect">
            <a:avLst/>
          </a:prstGeom>
          <a:solidFill>
            <a:srgbClr val="C25C07"/>
          </a:solidFill>
          <a:ln w="12700">
            <a:solidFill>
              <a:srgbClr val="C25C07"/>
            </a:solidFill>
            <a:prstDash val="solid"/>
          </a:ln>
        </p:spPr>
      </p:sp>
      <p:sp>
        <p:nvSpPr>
          <p:cNvPr id="21" name="Text 19"/>
          <p:cNvSpPr/>
          <p:nvPr/>
        </p:nvSpPr>
        <p:spPr>
          <a:xfrm>
            <a:off x="768096" y="2926080"/>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R4</a:t>
            </a:r>
            <a:endParaRPr lang="en-US" sz="1000" dirty="0"/>
          </a:p>
        </p:txBody>
      </p:sp>
      <p:sp>
        <p:nvSpPr>
          <p:cNvPr id="22" name="Text 20"/>
          <p:cNvSpPr/>
          <p:nvPr/>
        </p:nvSpPr>
        <p:spPr>
          <a:xfrm>
            <a:off x="1527048" y="2926080"/>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secretion = 3 OR secretion_smell = 1</a:t>
            </a:r>
            <a:endParaRPr lang="en-US" sz="1000" dirty="0"/>
          </a:p>
        </p:txBody>
      </p:sp>
      <p:sp>
        <p:nvSpPr>
          <p:cNvPr id="23" name="Text 21"/>
          <p:cNvSpPr/>
          <p:nvPr/>
        </p:nvSpPr>
        <p:spPr>
          <a:xfrm>
            <a:off x="8796528" y="2926080"/>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CDC superficial incisional</a:t>
            </a:r>
            <a:endParaRPr lang="en-US" sz="950" dirty="0"/>
          </a:p>
        </p:txBody>
      </p:sp>
      <p:sp>
        <p:nvSpPr>
          <p:cNvPr id="24" name="Shape 22"/>
          <p:cNvSpPr/>
          <p:nvPr/>
        </p:nvSpPr>
        <p:spPr>
          <a:xfrm>
            <a:off x="566928" y="3264408"/>
            <a:ext cx="73152" cy="292608"/>
          </a:xfrm>
          <a:prstGeom prst="rect">
            <a:avLst/>
          </a:prstGeom>
          <a:solidFill>
            <a:srgbClr val="C25C07"/>
          </a:solidFill>
          <a:ln w="12700">
            <a:solidFill>
              <a:srgbClr val="C25C07"/>
            </a:solidFill>
            <a:prstDash val="solid"/>
          </a:ln>
        </p:spPr>
      </p:sp>
      <p:sp>
        <p:nvSpPr>
          <p:cNvPr id="25" name="Text 23"/>
          <p:cNvSpPr/>
          <p:nvPr/>
        </p:nvSpPr>
        <p:spPr>
          <a:xfrm>
            <a:off x="768096" y="3264408"/>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R5</a:t>
            </a:r>
            <a:endParaRPr lang="en-US" sz="1000" dirty="0"/>
          </a:p>
        </p:txBody>
      </p:sp>
      <p:sp>
        <p:nvSpPr>
          <p:cNvPr id="26" name="Text 24"/>
          <p:cNvSpPr/>
          <p:nvPr/>
        </p:nvSpPr>
        <p:spPr>
          <a:xfrm>
            <a:off x="1527048" y="3264408"/>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fever OR (pain ≥ 7 AND worsening AND day ≥ 3)</a:t>
            </a:r>
            <a:endParaRPr lang="en-US" sz="1000" dirty="0"/>
          </a:p>
        </p:txBody>
      </p:sp>
      <p:sp>
        <p:nvSpPr>
          <p:cNvPr id="27" name="Text 25"/>
          <p:cNvSpPr/>
          <p:nvPr/>
        </p:nvSpPr>
        <p:spPr>
          <a:xfrm>
            <a:off x="8796528" y="3264408"/>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CDC · NICE</a:t>
            </a:r>
            <a:endParaRPr lang="en-US" sz="950" dirty="0"/>
          </a:p>
        </p:txBody>
      </p:sp>
      <p:sp>
        <p:nvSpPr>
          <p:cNvPr id="28" name="Shape 26"/>
          <p:cNvSpPr/>
          <p:nvPr/>
        </p:nvSpPr>
        <p:spPr>
          <a:xfrm>
            <a:off x="566928" y="3602736"/>
            <a:ext cx="73152" cy="292608"/>
          </a:xfrm>
          <a:prstGeom prst="rect">
            <a:avLst/>
          </a:prstGeom>
          <a:solidFill>
            <a:srgbClr val="C25C07"/>
          </a:solidFill>
          <a:ln w="12700">
            <a:solidFill>
              <a:srgbClr val="C25C07"/>
            </a:solidFill>
            <a:prstDash val="solid"/>
          </a:ln>
        </p:spPr>
      </p:sp>
      <p:sp>
        <p:nvSpPr>
          <p:cNvPr id="29" name="Text 27"/>
          <p:cNvSpPr/>
          <p:nvPr/>
        </p:nvSpPr>
        <p:spPr>
          <a:xfrm>
            <a:off x="768096" y="3602736"/>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R11</a:t>
            </a:r>
            <a:endParaRPr lang="en-US" sz="1000" dirty="0"/>
          </a:p>
        </p:txBody>
      </p:sp>
      <p:sp>
        <p:nvSpPr>
          <p:cNvPr id="30" name="Text 28"/>
          <p:cNvSpPr/>
          <p:nvPr/>
        </p:nvSpPr>
        <p:spPr>
          <a:xfrm>
            <a:off x="1527048" y="3602736"/>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secretion ≥ 1 AND discharge ≥ 3 days</a:t>
            </a:r>
            <a:endParaRPr lang="en-US" sz="1000" dirty="0"/>
          </a:p>
        </p:txBody>
      </p:sp>
      <p:sp>
        <p:nvSpPr>
          <p:cNvPr id="31" name="Text 29"/>
          <p:cNvSpPr/>
          <p:nvPr/>
        </p:nvSpPr>
        <p:spPr>
          <a:xfrm>
            <a:off x="8796528" y="3602736"/>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Southampton IIId</a:t>
            </a:r>
            <a:endParaRPr lang="en-US" sz="950" dirty="0"/>
          </a:p>
        </p:txBody>
      </p:sp>
      <p:sp>
        <p:nvSpPr>
          <p:cNvPr id="32" name="Shape 30"/>
          <p:cNvSpPr/>
          <p:nvPr/>
        </p:nvSpPr>
        <p:spPr>
          <a:xfrm>
            <a:off x="566928" y="3941064"/>
            <a:ext cx="73152" cy="292608"/>
          </a:xfrm>
          <a:prstGeom prst="rect">
            <a:avLst/>
          </a:prstGeom>
          <a:solidFill>
            <a:srgbClr val="C25C07"/>
          </a:solidFill>
          <a:ln w="12700">
            <a:solidFill>
              <a:srgbClr val="C25C07"/>
            </a:solidFill>
            <a:prstDash val="solid"/>
          </a:ln>
        </p:spPr>
      </p:sp>
      <p:sp>
        <p:nvSpPr>
          <p:cNvPr id="33" name="Text 31"/>
          <p:cNvSpPr/>
          <p:nvPr/>
        </p:nvSpPr>
        <p:spPr>
          <a:xfrm>
            <a:off x="768096" y="3941064"/>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R12</a:t>
            </a:r>
            <a:endParaRPr lang="en-US" sz="1000" dirty="0"/>
          </a:p>
        </p:txBody>
      </p:sp>
      <p:sp>
        <p:nvSpPr>
          <p:cNvPr id="34" name="Text 32"/>
          <p:cNvSpPr/>
          <p:nvPr/>
        </p:nvSpPr>
        <p:spPr>
          <a:xfrm>
            <a:off x="1527048" y="3941064"/>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classification = yellow AND yesterday = yellow</a:t>
            </a:r>
            <a:endParaRPr lang="en-US" sz="1000" dirty="0"/>
          </a:p>
        </p:txBody>
      </p:sp>
      <p:sp>
        <p:nvSpPr>
          <p:cNvPr id="35" name="Text 33"/>
          <p:cNvSpPr/>
          <p:nvPr/>
        </p:nvSpPr>
        <p:spPr>
          <a:xfrm>
            <a:off x="8796528" y="3941064"/>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persistence</a:t>
            </a:r>
            <a:endParaRPr lang="en-US" sz="950" dirty="0"/>
          </a:p>
        </p:txBody>
      </p:sp>
      <p:sp>
        <p:nvSpPr>
          <p:cNvPr id="36" name="Shape 34"/>
          <p:cNvSpPr/>
          <p:nvPr/>
        </p:nvSpPr>
        <p:spPr>
          <a:xfrm>
            <a:off x="566928" y="4279392"/>
            <a:ext cx="73152" cy="292608"/>
          </a:xfrm>
          <a:prstGeom prst="rect">
            <a:avLst/>
          </a:prstGeom>
          <a:solidFill>
            <a:srgbClr val="9C6D00"/>
          </a:solidFill>
          <a:ln w="12700">
            <a:solidFill>
              <a:srgbClr val="9C6D00"/>
            </a:solidFill>
            <a:prstDash val="solid"/>
          </a:ln>
        </p:spPr>
      </p:sp>
      <p:sp>
        <p:nvSpPr>
          <p:cNvPr id="37" name="Text 35"/>
          <p:cNvSpPr/>
          <p:nvPr/>
        </p:nvSpPr>
        <p:spPr>
          <a:xfrm>
            <a:off x="768096" y="4279392"/>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R6b</a:t>
            </a:r>
            <a:endParaRPr lang="en-US" sz="1000" dirty="0"/>
          </a:p>
        </p:txBody>
      </p:sp>
      <p:sp>
        <p:nvSpPr>
          <p:cNvPr id="38" name="Text 36"/>
          <p:cNvSpPr/>
          <p:nvPr/>
        </p:nvSpPr>
        <p:spPr>
          <a:xfrm>
            <a:off x="1527048" y="4279392"/>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Southampton II OR swelling = 3 (from day 1)</a:t>
            </a:r>
            <a:endParaRPr lang="en-US" sz="1000" dirty="0"/>
          </a:p>
        </p:txBody>
      </p:sp>
      <p:sp>
        <p:nvSpPr>
          <p:cNvPr id="39" name="Text 37"/>
          <p:cNvSpPr/>
          <p:nvPr/>
        </p:nvSpPr>
        <p:spPr>
          <a:xfrm>
            <a:off x="8796528" y="4279392"/>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Southampton II</a:t>
            </a:r>
            <a:endParaRPr lang="en-US" sz="950" dirty="0"/>
          </a:p>
        </p:txBody>
      </p:sp>
      <p:sp>
        <p:nvSpPr>
          <p:cNvPr id="40" name="Shape 38"/>
          <p:cNvSpPr/>
          <p:nvPr/>
        </p:nvSpPr>
        <p:spPr>
          <a:xfrm>
            <a:off x="566928" y="4617720"/>
            <a:ext cx="73152" cy="292608"/>
          </a:xfrm>
          <a:prstGeom prst="rect">
            <a:avLst/>
          </a:prstGeom>
          <a:solidFill>
            <a:srgbClr val="9C6D00"/>
          </a:solidFill>
          <a:ln w="12700">
            <a:solidFill>
              <a:srgbClr val="9C6D00"/>
            </a:solidFill>
            <a:prstDash val="solid"/>
          </a:ln>
        </p:spPr>
      </p:sp>
      <p:sp>
        <p:nvSpPr>
          <p:cNvPr id="41" name="Text 39"/>
          <p:cNvSpPr/>
          <p:nvPr/>
        </p:nvSpPr>
        <p:spPr>
          <a:xfrm>
            <a:off x="768096" y="4617720"/>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R6a</a:t>
            </a:r>
            <a:endParaRPr lang="en-US" sz="1000" dirty="0"/>
          </a:p>
        </p:txBody>
      </p:sp>
      <p:sp>
        <p:nvSpPr>
          <p:cNvPr id="42" name="Text 40"/>
          <p:cNvSpPr/>
          <p:nvPr/>
        </p:nvSpPr>
        <p:spPr>
          <a:xfrm>
            <a:off x="1527048" y="4617720"/>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Southampton I AND day ≥ 3</a:t>
            </a:r>
            <a:endParaRPr lang="en-US" sz="1000" dirty="0"/>
          </a:p>
        </p:txBody>
      </p:sp>
      <p:sp>
        <p:nvSpPr>
          <p:cNvPr id="43" name="Text 41"/>
          <p:cNvSpPr/>
          <p:nvPr/>
        </p:nvSpPr>
        <p:spPr>
          <a:xfrm>
            <a:off x="8796528" y="4617720"/>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wound healing phases</a:t>
            </a:r>
            <a:endParaRPr lang="en-US" sz="950" dirty="0"/>
          </a:p>
        </p:txBody>
      </p:sp>
      <p:sp>
        <p:nvSpPr>
          <p:cNvPr id="44" name="Shape 42"/>
          <p:cNvSpPr/>
          <p:nvPr/>
        </p:nvSpPr>
        <p:spPr>
          <a:xfrm>
            <a:off x="566928" y="4956048"/>
            <a:ext cx="73152" cy="292608"/>
          </a:xfrm>
          <a:prstGeom prst="rect">
            <a:avLst/>
          </a:prstGeom>
          <a:solidFill>
            <a:srgbClr val="9C6D00"/>
          </a:solidFill>
          <a:ln w="12700">
            <a:solidFill>
              <a:srgbClr val="9C6D00"/>
            </a:solidFill>
            <a:prstDash val="solid"/>
          </a:ln>
        </p:spPr>
      </p:sp>
      <p:sp>
        <p:nvSpPr>
          <p:cNvPr id="45" name="Text 43"/>
          <p:cNvSpPr/>
          <p:nvPr/>
        </p:nvSpPr>
        <p:spPr>
          <a:xfrm>
            <a:off x="768096" y="4956048"/>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R7</a:t>
            </a:r>
            <a:endParaRPr lang="en-US" sz="1000" dirty="0"/>
          </a:p>
        </p:txBody>
      </p:sp>
      <p:sp>
        <p:nvSpPr>
          <p:cNvPr id="46" name="Text 44"/>
          <p:cNvSpPr/>
          <p:nvPr/>
        </p:nvSpPr>
        <p:spPr>
          <a:xfrm>
            <a:off x="1527048" y="4956048"/>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wound_open = 1 OR numbness OR mobility change</a:t>
            </a:r>
            <a:endParaRPr lang="en-US" sz="1000" dirty="0"/>
          </a:p>
        </p:txBody>
      </p:sp>
      <p:sp>
        <p:nvSpPr>
          <p:cNvPr id="47" name="Text 45"/>
          <p:cNvSpPr/>
          <p:nvPr/>
        </p:nvSpPr>
        <p:spPr>
          <a:xfrm>
            <a:off x="8796528" y="4956048"/>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follow-up standards</a:t>
            </a:r>
            <a:endParaRPr lang="en-US" sz="950" dirty="0"/>
          </a:p>
        </p:txBody>
      </p:sp>
      <p:sp>
        <p:nvSpPr>
          <p:cNvPr id="48" name="Shape 46"/>
          <p:cNvSpPr/>
          <p:nvPr/>
        </p:nvSpPr>
        <p:spPr>
          <a:xfrm>
            <a:off x="566928" y="5294376"/>
            <a:ext cx="73152" cy="292608"/>
          </a:xfrm>
          <a:prstGeom prst="rect">
            <a:avLst/>
          </a:prstGeom>
          <a:solidFill>
            <a:srgbClr val="9C6D00"/>
          </a:solidFill>
          <a:ln w="12700">
            <a:solidFill>
              <a:srgbClr val="9C6D00"/>
            </a:solidFill>
            <a:prstDash val="solid"/>
          </a:ln>
        </p:spPr>
      </p:sp>
      <p:sp>
        <p:nvSpPr>
          <p:cNvPr id="49" name="Text 47"/>
          <p:cNvSpPr/>
          <p:nvPr/>
        </p:nvSpPr>
        <p:spPr>
          <a:xfrm>
            <a:off x="768096" y="5294376"/>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R10</a:t>
            </a:r>
            <a:endParaRPr lang="en-US" sz="1000" dirty="0"/>
          </a:p>
        </p:txBody>
      </p:sp>
      <p:sp>
        <p:nvSpPr>
          <p:cNvPr id="50" name="Text 48"/>
          <p:cNvSpPr/>
          <p:nvPr/>
        </p:nvSpPr>
        <p:spPr>
          <a:xfrm>
            <a:off x="1527048" y="5294376"/>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bleeding ≥ 1 AND anticoagulants</a:t>
            </a:r>
            <a:endParaRPr lang="en-US" sz="1000" dirty="0"/>
          </a:p>
        </p:txBody>
      </p:sp>
      <p:sp>
        <p:nvSpPr>
          <p:cNvPr id="51" name="Text 49"/>
          <p:cNvSpPr/>
          <p:nvPr/>
        </p:nvSpPr>
        <p:spPr>
          <a:xfrm>
            <a:off x="8796528" y="5294376"/>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bleeding assessment</a:t>
            </a:r>
            <a:endParaRPr lang="en-US" sz="950" dirty="0"/>
          </a:p>
        </p:txBody>
      </p:sp>
      <p:sp>
        <p:nvSpPr>
          <p:cNvPr id="52" name="Shape 50"/>
          <p:cNvSpPr/>
          <p:nvPr/>
        </p:nvSpPr>
        <p:spPr>
          <a:xfrm>
            <a:off x="566928" y="5632704"/>
            <a:ext cx="73152" cy="292608"/>
          </a:xfrm>
          <a:prstGeom prst="rect">
            <a:avLst/>
          </a:prstGeom>
          <a:solidFill>
            <a:srgbClr val="1A7F4B"/>
          </a:solidFill>
          <a:ln w="12700">
            <a:solidFill>
              <a:srgbClr val="1A7F4B"/>
            </a:solidFill>
            <a:prstDash val="solid"/>
          </a:ln>
        </p:spPr>
      </p:sp>
      <p:sp>
        <p:nvSpPr>
          <p:cNvPr id="53" name="Text 51"/>
          <p:cNvSpPr/>
          <p:nvPr/>
        </p:nvSpPr>
        <p:spPr>
          <a:xfrm>
            <a:off x="768096" y="5632704"/>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R8</a:t>
            </a:r>
            <a:endParaRPr lang="en-US" sz="1000" dirty="0"/>
          </a:p>
        </p:txBody>
      </p:sp>
      <p:sp>
        <p:nvSpPr>
          <p:cNvPr id="54" name="Text 52"/>
          <p:cNvSpPr/>
          <p:nvPr/>
        </p:nvSpPr>
        <p:spPr>
          <a:xfrm>
            <a:off x="1527048" y="5632704"/>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catch-all</a:t>
            </a:r>
            <a:endParaRPr lang="en-US" sz="1000" dirty="0"/>
          </a:p>
        </p:txBody>
      </p:sp>
      <p:sp>
        <p:nvSpPr>
          <p:cNvPr id="55" name="Text 53"/>
          <p:cNvSpPr/>
          <p:nvPr/>
        </p:nvSpPr>
        <p:spPr>
          <a:xfrm>
            <a:off x="8796528" y="5632704"/>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a:t>
            </a:r>
            <a:endParaRPr lang="en-US" sz="950" dirty="0"/>
          </a:p>
        </p:txBody>
      </p:sp>
      <p:sp>
        <p:nvSpPr>
          <p:cNvPr id="56" name="Shape 54"/>
          <p:cNvSpPr/>
          <p:nvPr/>
        </p:nvSpPr>
        <p:spPr>
          <a:xfrm>
            <a:off x="566928" y="5971032"/>
            <a:ext cx="73152" cy="292608"/>
          </a:xfrm>
          <a:prstGeom prst="rect">
            <a:avLst/>
          </a:prstGeom>
          <a:solidFill>
            <a:srgbClr val="5D7186"/>
          </a:solidFill>
          <a:ln w="12700">
            <a:solidFill>
              <a:srgbClr val="5D7186"/>
            </a:solidFill>
            <a:prstDash val="solid"/>
          </a:ln>
        </p:spPr>
      </p:sp>
      <p:sp>
        <p:nvSpPr>
          <p:cNvPr id="57" name="Text 55"/>
          <p:cNvSpPr/>
          <p:nvPr/>
        </p:nvSpPr>
        <p:spPr>
          <a:xfrm>
            <a:off x="768096" y="5971032"/>
            <a:ext cx="731520" cy="292608"/>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I1–I5</a:t>
            </a:r>
            <a:endParaRPr lang="en-US" sz="1000" dirty="0"/>
          </a:p>
        </p:txBody>
      </p:sp>
      <p:sp>
        <p:nvSpPr>
          <p:cNvPr id="58" name="Text 56"/>
          <p:cNvSpPr/>
          <p:nvPr/>
        </p:nvSpPr>
        <p:spPr>
          <a:xfrm>
            <a:off x="1527048" y="5971032"/>
            <a:ext cx="7132320" cy="292608"/>
          </a:xfrm>
          <a:prstGeom prst="rect">
            <a:avLst/>
          </a:prstGeom>
          <a:noFill/>
          <a:ln/>
        </p:spPr>
        <p:txBody>
          <a:bodyPr wrap="square" lIns="0" tIns="0" rIns="0" bIns="0" rtlCol="0" anchor="ctr"/>
          <a:lstStyle/>
          <a:p>
            <a:pPr indent="0" marL="0">
              <a:buNone/>
            </a:pPr>
            <a:r>
              <a:rPr lang="en-US" sz="1000" dirty="0">
                <a:solidFill>
                  <a:srgbClr val="12202E"/>
                </a:solidFill>
                <a:latin typeface="Calibri" pitchFamily="34" charset="0"/>
                <a:ea typeface="Calibri" pitchFamily="34" charset="-122"/>
                <a:cs typeface="Calibri" pitchFamily="34" charset="-120"/>
              </a:rPr>
              <a:t>risk factors · medication · smoking · scab · high-risk procedure</a:t>
            </a:r>
            <a:endParaRPr lang="en-US" sz="1000" dirty="0"/>
          </a:p>
        </p:txBody>
      </p:sp>
      <p:sp>
        <p:nvSpPr>
          <p:cNvPr id="59" name="Text 57"/>
          <p:cNvSpPr/>
          <p:nvPr/>
        </p:nvSpPr>
        <p:spPr>
          <a:xfrm>
            <a:off x="8796528" y="5971032"/>
            <a:ext cx="2788920" cy="292608"/>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non-exclusive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BACKUP · QA</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Test protocol — 19 decision-logic cases, all passing</a:t>
            </a:r>
            <a:endParaRPr lang="en-US" sz="2700" dirty="0"/>
          </a:p>
        </p:txBody>
      </p:sp>
      <p:sp>
        <p:nvSpPr>
          <p:cNvPr id="4" name="Shape 2"/>
          <p:cNvSpPr/>
          <p:nvPr/>
        </p:nvSpPr>
        <p:spPr>
          <a:xfrm>
            <a:off x="566928" y="1572768"/>
            <a:ext cx="5440680" cy="365760"/>
          </a:xfrm>
          <a:prstGeom prst="roundRect">
            <a:avLst>
              <a:gd name="adj" fmla="val 15000"/>
            </a:avLst>
          </a:prstGeom>
          <a:solidFill>
            <a:srgbClr val="F5F7FA"/>
          </a:solidFill>
          <a:ln w="12700">
            <a:solidFill>
              <a:srgbClr val="DDE5EE"/>
            </a:solidFill>
            <a:prstDash val="solid"/>
          </a:ln>
        </p:spPr>
      </p:sp>
      <p:sp>
        <p:nvSpPr>
          <p:cNvPr id="5" name="Text 3"/>
          <p:cNvSpPr/>
          <p:nvPr/>
        </p:nvSpPr>
        <p:spPr>
          <a:xfrm>
            <a:off x="713232" y="1572768"/>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T1</a:t>
            </a:r>
            <a:endParaRPr lang="en-US" sz="1000" dirty="0"/>
          </a:p>
        </p:txBody>
      </p:sp>
      <p:sp>
        <p:nvSpPr>
          <p:cNvPr id="6" name="Text 4"/>
          <p:cNvSpPr/>
          <p:nvPr/>
        </p:nvSpPr>
        <p:spPr>
          <a:xfrm>
            <a:off x="1280160" y="1572768"/>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R1 fever · temp 39.2</a:t>
            </a:r>
            <a:endParaRPr lang="en-US" sz="950" dirty="0"/>
          </a:p>
        </p:txBody>
      </p:sp>
      <p:sp>
        <p:nvSpPr>
          <p:cNvPr id="7" name="Text 5"/>
          <p:cNvSpPr/>
          <p:nvPr/>
        </p:nvSpPr>
        <p:spPr>
          <a:xfrm>
            <a:off x="4059936" y="1572768"/>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RED (R1)</a:t>
            </a:r>
            <a:endParaRPr lang="en-US" sz="950" dirty="0"/>
          </a:p>
        </p:txBody>
      </p:sp>
      <p:sp>
        <p:nvSpPr>
          <p:cNvPr id="8" name="Text 6"/>
          <p:cNvSpPr/>
          <p:nvPr/>
        </p:nvSpPr>
        <p:spPr>
          <a:xfrm>
            <a:off x="5687568" y="1572768"/>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9" name="Shape 7"/>
          <p:cNvSpPr/>
          <p:nvPr/>
        </p:nvSpPr>
        <p:spPr>
          <a:xfrm>
            <a:off x="566928" y="2011680"/>
            <a:ext cx="5440680" cy="365760"/>
          </a:xfrm>
          <a:prstGeom prst="roundRect">
            <a:avLst>
              <a:gd name="adj" fmla="val 15000"/>
            </a:avLst>
          </a:prstGeom>
          <a:solidFill>
            <a:srgbClr val="FFFFFF"/>
          </a:solidFill>
          <a:ln w="12700">
            <a:solidFill>
              <a:srgbClr val="DDE5EE"/>
            </a:solidFill>
            <a:prstDash val="solid"/>
          </a:ln>
        </p:spPr>
      </p:sp>
      <p:sp>
        <p:nvSpPr>
          <p:cNvPr id="10" name="Text 8"/>
          <p:cNvSpPr/>
          <p:nvPr/>
        </p:nvSpPr>
        <p:spPr>
          <a:xfrm>
            <a:off x="713232" y="2011680"/>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T2</a:t>
            </a:r>
            <a:endParaRPr lang="en-US" sz="1000" dirty="0"/>
          </a:p>
        </p:txBody>
      </p:sp>
      <p:sp>
        <p:nvSpPr>
          <p:cNvPr id="11" name="Text 9"/>
          <p:cNvSpPr/>
          <p:nvPr/>
        </p:nvSpPr>
        <p:spPr>
          <a:xfrm>
            <a:off x="1280160" y="2011680"/>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R1 boundary · temp 39.0</a:t>
            </a:r>
            <a:endParaRPr lang="en-US" sz="950" dirty="0"/>
          </a:p>
        </p:txBody>
      </p:sp>
      <p:sp>
        <p:nvSpPr>
          <p:cNvPr id="12" name="Text 10"/>
          <p:cNvSpPr/>
          <p:nvPr/>
        </p:nvSpPr>
        <p:spPr>
          <a:xfrm>
            <a:off x="4059936" y="2011680"/>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RED — inclusive</a:t>
            </a:r>
            <a:endParaRPr lang="en-US" sz="950" dirty="0"/>
          </a:p>
        </p:txBody>
      </p:sp>
      <p:sp>
        <p:nvSpPr>
          <p:cNvPr id="13" name="Text 11"/>
          <p:cNvSpPr/>
          <p:nvPr/>
        </p:nvSpPr>
        <p:spPr>
          <a:xfrm>
            <a:off x="5687568" y="2011680"/>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66928" y="2450592"/>
            <a:ext cx="5440680" cy="365760"/>
          </a:xfrm>
          <a:prstGeom prst="roundRect">
            <a:avLst>
              <a:gd name="adj" fmla="val 15000"/>
            </a:avLst>
          </a:prstGeom>
          <a:solidFill>
            <a:srgbClr val="F5F7FA"/>
          </a:solidFill>
          <a:ln w="12700">
            <a:solidFill>
              <a:srgbClr val="DDE5EE"/>
            </a:solidFill>
            <a:prstDash val="solid"/>
          </a:ln>
        </p:spPr>
      </p:sp>
      <p:sp>
        <p:nvSpPr>
          <p:cNvPr id="15" name="Text 13"/>
          <p:cNvSpPr/>
          <p:nvPr/>
        </p:nvSpPr>
        <p:spPr>
          <a:xfrm>
            <a:off x="713232" y="2450592"/>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T3</a:t>
            </a:r>
            <a:endParaRPr lang="en-US" sz="1000" dirty="0"/>
          </a:p>
        </p:txBody>
      </p:sp>
      <p:sp>
        <p:nvSpPr>
          <p:cNvPr id="16" name="Text 14"/>
          <p:cNvSpPr/>
          <p:nvPr/>
        </p:nvSpPr>
        <p:spPr>
          <a:xfrm>
            <a:off x="1280160" y="2450592"/>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R3 safety · image “open/pus” alone</a:t>
            </a:r>
            <a:endParaRPr lang="en-US" sz="950" dirty="0"/>
          </a:p>
        </p:txBody>
      </p:sp>
      <p:sp>
        <p:nvSpPr>
          <p:cNvPr id="17" name="Text 15"/>
          <p:cNvSpPr/>
          <p:nvPr/>
        </p:nvSpPr>
        <p:spPr>
          <a:xfrm>
            <a:off x="4059936" y="2450592"/>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RED (R3)</a:t>
            </a:r>
            <a:endParaRPr lang="en-US" sz="950" dirty="0"/>
          </a:p>
        </p:txBody>
      </p:sp>
      <p:sp>
        <p:nvSpPr>
          <p:cNvPr id="18" name="Text 16"/>
          <p:cNvSpPr/>
          <p:nvPr/>
        </p:nvSpPr>
        <p:spPr>
          <a:xfrm>
            <a:off x="5687568" y="2450592"/>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19" name="Shape 17"/>
          <p:cNvSpPr/>
          <p:nvPr/>
        </p:nvSpPr>
        <p:spPr>
          <a:xfrm>
            <a:off x="566928" y="2889504"/>
            <a:ext cx="5440680" cy="365760"/>
          </a:xfrm>
          <a:prstGeom prst="roundRect">
            <a:avLst>
              <a:gd name="adj" fmla="val 15000"/>
            </a:avLst>
          </a:prstGeom>
          <a:solidFill>
            <a:srgbClr val="FFFFFF"/>
          </a:solidFill>
          <a:ln w="12700">
            <a:solidFill>
              <a:srgbClr val="DDE5EE"/>
            </a:solidFill>
            <a:prstDash val="solid"/>
          </a:ln>
        </p:spPr>
      </p:sp>
      <p:sp>
        <p:nvSpPr>
          <p:cNvPr id="20" name="Text 18"/>
          <p:cNvSpPr/>
          <p:nvPr/>
        </p:nvSpPr>
        <p:spPr>
          <a:xfrm>
            <a:off x="713232" y="2889504"/>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T4</a:t>
            </a:r>
            <a:endParaRPr lang="en-US" sz="1000" dirty="0"/>
          </a:p>
        </p:txBody>
      </p:sp>
      <p:sp>
        <p:nvSpPr>
          <p:cNvPr id="21" name="Text 19"/>
          <p:cNvSpPr/>
          <p:nvPr/>
        </p:nvSpPr>
        <p:spPr>
          <a:xfrm>
            <a:off x="1280160" y="2889504"/>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R5 before R6</a:t>
            </a:r>
            <a:endParaRPr lang="en-US" sz="950" dirty="0"/>
          </a:p>
        </p:txBody>
      </p:sp>
      <p:sp>
        <p:nvSpPr>
          <p:cNvPr id="22" name="Text 20"/>
          <p:cNvSpPr/>
          <p:nvPr/>
        </p:nvSpPr>
        <p:spPr>
          <a:xfrm>
            <a:off x="4059936" y="2889504"/>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ORANGE (R5)</a:t>
            </a:r>
            <a:endParaRPr lang="en-US" sz="950" dirty="0"/>
          </a:p>
        </p:txBody>
      </p:sp>
      <p:sp>
        <p:nvSpPr>
          <p:cNvPr id="23" name="Text 21"/>
          <p:cNvSpPr/>
          <p:nvPr/>
        </p:nvSpPr>
        <p:spPr>
          <a:xfrm>
            <a:off x="5687568" y="2889504"/>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566928" y="3328416"/>
            <a:ext cx="5440680" cy="365760"/>
          </a:xfrm>
          <a:prstGeom prst="roundRect">
            <a:avLst>
              <a:gd name="adj" fmla="val 15000"/>
            </a:avLst>
          </a:prstGeom>
          <a:solidFill>
            <a:srgbClr val="F5F7FA"/>
          </a:solidFill>
          <a:ln w="12700">
            <a:solidFill>
              <a:srgbClr val="DDE5EE"/>
            </a:solidFill>
            <a:prstDash val="solid"/>
          </a:ln>
        </p:spPr>
      </p:sp>
      <p:sp>
        <p:nvSpPr>
          <p:cNvPr id="25" name="Text 23"/>
          <p:cNvSpPr/>
          <p:nvPr/>
        </p:nvSpPr>
        <p:spPr>
          <a:xfrm>
            <a:off x="713232" y="3328416"/>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T5</a:t>
            </a:r>
            <a:endParaRPr lang="en-US" sz="1000" dirty="0"/>
          </a:p>
        </p:txBody>
      </p:sp>
      <p:sp>
        <p:nvSpPr>
          <p:cNvPr id="26" name="Text 24"/>
          <p:cNvSpPr/>
          <p:nvPr/>
        </p:nvSpPr>
        <p:spPr>
          <a:xfrm>
            <a:off x="1280160" y="3328416"/>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mild signs on day 2</a:t>
            </a:r>
            <a:endParaRPr lang="en-US" sz="950" dirty="0"/>
          </a:p>
        </p:txBody>
      </p:sp>
      <p:sp>
        <p:nvSpPr>
          <p:cNvPr id="27" name="Text 25"/>
          <p:cNvSpPr/>
          <p:nvPr/>
        </p:nvSpPr>
        <p:spPr>
          <a:xfrm>
            <a:off x="4059936" y="3328416"/>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GREEN</a:t>
            </a:r>
            <a:endParaRPr lang="en-US" sz="950" dirty="0"/>
          </a:p>
        </p:txBody>
      </p:sp>
      <p:sp>
        <p:nvSpPr>
          <p:cNvPr id="28" name="Text 26"/>
          <p:cNvSpPr/>
          <p:nvPr/>
        </p:nvSpPr>
        <p:spPr>
          <a:xfrm>
            <a:off x="5687568" y="3328416"/>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566928" y="3767328"/>
            <a:ext cx="5440680" cy="365760"/>
          </a:xfrm>
          <a:prstGeom prst="roundRect">
            <a:avLst>
              <a:gd name="adj" fmla="val 15000"/>
            </a:avLst>
          </a:prstGeom>
          <a:solidFill>
            <a:srgbClr val="FFFFFF"/>
          </a:solidFill>
          <a:ln w="12700">
            <a:solidFill>
              <a:srgbClr val="DDE5EE"/>
            </a:solidFill>
            <a:prstDash val="solid"/>
          </a:ln>
        </p:spPr>
      </p:sp>
      <p:sp>
        <p:nvSpPr>
          <p:cNvPr id="30" name="Text 28"/>
          <p:cNvSpPr/>
          <p:nvPr/>
        </p:nvSpPr>
        <p:spPr>
          <a:xfrm>
            <a:off x="713232" y="3767328"/>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T6</a:t>
            </a:r>
            <a:endParaRPr lang="en-US" sz="1000" dirty="0"/>
          </a:p>
        </p:txBody>
      </p:sp>
      <p:sp>
        <p:nvSpPr>
          <p:cNvPr id="31" name="Text 29"/>
          <p:cNvSpPr/>
          <p:nvPr/>
        </p:nvSpPr>
        <p:spPr>
          <a:xfrm>
            <a:off x="1280160" y="3767328"/>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conditional logic</a:t>
            </a:r>
            <a:endParaRPr lang="en-US" sz="950" dirty="0"/>
          </a:p>
        </p:txBody>
      </p:sp>
      <p:sp>
        <p:nvSpPr>
          <p:cNvPr id="32" name="Text 30"/>
          <p:cNvSpPr/>
          <p:nvPr/>
        </p:nvSpPr>
        <p:spPr>
          <a:xfrm>
            <a:off x="4059936" y="3767328"/>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3 follow-ups hidden</a:t>
            </a:r>
            <a:endParaRPr lang="en-US" sz="950" dirty="0"/>
          </a:p>
        </p:txBody>
      </p:sp>
      <p:sp>
        <p:nvSpPr>
          <p:cNvPr id="33" name="Text 31"/>
          <p:cNvSpPr/>
          <p:nvPr/>
        </p:nvSpPr>
        <p:spPr>
          <a:xfrm>
            <a:off x="5687568" y="3767328"/>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34" name="Shape 32"/>
          <p:cNvSpPr/>
          <p:nvPr/>
        </p:nvSpPr>
        <p:spPr>
          <a:xfrm>
            <a:off x="566928" y="4206240"/>
            <a:ext cx="5440680" cy="365760"/>
          </a:xfrm>
          <a:prstGeom prst="roundRect">
            <a:avLst>
              <a:gd name="adj" fmla="val 15000"/>
            </a:avLst>
          </a:prstGeom>
          <a:solidFill>
            <a:srgbClr val="F5F7FA"/>
          </a:solidFill>
          <a:ln w="12700">
            <a:solidFill>
              <a:srgbClr val="DDE5EE"/>
            </a:solidFill>
            <a:prstDash val="solid"/>
          </a:ln>
        </p:spPr>
      </p:sp>
      <p:sp>
        <p:nvSpPr>
          <p:cNvPr id="35" name="Text 33"/>
          <p:cNvSpPr/>
          <p:nvPr/>
        </p:nvSpPr>
        <p:spPr>
          <a:xfrm>
            <a:off x="713232" y="4206240"/>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T7</a:t>
            </a:r>
            <a:endParaRPr lang="en-US" sz="1000" dirty="0"/>
          </a:p>
        </p:txBody>
      </p:sp>
      <p:sp>
        <p:nvSpPr>
          <p:cNvPr id="36" name="Text 34"/>
          <p:cNvSpPr/>
          <p:nvPr/>
        </p:nvSpPr>
        <p:spPr>
          <a:xfrm>
            <a:off x="1280160" y="4206240"/>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constraint · temp 45</a:t>
            </a:r>
            <a:endParaRPr lang="en-US" sz="950" dirty="0"/>
          </a:p>
        </p:txBody>
      </p:sp>
      <p:sp>
        <p:nvSpPr>
          <p:cNvPr id="37" name="Text 35"/>
          <p:cNvSpPr/>
          <p:nvPr/>
        </p:nvSpPr>
        <p:spPr>
          <a:xfrm>
            <a:off x="4059936" y="4206240"/>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input rejected</a:t>
            </a:r>
            <a:endParaRPr lang="en-US" sz="950" dirty="0"/>
          </a:p>
        </p:txBody>
      </p:sp>
      <p:sp>
        <p:nvSpPr>
          <p:cNvPr id="38" name="Text 36"/>
          <p:cNvSpPr/>
          <p:nvPr/>
        </p:nvSpPr>
        <p:spPr>
          <a:xfrm>
            <a:off x="5687568" y="4206240"/>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39" name="Shape 37"/>
          <p:cNvSpPr/>
          <p:nvPr/>
        </p:nvSpPr>
        <p:spPr>
          <a:xfrm>
            <a:off x="566928" y="4645152"/>
            <a:ext cx="5440680" cy="365760"/>
          </a:xfrm>
          <a:prstGeom prst="roundRect">
            <a:avLst>
              <a:gd name="adj" fmla="val 15000"/>
            </a:avLst>
          </a:prstGeom>
          <a:solidFill>
            <a:srgbClr val="FFFFFF"/>
          </a:solidFill>
          <a:ln w="12700">
            <a:solidFill>
              <a:srgbClr val="DDE5EE"/>
            </a:solidFill>
            <a:prstDash val="solid"/>
          </a:ln>
        </p:spPr>
      </p:sp>
      <p:sp>
        <p:nvSpPr>
          <p:cNvPr id="40" name="Text 38"/>
          <p:cNvSpPr/>
          <p:nvPr/>
        </p:nvSpPr>
        <p:spPr>
          <a:xfrm>
            <a:off x="713232" y="4645152"/>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T8</a:t>
            </a:r>
            <a:endParaRPr lang="en-US" sz="1000" dirty="0"/>
          </a:p>
        </p:txBody>
      </p:sp>
      <p:sp>
        <p:nvSpPr>
          <p:cNvPr id="41" name="Text 39"/>
          <p:cNvSpPr/>
          <p:nvPr/>
        </p:nvSpPr>
        <p:spPr>
          <a:xfrm>
            <a:off x="1280160" y="4645152"/>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info rules non-exclusive</a:t>
            </a:r>
            <a:endParaRPr lang="en-US" sz="950" dirty="0"/>
          </a:p>
        </p:txBody>
      </p:sp>
      <p:sp>
        <p:nvSpPr>
          <p:cNvPr id="42" name="Text 40"/>
          <p:cNvSpPr/>
          <p:nvPr/>
        </p:nvSpPr>
        <p:spPr>
          <a:xfrm>
            <a:off x="4059936" y="4645152"/>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GREEN + I1 + I2 + I3</a:t>
            </a:r>
            <a:endParaRPr lang="en-US" sz="950" dirty="0"/>
          </a:p>
        </p:txBody>
      </p:sp>
      <p:sp>
        <p:nvSpPr>
          <p:cNvPr id="43" name="Text 41"/>
          <p:cNvSpPr/>
          <p:nvPr/>
        </p:nvSpPr>
        <p:spPr>
          <a:xfrm>
            <a:off x="5687568" y="4645152"/>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44" name="Shape 42"/>
          <p:cNvSpPr/>
          <p:nvPr/>
        </p:nvSpPr>
        <p:spPr>
          <a:xfrm>
            <a:off x="566928" y="5084064"/>
            <a:ext cx="5440680" cy="365760"/>
          </a:xfrm>
          <a:prstGeom prst="roundRect">
            <a:avLst>
              <a:gd name="adj" fmla="val 15000"/>
            </a:avLst>
          </a:prstGeom>
          <a:solidFill>
            <a:srgbClr val="F5F7FA"/>
          </a:solidFill>
          <a:ln w="12700">
            <a:solidFill>
              <a:srgbClr val="DDE5EE"/>
            </a:solidFill>
            <a:prstDash val="solid"/>
          </a:ln>
        </p:spPr>
      </p:sp>
      <p:sp>
        <p:nvSpPr>
          <p:cNvPr id="45" name="Text 43"/>
          <p:cNvSpPr/>
          <p:nvPr/>
        </p:nvSpPr>
        <p:spPr>
          <a:xfrm>
            <a:off x="713232" y="5084064"/>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T9</a:t>
            </a:r>
            <a:endParaRPr lang="en-US" sz="1000" dirty="0"/>
          </a:p>
        </p:txBody>
      </p:sp>
      <p:sp>
        <p:nvSpPr>
          <p:cNvPr id="46" name="Text 44"/>
          <p:cNvSpPr/>
          <p:nvPr/>
        </p:nvSpPr>
        <p:spPr>
          <a:xfrm>
            <a:off x="1280160" y="5084064"/>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scab reassures</a:t>
            </a:r>
            <a:endParaRPr lang="en-US" sz="950" dirty="0"/>
          </a:p>
        </p:txBody>
      </p:sp>
      <p:sp>
        <p:nvSpPr>
          <p:cNvPr id="47" name="Text 45"/>
          <p:cNvSpPr/>
          <p:nvPr/>
        </p:nvSpPr>
        <p:spPr>
          <a:xfrm>
            <a:off x="4059936" y="5084064"/>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GREEN + I4</a:t>
            </a:r>
            <a:endParaRPr lang="en-US" sz="950" dirty="0"/>
          </a:p>
        </p:txBody>
      </p:sp>
      <p:sp>
        <p:nvSpPr>
          <p:cNvPr id="48" name="Text 46"/>
          <p:cNvSpPr/>
          <p:nvPr/>
        </p:nvSpPr>
        <p:spPr>
          <a:xfrm>
            <a:off x="5687568" y="5084064"/>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49" name="Shape 47"/>
          <p:cNvSpPr/>
          <p:nvPr/>
        </p:nvSpPr>
        <p:spPr>
          <a:xfrm>
            <a:off x="566928" y="5522976"/>
            <a:ext cx="5440680" cy="365760"/>
          </a:xfrm>
          <a:prstGeom prst="roundRect">
            <a:avLst>
              <a:gd name="adj" fmla="val 15000"/>
            </a:avLst>
          </a:prstGeom>
          <a:solidFill>
            <a:srgbClr val="FFFFFF"/>
          </a:solidFill>
          <a:ln w="12700">
            <a:solidFill>
              <a:srgbClr val="DDE5EE"/>
            </a:solidFill>
            <a:prstDash val="solid"/>
          </a:ln>
        </p:spPr>
      </p:sp>
      <p:sp>
        <p:nvSpPr>
          <p:cNvPr id="50" name="Text 48"/>
          <p:cNvSpPr/>
          <p:nvPr/>
        </p:nvSpPr>
        <p:spPr>
          <a:xfrm>
            <a:off x="713232" y="5522976"/>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T10</a:t>
            </a:r>
            <a:endParaRPr lang="en-US" sz="1000" dirty="0"/>
          </a:p>
        </p:txBody>
      </p:sp>
      <p:sp>
        <p:nvSpPr>
          <p:cNvPr id="51" name="Text 49"/>
          <p:cNvSpPr/>
          <p:nvPr/>
        </p:nvSpPr>
        <p:spPr>
          <a:xfrm>
            <a:off x="1280160" y="5522976"/>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worst-first vs reassurance</a:t>
            </a:r>
            <a:endParaRPr lang="en-US" sz="950" dirty="0"/>
          </a:p>
        </p:txBody>
      </p:sp>
      <p:sp>
        <p:nvSpPr>
          <p:cNvPr id="52" name="Text 50"/>
          <p:cNvSpPr/>
          <p:nvPr/>
        </p:nvSpPr>
        <p:spPr>
          <a:xfrm>
            <a:off x="4059936" y="5522976"/>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ORANGE (R4) + I4</a:t>
            </a:r>
            <a:endParaRPr lang="en-US" sz="950" dirty="0"/>
          </a:p>
        </p:txBody>
      </p:sp>
      <p:sp>
        <p:nvSpPr>
          <p:cNvPr id="53" name="Text 51"/>
          <p:cNvSpPr/>
          <p:nvPr/>
        </p:nvSpPr>
        <p:spPr>
          <a:xfrm>
            <a:off x="5687568" y="5522976"/>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54" name="Shape 52"/>
          <p:cNvSpPr/>
          <p:nvPr/>
        </p:nvSpPr>
        <p:spPr>
          <a:xfrm>
            <a:off x="6190488" y="1572768"/>
            <a:ext cx="5440680" cy="365760"/>
          </a:xfrm>
          <a:prstGeom prst="roundRect">
            <a:avLst>
              <a:gd name="adj" fmla="val 15000"/>
            </a:avLst>
          </a:prstGeom>
          <a:solidFill>
            <a:srgbClr val="F5F7FA"/>
          </a:solidFill>
          <a:ln w="12700">
            <a:solidFill>
              <a:srgbClr val="DDE5EE"/>
            </a:solidFill>
            <a:prstDash val="solid"/>
          </a:ln>
        </p:spPr>
      </p:sp>
      <p:sp>
        <p:nvSpPr>
          <p:cNvPr id="55" name="Text 53"/>
          <p:cNvSpPr/>
          <p:nvPr/>
        </p:nvSpPr>
        <p:spPr>
          <a:xfrm>
            <a:off x="6336792" y="1572768"/>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T11</a:t>
            </a:r>
            <a:endParaRPr lang="en-US" sz="1000" dirty="0"/>
          </a:p>
        </p:txBody>
      </p:sp>
      <p:sp>
        <p:nvSpPr>
          <p:cNvPr id="56" name="Text 54"/>
          <p:cNvSpPr/>
          <p:nvPr/>
        </p:nvSpPr>
        <p:spPr>
          <a:xfrm>
            <a:off x="6903720" y="1572768"/>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B-02 fixed · feeling unwell</a:t>
            </a:r>
            <a:endParaRPr lang="en-US" sz="950" dirty="0"/>
          </a:p>
        </p:txBody>
      </p:sp>
      <p:sp>
        <p:nvSpPr>
          <p:cNvPr id="57" name="Text 55"/>
          <p:cNvSpPr/>
          <p:nvPr/>
        </p:nvSpPr>
        <p:spPr>
          <a:xfrm>
            <a:off x="9683496" y="1572768"/>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ORANGE (R9)</a:t>
            </a:r>
            <a:endParaRPr lang="en-US" sz="950" dirty="0"/>
          </a:p>
        </p:txBody>
      </p:sp>
      <p:sp>
        <p:nvSpPr>
          <p:cNvPr id="58" name="Text 56"/>
          <p:cNvSpPr/>
          <p:nvPr/>
        </p:nvSpPr>
        <p:spPr>
          <a:xfrm>
            <a:off x="11311128" y="1572768"/>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59" name="Shape 57"/>
          <p:cNvSpPr/>
          <p:nvPr/>
        </p:nvSpPr>
        <p:spPr>
          <a:xfrm>
            <a:off x="6190488" y="2011680"/>
            <a:ext cx="5440680" cy="365760"/>
          </a:xfrm>
          <a:prstGeom prst="roundRect">
            <a:avLst>
              <a:gd name="adj" fmla="val 15000"/>
            </a:avLst>
          </a:prstGeom>
          <a:solidFill>
            <a:srgbClr val="FFFFFF"/>
          </a:solidFill>
          <a:ln w="12700">
            <a:solidFill>
              <a:srgbClr val="DDE5EE"/>
            </a:solidFill>
            <a:prstDash val="solid"/>
          </a:ln>
        </p:spPr>
      </p:sp>
      <p:sp>
        <p:nvSpPr>
          <p:cNvPr id="60" name="Text 58"/>
          <p:cNvSpPr/>
          <p:nvPr/>
        </p:nvSpPr>
        <p:spPr>
          <a:xfrm>
            <a:off x="6336792" y="2011680"/>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T12</a:t>
            </a:r>
            <a:endParaRPr lang="en-US" sz="1000" dirty="0"/>
          </a:p>
        </p:txBody>
      </p:sp>
      <p:sp>
        <p:nvSpPr>
          <p:cNvPr id="61" name="Text 59"/>
          <p:cNvSpPr/>
          <p:nvPr/>
        </p:nvSpPr>
        <p:spPr>
          <a:xfrm>
            <a:off x="6903720" y="2011680"/>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B-03 fixed · red streak</a:t>
            </a:r>
            <a:endParaRPr lang="en-US" sz="950" dirty="0"/>
          </a:p>
        </p:txBody>
      </p:sp>
      <p:sp>
        <p:nvSpPr>
          <p:cNvPr id="62" name="Text 60"/>
          <p:cNvSpPr/>
          <p:nvPr/>
        </p:nvSpPr>
        <p:spPr>
          <a:xfrm>
            <a:off x="9683496" y="2011680"/>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RED (R2)</a:t>
            </a:r>
            <a:endParaRPr lang="en-US" sz="950" dirty="0"/>
          </a:p>
        </p:txBody>
      </p:sp>
      <p:sp>
        <p:nvSpPr>
          <p:cNvPr id="63" name="Text 61"/>
          <p:cNvSpPr/>
          <p:nvPr/>
        </p:nvSpPr>
        <p:spPr>
          <a:xfrm>
            <a:off x="11311128" y="2011680"/>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64" name="Shape 62"/>
          <p:cNvSpPr/>
          <p:nvPr/>
        </p:nvSpPr>
        <p:spPr>
          <a:xfrm>
            <a:off x="6190488" y="2450592"/>
            <a:ext cx="5440680" cy="365760"/>
          </a:xfrm>
          <a:prstGeom prst="roundRect">
            <a:avLst>
              <a:gd name="adj" fmla="val 15000"/>
            </a:avLst>
          </a:prstGeom>
          <a:solidFill>
            <a:srgbClr val="F5F7FA"/>
          </a:solidFill>
          <a:ln w="12700">
            <a:solidFill>
              <a:srgbClr val="DDE5EE"/>
            </a:solidFill>
            <a:prstDash val="solid"/>
          </a:ln>
        </p:spPr>
      </p:sp>
      <p:sp>
        <p:nvSpPr>
          <p:cNvPr id="65" name="Text 63"/>
          <p:cNvSpPr/>
          <p:nvPr/>
        </p:nvSpPr>
        <p:spPr>
          <a:xfrm>
            <a:off x="6336792" y="2450592"/>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T13</a:t>
            </a:r>
            <a:endParaRPr lang="en-US" sz="1000" dirty="0"/>
          </a:p>
        </p:txBody>
      </p:sp>
      <p:sp>
        <p:nvSpPr>
          <p:cNvPr id="66" name="Text 64"/>
          <p:cNvSpPr/>
          <p:nvPr/>
        </p:nvSpPr>
        <p:spPr>
          <a:xfrm>
            <a:off x="6903720" y="2450592"/>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B-01 fixed · grade II on day 2</a:t>
            </a:r>
            <a:endParaRPr lang="en-US" sz="950" dirty="0"/>
          </a:p>
        </p:txBody>
      </p:sp>
      <p:sp>
        <p:nvSpPr>
          <p:cNvPr id="67" name="Text 65"/>
          <p:cNvSpPr/>
          <p:nvPr/>
        </p:nvSpPr>
        <p:spPr>
          <a:xfrm>
            <a:off x="9683496" y="2450592"/>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YELLOW (R6b)</a:t>
            </a:r>
            <a:endParaRPr lang="en-US" sz="950" dirty="0"/>
          </a:p>
        </p:txBody>
      </p:sp>
      <p:sp>
        <p:nvSpPr>
          <p:cNvPr id="68" name="Text 66"/>
          <p:cNvSpPr/>
          <p:nvPr/>
        </p:nvSpPr>
        <p:spPr>
          <a:xfrm>
            <a:off x="11311128" y="2450592"/>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69" name="Shape 67"/>
          <p:cNvSpPr/>
          <p:nvPr/>
        </p:nvSpPr>
        <p:spPr>
          <a:xfrm>
            <a:off x="6190488" y="2889504"/>
            <a:ext cx="5440680" cy="365760"/>
          </a:xfrm>
          <a:prstGeom prst="roundRect">
            <a:avLst>
              <a:gd name="adj" fmla="val 15000"/>
            </a:avLst>
          </a:prstGeom>
          <a:solidFill>
            <a:srgbClr val="FFFFFF"/>
          </a:solidFill>
          <a:ln w="12700">
            <a:solidFill>
              <a:srgbClr val="DDE5EE"/>
            </a:solidFill>
            <a:prstDash val="solid"/>
          </a:ln>
        </p:spPr>
      </p:sp>
      <p:sp>
        <p:nvSpPr>
          <p:cNvPr id="70" name="Text 68"/>
          <p:cNvSpPr/>
          <p:nvPr/>
        </p:nvSpPr>
        <p:spPr>
          <a:xfrm>
            <a:off x="6336792" y="2889504"/>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T14</a:t>
            </a:r>
            <a:endParaRPr lang="en-US" sz="1000" dirty="0"/>
          </a:p>
        </p:txBody>
      </p:sp>
      <p:sp>
        <p:nvSpPr>
          <p:cNvPr id="71" name="Text 69"/>
          <p:cNvSpPr/>
          <p:nvPr/>
        </p:nvSpPr>
        <p:spPr>
          <a:xfrm>
            <a:off x="6903720" y="2889504"/>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B-01 counter-check</a:t>
            </a:r>
            <a:endParaRPr lang="en-US" sz="950" dirty="0"/>
          </a:p>
        </p:txBody>
      </p:sp>
      <p:sp>
        <p:nvSpPr>
          <p:cNvPr id="72" name="Text 70"/>
          <p:cNvSpPr/>
          <p:nvPr/>
        </p:nvSpPr>
        <p:spPr>
          <a:xfrm>
            <a:off x="9683496" y="2889504"/>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GREEN</a:t>
            </a:r>
            <a:endParaRPr lang="en-US" sz="950" dirty="0"/>
          </a:p>
        </p:txBody>
      </p:sp>
      <p:sp>
        <p:nvSpPr>
          <p:cNvPr id="73" name="Text 71"/>
          <p:cNvSpPr/>
          <p:nvPr/>
        </p:nvSpPr>
        <p:spPr>
          <a:xfrm>
            <a:off x="11311128" y="2889504"/>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74" name="Shape 72"/>
          <p:cNvSpPr/>
          <p:nvPr/>
        </p:nvSpPr>
        <p:spPr>
          <a:xfrm>
            <a:off x="6190488" y="3328416"/>
            <a:ext cx="5440680" cy="365760"/>
          </a:xfrm>
          <a:prstGeom prst="roundRect">
            <a:avLst>
              <a:gd name="adj" fmla="val 15000"/>
            </a:avLst>
          </a:prstGeom>
          <a:solidFill>
            <a:srgbClr val="F5F7FA"/>
          </a:solidFill>
          <a:ln w="12700">
            <a:solidFill>
              <a:srgbClr val="DDE5EE"/>
            </a:solidFill>
            <a:prstDash val="solid"/>
          </a:ln>
        </p:spPr>
      </p:sp>
      <p:sp>
        <p:nvSpPr>
          <p:cNvPr id="75" name="Text 73"/>
          <p:cNvSpPr/>
          <p:nvPr/>
        </p:nvSpPr>
        <p:spPr>
          <a:xfrm>
            <a:off x="6336792" y="3328416"/>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T15</a:t>
            </a:r>
            <a:endParaRPr lang="en-US" sz="1000" dirty="0"/>
          </a:p>
        </p:txBody>
      </p:sp>
      <p:sp>
        <p:nvSpPr>
          <p:cNvPr id="76" name="Text 74"/>
          <p:cNvSpPr/>
          <p:nvPr/>
        </p:nvSpPr>
        <p:spPr>
          <a:xfrm>
            <a:off x="6903720" y="3328416"/>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Southampton derivation</a:t>
            </a:r>
            <a:endParaRPr lang="en-US" sz="950" dirty="0"/>
          </a:p>
        </p:txBody>
      </p:sp>
      <p:sp>
        <p:nvSpPr>
          <p:cNvPr id="77" name="Text 75"/>
          <p:cNvSpPr/>
          <p:nvPr/>
        </p:nvSpPr>
        <p:spPr>
          <a:xfrm>
            <a:off x="9683496" y="3328416"/>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grade IV → ORANGE</a:t>
            </a:r>
            <a:endParaRPr lang="en-US" sz="950" dirty="0"/>
          </a:p>
        </p:txBody>
      </p:sp>
      <p:sp>
        <p:nvSpPr>
          <p:cNvPr id="78" name="Text 76"/>
          <p:cNvSpPr/>
          <p:nvPr/>
        </p:nvSpPr>
        <p:spPr>
          <a:xfrm>
            <a:off x="11311128" y="3328416"/>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79" name="Shape 77"/>
          <p:cNvSpPr/>
          <p:nvPr/>
        </p:nvSpPr>
        <p:spPr>
          <a:xfrm>
            <a:off x="6190488" y="3767328"/>
            <a:ext cx="5440680" cy="365760"/>
          </a:xfrm>
          <a:prstGeom prst="roundRect">
            <a:avLst>
              <a:gd name="adj" fmla="val 15000"/>
            </a:avLst>
          </a:prstGeom>
          <a:solidFill>
            <a:srgbClr val="FFFFFF"/>
          </a:solidFill>
          <a:ln w="12700">
            <a:solidFill>
              <a:srgbClr val="DDE5EE"/>
            </a:solidFill>
            <a:prstDash val="solid"/>
          </a:ln>
        </p:spPr>
      </p:sp>
      <p:sp>
        <p:nvSpPr>
          <p:cNvPr id="80" name="Text 78"/>
          <p:cNvSpPr/>
          <p:nvPr/>
        </p:nvSpPr>
        <p:spPr>
          <a:xfrm>
            <a:off x="6336792" y="3767328"/>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T16</a:t>
            </a:r>
            <a:endParaRPr lang="en-US" sz="1000" dirty="0"/>
          </a:p>
        </p:txBody>
      </p:sp>
      <p:sp>
        <p:nvSpPr>
          <p:cNvPr id="81" name="Text 79"/>
          <p:cNvSpPr/>
          <p:nvPr/>
        </p:nvSpPr>
        <p:spPr>
          <a:xfrm>
            <a:off x="6903720" y="3767328"/>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B-05 fixed · bleeding + anticoag</a:t>
            </a:r>
            <a:endParaRPr lang="en-US" sz="950" dirty="0"/>
          </a:p>
        </p:txBody>
      </p:sp>
      <p:sp>
        <p:nvSpPr>
          <p:cNvPr id="82" name="Text 80"/>
          <p:cNvSpPr/>
          <p:nvPr/>
        </p:nvSpPr>
        <p:spPr>
          <a:xfrm>
            <a:off x="9683496" y="3767328"/>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YELLOW (R10)</a:t>
            </a:r>
            <a:endParaRPr lang="en-US" sz="950" dirty="0"/>
          </a:p>
        </p:txBody>
      </p:sp>
      <p:sp>
        <p:nvSpPr>
          <p:cNvPr id="83" name="Text 81"/>
          <p:cNvSpPr/>
          <p:nvPr/>
        </p:nvSpPr>
        <p:spPr>
          <a:xfrm>
            <a:off x="11311128" y="3767328"/>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84" name="Shape 82"/>
          <p:cNvSpPr/>
          <p:nvPr/>
        </p:nvSpPr>
        <p:spPr>
          <a:xfrm>
            <a:off x="6190488" y="4206240"/>
            <a:ext cx="5440680" cy="365760"/>
          </a:xfrm>
          <a:prstGeom prst="roundRect">
            <a:avLst>
              <a:gd name="adj" fmla="val 15000"/>
            </a:avLst>
          </a:prstGeom>
          <a:solidFill>
            <a:srgbClr val="F5F7FA"/>
          </a:solidFill>
          <a:ln w="12700">
            <a:solidFill>
              <a:srgbClr val="DDE5EE"/>
            </a:solidFill>
            <a:prstDash val="solid"/>
          </a:ln>
        </p:spPr>
      </p:sp>
      <p:sp>
        <p:nvSpPr>
          <p:cNvPr id="85" name="Text 83"/>
          <p:cNvSpPr/>
          <p:nvPr/>
        </p:nvSpPr>
        <p:spPr>
          <a:xfrm>
            <a:off x="6336792" y="4206240"/>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T17</a:t>
            </a:r>
            <a:endParaRPr lang="en-US" sz="1000" dirty="0"/>
          </a:p>
        </p:txBody>
      </p:sp>
      <p:sp>
        <p:nvSpPr>
          <p:cNvPr id="86" name="Text 84"/>
          <p:cNvSpPr/>
          <p:nvPr/>
        </p:nvSpPr>
        <p:spPr>
          <a:xfrm>
            <a:off x="6903720" y="4206240"/>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persistence rule</a:t>
            </a:r>
            <a:endParaRPr lang="en-US" sz="950" dirty="0"/>
          </a:p>
        </p:txBody>
      </p:sp>
      <p:sp>
        <p:nvSpPr>
          <p:cNvPr id="87" name="Text 85"/>
          <p:cNvSpPr/>
          <p:nvPr/>
        </p:nvSpPr>
        <p:spPr>
          <a:xfrm>
            <a:off x="9683496" y="4206240"/>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ORANGE (R12)</a:t>
            </a:r>
            <a:endParaRPr lang="en-US" sz="950" dirty="0"/>
          </a:p>
        </p:txBody>
      </p:sp>
      <p:sp>
        <p:nvSpPr>
          <p:cNvPr id="88" name="Text 86"/>
          <p:cNvSpPr/>
          <p:nvPr/>
        </p:nvSpPr>
        <p:spPr>
          <a:xfrm>
            <a:off x="11311128" y="4206240"/>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89" name="Shape 87"/>
          <p:cNvSpPr/>
          <p:nvPr/>
        </p:nvSpPr>
        <p:spPr>
          <a:xfrm>
            <a:off x="6190488" y="4645152"/>
            <a:ext cx="5440680" cy="365760"/>
          </a:xfrm>
          <a:prstGeom prst="roundRect">
            <a:avLst>
              <a:gd name="adj" fmla="val 15000"/>
            </a:avLst>
          </a:prstGeom>
          <a:solidFill>
            <a:srgbClr val="FFFFFF"/>
          </a:solidFill>
          <a:ln w="12700">
            <a:solidFill>
              <a:srgbClr val="DDE5EE"/>
            </a:solidFill>
            <a:prstDash val="solid"/>
          </a:ln>
        </p:spPr>
      </p:sp>
      <p:sp>
        <p:nvSpPr>
          <p:cNvPr id="90" name="Text 88"/>
          <p:cNvSpPr/>
          <p:nvPr/>
        </p:nvSpPr>
        <p:spPr>
          <a:xfrm>
            <a:off x="6336792" y="4645152"/>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T18</a:t>
            </a:r>
            <a:endParaRPr lang="en-US" sz="1000" dirty="0"/>
          </a:p>
        </p:txBody>
      </p:sp>
      <p:sp>
        <p:nvSpPr>
          <p:cNvPr id="91" name="Text 89"/>
          <p:cNvSpPr/>
          <p:nvPr/>
        </p:nvSpPr>
        <p:spPr>
          <a:xfrm>
            <a:off x="6903720" y="4645152"/>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discharge ≥ 3 days</a:t>
            </a:r>
            <a:endParaRPr lang="en-US" sz="950" dirty="0"/>
          </a:p>
        </p:txBody>
      </p:sp>
      <p:sp>
        <p:nvSpPr>
          <p:cNvPr id="92" name="Text 90"/>
          <p:cNvSpPr/>
          <p:nvPr/>
        </p:nvSpPr>
        <p:spPr>
          <a:xfrm>
            <a:off x="9683496" y="4645152"/>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ORANGE (R11)</a:t>
            </a:r>
            <a:endParaRPr lang="en-US" sz="950" dirty="0"/>
          </a:p>
        </p:txBody>
      </p:sp>
      <p:sp>
        <p:nvSpPr>
          <p:cNvPr id="93" name="Text 91"/>
          <p:cNvSpPr/>
          <p:nvPr/>
        </p:nvSpPr>
        <p:spPr>
          <a:xfrm>
            <a:off x="11311128" y="4645152"/>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94" name="Shape 92"/>
          <p:cNvSpPr/>
          <p:nvPr/>
        </p:nvSpPr>
        <p:spPr>
          <a:xfrm>
            <a:off x="6190488" y="5084064"/>
            <a:ext cx="5440680" cy="365760"/>
          </a:xfrm>
          <a:prstGeom prst="roundRect">
            <a:avLst>
              <a:gd name="adj" fmla="val 15000"/>
            </a:avLst>
          </a:prstGeom>
          <a:solidFill>
            <a:srgbClr val="F5F7FA"/>
          </a:solidFill>
          <a:ln w="12700">
            <a:solidFill>
              <a:srgbClr val="DDE5EE"/>
            </a:solidFill>
            <a:prstDash val="solid"/>
          </a:ln>
        </p:spPr>
      </p:sp>
      <p:sp>
        <p:nvSpPr>
          <p:cNvPr id="95" name="Text 93"/>
          <p:cNvSpPr/>
          <p:nvPr/>
        </p:nvSpPr>
        <p:spPr>
          <a:xfrm>
            <a:off x="6336792" y="5084064"/>
            <a:ext cx="548640" cy="365760"/>
          </a:xfrm>
          <a:prstGeom prst="rect">
            <a:avLst/>
          </a:prstGeom>
          <a:noFill/>
          <a:ln/>
        </p:spPr>
        <p:txBody>
          <a:bodyPr wrap="square" lIns="0" tIns="0" rIns="0" bIns="0" rtlCol="0" anchor="ctr"/>
          <a:lstStyle/>
          <a:p>
            <a:pPr indent="0" marL="0">
              <a:buNone/>
            </a:pPr>
            <a:r>
              <a:rPr lang="en-US" sz="1000" b="1" dirty="0">
                <a:solidFill>
                  <a:srgbClr val="12202E"/>
                </a:solidFill>
                <a:latin typeface="Calibri" pitchFamily="34" charset="0"/>
                <a:ea typeface="Calibri" pitchFamily="34" charset="-122"/>
                <a:cs typeface="Calibri" pitchFamily="34" charset="-120"/>
              </a:rPr>
              <a:t>T19</a:t>
            </a:r>
            <a:endParaRPr lang="en-US" sz="1000" dirty="0"/>
          </a:p>
        </p:txBody>
      </p:sp>
      <p:sp>
        <p:nvSpPr>
          <p:cNvPr id="96" name="Text 94"/>
          <p:cNvSpPr/>
          <p:nvPr/>
        </p:nvSpPr>
        <p:spPr>
          <a:xfrm>
            <a:off x="6903720" y="5084064"/>
            <a:ext cx="2743200" cy="365760"/>
          </a:xfrm>
          <a:prstGeom prst="rect">
            <a:avLst/>
          </a:prstGeom>
          <a:noFill/>
          <a:ln/>
        </p:spPr>
        <p:txBody>
          <a:bodyPr wrap="square" lIns="0" tIns="0" rIns="0" bIns="0" rtlCol="0" anchor="ctr"/>
          <a:lstStyle/>
          <a:p>
            <a:pPr indent="0" marL="0">
              <a:buNone/>
            </a:pPr>
            <a:r>
              <a:rPr lang="en-US" sz="950" dirty="0">
                <a:solidFill>
                  <a:srgbClr val="12202E"/>
                </a:solidFill>
                <a:latin typeface="Calibri" pitchFamily="34" charset="0"/>
                <a:ea typeface="Calibri" pitchFamily="34" charset="-122"/>
                <a:cs typeface="Calibri" pitchFamily="34" charset="-120"/>
              </a:rPr>
              <a:t>threshold change without rebuild</a:t>
            </a:r>
            <a:endParaRPr lang="en-US" sz="950" dirty="0"/>
          </a:p>
        </p:txBody>
      </p:sp>
      <p:sp>
        <p:nvSpPr>
          <p:cNvPr id="97" name="Text 95"/>
          <p:cNvSpPr/>
          <p:nvPr/>
        </p:nvSpPr>
        <p:spPr>
          <a:xfrm>
            <a:off x="9683496" y="5084064"/>
            <a:ext cx="1645920" cy="365760"/>
          </a:xfrm>
          <a:prstGeom prst="rect">
            <a:avLst/>
          </a:prstGeom>
          <a:noFill/>
          <a:ln/>
        </p:spPr>
        <p:txBody>
          <a:bodyPr wrap="square" lIns="0" tIns="0" rIns="0" bIns="0" rtlCol="0" anchor="ctr"/>
          <a:lstStyle/>
          <a:p>
            <a:pPr indent="0" marL="0">
              <a:buNone/>
            </a:pPr>
            <a:r>
              <a:rPr lang="en-US" sz="950" dirty="0">
                <a:solidFill>
                  <a:srgbClr val="5D7186"/>
                </a:solidFill>
                <a:latin typeface="Calibri" pitchFamily="34" charset="0"/>
                <a:ea typeface="Calibri" pitchFamily="34" charset="-122"/>
                <a:cs typeface="Calibri" pitchFamily="34" charset="-120"/>
              </a:rPr>
              <a:t>GREEN → ORANGE</a:t>
            </a:r>
            <a:endParaRPr lang="en-US" sz="950" dirty="0"/>
          </a:p>
        </p:txBody>
      </p:sp>
      <p:sp>
        <p:nvSpPr>
          <p:cNvPr id="98" name="Text 96"/>
          <p:cNvSpPr/>
          <p:nvPr/>
        </p:nvSpPr>
        <p:spPr>
          <a:xfrm>
            <a:off x="11311128" y="5084064"/>
            <a:ext cx="274320" cy="365760"/>
          </a:xfrm>
          <a:prstGeom prst="rect">
            <a:avLst/>
          </a:prstGeom>
          <a:noFill/>
          <a:ln/>
        </p:spPr>
        <p:txBody>
          <a:bodyPr wrap="square" lIns="0" tIns="0" rIns="0" bIns="0" rtlCol="0" anchor="ctr"/>
          <a:lstStyle/>
          <a:p>
            <a:pPr algn="ctr" indent="0" marL="0">
              <a:buNone/>
            </a:pPr>
            <a:r>
              <a:rPr lang="en-US" sz="1100" b="1" dirty="0">
                <a:solidFill>
                  <a:srgbClr val="1A7F4B"/>
                </a:solidFill>
                <a:latin typeface="Calibri" pitchFamily="34" charset="0"/>
                <a:ea typeface="Calibri" pitchFamily="34" charset="-122"/>
                <a:cs typeface="Calibri" pitchFamily="34" charset="-120"/>
              </a:rPr>
              <a:t>✓</a:t>
            </a:r>
            <a:endParaRPr lang="en-US" sz="1100" dirty="0"/>
          </a:p>
        </p:txBody>
      </p:sp>
      <p:sp>
        <p:nvSpPr>
          <p:cNvPr id="99" name="Text 97"/>
          <p:cNvSpPr/>
          <p:nvPr/>
        </p:nvSpPr>
        <p:spPr>
          <a:xfrm>
            <a:off x="566928" y="6089904"/>
            <a:ext cx="11064240" cy="274320"/>
          </a:xfrm>
          <a:prstGeom prst="rect">
            <a:avLst/>
          </a:prstGeom>
          <a:noFill/>
          <a:ln/>
        </p:spPr>
        <p:txBody>
          <a:bodyPr wrap="square" lIns="0" tIns="0" rIns="0" bIns="0" rtlCol="0" anchor="ctr"/>
          <a:lstStyle/>
          <a:p>
            <a:pPr indent="0" marL="0">
              <a:buNone/>
            </a:pPr>
            <a:r>
              <a:rPr lang="en-US" sz="1050" i="1" dirty="0">
                <a:solidFill>
                  <a:srgbClr val="5D7186"/>
                </a:solidFill>
                <a:latin typeface="Calibri" pitchFamily="34" charset="0"/>
                <a:ea typeface="Calibri" pitchFamily="34" charset="-122"/>
                <a:cs typeface="Calibri" pitchFamily="34" charset="-120"/>
              </a:rPr>
              <a:t>Reproduce: node tools/run-tests.mjs   ·   node tools/check-fhir.mjs   ·   node tools/check-hardcoding.mjs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BACKUP · QA</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Hazard analysis and risk matrix</a:t>
            </a:r>
            <a:endParaRPr lang="en-US" sz="2700" dirty="0"/>
          </a:p>
        </p:txBody>
      </p:sp>
      <p:sp>
        <p:nvSpPr>
          <p:cNvPr id="4" name="Shape 2"/>
          <p:cNvSpPr/>
          <p:nvPr/>
        </p:nvSpPr>
        <p:spPr>
          <a:xfrm>
            <a:off x="566928" y="1737360"/>
            <a:ext cx="6492240" cy="512064"/>
          </a:xfrm>
          <a:prstGeom prst="roundRect">
            <a:avLst>
              <a:gd name="adj" fmla="val 10714"/>
            </a:avLst>
          </a:prstGeom>
          <a:solidFill>
            <a:srgbClr val="F5F7FA"/>
          </a:solidFill>
          <a:ln w="12700">
            <a:solidFill>
              <a:srgbClr val="DDE5EE"/>
            </a:solidFill>
            <a:prstDash val="solid"/>
          </a:ln>
        </p:spPr>
      </p:sp>
      <p:sp>
        <p:nvSpPr>
          <p:cNvPr id="5" name="Text 3"/>
          <p:cNvSpPr/>
          <p:nvPr/>
        </p:nvSpPr>
        <p:spPr>
          <a:xfrm>
            <a:off x="749808" y="1737360"/>
            <a:ext cx="640080" cy="512064"/>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H-01</a:t>
            </a:r>
            <a:endParaRPr lang="en-US" sz="1050" dirty="0"/>
          </a:p>
        </p:txBody>
      </p:sp>
      <p:sp>
        <p:nvSpPr>
          <p:cNvPr id="6" name="Text 4"/>
          <p:cNvSpPr/>
          <p:nvPr/>
        </p:nvSpPr>
        <p:spPr>
          <a:xfrm>
            <a:off x="1435608" y="1737360"/>
            <a:ext cx="3931920" cy="512064"/>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An infection is classified GREEN</a:t>
            </a:r>
            <a:endParaRPr lang="en-US" sz="1100" dirty="0"/>
          </a:p>
        </p:txBody>
      </p:sp>
      <p:sp>
        <p:nvSpPr>
          <p:cNvPr id="7" name="Text 5"/>
          <p:cNvSpPr/>
          <p:nvPr/>
        </p:nvSpPr>
        <p:spPr>
          <a:xfrm>
            <a:off x="5413248" y="1737360"/>
            <a:ext cx="868680" cy="512064"/>
          </a:xfrm>
          <a:prstGeom prst="rect">
            <a:avLst/>
          </a:prstGeom>
          <a:noFill/>
          <a:ln/>
        </p:spPr>
        <p:txBody>
          <a:bodyPr wrap="square" lIns="0" tIns="0" rIns="0" bIns="0" rtlCol="0" anchor="ctr"/>
          <a:lstStyle/>
          <a:p>
            <a:pPr indent="0" marL="0">
              <a:buNone/>
            </a:pPr>
            <a:r>
              <a:rPr lang="en-US" sz="850" dirty="0">
                <a:solidFill>
                  <a:srgbClr val="5D7186"/>
                </a:solidFill>
                <a:latin typeface="Calibri" pitchFamily="34" charset="0"/>
                <a:ea typeface="Calibri" pitchFamily="34" charset="-122"/>
                <a:cs typeface="Calibri" pitchFamily="34" charset="-120"/>
              </a:rPr>
              <a:t>sev 5 · lik 3</a:t>
            </a:r>
            <a:endParaRPr lang="en-US" sz="850" dirty="0"/>
          </a:p>
        </p:txBody>
      </p:sp>
      <p:sp>
        <p:nvSpPr>
          <p:cNvPr id="8" name="Shape 6"/>
          <p:cNvSpPr/>
          <p:nvPr/>
        </p:nvSpPr>
        <p:spPr>
          <a:xfrm>
            <a:off x="6437376" y="1865376"/>
            <a:ext cx="457200" cy="256032"/>
          </a:xfrm>
          <a:prstGeom prst="roundRect">
            <a:avLst>
              <a:gd name="adj" fmla="val 50000"/>
            </a:avLst>
          </a:prstGeom>
          <a:solidFill>
            <a:srgbClr val="C0281C"/>
          </a:solidFill>
          <a:ln w="12700">
            <a:solidFill>
              <a:srgbClr val="C0281C"/>
            </a:solidFill>
            <a:prstDash val="solid"/>
          </a:ln>
        </p:spPr>
      </p:sp>
      <p:sp>
        <p:nvSpPr>
          <p:cNvPr id="9" name="Text 7"/>
          <p:cNvSpPr/>
          <p:nvPr/>
        </p:nvSpPr>
        <p:spPr>
          <a:xfrm>
            <a:off x="6437376" y="1865376"/>
            <a:ext cx="4572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15</a:t>
            </a:r>
            <a:endParaRPr lang="en-US" sz="950" dirty="0"/>
          </a:p>
        </p:txBody>
      </p:sp>
      <p:sp>
        <p:nvSpPr>
          <p:cNvPr id="10" name="Shape 8"/>
          <p:cNvSpPr/>
          <p:nvPr/>
        </p:nvSpPr>
        <p:spPr>
          <a:xfrm>
            <a:off x="566928" y="2340864"/>
            <a:ext cx="6492240" cy="512064"/>
          </a:xfrm>
          <a:prstGeom prst="roundRect">
            <a:avLst>
              <a:gd name="adj" fmla="val 10714"/>
            </a:avLst>
          </a:prstGeom>
          <a:solidFill>
            <a:srgbClr val="FFFFFF"/>
          </a:solidFill>
          <a:ln w="12700">
            <a:solidFill>
              <a:srgbClr val="DDE5EE"/>
            </a:solidFill>
            <a:prstDash val="solid"/>
          </a:ln>
        </p:spPr>
      </p:sp>
      <p:sp>
        <p:nvSpPr>
          <p:cNvPr id="11" name="Text 9"/>
          <p:cNvSpPr/>
          <p:nvPr/>
        </p:nvSpPr>
        <p:spPr>
          <a:xfrm>
            <a:off x="749808" y="2340864"/>
            <a:ext cx="640080" cy="512064"/>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H-02</a:t>
            </a:r>
            <a:endParaRPr lang="en-US" sz="1050" dirty="0"/>
          </a:p>
        </p:txBody>
      </p:sp>
      <p:sp>
        <p:nvSpPr>
          <p:cNvPr id="12" name="Text 10"/>
          <p:cNvSpPr/>
          <p:nvPr/>
        </p:nvSpPr>
        <p:spPr>
          <a:xfrm>
            <a:off x="1435608" y="2340864"/>
            <a:ext cx="3931920" cy="512064"/>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An emergency is classified ORANGE</a:t>
            </a:r>
            <a:endParaRPr lang="en-US" sz="1100" dirty="0"/>
          </a:p>
        </p:txBody>
      </p:sp>
      <p:sp>
        <p:nvSpPr>
          <p:cNvPr id="13" name="Text 11"/>
          <p:cNvSpPr/>
          <p:nvPr/>
        </p:nvSpPr>
        <p:spPr>
          <a:xfrm>
            <a:off x="5413248" y="2340864"/>
            <a:ext cx="868680" cy="512064"/>
          </a:xfrm>
          <a:prstGeom prst="rect">
            <a:avLst/>
          </a:prstGeom>
          <a:noFill/>
          <a:ln/>
        </p:spPr>
        <p:txBody>
          <a:bodyPr wrap="square" lIns="0" tIns="0" rIns="0" bIns="0" rtlCol="0" anchor="ctr"/>
          <a:lstStyle/>
          <a:p>
            <a:pPr indent="0" marL="0">
              <a:buNone/>
            </a:pPr>
            <a:r>
              <a:rPr lang="en-US" sz="850" dirty="0">
                <a:solidFill>
                  <a:srgbClr val="5D7186"/>
                </a:solidFill>
                <a:latin typeface="Calibri" pitchFamily="34" charset="0"/>
                <a:ea typeface="Calibri" pitchFamily="34" charset="-122"/>
                <a:cs typeface="Calibri" pitchFamily="34" charset="-120"/>
              </a:rPr>
              <a:t>sev 5 · lik 2</a:t>
            </a:r>
            <a:endParaRPr lang="en-US" sz="850" dirty="0"/>
          </a:p>
        </p:txBody>
      </p:sp>
      <p:sp>
        <p:nvSpPr>
          <p:cNvPr id="14" name="Shape 12"/>
          <p:cNvSpPr/>
          <p:nvPr/>
        </p:nvSpPr>
        <p:spPr>
          <a:xfrm>
            <a:off x="6437376" y="2468880"/>
            <a:ext cx="457200" cy="256032"/>
          </a:xfrm>
          <a:prstGeom prst="roundRect">
            <a:avLst>
              <a:gd name="adj" fmla="val 50000"/>
            </a:avLst>
          </a:prstGeom>
          <a:solidFill>
            <a:srgbClr val="C25C07"/>
          </a:solidFill>
          <a:ln w="12700">
            <a:solidFill>
              <a:srgbClr val="C25C07"/>
            </a:solidFill>
            <a:prstDash val="solid"/>
          </a:ln>
        </p:spPr>
      </p:sp>
      <p:sp>
        <p:nvSpPr>
          <p:cNvPr id="15" name="Text 13"/>
          <p:cNvSpPr/>
          <p:nvPr/>
        </p:nvSpPr>
        <p:spPr>
          <a:xfrm>
            <a:off x="6437376" y="2468880"/>
            <a:ext cx="4572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10</a:t>
            </a:r>
            <a:endParaRPr lang="en-US" sz="950" dirty="0"/>
          </a:p>
        </p:txBody>
      </p:sp>
      <p:sp>
        <p:nvSpPr>
          <p:cNvPr id="16" name="Shape 14"/>
          <p:cNvSpPr/>
          <p:nvPr/>
        </p:nvSpPr>
        <p:spPr>
          <a:xfrm>
            <a:off x="566928" y="2944368"/>
            <a:ext cx="6492240" cy="512064"/>
          </a:xfrm>
          <a:prstGeom prst="roundRect">
            <a:avLst>
              <a:gd name="adj" fmla="val 10714"/>
            </a:avLst>
          </a:prstGeom>
          <a:solidFill>
            <a:srgbClr val="F5F7FA"/>
          </a:solidFill>
          <a:ln w="12700">
            <a:solidFill>
              <a:srgbClr val="DDE5EE"/>
            </a:solidFill>
            <a:prstDash val="solid"/>
          </a:ln>
        </p:spPr>
      </p:sp>
      <p:sp>
        <p:nvSpPr>
          <p:cNvPr id="17" name="Text 15"/>
          <p:cNvSpPr/>
          <p:nvPr/>
        </p:nvSpPr>
        <p:spPr>
          <a:xfrm>
            <a:off x="749808" y="2944368"/>
            <a:ext cx="640080" cy="512064"/>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H-03</a:t>
            </a:r>
            <a:endParaRPr lang="en-US" sz="1050" dirty="0"/>
          </a:p>
        </p:txBody>
      </p:sp>
      <p:sp>
        <p:nvSpPr>
          <p:cNvPr id="18" name="Text 16"/>
          <p:cNvSpPr/>
          <p:nvPr/>
        </p:nvSpPr>
        <p:spPr>
          <a:xfrm>
            <a:off x="1435608" y="2944368"/>
            <a:ext cx="3931920" cy="512064"/>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The patient abandons the check</a:t>
            </a:r>
            <a:endParaRPr lang="en-US" sz="1100" dirty="0"/>
          </a:p>
        </p:txBody>
      </p:sp>
      <p:sp>
        <p:nvSpPr>
          <p:cNvPr id="19" name="Text 17"/>
          <p:cNvSpPr/>
          <p:nvPr/>
        </p:nvSpPr>
        <p:spPr>
          <a:xfrm>
            <a:off x="5413248" y="2944368"/>
            <a:ext cx="868680" cy="512064"/>
          </a:xfrm>
          <a:prstGeom prst="rect">
            <a:avLst/>
          </a:prstGeom>
          <a:noFill/>
          <a:ln/>
        </p:spPr>
        <p:txBody>
          <a:bodyPr wrap="square" lIns="0" tIns="0" rIns="0" bIns="0" rtlCol="0" anchor="ctr"/>
          <a:lstStyle/>
          <a:p>
            <a:pPr indent="0" marL="0">
              <a:buNone/>
            </a:pPr>
            <a:r>
              <a:rPr lang="en-US" sz="850" dirty="0">
                <a:solidFill>
                  <a:srgbClr val="5D7186"/>
                </a:solidFill>
                <a:latin typeface="Calibri" pitchFamily="34" charset="0"/>
                <a:ea typeface="Calibri" pitchFamily="34" charset="-122"/>
                <a:cs typeface="Calibri" pitchFamily="34" charset="-120"/>
              </a:rPr>
              <a:t>sev 3 · lik 3</a:t>
            </a:r>
            <a:endParaRPr lang="en-US" sz="850" dirty="0"/>
          </a:p>
        </p:txBody>
      </p:sp>
      <p:sp>
        <p:nvSpPr>
          <p:cNvPr id="20" name="Shape 18"/>
          <p:cNvSpPr/>
          <p:nvPr/>
        </p:nvSpPr>
        <p:spPr>
          <a:xfrm>
            <a:off x="6437376" y="3072384"/>
            <a:ext cx="457200" cy="256032"/>
          </a:xfrm>
          <a:prstGeom prst="roundRect">
            <a:avLst>
              <a:gd name="adj" fmla="val 50000"/>
            </a:avLst>
          </a:prstGeom>
          <a:solidFill>
            <a:srgbClr val="9C6D00"/>
          </a:solidFill>
          <a:ln w="12700">
            <a:solidFill>
              <a:srgbClr val="9C6D00"/>
            </a:solidFill>
            <a:prstDash val="solid"/>
          </a:ln>
        </p:spPr>
      </p:sp>
      <p:sp>
        <p:nvSpPr>
          <p:cNvPr id="21" name="Text 19"/>
          <p:cNvSpPr/>
          <p:nvPr/>
        </p:nvSpPr>
        <p:spPr>
          <a:xfrm>
            <a:off x="6437376" y="3072384"/>
            <a:ext cx="4572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9</a:t>
            </a:r>
            <a:endParaRPr lang="en-US" sz="950" dirty="0"/>
          </a:p>
        </p:txBody>
      </p:sp>
      <p:sp>
        <p:nvSpPr>
          <p:cNvPr id="22" name="Shape 20"/>
          <p:cNvSpPr/>
          <p:nvPr/>
        </p:nvSpPr>
        <p:spPr>
          <a:xfrm>
            <a:off x="566928" y="3547872"/>
            <a:ext cx="6492240" cy="512064"/>
          </a:xfrm>
          <a:prstGeom prst="roundRect">
            <a:avLst>
              <a:gd name="adj" fmla="val 10714"/>
            </a:avLst>
          </a:prstGeom>
          <a:solidFill>
            <a:srgbClr val="FFFFFF"/>
          </a:solidFill>
          <a:ln w="12700">
            <a:solidFill>
              <a:srgbClr val="DDE5EE"/>
            </a:solidFill>
            <a:prstDash val="solid"/>
          </a:ln>
        </p:spPr>
      </p:sp>
      <p:sp>
        <p:nvSpPr>
          <p:cNvPr id="23" name="Text 21"/>
          <p:cNvSpPr/>
          <p:nvPr/>
        </p:nvSpPr>
        <p:spPr>
          <a:xfrm>
            <a:off x="749808" y="3547872"/>
            <a:ext cx="640080" cy="512064"/>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H-04</a:t>
            </a:r>
            <a:endParaRPr lang="en-US" sz="1050" dirty="0"/>
          </a:p>
        </p:txBody>
      </p:sp>
      <p:sp>
        <p:nvSpPr>
          <p:cNvPr id="24" name="Text 22"/>
          <p:cNvSpPr/>
          <p:nvPr/>
        </p:nvSpPr>
        <p:spPr>
          <a:xfrm>
            <a:off x="1435608" y="3547872"/>
            <a:ext cx="3931920" cy="512064"/>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False alarm during normal healing</a:t>
            </a:r>
            <a:endParaRPr lang="en-US" sz="1100" dirty="0"/>
          </a:p>
        </p:txBody>
      </p:sp>
      <p:sp>
        <p:nvSpPr>
          <p:cNvPr id="25" name="Text 23"/>
          <p:cNvSpPr/>
          <p:nvPr/>
        </p:nvSpPr>
        <p:spPr>
          <a:xfrm>
            <a:off x="5413248" y="3547872"/>
            <a:ext cx="868680" cy="512064"/>
          </a:xfrm>
          <a:prstGeom prst="rect">
            <a:avLst/>
          </a:prstGeom>
          <a:noFill/>
          <a:ln/>
        </p:spPr>
        <p:txBody>
          <a:bodyPr wrap="square" lIns="0" tIns="0" rIns="0" bIns="0" rtlCol="0" anchor="ctr"/>
          <a:lstStyle/>
          <a:p>
            <a:pPr indent="0" marL="0">
              <a:buNone/>
            </a:pPr>
            <a:r>
              <a:rPr lang="en-US" sz="850" dirty="0">
                <a:solidFill>
                  <a:srgbClr val="5D7186"/>
                </a:solidFill>
                <a:latin typeface="Calibri" pitchFamily="34" charset="0"/>
                <a:ea typeface="Calibri" pitchFamily="34" charset="-122"/>
                <a:cs typeface="Calibri" pitchFamily="34" charset="-120"/>
              </a:rPr>
              <a:t>sev 2 · lik 4</a:t>
            </a:r>
            <a:endParaRPr lang="en-US" sz="850" dirty="0"/>
          </a:p>
        </p:txBody>
      </p:sp>
      <p:sp>
        <p:nvSpPr>
          <p:cNvPr id="26" name="Shape 24"/>
          <p:cNvSpPr/>
          <p:nvPr/>
        </p:nvSpPr>
        <p:spPr>
          <a:xfrm>
            <a:off x="6437376" y="3675888"/>
            <a:ext cx="457200" cy="256032"/>
          </a:xfrm>
          <a:prstGeom prst="roundRect">
            <a:avLst>
              <a:gd name="adj" fmla="val 50000"/>
            </a:avLst>
          </a:prstGeom>
          <a:solidFill>
            <a:srgbClr val="9C6D00"/>
          </a:solidFill>
          <a:ln w="12700">
            <a:solidFill>
              <a:srgbClr val="9C6D00"/>
            </a:solidFill>
            <a:prstDash val="solid"/>
          </a:ln>
        </p:spPr>
      </p:sp>
      <p:sp>
        <p:nvSpPr>
          <p:cNvPr id="27" name="Text 25"/>
          <p:cNvSpPr/>
          <p:nvPr/>
        </p:nvSpPr>
        <p:spPr>
          <a:xfrm>
            <a:off x="6437376" y="3675888"/>
            <a:ext cx="4572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8</a:t>
            </a:r>
            <a:endParaRPr lang="en-US" sz="950" dirty="0"/>
          </a:p>
        </p:txBody>
      </p:sp>
      <p:sp>
        <p:nvSpPr>
          <p:cNvPr id="28" name="Shape 26"/>
          <p:cNvSpPr/>
          <p:nvPr/>
        </p:nvSpPr>
        <p:spPr>
          <a:xfrm>
            <a:off x="566928" y="4151376"/>
            <a:ext cx="6492240" cy="512064"/>
          </a:xfrm>
          <a:prstGeom prst="roundRect">
            <a:avLst>
              <a:gd name="adj" fmla="val 10714"/>
            </a:avLst>
          </a:prstGeom>
          <a:solidFill>
            <a:srgbClr val="F5F7FA"/>
          </a:solidFill>
          <a:ln w="12700">
            <a:solidFill>
              <a:srgbClr val="DDE5EE"/>
            </a:solidFill>
            <a:prstDash val="solid"/>
          </a:ln>
        </p:spPr>
      </p:sp>
      <p:sp>
        <p:nvSpPr>
          <p:cNvPr id="29" name="Text 27"/>
          <p:cNvSpPr/>
          <p:nvPr/>
        </p:nvSpPr>
        <p:spPr>
          <a:xfrm>
            <a:off x="749808" y="4151376"/>
            <a:ext cx="640080" cy="512064"/>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H-06</a:t>
            </a:r>
            <a:endParaRPr lang="en-US" sz="1050" dirty="0"/>
          </a:p>
        </p:txBody>
      </p:sp>
      <p:sp>
        <p:nvSpPr>
          <p:cNvPr id="30" name="Text 28"/>
          <p:cNvSpPr/>
          <p:nvPr/>
        </p:nvSpPr>
        <p:spPr>
          <a:xfrm>
            <a:off x="1435608" y="4151376"/>
            <a:ext cx="3931920" cy="512064"/>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The practice overlooks an alert</a:t>
            </a:r>
            <a:endParaRPr lang="en-US" sz="1100" dirty="0"/>
          </a:p>
        </p:txBody>
      </p:sp>
      <p:sp>
        <p:nvSpPr>
          <p:cNvPr id="31" name="Text 29"/>
          <p:cNvSpPr/>
          <p:nvPr/>
        </p:nvSpPr>
        <p:spPr>
          <a:xfrm>
            <a:off x="5413248" y="4151376"/>
            <a:ext cx="868680" cy="512064"/>
          </a:xfrm>
          <a:prstGeom prst="rect">
            <a:avLst/>
          </a:prstGeom>
          <a:noFill/>
          <a:ln/>
        </p:spPr>
        <p:txBody>
          <a:bodyPr wrap="square" lIns="0" tIns="0" rIns="0" bIns="0" rtlCol="0" anchor="ctr"/>
          <a:lstStyle/>
          <a:p>
            <a:pPr indent="0" marL="0">
              <a:buNone/>
            </a:pPr>
            <a:r>
              <a:rPr lang="en-US" sz="850" dirty="0">
                <a:solidFill>
                  <a:srgbClr val="5D7186"/>
                </a:solidFill>
                <a:latin typeface="Calibri" pitchFamily="34" charset="0"/>
                <a:ea typeface="Calibri" pitchFamily="34" charset="-122"/>
                <a:cs typeface="Calibri" pitchFamily="34" charset="-120"/>
              </a:rPr>
              <a:t>sev 4 · lik 2</a:t>
            </a:r>
            <a:endParaRPr lang="en-US" sz="850" dirty="0"/>
          </a:p>
        </p:txBody>
      </p:sp>
      <p:sp>
        <p:nvSpPr>
          <p:cNvPr id="32" name="Shape 30"/>
          <p:cNvSpPr/>
          <p:nvPr/>
        </p:nvSpPr>
        <p:spPr>
          <a:xfrm>
            <a:off x="6437376" y="4279392"/>
            <a:ext cx="457200" cy="256032"/>
          </a:xfrm>
          <a:prstGeom prst="roundRect">
            <a:avLst>
              <a:gd name="adj" fmla="val 50000"/>
            </a:avLst>
          </a:prstGeom>
          <a:solidFill>
            <a:srgbClr val="9C6D00"/>
          </a:solidFill>
          <a:ln w="12700">
            <a:solidFill>
              <a:srgbClr val="9C6D00"/>
            </a:solidFill>
            <a:prstDash val="solid"/>
          </a:ln>
        </p:spPr>
      </p:sp>
      <p:sp>
        <p:nvSpPr>
          <p:cNvPr id="33" name="Text 31"/>
          <p:cNvSpPr/>
          <p:nvPr/>
        </p:nvSpPr>
        <p:spPr>
          <a:xfrm>
            <a:off x="6437376" y="4279392"/>
            <a:ext cx="4572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8</a:t>
            </a:r>
            <a:endParaRPr lang="en-US" sz="950" dirty="0"/>
          </a:p>
        </p:txBody>
      </p:sp>
      <p:sp>
        <p:nvSpPr>
          <p:cNvPr id="34" name="Shape 32"/>
          <p:cNvSpPr/>
          <p:nvPr/>
        </p:nvSpPr>
        <p:spPr>
          <a:xfrm>
            <a:off x="566928" y="4754880"/>
            <a:ext cx="6492240" cy="512064"/>
          </a:xfrm>
          <a:prstGeom prst="roundRect">
            <a:avLst>
              <a:gd name="adj" fmla="val 10714"/>
            </a:avLst>
          </a:prstGeom>
          <a:solidFill>
            <a:srgbClr val="FFFFFF"/>
          </a:solidFill>
          <a:ln w="12700">
            <a:solidFill>
              <a:srgbClr val="DDE5EE"/>
            </a:solidFill>
            <a:prstDash val="solid"/>
          </a:ln>
        </p:spPr>
      </p:sp>
      <p:sp>
        <p:nvSpPr>
          <p:cNvPr id="35" name="Text 33"/>
          <p:cNvSpPr/>
          <p:nvPr/>
        </p:nvSpPr>
        <p:spPr>
          <a:xfrm>
            <a:off x="749808" y="4754880"/>
            <a:ext cx="640080" cy="512064"/>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H-05</a:t>
            </a:r>
            <a:endParaRPr lang="en-US" sz="1050" dirty="0"/>
          </a:p>
        </p:txBody>
      </p:sp>
      <p:sp>
        <p:nvSpPr>
          <p:cNvPr id="36" name="Text 34"/>
          <p:cNvSpPr/>
          <p:nvPr/>
        </p:nvSpPr>
        <p:spPr>
          <a:xfrm>
            <a:off x="1435608" y="4754880"/>
            <a:ext cx="3931920" cy="512064"/>
          </a:xfrm>
          <a:prstGeom prst="rect">
            <a:avLst/>
          </a:prstGeom>
          <a:noFill/>
          <a:ln/>
        </p:spPr>
        <p:txBody>
          <a:bodyPr wrap="square" lIns="0" tIns="0" rIns="0" bIns="0" rtlCol="0" anchor="ctr"/>
          <a:lstStyle/>
          <a:p>
            <a:pPr indent="0" marL="0">
              <a:buNone/>
            </a:pPr>
            <a:r>
              <a:rPr lang="en-US" sz="1100" dirty="0">
                <a:solidFill>
                  <a:srgbClr val="12202E"/>
                </a:solidFill>
                <a:latin typeface="Calibri" pitchFamily="34" charset="0"/>
                <a:ea typeface="Calibri" pitchFamily="34" charset="-122"/>
                <a:cs typeface="Calibri" pitchFamily="34" charset="-120"/>
              </a:rPr>
              <a:t>An implausible input is processed</a:t>
            </a:r>
            <a:endParaRPr lang="en-US" sz="1100" dirty="0"/>
          </a:p>
        </p:txBody>
      </p:sp>
      <p:sp>
        <p:nvSpPr>
          <p:cNvPr id="37" name="Text 35"/>
          <p:cNvSpPr/>
          <p:nvPr/>
        </p:nvSpPr>
        <p:spPr>
          <a:xfrm>
            <a:off x="5413248" y="4754880"/>
            <a:ext cx="868680" cy="512064"/>
          </a:xfrm>
          <a:prstGeom prst="rect">
            <a:avLst/>
          </a:prstGeom>
          <a:noFill/>
          <a:ln/>
        </p:spPr>
        <p:txBody>
          <a:bodyPr wrap="square" lIns="0" tIns="0" rIns="0" bIns="0" rtlCol="0" anchor="ctr"/>
          <a:lstStyle/>
          <a:p>
            <a:pPr indent="0" marL="0">
              <a:buNone/>
            </a:pPr>
            <a:r>
              <a:rPr lang="en-US" sz="850" dirty="0">
                <a:solidFill>
                  <a:srgbClr val="5D7186"/>
                </a:solidFill>
                <a:latin typeface="Calibri" pitchFamily="34" charset="0"/>
                <a:ea typeface="Calibri" pitchFamily="34" charset="-122"/>
                <a:cs typeface="Calibri" pitchFamily="34" charset="-120"/>
              </a:rPr>
              <a:t>sev 3 · lik 2</a:t>
            </a:r>
            <a:endParaRPr lang="en-US" sz="850" dirty="0"/>
          </a:p>
        </p:txBody>
      </p:sp>
      <p:sp>
        <p:nvSpPr>
          <p:cNvPr id="38" name="Shape 36"/>
          <p:cNvSpPr/>
          <p:nvPr/>
        </p:nvSpPr>
        <p:spPr>
          <a:xfrm>
            <a:off x="6437376" y="4882896"/>
            <a:ext cx="457200" cy="256032"/>
          </a:xfrm>
          <a:prstGeom prst="roundRect">
            <a:avLst>
              <a:gd name="adj" fmla="val 50000"/>
            </a:avLst>
          </a:prstGeom>
          <a:solidFill>
            <a:srgbClr val="1A7F4B"/>
          </a:solidFill>
          <a:ln w="12700">
            <a:solidFill>
              <a:srgbClr val="1A7F4B"/>
            </a:solidFill>
            <a:prstDash val="solid"/>
          </a:ln>
        </p:spPr>
      </p:sp>
      <p:sp>
        <p:nvSpPr>
          <p:cNvPr id="39" name="Text 37"/>
          <p:cNvSpPr/>
          <p:nvPr/>
        </p:nvSpPr>
        <p:spPr>
          <a:xfrm>
            <a:off x="6437376" y="4882896"/>
            <a:ext cx="4572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a:t>
            </a:r>
            <a:endParaRPr lang="en-US" sz="950" dirty="0"/>
          </a:p>
        </p:txBody>
      </p:sp>
      <p:sp>
        <p:nvSpPr>
          <p:cNvPr id="40" name="Text 38"/>
          <p:cNvSpPr/>
          <p:nvPr/>
        </p:nvSpPr>
        <p:spPr>
          <a:xfrm rot="16200000">
            <a:off x="6903720" y="2834640"/>
            <a:ext cx="1097280" cy="274320"/>
          </a:xfrm>
          <a:prstGeom prst="rect">
            <a:avLst/>
          </a:prstGeom>
          <a:noFill/>
          <a:ln/>
        </p:spPr>
        <p:txBody>
          <a:bodyPr wrap="square" lIns="0" tIns="0" rIns="0" bIns="0" rtlCol="0" anchor="ctr"/>
          <a:lstStyle/>
          <a:p>
            <a:pPr algn="r" indent="0" marL="0">
              <a:buNone/>
            </a:pPr>
            <a:r>
              <a:rPr lang="en-US" sz="1000" b="1" dirty="0">
                <a:solidFill>
                  <a:srgbClr val="5D7186"/>
                </a:solidFill>
                <a:latin typeface="Calibri" pitchFamily="34" charset="0"/>
                <a:ea typeface="Calibri" pitchFamily="34" charset="-122"/>
                <a:cs typeface="Calibri" pitchFamily="34" charset="-120"/>
              </a:rPr>
              <a:t>Severity</a:t>
            </a:r>
            <a:endParaRPr lang="en-US" sz="1000" dirty="0"/>
          </a:p>
        </p:txBody>
      </p:sp>
      <p:sp>
        <p:nvSpPr>
          <p:cNvPr id="41" name="Text 39"/>
          <p:cNvSpPr/>
          <p:nvPr/>
        </p:nvSpPr>
        <p:spPr>
          <a:xfrm>
            <a:off x="7818120" y="1737360"/>
            <a:ext cx="292608" cy="566928"/>
          </a:xfrm>
          <a:prstGeom prst="rect">
            <a:avLst/>
          </a:prstGeom>
          <a:noFill/>
          <a:ln/>
        </p:spPr>
        <p:txBody>
          <a:bodyPr wrap="square" lIns="0" tIns="0" rIns="0" bIns="0" rtlCol="0" anchor="ctr"/>
          <a:lstStyle/>
          <a:p>
            <a:pPr algn="r" indent="0" marL="0">
              <a:buNone/>
            </a:pPr>
            <a:r>
              <a:rPr lang="en-US" sz="950" b="1" dirty="0">
                <a:solidFill>
                  <a:srgbClr val="5D7186"/>
                </a:solidFill>
                <a:latin typeface="Calibri" pitchFamily="34" charset="0"/>
                <a:ea typeface="Calibri" pitchFamily="34" charset="-122"/>
                <a:cs typeface="Calibri" pitchFamily="34" charset="-120"/>
              </a:rPr>
              <a:t>5</a:t>
            </a:r>
            <a:endParaRPr lang="en-US" sz="950" dirty="0"/>
          </a:p>
        </p:txBody>
      </p:sp>
      <p:sp>
        <p:nvSpPr>
          <p:cNvPr id="42" name="Shape 40"/>
          <p:cNvSpPr/>
          <p:nvPr/>
        </p:nvSpPr>
        <p:spPr>
          <a:xfrm>
            <a:off x="8202168" y="1737360"/>
            <a:ext cx="566928" cy="530352"/>
          </a:xfrm>
          <a:prstGeom prst="rect">
            <a:avLst/>
          </a:prstGeom>
          <a:solidFill>
            <a:srgbClr val="FBF2DC"/>
          </a:solidFill>
          <a:ln w="25400">
            <a:solidFill>
              <a:srgbClr val="FFFFFF"/>
            </a:solidFill>
            <a:prstDash val="solid"/>
          </a:ln>
        </p:spPr>
      </p:sp>
      <p:sp>
        <p:nvSpPr>
          <p:cNvPr id="43" name="Text 41"/>
          <p:cNvSpPr/>
          <p:nvPr/>
        </p:nvSpPr>
        <p:spPr>
          <a:xfrm>
            <a:off x="8202168" y="1737360"/>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5</a:t>
            </a:r>
            <a:endParaRPr lang="en-US" sz="850" dirty="0"/>
          </a:p>
        </p:txBody>
      </p:sp>
      <p:sp>
        <p:nvSpPr>
          <p:cNvPr id="44" name="Shape 42"/>
          <p:cNvSpPr/>
          <p:nvPr/>
        </p:nvSpPr>
        <p:spPr>
          <a:xfrm>
            <a:off x="8805672" y="1737360"/>
            <a:ext cx="566928" cy="530352"/>
          </a:xfrm>
          <a:prstGeom prst="rect">
            <a:avLst/>
          </a:prstGeom>
          <a:solidFill>
            <a:srgbClr val="FCEADB"/>
          </a:solidFill>
          <a:ln w="25400">
            <a:solidFill>
              <a:srgbClr val="FFFFFF"/>
            </a:solidFill>
            <a:prstDash val="solid"/>
          </a:ln>
        </p:spPr>
      </p:sp>
      <p:sp>
        <p:nvSpPr>
          <p:cNvPr id="45" name="Text 43"/>
          <p:cNvSpPr/>
          <p:nvPr/>
        </p:nvSpPr>
        <p:spPr>
          <a:xfrm>
            <a:off x="8805672" y="1737360"/>
            <a:ext cx="566928" cy="530352"/>
          </a:xfrm>
          <a:prstGeom prst="rect">
            <a:avLst/>
          </a:prstGeom>
          <a:noFill/>
          <a:ln/>
        </p:spPr>
        <p:txBody>
          <a:bodyPr wrap="square" lIns="0" tIns="0" rIns="0" bIns="0" rtlCol="0" anchor="ctr"/>
          <a:lstStyle/>
          <a:p>
            <a:pPr algn="ctr" indent="0" marL="0">
              <a:buNone/>
            </a:pPr>
            <a:r>
              <a:rPr lang="en-US" sz="900" b="1" dirty="0">
                <a:solidFill>
                  <a:srgbClr val="12202E"/>
                </a:solidFill>
                <a:latin typeface="Calibri" pitchFamily="34" charset="0"/>
                <a:ea typeface="Calibri" pitchFamily="34" charset="-122"/>
                <a:cs typeface="Calibri" pitchFamily="34" charset="-120"/>
              </a:rPr>
              <a:t>H-02</a:t>
            </a:r>
            <a:endParaRPr lang="en-US" sz="900" dirty="0"/>
          </a:p>
        </p:txBody>
      </p:sp>
      <p:sp>
        <p:nvSpPr>
          <p:cNvPr id="46" name="Shape 44"/>
          <p:cNvSpPr/>
          <p:nvPr/>
        </p:nvSpPr>
        <p:spPr>
          <a:xfrm>
            <a:off x="9409176" y="1737360"/>
            <a:ext cx="566928" cy="530352"/>
          </a:xfrm>
          <a:prstGeom prst="rect">
            <a:avLst/>
          </a:prstGeom>
          <a:solidFill>
            <a:srgbClr val="FBE7E5"/>
          </a:solidFill>
          <a:ln w="25400">
            <a:solidFill>
              <a:srgbClr val="FFFFFF"/>
            </a:solidFill>
            <a:prstDash val="solid"/>
          </a:ln>
        </p:spPr>
      </p:sp>
      <p:sp>
        <p:nvSpPr>
          <p:cNvPr id="47" name="Text 45"/>
          <p:cNvSpPr/>
          <p:nvPr/>
        </p:nvSpPr>
        <p:spPr>
          <a:xfrm>
            <a:off x="9409176" y="1737360"/>
            <a:ext cx="566928" cy="530352"/>
          </a:xfrm>
          <a:prstGeom prst="rect">
            <a:avLst/>
          </a:prstGeom>
          <a:noFill/>
          <a:ln/>
        </p:spPr>
        <p:txBody>
          <a:bodyPr wrap="square" lIns="0" tIns="0" rIns="0" bIns="0" rtlCol="0" anchor="ctr"/>
          <a:lstStyle/>
          <a:p>
            <a:pPr algn="ctr" indent="0" marL="0">
              <a:buNone/>
            </a:pPr>
            <a:r>
              <a:rPr lang="en-US" sz="900" b="1" dirty="0">
                <a:solidFill>
                  <a:srgbClr val="12202E"/>
                </a:solidFill>
                <a:latin typeface="Calibri" pitchFamily="34" charset="0"/>
                <a:ea typeface="Calibri" pitchFamily="34" charset="-122"/>
                <a:cs typeface="Calibri" pitchFamily="34" charset="-120"/>
              </a:rPr>
              <a:t>H-01</a:t>
            </a:r>
            <a:endParaRPr lang="en-US" sz="900" dirty="0"/>
          </a:p>
        </p:txBody>
      </p:sp>
      <p:sp>
        <p:nvSpPr>
          <p:cNvPr id="48" name="Shape 46"/>
          <p:cNvSpPr/>
          <p:nvPr/>
        </p:nvSpPr>
        <p:spPr>
          <a:xfrm>
            <a:off x="10012680" y="1737360"/>
            <a:ext cx="566928" cy="530352"/>
          </a:xfrm>
          <a:prstGeom prst="rect">
            <a:avLst/>
          </a:prstGeom>
          <a:solidFill>
            <a:srgbClr val="FBE7E5"/>
          </a:solidFill>
          <a:ln w="25400">
            <a:solidFill>
              <a:srgbClr val="FFFFFF"/>
            </a:solidFill>
            <a:prstDash val="solid"/>
          </a:ln>
        </p:spPr>
      </p:sp>
      <p:sp>
        <p:nvSpPr>
          <p:cNvPr id="49" name="Text 47"/>
          <p:cNvSpPr/>
          <p:nvPr/>
        </p:nvSpPr>
        <p:spPr>
          <a:xfrm>
            <a:off x="10012680" y="1737360"/>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20</a:t>
            </a:r>
            <a:endParaRPr lang="en-US" sz="850" dirty="0"/>
          </a:p>
        </p:txBody>
      </p:sp>
      <p:sp>
        <p:nvSpPr>
          <p:cNvPr id="50" name="Shape 48"/>
          <p:cNvSpPr/>
          <p:nvPr/>
        </p:nvSpPr>
        <p:spPr>
          <a:xfrm>
            <a:off x="10616184" y="1737360"/>
            <a:ext cx="566928" cy="530352"/>
          </a:xfrm>
          <a:prstGeom prst="rect">
            <a:avLst/>
          </a:prstGeom>
          <a:solidFill>
            <a:srgbClr val="FBE7E5"/>
          </a:solidFill>
          <a:ln w="25400">
            <a:solidFill>
              <a:srgbClr val="FFFFFF"/>
            </a:solidFill>
            <a:prstDash val="solid"/>
          </a:ln>
        </p:spPr>
      </p:sp>
      <p:sp>
        <p:nvSpPr>
          <p:cNvPr id="51" name="Text 49"/>
          <p:cNvSpPr/>
          <p:nvPr/>
        </p:nvSpPr>
        <p:spPr>
          <a:xfrm>
            <a:off x="10616184" y="1737360"/>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25</a:t>
            </a:r>
            <a:endParaRPr lang="en-US" sz="850" dirty="0"/>
          </a:p>
        </p:txBody>
      </p:sp>
      <p:sp>
        <p:nvSpPr>
          <p:cNvPr id="52" name="Text 50"/>
          <p:cNvSpPr/>
          <p:nvPr/>
        </p:nvSpPr>
        <p:spPr>
          <a:xfrm>
            <a:off x="7818120" y="2304288"/>
            <a:ext cx="292608" cy="566928"/>
          </a:xfrm>
          <a:prstGeom prst="rect">
            <a:avLst/>
          </a:prstGeom>
          <a:noFill/>
          <a:ln/>
        </p:spPr>
        <p:txBody>
          <a:bodyPr wrap="square" lIns="0" tIns="0" rIns="0" bIns="0" rtlCol="0" anchor="ctr"/>
          <a:lstStyle/>
          <a:p>
            <a:pPr algn="r" indent="0" marL="0">
              <a:buNone/>
            </a:pPr>
            <a:r>
              <a:rPr lang="en-US" sz="950" b="1" dirty="0">
                <a:solidFill>
                  <a:srgbClr val="5D7186"/>
                </a:solidFill>
                <a:latin typeface="Calibri" pitchFamily="34" charset="0"/>
                <a:ea typeface="Calibri" pitchFamily="34" charset="-122"/>
                <a:cs typeface="Calibri" pitchFamily="34" charset="-120"/>
              </a:rPr>
              <a:t>4</a:t>
            </a:r>
            <a:endParaRPr lang="en-US" sz="950" dirty="0"/>
          </a:p>
        </p:txBody>
      </p:sp>
      <p:sp>
        <p:nvSpPr>
          <p:cNvPr id="53" name="Shape 51"/>
          <p:cNvSpPr/>
          <p:nvPr/>
        </p:nvSpPr>
        <p:spPr>
          <a:xfrm>
            <a:off x="8202168" y="2304288"/>
            <a:ext cx="566928" cy="530352"/>
          </a:xfrm>
          <a:prstGeom prst="rect">
            <a:avLst/>
          </a:prstGeom>
          <a:solidFill>
            <a:srgbClr val="E8F6EE"/>
          </a:solidFill>
          <a:ln w="25400">
            <a:solidFill>
              <a:srgbClr val="FFFFFF"/>
            </a:solidFill>
            <a:prstDash val="solid"/>
          </a:ln>
        </p:spPr>
      </p:sp>
      <p:sp>
        <p:nvSpPr>
          <p:cNvPr id="54" name="Text 52"/>
          <p:cNvSpPr/>
          <p:nvPr/>
        </p:nvSpPr>
        <p:spPr>
          <a:xfrm>
            <a:off x="8202168" y="2304288"/>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4</a:t>
            </a:r>
            <a:endParaRPr lang="en-US" sz="850" dirty="0"/>
          </a:p>
        </p:txBody>
      </p:sp>
      <p:sp>
        <p:nvSpPr>
          <p:cNvPr id="55" name="Shape 53"/>
          <p:cNvSpPr/>
          <p:nvPr/>
        </p:nvSpPr>
        <p:spPr>
          <a:xfrm>
            <a:off x="8805672" y="2304288"/>
            <a:ext cx="566928" cy="530352"/>
          </a:xfrm>
          <a:prstGeom prst="rect">
            <a:avLst/>
          </a:prstGeom>
          <a:solidFill>
            <a:srgbClr val="FBF2DC"/>
          </a:solidFill>
          <a:ln w="25400">
            <a:solidFill>
              <a:srgbClr val="FFFFFF"/>
            </a:solidFill>
            <a:prstDash val="solid"/>
          </a:ln>
        </p:spPr>
      </p:sp>
      <p:sp>
        <p:nvSpPr>
          <p:cNvPr id="56" name="Text 54"/>
          <p:cNvSpPr/>
          <p:nvPr/>
        </p:nvSpPr>
        <p:spPr>
          <a:xfrm>
            <a:off x="8805672" y="2304288"/>
            <a:ext cx="566928" cy="530352"/>
          </a:xfrm>
          <a:prstGeom prst="rect">
            <a:avLst/>
          </a:prstGeom>
          <a:noFill/>
          <a:ln/>
        </p:spPr>
        <p:txBody>
          <a:bodyPr wrap="square" lIns="0" tIns="0" rIns="0" bIns="0" rtlCol="0" anchor="ctr"/>
          <a:lstStyle/>
          <a:p>
            <a:pPr algn="ctr" indent="0" marL="0">
              <a:buNone/>
            </a:pPr>
            <a:r>
              <a:rPr lang="en-US" sz="900" b="1" dirty="0">
                <a:solidFill>
                  <a:srgbClr val="12202E"/>
                </a:solidFill>
                <a:latin typeface="Calibri" pitchFamily="34" charset="0"/>
                <a:ea typeface="Calibri" pitchFamily="34" charset="-122"/>
                <a:cs typeface="Calibri" pitchFamily="34" charset="-120"/>
              </a:rPr>
              <a:t>H-06</a:t>
            </a:r>
            <a:endParaRPr lang="en-US" sz="900" dirty="0"/>
          </a:p>
        </p:txBody>
      </p:sp>
      <p:sp>
        <p:nvSpPr>
          <p:cNvPr id="57" name="Shape 55"/>
          <p:cNvSpPr/>
          <p:nvPr/>
        </p:nvSpPr>
        <p:spPr>
          <a:xfrm>
            <a:off x="9409176" y="2304288"/>
            <a:ext cx="566928" cy="530352"/>
          </a:xfrm>
          <a:prstGeom prst="rect">
            <a:avLst/>
          </a:prstGeom>
          <a:solidFill>
            <a:srgbClr val="FCEADB"/>
          </a:solidFill>
          <a:ln w="25400">
            <a:solidFill>
              <a:srgbClr val="FFFFFF"/>
            </a:solidFill>
            <a:prstDash val="solid"/>
          </a:ln>
        </p:spPr>
      </p:sp>
      <p:sp>
        <p:nvSpPr>
          <p:cNvPr id="58" name="Text 56"/>
          <p:cNvSpPr/>
          <p:nvPr/>
        </p:nvSpPr>
        <p:spPr>
          <a:xfrm>
            <a:off x="9409176" y="2304288"/>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12</a:t>
            </a:r>
            <a:endParaRPr lang="en-US" sz="850" dirty="0"/>
          </a:p>
        </p:txBody>
      </p:sp>
      <p:sp>
        <p:nvSpPr>
          <p:cNvPr id="59" name="Shape 57"/>
          <p:cNvSpPr/>
          <p:nvPr/>
        </p:nvSpPr>
        <p:spPr>
          <a:xfrm>
            <a:off x="10012680" y="2304288"/>
            <a:ext cx="566928" cy="530352"/>
          </a:xfrm>
          <a:prstGeom prst="rect">
            <a:avLst/>
          </a:prstGeom>
          <a:solidFill>
            <a:srgbClr val="FBE7E5"/>
          </a:solidFill>
          <a:ln w="25400">
            <a:solidFill>
              <a:srgbClr val="FFFFFF"/>
            </a:solidFill>
            <a:prstDash val="solid"/>
          </a:ln>
        </p:spPr>
      </p:sp>
      <p:sp>
        <p:nvSpPr>
          <p:cNvPr id="60" name="Text 58"/>
          <p:cNvSpPr/>
          <p:nvPr/>
        </p:nvSpPr>
        <p:spPr>
          <a:xfrm>
            <a:off x="10012680" y="2304288"/>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16</a:t>
            </a:r>
            <a:endParaRPr lang="en-US" sz="850" dirty="0"/>
          </a:p>
        </p:txBody>
      </p:sp>
      <p:sp>
        <p:nvSpPr>
          <p:cNvPr id="61" name="Shape 59"/>
          <p:cNvSpPr/>
          <p:nvPr/>
        </p:nvSpPr>
        <p:spPr>
          <a:xfrm>
            <a:off x="10616184" y="2304288"/>
            <a:ext cx="566928" cy="530352"/>
          </a:xfrm>
          <a:prstGeom prst="rect">
            <a:avLst/>
          </a:prstGeom>
          <a:solidFill>
            <a:srgbClr val="FBE7E5"/>
          </a:solidFill>
          <a:ln w="25400">
            <a:solidFill>
              <a:srgbClr val="FFFFFF"/>
            </a:solidFill>
            <a:prstDash val="solid"/>
          </a:ln>
        </p:spPr>
      </p:sp>
      <p:sp>
        <p:nvSpPr>
          <p:cNvPr id="62" name="Text 60"/>
          <p:cNvSpPr/>
          <p:nvPr/>
        </p:nvSpPr>
        <p:spPr>
          <a:xfrm>
            <a:off x="10616184" y="2304288"/>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20</a:t>
            </a:r>
            <a:endParaRPr lang="en-US" sz="850" dirty="0"/>
          </a:p>
        </p:txBody>
      </p:sp>
      <p:sp>
        <p:nvSpPr>
          <p:cNvPr id="63" name="Text 61"/>
          <p:cNvSpPr/>
          <p:nvPr/>
        </p:nvSpPr>
        <p:spPr>
          <a:xfrm>
            <a:off x="7818120" y="2871216"/>
            <a:ext cx="292608" cy="566928"/>
          </a:xfrm>
          <a:prstGeom prst="rect">
            <a:avLst/>
          </a:prstGeom>
          <a:noFill/>
          <a:ln/>
        </p:spPr>
        <p:txBody>
          <a:bodyPr wrap="square" lIns="0" tIns="0" rIns="0" bIns="0" rtlCol="0" anchor="ctr"/>
          <a:lstStyle/>
          <a:p>
            <a:pPr algn="r" indent="0" marL="0">
              <a:buNone/>
            </a:pPr>
            <a:r>
              <a:rPr lang="en-US" sz="950" b="1" dirty="0">
                <a:solidFill>
                  <a:srgbClr val="5D7186"/>
                </a:solidFill>
                <a:latin typeface="Calibri" pitchFamily="34" charset="0"/>
                <a:ea typeface="Calibri" pitchFamily="34" charset="-122"/>
                <a:cs typeface="Calibri" pitchFamily="34" charset="-120"/>
              </a:rPr>
              <a:t>3</a:t>
            </a:r>
            <a:endParaRPr lang="en-US" sz="950" dirty="0"/>
          </a:p>
        </p:txBody>
      </p:sp>
      <p:sp>
        <p:nvSpPr>
          <p:cNvPr id="64" name="Shape 62"/>
          <p:cNvSpPr/>
          <p:nvPr/>
        </p:nvSpPr>
        <p:spPr>
          <a:xfrm>
            <a:off x="8202168" y="2871216"/>
            <a:ext cx="566928" cy="530352"/>
          </a:xfrm>
          <a:prstGeom prst="rect">
            <a:avLst/>
          </a:prstGeom>
          <a:solidFill>
            <a:srgbClr val="E8F6EE"/>
          </a:solidFill>
          <a:ln w="25400">
            <a:solidFill>
              <a:srgbClr val="FFFFFF"/>
            </a:solidFill>
            <a:prstDash val="solid"/>
          </a:ln>
        </p:spPr>
      </p:sp>
      <p:sp>
        <p:nvSpPr>
          <p:cNvPr id="65" name="Text 63"/>
          <p:cNvSpPr/>
          <p:nvPr/>
        </p:nvSpPr>
        <p:spPr>
          <a:xfrm>
            <a:off x="8202168" y="2871216"/>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3</a:t>
            </a:r>
            <a:endParaRPr lang="en-US" sz="850" dirty="0"/>
          </a:p>
        </p:txBody>
      </p:sp>
      <p:sp>
        <p:nvSpPr>
          <p:cNvPr id="66" name="Shape 64"/>
          <p:cNvSpPr/>
          <p:nvPr/>
        </p:nvSpPr>
        <p:spPr>
          <a:xfrm>
            <a:off x="8805672" y="2871216"/>
            <a:ext cx="566928" cy="530352"/>
          </a:xfrm>
          <a:prstGeom prst="rect">
            <a:avLst/>
          </a:prstGeom>
          <a:solidFill>
            <a:srgbClr val="FBF2DC"/>
          </a:solidFill>
          <a:ln w="25400">
            <a:solidFill>
              <a:srgbClr val="FFFFFF"/>
            </a:solidFill>
            <a:prstDash val="solid"/>
          </a:ln>
        </p:spPr>
      </p:sp>
      <p:sp>
        <p:nvSpPr>
          <p:cNvPr id="67" name="Text 65"/>
          <p:cNvSpPr/>
          <p:nvPr/>
        </p:nvSpPr>
        <p:spPr>
          <a:xfrm>
            <a:off x="8805672" y="2871216"/>
            <a:ext cx="566928" cy="530352"/>
          </a:xfrm>
          <a:prstGeom prst="rect">
            <a:avLst/>
          </a:prstGeom>
          <a:noFill/>
          <a:ln/>
        </p:spPr>
        <p:txBody>
          <a:bodyPr wrap="square" lIns="0" tIns="0" rIns="0" bIns="0" rtlCol="0" anchor="ctr"/>
          <a:lstStyle/>
          <a:p>
            <a:pPr algn="ctr" indent="0" marL="0">
              <a:buNone/>
            </a:pPr>
            <a:r>
              <a:rPr lang="en-US" sz="900" b="1" dirty="0">
                <a:solidFill>
                  <a:srgbClr val="12202E"/>
                </a:solidFill>
                <a:latin typeface="Calibri" pitchFamily="34" charset="0"/>
                <a:ea typeface="Calibri" pitchFamily="34" charset="-122"/>
                <a:cs typeface="Calibri" pitchFamily="34" charset="-120"/>
              </a:rPr>
              <a:t>H-05</a:t>
            </a:r>
            <a:endParaRPr lang="en-US" sz="900" dirty="0"/>
          </a:p>
        </p:txBody>
      </p:sp>
      <p:sp>
        <p:nvSpPr>
          <p:cNvPr id="68" name="Shape 66"/>
          <p:cNvSpPr/>
          <p:nvPr/>
        </p:nvSpPr>
        <p:spPr>
          <a:xfrm>
            <a:off x="9409176" y="2871216"/>
            <a:ext cx="566928" cy="530352"/>
          </a:xfrm>
          <a:prstGeom prst="rect">
            <a:avLst/>
          </a:prstGeom>
          <a:solidFill>
            <a:srgbClr val="FCEADB"/>
          </a:solidFill>
          <a:ln w="25400">
            <a:solidFill>
              <a:srgbClr val="FFFFFF"/>
            </a:solidFill>
            <a:prstDash val="solid"/>
          </a:ln>
        </p:spPr>
      </p:sp>
      <p:sp>
        <p:nvSpPr>
          <p:cNvPr id="69" name="Text 67"/>
          <p:cNvSpPr/>
          <p:nvPr/>
        </p:nvSpPr>
        <p:spPr>
          <a:xfrm>
            <a:off x="9409176" y="2871216"/>
            <a:ext cx="566928" cy="530352"/>
          </a:xfrm>
          <a:prstGeom prst="rect">
            <a:avLst/>
          </a:prstGeom>
          <a:noFill/>
          <a:ln/>
        </p:spPr>
        <p:txBody>
          <a:bodyPr wrap="square" lIns="0" tIns="0" rIns="0" bIns="0" rtlCol="0" anchor="ctr"/>
          <a:lstStyle/>
          <a:p>
            <a:pPr algn="ctr" indent="0" marL="0">
              <a:buNone/>
            </a:pPr>
            <a:r>
              <a:rPr lang="en-US" sz="900" b="1" dirty="0">
                <a:solidFill>
                  <a:srgbClr val="12202E"/>
                </a:solidFill>
                <a:latin typeface="Calibri" pitchFamily="34" charset="0"/>
                <a:ea typeface="Calibri" pitchFamily="34" charset="-122"/>
                <a:cs typeface="Calibri" pitchFamily="34" charset="-120"/>
              </a:rPr>
              <a:t>H-03</a:t>
            </a:r>
            <a:endParaRPr lang="en-US" sz="900" dirty="0"/>
          </a:p>
        </p:txBody>
      </p:sp>
      <p:sp>
        <p:nvSpPr>
          <p:cNvPr id="70" name="Shape 68"/>
          <p:cNvSpPr/>
          <p:nvPr/>
        </p:nvSpPr>
        <p:spPr>
          <a:xfrm>
            <a:off x="10012680" y="2871216"/>
            <a:ext cx="566928" cy="530352"/>
          </a:xfrm>
          <a:prstGeom prst="rect">
            <a:avLst/>
          </a:prstGeom>
          <a:solidFill>
            <a:srgbClr val="FCEADB"/>
          </a:solidFill>
          <a:ln w="25400">
            <a:solidFill>
              <a:srgbClr val="FFFFFF"/>
            </a:solidFill>
            <a:prstDash val="solid"/>
          </a:ln>
        </p:spPr>
      </p:sp>
      <p:sp>
        <p:nvSpPr>
          <p:cNvPr id="71" name="Text 69"/>
          <p:cNvSpPr/>
          <p:nvPr/>
        </p:nvSpPr>
        <p:spPr>
          <a:xfrm>
            <a:off x="10012680" y="2871216"/>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12</a:t>
            </a:r>
            <a:endParaRPr lang="en-US" sz="850" dirty="0"/>
          </a:p>
        </p:txBody>
      </p:sp>
      <p:sp>
        <p:nvSpPr>
          <p:cNvPr id="72" name="Shape 70"/>
          <p:cNvSpPr/>
          <p:nvPr/>
        </p:nvSpPr>
        <p:spPr>
          <a:xfrm>
            <a:off x="10616184" y="2871216"/>
            <a:ext cx="566928" cy="530352"/>
          </a:xfrm>
          <a:prstGeom prst="rect">
            <a:avLst/>
          </a:prstGeom>
          <a:solidFill>
            <a:srgbClr val="FBE7E5"/>
          </a:solidFill>
          <a:ln w="25400">
            <a:solidFill>
              <a:srgbClr val="FFFFFF"/>
            </a:solidFill>
            <a:prstDash val="solid"/>
          </a:ln>
        </p:spPr>
      </p:sp>
      <p:sp>
        <p:nvSpPr>
          <p:cNvPr id="73" name="Text 71"/>
          <p:cNvSpPr/>
          <p:nvPr/>
        </p:nvSpPr>
        <p:spPr>
          <a:xfrm>
            <a:off x="10616184" y="2871216"/>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15</a:t>
            </a:r>
            <a:endParaRPr lang="en-US" sz="850" dirty="0"/>
          </a:p>
        </p:txBody>
      </p:sp>
      <p:sp>
        <p:nvSpPr>
          <p:cNvPr id="74" name="Text 72"/>
          <p:cNvSpPr/>
          <p:nvPr/>
        </p:nvSpPr>
        <p:spPr>
          <a:xfrm>
            <a:off x="7818120" y="3438144"/>
            <a:ext cx="292608" cy="566928"/>
          </a:xfrm>
          <a:prstGeom prst="rect">
            <a:avLst/>
          </a:prstGeom>
          <a:noFill/>
          <a:ln/>
        </p:spPr>
        <p:txBody>
          <a:bodyPr wrap="square" lIns="0" tIns="0" rIns="0" bIns="0" rtlCol="0" anchor="ctr"/>
          <a:lstStyle/>
          <a:p>
            <a:pPr algn="r" indent="0" marL="0">
              <a:buNone/>
            </a:pPr>
            <a:r>
              <a:rPr lang="en-US" sz="950" b="1" dirty="0">
                <a:solidFill>
                  <a:srgbClr val="5D7186"/>
                </a:solidFill>
                <a:latin typeface="Calibri" pitchFamily="34" charset="0"/>
                <a:ea typeface="Calibri" pitchFamily="34" charset="-122"/>
                <a:cs typeface="Calibri" pitchFamily="34" charset="-120"/>
              </a:rPr>
              <a:t>2</a:t>
            </a:r>
            <a:endParaRPr lang="en-US" sz="950" dirty="0"/>
          </a:p>
        </p:txBody>
      </p:sp>
      <p:sp>
        <p:nvSpPr>
          <p:cNvPr id="75" name="Shape 73"/>
          <p:cNvSpPr/>
          <p:nvPr/>
        </p:nvSpPr>
        <p:spPr>
          <a:xfrm>
            <a:off x="8202168" y="3438144"/>
            <a:ext cx="566928" cy="530352"/>
          </a:xfrm>
          <a:prstGeom prst="rect">
            <a:avLst/>
          </a:prstGeom>
          <a:solidFill>
            <a:srgbClr val="E8F6EE"/>
          </a:solidFill>
          <a:ln w="25400">
            <a:solidFill>
              <a:srgbClr val="FFFFFF"/>
            </a:solidFill>
            <a:prstDash val="solid"/>
          </a:ln>
        </p:spPr>
      </p:sp>
      <p:sp>
        <p:nvSpPr>
          <p:cNvPr id="76" name="Text 74"/>
          <p:cNvSpPr/>
          <p:nvPr/>
        </p:nvSpPr>
        <p:spPr>
          <a:xfrm>
            <a:off x="8202168" y="3438144"/>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2</a:t>
            </a:r>
            <a:endParaRPr lang="en-US" sz="850" dirty="0"/>
          </a:p>
        </p:txBody>
      </p:sp>
      <p:sp>
        <p:nvSpPr>
          <p:cNvPr id="77" name="Shape 75"/>
          <p:cNvSpPr/>
          <p:nvPr/>
        </p:nvSpPr>
        <p:spPr>
          <a:xfrm>
            <a:off x="8805672" y="3438144"/>
            <a:ext cx="566928" cy="530352"/>
          </a:xfrm>
          <a:prstGeom prst="rect">
            <a:avLst/>
          </a:prstGeom>
          <a:solidFill>
            <a:srgbClr val="E8F6EE"/>
          </a:solidFill>
          <a:ln w="25400">
            <a:solidFill>
              <a:srgbClr val="FFFFFF"/>
            </a:solidFill>
            <a:prstDash val="solid"/>
          </a:ln>
        </p:spPr>
      </p:sp>
      <p:sp>
        <p:nvSpPr>
          <p:cNvPr id="78" name="Text 76"/>
          <p:cNvSpPr/>
          <p:nvPr/>
        </p:nvSpPr>
        <p:spPr>
          <a:xfrm>
            <a:off x="8805672" y="3438144"/>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4</a:t>
            </a:r>
            <a:endParaRPr lang="en-US" sz="850" dirty="0"/>
          </a:p>
        </p:txBody>
      </p:sp>
      <p:sp>
        <p:nvSpPr>
          <p:cNvPr id="79" name="Shape 77"/>
          <p:cNvSpPr/>
          <p:nvPr/>
        </p:nvSpPr>
        <p:spPr>
          <a:xfrm>
            <a:off x="9409176" y="3438144"/>
            <a:ext cx="566928" cy="530352"/>
          </a:xfrm>
          <a:prstGeom prst="rect">
            <a:avLst/>
          </a:prstGeom>
          <a:solidFill>
            <a:srgbClr val="FBF2DC"/>
          </a:solidFill>
          <a:ln w="25400">
            <a:solidFill>
              <a:srgbClr val="FFFFFF"/>
            </a:solidFill>
            <a:prstDash val="solid"/>
          </a:ln>
        </p:spPr>
      </p:sp>
      <p:sp>
        <p:nvSpPr>
          <p:cNvPr id="80" name="Text 78"/>
          <p:cNvSpPr/>
          <p:nvPr/>
        </p:nvSpPr>
        <p:spPr>
          <a:xfrm>
            <a:off x="9409176" y="3438144"/>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6</a:t>
            </a:r>
            <a:endParaRPr lang="en-US" sz="850" dirty="0"/>
          </a:p>
        </p:txBody>
      </p:sp>
      <p:sp>
        <p:nvSpPr>
          <p:cNvPr id="81" name="Shape 79"/>
          <p:cNvSpPr/>
          <p:nvPr/>
        </p:nvSpPr>
        <p:spPr>
          <a:xfrm>
            <a:off x="10012680" y="3438144"/>
            <a:ext cx="566928" cy="530352"/>
          </a:xfrm>
          <a:prstGeom prst="rect">
            <a:avLst/>
          </a:prstGeom>
          <a:solidFill>
            <a:srgbClr val="FBF2DC"/>
          </a:solidFill>
          <a:ln w="25400">
            <a:solidFill>
              <a:srgbClr val="FFFFFF"/>
            </a:solidFill>
            <a:prstDash val="solid"/>
          </a:ln>
        </p:spPr>
      </p:sp>
      <p:sp>
        <p:nvSpPr>
          <p:cNvPr id="82" name="Text 80"/>
          <p:cNvSpPr/>
          <p:nvPr/>
        </p:nvSpPr>
        <p:spPr>
          <a:xfrm>
            <a:off x="10012680" y="3438144"/>
            <a:ext cx="566928" cy="530352"/>
          </a:xfrm>
          <a:prstGeom prst="rect">
            <a:avLst/>
          </a:prstGeom>
          <a:noFill/>
          <a:ln/>
        </p:spPr>
        <p:txBody>
          <a:bodyPr wrap="square" lIns="0" tIns="0" rIns="0" bIns="0" rtlCol="0" anchor="ctr"/>
          <a:lstStyle/>
          <a:p>
            <a:pPr algn="ctr" indent="0" marL="0">
              <a:buNone/>
            </a:pPr>
            <a:r>
              <a:rPr lang="en-US" sz="900" b="1" dirty="0">
                <a:solidFill>
                  <a:srgbClr val="12202E"/>
                </a:solidFill>
                <a:latin typeface="Calibri" pitchFamily="34" charset="0"/>
                <a:ea typeface="Calibri" pitchFamily="34" charset="-122"/>
                <a:cs typeface="Calibri" pitchFamily="34" charset="-120"/>
              </a:rPr>
              <a:t>H-04</a:t>
            </a:r>
            <a:endParaRPr lang="en-US" sz="900" dirty="0"/>
          </a:p>
        </p:txBody>
      </p:sp>
      <p:sp>
        <p:nvSpPr>
          <p:cNvPr id="83" name="Shape 81"/>
          <p:cNvSpPr/>
          <p:nvPr/>
        </p:nvSpPr>
        <p:spPr>
          <a:xfrm>
            <a:off x="10616184" y="3438144"/>
            <a:ext cx="566928" cy="530352"/>
          </a:xfrm>
          <a:prstGeom prst="rect">
            <a:avLst/>
          </a:prstGeom>
          <a:solidFill>
            <a:srgbClr val="FCEADB"/>
          </a:solidFill>
          <a:ln w="25400">
            <a:solidFill>
              <a:srgbClr val="FFFFFF"/>
            </a:solidFill>
            <a:prstDash val="solid"/>
          </a:ln>
        </p:spPr>
      </p:sp>
      <p:sp>
        <p:nvSpPr>
          <p:cNvPr id="84" name="Text 82"/>
          <p:cNvSpPr/>
          <p:nvPr/>
        </p:nvSpPr>
        <p:spPr>
          <a:xfrm>
            <a:off x="10616184" y="3438144"/>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10</a:t>
            </a:r>
            <a:endParaRPr lang="en-US" sz="850" dirty="0"/>
          </a:p>
        </p:txBody>
      </p:sp>
      <p:sp>
        <p:nvSpPr>
          <p:cNvPr id="85" name="Text 83"/>
          <p:cNvSpPr/>
          <p:nvPr/>
        </p:nvSpPr>
        <p:spPr>
          <a:xfrm>
            <a:off x="7818120" y="4005072"/>
            <a:ext cx="292608" cy="566928"/>
          </a:xfrm>
          <a:prstGeom prst="rect">
            <a:avLst/>
          </a:prstGeom>
          <a:noFill/>
          <a:ln/>
        </p:spPr>
        <p:txBody>
          <a:bodyPr wrap="square" lIns="0" tIns="0" rIns="0" bIns="0" rtlCol="0" anchor="ctr"/>
          <a:lstStyle/>
          <a:p>
            <a:pPr algn="r" indent="0" marL="0">
              <a:buNone/>
            </a:pPr>
            <a:r>
              <a:rPr lang="en-US" sz="950" b="1" dirty="0">
                <a:solidFill>
                  <a:srgbClr val="5D7186"/>
                </a:solidFill>
                <a:latin typeface="Calibri" pitchFamily="34" charset="0"/>
                <a:ea typeface="Calibri" pitchFamily="34" charset="-122"/>
                <a:cs typeface="Calibri" pitchFamily="34" charset="-120"/>
              </a:rPr>
              <a:t>1</a:t>
            </a:r>
            <a:endParaRPr lang="en-US" sz="950" dirty="0"/>
          </a:p>
        </p:txBody>
      </p:sp>
      <p:sp>
        <p:nvSpPr>
          <p:cNvPr id="86" name="Shape 84"/>
          <p:cNvSpPr/>
          <p:nvPr/>
        </p:nvSpPr>
        <p:spPr>
          <a:xfrm>
            <a:off x="8202168" y="4005072"/>
            <a:ext cx="566928" cy="530352"/>
          </a:xfrm>
          <a:prstGeom prst="rect">
            <a:avLst/>
          </a:prstGeom>
          <a:solidFill>
            <a:srgbClr val="E8F6EE"/>
          </a:solidFill>
          <a:ln w="25400">
            <a:solidFill>
              <a:srgbClr val="FFFFFF"/>
            </a:solidFill>
            <a:prstDash val="solid"/>
          </a:ln>
        </p:spPr>
      </p:sp>
      <p:sp>
        <p:nvSpPr>
          <p:cNvPr id="87" name="Text 85"/>
          <p:cNvSpPr/>
          <p:nvPr/>
        </p:nvSpPr>
        <p:spPr>
          <a:xfrm>
            <a:off x="8202168" y="4005072"/>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1</a:t>
            </a:r>
            <a:endParaRPr lang="en-US" sz="850" dirty="0"/>
          </a:p>
        </p:txBody>
      </p:sp>
      <p:sp>
        <p:nvSpPr>
          <p:cNvPr id="88" name="Shape 86"/>
          <p:cNvSpPr/>
          <p:nvPr/>
        </p:nvSpPr>
        <p:spPr>
          <a:xfrm>
            <a:off x="8805672" y="4005072"/>
            <a:ext cx="566928" cy="530352"/>
          </a:xfrm>
          <a:prstGeom prst="rect">
            <a:avLst/>
          </a:prstGeom>
          <a:solidFill>
            <a:srgbClr val="E8F6EE"/>
          </a:solidFill>
          <a:ln w="25400">
            <a:solidFill>
              <a:srgbClr val="FFFFFF"/>
            </a:solidFill>
            <a:prstDash val="solid"/>
          </a:ln>
        </p:spPr>
      </p:sp>
      <p:sp>
        <p:nvSpPr>
          <p:cNvPr id="89" name="Text 87"/>
          <p:cNvSpPr/>
          <p:nvPr/>
        </p:nvSpPr>
        <p:spPr>
          <a:xfrm>
            <a:off x="8805672" y="4005072"/>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2</a:t>
            </a:r>
            <a:endParaRPr lang="en-US" sz="850" dirty="0"/>
          </a:p>
        </p:txBody>
      </p:sp>
      <p:sp>
        <p:nvSpPr>
          <p:cNvPr id="90" name="Shape 88"/>
          <p:cNvSpPr/>
          <p:nvPr/>
        </p:nvSpPr>
        <p:spPr>
          <a:xfrm>
            <a:off x="9409176" y="4005072"/>
            <a:ext cx="566928" cy="530352"/>
          </a:xfrm>
          <a:prstGeom prst="rect">
            <a:avLst/>
          </a:prstGeom>
          <a:solidFill>
            <a:srgbClr val="E8F6EE"/>
          </a:solidFill>
          <a:ln w="25400">
            <a:solidFill>
              <a:srgbClr val="FFFFFF"/>
            </a:solidFill>
            <a:prstDash val="solid"/>
          </a:ln>
        </p:spPr>
      </p:sp>
      <p:sp>
        <p:nvSpPr>
          <p:cNvPr id="91" name="Text 89"/>
          <p:cNvSpPr/>
          <p:nvPr/>
        </p:nvSpPr>
        <p:spPr>
          <a:xfrm>
            <a:off x="9409176" y="4005072"/>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3</a:t>
            </a:r>
            <a:endParaRPr lang="en-US" sz="850" dirty="0"/>
          </a:p>
        </p:txBody>
      </p:sp>
      <p:sp>
        <p:nvSpPr>
          <p:cNvPr id="92" name="Shape 90"/>
          <p:cNvSpPr/>
          <p:nvPr/>
        </p:nvSpPr>
        <p:spPr>
          <a:xfrm>
            <a:off x="10012680" y="4005072"/>
            <a:ext cx="566928" cy="530352"/>
          </a:xfrm>
          <a:prstGeom prst="rect">
            <a:avLst/>
          </a:prstGeom>
          <a:solidFill>
            <a:srgbClr val="E8F6EE"/>
          </a:solidFill>
          <a:ln w="25400">
            <a:solidFill>
              <a:srgbClr val="FFFFFF"/>
            </a:solidFill>
            <a:prstDash val="solid"/>
          </a:ln>
        </p:spPr>
      </p:sp>
      <p:sp>
        <p:nvSpPr>
          <p:cNvPr id="93" name="Text 91"/>
          <p:cNvSpPr/>
          <p:nvPr/>
        </p:nvSpPr>
        <p:spPr>
          <a:xfrm>
            <a:off x="10012680" y="4005072"/>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4</a:t>
            </a:r>
            <a:endParaRPr lang="en-US" sz="850" dirty="0"/>
          </a:p>
        </p:txBody>
      </p:sp>
      <p:sp>
        <p:nvSpPr>
          <p:cNvPr id="94" name="Shape 92"/>
          <p:cNvSpPr/>
          <p:nvPr/>
        </p:nvSpPr>
        <p:spPr>
          <a:xfrm>
            <a:off x="10616184" y="4005072"/>
            <a:ext cx="566928" cy="530352"/>
          </a:xfrm>
          <a:prstGeom prst="rect">
            <a:avLst/>
          </a:prstGeom>
          <a:solidFill>
            <a:srgbClr val="FBF2DC"/>
          </a:solidFill>
          <a:ln w="25400">
            <a:solidFill>
              <a:srgbClr val="FFFFFF"/>
            </a:solidFill>
            <a:prstDash val="solid"/>
          </a:ln>
        </p:spPr>
      </p:sp>
      <p:sp>
        <p:nvSpPr>
          <p:cNvPr id="95" name="Text 93"/>
          <p:cNvSpPr/>
          <p:nvPr/>
        </p:nvSpPr>
        <p:spPr>
          <a:xfrm>
            <a:off x="10616184" y="4005072"/>
            <a:ext cx="566928" cy="530352"/>
          </a:xfrm>
          <a:prstGeom prst="rect">
            <a:avLst/>
          </a:prstGeom>
          <a:noFill/>
          <a:ln/>
        </p:spPr>
        <p:txBody>
          <a:bodyPr wrap="square" lIns="0" tIns="0" rIns="0" bIns="0" rtlCol="0" anchor="ctr"/>
          <a:lstStyle/>
          <a:p>
            <a:pPr algn="ctr" indent="0" marL="0">
              <a:buNone/>
            </a:pPr>
            <a:r>
              <a:rPr lang="en-US" sz="850" dirty="0">
                <a:solidFill>
                  <a:srgbClr val="667788"/>
                </a:solidFill>
                <a:latin typeface="Calibri" pitchFamily="34" charset="0"/>
                <a:ea typeface="Calibri" pitchFamily="34" charset="-122"/>
                <a:cs typeface="Calibri" pitchFamily="34" charset="-120"/>
              </a:rPr>
              <a:t>5</a:t>
            </a:r>
            <a:endParaRPr lang="en-US" sz="850" dirty="0"/>
          </a:p>
        </p:txBody>
      </p:sp>
      <p:sp>
        <p:nvSpPr>
          <p:cNvPr id="96" name="Text 94"/>
          <p:cNvSpPr/>
          <p:nvPr/>
        </p:nvSpPr>
        <p:spPr>
          <a:xfrm>
            <a:off x="8202168" y="4572000"/>
            <a:ext cx="566928" cy="237744"/>
          </a:xfrm>
          <a:prstGeom prst="rect">
            <a:avLst/>
          </a:prstGeom>
          <a:noFill/>
          <a:ln/>
        </p:spPr>
        <p:txBody>
          <a:bodyPr wrap="square" lIns="0" tIns="0" rIns="0" bIns="0" rtlCol="0" anchor="ctr"/>
          <a:lstStyle/>
          <a:p>
            <a:pPr algn="ctr" indent="0" marL="0">
              <a:buNone/>
            </a:pPr>
            <a:r>
              <a:rPr lang="en-US" sz="950" b="1" dirty="0">
                <a:solidFill>
                  <a:srgbClr val="5D7186"/>
                </a:solidFill>
                <a:latin typeface="Calibri" pitchFamily="34" charset="0"/>
                <a:ea typeface="Calibri" pitchFamily="34" charset="-122"/>
                <a:cs typeface="Calibri" pitchFamily="34" charset="-120"/>
              </a:rPr>
              <a:t>1</a:t>
            </a:r>
            <a:endParaRPr lang="en-US" sz="950" dirty="0"/>
          </a:p>
        </p:txBody>
      </p:sp>
      <p:sp>
        <p:nvSpPr>
          <p:cNvPr id="97" name="Text 95"/>
          <p:cNvSpPr/>
          <p:nvPr/>
        </p:nvSpPr>
        <p:spPr>
          <a:xfrm>
            <a:off x="8805672" y="4572000"/>
            <a:ext cx="566928" cy="237744"/>
          </a:xfrm>
          <a:prstGeom prst="rect">
            <a:avLst/>
          </a:prstGeom>
          <a:noFill/>
          <a:ln/>
        </p:spPr>
        <p:txBody>
          <a:bodyPr wrap="square" lIns="0" tIns="0" rIns="0" bIns="0" rtlCol="0" anchor="ctr"/>
          <a:lstStyle/>
          <a:p>
            <a:pPr algn="ctr" indent="0" marL="0">
              <a:buNone/>
            </a:pPr>
            <a:r>
              <a:rPr lang="en-US" sz="950" b="1" dirty="0">
                <a:solidFill>
                  <a:srgbClr val="5D7186"/>
                </a:solidFill>
                <a:latin typeface="Calibri" pitchFamily="34" charset="0"/>
                <a:ea typeface="Calibri" pitchFamily="34" charset="-122"/>
                <a:cs typeface="Calibri" pitchFamily="34" charset="-120"/>
              </a:rPr>
              <a:t>2</a:t>
            </a:r>
            <a:endParaRPr lang="en-US" sz="950" dirty="0"/>
          </a:p>
        </p:txBody>
      </p:sp>
      <p:sp>
        <p:nvSpPr>
          <p:cNvPr id="98" name="Text 96"/>
          <p:cNvSpPr/>
          <p:nvPr/>
        </p:nvSpPr>
        <p:spPr>
          <a:xfrm>
            <a:off x="9409176" y="4572000"/>
            <a:ext cx="566928" cy="237744"/>
          </a:xfrm>
          <a:prstGeom prst="rect">
            <a:avLst/>
          </a:prstGeom>
          <a:noFill/>
          <a:ln/>
        </p:spPr>
        <p:txBody>
          <a:bodyPr wrap="square" lIns="0" tIns="0" rIns="0" bIns="0" rtlCol="0" anchor="ctr"/>
          <a:lstStyle/>
          <a:p>
            <a:pPr algn="ctr" indent="0" marL="0">
              <a:buNone/>
            </a:pPr>
            <a:r>
              <a:rPr lang="en-US" sz="950" b="1" dirty="0">
                <a:solidFill>
                  <a:srgbClr val="5D7186"/>
                </a:solidFill>
                <a:latin typeface="Calibri" pitchFamily="34" charset="0"/>
                <a:ea typeface="Calibri" pitchFamily="34" charset="-122"/>
                <a:cs typeface="Calibri" pitchFamily="34" charset="-120"/>
              </a:rPr>
              <a:t>3</a:t>
            </a:r>
            <a:endParaRPr lang="en-US" sz="950" dirty="0"/>
          </a:p>
        </p:txBody>
      </p:sp>
      <p:sp>
        <p:nvSpPr>
          <p:cNvPr id="99" name="Text 97"/>
          <p:cNvSpPr/>
          <p:nvPr/>
        </p:nvSpPr>
        <p:spPr>
          <a:xfrm>
            <a:off x="10012680" y="4572000"/>
            <a:ext cx="566928" cy="237744"/>
          </a:xfrm>
          <a:prstGeom prst="rect">
            <a:avLst/>
          </a:prstGeom>
          <a:noFill/>
          <a:ln/>
        </p:spPr>
        <p:txBody>
          <a:bodyPr wrap="square" lIns="0" tIns="0" rIns="0" bIns="0" rtlCol="0" anchor="ctr"/>
          <a:lstStyle/>
          <a:p>
            <a:pPr algn="ctr" indent="0" marL="0">
              <a:buNone/>
            </a:pPr>
            <a:r>
              <a:rPr lang="en-US" sz="950" b="1" dirty="0">
                <a:solidFill>
                  <a:srgbClr val="5D7186"/>
                </a:solidFill>
                <a:latin typeface="Calibri" pitchFamily="34" charset="0"/>
                <a:ea typeface="Calibri" pitchFamily="34" charset="-122"/>
                <a:cs typeface="Calibri" pitchFamily="34" charset="-120"/>
              </a:rPr>
              <a:t>4</a:t>
            </a:r>
            <a:endParaRPr lang="en-US" sz="950" dirty="0"/>
          </a:p>
        </p:txBody>
      </p:sp>
      <p:sp>
        <p:nvSpPr>
          <p:cNvPr id="100" name="Text 98"/>
          <p:cNvSpPr/>
          <p:nvPr/>
        </p:nvSpPr>
        <p:spPr>
          <a:xfrm>
            <a:off x="10616184" y="4572000"/>
            <a:ext cx="566928" cy="237744"/>
          </a:xfrm>
          <a:prstGeom prst="rect">
            <a:avLst/>
          </a:prstGeom>
          <a:noFill/>
          <a:ln/>
        </p:spPr>
        <p:txBody>
          <a:bodyPr wrap="square" lIns="0" tIns="0" rIns="0" bIns="0" rtlCol="0" anchor="ctr"/>
          <a:lstStyle/>
          <a:p>
            <a:pPr algn="ctr" indent="0" marL="0">
              <a:buNone/>
            </a:pPr>
            <a:r>
              <a:rPr lang="en-US" sz="950" b="1" dirty="0">
                <a:solidFill>
                  <a:srgbClr val="5D7186"/>
                </a:solidFill>
                <a:latin typeface="Calibri" pitchFamily="34" charset="0"/>
                <a:ea typeface="Calibri" pitchFamily="34" charset="-122"/>
                <a:cs typeface="Calibri" pitchFamily="34" charset="-120"/>
              </a:rPr>
              <a:t>5</a:t>
            </a:r>
            <a:endParaRPr lang="en-US" sz="950" dirty="0"/>
          </a:p>
        </p:txBody>
      </p:sp>
      <p:sp>
        <p:nvSpPr>
          <p:cNvPr id="101" name="Text 99"/>
          <p:cNvSpPr/>
          <p:nvPr/>
        </p:nvSpPr>
        <p:spPr>
          <a:xfrm>
            <a:off x="8202168" y="4828032"/>
            <a:ext cx="3017520" cy="256032"/>
          </a:xfrm>
          <a:prstGeom prst="rect">
            <a:avLst/>
          </a:prstGeom>
          <a:noFill/>
          <a:ln/>
        </p:spPr>
        <p:txBody>
          <a:bodyPr wrap="square" lIns="0" tIns="0" rIns="0" bIns="0" rtlCol="0" anchor="ctr"/>
          <a:lstStyle/>
          <a:p>
            <a:pPr algn="ctr" indent="0" marL="0">
              <a:buNone/>
            </a:pPr>
            <a:r>
              <a:rPr lang="en-US" sz="1000" b="1" dirty="0">
                <a:solidFill>
                  <a:srgbClr val="5D7186"/>
                </a:solidFill>
                <a:latin typeface="Calibri" pitchFamily="34" charset="0"/>
                <a:ea typeface="Calibri" pitchFamily="34" charset="-122"/>
                <a:cs typeface="Calibri" pitchFamily="34" charset="-120"/>
              </a:rPr>
              <a:t>Likelihood</a:t>
            </a:r>
            <a:endParaRPr lang="en-US" sz="1000" dirty="0"/>
          </a:p>
        </p:txBody>
      </p:sp>
      <p:sp>
        <p:nvSpPr>
          <p:cNvPr id="102" name="Text 100"/>
          <p:cNvSpPr/>
          <p:nvPr/>
        </p:nvSpPr>
        <p:spPr>
          <a:xfrm>
            <a:off x="566928" y="5797296"/>
            <a:ext cx="11064240" cy="274320"/>
          </a:xfrm>
          <a:prstGeom prst="rect">
            <a:avLst/>
          </a:prstGeom>
          <a:noFill/>
          <a:ln/>
        </p:spPr>
        <p:txBody>
          <a:bodyPr wrap="square" lIns="0" tIns="0" rIns="0" bIns="0" rtlCol="0" anchor="ctr"/>
          <a:lstStyle/>
          <a:p>
            <a:pPr indent="0" marL="0">
              <a:buNone/>
            </a:pPr>
            <a:r>
              <a:rPr lang="en-US" sz="1100" i="1" dirty="0">
                <a:solidFill>
                  <a:srgbClr val="5D7186"/>
                </a:solidFill>
                <a:latin typeface="Calibri" pitchFamily="34" charset="0"/>
                <a:ea typeface="Calibri" pitchFamily="34" charset="-122"/>
                <a:cs typeface="Calibri" pitchFamily="34" charset="-120"/>
              </a:rPr>
              <a:t>Score ≥ 10 → full test coverage.  Score 6–9 → sample-based coverage.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BACKUP · L2 · VALIDATION LOOP AND WORST-FIRST CASCADE</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Detailed process inside the app</a:t>
            </a:r>
            <a:endParaRPr lang="en-US" sz="2700" dirty="0"/>
          </a:p>
        </p:txBody>
      </p:sp>
      <p:pic>
        <p:nvPicPr>
          <p:cNvPr id="4" name="Image 0" descr="workflow-app-detail.png">    </p:cNvPr>
          <p:cNvPicPr>
            <a:picLocks noChangeAspect="1"/>
          </p:cNvPicPr>
          <p:nvPr/>
        </p:nvPicPr>
        <p:blipFill>
          <a:blip r:embed="rId1"/>
          <a:stretch>
            <a:fillRect/>
          </a:stretch>
        </p:blipFill>
        <p:spPr>
          <a:xfrm>
            <a:off x="836676" y="1536192"/>
            <a:ext cx="10515600" cy="487510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BACKUP · L3 / L4</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The FHIR interface — a real transaction bundle, not a download</a:t>
            </a:r>
            <a:endParaRPr lang="en-US" sz="2700" dirty="0"/>
          </a:p>
        </p:txBody>
      </p:sp>
      <p:sp>
        <p:nvSpPr>
          <p:cNvPr id="4" name="Shape 2"/>
          <p:cNvSpPr/>
          <p:nvPr/>
        </p:nvSpPr>
        <p:spPr>
          <a:xfrm>
            <a:off x="566928" y="1627632"/>
            <a:ext cx="11064240" cy="749808"/>
          </a:xfrm>
          <a:prstGeom prst="roundRect">
            <a:avLst>
              <a:gd name="adj" fmla="val 10976"/>
            </a:avLst>
          </a:prstGeom>
          <a:solidFill>
            <a:srgbClr val="FFFFFF"/>
          </a:solidFill>
          <a:ln w="12700">
            <a:solidFill>
              <a:srgbClr val="DDE5EE"/>
            </a:solidFill>
            <a:prstDash val="solid"/>
          </a:ln>
        </p:spPr>
      </p:sp>
      <p:sp>
        <p:nvSpPr>
          <p:cNvPr id="5" name="Text 3"/>
          <p:cNvSpPr/>
          <p:nvPr/>
        </p:nvSpPr>
        <p:spPr>
          <a:xfrm>
            <a:off x="822960" y="1627632"/>
            <a:ext cx="2834640" cy="749808"/>
          </a:xfrm>
          <a:prstGeom prst="rect">
            <a:avLst/>
          </a:prstGeom>
          <a:noFill/>
          <a:ln/>
        </p:spPr>
        <p:txBody>
          <a:bodyPr wrap="square" lIns="0" tIns="0" rIns="0" bIns="0" rtlCol="0" anchor="ctr"/>
          <a:lstStyle/>
          <a:p>
            <a:pPr indent="0" marL="0">
              <a:buNone/>
            </a:pPr>
            <a:r>
              <a:rPr lang="en-US" sz="1250" b="1" dirty="0">
                <a:solidFill>
                  <a:srgbClr val="12202E"/>
                </a:solidFill>
                <a:latin typeface="Calibri" pitchFamily="34" charset="0"/>
                <a:ea typeface="Calibri" pitchFamily="34" charset="-122"/>
                <a:cs typeface="Calibri" pitchFamily="34" charset="-120"/>
              </a:rPr>
              <a:t>QuestionnaireResponse</a:t>
            </a:r>
            <a:endParaRPr lang="en-US" sz="1250" dirty="0"/>
          </a:p>
        </p:txBody>
      </p:sp>
      <p:sp>
        <p:nvSpPr>
          <p:cNvPr id="6" name="Text 4"/>
          <p:cNvSpPr/>
          <p:nvPr/>
        </p:nvSpPr>
        <p:spPr>
          <a:xfrm>
            <a:off x="3767328" y="1627632"/>
            <a:ext cx="5943600" cy="749808"/>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every answer, typed and terminology-coded; canonical carries the L3 version</a:t>
            </a:r>
            <a:endParaRPr lang="en-US" sz="1100" dirty="0"/>
          </a:p>
        </p:txBody>
      </p:sp>
      <p:sp>
        <p:nvSpPr>
          <p:cNvPr id="7" name="Text 5"/>
          <p:cNvSpPr/>
          <p:nvPr/>
        </p:nvSpPr>
        <p:spPr>
          <a:xfrm>
            <a:off x="9665208" y="1627632"/>
            <a:ext cx="1691640" cy="749808"/>
          </a:xfrm>
          <a:prstGeom prst="rect">
            <a:avLst/>
          </a:prstGeom>
          <a:noFill/>
          <a:ln/>
        </p:spPr>
        <p:txBody>
          <a:bodyPr wrap="square" lIns="0" tIns="0" rIns="0" bIns="0" rtlCol="0" anchor="ctr"/>
          <a:lstStyle/>
          <a:p>
            <a:pPr algn="r" indent="0" marL="0">
              <a:buNone/>
            </a:pPr>
            <a:r>
              <a:rPr lang="en-US" sz="1000" i="1" dirty="0">
                <a:solidFill>
                  <a:srgbClr val="5D7186"/>
                </a:solidFill>
                <a:latin typeface="Calibri" pitchFamily="34" charset="0"/>
                <a:ea typeface="Calibri" pitchFamily="34" charset="-122"/>
                <a:cs typeface="Calibri" pitchFamily="34" charset="-120"/>
              </a:rPr>
              <a:t>every run</a:t>
            </a:r>
            <a:endParaRPr lang="en-US" sz="1000" dirty="0"/>
          </a:p>
        </p:txBody>
      </p:sp>
      <p:sp>
        <p:nvSpPr>
          <p:cNvPr id="8" name="Shape 6"/>
          <p:cNvSpPr/>
          <p:nvPr/>
        </p:nvSpPr>
        <p:spPr>
          <a:xfrm>
            <a:off x="566928" y="2487168"/>
            <a:ext cx="11064240" cy="749808"/>
          </a:xfrm>
          <a:prstGeom prst="roundRect">
            <a:avLst>
              <a:gd name="adj" fmla="val 10976"/>
            </a:avLst>
          </a:prstGeom>
          <a:solidFill>
            <a:srgbClr val="FFFFFF"/>
          </a:solidFill>
          <a:ln w="12700">
            <a:solidFill>
              <a:srgbClr val="DDE5EE"/>
            </a:solidFill>
            <a:prstDash val="solid"/>
          </a:ln>
        </p:spPr>
      </p:sp>
      <p:sp>
        <p:nvSpPr>
          <p:cNvPr id="9" name="Text 7"/>
          <p:cNvSpPr/>
          <p:nvPr/>
        </p:nvSpPr>
        <p:spPr>
          <a:xfrm>
            <a:off x="822960" y="2487168"/>
            <a:ext cx="2834640" cy="749808"/>
          </a:xfrm>
          <a:prstGeom prst="rect">
            <a:avLst/>
          </a:prstGeom>
          <a:noFill/>
          <a:ln/>
        </p:spPr>
        <p:txBody>
          <a:bodyPr wrap="square" lIns="0" tIns="0" rIns="0" bIns="0" rtlCol="0" anchor="ctr"/>
          <a:lstStyle/>
          <a:p>
            <a:pPr indent="0" marL="0">
              <a:buNone/>
            </a:pPr>
            <a:r>
              <a:rPr lang="en-US" sz="1250" b="1" dirty="0">
                <a:solidFill>
                  <a:srgbClr val="12202E"/>
                </a:solidFill>
                <a:latin typeface="Calibri" pitchFamily="34" charset="0"/>
                <a:ea typeface="Calibri" pitchFamily="34" charset="-122"/>
                <a:cs typeface="Calibri" pitchFamily="34" charset="-120"/>
              </a:rPr>
              <a:t>Observation</a:t>
            </a:r>
            <a:endParaRPr lang="en-US" sz="1250" dirty="0"/>
          </a:p>
        </p:txBody>
      </p:sp>
      <p:sp>
        <p:nvSpPr>
          <p:cNvPr id="10" name="Text 8"/>
          <p:cNvSpPr/>
          <p:nvPr/>
        </p:nvSpPr>
        <p:spPr>
          <a:xfrm>
            <a:off x="3767328" y="2487168"/>
            <a:ext cx="5943600" cy="749808"/>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traffic light, Southampton grade, triggering rule, L3 version, days post-op</a:t>
            </a:r>
            <a:endParaRPr lang="en-US" sz="1100" dirty="0"/>
          </a:p>
        </p:txBody>
      </p:sp>
      <p:sp>
        <p:nvSpPr>
          <p:cNvPr id="11" name="Text 9"/>
          <p:cNvSpPr/>
          <p:nvPr/>
        </p:nvSpPr>
        <p:spPr>
          <a:xfrm>
            <a:off x="9665208" y="2487168"/>
            <a:ext cx="1691640" cy="749808"/>
          </a:xfrm>
          <a:prstGeom prst="rect">
            <a:avLst/>
          </a:prstGeom>
          <a:noFill/>
          <a:ln/>
        </p:spPr>
        <p:txBody>
          <a:bodyPr wrap="square" lIns="0" tIns="0" rIns="0" bIns="0" rtlCol="0" anchor="ctr"/>
          <a:lstStyle/>
          <a:p>
            <a:pPr algn="r" indent="0" marL="0">
              <a:buNone/>
            </a:pPr>
            <a:r>
              <a:rPr lang="en-US" sz="1000" i="1" dirty="0">
                <a:solidFill>
                  <a:srgbClr val="5D7186"/>
                </a:solidFill>
                <a:latin typeface="Calibri" pitchFamily="34" charset="0"/>
                <a:ea typeface="Calibri" pitchFamily="34" charset="-122"/>
                <a:cs typeface="Calibri" pitchFamily="34" charset="-120"/>
              </a:rPr>
              <a:t>every run</a:t>
            </a:r>
            <a:endParaRPr lang="en-US" sz="1000" dirty="0"/>
          </a:p>
        </p:txBody>
      </p:sp>
      <p:sp>
        <p:nvSpPr>
          <p:cNvPr id="12" name="Shape 10"/>
          <p:cNvSpPr/>
          <p:nvPr/>
        </p:nvSpPr>
        <p:spPr>
          <a:xfrm>
            <a:off x="566928" y="3346704"/>
            <a:ext cx="11064240" cy="749808"/>
          </a:xfrm>
          <a:prstGeom prst="roundRect">
            <a:avLst>
              <a:gd name="adj" fmla="val 10976"/>
            </a:avLst>
          </a:prstGeom>
          <a:solidFill>
            <a:srgbClr val="FCEADB"/>
          </a:solidFill>
          <a:ln w="12700">
            <a:solidFill>
              <a:srgbClr val="F0C19A"/>
            </a:solidFill>
            <a:prstDash val="solid"/>
          </a:ln>
        </p:spPr>
      </p:sp>
      <p:sp>
        <p:nvSpPr>
          <p:cNvPr id="13" name="Text 11"/>
          <p:cNvSpPr/>
          <p:nvPr/>
        </p:nvSpPr>
        <p:spPr>
          <a:xfrm>
            <a:off x="822960" y="3346704"/>
            <a:ext cx="2834640" cy="749808"/>
          </a:xfrm>
          <a:prstGeom prst="rect">
            <a:avLst/>
          </a:prstGeom>
          <a:noFill/>
          <a:ln/>
        </p:spPr>
        <p:txBody>
          <a:bodyPr wrap="square" lIns="0" tIns="0" rIns="0" bIns="0" rtlCol="0" anchor="ctr"/>
          <a:lstStyle/>
          <a:p>
            <a:pPr indent="0" marL="0">
              <a:buNone/>
            </a:pPr>
            <a:r>
              <a:rPr lang="en-US" sz="1250" b="1" dirty="0">
                <a:solidFill>
                  <a:srgbClr val="C25C07"/>
                </a:solidFill>
                <a:latin typeface="Calibri" pitchFamily="34" charset="0"/>
                <a:ea typeface="Calibri" pitchFamily="34" charset="-122"/>
                <a:cs typeface="Calibri" pitchFamily="34" charset="-120"/>
              </a:rPr>
              <a:t>Communication</a:t>
            </a:r>
            <a:endParaRPr lang="en-US" sz="1250" dirty="0"/>
          </a:p>
        </p:txBody>
      </p:sp>
      <p:sp>
        <p:nvSpPr>
          <p:cNvPr id="14" name="Text 12"/>
          <p:cNvSpPr/>
          <p:nvPr/>
        </p:nvSpPr>
        <p:spPr>
          <a:xfrm>
            <a:off x="3767328" y="3346704"/>
            <a:ext cx="5943600" cy="749808"/>
          </a:xfrm>
          <a:prstGeom prst="rect">
            <a:avLst/>
          </a:prstGeom>
          <a:noFill/>
          <a:ln/>
        </p:spPr>
        <p:txBody>
          <a:bodyPr wrap="square" lIns="0" tIns="0" rIns="0" bIns="0" rtlCol="0" anchor="ctr"/>
          <a:lstStyle/>
          <a:p>
            <a:pPr indent="0" marL="0">
              <a:buNone/>
            </a:pPr>
            <a:r>
              <a:rPr lang="en-US" sz="1100" dirty="0">
                <a:solidFill>
                  <a:srgbClr val="5D7186"/>
                </a:solidFill>
                <a:latin typeface="Calibri" pitchFamily="34" charset="0"/>
                <a:ea typeface="Calibri" pitchFamily="34" charset="-122"/>
                <a:cs typeface="Calibri" pitchFamily="34" charset="-120"/>
              </a:rPr>
              <a:t>structured alert, priority urgent (ORANGE) or stat (RED)</a:t>
            </a:r>
            <a:endParaRPr lang="en-US" sz="1100" dirty="0"/>
          </a:p>
        </p:txBody>
      </p:sp>
      <p:sp>
        <p:nvSpPr>
          <p:cNvPr id="15" name="Text 13"/>
          <p:cNvSpPr/>
          <p:nvPr/>
        </p:nvSpPr>
        <p:spPr>
          <a:xfrm>
            <a:off x="9665208" y="3346704"/>
            <a:ext cx="1691640" cy="749808"/>
          </a:xfrm>
          <a:prstGeom prst="rect">
            <a:avLst/>
          </a:prstGeom>
          <a:noFill/>
          <a:ln/>
        </p:spPr>
        <p:txBody>
          <a:bodyPr wrap="square" lIns="0" tIns="0" rIns="0" bIns="0" rtlCol="0" anchor="ctr"/>
          <a:lstStyle/>
          <a:p>
            <a:pPr algn="r" indent="0" marL="0">
              <a:buNone/>
            </a:pPr>
            <a:r>
              <a:rPr lang="en-US" sz="1000" i="1" dirty="0">
                <a:solidFill>
                  <a:srgbClr val="5D7186"/>
                </a:solidFill>
                <a:latin typeface="Calibri" pitchFamily="34" charset="0"/>
                <a:ea typeface="Calibri" pitchFamily="34" charset="-122"/>
                <a:cs typeface="Calibri" pitchFamily="34" charset="-120"/>
              </a:rPr>
              <a:t>ORANGE / RED only</a:t>
            </a:r>
            <a:endParaRPr lang="en-US" sz="1000" dirty="0"/>
          </a:p>
        </p:txBody>
      </p:sp>
      <p:sp>
        <p:nvSpPr>
          <p:cNvPr id="16" name="Shape 14"/>
          <p:cNvSpPr/>
          <p:nvPr/>
        </p:nvSpPr>
        <p:spPr>
          <a:xfrm>
            <a:off x="566928" y="4279392"/>
            <a:ext cx="11064240" cy="1737360"/>
          </a:xfrm>
          <a:prstGeom prst="roundRect">
            <a:avLst>
              <a:gd name="adj" fmla="val 4737"/>
            </a:avLst>
          </a:prstGeom>
          <a:solidFill>
            <a:srgbClr val="12202E"/>
          </a:solidFill>
          <a:ln w="12700">
            <a:solidFill>
              <a:srgbClr val="12202E"/>
            </a:solidFill>
            <a:prstDash val="solid"/>
          </a:ln>
        </p:spPr>
      </p:sp>
      <p:sp>
        <p:nvSpPr>
          <p:cNvPr id="17" name="Text 15"/>
          <p:cNvSpPr/>
          <p:nvPr/>
        </p:nvSpPr>
        <p:spPr>
          <a:xfrm>
            <a:off x="859536" y="4462272"/>
            <a:ext cx="104241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endpoint is configuration, not code</a:t>
            </a:r>
            <a:endParaRPr lang="en-US" sz="1300" dirty="0"/>
          </a:p>
        </p:txBody>
      </p:sp>
      <p:sp>
        <p:nvSpPr>
          <p:cNvPr id="18" name="Text 16"/>
          <p:cNvSpPr/>
          <p:nvPr/>
        </p:nvSpPr>
        <p:spPr>
          <a:xfrm>
            <a:off x="859536" y="4791456"/>
            <a:ext cx="10424160" cy="640080"/>
          </a:xfrm>
          <a:prstGeom prst="rect">
            <a:avLst/>
          </a:prstGeom>
          <a:noFill/>
          <a:ln/>
        </p:spPr>
        <p:txBody>
          <a:bodyPr wrap="square" lIns="0" tIns="0" rIns="0" bIns="0" rtlCol="0" anchor="ctr"/>
          <a:lstStyle/>
          <a:p>
            <a:pPr indent="0" marL="0">
              <a:lnSpc>
                <a:spcPts val="1600"/>
              </a:lnSpc>
              <a:buNone/>
            </a:pPr>
            <a:r>
              <a:rPr lang="en-US" sz="1100" dirty="0">
                <a:solidFill>
                  <a:srgbClr val="C9D6E4"/>
                </a:solidFill>
                <a:latin typeface="Courier New" pitchFamily="34" charset="0"/>
                <a:ea typeface="Courier New" pitchFamily="34" charset="-122"/>
                <a:cs typeface="Courier New" pitchFamily="34" charset="-120"/>
              </a:rPr>
              <a:t>"fhir": { "endpoint": "https://…/baseR4", "patient_reference": "Patient/example",</a:t>
            </a:r>
            <a:endParaRPr lang="en-US" sz="1100" dirty="0"/>
          </a:p>
          <a:p>
            <a:pPr indent="0" marL="0">
              <a:lnSpc>
                <a:spcPts val="1600"/>
              </a:lnSpc>
              <a:buNone/>
            </a:pPr>
            <a:r>
              <a:rPr lang="en-US" sz="1100" dirty="0">
                <a:solidFill>
                  <a:srgbClr val="C9D6E4"/>
                </a:solidFill>
                <a:latin typeface="Courier New" pitchFamily="34" charset="0"/>
                <a:ea typeface="Courier New" pitchFamily="34" charset="-122"/>
                <a:cs typeface="Courier New" pitchFamily="34" charset="-120"/>
              </a:rPr>
              <a:t>          "alert_recipient": "Organization/practice", "send_mode": "transaction" }</a:t>
            </a:r>
            <a:endParaRPr lang="en-US" sz="1100" dirty="0"/>
          </a:p>
        </p:txBody>
      </p:sp>
      <p:sp>
        <p:nvSpPr>
          <p:cNvPr id="19" name="Text 17"/>
          <p:cNvSpPr/>
          <p:nvPr/>
        </p:nvSpPr>
        <p:spPr>
          <a:xfrm>
            <a:off x="859536" y="5486400"/>
            <a:ext cx="10424160" cy="411480"/>
          </a:xfrm>
          <a:prstGeom prst="rect">
            <a:avLst/>
          </a:prstGeom>
          <a:noFill/>
          <a:ln/>
        </p:spPr>
        <p:txBody>
          <a:bodyPr wrap="square" lIns="0" tIns="0" rIns="0" bIns="0" rtlCol="0" anchor="ctr"/>
          <a:lstStyle/>
          <a:p>
            <a:pPr indent="0" marL="0">
              <a:lnSpc>
                <a:spcPts val="1500"/>
              </a:lnSpc>
              <a:buNone/>
            </a:pPr>
            <a:r>
              <a:rPr lang="en-US" sz="1100" dirty="0">
                <a:solidFill>
                  <a:srgbClr val="8FA3B8"/>
                </a:solidFill>
                <a:latin typeface="Calibri" pitchFamily="34" charset="0"/>
                <a:ea typeface="Calibri" pitchFamily="34" charset="-122"/>
                <a:cs typeface="Calibri" pitchFamily="34" charset="-120"/>
              </a:rPr>
              <a:t>Redirecting to a hospital FHIR server or the Swiss EPD gateway is one line of JSON. If the endpoint is unreachable the bundle queues — the patient still gets the recommendation.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BACKUP · METHOD</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Traceability — one finding, all the way through</a:t>
            </a:r>
            <a:endParaRPr lang="en-US" sz="2700" dirty="0"/>
          </a:p>
        </p:txBody>
      </p:sp>
      <p:sp>
        <p:nvSpPr>
          <p:cNvPr id="4" name="Shape 2"/>
          <p:cNvSpPr/>
          <p:nvPr/>
        </p:nvSpPr>
        <p:spPr>
          <a:xfrm>
            <a:off x="566928" y="1645920"/>
            <a:ext cx="822960" cy="548640"/>
          </a:xfrm>
          <a:prstGeom prst="roundRect">
            <a:avLst>
              <a:gd name="adj" fmla="val 13333"/>
            </a:avLst>
          </a:prstGeom>
          <a:solidFill>
            <a:srgbClr val="F5F7FA"/>
          </a:solidFill>
          <a:ln w="12700">
            <a:solidFill>
              <a:srgbClr val="DDE5EE"/>
            </a:solidFill>
            <a:prstDash val="solid"/>
          </a:ln>
        </p:spPr>
      </p:sp>
      <p:sp>
        <p:nvSpPr>
          <p:cNvPr id="5" name="Text 3"/>
          <p:cNvSpPr/>
          <p:nvPr/>
        </p:nvSpPr>
        <p:spPr>
          <a:xfrm>
            <a:off x="566928" y="1645920"/>
            <a:ext cx="822960" cy="548640"/>
          </a:xfrm>
          <a:prstGeom prst="rect">
            <a:avLst/>
          </a:prstGeom>
          <a:noFill/>
          <a:ln/>
        </p:spPr>
        <p:txBody>
          <a:bodyPr wrap="square" lIns="0" tIns="0" rIns="0" bIns="0" rtlCol="0" anchor="ctr"/>
          <a:lstStyle/>
          <a:p>
            <a:pPr algn="ctr" indent="0" marL="0">
              <a:buNone/>
            </a:pPr>
            <a:r>
              <a:rPr lang="en-US" sz="1200" b="1" dirty="0">
                <a:solidFill>
                  <a:srgbClr val="5D7186"/>
                </a:solidFill>
                <a:latin typeface="Calibri" pitchFamily="34" charset="0"/>
                <a:ea typeface="Calibri" pitchFamily="34" charset="-122"/>
                <a:cs typeface="Calibri" pitchFamily="34" charset="-120"/>
              </a:rPr>
              <a:t>L1</a:t>
            </a:r>
            <a:endParaRPr lang="en-US" sz="1200" dirty="0"/>
          </a:p>
        </p:txBody>
      </p:sp>
      <p:sp>
        <p:nvSpPr>
          <p:cNvPr id="6" name="Text 4"/>
          <p:cNvSpPr/>
          <p:nvPr/>
        </p:nvSpPr>
        <p:spPr>
          <a:xfrm>
            <a:off x="1618488" y="1645920"/>
            <a:ext cx="9966960" cy="548640"/>
          </a:xfrm>
          <a:prstGeom prst="rect">
            <a:avLst/>
          </a:prstGeom>
          <a:noFill/>
          <a:ln/>
        </p:spPr>
        <p:txBody>
          <a:bodyPr wrap="square" lIns="0" tIns="0" rIns="0" bIns="0" rtlCol="0" anchor="ctr"/>
          <a:lstStyle/>
          <a:p>
            <a:pPr indent="0" marL="0">
              <a:buNone/>
            </a:pPr>
            <a:r>
              <a:rPr lang="en-US" sz="1350" dirty="0">
                <a:solidFill>
                  <a:srgbClr val="12202E"/>
                </a:solidFill>
                <a:latin typeface="Calibri" pitchFamily="34" charset="0"/>
                <a:ea typeface="Calibri" pitchFamily="34" charset="-122"/>
                <a:cs typeface="Calibri" pitchFamily="34" charset="-120"/>
              </a:rPr>
              <a:t>CDC/NHSN — “purulent drainage from the superficial incision”</a:t>
            </a:r>
            <a:endParaRPr lang="en-US" sz="1350" dirty="0"/>
          </a:p>
        </p:txBody>
      </p:sp>
      <p:sp>
        <p:nvSpPr>
          <p:cNvPr id="7" name="Text 5"/>
          <p:cNvSpPr/>
          <p:nvPr/>
        </p:nvSpPr>
        <p:spPr>
          <a:xfrm>
            <a:off x="886968" y="2194560"/>
            <a:ext cx="182880" cy="164592"/>
          </a:xfrm>
          <a:prstGeom prst="rect">
            <a:avLst/>
          </a:prstGeom>
          <a:noFill/>
          <a:ln/>
        </p:spPr>
        <p:txBody>
          <a:bodyPr wrap="square" lIns="0" tIns="0" rIns="0" bIns="0" rtlCol="0" anchor="ctr"/>
          <a:lstStyle/>
          <a:p>
            <a:pPr algn="ct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566928" y="2359152"/>
            <a:ext cx="822960" cy="548640"/>
          </a:xfrm>
          <a:prstGeom prst="roundRect">
            <a:avLst>
              <a:gd name="adj" fmla="val 13333"/>
            </a:avLst>
          </a:prstGeom>
          <a:solidFill>
            <a:srgbClr val="F5F7FA"/>
          </a:solidFill>
          <a:ln w="12700">
            <a:solidFill>
              <a:srgbClr val="DDE5EE"/>
            </a:solidFill>
            <a:prstDash val="solid"/>
          </a:ln>
        </p:spPr>
      </p:sp>
      <p:sp>
        <p:nvSpPr>
          <p:cNvPr id="9" name="Text 7"/>
          <p:cNvSpPr/>
          <p:nvPr/>
        </p:nvSpPr>
        <p:spPr>
          <a:xfrm>
            <a:off x="566928" y="2359152"/>
            <a:ext cx="822960" cy="548640"/>
          </a:xfrm>
          <a:prstGeom prst="rect">
            <a:avLst/>
          </a:prstGeom>
          <a:noFill/>
          <a:ln/>
        </p:spPr>
        <p:txBody>
          <a:bodyPr wrap="square" lIns="0" tIns="0" rIns="0" bIns="0" rtlCol="0" anchor="ctr"/>
          <a:lstStyle/>
          <a:p>
            <a:pPr algn="ctr" indent="0" marL="0">
              <a:buNone/>
            </a:pPr>
            <a:r>
              <a:rPr lang="en-US" sz="1200" b="1" dirty="0">
                <a:solidFill>
                  <a:srgbClr val="5D7186"/>
                </a:solidFill>
                <a:latin typeface="Calibri" pitchFamily="34" charset="0"/>
                <a:ea typeface="Calibri" pitchFamily="34" charset="-122"/>
                <a:cs typeface="Calibri" pitchFamily="34" charset="-120"/>
              </a:rPr>
              <a:t>L2</a:t>
            </a:r>
            <a:endParaRPr lang="en-US" sz="1200" dirty="0"/>
          </a:p>
        </p:txBody>
      </p:sp>
      <p:sp>
        <p:nvSpPr>
          <p:cNvPr id="10" name="Text 8"/>
          <p:cNvSpPr/>
          <p:nvPr/>
        </p:nvSpPr>
        <p:spPr>
          <a:xfrm>
            <a:off x="1618488" y="2359152"/>
            <a:ext cx="9966960" cy="548640"/>
          </a:xfrm>
          <a:prstGeom prst="rect">
            <a:avLst/>
          </a:prstGeom>
          <a:noFill/>
          <a:ln/>
        </p:spPr>
        <p:txBody>
          <a:bodyPr wrap="square" lIns="0" tIns="0" rIns="0" bIns="0" rtlCol="0" anchor="ctr"/>
          <a:lstStyle/>
          <a:p>
            <a:pPr indent="0" marL="0">
              <a:buNone/>
            </a:pPr>
            <a:r>
              <a:rPr lang="en-US" sz="1350" dirty="0">
                <a:solidFill>
                  <a:srgbClr val="12202E"/>
                </a:solidFill>
                <a:latin typeface="Calibri" pitchFamily="34" charset="0"/>
                <a:ea typeface="Calibri" pitchFamily="34" charset="-122"/>
                <a:cs typeface="Calibri" pitchFamily="34" charset="-120"/>
              </a:rPr>
              <a:t>DE-035 discharge · SNOMED 449736006 · rule R4 → ORANGE</a:t>
            </a:r>
            <a:endParaRPr lang="en-US" sz="1350" dirty="0"/>
          </a:p>
        </p:txBody>
      </p:sp>
      <p:sp>
        <p:nvSpPr>
          <p:cNvPr id="11" name="Text 9"/>
          <p:cNvSpPr/>
          <p:nvPr/>
        </p:nvSpPr>
        <p:spPr>
          <a:xfrm>
            <a:off x="886968" y="2907792"/>
            <a:ext cx="182880" cy="164592"/>
          </a:xfrm>
          <a:prstGeom prst="rect">
            <a:avLst/>
          </a:prstGeom>
          <a:noFill/>
          <a:ln/>
        </p:spPr>
        <p:txBody>
          <a:bodyPr wrap="square" lIns="0" tIns="0" rIns="0" bIns="0" rtlCol="0" anchor="ctr"/>
          <a:lstStyle/>
          <a:p>
            <a:pPr algn="ct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12" name="Shape 10"/>
          <p:cNvSpPr/>
          <p:nvPr/>
        </p:nvSpPr>
        <p:spPr>
          <a:xfrm>
            <a:off x="566928" y="3072384"/>
            <a:ext cx="822960" cy="548640"/>
          </a:xfrm>
          <a:prstGeom prst="roundRect">
            <a:avLst>
              <a:gd name="adj" fmla="val 13333"/>
            </a:avLst>
          </a:prstGeom>
          <a:solidFill>
            <a:srgbClr val="F5F7FA"/>
          </a:solidFill>
          <a:ln w="12700">
            <a:solidFill>
              <a:srgbClr val="DDE5EE"/>
            </a:solidFill>
            <a:prstDash val="solid"/>
          </a:ln>
        </p:spPr>
      </p:sp>
      <p:sp>
        <p:nvSpPr>
          <p:cNvPr id="13" name="Text 11"/>
          <p:cNvSpPr/>
          <p:nvPr/>
        </p:nvSpPr>
        <p:spPr>
          <a:xfrm>
            <a:off x="566928" y="3072384"/>
            <a:ext cx="822960" cy="548640"/>
          </a:xfrm>
          <a:prstGeom prst="rect">
            <a:avLst/>
          </a:prstGeom>
          <a:noFill/>
          <a:ln/>
        </p:spPr>
        <p:txBody>
          <a:bodyPr wrap="square" lIns="0" tIns="0" rIns="0" bIns="0" rtlCol="0" anchor="ctr"/>
          <a:lstStyle/>
          <a:p>
            <a:pPr algn="ctr" indent="0" marL="0">
              <a:buNone/>
            </a:pPr>
            <a:r>
              <a:rPr lang="en-US" sz="1200" b="1" dirty="0">
                <a:solidFill>
                  <a:srgbClr val="5D7186"/>
                </a:solidFill>
                <a:latin typeface="Calibri" pitchFamily="34" charset="0"/>
                <a:ea typeface="Calibri" pitchFamily="34" charset="-122"/>
                <a:cs typeface="Calibri" pitchFamily="34" charset="-120"/>
              </a:rPr>
              <a:t>L3</a:t>
            </a:r>
            <a:endParaRPr lang="en-US" sz="1200" dirty="0"/>
          </a:p>
        </p:txBody>
      </p:sp>
      <p:sp>
        <p:nvSpPr>
          <p:cNvPr id="14" name="Text 12"/>
          <p:cNvSpPr/>
          <p:nvPr/>
        </p:nvSpPr>
        <p:spPr>
          <a:xfrm>
            <a:off x="1618488" y="3072384"/>
            <a:ext cx="9966960" cy="548640"/>
          </a:xfrm>
          <a:prstGeom prst="rect">
            <a:avLst/>
          </a:prstGeom>
          <a:noFill/>
          <a:ln/>
        </p:spPr>
        <p:txBody>
          <a:bodyPr wrap="square" lIns="0" tIns="0" rIns="0" bIns="0" rtlCol="0" anchor="ctr"/>
          <a:lstStyle/>
          <a:p>
            <a:pPr indent="0" marL="0">
              <a:buNone/>
            </a:pPr>
            <a:r>
              <a:rPr lang="en-US" sz="1350" dirty="0">
                <a:solidFill>
                  <a:srgbClr val="12202E"/>
                </a:solidFill>
                <a:latin typeface="Calibri" pitchFamily="34" charset="0"/>
                <a:ea typeface="Calibri" pitchFamily="34" charset="-122"/>
                <a:cs typeface="Calibri" pitchFamily="34" charset="-120"/>
              </a:rPr>
              <a:t>"when": "secretion = 3 or secretion_smell = 1"</a:t>
            </a:r>
            <a:endParaRPr lang="en-US" sz="1350" dirty="0"/>
          </a:p>
        </p:txBody>
      </p:sp>
      <p:sp>
        <p:nvSpPr>
          <p:cNvPr id="15" name="Text 13"/>
          <p:cNvSpPr/>
          <p:nvPr/>
        </p:nvSpPr>
        <p:spPr>
          <a:xfrm>
            <a:off x="886968" y="3621024"/>
            <a:ext cx="182880" cy="164592"/>
          </a:xfrm>
          <a:prstGeom prst="rect">
            <a:avLst/>
          </a:prstGeom>
          <a:noFill/>
          <a:ln/>
        </p:spPr>
        <p:txBody>
          <a:bodyPr wrap="square" lIns="0" tIns="0" rIns="0" bIns="0" rtlCol="0" anchor="ctr"/>
          <a:lstStyle/>
          <a:p>
            <a:pPr algn="ct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16" name="Shape 14"/>
          <p:cNvSpPr/>
          <p:nvPr/>
        </p:nvSpPr>
        <p:spPr>
          <a:xfrm>
            <a:off x="566928" y="3785616"/>
            <a:ext cx="822960" cy="548640"/>
          </a:xfrm>
          <a:prstGeom prst="roundRect">
            <a:avLst>
              <a:gd name="adj" fmla="val 13333"/>
            </a:avLst>
          </a:prstGeom>
          <a:solidFill>
            <a:srgbClr val="C25C07"/>
          </a:solidFill>
          <a:ln w="12700">
            <a:solidFill>
              <a:srgbClr val="C25C07"/>
            </a:solidFill>
            <a:prstDash val="solid"/>
          </a:ln>
        </p:spPr>
      </p:sp>
      <p:sp>
        <p:nvSpPr>
          <p:cNvPr id="17" name="Text 15"/>
          <p:cNvSpPr/>
          <p:nvPr/>
        </p:nvSpPr>
        <p:spPr>
          <a:xfrm>
            <a:off x="566928" y="3785616"/>
            <a:ext cx="8229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L4</a:t>
            </a:r>
            <a:endParaRPr lang="en-US" sz="1200" dirty="0"/>
          </a:p>
        </p:txBody>
      </p:sp>
      <p:sp>
        <p:nvSpPr>
          <p:cNvPr id="18" name="Text 16"/>
          <p:cNvSpPr/>
          <p:nvPr/>
        </p:nvSpPr>
        <p:spPr>
          <a:xfrm>
            <a:off x="1618488" y="3785616"/>
            <a:ext cx="9966960" cy="548640"/>
          </a:xfrm>
          <a:prstGeom prst="rect">
            <a:avLst/>
          </a:prstGeom>
          <a:noFill/>
          <a:ln/>
        </p:spPr>
        <p:txBody>
          <a:bodyPr wrap="square" lIns="0" tIns="0" rIns="0" bIns="0" rtlCol="0" anchor="ctr"/>
          <a:lstStyle/>
          <a:p>
            <a:pPr indent="0" marL="0">
              <a:buNone/>
            </a:pPr>
            <a:r>
              <a:rPr lang="en-US" sz="1350" dirty="0">
                <a:solidFill>
                  <a:srgbClr val="12202E"/>
                </a:solidFill>
                <a:latin typeface="Calibri" pitchFamily="34" charset="0"/>
                <a:ea typeface="Calibri" pitchFamily="34" charset="-122"/>
                <a:cs typeface="Calibri" pitchFamily="34" charset="-120"/>
              </a:rPr>
              <a:t>image selection “cloudy / purulent” → SUSPECTED INFECTION</a:t>
            </a:r>
            <a:endParaRPr lang="en-US" sz="1350" dirty="0"/>
          </a:p>
        </p:txBody>
      </p:sp>
      <p:sp>
        <p:nvSpPr>
          <p:cNvPr id="19" name="Text 17"/>
          <p:cNvSpPr/>
          <p:nvPr/>
        </p:nvSpPr>
        <p:spPr>
          <a:xfrm>
            <a:off x="886968" y="4334256"/>
            <a:ext cx="182880" cy="164592"/>
          </a:xfrm>
          <a:prstGeom prst="rect">
            <a:avLst/>
          </a:prstGeom>
          <a:noFill/>
          <a:ln/>
        </p:spPr>
        <p:txBody>
          <a:bodyPr wrap="square" lIns="0" tIns="0" rIns="0" bIns="0" rtlCol="0" anchor="ctr"/>
          <a:lstStyle/>
          <a:p>
            <a:pPr algn="ct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566928" y="4498848"/>
            <a:ext cx="822960" cy="548640"/>
          </a:xfrm>
          <a:prstGeom prst="roundRect">
            <a:avLst>
              <a:gd name="adj" fmla="val 13333"/>
            </a:avLst>
          </a:prstGeom>
          <a:solidFill>
            <a:srgbClr val="1A7F4B"/>
          </a:solidFill>
          <a:ln w="12700">
            <a:solidFill>
              <a:srgbClr val="1A7F4B"/>
            </a:solidFill>
            <a:prstDash val="solid"/>
          </a:ln>
        </p:spPr>
      </p:sp>
      <p:sp>
        <p:nvSpPr>
          <p:cNvPr id="21" name="Text 19"/>
          <p:cNvSpPr/>
          <p:nvPr/>
        </p:nvSpPr>
        <p:spPr>
          <a:xfrm>
            <a:off x="566928" y="4498848"/>
            <a:ext cx="8229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QA</a:t>
            </a:r>
            <a:endParaRPr lang="en-US" sz="1200" dirty="0"/>
          </a:p>
        </p:txBody>
      </p:sp>
      <p:sp>
        <p:nvSpPr>
          <p:cNvPr id="22" name="Text 20"/>
          <p:cNvSpPr/>
          <p:nvPr/>
        </p:nvSpPr>
        <p:spPr>
          <a:xfrm>
            <a:off x="1618488" y="4498848"/>
            <a:ext cx="9966960" cy="548640"/>
          </a:xfrm>
          <a:prstGeom prst="rect">
            <a:avLst/>
          </a:prstGeom>
          <a:noFill/>
          <a:ln/>
        </p:spPr>
        <p:txBody>
          <a:bodyPr wrap="square" lIns="0" tIns="0" rIns="0" bIns="0" rtlCol="0" anchor="ctr"/>
          <a:lstStyle/>
          <a:p>
            <a:pPr indent="0" marL="0">
              <a:buNone/>
            </a:pPr>
            <a:r>
              <a:rPr lang="en-US" sz="1350" dirty="0">
                <a:solidFill>
                  <a:srgbClr val="12202E"/>
                </a:solidFill>
                <a:latin typeface="Calibri" pitchFamily="34" charset="0"/>
                <a:ea typeface="Calibri" pitchFamily="34" charset="-122"/>
                <a:cs typeface="Calibri" pitchFamily="34" charset="-120"/>
              </a:rPr>
              <a:t>T10, T15 — passed · challenge C-09 documents the severity/urgency split</a:t>
            </a:r>
            <a:endParaRPr lang="en-US" sz="1350" dirty="0"/>
          </a:p>
        </p:txBody>
      </p:sp>
      <p:sp>
        <p:nvSpPr>
          <p:cNvPr id="23" name="Text 21"/>
          <p:cNvSpPr/>
          <p:nvPr/>
        </p:nvSpPr>
        <p:spPr>
          <a:xfrm>
            <a:off x="886968" y="5047488"/>
            <a:ext cx="182880" cy="164592"/>
          </a:xfrm>
          <a:prstGeom prst="rect">
            <a:avLst/>
          </a:prstGeom>
          <a:noFill/>
          <a:ln/>
        </p:spPr>
        <p:txBody>
          <a:bodyPr wrap="square" lIns="0" tIns="0" rIns="0" bIns="0" rtlCol="0" anchor="ctr"/>
          <a:lstStyle/>
          <a:p>
            <a:pPr algn="ct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24" name="Shape 22"/>
          <p:cNvSpPr/>
          <p:nvPr/>
        </p:nvSpPr>
        <p:spPr>
          <a:xfrm>
            <a:off x="566928" y="5212080"/>
            <a:ext cx="822960" cy="548640"/>
          </a:xfrm>
          <a:prstGeom prst="roundRect">
            <a:avLst>
              <a:gd name="adj" fmla="val 13333"/>
            </a:avLst>
          </a:prstGeom>
          <a:solidFill>
            <a:srgbClr val="F5F7FA"/>
          </a:solidFill>
          <a:ln w="12700">
            <a:solidFill>
              <a:srgbClr val="DDE5EE"/>
            </a:solidFill>
            <a:prstDash val="solid"/>
          </a:ln>
        </p:spPr>
      </p:sp>
      <p:sp>
        <p:nvSpPr>
          <p:cNvPr id="25" name="Text 23"/>
          <p:cNvSpPr/>
          <p:nvPr/>
        </p:nvSpPr>
        <p:spPr>
          <a:xfrm>
            <a:off x="566928" y="5212080"/>
            <a:ext cx="822960" cy="548640"/>
          </a:xfrm>
          <a:prstGeom prst="rect">
            <a:avLst/>
          </a:prstGeom>
          <a:noFill/>
          <a:ln/>
        </p:spPr>
        <p:txBody>
          <a:bodyPr wrap="square" lIns="0" tIns="0" rIns="0" bIns="0" rtlCol="0" anchor="ctr"/>
          <a:lstStyle/>
          <a:p>
            <a:pPr algn="ctr" indent="0" marL="0">
              <a:buNone/>
            </a:pPr>
            <a:r>
              <a:rPr lang="en-US" sz="1200" b="1" dirty="0">
                <a:solidFill>
                  <a:srgbClr val="5D7186"/>
                </a:solidFill>
                <a:latin typeface="Calibri" pitchFamily="34" charset="0"/>
                <a:ea typeface="Calibri" pitchFamily="34" charset="-122"/>
                <a:cs typeface="Calibri" pitchFamily="34" charset="-120"/>
              </a:rPr>
              <a:t>FHIR</a:t>
            </a:r>
            <a:endParaRPr lang="en-US" sz="1200" dirty="0"/>
          </a:p>
        </p:txBody>
      </p:sp>
      <p:sp>
        <p:nvSpPr>
          <p:cNvPr id="26" name="Text 24"/>
          <p:cNvSpPr/>
          <p:nvPr/>
        </p:nvSpPr>
        <p:spPr>
          <a:xfrm>
            <a:off x="1618488" y="5212080"/>
            <a:ext cx="9966960" cy="548640"/>
          </a:xfrm>
          <a:prstGeom prst="rect">
            <a:avLst/>
          </a:prstGeom>
          <a:noFill/>
          <a:ln/>
        </p:spPr>
        <p:txBody>
          <a:bodyPr wrap="square" lIns="0" tIns="0" rIns="0" bIns="0" rtlCol="0" anchor="ctr"/>
          <a:lstStyle/>
          <a:p>
            <a:pPr indent="0" marL="0">
              <a:buNone/>
            </a:pPr>
            <a:r>
              <a:rPr lang="en-US" sz="1350" dirty="0">
                <a:solidFill>
                  <a:srgbClr val="12202E"/>
                </a:solidFill>
                <a:latin typeface="Calibri" pitchFamily="34" charset="0"/>
                <a:ea typeface="Calibri" pitchFamily="34" charset="-122"/>
                <a:cs typeface="Calibri" pitchFamily="34" charset="-120"/>
              </a:rPr>
              <a:t>QuestionnaireResponse.item[secretion] + Observation.component</a:t>
            </a:r>
            <a:endParaRPr lang="en-US" sz="1350" dirty="0"/>
          </a:p>
        </p:txBody>
      </p:sp>
      <p:sp>
        <p:nvSpPr>
          <p:cNvPr id="27" name="Text 25"/>
          <p:cNvSpPr/>
          <p:nvPr/>
        </p:nvSpPr>
        <p:spPr>
          <a:xfrm>
            <a:off x="566928" y="5943600"/>
            <a:ext cx="11064240" cy="274320"/>
          </a:xfrm>
          <a:prstGeom prst="rect">
            <a:avLst/>
          </a:prstGeom>
          <a:noFill/>
          <a:ln/>
        </p:spPr>
        <p:txBody>
          <a:bodyPr wrap="square" lIns="0" tIns="0" rIns="0" bIns="0" rtlCol="0" anchor="ctr"/>
          <a:lstStyle/>
          <a:p>
            <a:pPr indent="0" marL="0">
              <a:buNone/>
            </a:pPr>
            <a:r>
              <a:rPr lang="en-US" sz="1150" i="1" dirty="0">
                <a:solidFill>
                  <a:srgbClr val="5D7186"/>
                </a:solidFill>
                <a:latin typeface="Calibri" pitchFamily="34" charset="0"/>
                <a:ea typeface="Calibri" pitchFamily="34" charset="-122"/>
                <a:cs typeface="Calibri" pitchFamily="34" charset="-120"/>
              </a:rPr>
              <a:t>Every element, rule, challenge, hazard, test and defect carries an ID that is identical in all artefacts.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BACKUP · L3 · WUNDCHECK-L3.JSON V0.3.3</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The L3 in one screen — this file is the CDSS</a:t>
            </a:r>
            <a:endParaRPr lang="en-US" sz="2700" dirty="0"/>
          </a:p>
        </p:txBody>
      </p:sp>
      <p:sp>
        <p:nvSpPr>
          <p:cNvPr id="4" name="Shape 2"/>
          <p:cNvSpPr/>
          <p:nvPr/>
        </p:nvSpPr>
        <p:spPr>
          <a:xfrm>
            <a:off x="566928" y="1554480"/>
            <a:ext cx="7818120" cy="4617720"/>
          </a:xfrm>
          <a:prstGeom prst="roundRect">
            <a:avLst>
              <a:gd name="adj" fmla="val 1782"/>
            </a:avLst>
          </a:prstGeom>
          <a:solidFill>
            <a:srgbClr val="F5F7FA"/>
          </a:solidFill>
          <a:ln w="12700">
            <a:solidFill>
              <a:srgbClr val="DDE5EE"/>
            </a:solidFill>
            <a:prstDash val="solid"/>
          </a:ln>
        </p:spPr>
      </p:sp>
      <p:sp>
        <p:nvSpPr>
          <p:cNvPr id="5" name="Text 3"/>
          <p:cNvSpPr/>
          <p:nvPr/>
        </p:nvSpPr>
        <p:spPr>
          <a:xfrm>
            <a:off x="804672" y="1682496"/>
            <a:ext cx="7406640" cy="182880"/>
          </a:xfrm>
          <a:prstGeom prst="rect">
            <a:avLst/>
          </a:prstGeom>
          <a:noFill/>
          <a:ln/>
        </p:spPr>
        <p:txBody>
          <a:bodyPr wrap="square" lIns="0" tIns="0" rIns="0" bIns="0" rtlCol="0" anchor="ctr"/>
          <a:lstStyle/>
          <a:p>
            <a:pPr indent="0" marL="0">
              <a:buNone/>
            </a:pPr>
            <a:r>
              <a:rPr lang="en-US" sz="900" dirty="0">
                <a:solidFill>
                  <a:srgbClr val="5D7186"/>
                </a:solidFill>
                <a:latin typeface="Consolas" pitchFamily="34" charset="0"/>
                <a:ea typeface="Consolas" pitchFamily="34" charset="-122"/>
                <a:cs typeface="Consolas" pitchFamily="34" charset="-120"/>
              </a:rPr>
              <a:t>{ "meta": {</a:t>
            </a:r>
            <a:endParaRPr lang="en-US" sz="900" dirty="0"/>
          </a:p>
        </p:txBody>
      </p:sp>
      <p:sp>
        <p:nvSpPr>
          <p:cNvPr id="6" name="Text 4"/>
          <p:cNvSpPr/>
          <p:nvPr/>
        </p:nvSpPr>
        <p:spPr>
          <a:xfrm>
            <a:off x="804672" y="1872691"/>
            <a:ext cx="7406640" cy="182880"/>
          </a:xfrm>
          <a:prstGeom prst="rect">
            <a:avLst/>
          </a:prstGeom>
          <a:noFill/>
          <a:ln/>
        </p:spPr>
        <p:txBody>
          <a:bodyPr wrap="square" lIns="0" tIns="0" rIns="0" bIns="0" rtlCol="0" anchor="ctr"/>
          <a:lstStyle/>
          <a:p>
            <a:pPr indent="0" marL="0">
              <a:buNone/>
            </a:pPr>
            <a:r>
              <a:rPr lang="en-US" sz="900" dirty="0">
                <a:solidFill>
                  <a:srgbClr val="12202E"/>
                </a:solidFill>
                <a:latin typeface="Consolas" pitchFamily="34" charset="0"/>
                <a:ea typeface="Consolas" pitchFamily="34" charset="-122"/>
                <a:cs typeface="Consolas" pitchFamily="34" charset="-120"/>
              </a:rPr>
              <a:t>    "version": "0.3.3",  "languages": ["en","de"],  "default_language": "en",</a:t>
            </a:r>
            <a:endParaRPr lang="en-US" sz="900" dirty="0"/>
          </a:p>
        </p:txBody>
      </p:sp>
      <p:sp>
        <p:nvSpPr>
          <p:cNvPr id="7" name="Text 5"/>
          <p:cNvSpPr/>
          <p:nvPr/>
        </p:nvSpPr>
        <p:spPr>
          <a:xfrm>
            <a:off x="804672" y="2062886"/>
            <a:ext cx="7406640" cy="182880"/>
          </a:xfrm>
          <a:prstGeom prst="rect">
            <a:avLst/>
          </a:prstGeom>
          <a:noFill/>
          <a:ln/>
        </p:spPr>
        <p:txBody>
          <a:bodyPr wrap="square" lIns="0" tIns="0" rIns="0" bIns="0" rtlCol="0" anchor="ctr"/>
          <a:lstStyle/>
          <a:p>
            <a:pPr indent="0" marL="0">
              <a:buNone/>
            </a:pPr>
            <a:r>
              <a:rPr lang="en-US" sz="900" dirty="0">
                <a:solidFill>
                  <a:srgbClr val="12202E"/>
                </a:solidFill>
                <a:latin typeface="Consolas" pitchFamily="34" charset="0"/>
                <a:ea typeface="Consolas" pitchFamily="34" charset="-122"/>
                <a:cs typeface="Consolas" pitchFamily="34" charset="-120"/>
              </a:rPr>
              <a:t>    "l1_sources": [ CDC/NHSN · NICE NG125 · Southampton · Campwala 2019 ],</a:t>
            </a:r>
            <a:endParaRPr lang="en-US" sz="900" dirty="0"/>
          </a:p>
        </p:txBody>
      </p:sp>
      <p:sp>
        <p:nvSpPr>
          <p:cNvPr id="8" name="Text 6"/>
          <p:cNvSpPr/>
          <p:nvPr/>
        </p:nvSpPr>
        <p:spPr>
          <a:xfrm>
            <a:off x="804672" y="2253082"/>
            <a:ext cx="7406640" cy="182880"/>
          </a:xfrm>
          <a:prstGeom prst="rect">
            <a:avLst/>
          </a:prstGeom>
          <a:noFill/>
          <a:ln/>
        </p:spPr>
        <p:txBody>
          <a:bodyPr wrap="square" lIns="0" tIns="0" rIns="0" bIns="0" rtlCol="0" anchor="ctr"/>
          <a:lstStyle/>
          <a:p>
            <a:pPr indent="0" marL="0">
              <a:buNone/>
            </a:pPr>
            <a:r>
              <a:rPr lang="en-US" sz="900" dirty="0">
                <a:solidFill>
                  <a:srgbClr val="1A7F4B"/>
                </a:solidFill>
                <a:latin typeface="Consolas" pitchFamily="34" charset="0"/>
                <a:ea typeface="Consolas" pitchFamily="34" charset="-122"/>
                <a:cs typeface="Consolas" pitchFamily="34" charset="-120"/>
              </a:rPr>
              <a:t>    "thresholds": { "fever_orange": 38.0,   // CDC — deep incisional SSI</a:t>
            </a:r>
            <a:endParaRPr lang="en-US" sz="900" dirty="0"/>
          </a:p>
        </p:txBody>
      </p:sp>
      <p:sp>
        <p:nvSpPr>
          <p:cNvPr id="9" name="Text 7"/>
          <p:cNvSpPr/>
          <p:nvPr/>
        </p:nvSpPr>
        <p:spPr>
          <a:xfrm>
            <a:off x="804672" y="2443277"/>
            <a:ext cx="7406640" cy="182880"/>
          </a:xfrm>
          <a:prstGeom prst="rect">
            <a:avLst/>
          </a:prstGeom>
          <a:noFill/>
          <a:ln/>
        </p:spPr>
        <p:txBody>
          <a:bodyPr wrap="square" lIns="0" tIns="0" rIns="0" bIns="0" rtlCol="0" anchor="ctr"/>
          <a:lstStyle/>
          <a:p>
            <a:pPr indent="0" marL="0">
              <a:buNone/>
            </a:pPr>
            <a:r>
              <a:rPr lang="en-US" sz="900" dirty="0">
                <a:solidFill>
                  <a:srgbClr val="1A7F4B"/>
                </a:solidFill>
                <a:latin typeface="Consolas" pitchFamily="34" charset="0"/>
                <a:ea typeface="Consolas" pitchFamily="34" charset="-122"/>
                <a:cs typeface="Consolas" pitchFamily="34" charset="-120"/>
              </a:rPr>
              <a:t>                    "fever_red":    39.0,   // group decision — challenge C-07</a:t>
            </a:r>
            <a:endParaRPr lang="en-US" sz="900" dirty="0"/>
          </a:p>
        </p:txBody>
      </p:sp>
      <p:sp>
        <p:nvSpPr>
          <p:cNvPr id="10" name="Text 8"/>
          <p:cNvSpPr/>
          <p:nvPr/>
        </p:nvSpPr>
        <p:spPr>
          <a:xfrm>
            <a:off x="804672" y="2633472"/>
            <a:ext cx="7406640" cy="182880"/>
          </a:xfrm>
          <a:prstGeom prst="rect">
            <a:avLst/>
          </a:prstGeom>
          <a:noFill/>
          <a:ln/>
        </p:spPr>
        <p:txBody>
          <a:bodyPr wrap="square" lIns="0" tIns="0" rIns="0" bIns="0" rtlCol="0" anchor="ctr"/>
          <a:lstStyle/>
          <a:p>
            <a:pPr indent="0" marL="0">
              <a:buNone/>
            </a:pPr>
            <a:r>
              <a:rPr lang="en-US" sz="900" dirty="0">
                <a:solidFill>
                  <a:srgbClr val="1A7F4B"/>
                </a:solidFill>
                <a:latin typeface="Consolas" pitchFamily="34" charset="0"/>
                <a:ea typeface="Consolas" pitchFamily="34" charset="-122"/>
                <a:cs typeface="Consolas" pitchFamily="34" charset="-120"/>
              </a:rPr>
              <a:t>                    "normal_healing_days": 3 },  // group decision — C-03</a:t>
            </a:r>
            <a:endParaRPr lang="en-US" sz="900" dirty="0"/>
          </a:p>
        </p:txBody>
      </p:sp>
      <p:sp>
        <p:nvSpPr>
          <p:cNvPr id="11" name="Text 9"/>
          <p:cNvSpPr/>
          <p:nvPr/>
        </p:nvSpPr>
        <p:spPr>
          <a:xfrm>
            <a:off x="804672" y="2823667"/>
            <a:ext cx="7406640" cy="182880"/>
          </a:xfrm>
          <a:prstGeom prst="rect">
            <a:avLst/>
          </a:prstGeom>
          <a:noFill/>
          <a:ln/>
        </p:spPr>
        <p:txBody>
          <a:bodyPr wrap="square" lIns="0" tIns="0" rIns="0" bIns="0" rtlCol="0" anchor="ctr"/>
          <a:lstStyle/>
          <a:p>
            <a:pPr indent="0" marL="0">
              <a:buNone/>
            </a:pPr>
            <a:r>
              <a:rPr lang="en-US" sz="900" dirty="0">
                <a:solidFill>
                  <a:srgbClr val="C25C07"/>
                </a:solidFill>
                <a:latin typeface="Consolas" pitchFamily="34" charset="0"/>
                <a:ea typeface="Consolas" pitchFamily="34" charset="-122"/>
                <a:cs typeface="Consolas" pitchFamily="34" charset="-120"/>
              </a:rPr>
              <a:t>    "fhir": { "endpoint": "…/baseR4", "send_mode": "transaction" } },</a:t>
            </a:r>
            <a:endParaRPr lang="en-US" sz="900" dirty="0"/>
          </a:p>
        </p:txBody>
      </p:sp>
      <p:sp>
        <p:nvSpPr>
          <p:cNvPr id="12" name="Text 10"/>
          <p:cNvSpPr/>
          <p:nvPr/>
        </p:nvSpPr>
        <p:spPr>
          <a:xfrm>
            <a:off x="804672" y="3013862"/>
            <a:ext cx="7406640" cy="182880"/>
          </a:xfrm>
          <a:prstGeom prst="rect">
            <a:avLst/>
          </a:prstGeom>
          <a:noFill/>
          <a:ln/>
        </p:spPr>
        <p:txBody>
          <a:bodyPr wrap="square" lIns="0" tIns="0" rIns="0" bIns="0" rtlCol="0" anchor="ctr"/>
          <a:lstStyle/>
          <a:p>
            <a:pPr indent="0" marL="0">
              <a:buNone/>
            </a:pPr>
            <a:endParaRPr lang="en-US" sz="900" dirty="0"/>
          </a:p>
        </p:txBody>
      </p:sp>
      <p:sp>
        <p:nvSpPr>
          <p:cNvPr id="13" name="Text 11"/>
          <p:cNvSpPr/>
          <p:nvPr/>
        </p:nvSpPr>
        <p:spPr>
          <a:xfrm>
            <a:off x="804672" y="3204058"/>
            <a:ext cx="7406640" cy="182880"/>
          </a:xfrm>
          <a:prstGeom prst="rect">
            <a:avLst/>
          </a:prstGeom>
          <a:noFill/>
          <a:ln/>
        </p:spPr>
        <p:txBody>
          <a:bodyPr wrap="square" lIns="0" tIns="0" rIns="0" bIns="0" rtlCol="0" anchor="ctr"/>
          <a:lstStyle/>
          <a:p>
            <a:pPr indent="0" marL="0">
              <a:buNone/>
            </a:pPr>
            <a:r>
              <a:rPr lang="en-US" sz="900" dirty="0">
                <a:solidFill>
                  <a:srgbClr val="5D7186"/>
                </a:solidFill>
                <a:latin typeface="Consolas" pitchFamily="34" charset="0"/>
                <a:ea typeface="Consolas" pitchFamily="34" charset="-122"/>
                <a:cs typeface="Consolas" pitchFamily="34" charset="-120"/>
              </a:rPr>
              <a:t>  "elements": [ {</a:t>
            </a:r>
            <a:endParaRPr lang="en-US" sz="900" dirty="0"/>
          </a:p>
        </p:txBody>
      </p:sp>
      <p:sp>
        <p:nvSpPr>
          <p:cNvPr id="14" name="Text 12"/>
          <p:cNvSpPr/>
          <p:nvPr/>
        </p:nvSpPr>
        <p:spPr>
          <a:xfrm>
            <a:off x="804672" y="3394253"/>
            <a:ext cx="7406640" cy="182880"/>
          </a:xfrm>
          <a:prstGeom prst="rect">
            <a:avLst/>
          </a:prstGeom>
          <a:noFill/>
          <a:ln/>
        </p:spPr>
        <p:txBody>
          <a:bodyPr wrap="square" lIns="0" tIns="0" rIns="0" bIns="0" rtlCol="0" anchor="ctr"/>
          <a:lstStyle/>
          <a:p>
            <a:pPr indent="0" marL="0">
              <a:buNone/>
            </a:pPr>
            <a:r>
              <a:rPr lang="en-US" sz="900" dirty="0">
                <a:solidFill>
                  <a:srgbClr val="12202E"/>
                </a:solidFill>
                <a:latin typeface="Consolas" pitchFamily="34" charset="0"/>
                <a:ea typeface="Consolas" pitchFamily="34" charset="-122"/>
                <a:cs typeface="Consolas" pitchFamily="34" charset="-120"/>
              </a:rPr>
              <a:t>      "id": "secretion",  "de_id": "DE-035",  "type": "select_one",</a:t>
            </a:r>
            <a:endParaRPr lang="en-US" sz="900" dirty="0"/>
          </a:p>
        </p:txBody>
      </p:sp>
      <p:sp>
        <p:nvSpPr>
          <p:cNvPr id="15" name="Text 13"/>
          <p:cNvSpPr/>
          <p:nvPr/>
        </p:nvSpPr>
        <p:spPr>
          <a:xfrm>
            <a:off x="804672" y="3584448"/>
            <a:ext cx="7406640" cy="182880"/>
          </a:xfrm>
          <a:prstGeom prst="rect">
            <a:avLst/>
          </a:prstGeom>
          <a:noFill/>
          <a:ln/>
        </p:spPr>
        <p:txBody>
          <a:bodyPr wrap="square" lIns="0" tIns="0" rIns="0" bIns="0" rtlCol="0" anchor="ctr"/>
          <a:lstStyle/>
          <a:p>
            <a:pPr indent="0" marL="0">
              <a:buNone/>
            </a:pPr>
            <a:r>
              <a:rPr lang="en-US" sz="900" dirty="0">
                <a:solidFill>
                  <a:srgbClr val="12202E"/>
                </a:solidFill>
                <a:latin typeface="Consolas" pitchFamily="34" charset="0"/>
                <a:ea typeface="Consolas" pitchFamily="34" charset="-122"/>
                <a:cs typeface="Consolas" pitchFamily="34" charset="-120"/>
              </a:rPr>
              <a:t>      "label":   { "en": "Is fluid coming out of the wound?",</a:t>
            </a:r>
            <a:endParaRPr lang="en-US" sz="900" dirty="0"/>
          </a:p>
        </p:txBody>
      </p:sp>
      <p:sp>
        <p:nvSpPr>
          <p:cNvPr id="16" name="Text 14"/>
          <p:cNvSpPr/>
          <p:nvPr/>
        </p:nvSpPr>
        <p:spPr>
          <a:xfrm>
            <a:off x="804672" y="3774643"/>
            <a:ext cx="7406640" cy="182880"/>
          </a:xfrm>
          <a:prstGeom prst="rect">
            <a:avLst/>
          </a:prstGeom>
          <a:noFill/>
          <a:ln/>
        </p:spPr>
        <p:txBody>
          <a:bodyPr wrap="square" lIns="0" tIns="0" rIns="0" bIns="0" rtlCol="0" anchor="ctr"/>
          <a:lstStyle/>
          <a:p>
            <a:pPr indent="0" marL="0">
              <a:buNone/>
            </a:pPr>
            <a:r>
              <a:rPr lang="en-US" sz="900" dirty="0">
                <a:solidFill>
                  <a:srgbClr val="12202E"/>
                </a:solidFill>
                <a:latin typeface="Consolas" pitchFamily="34" charset="0"/>
                <a:ea typeface="Consolas" pitchFamily="34" charset="-122"/>
                <a:cs typeface="Consolas" pitchFamily="34" charset="-120"/>
              </a:rPr>
              <a:t>                   "de": "Kommt Flüssigkeit aus der Wunde?" },</a:t>
            </a:r>
            <a:endParaRPr lang="en-US" sz="900" dirty="0"/>
          </a:p>
        </p:txBody>
      </p:sp>
      <p:sp>
        <p:nvSpPr>
          <p:cNvPr id="17" name="Text 15"/>
          <p:cNvSpPr/>
          <p:nvPr/>
        </p:nvSpPr>
        <p:spPr>
          <a:xfrm>
            <a:off x="804672" y="3964838"/>
            <a:ext cx="7406640" cy="182880"/>
          </a:xfrm>
          <a:prstGeom prst="rect">
            <a:avLst/>
          </a:prstGeom>
          <a:noFill/>
          <a:ln/>
        </p:spPr>
        <p:txBody>
          <a:bodyPr wrap="square" lIns="0" tIns="0" rIns="0" bIns="0" rtlCol="0" anchor="ctr"/>
          <a:lstStyle/>
          <a:p>
            <a:pPr indent="0" marL="0">
              <a:buNone/>
            </a:pPr>
            <a:r>
              <a:rPr lang="en-US" sz="900" dirty="0">
                <a:solidFill>
                  <a:srgbClr val="12202E"/>
                </a:solidFill>
                <a:latin typeface="Consolas" pitchFamily="34" charset="0"/>
                <a:ea typeface="Consolas" pitchFamily="34" charset="-122"/>
                <a:cs typeface="Consolas" pitchFamily="34" charset="-120"/>
              </a:rPr>
              <a:t>      "options": [ 0 = none · 1 = clear · 2 = bloody · 3 = purulent, each with an image ],</a:t>
            </a:r>
            <a:endParaRPr lang="en-US" sz="900" dirty="0"/>
          </a:p>
        </p:txBody>
      </p:sp>
      <p:sp>
        <p:nvSpPr>
          <p:cNvPr id="18" name="Text 16"/>
          <p:cNvSpPr/>
          <p:nvPr/>
        </p:nvSpPr>
        <p:spPr>
          <a:xfrm>
            <a:off x="804672" y="4155034"/>
            <a:ext cx="7406640" cy="182880"/>
          </a:xfrm>
          <a:prstGeom prst="rect">
            <a:avLst/>
          </a:prstGeom>
          <a:noFill/>
          <a:ln/>
        </p:spPr>
        <p:txBody>
          <a:bodyPr wrap="square" lIns="0" tIns="0" rIns="0" bIns="0" rtlCol="0" anchor="ctr"/>
          <a:lstStyle/>
          <a:p>
            <a:pPr indent="0" marL="0">
              <a:buNone/>
            </a:pPr>
            <a:r>
              <a:rPr lang="en-US" sz="900" dirty="0">
                <a:solidFill>
                  <a:srgbClr val="12202E"/>
                </a:solidFill>
                <a:latin typeface="Consolas" pitchFamily="34" charset="0"/>
                <a:ea typeface="Consolas" pitchFamily="34" charset="-122"/>
                <a:cs typeface="Consolas" pitchFamily="34" charset="-120"/>
              </a:rPr>
              <a:t>      "terminology": { "snomed": "449736006" },</a:t>
            </a:r>
            <a:endParaRPr lang="en-US" sz="900" dirty="0"/>
          </a:p>
        </p:txBody>
      </p:sp>
      <p:sp>
        <p:nvSpPr>
          <p:cNvPr id="19" name="Text 17"/>
          <p:cNvSpPr/>
          <p:nvPr/>
        </p:nvSpPr>
        <p:spPr>
          <a:xfrm>
            <a:off x="804672" y="4345229"/>
            <a:ext cx="7406640" cy="182880"/>
          </a:xfrm>
          <a:prstGeom prst="rect">
            <a:avLst/>
          </a:prstGeom>
          <a:noFill/>
          <a:ln/>
        </p:spPr>
        <p:txBody>
          <a:bodyPr wrap="square" lIns="0" tIns="0" rIns="0" bIns="0" rtlCol="0" anchor="ctr"/>
          <a:lstStyle/>
          <a:p>
            <a:pPr indent="0" marL="0">
              <a:buNone/>
            </a:pPr>
            <a:r>
              <a:rPr lang="en-US" sz="900" dirty="0">
                <a:solidFill>
                  <a:srgbClr val="12202E"/>
                </a:solidFill>
                <a:latin typeface="Consolas" pitchFamily="34" charset="0"/>
                <a:ea typeface="Consolas" pitchFamily="34" charset="-122"/>
                <a:cs typeface="Consolas" pitchFamily="34" charset="-120"/>
              </a:rPr>
              <a:t>      "fhir": "Observation.valueCodeableConcept",</a:t>
            </a:r>
            <a:endParaRPr lang="en-US" sz="900" dirty="0"/>
          </a:p>
        </p:txBody>
      </p:sp>
      <p:sp>
        <p:nvSpPr>
          <p:cNvPr id="20" name="Text 18"/>
          <p:cNvSpPr/>
          <p:nvPr/>
        </p:nvSpPr>
        <p:spPr>
          <a:xfrm>
            <a:off x="804672" y="4535424"/>
            <a:ext cx="7406640" cy="182880"/>
          </a:xfrm>
          <a:prstGeom prst="rect">
            <a:avLst/>
          </a:prstGeom>
          <a:noFill/>
          <a:ln/>
        </p:spPr>
        <p:txBody>
          <a:bodyPr wrap="square" lIns="0" tIns="0" rIns="0" bIns="0" rtlCol="0" anchor="ctr"/>
          <a:lstStyle/>
          <a:p>
            <a:pPr indent="0" marL="0">
              <a:buNone/>
            </a:pPr>
            <a:r>
              <a:rPr lang="en-US" sz="900" dirty="0">
                <a:solidFill>
                  <a:srgbClr val="12202E"/>
                </a:solidFill>
                <a:latin typeface="Consolas" pitchFamily="34" charset="0"/>
                <a:ea typeface="Consolas" pitchFamily="34" charset="-122"/>
                <a:cs typeface="Consolas" pitchFamily="34" charset="-120"/>
              </a:rPr>
              <a:t>      "l1_source": "CDC/NHSN — purulent drainage · Southampton III–IV" } ],</a:t>
            </a:r>
            <a:endParaRPr lang="en-US" sz="900" dirty="0"/>
          </a:p>
        </p:txBody>
      </p:sp>
      <p:sp>
        <p:nvSpPr>
          <p:cNvPr id="21" name="Text 19"/>
          <p:cNvSpPr/>
          <p:nvPr/>
        </p:nvSpPr>
        <p:spPr>
          <a:xfrm>
            <a:off x="804672" y="4725619"/>
            <a:ext cx="7406640" cy="182880"/>
          </a:xfrm>
          <a:prstGeom prst="rect">
            <a:avLst/>
          </a:prstGeom>
          <a:noFill/>
          <a:ln/>
        </p:spPr>
        <p:txBody>
          <a:bodyPr wrap="square" lIns="0" tIns="0" rIns="0" bIns="0" rtlCol="0" anchor="ctr"/>
          <a:lstStyle/>
          <a:p>
            <a:pPr indent="0" marL="0">
              <a:buNone/>
            </a:pPr>
            <a:endParaRPr lang="en-US" sz="900" dirty="0"/>
          </a:p>
        </p:txBody>
      </p:sp>
      <p:sp>
        <p:nvSpPr>
          <p:cNvPr id="22" name="Text 20"/>
          <p:cNvSpPr/>
          <p:nvPr/>
        </p:nvSpPr>
        <p:spPr>
          <a:xfrm>
            <a:off x="804672" y="4915814"/>
            <a:ext cx="7406640" cy="182880"/>
          </a:xfrm>
          <a:prstGeom prst="rect">
            <a:avLst/>
          </a:prstGeom>
          <a:noFill/>
          <a:ln/>
        </p:spPr>
        <p:txBody>
          <a:bodyPr wrap="square" lIns="0" tIns="0" rIns="0" bIns="0" rtlCol="0" anchor="ctr"/>
          <a:lstStyle/>
          <a:p>
            <a:pPr indent="0" marL="0">
              <a:buNone/>
            </a:pPr>
            <a:r>
              <a:rPr lang="en-US" sz="900" dirty="0">
                <a:solidFill>
                  <a:srgbClr val="5D7186"/>
                </a:solidFill>
                <a:latin typeface="Consolas" pitchFamily="34" charset="0"/>
                <a:ea typeface="Consolas" pitchFamily="34" charset="-122"/>
                <a:cs typeface="Consolas" pitchFamily="34" charset="-120"/>
              </a:rPr>
              <a:t>  "decision_rules": [ {</a:t>
            </a:r>
            <a:endParaRPr lang="en-US" sz="900" dirty="0"/>
          </a:p>
        </p:txBody>
      </p:sp>
      <p:sp>
        <p:nvSpPr>
          <p:cNvPr id="23" name="Text 21"/>
          <p:cNvSpPr/>
          <p:nvPr/>
        </p:nvSpPr>
        <p:spPr>
          <a:xfrm>
            <a:off x="804672" y="5106010"/>
            <a:ext cx="7406640" cy="182880"/>
          </a:xfrm>
          <a:prstGeom prst="rect">
            <a:avLst/>
          </a:prstGeom>
          <a:noFill/>
          <a:ln/>
        </p:spPr>
        <p:txBody>
          <a:bodyPr wrap="square" lIns="0" tIns="0" rIns="0" bIns="0" rtlCol="0" anchor="ctr"/>
          <a:lstStyle/>
          <a:p>
            <a:pPr indent="0" marL="0">
              <a:buNone/>
            </a:pPr>
            <a:r>
              <a:rPr lang="en-US" sz="900" dirty="0">
                <a:solidFill>
                  <a:srgbClr val="12202E"/>
                </a:solidFill>
                <a:latin typeface="Consolas" pitchFamily="34" charset="0"/>
                <a:ea typeface="Consolas" pitchFamily="34" charset="-122"/>
                <a:cs typeface="Consolas" pitchFamily="34" charset="-120"/>
              </a:rPr>
              <a:t>      "id": "R4",  "priority": "orange",  "exclusive": true,</a:t>
            </a:r>
            <a:endParaRPr lang="en-US" sz="900" dirty="0"/>
          </a:p>
        </p:txBody>
      </p:sp>
      <p:sp>
        <p:nvSpPr>
          <p:cNvPr id="24" name="Text 22"/>
          <p:cNvSpPr/>
          <p:nvPr/>
        </p:nvSpPr>
        <p:spPr>
          <a:xfrm>
            <a:off x="804672" y="5296205"/>
            <a:ext cx="7406640" cy="182880"/>
          </a:xfrm>
          <a:prstGeom prst="rect">
            <a:avLst/>
          </a:prstGeom>
          <a:noFill/>
          <a:ln/>
        </p:spPr>
        <p:txBody>
          <a:bodyPr wrap="square" lIns="0" tIns="0" rIns="0" bIns="0" rtlCol="0" anchor="ctr"/>
          <a:lstStyle/>
          <a:p>
            <a:pPr indent="0" marL="0">
              <a:buNone/>
            </a:pPr>
            <a:r>
              <a:rPr lang="en-US" sz="900" dirty="0">
                <a:solidFill>
                  <a:srgbClr val="C0281C"/>
                </a:solidFill>
                <a:latin typeface="Consolas" pitchFamily="34" charset="0"/>
                <a:ea typeface="Consolas" pitchFamily="34" charset="-122"/>
                <a:cs typeface="Consolas" pitchFamily="34" charset="-120"/>
              </a:rPr>
              <a:t>      "when":   "secretion = 3 or secretion_smell = 1",</a:t>
            </a:r>
            <a:endParaRPr lang="en-US" sz="900" dirty="0"/>
          </a:p>
        </p:txBody>
      </p:sp>
      <p:sp>
        <p:nvSpPr>
          <p:cNvPr id="25" name="Text 23"/>
          <p:cNvSpPr/>
          <p:nvPr/>
        </p:nvSpPr>
        <p:spPr>
          <a:xfrm>
            <a:off x="804672" y="5486400"/>
            <a:ext cx="7406640" cy="182880"/>
          </a:xfrm>
          <a:prstGeom prst="rect">
            <a:avLst/>
          </a:prstGeom>
          <a:noFill/>
          <a:ln/>
        </p:spPr>
        <p:txBody>
          <a:bodyPr wrap="square" lIns="0" tIns="0" rIns="0" bIns="0" rtlCol="0" anchor="ctr"/>
          <a:lstStyle/>
          <a:p>
            <a:pPr indent="0" marL="0">
              <a:buNone/>
            </a:pPr>
            <a:r>
              <a:rPr lang="en-US" sz="900" dirty="0">
                <a:solidFill>
                  <a:srgbClr val="12202E"/>
                </a:solidFill>
                <a:latin typeface="Consolas" pitchFamily="34" charset="0"/>
                <a:ea typeface="Consolas" pitchFamily="34" charset="-122"/>
                <a:cs typeface="Consolas" pitchFamily="34" charset="-120"/>
              </a:rPr>
              <a:t>      "output": { "en": "SUSPECTED INFECTION — contact your practice today…" },</a:t>
            </a:r>
            <a:endParaRPr lang="en-US" sz="900" dirty="0"/>
          </a:p>
        </p:txBody>
      </p:sp>
      <p:sp>
        <p:nvSpPr>
          <p:cNvPr id="26" name="Text 24"/>
          <p:cNvSpPr/>
          <p:nvPr/>
        </p:nvSpPr>
        <p:spPr>
          <a:xfrm>
            <a:off x="804672" y="5676595"/>
            <a:ext cx="7406640" cy="182880"/>
          </a:xfrm>
          <a:prstGeom prst="rect">
            <a:avLst/>
          </a:prstGeom>
          <a:noFill/>
          <a:ln/>
        </p:spPr>
        <p:txBody>
          <a:bodyPr wrap="square" lIns="0" tIns="0" rIns="0" bIns="0" rtlCol="0" anchor="ctr"/>
          <a:lstStyle/>
          <a:p>
            <a:pPr indent="0" marL="0">
              <a:buNone/>
            </a:pPr>
            <a:r>
              <a:rPr lang="en-US" sz="900" dirty="0">
                <a:solidFill>
                  <a:srgbClr val="12202E"/>
                </a:solidFill>
                <a:latin typeface="Consolas" pitchFamily="34" charset="0"/>
                <a:ea typeface="Consolas" pitchFamily="34" charset="-122"/>
                <a:cs typeface="Consolas" pitchFamily="34" charset="-120"/>
              </a:rPr>
              <a:t>      "annotation": "Purulent drainage is a primary criterion of superficial SSI.",</a:t>
            </a:r>
            <a:endParaRPr lang="en-US" sz="900" dirty="0"/>
          </a:p>
        </p:txBody>
      </p:sp>
      <p:sp>
        <p:nvSpPr>
          <p:cNvPr id="27" name="Text 25"/>
          <p:cNvSpPr/>
          <p:nvPr/>
        </p:nvSpPr>
        <p:spPr>
          <a:xfrm>
            <a:off x="804672" y="5866790"/>
            <a:ext cx="7406640" cy="182880"/>
          </a:xfrm>
          <a:prstGeom prst="rect">
            <a:avLst/>
          </a:prstGeom>
          <a:noFill/>
          <a:ln/>
        </p:spPr>
        <p:txBody>
          <a:bodyPr wrap="square" lIns="0" tIns="0" rIns="0" bIns="0" rtlCol="0" anchor="ctr"/>
          <a:lstStyle/>
          <a:p>
            <a:pPr indent="0" marL="0">
              <a:buNone/>
            </a:pPr>
            <a:r>
              <a:rPr lang="en-US" sz="900" dirty="0">
                <a:solidFill>
                  <a:srgbClr val="12202E"/>
                </a:solidFill>
                <a:latin typeface="Consolas" pitchFamily="34" charset="0"/>
                <a:ea typeface="Consolas" pitchFamily="34" charset="-122"/>
                <a:cs typeface="Consolas" pitchFamily="34" charset="-120"/>
              </a:rPr>
              <a:t>      "reference":  "CDC/NHSN superficial incisional SSI · Southampton IV" } ] }</a:t>
            </a:r>
            <a:endParaRPr lang="en-US" sz="900" dirty="0"/>
          </a:p>
        </p:txBody>
      </p:sp>
      <p:sp>
        <p:nvSpPr>
          <p:cNvPr id="28" name="Shape 26"/>
          <p:cNvSpPr/>
          <p:nvPr/>
        </p:nvSpPr>
        <p:spPr>
          <a:xfrm>
            <a:off x="8659368" y="1554480"/>
            <a:ext cx="2971800" cy="1060704"/>
          </a:xfrm>
          <a:prstGeom prst="roundRect">
            <a:avLst>
              <a:gd name="adj" fmla="val 7759"/>
            </a:avLst>
          </a:prstGeom>
          <a:solidFill>
            <a:srgbClr val="FFFFFF"/>
          </a:solidFill>
          <a:ln w="12700">
            <a:solidFill>
              <a:srgbClr val="DDE5EE"/>
            </a:solidFill>
            <a:prstDash val="solid"/>
          </a:ln>
        </p:spPr>
      </p:sp>
      <p:sp>
        <p:nvSpPr>
          <p:cNvPr id="29" name="Text 27"/>
          <p:cNvSpPr/>
          <p:nvPr/>
        </p:nvSpPr>
        <p:spPr>
          <a:xfrm>
            <a:off x="8869680" y="1664208"/>
            <a:ext cx="2560320" cy="237744"/>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Bilingual by construction</a:t>
            </a:r>
            <a:endParaRPr lang="en-US" sz="1050" dirty="0"/>
          </a:p>
        </p:txBody>
      </p:sp>
      <p:sp>
        <p:nvSpPr>
          <p:cNvPr id="30" name="Text 28"/>
          <p:cNvSpPr/>
          <p:nvPr/>
        </p:nvSpPr>
        <p:spPr>
          <a:xfrm>
            <a:off x="8869680" y="1920240"/>
            <a:ext cx="2560320" cy="621792"/>
          </a:xfrm>
          <a:prstGeom prst="rect">
            <a:avLst/>
          </a:prstGeom>
          <a:noFill/>
          <a:ln/>
        </p:spPr>
        <p:txBody>
          <a:bodyPr wrap="square" lIns="0" tIns="0" rIns="0" bIns="0" rtlCol="0" anchor="ctr"/>
          <a:lstStyle/>
          <a:p>
            <a:pPr indent="0" marL="0">
              <a:lnSpc>
                <a:spcPts val="1100"/>
              </a:lnSpc>
              <a:buNone/>
            </a:pPr>
            <a:r>
              <a:rPr lang="en-US" sz="900" dirty="0">
                <a:solidFill>
                  <a:srgbClr val="5D7186"/>
                </a:solidFill>
                <a:latin typeface="Calibri" pitchFamily="34" charset="0"/>
                <a:ea typeface="Calibri" pitchFamily="34" charset="-122"/>
                <a:cs typeface="Calibri" pitchFamily="34" charset="-120"/>
              </a:rPr>
              <a:t>Every user-facing string is a language-keyed object. A further language is a content change, not a code change.</a:t>
            </a:r>
            <a:endParaRPr lang="en-US" sz="900" dirty="0"/>
          </a:p>
        </p:txBody>
      </p:sp>
      <p:sp>
        <p:nvSpPr>
          <p:cNvPr id="31" name="Shape 29"/>
          <p:cNvSpPr/>
          <p:nvPr/>
        </p:nvSpPr>
        <p:spPr>
          <a:xfrm>
            <a:off x="8659368" y="2734056"/>
            <a:ext cx="2971800" cy="1060704"/>
          </a:xfrm>
          <a:prstGeom prst="roundRect">
            <a:avLst>
              <a:gd name="adj" fmla="val 7759"/>
            </a:avLst>
          </a:prstGeom>
          <a:solidFill>
            <a:srgbClr val="FFFFFF"/>
          </a:solidFill>
          <a:ln w="12700">
            <a:solidFill>
              <a:srgbClr val="DDE5EE"/>
            </a:solidFill>
            <a:prstDash val="solid"/>
          </a:ln>
        </p:spPr>
      </p:sp>
      <p:sp>
        <p:nvSpPr>
          <p:cNvPr id="32" name="Text 30"/>
          <p:cNvSpPr/>
          <p:nvPr/>
        </p:nvSpPr>
        <p:spPr>
          <a:xfrm>
            <a:off x="8869680" y="2843784"/>
            <a:ext cx="2560320" cy="237744"/>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Thresholds carry their source</a:t>
            </a:r>
            <a:endParaRPr lang="en-US" sz="1050" dirty="0"/>
          </a:p>
        </p:txBody>
      </p:sp>
      <p:sp>
        <p:nvSpPr>
          <p:cNvPr id="33" name="Text 31"/>
          <p:cNvSpPr/>
          <p:nvPr/>
        </p:nvSpPr>
        <p:spPr>
          <a:xfrm>
            <a:off x="8869680" y="3099816"/>
            <a:ext cx="2560320" cy="621792"/>
          </a:xfrm>
          <a:prstGeom prst="rect">
            <a:avLst/>
          </a:prstGeom>
          <a:noFill/>
          <a:ln/>
        </p:spPr>
        <p:txBody>
          <a:bodyPr wrap="square" lIns="0" tIns="0" rIns="0" bIns="0" rtlCol="0" anchor="ctr"/>
          <a:lstStyle/>
          <a:p>
            <a:pPr indent="0" marL="0">
              <a:lnSpc>
                <a:spcPts val="1100"/>
              </a:lnSpc>
              <a:buNone/>
            </a:pPr>
            <a:r>
              <a:rPr lang="en-US" sz="900" dirty="0">
                <a:solidFill>
                  <a:srgbClr val="5D7186"/>
                </a:solidFill>
                <a:latin typeface="Calibri" pitchFamily="34" charset="0"/>
                <a:ea typeface="Calibri" pitchFamily="34" charset="-122"/>
                <a:cs typeface="Calibri" pitchFamily="34" charset="-120"/>
              </a:rPr>
              <a:t>Each constant names where it comes from — a guideline value or a documented group decision.</a:t>
            </a:r>
            <a:endParaRPr lang="en-US" sz="900" dirty="0"/>
          </a:p>
        </p:txBody>
      </p:sp>
      <p:sp>
        <p:nvSpPr>
          <p:cNvPr id="34" name="Shape 32"/>
          <p:cNvSpPr/>
          <p:nvPr/>
        </p:nvSpPr>
        <p:spPr>
          <a:xfrm>
            <a:off x="8659368" y="3913632"/>
            <a:ext cx="2971800" cy="1060704"/>
          </a:xfrm>
          <a:prstGeom prst="roundRect">
            <a:avLst>
              <a:gd name="adj" fmla="val 7759"/>
            </a:avLst>
          </a:prstGeom>
          <a:solidFill>
            <a:srgbClr val="FFFFFF"/>
          </a:solidFill>
          <a:ln w="12700">
            <a:solidFill>
              <a:srgbClr val="DDE5EE"/>
            </a:solidFill>
            <a:prstDash val="solid"/>
          </a:ln>
        </p:spPr>
      </p:sp>
      <p:sp>
        <p:nvSpPr>
          <p:cNvPr id="35" name="Text 33"/>
          <p:cNvSpPr/>
          <p:nvPr/>
        </p:nvSpPr>
        <p:spPr>
          <a:xfrm>
            <a:off x="8869680" y="4023360"/>
            <a:ext cx="2560320" cy="237744"/>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Rules carry their reference</a:t>
            </a:r>
            <a:endParaRPr lang="en-US" sz="1050" dirty="0"/>
          </a:p>
        </p:txBody>
      </p:sp>
      <p:sp>
        <p:nvSpPr>
          <p:cNvPr id="36" name="Text 34"/>
          <p:cNvSpPr/>
          <p:nvPr/>
        </p:nvSpPr>
        <p:spPr>
          <a:xfrm>
            <a:off x="8869680" y="4279392"/>
            <a:ext cx="2560320" cy="621792"/>
          </a:xfrm>
          <a:prstGeom prst="rect">
            <a:avLst/>
          </a:prstGeom>
          <a:noFill/>
          <a:ln/>
        </p:spPr>
        <p:txBody>
          <a:bodyPr wrap="square" lIns="0" tIns="0" rIns="0" bIns="0" rtlCol="0" anchor="ctr"/>
          <a:lstStyle/>
          <a:p>
            <a:pPr indent="0" marL="0">
              <a:lnSpc>
                <a:spcPts val="1100"/>
              </a:lnSpc>
              <a:buNone/>
            </a:pPr>
            <a:r>
              <a:rPr lang="en-US" sz="900" dirty="0">
                <a:solidFill>
                  <a:srgbClr val="5D7186"/>
                </a:solidFill>
                <a:latin typeface="Calibri" pitchFamily="34" charset="0"/>
                <a:ea typeface="Calibri" pitchFamily="34" charset="-122"/>
                <a:cs typeface="Calibri" pitchFamily="34" charset="-120"/>
              </a:rPr>
              <a:t>Every rule states its L1 source and an annotation, so a clinician can review it without reading code.</a:t>
            </a:r>
            <a:endParaRPr lang="en-US" sz="900" dirty="0"/>
          </a:p>
        </p:txBody>
      </p:sp>
      <p:sp>
        <p:nvSpPr>
          <p:cNvPr id="37" name="Shape 35"/>
          <p:cNvSpPr/>
          <p:nvPr/>
        </p:nvSpPr>
        <p:spPr>
          <a:xfrm>
            <a:off x="8659368" y="5093208"/>
            <a:ext cx="2971800" cy="1060704"/>
          </a:xfrm>
          <a:prstGeom prst="roundRect">
            <a:avLst>
              <a:gd name="adj" fmla="val 7759"/>
            </a:avLst>
          </a:prstGeom>
          <a:solidFill>
            <a:srgbClr val="FFFFFF"/>
          </a:solidFill>
          <a:ln w="12700">
            <a:solidFill>
              <a:srgbClr val="DDE5EE"/>
            </a:solidFill>
            <a:prstDash val="solid"/>
          </a:ln>
        </p:spPr>
      </p:sp>
      <p:sp>
        <p:nvSpPr>
          <p:cNvPr id="38" name="Text 36"/>
          <p:cNvSpPr/>
          <p:nvPr/>
        </p:nvSpPr>
        <p:spPr>
          <a:xfrm>
            <a:off x="8869680" y="5202936"/>
            <a:ext cx="2560320" cy="237744"/>
          </a:xfrm>
          <a:prstGeom prst="rect">
            <a:avLst/>
          </a:prstGeom>
          <a:noFill/>
          <a:ln/>
        </p:spPr>
        <p:txBody>
          <a:bodyPr wrap="square" lIns="0" tIns="0" rIns="0" bIns="0" rtlCol="0" anchor="ctr"/>
          <a:lstStyle/>
          <a:p>
            <a:pPr indent="0" marL="0">
              <a:buNone/>
            </a:pPr>
            <a:r>
              <a:rPr lang="en-US" sz="1050" b="1" dirty="0">
                <a:solidFill>
                  <a:srgbClr val="12202E"/>
                </a:solidFill>
                <a:latin typeface="Calibri" pitchFamily="34" charset="0"/>
                <a:ea typeface="Calibri" pitchFamily="34" charset="-122"/>
                <a:cs typeface="Calibri" pitchFamily="34" charset="-120"/>
              </a:rPr>
              <a:t>The endpoint is configuration</a:t>
            </a:r>
            <a:endParaRPr lang="en-US" sz="1050" dirty="0"/>
          </a:p>
        </p:txBody>
      </p:sp>
      <p:sp>
        <p:nvSpPr>
          <p:cNvPr id="39" name="Text 37"/>
          <p:cNvSpPr/>
          <p:nvPr/>
        </p:nvSpPr>
        <p:spPr>
          <a:xfrm>
            <a:off x="8869680" y="5458968"/>
            <a:ext cx="2560320" cy="621792"/>
          </a:xfrm>
          <a:prstGeom prst="rect">
            <a:avLst/>
          </a:prstGeom>
          <a:noFill/>
          <a:ln/>
        </p:spPr>
        <p:txBody>
          <a:bodyPr wrap="square" lIns="0" tIns="0" rIns="0" bIns="0" rtlCol="0" anchor="ctr"/>
          <a:lstStyle/>
          <a:p>
            <a:pPr indent="0" marL="0">
              <a:lnSpc>
                <a:spcPts val="1100"/>
              </a:lnSpc>
              <a:buNone/>
            </a:pPr>
            <a:r>
              <a:rPr lang="en-US" sz="900" dirty="0">
                <a:solidFill>
                  <a:srgbClr val="5D7186"/>
                </a:solidFill>
                <a:latin typeface="Calibri" pitchFamily="34" charset="0"/>
                <a:ea typeface="Calibri" pitchFamily="34" charset="-122"/>
                <a:cs typeface="Calibri" pitchFamily="34" charset="-120"/>
              </a:rPr>
              <a:t>Redirecting to a hospital FHIR server is one line — no code change, no rebuild.</a:t>
            </a:r>
            <a:endParaRPr lang="en-US" sz="900" dirty="0"/>
          </a:p>
        </p:txBody>
      </p:sp>
      <p:sp>
        <p:nvSpPr>
          <p:cNvPr id="40" name="Text 38"/>
          <p:cNvSpPr/>
          <p:nvPr/>
        </p:nvSpPr>
        <p:spPr>
          <a:xfrm>
            <a:off x="566928" y="6309360"/>
            <a:ext cx="11064240" cy="274320"/>
          </a:xfrm>
          <a:prstGeom prst="rect">
            <a:avLst/>
          </a:prstGeom>
          <a:noFill/>
          <a:ln/>
        </p:spPr>
        <p:txBody>
          <a:bodyPr wrap="square" lIns="0" tIns="0" rIns="0" bIns="0" rtlCol="0" anchor="ctr"/>
          <a:lstStyle/>
          <a:p>
            <a:pPr indent="0" marL="0">
              <a:buNone/>
            </a:pPr>
            <a:r>
              <a:rPr lang="en-US" sz="1000" i="1" dirty="0">
                <a:solidFill>
                  <a:srgbClr val="5D7186"/>
                </a:solidFill>
                <a:latin typeface="Calibri" pitchFamily="34" charset="0"/>
                <a:ea typeface="Calibri" pitchFamily="34" charset="-122"/>
                <a:cs typeface="Calibri" pitchFamily="34" charset="-120"/>
              </a:rPr>
              <a:t>48 elements · 18 rules · 54 KB · read by the L4 at runtime — swap this file and the app becomes a different CDSS.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BACKUP · L2 · EXCERPT OF 48 ELEMENTS</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Data dictionary — the four required columns</a:t>
            </a:r>
            <a:endParaRPr lang="en-US" sz="2700" dirty="0"/>
          </a:p>
        </p:txBody>
      </p:sp>
      <p:sp>
        <p:nvSpPr>
          <p:cNvPr id="4" name="Text 2"/>
          <p:cNvSpPr/>
          <p:nvPr/>
        </p:nvSpPr>
        <p:spPr>
          <a:xfrm>
            <a:off x="566928" y="1572768"/>
            <a:ext cx="713232" cy="219456"/>
          </a:xfrm>
          <a:prstGeom prst="rect">
            <a:avLst/>
          </a:prstGeom>
          <a:noFill/>
          <a:ln/>
        </p:spPr>
        <p:txBody>
          <a:bodyPr wrap="square" lIns="0" tIns="0" rIns="0" bIns="0" rtlCol="0" anchor="ctr"/>
          <a:lstStyle/>
          <a:p>
            <a:pPr indent="0" marL="0">
              <a:buNone/>
            </a:pPr>
            <a:r>
              <a:rPr lang="en-US" sz="850" b="1" spc="80" kern="0" dirty="0">
                <a:solidFill>
                  <a:srgbClr val="5D7186"/>
                </a:solidFill>
                <a:latin typeface="Calibri" pitchFamily="34" charset="0"/>
                <a:ea typeface="Calibri" pitchFamily="34" charset="-122"/>
                <a:cs typeface="Calibri" pitchFamily="34" charset="-120"/>
              </a:rPr>
              <a:t>ID</a:t>
            </a:r>
            <a:endParaRPr lang="en-US" sz="850" dirty="0"/>
          </a:p>
        </p:txBody>
      </p:sp>
      <p:sp>
        <p:nvSpPr>
          <p:cNvPr id="5" name="Text 3"/>
          <p:cNvSpPr/>
          <p:nvPr/>
        </p:nvSpPr>
        <p:spPr>
          <a:xfrm>
            <a:off x="1325880" y="1572768"/>
            <a:ext cx="2148840" cy="219456"/>
          </a:xfrm>
          <a:prstGeom prst="rect">
            <a:avLst/>
          </a:prstGeom>
          <a:noFill/>
          <a:ln/>
        </p:spPr>
        <p:txBody>
          <a:bodyPr wrap="square" lIns="0" tIns="0" rIns="0" bIns="0" rtlCol="0" anchor="ctr"/>
          <a:lstStyle/>
          <a:p>
            <a:pPr indent="0" marL="0">
              <a:buNone/>
            </a:pPr>
            <a:r>
              <a:rPr lang="en-US" sz="850" b="1" spc="80" kern="0" dirty="0">
                <a:solidFill>
                  <a:srgbClr val="5D7186"/>
                </a:solidFill>
                <a:latin typeface="Calibri" pitchFamily="34" charset="0"/>
                <a:ea typeface="Calibri" pitchFamily="34" charset="-122"/>
                <a:cs typeface="Calibri" pitchFamily="34" charset="-120"/>
              </a:rPr>
              <a:t>LABEL</a:t>
            </a:r>
            <a:endParaRPr lang="en-US" sz="850" dirty="0"/>
          </a:p>
        </p:txBody>
      </p:sp>
      <p:sp>
        <p:nvSpPr>
          <p:cNvPr id="6" name="Text 4"/>
          <p:cNvSpPr/>
          <p:nvPr/>
        </p:nvSpPr>
        <p:spPr>
          <a:xfrm>
            <a:off x="3520440" y="1572768"/>
            <a:ext cx="960120" cy="219456"/>
          </a:xfrm>
          <a:prstGeom prst="rect">
            <a:avLst/>
          </a:prstGeom>
          <a:noFill/>
          <a:ln/>
        </p:spPr>
        <p:txBody>
          <a:bodyPr wrap="square" lIns="0" tIns="0" rIns="0" bIns="0" rtlCol="0" anchor="ctr"/>
          <a:lstStyle/>
          <a:p>
            <a:pPr indent="0" marL="0">
              <a:buNone/>
            </a:pPr>
            <a:r>
              <a:rPr lang="en-US" sz="850" b="1" spc="80" kern="0" dirty="0">
                <a:solidFill>
                  <a:srgbClr val="5D7186"/>
                </a:solidFill>
                <a:latin typeface="Calibri" pitchFamily="34" charset="0"/>
                <a:ea typeface="Calibri" pitchFamily="34" charset="-122"/>
                <a:cs typeface="Calibri" pitchFamily="34" charset="-120"/>
              </a:rPr>
              <a:t>TYPE</a:t>
            </a:r>
            <a:endParaRPr lang="en-US" sz="850" dirty="0"/>
          </a:p>
        </p:txBody>
      </p:sp>
      <p:sp>
        <p:nvSpPr>
          <p:cNvPr id="7" name="Text 5"/>
          <p:cNvSpPr/>
          <p:nvPr/>
        </p:nvSpPr>
        <p:spPr>
          <a:xfrm>
            <a:off x="4526280" y="1572768"/>
            <a:ext cx="2880360" cy="219456"/>
          </a:xfrm>
          <a:prstGeom prst="rect">
            <a:avLst/>
          </a:prstGeom>
          <a:noFill/>
          <a:ln/>
        </p:spPr>
        <p:txBody>
          <a:bodyPr wrap="square" lIns="0" tIns="0" rIns="0" bIns="0" rtlCol="0" anchor="ctr"/>
          <a:lstStyle/>
          <a:p>
            <a:pPr indent="0" marL="0">
              <a:buNone/>
            </a:pPr>
            <a:r>
              <a:rPr lang="en-US" sz="850" b="1" spc="80" kern="0" dirty="0">
                <a:solidFill>
                  <a:srgbClr val="5D7186"/>
                </a:solidFill>
                <a:latin typeface="Calibri" pitchFamily="34" charset="0"/>
                <a:ea typeface="Calibri" pitchFamily="34" charset="-122"/>
                <a:cs typeface="Calibri" pitchFamily="34" charset="-120"/>
              </a:rPr>
              <a:t>RESPONSE OPTIONS</a:t>
            </a:r>
            <a:endParaRPr lang="en-US" sz="850" dirty="0"/>
          </a:p>
        </p:txBody>
      </p:sp>
      <p:sp>
        <p:nvSpPr>
          <p:cNvPr id="8" name="Text 6"/>
          <p:cNvSpPr/>
          <p:nvPr/>
        </p:nvSpPr>
        <p:spPr>
          <a:xfrm>
            <a:off x="7452360" y="1572768"/>
            <a:ext cx="1600200" cy="219456"/>
          </a:xfrm>
          <a:prstGeom prst="rect">
            <a:avLst/>
          </a:prstGeom>
          <a:noFill/>
          <a:ln/>
        </p:spPr>
        <p:txBody>
          <a:bodyPr wrap="square" lIns="0" tIns="0" rIns="0" bIns="0" rtlCol="0" anchor="ctr"/>
          <a:lstStyle/>
          <a:p>
            <a:pPr indent="0" marL="0">
              <a:buNone/>
            </a:pPr>
            <a:r>
              <a:rPr lang="en-US" sz="850" b="1" spc="80" kern="0" dirty="0">
                <a:solidFill>
                  <a:srgbClr val="5D7186"/>
                </a:solidFill>
                <a:latin typeface="Calibri" pitchFamily="34" charset="0"/>
                <a:ea typeface="Calibri" pitchFamily="34" charset="-122"/>
                <a:cs typeface="Calibri" pitchFamily="34" charset="-120"/>
              </a:rPr>
              <a:t>CONDITIONAL LOGIC</a:t>
            </a:r>
            <a:endParaRPr lang="en-US" sz="850" dirty="0"/>
          </a:p>
        </p:txBody>
      </p:sp>
      <p:sp>
        <p:nvSpPr>
          <p:cNvPr id="9" name="Text 7"/>
          <p:cNvSpPr/>
          <p:nvPr/>
        </p:nvSpPr>
        <p:spPr>
          <a:xfrm>
            <a:off x="9098280" y="1572768"/>
            <a:ext cx="1417320" cy="219456"/>
          </a:xfrm>
          <a:prstGeom prst="rect">
            <a:avLst/>
          </a:prstGeom>
          <a:noFill/>
          <a:ln/>
        </p:spPr>
        <p:txBody>
          <a:bodyPr wrap="square" lIns="0" tIns="0" rIns="0" bIns="0" rtlCol="0" anchor="ctr"/>
          <a:lstStyle/>
          <a:p>
            <a:pPr indent="0" marL="0">
              <a:buNone/>
            </a:pPr>
            <a:r>
              <a:rPr lang="en-US" sz="850" b="1" spc="80" kern="0" dirty="0">
                <a:solidFill>
                  <a:srgbClr val="5D7186"/>
                </a:solidFill>
                <a:latin typeface="Calibri" pitchFamily="34" charset="0"/>
                <a:ea typeface="Calibri" pitchFamily="34" charset="-122"/>
                <a:cs typeface="Calibri" pitchFamily="34" charset="-120"/>
              </a:rPr>
              <a:t>CONSTRAINT</a:t>
            </a:r>
            <a:endParaRPr lang="en-US" sz="850" dirty="0"/>
          </a:p>
        </p:txBody>
      </p:sp>
      <p:sp>
        <p:nvSpPr>
          <p:cNvPr id="10" name="Text 8"/>
          <p:cNvSpPr/>
          <p:nvPr/>
        </p:nvSpPr>
        <p:spPr>
          <a:xfrm>
            <a:off x="10561320" y="1572768"/>
            <a:ext cx="1344168" cy="219456"/>
          </a:xfrm>
          <a:prstGeom prst="rect">
            <a:avLst/>
          </a:prstGeom>
          <a:noFill/>
          <a:ln/>
        </p:spPr>
        <p:txBody>
          <a:bodyPr wrap="square" lIns="0" tIns="0" rIns="0" bIns="0" rtlCol="0" anchor="ctr"/>
          <a:lstStyle/>
          <a:p>
            <a:pPr indent="0" marL="0">
              <a:buNone/>
            </a:pPr>
            <a:r>
              <a:rPr lang="en-US" sz="850" b="1" spc="80" kern="0" dirty="0">
                <a:solidFill>
                  <a:srgbClr val="5D7186"/>
                </a:solidFill>
                <a:latin typeface="Calibri" pitchFamily="34" charset="0"/>
                <a:ea typeface="Calibri" pitchFamily="34" charset="-122"/>
                <a:cs typeface="Calibri" pitchFamily="34" charset="-120"/>
              </a:rPr>
              <a:t>TERMINOLOGY</a:t>
            </a:r>
            <a:endParaRPr lang="en-US" sz="850" dirty="0"/>
          </a:p>
        </p:txBody>
      </p:sp>
      <p:sp>
        <p:nvSpPr>
          <p:cNvPr id="11" name="Shape 9"/>
          <p:cNvSpPr/>
          <p:nvPr/>
        </p:nvSpPr>
        <p:spPr>
          <a:xfrm>
            <a:off x="566928" y="1847088"/>
            <a:ext cx="11064240" cy="347472"/>
          </a:xfrm>
          <a:prstGeom prst="roundRect">
            <a:avLst>
              <a:gd name="adj" fmla="val 23684"/>
            </a:avLst>
          </a:prstGeom>
          <a:solidFill>
            <a:srgbClr val="F5F7FA"/>
          </a:solidFill>
          <a:ln w="12700">
            <a:solidFill>
              <a:srgbClr val="DDE5EE"/>
            </a:solidFill>
            <a:prstDash val="solid"/>
          </a:ln>
        </p:spPr>
      </p:sp>
      <p:sp>
        <p:nvSpPr>
          <p:cNvPr id="12" name="Text 10"/>
          <p:cNvSpPr/>
          <p:nvPr/>
        </p:nvSpPr>
        <p:spPr>
          <a:xfrm>
            <a:off x="585216" y="1847088"/>
            <a:ext cx="713232" cy="347472"/>
          </a:xfrm>
          <a:prstGeom prst="rect">
            <a:avLst/>
          </a:prstGeom>
          <a:noFill/>
          <a:ln/>
        </p:spPr>
        <p:txBody>
          <a:bodyPr wrap="square" lIns="0" tIns="0" rIns="0" bIns="0" rtlCol="0" anchor="ctr"/>
          <a:lstStyle/>
          <a:p>
            <a:pPr indent="0" marL="0">
              <a:buNone/>
            </a:pPr>
            <a:r>
              <a:rPr lang="en-US" sz="800" b="1" dirty="0">
                <a:solidFill>
                  <a:srgbClr val="12202E"/>
                </a:solidFill>
                <a:latin typeface="Calibri" pitchFamily="34" charset="0"/>
                <a:ea typeface="Calibri" pitchFamily="34" charset="-122"/>
                <a:cs typeface="Calibri" pitchFamily="34" charset="-120"/>
              </a:rPr>
              <a:t>DE-020</a:t>
            </a:r>
            <a:endParaRPr lang="en-US" sz="800" dirty="0"/>
          </a:p>
        </p:txBody>
      </p:sp>
      <p:sp>
        <p:nvSpPr>
          <p:cNvPr id="13" name="Text 11"/>
          <p:cNvSpPr/>
          <p:nvPr/>
        </p:nvSpPr>
        <p:spPr>
          <a:xfrm>
            <a:off x="1344168" y="1847088"/>
            <a:ext cx="214884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Body temperature today</a:t>
            </a:r>
            <a:endParaRPr lang="en-US" sz="800" dirty="0"/>
          </a:p>
        </p:txBody>
      </p:sp>
      <p:sp>
        <p:nvSpPr>
          <p:cNvPr id="14" name="Text 12"/>
          <p:cNvSpPr/>
          <p:nvPr/>
        </p:nvSpPr>
        <p:spPr>
          <a:xfrm>
            <a:off x="3538728" y="1847088"/>
            <a:ext cx="96012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decimal</a:t>
            </a:r>
            <a:endParaRPr lang="en-US" sz="800" dirty="0"/>
          </a:p>
        </p:txBody>
      </p:sp>
      <p:sp>
        <p:nvSpPr>
          <p:cNvPr id="15" name="Text 13"/>
          <p:cNvSpPr/>
          <p:nvPr/>
        </p:nvSpPr>
        <p:spPr>
          <a:xfrm>
            <a:off x="4544568" y="1847088"/>
            <a:ext cx="288036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free numeric input, °C</a:t>
            </a:r>
            <a:endParaRPr lang="en-US" sz="800" dirty="0"/>
          </a:p>
        </p:txBody>
      </p:sp>
      <p:sp>
        <p:nvSpPr>
          <p:cNvPr id="16" name="Text 14"/>
          <p:cNvSpPr/>
          <p:nvPr/>
        </p:nvSpPr>
        <p:spPr>
          <a:xfrm>
            <a:off x="7470648" y="1847088"/>
            <a:ext cx="160020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a:t>
            </a:r>
            <a:endParaRPr lang="en-US" sz="800" dirty="0"/>
          </a:p>
        </p:txBody>
      </p:sp>
      <p:sp>
        <p:nvSpPr>
          <p:cNvPr id="17" name="Text 15"/>
          <p:cNvSpPr/>
          <p:nvPr/>
        </p:nvSpPr>
        <p:spPr>
          <a:xfrm>
            <a:off x="9116568" y="1847088"/>
            <a:ext cx="1417320"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34–43 °C</a:t>
            </a:r>
            <a:endParaRPr lang="en-US" sz="800" dirty="0"/>
          </a:p>
        </p:txBody>
      </p:sp>
      <p:sp>
        <p:nvSpPr>
          <p:cNvPr id="18" name="Text 16"/>
          <p:cNvSpPr/>
          <p:nvPr/>
        </p:nvSpPr>
        <p:spPr>
          <a:xfrm>
            <a:off x="10579608" y="1847088"/>
            <a:ext cx="1344168"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LOINC 8310-5</a:t>
            </a:r>
            <a:endParaRPr lang="en-US" sz="800" dirty="0"/>
          </a:p>
        </p:txBody>
      </p:sp>
      <p:sp>
        <p:nvSpPr>
          <p:cNvPr id="19" name="Shape 17"/>
          <p:cNvSpPr/>
          <p:nvPr/>
        </p:nvSpPr>
        <p:spPr>
          <a:xfrm>
            <a:off x="566928" y="2249424"/>
            <a:ext cx="11064240" cy="347472"/>
          </a:xfrm>
          <a:prstGeom prst="roundRect">
            <a:avLst>
              <a:gd name="adj" fmla="val 23684"/>
            </a:avLst>
          </a:prstGeom>
          <a:solidFill>
            <a:srgbClr val="FFFFFF"/>
          </a:solidFill>
          <a:ln w="12700">
            <a:solidFill>
              <a:srgbClr val="FFFFFF"/>
            </a:solidFill>
            <a:prstDash val="solid"/>
          </a:ln>
        </p:spPr>
      </p:sp>
      <p:sp>
        <p:nvSpPr>
          <p:cNvPr id="20" name="Text 18"/>
          <p:cNvSpPr/>
          <p:nvPr/>
        </p:nvSpPr>
        <p:spPr>
          <a:xfrm>
            <a:off x="585216" y="2249424"/>
            <a:ext cx="713232" cy="347472"/>
          </a:xfrm>
          <a:prstGeom prst="rect">
            <a:avLst/>
          </a:prstGeom>
          <a:noFill/>
          <a:ln/>
        </p:spPr>
        <p:txBody>
          <a:bodyPr wrap="square" lIns="0" tIns="0" rIns="0" bIns="0" rtlCol="0" anchor="ctr"/>
          <a:lstStyle/>
          <a:p>
            <a:pPr indent="0" marL="0">
              <a:buNone/>
            </a:pPr>
            <a:r>
              <a:rPr lang="en-US" sz="800" b="1" dirty="0">
                <a:solidFill>
                  <a:srgbClr val="12202E"/>
                </a:solidFill>
                <a:latin typeface="Calibri" pitchFamily="34" charset="0"/>
                <a:ea typeface="Calibri" pitchFamily="34" charset="-122"/>
                <a:cs typeface="Calibri" pitchFamily="34" charset="-120"/>
              </a:rPr>
              <a:t>DE-023</a:t>
            </a:r>
            <a:endParaRPr lang="en-US" sz="800" dirty="0"/>
          </a:p>
        </p:txBody>
      </p:sp>
      <p:sp>
        <p:nvSpPr>
          <p:cNvPr id="21" name="Text 19"/>
          <p:cNvSpPr/>
          <p:nvPr/>
        </p:nvSpPr>
        <p:spPr>
          <a:xfrm>
            <a:off x="1344168" y="2249424"/>
            <a:ext cx="214884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Pain 0–10</a:t>
            </a:r>
            <a:endParaRPr lang="en-US" sz="800" dirty="0"/>
          </a:p>
        </p:txBody>
      </p:sp>
      <p:sp>
        <p:nvSpPr>
          <p:cNvPr id="22" name="Text 20"/>
          <p:cNvSpPr/>
          <p:nvPr/>
        </p:nvSpPr>
        <p:spPr>
          <a:xfrm>
            <a:off x="3538728" y="2249424"/>
            <a:ext cx="96012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integer</a:t>
            </a:r>
            <a:endParaRPr lang="en-US" sz="800" dirty="0"/>
          </a:p>
        </p:txBody>
      </p:sp>
      <p:sp>
        <p:nvSpPr>
          <p:cNvPr id="23" name="Text 21"/>
          <p:cNvSpPr/>
          <p:nvPr/>
        </p:nvSpPr>
        <p:spPr>
          <a:xfrm>
            <a:off x="4544568" y="2249424"/>
            <a:ext cx="288036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NRS 0–10</a:t>
            </a:r>
            <a:endParaRPr lang="en-US" sz="800" dirty="0"/>
          </a:p>
        </p:txBody>
      </p:sp>
      <p:sp>
        <p:nvSpPr>
          <p:cNvPr id="24" name="Text 22"/>
          <p:cNvSpPr/>
          <p:nvPr/>
        </p:nvSpPr>
        <p:spPr>
          <a:xfrm>
            <a:off x="7470648" y="2249424"/>
            <a:ext cx="160020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a:t>
            </a:r>
            <a:endParaRPr lang="en-US" sz="800" dirty="0"/>
          </a:p>
        </p:txBody>
      </p:sp>
      <p:sp>
        <p:nvSpPr>
          <p:cNvPr id="25" name="Text 23"/>
          <p:cNvSpPr/>
          <p:nvPr/>
        </p:nvSpPr>
        <p:spPr>
          <a:xfrm>
            <a:off x="9116568" y="2249424"/>
            <a:ext cx="1417320"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0–10</a:t>
            </a:r>
            <a:endParaRPr lang="en-US" sz="800" dirty="0"/>
          </a:p>
        </p:txBody>
      </p:sp>
      <p:sp>
        <p:nvSpPr>
          <p:cNvPr id="26" name="Text 24"/>
          <p:cNvSpPr/>
          <p:nvPr/>
        </p:nvSpPr>
        <p:spPr>
          <a:xfrm>
            <a:off x="10579608" y="2249424"/>
            <a:ext cx="1344168"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LOINC 72514-3</a:t>
            </a:r>
            <a:endParaRPr lang="en-US" sz="800" dirty="0"/>
          </a:p>
        </p:txBody>
      </p:sp>
      <p:sp>
        <p:nvSpPr>
          <p:cNvPr id="27" name="Shape 25"/>
          <p:cNvSpPr/>
          <p:nvPr/>
        </p:nvSpPr>
        <p:spPr>
          <a:xfrm>
            <a:off x="566928" y="2651760"/>
            <a:ext cx="11064240" cy="347472"/>
          </a:xfrm>
          <a:prstGeom prst="roundRect">
            <a:avLst>
              <a:gd name="adj" fmla="val 23684"/>
            </a:avLst>
          </a:prstGeom>
          <a:solidFill>
            <a:srgbClr val="F5F7FA"/>
          </a:solidFill>
          <a:ln w="12700">
            <a:solidFill>
              <a:srgbClr val="DDE5EE"/>
            </a:solidFill>
            <a:prstDash val="solid"/>
          </a:ln>
        </p:spPr>
      </p:sp>
      <p:sp>
        <p:nvSpPr>
          <p:cNvPr id="28" name="Text 26"/>
          <p:cNvSpPr/>
          <p:nvPr/>
        </p:nvSpPr>
        <p:spPr>
          <a:xfrm>
            <a:off x="585216" y="2651760"/>
            <a:ext cx="713232" cy="347472"/>
          </a:xfrm>
          <a:prstGeom prst="rect">
            <a:avLst/>
          </a:prstGeom>
          <a:noFill/>
          <a:ln/>
        </p:spPr>
        <p:txBody>
          <a:bodyPr wrap="square" lIns="0" tIns="0" rIns="0" bIns="0" rtlCol="0" anchor="ctr"/>
          <a:lstStyle/>
          <a:p>
            <a:pPr indent="0" marL="0">
              <a:buNone/>
            </a:pPr>
            <a:r>
              <a:rPr lang="en-US" sz="800" b="1" dirty="0">
                <a:solidFill>
                  <a:srgbClr val="12202E"/>
                </a:solidFill>
                <a:latin typeface="Calibri" pitchFamily="34" charset="0"/>
                <a:ea typeface="Calibri" pitchFamily="34" charset="-122"/>
                <a:cs typeface="Calibri" pitchFamily="34" charset="-120"/>
              </a:rPr>
              <a:t>DE-026</a:t>
            </a:r>
            <a:endParaRPr lang="en-US" sz="800" dirty="0"/>
          </a:p>
        </p:txBody>
      </p:sp>
      <p:sp>
        <p:nvSpPr>
          <p:cNvPr id="29" name="Text 27"/>
          <p:cNvSpPr/>
          <p:nvPr/>
        </p:nvSpPr>
        <p:spPr>
          <a:xfrm>
            <a:off x="1344168" y="2651760"/>
            <a:ext cx="214884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How do you feel overall?</a:t>
            </a:r>
            <a:endParaRPr lang="en-US" sz="800" dirty="0"/>
          </a:p>
        </p:txBody>
      </p:sp>
      <p:sp>
        <p:nvSpPr>
          <p:cNvPr id="30" name="Text 28"/>
          <p:cNvSpPr/>
          <p:nvPr/>
        </p:nvSpPr>
        <p:spPr>
          <a:xfrm>
            <a:off x="3538728" y="2651760"/>
            <a:ext cx="96012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31" name="Text 29"/>
          <p:cNvSpPr/>
          <p:nvPr/>
        </p:nvSpPr>
        <p:spPr>
          <a:xfrm>
            <a:off x="4544568" y="2651760"/>
            <a:ext cx="288036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0 = well · 1 = tired · 2 = really unwell</a:t>
            </a:r>
            <a:endParaRPr lang="en-US" sz="800" dirty="0"/>
          </a:p>
        </p:txBody>
      </p:sp>
      <p:sp>
        <p:nvSpPr>
          <p:cNvPr id="32" name="Text 30"/>
          <p:cNvSpPr/>
          <p:nvPr/>
        </p:nvSpPr>
        <p:spPr>
          <a:xfrm>
            <a:off x="7470648" y="2651760"/>
            <a:ext cx="160020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a:t>
            </a:r>
            <a:endParaRPr lang="en-US" sz="800" dirty="0"/>
          </a:p>
        </p:txBody>
      </p:sp>
      <p:sp>
        <p:nvSpPr>
          <p:cNvPr id="33" name="Text 31"/>
          <p:cNvSpPr/>
          <p:nvPr/>
        </p:nvSpPr>
        <p:spPr>
          <a:xfrm>
            <a:off x="9116568" y="2651760"/>
            <a:ext cx="1417320"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34" name="Text 32"/>
          <p:cNvSpPr/>
          <p:nvPr/>
        </p:nvSpPr>
        <p:spPr>
          <a:xfrm>
            <a:off x="10579608" y="2651760"/>
            <a:ext cx="1344168"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SNOMED 386661006</a:t>
            </a:r>
            <a:endParaRPr lang="en-US" sz="800" dirty="0"/>
          </a:p>
        </p:txBody>
      </p:sp>
      <p:sp>
        <p:nvSpPr>
          <p:cNvPr id="35" name="Shape 33"/>
          <p:cNvSpPr/>
          <p:nvPr/>
        </p:nvSpPr>
        <p:spPr>
          <a:xfrm>
            <a:off x="566928" y="3054096"/>
            <a:ext cx="11064240" cy="347472"/>
          </a:xfrm>
          <a:prstGeom prst="roundRect">
            <a:avLst>
              <a:gd name="adj" fmla="val 23684"/>
            </a:avLst>
          </a:prstGeom>
          <a:solidFill>
            <a:srgbClr val="FFFFFF"/>
          </a:solidFill>
          <a:ln w="12700">
            <a:solidFill>
              <a:srgbClr val="FFFFFF"/>
            </a:solidFill>
            <a:prstDash val="solid"/>
          </a:ln>
        </p:spPr>
      </p:sp>
      <p:sp>
        <p:nvSpPr>
          <p:cNvPr id="36" name="Text 34"/>
          <p:cNvSpPr/>
          <p:nvPr/>
        </p:nvSpPr>
        <p:spPr>
          <a:xfrm>
            <a:off x="585216" y="3054096"/>
            <a:ext cx="713232" cy="347472"/>
          </a:xfrm>
          <a:prstGeom prst="rect">
            <a:avLst/>
          </a:prstGeom>
          <a:noFill/>
          <a:ln/>
        </p:spPr>
        <p:txBody>
          <a:bodyPr wrap="square" lIns="0" tIns="0" rIns="0" bIns="0" rtlCol="0" anchor="ctr"/>
          <a:lstStyle/>
          <a:p>
            <a:pPr indent="0" marL="0">
              <a:buNone/>
            </a:pPr>
            <a:r>
              <a:rPr lang="en-US" sz="800" b="1" dirty="0">
                <a:solidFill>
                  <a:srgbClr val="12202E"/>
                </a:solidFill>
                <a:latin typeface="Calibri" pitchFamily="34" charset="0"/>
                <a:ea typeface="Calibri" pitchFamily="34" charset="-122"/>
                <a:cs typeface="Calibri" pitchFamily="34" charset="-120"/>
              </a:rPr>
              <a:t>DE-030</a:t>
            </a:r>
            <a:endParaRPr lang="en-US" sz="800" dirty="0"/>
          </a:p>
        </p:txBody>
      </p:sp>
      <p:sp>
        <p:nvSpPr>
          <p:cNvPr id="37" name="Text 35"/>
          <p:cNvSpPr/>
          <p:nvPr/>
        </p:nvSpPr>
        <p:spPr>
          <a:xfrm>
            <a:off x="1344168" y="3054096"/>
            <a:ext cx="214884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Which picture matches your wound?</a:t>
            </a:r>
            <a:endParaRPr lang="en-US" sz="800" dirty="0"/>
          </a:p>
        </p:txBody>
      </p:sp>
      <p:sp>
        <p:nvSpPr>
          <p:cNvPr id="38" name="Text 36"/>
          <p:cNvSpPr/>
          <p:nvPr/>
        </p:nvSpPr>
        <p:spPr>
          <a:xfrm>
            <a:off x="3538728" y="3054096"/>
            <a:ext cx="96012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39" name="Text 37"/>
          <p:cNvSpPr/>
          <p:nvPr/>
        </p:nvSpPr>
        <p:spPr>
          <a:xfrm>
            <a:off x="4544568" y="3054096"/>
            <a:ext cx="288036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1 = calm &amp; dry · 2 = slightly red · 3 = markedly red &amp; swollen · 4 = open / pus</a:t>
            </a:r>
            <a:endParaRPr lang="en-US" sz="800" dirty="0"/>
          </a:p>
        </p:txBody>
      </p:sp>
      <p:sp>
        <p:nvSpPr>
          <p:cNvPr id="40" name="Text 38"/>
          <p:cNvSpPr/>
          <p:nvPr/>
        </p:nvSpPr>
        <p:spPr>
          <a:xfrm>
            <a:off x="7470648" y="3054096"/>
            <a:ext cx="160020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a:t>
            </a:r>
            <a:endParaRPr lang="en-US" sz="800" dirty="0"/>
          </a:p>
        </p:txBody>
      </p:sp>
      <p:sp>
        <p:nvSpPr>
          <p:cNvPr id="41" name="Text 39"/>
          <p:cNvSpPr/>
          <p:nvPr/>
        </p:nvSpPr>
        <p:spPr>
          <a:xfrm>
            <a:off x="9116568" y="3054096"/>
            <a:ext cx="1417320"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42" name="Text 40"/>
          <p:cNvSpPr/>
          <p:nvPr/>
        </p:nvSpPr>
        <p:spPr>
          <a:xfrm>
            <a:off x="10579608" y="3054096"/>
            <a:ext cx="1344168"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SNOMED 225552003</a:t>
            </a:r>
            <a:endParaRPr lang="en-US" sz="800" dirty="0"/>
          </a:p>
        </p:txBody>
      </p:sp>
      <p:sp>
        <p:nvSpPr>
          <p:cNvPr id="43" name="Shape 41"/>
          <p:cNvSpPr/>
          <p:nvPr/>
        </p:nvSpPr>
        <p:spPr>
          <a:xfrm>
            <a:off x="566928" y="3456432"/>
            <a:ext cx="11064240" cy="347472"/>
          </a:xfrm>
          <a:prstGeom prst="roundRect">
            <a:avLst>
              <a:gd name="adj" fmla="val 23684"/>
            </a:avLst>
          </a:prstGeom>
          <a:solidFill>
            <a:srgbClr val="F5F7FA"/>
          </a:solidFill>
          <a:ln w="12700">
            <a:solidFill>
              <a:srgbClr val="DDE5EE"/>
            </a:solidFill>
            <a:prstDash val="solid"/>
          </a:ln>
        </p:spPr>
      </p:sp>
      <p:sp>
        <p:nvSpPr>
          <p:cNvPr id="44" name="Text 42"/>
          <p:cNvSpPr/>
          <p:nvPr/>
        </p:nvSpPr>
        <p:spPr>
          <a:xfrm>
            <a:off x="585216" y="3456432"/>
            <a:ext cx="713232" cy="347472"/>
          </a:xfrm>
          <a:prstGeom prst="rect">
            <a:avLst/>
          </a:prstGeom>
          <a:noFill/>
          <a:ln/>
        </p:spPr>
        <p:txBody>
          <a:bodyPr wrap="square" lIns="0" tIns="0" rIns="0" bIns="0" rtlCol="0" anchor="ctr"/>
          <a:lstStyle/>
          <a:p>
            <a:pPr indent="0" marL="0">
              <a:buNone/>
            </a:pPr>
            <a:r>
              <a:rPr lang="en-US" sz="800" b="1" dirty="0">
                <a:solidFill>
                  <a:srgbClr val="12202E"/>
                </a:solidFill>
                <a:latin typeface="Calibri" pitchFamily="34" charset="0"/>
                <a:ea typeface="Calibri" pitchFamily="34" charset="-122"/>
                <a:cs typeface="Calibri" pitchFamily="34" charset="-120"/>
              </a:rPr>
              <a:t>DE-032</a:t>
            </a:r>
            <a:endParaRPr lang="en-US" sz="800" dirty="0"/>
          </a:p>
        </p:txBody>
      </p:sp>
      <p:sp>
        <p:nvSpPr>
          <p:cNvPr id="45" name="Text 43"/>
          <p:cNvSpPr/>
          <p:nvPr/>
        </p:nvSpPr>
        <p:spPr>
          <a:xfrm>
            <a:off x="1344168" y="3456432"/>
            <a:ext cx="214884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Does a red streak run away?</a:t>
            </a:r>
            <a:endParaRPr lang="en-US" sz="800" dirty="0"/>
          </a:p>
        </p:txBody>
      </p:sp>
      <p:sp>
        <p:nvSpPr>
          <p:cNvPr id="46" name="Text 44"/>
          <p:cNvSpPr/>
          <p:nvPr/>
        </p:nvSpPr>
        <p:spPr>
          <a:xfrm>
            <a:off x="3538728" y="3456432"/>
            <a:ext cx="96012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47" name="Text 45"/>
          <p:cNvSpPr/>
          <p:nvPr/>
        </p:nvSpPr>
        <p:spPr>
          <a:xfrm>
            <a:off x="4544568" y="3456432"/>
            <a:ext cx="288036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1 = yes · 0 = no</a:t>
            </a:r>
            <a:endParaRPr lang="en-US" sz="800" dirty="0"/>
          </a:p>
        </p:txBody>
      </p:sp>
      <p:sp>
        <p:nvSpPr>
          <p:cNvPr id="48" name="Text 46"/>
          <p:cNvSpPr/>
          <p:nvPr/>
        </p:nvSpPr>
        <p:spPr>
          <a:xfrm>
            <a:off x="7470648" y="3456432"/>
            <a:ext cx="160020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none — deliberately ungated (B-03)</a:t>
            </a:r>
            <a:endParaRPr lang="en-US" sz="800" dirty="0"/>
          </a:p>
        </p:txBody>
      </p:sp>
      <p:sp>
        <p:nvSpPr>
          <p:cNvPr id="49" name="Text 47"/>
          <p:cNvSpPr/>
          <p:nvPr/>
        </p:nvSpPr>
        <p:spPr>
          <a:xfrm>
            <a:off x="9116568" y="3456432"/>
            <a:ext cx="1417320"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50" name="Text 48"/>
          <p:cNvSpPr/>
          <p:nvPr/>
        </p:nvSpPr>
        <p:spPr>
          <a:xfrm>
            <a:off x="10579608" y="3456432"/>
            <a:ext cx="1344168"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SNOMED 46117009</a:t>
            </a:r>
            <a:endParaRPr lang="en-US" sz="800" dirty="0"/>
          </a:p>
        </p:txBody>
      </p:sp>
      <p:sp>
        <p:nvSpPr>
          <p:cNvPr id="51" name="Shape 49"/>
          <p:cNvSpPr/>
          <p:nvPr/>
        </p:nvSpPr>
        <p:spPr>
          <a:xfrm>
            <a:off x="566928" y="3858768"/>
            <a:ext cx="11064240" cy="347472"/>
          </a:xfrm>
          <a:prstGeom prst="roundRect">
            <a:avLst>
              <a:gd name="adj" fmla="val 23684"/>
            </a:avLst>
          </a:prstGeom>
          <a:solidFill>
            <a:srgbClr val="FFFFFF"/>
          </a:solidFill>
          <a:ln w="12700">
            <a:solidFill>
              <a:srgbClr val="FFFFFF"/>
            </a:solidFill>
            <a:prstDash val="solid"/>
          </a:ln>
        </p:spPr>
      </p:sp>
      <p:sp>
        <p:nvSpPr>
          <p:cNvPr id="52" name="Text 50"/>
          <p:cNvSpPr/>
          <p:nvPr/>
        </p:nvSpPr>
        <p:spPr>
          <a:xfrm>
            <a:off x="585216" y="3858768"/>
            <a:ext cx="713232" cy="347472"/>
          </a:xfrm>
          <a:prstGeom prst="rect">
            <a:avLst/>
          </a:prstGeom>
          <a:noFill/>
          <a:ln/>
        </p:spPr>
        <p:txBody>
          <a:bodyPr wrap="square" lIns="0" tIns="0" rIns="0" bIns="0" rtlCol="0" anchor="ctr"/>
          <a:lstStyle/>
          <a:p>
            <a:pPr indent="0" marL="0">
              <a:buNone/>
            </a:pPr>
            <a:r>
              <a:rPr lang="en-US" sz="800" b="1" dirty="0">
                <a:solidFill>
                  <a:srgbClr val="12202E"/>
                </a:solidFill>
                <a:latin typeface="Calibri" pitchFamily="34" charset="0"/>
                <a:ea typeface="Calibri" pitchFamily="34" charset="-122"/>
                <a:cs typeface="Calibri" pitchFamily="34" charset="-120"/>
              </a:rPr>
              <a:t>DE-035</a:t>
            </a:r>
            <a:endParaRPr lang="en-US" sz="800" dirty="0"/>
          </a:p>
        </p:txBody>
      </p:sp>
      <p:sp>
        <p:nvSpPr>
          <p:cNvPr id="53" name="Text 51"/>
          <p:cNvSpPr/>
          <p:nvPr/>
        </p:nvSpPr>
        <p:spPr>
          <a:xfrm>
            <a:off x="1344168" y="3858768"/>
            <a:ext cx="214884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Is fluid coming out?</a:t>
            </a:r>
            <a:endParaRPr lang="en-US" sz="800" dirty="0"/>
          </a:p>
        </p:txBody>
      </p:sp>
      <p:sp>
        <p:nvSpPr>
          <p:cNvPr id="54" name="Text 52"/>
          <p:cNvSpPr/>
          <p:nvPr/>
        </p:nvSpPr>
        <p:spPr>
          <a:xfrm>
            <a:off x="3538728" y="3858768"/>
            <a:ext cx="96012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55" name="Text 53"/>
          <p:cNvSpPr/>
          <p:nvPr/>
        </p:nvSpPr>
        <p:spPr>
          <a:xfrm>
            <a:off x="4544568" y="3858768"/>
            <a:ext cx="288036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0 = none · 1 = clear · 2 = bloody · 3 = cloudy / purulent</a:t>
            </a:r>
            <a:endParaRPr lang="en-US" sz="800" dirty="0"/>
          </a:p>
        </p:txBody>
      </p:sp>
      <p:sp>
        <p:nvSpPr>
          <p:cNvPr id="56" name="Text 54"/>
          <p:cNvSpPr/>
          <p:nvPr/>
        </p:nvSpPr>
        <p:spPr>
          <a:xfrm>
            <a:off x="7470648" y="3858768"/>
            <a:ext cx="160020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a:t>
            </a:r>
            <a:endParaRPr lang="en-US" sz="800" dirty="0"/>
          </a:p>
        </p:txBody>
      </p:sp>
      <p:sp>
        <p:nvSpPr>
          <p:cNvPr id="57" name="Text 55"/>
          <p:cNvSpPr/>
          <p:nvPr/>
        </p:nvSpPr>
        <p:spPr>
          <a:xfrm>
            <a:off x="9116568" y="3858768"/>
            <a:ext cx="1417320"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58" name="Text 56"/>
          <p:cNvSpPr/>
          <p:nvPr/>
        </p:nvSpPr>
        <p:spPr>
          <a:xfrm>
            <a:off x="10579608" y="3858768"/>
            <a:ext cx="1344168"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SNOMED 449736006</a:t>
            </a:r>
            <a:endParaRPr lang="en-US" sz="800" dirty="0"/>
          </a:p>
        </p:txBody>
      </p:sp>
      <p:sp>
        <p:nvSpPr>
          <p:cNvPr id="59" name="Shape 57"/>
          <p:cNvSpPr/>
          <p:nvPr/>
        </p:nvSpPr>
        <p:spPr>
          <a:xfrm>
            <a:off x="566928" y="4261104"/>
            <a:ext cx="11064240" cy="347472"/>
          </a:xfrm>
          <a:prstGeom prst="roundRect">
            <a:avLst>
              <a:gd name="adj" fmla="val 23684"/>
            </a:avLst>
          </a:prstGeom>
          <a:solidFill>
            <a:srgbClr val="F5F7FA"/>
          </a:solidFill>
          <a:ln w="12700">
            <a:solidFill>
              <a:srgbClr val="DDE5EE"/>
            </a:solidFill>
            <a:prstDash val="solid"/>
          </a:ln>
        </p:spPr>
      </p:sp>
      <p:sp>
        <p:nvSpPr>
          <p:cNvPr id="60" name="Text 58"/>
          <p:cNvSpPr/>
          <p:nvPr/>
        </p:nvSpPr>
        <p:spPr>
          <a:xfrm>
            <a:off x="585216" y="4261104"/>
            <a:ext cx="713232" cy="347472"/>
          </a:xfrm>
          <a:prstGeom prst="rect">
            <a:avLst/>
          </a:prstGeom>
          <a:noFill/>
          <a:ln/>
        </p:spPr>
        <p:txBody>
          <a:bodyPr wrap="square" lIns="0" tIns="0" rIns="0" bIns="0" rtlCol="0" anchor="ctr"/>
          <a:lstStyle/>
          <a:p>
            <a:pPr indent="0" marL="0">
              <a:buNone/>
            </a:pPr>
            <a:r>
              <a:rPr lang="en-US" sz="800" b="1" dirty="0">
                <a:solidFill>
                  <a:srgbClr val="12202E"/>
                </a:solidFill>
                <a:latin typeface="Calibri" pitchFamily="34" charset="0"/>
                <a:ea typeface="Calibri" pitchFamily="34" charset="-122"/>
                <a:cs typeface="Calibri" pitchFamily="34" charset="-120"/>
              </a:rPr>
              <a:t>DE-036</a:t>
            </a:r>
            <a:endParaRPr lang="en-US" sz="800" dirty="0"/>
          </a:p>
        </p:txBody>
      </p:sp>
      <p:sp>
        <p:nvSpPr>
          <p:cNvPr id="61" name="Text 59"/>
          <p:cNvSpPr/>
          <p:nvPr/>
        </p:nvSpPr>
        <p:spPr>
          <a:xfrm>
            <a:off x="1344168" y="4261104"/>
            <a:ext cx="214884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Does the discharge smell?</a:t>
            </a:r>
            <a:endParaRPr lang="en-US" sz="800" dirty="0"/>
          </a:p>
        </p:txBody>
      </p:sp>
      <p:sp>
        <p:nvSpPr>
          <p:cNvPr id="62" name="Text 60"/>
          <p:cNvSpPr/>
          <p:nvPr/>
        </p:nvSpPr>
        <p:spPr>
          <a:xfrm>
            <a:off x="3538728" y="4261104"/>
            <a:ext cx="96012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63" name="Text 61"/>
          <p:cNvSpPr/>
          <p:nvPr/>
        </p:nvSpPr>
        <p:spPr>
          <a:xfrm>
            <a:off x="4544568" y="4261104"/>
            <a:ext cx="288036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1 = yes · 0 = no</a:t>
            </a:r>
            <a:endParaRPr lang="en-US" sz="800" dirty="0"/>
          </a:p>
        </p:txBody>
      </p:sp>
      <p:sp>
        <p:nvSpPr>
          <p:cNvPr id="64" name="Text 62"/>
          <p:cNvSpPr/>
          <p:nvPr/>
        </p:nvSpPr>
        <p:spPr>
          <a:xfrm>
            <a:off x="7470648" y="4261104"/>
            <a:ext cx="160020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secretion ≥ 1</a:t>
            </a:r>
            <a:endParaRPr lang="en-US" sz="800" dirty="0"/>
          </a:p>
        </p:txBody>
      </p:sp>
      <p:sp>
        <p:nvSpPr>
          <p:cNvPr id="65" name="Text 63"/>
          <p:cNvSpPr/>
          <p:nvPr/>
        </p:nvSpPr>
        <p:spPr>
          <a:xfrm>
            <a:off x="9116568" y="4261104"/>
            <a:ext cx="1417320"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66" name="Text 64"/>
          <p:cNvSpPr/>
          <p:nvPr/>
        </p:nvSpPr>
        <p:spPr>
          <a:xfrm>
            <a:off x="10579608" y="4261104"/>
            <a:ext cx="1344168"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SNOMED 288227007</a:t>
            </a:r>
            <a:endParaRPr lang="en-US" sz="800" dirty="0"/>
          </a:p>
        </p:txBody>
      </p:sp>
      <p:sp>
        <p:nvSpPr>
          <p:cNvPr id="67" name="Shape 65"/>
          <p:cNvSpPr/>
          <p:nvPr/>
        </p:nvSpPr>
        <p:spPr>
          <a:xfrm>
            <a:off x="566928" y="4663440"/>
            <a:ext cx="11064240" cy="347472"/>
          </a:xfrm>
          <a:prstGeom prst="roundRect">
            <a:avLst>
              <a:gd name="adj" fmla="val 23684"/>
            </a:avLst>
          </a:prstGeom>
          <a:solidFill>
            <a:srgbClr val="FFFFFF"/>
          </a:solidFill>
          <a:ln w="12700">
            <a:solidFill>
              <a:srgbClr val="FFFFFF"/>
            </a:solidFill>
            <a:prstDash val="solid"/>
          </a:ln>
        </p:spPr>
      </p:sp>
      <p:sp>
        <p:nvSpPr>
          <p:cNvPr id="68" name="Text 66"/>
          <p:cNvSpPr/>
          <p:nvPr/>
        </p:nvSpPr>
        <p:spPr>
          <a:xfrm>
            <a:off x="585216" y="4663440"/>
            <a:ext cx="713232" cy="347472"/>
          </a:xfrm>
          <a:prstGeom prst="rect">
            <a:avLst/>
          </a:prstGeom>
          <a:noFill/>
          <a:ln/>
        </p:spPr>
        <p:txBody>
          <a:bodyPr wrap="square" lIns="0" tIns="0" rIns="0" bIns="0" rtlCol="0" anchor="ctr"/>
          <a:lstStyle/>
          <a:p>
            <a:pPr indent="0" marL="0">
              <a:buNone/>
            </a:pPr>
            <a:r>
              <a:rPr lang="en-US" sz="800" b="1" dirty="0">
                <a:solidFill>
                  <a:srgbClr val="12202E"/>
                </a:solidFill>
                <a:latin typeface="Calibri" pitchFamily="34" charset="0"/>
                <a:ea typeface="Calibri" pitchFamily="34" charset="-122"/>
                <a:cs typeface="Calibri" pitchFamily="34" charset="-120"/>
              </a:rPr>
              <a:t>DE-037</a:t>
            </a:r>
            <a:endParaRPr lang="en-US" sz="800" dirty="0"/>
          </a:p>
        </p:txBody>
      </p:sp>
      <p:sp>
        <p:nvSpPr>
          <p:cNvPr id="69" name="Text 67"/>
          <p:cNvSpPr/>
          <p:nvPr/>
        </p:nvSpPr>
        <p:spPr>
          <a:xfrm>
            <a:off x="1344168" y="4663440"/>
            <a:ext cx="214884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One spot or the whole wound?</a:t>
            </a:r>
            <a:endParaRPr lang="en-US" sz="800" dirty="0"/>
          </a:p>
        </p:txBody>
      </p:sp>
      <p:sp>
        <p:nvSpPr>
          <p:cNvPr id="70" name="Text 68"/>
          <p:cNvSpPr/>
          <p:nvPr/>
        </p:nvSpPr>
        <p:spPr>
          <a:xfrm>
            <a:off x="3538728" y="4663440"/>
            <a:ext cx="96012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71" name="Text 69"/>
          <p:cNvSpPr/>
          <p:nvPr/>
        </p:nvSpPr>
        <p:spPr>
          <a:xfrm>
            <a:off x="4544568" y="4663440"/>
            <a:ext cx="288036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1 = small spot · 2 = along the wound</a:t>
            </a:r>
            <a:endParaRPr lang="en-US" sz="800" dirty="0"/>
          </a:p>
        </p:txBody>
      </p:sp>
      <p:sp>
        <p:nvSpPr>
          <p:cNvPr id="72" name="Text 70"/>
          <p:cNvSpPr/>
          <p:nvPr/>
        </p:nvSpPr>
        <p:spPr>
          <a:xfrm>
            <a:off x="7470648" y="4663440"/>
            <a:ext cx="160020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secretion ≥ 1</a:t>
            </a:r>
            <a:endParaRPr lang="en-US" sz="800" dirty="0"/>
          </a:p>
        </p:txBody>
      </p:sp>
      <p:sp>
        <p:nvSpPr>
          <p:cNvPr id="73" name="Text 71"/>
          <p:cNvSpPr/>
          <p:nvPr/>
        </p:nvSpPr>
        <p:spPr>
          <a:xfrm>
            <a:off x="9116568" y="4663440"/>
            <a:ext cx="1417320"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74" name="Text 72"/>
          <p:cNvSpPr/>
          <p:nvPr/>
        </p:nvSpPr>
        <p:spPr>
          <a:xfrm>
            <a:off x="10579608" y="4663440"/>
            <a:ext cx="1344168"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75" name="Shape 73"/>
          <p:cNvSpPr/>
          <p:nvPr/>
        </p:nvSpPr>
        <p:spPr>
          <a:xfrm>
            <a:off x="566928" y="5065776"/>
            <a:ext cx="11064240" cy="347472"/>
          </a:xfrm>
          <a:prstGeom prst="roundRect">
            <a:avLst>
              <a:gd name="adj" fmla="val 23684"/>
            </a:avLst>
          </a:prstGeom>
          <a:solidFill>
            <a:srgbClr val="F5F7FA"/>
          </a:solidFill>
          <a:ln w="12700">
            <a:solidFill>
              <a:srgbClr val="DDE5EE"/>
            </a:solidFill>
            <a:prstDash val="solid"/>
          </a:ln>
        </p:spPr>
      </p:sp>
      <p:sp>
        <p:nvSpPr>
          <p:cNvPr id="76" name="Text 74"/>
          <p:cNvSpPr/>
          <p:nvPr/>
        </p:nvSpPr>
        <p:spPr>
          <a:xfrm>
            <a:off x="585216" y="5065776"/>
            <a:ext cx="713232" cy="347472"/>
          </a:xfrm>
          <a:prstGeom prst="rect">
            <a:avLst/>
          </a:prstGeom>
          <a:noFill/>
          <a:ln/>
        </p:spPr>
        <p:txBody>
          <a:bodyPr wrap="square" lIns="0" tIns="0" rIns="0" bIns="0" rtlCol="0" anchor="ctr"/>
          <a:lstStyle/>
          <a:p>
            <a:pPr indent="0" marL="0">
              <a:buNone/>
            </a:pPr>
            <a:r>
              <a:rPr lang="en-US" sz="800" b="1" dirty="0">
                <a:solidFill>
                  <a:srgbClr val="12202E"/>
                </a:solidFill>
                <a:latin typeface="Calibri" pitchFamily="34" charset="0"/>
                <a:ea typeface="Calibri" pitchFamily="34" charset="-122"/>
                <a:cs typeface="Calibri" pitchFamily="34" charset="-120"/>
              </a:rPr>
              <a:t>DE-038</a:t>
            </a:r>
            <a:endParaRPr lang="en-US" sz="800" dirty="0"/>
          </a:p>
        </p:txBody>
      </p:sp>
      <p:sp>
        <p:nvSpPr>
          <p:cNvPr id="77" name="Text 75"/>
          <p:cNvSpPr/>
          <p:nvPr/>
        </p:nvSpPr>
        <p:spPr>
          <a:xfrm>
            <a:off x="1344168" y="5065776"/>
            <a:ext cx="214884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For how many days?</a:t>
            </a:r>
            <a:endParaRPr lang="en-US" sz="800" dirty="0"/>
          </a:p>
        </p:txBody>
      </p:sp>
      <p:sp>
        <p:nvSpPr>
          <p:cNvPr id="78" name="Text 76"/>
          <p:cNvSpPr/>
          <p:nvPr/>
        </p:nvSpPr>
        <p:spPr>
          <a:xfrm>
            <a:off x="3538728" y="5065776"/>
            <a:ext cx="96012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integer</a:t>
            </a:r>
            <a:endParaRPr lang="en-US" sz="800" dirty="0"/>
          </a:p>
        </p:txBody>
      </p:sp>
      <p:sp>
        <p:nvSpPr>
          <p:cNvPr id="79" name="Text 77"/>
          <p:cNvSpPr/>
          <p:nvPr/>
        </p:nvSpPr>
        <p:spPr>
          <a:xfrm>
            <a:off x="4544568" y="5065776"/>
            <a:ext cx="288036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free numeric input, days</a:t>
            </a:r>
            <a:endParaRPr lang="en-US" sz="800" dirty="0"/>
          </a:p>
        </p:txBody>
      </p:sp>
      <p:sp>
        <p:nvSpPr>
          <p:cNvPr id="80" name="Text 78"/>
          <p:cNvSpPr/>
          <p:nvPr/>
        </p:nvSpPr>
        <p:spPr>
          <a:xfrm>
            <a:off x="7470648" y="5065776"/>
            <a:ext cx="160020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secretion ≥ 1</a:t>
            </a:r>
            <a:endParaRPr lang="en-US" sz="800" dirty="0"/>
          </a:p>
        </p:txBody>
      </p:sp>
      <p:sp>
        <p:nvSpPr>
          <p:cNvPr id="81" name="Text 79"/>
          <p:cNvSpPr/>
          <p:nvPr/>
        </p:nvSpPr>
        <p:spPr>
          <a:xfrm>
            <a:off x="9116568" y="5065776"/>
            <a:ext cx="1417320"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0–60</a:t>
            </a:r>
            <a:endParaRPr lang="en-US" sz="800" dirty="0"/>
          </a:p>
        </p:txBody>
      </p:sp>
      <p:sp>
        <p:nvSpPr>
          <p:cNvPr id="82" name="Text 80"/>
          <p:cNvSpPr/>
          <p:nvPr/>
        </p:nvSpPr>
        <p:spPr>
          <a:xfrm>
            <a:off x="10579608" y="5065776"/>
            <a:ext cx="1344168"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83" name="Shape 81"/>
          <p:cNvSpPr/>
          <p:nvPr/>
        </p:nvSpPr>
        <p:spPr>
          <a:xfrm>
            <a:off x="566928" y="5468112"/>
            <a:ext cx="11064240" cy="347472"/>
          </a:xfrm>
          <a:prstGeom prst="roundRect">
            <a:avLst>
              <a:gd name="adj" fmla="val 23684"/>
            </a:avLst>
          </a:prstGeom>
          <a:solidFill>
            <a:srgbClr val="FFFFFF"/>
          </a:solidFill>
          <a:ln w="12700">
            <a:solidFill>
              <a:srgbClr val="FFFFFF"/>
            </a:solidFill>
            <a:prstDash val="solid"/>
          </a:ln>
        </p:spPr>
      </p:sp>
      <p:sp>
        <p:nvSpPr>
          <p:cNvPr id="84" name="Text 82"/>
          <p:cNvSpPr/>
          <p:nvPr/>
        </p:nvSpPr>
        <p:spPr>
          <a:xfrm>
            <a:off x="585216" y="5468112"/>
            <a:ext cx="713232" cy="347472"/>
          </a:xfrm>
          <a:prstGeom prst="rect">
            <a:avLst/>
          </a:prstGeom>
          <a:noFill/>
          <a:ln/>
        </p:spPr>
        <p:txBody>
          <a:bodyPr wrap="square" lIns="0" tIns="0" rIns="0" bIns="0" rtlCol="0" anchor="ctr"/>
          <a:lstStyle/>
          <a:p>
            <a:pPr indent="0" marL="0">
              <a:buNone/>
            </a:pPr>
            <a:r>
              <a:rPr lang="en-US" sz="800" b="1" dirty="0">
                <a:solidFill>
                  <a:srgbClr val="12202E"/>
                </a:solidFill>
                <a:latin typeface="Calibri" pitchFamily="34" charset="0"/>
                <a:ea typeface="Calibri" pitchFamily="34" charset="-122"/>
                <a:cs typeface="Calibri" pitchFamily="34" charset="-120"/>
              </a:rPr>
              <a:t>DE-025</a:t>
            </a:r>
            <a:endParaRPr lang="en-US" sz="800" dirty="0"/>
          </a:p>
        </p:txBody>
      </p:sp>
      <p:sp>
        <p:nvSpPr>
          <p:cNvPr id="85" name="Text 83"/>
          <p:cNvSpPr/>
          <p:nvPr/>
        </p:nvSpPr>
        <p:spPr>
          <a:xfrm>
            <a:off x="1344168" y="5468112"/>
            <a:ext cx="214884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Did pain disturb your sleep?</a:t>
            </a:r>
            <a:endParaRPr lang="en-US" sz="800" dirty="0"/>
          </a:p>
        </p:txBody>
      </p:sp>
      <p:sp>
        <p:nvSpPr>
          <p:cNvPr id="86" name="Text 84"/>
          <p:cNvSpPr/>
          <p:nvPr/>
        </p:nvSpPr>
        <p:spPr>
          <a:xfrm>
            <a:off x="3538728" y="5468112"/>
            <a:ext cx="96012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select_one</a:t>
            </a:r>
            <a:endParaRPr lang="en-US" sz="800" dirty="0"/>
          </a:p>
        </p:txBody>
      </p:sp>
      <p:sp>
        <p:nvSpPr>
          <p:cNvPr id="87" name="Text 85"/>
          <p:cNvSpPr/>
          <p:nvPr/>
        </p:nvSpPr>
        <p:spPr>
          <a:xfrm>
            <a:off x="4544568" y="5468112"/>
            <a:ext cx="288036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1 = yes · 0 = no</a:t>
            </a:r>
            <a:endParaRPr lang="en-US" sz="800" dirty="0"/>
          </a:p>
        </p:txBody>
      </p:sp>
      <p:sp>
        <p:nvSpPr>
          <p:cNvPr id="88" name="Text 86"/>
          <p:cNvSpPr/>
          <p:nvPr/>
        </p:nvSpPr>
        <p:spPr>
          <a:xfrm>
            <a:off x="7470648" y="5468112"/>
            <a:ext cx="160020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pain ≥ 4</a:t>
            </a:r>
            <a:endParaRPr lang="en-US" sz="800" dirty="0"/>
          </a:p>
        </p:txBody>
      </p:sp>
      <p:sp>
        <p:nvSpPr>
          <p:cNvPr id="89" name="Text 87"/>
          <p:cNvSpPr/>
          <p:nvPr/>
        </p:nvSpPr>
        <p:spPr>
          <a:xfrm>
            <a:off x="9116568" y="5468112"/>
            <a:ext cx="1417320"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90" name="Text 88"/>
          <p:cNvSpPr/>
          <p:nvPr/>
        </p:nvSpPr>
        <p:spPr>
          <a:xfrm>
            <a:off x="10579608" y="5468112"/>
            <a:ext cx="1344168"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SNOMED 301345002</a:t>
            </a:r>
            <a:endParaRPr lang="en-US" sz="800" dirty="0"/>
          </a:p>
        </p:txBody>
      </p:sp>
      <p:sp>
        <p:nvSpPr>
          <p:cNvPr id="91" name="Shape 89"/>
          <p:cNvSpPr/>
          <p:nvPr/>
        </p:nvSpPr>
        <p:spPr>
          <a:xfrm>
            <a:off x="566928" y="5870448"/>
            <a:ext cx="11064240" cy="347472"/>
          </a:xfrm>
          <a:prstGeom prst="roundRect">
            <a:avLst>
              <a:gd name="adj" fmla="val 23684"/>
            </a:avLst>
          </a:prstGeom>
          <a:solidFill>
            <a:srgbClr val="F5F7FA"/>
          </a:solidFill>
          <a:ln w="12700">
            <a:solidFill>
              <a:srgbClr val="DDE5EE"/>
            </a:solidFill>
            <a:prstDash val="solid"/>
          </a:ln>
        </p:spPr>
      </p:sp>
      <p:sp>
        <p:nvSpPr>
          <p:cNvPr id="92" name="Text 90"/>
          <p:cNvSpPr/>
          <p:nvPr/>
        </p:nvSpPr>
        <p:spPr>
          <a:xfrm>
            <a:off x="585216" y="5870448"/>
            <a:ext cx="713232" cy="347472"/>
          </a:xfrm>
          <a:prstGeom prst="rect">
            <a:avLst/>
          </a:prstGeom>
          <a:noFill/>
          <a:ln/>
        </p:spPr>
        <p:txBody>
          <a:bodyPr wrap="square" lIns="0" tIns="0" rIns="0" bIns="0" rtlCol="0" anchor="ctr"/>
          <a:lstStyle/>
          <a:p>
            <a:pPr indent="0" marL="0">
              <a:buNone/>
            </a:pPr>
            <a:r>
              <a:rPr lang="en-US" sz="800" b="1" dirty="0">
                <a:solidFill>
                  <a:srgbClr val="12202E"/>
                </a:solidFill>
                <a:latin typeface="Calibri" pitchFamily="34" charset="0"/>
                <a:ea typeface="Calibri" pitchFamily="34" charset="-122"/>
                <a:cs typeface="Calibri" pitchFamily="34" charset="-120"/>
              </a:rPr>
              <a:t>DE-045</a:t>
            </a:r>
            <a:endParaRPr lang="en-US" sz="800" dirty="0"/>
          </a:p>
        </p:txBody>
      </p:sp>
      <p:sp>
        <p:nvSpPr>
          <p:cNvPr id="93" name="Text 91"/>
          <p:cNvSpPr/>
          <p:nvPr/>
        </p:nvSpPr>
        <p:spPr>
          <a:xfrm>
            <a:off x="1344168" y="5870448"/>
            <a:ext cx="214884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Southampton grade</a:t>
            </a:r>
            <a:endParaRPr lang="en-US" sz="800" dirty="0"/>
          </a:p>
        </p:txBody>
      </p:sp>
      <p:sp>
        <p:nvSpPr>
          <p:cNvPr id="94" name="Text 92"/>
          <p:cNvSpPr/>
          <p:nvPr/>
        </p:nvSpPr>
        <p:spPr>
          <a:xfrm>
            <a:off x="3538728" y="5870448"/>
            <a:ext cx="96012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calculated</a:t>
            </a:r>
            <a:endParaRPr lang="en-US" sz="800" dirty="0"/>
          </a:p>
        </p:txBody>
      </p:sp>
      <p:sp>
        <p:nvSpPr>
          <p:cNvPr id="95" name="Text 93"/>
          <p:cNvSpPr/>
          <p:nvPr/>
        </p:nvSpPr>
        <p:spPr>
          <a:xfrm>
            <a:off x="4544568" y="5870448"/>
            <a:ext cx="288036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0 · I · II · III · IV · V</a:t>
            </a:r>
            <a:endParaRPr lang="en-US" sz="800" dirty="0"/>
          </a:p>
        </p:txBody>
      </p:sp>
      <p:sp>
        <p:nvSpPr>
          <p:cNvPr id="96" name="Text 94"/>
          <p:cNvSpPr/>
          <p:nvPr/>
        </p:nvSpPr>
        <p:spPr>
          <a:xfrm>
            <a:off x="7470648" y="5870448"/>
            <a:ext cx="1600200" cy="347472"/>
          </a:xfrm>
          <a:prstGeom prst="rect">
            <a:avLst/>
          </a:prstGeom>
          <a:noFill/>
          <a:ln/>
        </p:spPr>
        <p:txBody>
          <a:bodyPr wrap="square" lIns="0" tIns="0" rIns="0" bIns="0" rtlCol="0" anchor="ctr"/>
          <a:lstStyle/>
          <a:p>
            <a:pPr indent="0" marL="0">
              <a:buNone/>
            </a:pPr>
            <a:r>
              <a:rPr lang="en-US" sz="800" dirty="0">
                <a:solidFill>
                  <a:srgbClr val="12202E"/>
                </a:solidFill>
                <a:latin typeface="Calibri" pitchFamily="34" charset="0"/>
                <a:ea typeface="Calibri" pitchFamily="34" charset="-122"/>
                <a:cs typeface="Calibri" pitchFamily="34" charset="-120"/>
              </a:rPr>
              <a:t>derived from 5 elements</a:t>
            </a:r>
            <a:endParaRPr lang="en-US" sz="800" dirty="0"/>
          </a:p>
        </p:txBody>
      </p:sp>
      <p:sp>
        <p:nvSpPr>
          <p:cNvPr id="97" name="Text 95"/>
          <p:cNvSpPr/>
          <p:nvPr/>
        </p:nvSpPr>
        <p:spPr>
          <a:xfrm>
            <a:off x="9116568" y="5870448"/>
            <a:ext cx="1417320"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a:t>
            </a:r>
            <a:endParaRPr lang="en-US" sz="800" dirty="0"/>
          </a:p>
        </p:txBody>
      </p:sp>
      <p:sp>
        <p:nvSpPr>
          <p:cNvPr id="98" name="Text 96"/>
          <p:cNvSpPr/>
          <p:nvPr/>
        </p:nvSpPr>
        <p:spPr>
          <a:xfrm>
            <a:off x="10579608" y="5870448"/>
            <a:ext cx="1344168" cy="347472"/>
          </a:xfrm>
          <a:prstGeom prst="rect">
            <a:avLst/>
          </a:prstGeom>
          <a:noFill/>
          <a:ln/>
        </p:spPr>
        <p:txBody>
          <a:bodyPr wrap="square" lIns="0" tIns="0" rIns="0" bIns="0" rtlCol="0" anchor="ctr"/>
          <a:lstStyle/>
          <a:p>
            <a:pPr indent="0" marL="0">
              <a:buNone/>
            </a:pPr>
            <a:r>
              <a:rPr lang="en-US" sz="800" dirty="0">
                <a:solidFill>
                  <a:srgbClr val="5D7186"/>
                </a:solidFill>
                <a:latin typeface="Calibri" pitchFamily="34" charset="0"/>
                <a:ea typeface="Calibri" pitchFamily="34" charset="-122"/>
                <a:cs typeface="Calibri" pitchFamily="34" charset="-120"/>
              </a:rPr>
              <a:t>SNOMED 225552003</a:t>
            </a:r>
            <a:endParaRPr lang="en-US" sz="800" dirty="0"/>
          </a:p>
        </p:txBody>
      </p:sp>
      <p:sp>
        <p:nvSpPr>
          <p:cNvPr id="99" name="Text 97"/>
          <p:cNvSpPr/>
          <p:nvPr/>
        </p:nvSpPr>
        <p:spPr>
          <a:xfrm>
            <a:off x="566928" y="6345936"/>
            <a:ext cx="11064240" cy="274320"/>
          </a:xfrm>
          <a:prstGeom prst="rect">
            <a:avLst/>
          </a:prstGeom>
          <a:noFill/>
          <a:ln/>
        </p:spPr>
        <p:txBody>
          <a:bodyPr wrap="square" lIns="0" tIns="0" rIns="0" bIns="0" rtlCol="0" anchor="ctr"/>
          <a:lstStyle/>
          <a:p>
            <a:pPr indent="0" marL="0">
              <a:buNone/>
            </a:pPr>
            <a:r>
              <a:rPr lang="en-US" sz="1000" i="1" dirty="0">
                <a:solidFill>
                  <a:srgbClr val="5D7186"/>
                </a:solidFill>
                <a:latin typeface="Calibri" pitchFamily="34" charset="0"/>
                <a:ea typeface="Calibri" pitchFamily="34" charset="-122"/>
                <a:cs typeface="Calibri" pitchFamily="34" charset="-120"/>
              </a:rPr>
              <a:t>48 elements in total · 9 derived · 4 with conditional logic · 8 with constraints · 38 with a terminology binding · 47 with a FHIR mapping.  Full table: docs/05.</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BACKUP · DOCUMENTATION</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Depth that did not fit into ten minutes</a:t>
            </a:r>
            <a:endParaRPr lang="en-US" sz="2700" dirty="0"/>
          </a:p>
        </p:txBody>
      </p:sp>
      <p:sp>
        <p:nvSpPr>
          <p:cNvPr id="4" name="Shape 2"/>
          <p:cNvSpPr/>
          <p:nvPr/>
        </p:nvSpPr>
        <p:spPr>
          <a:xfrm>
            <a:off x="566928" y="1591056"/>
            <a:ext cx="5440680" cy="2139696"/>
          </a:xfrm>
          <a:prstGeom prst="roundRect">
            <a:avLst>
              <a:gd name="adj" fmla="val 3846"/>
            </a:avLst>
          </a:prstGeom>
          <a:solidFill>
            <a:srgbClr val="F5F7FA"/>
          </a:solidFill>
          <a:ln w="12700">
            <a:solidFill>
              <a:srgbClr val="DDE5EE"/>
            </a:solidFill>
            <a:prstDash val="solid"/>
          </a:ln>
        </p:spPr>
      </p:sp>
      <p:sp>
        <p:nvSpPr>
          <p:cNvPr id="5" name="Text 3"/>
          <p:cNvSpPr/>
          <p:nvPr/>
        </p:nvSpPr>
        <p:spPr>
          <a:xfrm>
            <a:off x="804672" y="1737360"/>
            <a:ext cx="4937760" cy="274320"/>
          </a:xfrm>
          <a:prstGeom prst="rect">
            <a:avLst/>
          </a:prstGeom>
          <a:noFill/>
          <a:ln/>
        </p:spPr>
        <p:txBody>
          <a:bodyPr wrap="square" lIns="0" tIns="0" rIns="0" bIns="0" rtlCol="0" anchor="ctr"/>
          <a:lstStyle/>
          <a:p>
            <a:pPr indent="0" marL="0">
              <a:buNone/>
            </a:pPr>
            <a:r>
              <a:rPr lang="en-US" sz="1250" b="1" dirty="0">
                <a:solidFill>
                  <a:srgbClr val="12202E"/>
                </a:solidFill>
                <a:latin typeface="Calibri" pitchFamily="34" charset="0"/>
                <a:ea typeface="Calibri" pitchFamily="34" charset="-122"/>
                <a:cs typeface="Calibri" pitchFamily="34" charset="-120"/>
              </a:rPr>
              <a:t>Testing types applied (Day 5 vocabulary)</a:t>
            </a:r>
            <a:endParaRPr lang="en-US" sz="1250" dirty="0"/>
          </a:p>
        </p:txBody>
      </p:sp>
      <p:sp>
        <p:nvSpPr>
          <p:cNvPr id="6" name="Text 4"/>
          <p:cNvSpPr/>
          <p:nvPr/>
        </p:nvSpPr>
        <p:spPr>
          <a:xfrm>
            <a:off x="804672" y="2066544"/>
            <a:ext cx="4937760" cy="1554480"/>
          </a:xfrm>
          <a:prstGeom prst="rect">
            <a:avLst/>
          </a:prstGeom>
          <a:noFill/>
          <a:ln/>
        </p:spPr>
        <p:txBody>
          <a:bodyPr wrap="square" lIns="0" tIns="0" rIns="0" bIns="0" rtlCol="0" anchor="ctr"/>
          <a:lstStyle/>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L2 verification — decision table ↔ BPMN cascade ↔ L3 rules reconciled</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Functional testing — individual rules, exclusions, severity order, boundary values</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Integration testing — derived elements → rules → output; conditional logic → rule reachability</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Usability testing — image assignment by lay people: NOT carried out, our largest residual risk</a:t>
            </a:r>
            <a:endParaRPr lang="en-US" sz="1000" dirty="0"/>
          </a:p>
        </p:txBody>
      </p:sp>
      <p:sp>
        <p:nvSpPr>
          <p:cNvPr id="7" name="Shape 5"/>
          <p:cNvSpPr/>
          <p:nvPr/>
        </p:nvSpPr>
        <p:spPr>
          <a:xfrm>
            <a:off x="6190488" y="1591056"/>
            <a:ext cx="5440680" cy="2139696"/>
          </a:xfrm>
          <a:prstGeom prst="roundRect">
            <a:avLst>
              <a:gd name="adj" fmla="val 3846"/>
            </a:avLst>
          </a:prstGeom>
          <a:solidFill>
            <a:srgbClr val="FFFFFF"/>
          </a:solidFill>
          <a:ln w="12700">
            <a:solidFill>
              <a:srgbClr val="DDE5EE"/>
            </a:solidFill>
            <a:prstDash val="solid"/>
          </a:ln>
        </p:spPr>
      </p:sp>
      <p:sp>
        <p:nvSpPr>
          <p:cNvPr id="8" name="Text 6"/>
          <p:cNvSpPr/>
          <p:nvPr/>
        </p:nvSpPr>
        <p:spPr>
          <a:xfrm>
            <a:off x="6428232" y="1737360"/>
            <a:ext cx="4937760" cy="274320"/>
          </a:xfrm>
          <a:prstGeom prst="rect">
            <a:avLst/>
          </a:prstGeom>
          <a:noFill/>
          <a:ln/>
        </p:spPr>
        <p:txBody>
          <a:bodyPr wrap="square" lIns="0" tIns="0" rIns="0" bIns="0" rtlCol="0" anchor="ctr"/>
          <a:lstStyle/>
          <a:p>
            <a:pPr indent="0" marL="0">
              <a:buNone/>
            </a:pPr>
            <a:r>
              <a:rPr lang="en-US" sz="1250" b="1" dirty="0">
                <a:solidFill>
                  <a:srgbClr val="12202E"/>
                </a:solidFill>
                <a:latin typeface="Calibri" pitchFamily="34" charset="0"/>
                <a:ea typeface="Calibri" pitchFamily="34" charset="-122"/>
                <a:cs typeface="Calibri" pitchFamily="34" charset="-120"/>
              </a:rPr>
              <a:t>The L3 implementation package (Day 3)</a:t>
            </a:r>
            <a:endParaRPr lang="en-US" sz="1250" dirty="0"/>
          </a:p>
        </p:txBody>
      </p:sp>
      <p:sp>
        <p:nvSpPr>
          <p:cNvPr id="9" name="Text 7"/>
          <p:cNvSpPr/>
          <p:nvPr/>
        </p:nvSpPr>
        <p:spPr>
          <a:xfrm>
            <a:off x="6428232" y="2066544"/>
            <a:ext cx="4937760" cy="1554480"/>
          </a:xfrm>
          <a:prstGeom prst="rect">
            <a:avLst/>
          </a:prstGeom>
          <a:noFill/>
          <a:ln/>
        </p:spPr>
        <p:txBody>
          <a:bodyPr wrap="square" lIns="0" tIns="0" rIns="0" bIns="0" rtlCol="0" anchor="ctr"/>
          <a:lstStyle/>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Documentation — health need, personas, BPMN</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Content / workflow — sections, relevant, decision rules</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Terminology — SNOMED CT / LOINC / ICD-10 bindings</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Validation — 19 test cases, test data, conformance checks</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Interfaces — FHIR export · UI/UX — image options, traffic light</a:t>
            </a:r>
            <a:endParaRPr lang="en-US" sz="1000" dirty="0"/>
          </a:p>
        </p:txBody>
      </p:sp>
      <p:sp>
        <p:nvSpPr>
          <p:cNvPr id="10" name="Shape 8"/>
          <p:cNvSpPr/>
          <p:nvPr/>
        </p:nvSpPr>
        <p:spPr>
          <a:xfrm>
            <a:off x="566928" y="3931920"/>
            <a:ext cx="5440680" cy="2139696"/>
          </a:xfrm>
          <a:prstGeom prst="roundRect">
            <a:avLst>
              <a:gd name="adj" fmla="val 3846"/>
            </a:avLst>
          </a:prstGeom>
          <a:solidFill>
            <a:srgbClr val="FFFFFF"/>
          </a:solidFill>
          <a:ln w="12700">
            <a:solidFill>
              <a:srgbClr val="DDE5EE"/>
            </a:solidFill>
            <a:prstDash val="solid"/>
          </a:ln>
        </p:spPr>
      </p:sp>
      <p:sp>
        <p:nvSpPr>
          <p:cNvPr id="11" name="Text 9"/>
          <p:cNvSpPr/>
          <p:nvPr/>
        </p:nvSpPr>
        <p:spPr>
          <a:xfrm>
            <a:off x="804672" y="4078224"/>
            <a:ext cx="4937760" cy="274320"/>
          </a:xfrm>
          <a:prstGeom prst="rect">
            <a:avLst/>
          </a:prstGeom>
          <a:noFill/>
          <a:ln/>
        </p:spPr>
        <p:txBody>
          <a:bodyPr wrap="square" lIns="0" tIns="0" rIns="0" bIns="0" rtlCol="0" anchor="ctr"/>
          <a:lstStyle/>
          <a:p>
            <a:pPr indent="0" marL="0">
              <a:buNone/>
            </a:pPr>
            <a:r>
              <a:rPr lang="en-US" sz="1250" b="1" dirty="0">
                <a:solidFill>
                  <a:srgbClr val="12202E"/>
                </a:solidFill>
                <a:latin typeface="Calibri" pitchFamily="34" charset="0"/>
                <a:ea typeface="Calibri" pitchFamily="34" charset="-122"/>
                <a:cs typeface="Calibri" pitchFamily="34" charset="-120"/>
              </a:rPr>
              <a:t>Stakeholders and where it could fail</a:t>
            </a:r>
            <a:endParaRPr lang="en-US" sz="1250" dirty="0"/>
          </a:p>
        </p:txBody>
      </p:sp>
      <p:sp>
        <p:nvSpPr>
          <p:cNvPr id="12" name="Text 10"/>
          <p:cNvSpPr/>
          <p:nvPr/>
        </p:nvSpPr>
        <p:spPr>
          <a:xfrm>
            <a:off x="804672" y="4407408"/>
            <a:ext cx="4937760" cy="1554480"/>
          </a:xfrm>
          <a:prstGeom prst="rect">
            <a:avLst/>
          </a:prstGeom>
          <a:noFill/>
          <a:ln/>
        </p:spPr>
        <p:txBody>
          <a:bodyPr wrap="square" lIns="0" tIns="0" rIns="0" bIns="0" rtlCol="0" anchor="ctr"/>
          <a:lstStyle/>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The critical group is the practice, not the patient</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If Sandra experiences the alerts as a burden, the rollout fails — however good the classification is</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Hence: alerts only from ORANGE upwards, structured instead of free text, alert load measured explicitly</a:t>
            </a:r>
            <a:endParaRPr lang="en-US" sz="1000" dirty="0"/>
          </a:p>
        </p:txBody>
      </p:sp>
      <p:sp>
        <p:nvSpPr>
          <p:cNvPr id="13" name="Shape 11"/>
          <p:cNvSpPr/>
          <p:nvPr/>
        </p:nvSpPr>
        <p:spPr>
          <a:xfrm>
            <a:off x="6190488" y="3931920"/>
            <a:ext cx="5440680" cy="2139696"/>
          </a:xfrm>
          <a:prstGeom prst="roundRect">
            <a:avLst>
              <a:gd name="adj" fmla="val 3846"/>
            </a:avLst>
          </a:prstGeom>
          <a:solidFill>
            <a:srgbClr val="F5F7FA"/>
          </a:solidFill>
          <a:ln w="12700">
            <a:solidFill>
              <a:srgbClr val="DDE5EE"/>
            </a:solidFill>
            <a:prstDash val="solid"/>
          </a:ln>
        </p:spPr>
      </p:sp>
      <p:sp>
        <p:nvSpPr>
          <p:cNvPr id="14" name="Text 12"/>
          <p:cNvSpPr/>
          <p:nvPr/>
        </p:nvSpPr>
        <p:spPr>
          <a:xfrm>
            <a:off x="6428232" y="4078224"/>
            <a:ext cx="4937760" cy="274320"/>
          </a:xfrm>
          <a:prstGeom prst="rect">
            <a:avLst/>
          </a:prstGeom>
          <a:noFill/>
          <a:ln/>
        </p:spPr>
        <p:txBody>
          <a:bodyPr wrap="square" lIns="0" tIns="0" rIns="0" bIns="0" rtlCol="0" anchor="ctr"/>
          <a:lstStyle/>
          <a:p>
            <a:pPr indent="0" marL="0">
              <a:buNone/>
            </a:pPr>
            <a:r>
              <a:rPr lang="en-US" sz="1250" b="1" dirty="0">
                <a:solidFill>
                  <a:srgbClr val="12202E"/>
                </a:solidFill>
                <a:latin typeface="Calibri" pitchFamily="34" charset="0"/>
                <a:ea typeface="Calibri" pitchFamily="34" charset="-122"/>
                <a:cs typeface="Calibri" pitchFamily="34" charset="-120"/>
              </a:rPr>
              <a:t>What we would do with three more months</a:t>
            </a:r>
            <a:endParaRPr lang="en-US" sz="1250" dirty="0"/>
          </a:p>
        </p:txBody>
      </p:sp>
      <p:sp>
        <p:nvSpPr>
          <p:cNvPr id="15" name="Text 13"/>
          <p:cNvSpPr/>
          <p:nvPr/>
        </p:nvSpPr>
        <p:spPr>
          <a:xfrm>
            <a:off x="6428232" y="4407408"/>
            <a:ext cx="4937760" cy="1554480"/>
          </a:xfrm>
          <a:prstGeom prst="rect">
            <a:avLst/>
          </a:prstGeom>
          <a:noFill/>
          <a:ln/>
        </p:spPr>
        <p:txBody>
          <a:bodyPr wrap="square" lIns="0" tIns="0" rIns="0" bIns="0" rtlCol="0" anchor="ctr"/>
          <a:lstStyle/>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1 · Clinical sign-off on every threshold and rule — it settles all nine L1→L2 decisions at once</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2 · Usability study on the image assignment — validates the central design idea</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3 · Graphics for several skin tones and body regions</a:t>
            </a:r>
            <a:endParaRPr lang="en-US" sz="1000" dirty="0"/>
          </a:p>
          <a:p>
            <a:pPr marL="177800" indent="-177800">
              <a:lnSpc>
                <a:spcPts val="1300"/>
              </a:lnSpc>
              <a:spcAft>
                <a:spcPts val="500"/>
              </a:spcAft>
              <a:buSzPct val="100000"/>
              <a:buChar char="•"/>
            </a:pPr>
            <a:r>
              <a:rPr lang="en-US" sz="1000" dirty="0">
                <a:solidFill>
                  <a:srgbClr val="5D7186"/>
                </a:solidFill>
                <a:latin typeface="Calibri" pitchFamily="34" charset="0"/>
                <a:ea typeface="Calibri" pitchFamily="34" charset="-122"/>
                <a:cs typeface="Calibri" pitchFamily="34" charset="-120"/>
              </a:rPr>
              <a:t>4 · Convert the L3 to a FHIR Questionnaire — the software neutrality we consciously gave up</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680960" cy="219456"/>
          </a:xfrm>
          <a:prstGeom prst="rect">
            <a:avLst/>
          </a:prstGeom>
          <a:noFill/>
          <a:ln/>
        </p:spPr>
        <p:txBody>
          <a:bodyPr wrap="square" lIns="0" tIns="0" rIns="0" bIns="0" rtlCol="0" anchor="ctr"/>
          <a:lstStyle/>
          <a:p>
            <a:pPr indent="0" marL="0">
              <a:buNone/>
            </a:pPr>
            <a:r>
              <a:rPr lang="en-US" sz="1050" b="1" spc="160" kern="0" dirty="0">
                <a:solidFill>
                  <a:srgbClr val="5D7186"/>
                </a:solidFill>
                <a:latin typeface="Calibri" pitchFamily="34" charset="0"/>
                <a:ea typeface="Calibri" pitchFamily="34" charset="-122"/>
                <a:cs typeface="Calibri" pitchFamily="34" charset="-120"/>
              </a:rPr>
              <a:t>BACKUP · REFERENCES</a:t>
            </a:r>
            <a:endParaRPr lang="en-US" sz="1050" dirty="0"/>
          </a:p>
        </p:txBody>
      </p:sp>
      <p:sp>
        <p:nvSpPr>
          <p:cNvPr id="3" name="Text 1"/>
          <p:cNvSpPr/>
          <p:nvPr/>
        </p:nvSpPr>
        <p:spPr>
          <a:xfrm>
            <a:off x="566928" y="640080"/>
            <a:ext cx="10607040" cy="658368"/>
          </a:xfrm>
          <a:prstGeom prst="rect">
            <a:avLst/>
          </a:prstGeom>
          <a:noFill/>
          <a:ln/>
        </p:spPr>
        <p:txBody>
          <a:bodyPr wrap="square" lIns="0" tIns="0" rIns="0" bIns="0" rtlCol="0" anchor="t"/>
          <a:lstStyle/>
          <a:p>
            <a:pPr indent="0" marL="0">
              <a:buNone/>
            </a:pPr>
            <a:r>
              <a:rPr lang="en-US" sz="2700" b="1" dirty="0">
                <a:solidFill>
                  <a:srgbClr val="12202E"/>
                </a:solidFill>
                <a:latin typeface="Cambria" pitchFamily="34" charset="0"/>
                <a:ea typeface="Cambria" pitchFamily="34" charset="-122"/>
                <a:cs typeface="Cambria" pitchFamily="34" charset="-120"/>
              </a:rPr>
              <a:t>Sources</a:t>
            </a:r>
            <a:endParaRPr lang="en-US" sz="2700" dirty="0"/>
          </a:p>
        </p:txBody>
      </p:sp>
      <p:sp>
        <p:nvSpPr>
          <p:cNvPr id="4" name="Shape 2"/>
          <p:cNvSpPr/>
          <p:nvPr/>
        </p:nvSpPr>
        <p:spPr>
          <a:xfrm>
            <a:off x="566928" y="1554480"/>
            <a:ext cx="11064240" cy="420624"/>
          </a:xfrm>
          <a:prstGeom prst="roundRect">
            <a:avLst>
              <a:gd name="adj" fmla="val 13043"/>
            </a:avLst>
          </a:prstGeom>
          <a:solidFill>
            <a:srgbClr val="F5F7FA"/>
          </a:solidFill>
          <a:ln w="12700">
            <a:solidFill>
              <a:srgbClr val="DDE5EE"/>
            </a:solidFill>
            <a:prstDash val="solid"/>
          </a:ln>
        </p:spPr>
      </p:sp>
      <p:sp>
        <p:nvSpPr>
          <p:cNvPr id="5" name="Text 3"/>
          <p:cNvSpPr/>
          <p:nvPr/>
        </p:nvSpPr>
        <p:spPr>
          <a:xfrm>
            <a:off x="786384" y="1554480"/>
            <a:ext cx="2377440" cy="420624"/>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Woelber E et al.</a:t>
            </a:r>
            <a:endParaRPr lang="en-US" sz="1100" dirty="0"/>
          </a:p>
        </p:txBody>
      </p:sp>
      <p:sp>
        <p:nvSpPr>
          <p:cNvPr id="6" name="Text 4"/>
          <p:cNvSpPr/>
          <p:nvPr/>
        </p:nvSpPr>
        <p:spPr>
          <a:xfrm>
            <a:off x="3264408" y="1554480"/>
            <a:ext cx="6400800" cy="420624"/>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Proportion of Surgical Site Infections Occurring after Hospital Discharge: A Systematic Review. Surg Infect 2016;17(5):510–19.</a:t>
            </a:r>
            <a:endParaRPr lang="en-US" sz="1000" dirty="0"/>
          </a:p>
        </p:txBody>
      </p:sp>
      <p:sp>
        <p:nvSpPr>
          <p:cNvPr id="7" name="Text 5"/>
          <p:cNvSpPr/>
          <p:nvPr/>
        </p:nvSpPr>
        <p:spPr>
          <a:xfrm>
            <a:off x="9802368" y="1554480"/>
            <a:ext cx="1691640" cy="420624"/>
          </a:xfrm>
          <a:prstGeom prst="rect">
            <a:avLst/>
          </a:prstGeom>
          <a:noFill/>
          <a:ln/>
        </p:spPr>
        <p:txBody>
          <a:bodyPr wrap="square" lIns="0" tIns="0" rIns="0" bIns="0" rtlCol="0" anchor="ctr"/>
          <a:lstStyle/>
          <a:p>
            <a:pPr algn="r" indent="0" marL="0">
              <a:buNone/>
            </a:pPr>
            <a:r>
              <a:rPr lang="en-US" sz="950" i="1" dirty="0">
                <a:solidFill>
                  <a:srgbClr val="5D7186"/>
                </a:solidFill>
                <a:latin typeface="Calibri" pitchFamily="34" charset="0"/>
                <a:ea typeface="Calibri" pitchFamily="34" charset="-122"/>
                <a:cs typeface="Calibri" pitchFamily="34" charset="-120"/>
              </a:rPr>
              <a:t>60.1 % post-discharge</a:t>
            </a:r>
            <a:endParaRPr lang="en-US" sz="950" dirty="0"/>
          </a:p>
        </p:txBody>
      </p:sp>
      <p:sp>
        <p:nvSpPr>
          <p:cNvPr id="8" name="Shape 6"/>
          <p:cNvSpPr/>
          <p:nvPr/>
        </p:nvSpPr>
        <p:spPr>
          <a:xfrm>
            <a:off x="566928" y="2029968"/>
            <a:ext cx="11064240" cy="420624"/>
          </a:xfrm>
          <a:prstGeom prst="roundRect">
            <a:avLst>
              <a:gd name="adj" fmla="val 13043"/>
            </a:avLst>
          </a:prstGeom>
          <a:solidFill>
            <a:srgbClr val="FFFFFF"/>
          </a:solidFill>
          <a:ln w="12700">
            <a:solidFill>
              <a:srgbClr val="DDE5EE"/>
            </a:solidFill>
            <a:prstDash val="solid"/>
          </a:ln>
        </p:spPr>
      </p:sp>
      <p:sp>
        <p:nvSpPr>
          <p:cNvPr id="9" name="Text 7"/>
          <p:cNvSpPr/>
          <p:nvPr/>
        </p:nvSpPr>
        <p:spPr>
          <a:xfrm>
            <a:off x="786384" y="2029968"/>
            <a:ext cx="2377440" cy="420624"/>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ECDC</a:t>
            </a:r>
            <a:endParaRPr lang="en-US" sz="1100" dirty="0"/>
          </a:p>
        </p:txBody>
      </p:sp>
      <p:sp>
        <p:nvSpPr>
          <p:cNvPr id="10" name="Text 8"/>
          <p:cNvSpPr/>
          <p:nvPr/>
        </p:nvSpPr>
        <p:spPr>
          <a:xfrm>
            <a:off x="3264408" y="2029968"/>
            <a:ext cx="6400800" cy="420624"/>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Healthcare-associated infections: surgical site infections — Annual Epidemiological Report 2017.</a:t>
            </a:r>
            <a:endParaRPr lang="en-US" sz="1000" dirty="0"/>
          </a:p>
        </p:txBody>
      </p:sp>
      <p:sp>
        <p:nvSpPr>
          <p:cNvPr id="11" name="Text 9"/>
          <p:cNvSpPr/>
          <p:nvPr/>
        </p:nvSpPr>
        <p:spPr>
          <a:xfrm>
            <a:off x="9802368" y="2029968"/>
            <a:ext cx="1691640" cy="420624"/>
          </a:xfrm>
          <a:prstGeom prst="rect">
            <a:avLst/>
          </a:prstGeom>
          <a:noFill/>
          <a:ln/>
        </p:spPr>
        <p:txBody>
          <a:bodyPr wrap="square" lIns="0" tIns="0" rIns="0" bIns="0" rtlCol="0" anchor="ctr"/>
          <a:lstStyle/>
          <a:p>
            <a:pPr algn="r" indent="0" marL="0">
              <a:buNone/>
            </a:pPr>
            <a:r>
              <a:rPr lang="en-US" sz="950" i="1" dirty="0">
                <a:solidFill>
                  <a:srgbClr val="5D7186"/>
                </a:solidFill>
                <a:latin typeface="Calibri" pitchFamily="34" charset="0"/>
                <a:ea typeface="Calibri" pitchFamily="34" charset="-122"/>
                <a:cs typeface="Calibri" pitchFamily="34" charset="-120"/>
              </a:rPr>
              <a:t>0.5–10.1 % by procedure</a:t>
            </a:r>
            <a:endParaRPr lang="en-US" sz="950" dirty="0"/>
          </a:p>
        </p:txBody>
      </p:sp>
      <p:sp>
        <p:nvSpPr>
          <p:cNvPr id="12" name="Shape 10"/>
          <p:cNvSpPr/>
          <p:nvPr/>
        </p:nvSpPr>
        <p:spPr>
          <a:xfrm>
            <a:off x="566928" y="2505456"/>
            <a:ext cx="11064240" cy="420624"/>
          </a:xfrm>
          <a:prstGeom prst="roundRect">
            <a:avLst>
              <a:gd name="adj" fmla="val 13043"/>
            </a:avLst>
          </a:prstGeom>
          <a:solidFill>
            <a:srgbClr val="F5F7FA"/>
          </a:solidFill>
          <a:ln w="12700">
            <a:solidFill>
              <a:srgbClr val="DDE5EE"/>
            </a:solidFill>
            <a:prstDash val="solid"/>
          </a:ln>
        </p:spPr>
      </p:sp>
      <p:sp>
        <p:nvSpPr>
          <p:cNvPr id="13" name="Text 11"/>
          <p:cNvSpPr/>
          <p:nvPr/>
        </p:nvSpPr>
        <p:spPr>
          <a:xfrm>
            <a:off x="786384" y="2505456"/>
            <a:ext cx="2377440" cy="420624"/>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CDC / NHSN</a:t>
            </a:r>
            <a:endParaRPr lang="en-US" sz="1100" dirty="0"/>
          </a:p>
        </p:txBody>
      </p:sp>
      <p:sp>
        <p:nvSpPr>
          <p:cNvPr id="14" name="Text 12"/>
          <p:cNvSpPr/>
          <p:nvPr/>
        </p:nvSpPr>
        <p:spPr>
          <a:xfrm>
            <a:off x="3264408" y="2505456"/>
            <a:ext cx="6400800" cy="420624"/>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Surgical Site Infection Event (SSI). Patient Safety Component Manual.</a:t>
            </a:r>
            <a:endParaRPr lang="en-US" sz="1000" dirty="0"/>
          </a:p>
        </p:txBody>
      </p:sp>
      <p:sp>
        <p:nvSpPr>
          <p:cNvPr id="15" name="Text 13"/>
          <p:cNvSpPr/>
          <p:nvPr/>
        </p:nvSpPr>
        <p:spPr>
          <a:xfrm>
            <a:off x="9802368" y="2505456"/>
            <a:ext cx="1691640" cy="420624"/>
          </a:xfrm>
          <a:prstGeom prst="rect">
            <a:avLst/>
          </a:prstGeom>
          <a:noFill/>
          <a:ln/>
        </p:spPr>
        <p:txBody>
          <a:bodyPr wrap="square" lIns="0" tIns="0" rIns="0" bIns="0" rtlCol="0" anchor="ctr"/>
          <a:lstStyle/>
          <a:p>
            <a:pPr algn="r" indent="0" marL="0">
              <a:buNone/>
            </a:pPr>
            <a:r>
              <a:rPr lang="en-US" sz="950" i="1" dirty="0">
                <a:solidFill>
                  <a:srgbClr val="5D7186"/>
                </a:solidFill>
                <a:latin typeface="Calibri" pitchFamily="34" charset="0"/>
                <a:ea typeface="Calibri" pitchFamily="34" charset="-122"/>
                <a:cs typeface="Calibri" pitchFamily="34" charset="-120"/>
              </a:rPr>
              <a:t>30 / 90-day window</a:t>
            </a:r>
            <a:endParaRPr lang="en-US" sz="950" dirty="0"/>
          </a:p>
        </p:txBody>
      </p:sp>
      <p:sp>
        <p:nvSpPr>
          <p:cNvPr id="16" name="Shape 14"/>
          <p:cNvSpPr/>
          <p:nvPr/>
        </p:nvSpPr>
        <p:spPr>
          <a:xfrm>
            <a:off x="566928" y="2980944"/>
            <a:ext cx="11064240" cy="420624"/>
          </a:xfrm>
          <a:prstGeom prst="roundRect">
            <a:avLst>
              <a:gd name="adj" fmla="val 13043"/>
            </a:avLst>
          </a:prstGeom>
          <a:solidFill>
            <a:srgbClr val="FFFFFF"/>
          </a:solidFill>
          <a:ln w="12700">
            <a:solidFill>
              <a:srgbClr val="DDE5EE"/>
            </a:solidFill>
            <a:prstDash val="solid"/>
          </a:ln>
        </p:spPr>
      </p:sp>
      <p:sp>
        <p:nvSpPr>
          <p:cNvPr id="17" name="Text 15"/>
          <p:cNvSpPr/>
          <p:nvPr/>
        </p:nvSpPr>
        <p:spPr>
          <a:xfrm>
            <a:off x="786384" y="2980944"/>
            <a:ext cx="2377440" cy="420624"/>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NICE</a:t>
            </a:r>
            <a:endParaRPr lang="en-US" sz="1100" dirty="0"/>
          </a:p>
        </p:txBody>
      </p:sp>
      <p:sp>
        <p:nvSpPr>
          <p:cNvPr id="18" name="Text 16"/>
          <p:cNvSpPr/>
          <p:nvPr/>
        </p:nvSpPr>
        <p:spPr>
          <a:xfrm>
            <a:off x="3264408" y="2980944"/>
            <a:ext cx="6400800" cy="420624"/>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Surgical site infections: prevention and treatment. NG125, 11 Apr 2019, upd. 19 Aug 2020.</a:t>
            </a:r>
            <a:endParaRPr lang="en-US" sz="1000" dirty="0"/>
          </a:p>
        </p:txBody>
      </p:sp>
      <p:sp>
        <p:nvSpPr>
          <p:cNvPr id="19" name="Text 17"/>
          <p:cNvSpPr/>
          <p:nvPr/>
        </p:nvSpPr>
        <p:spPr>
          <a:xfrm>
            <a:off x="9802368" y="2980944"/>
            <a:ext cx="1691640" cy="420624"/>
          </a:xfrm>
          <a:prstGeom prst="rect">
            <a:avLst/>
          </a:prstGeom>
          <a:noFill/>
          <a:ln/>
        </p:spPr>
        <p:txBody>
          <a:bodyPr wrap="square" lIns="0" tIns="0" rIns="0" bIns="0" rtlCol="0" anchor="ctr"/>
          <a:lstStyle/>
          <a:p>
            <a:pPr algn="r" indent="0" marL="0">
              <a:buNone/>
            </a:pPr>
            <a:r>
              <a:rPr lang="en-US" sz="950" i="1" dirty="0">
                <a:solidFill>
                  <a:srgbClr val="5D7186"/>
                </a:solidFill>
                <a:latin typeface="Calibri" pitchFamily="34" charset="0"/>
                <a:ea typeface="Calibri" pitchFamily="34" charset="-122"/>
                <a:cs typeface="Calibri" pitchFamily="34" charset="-120"/>
              </a:rPr>
              <a:t>nice.org.uk/guidance/ng125</a:t>
            </a:r>
            <a:endParaRPr lang="en-US" sz="950" dirty="0"/>
          </a:p>
        </p:txBody>
      </p:sp>
      <p:sp>
        <p:nvSpPr>
          <p:cNvPr id="20" name="Shape 18"/>
          <p:cNvSpPr/>
          <p:nvPr/>
        </p:nvSpPr>
        <p:spPr>
          <a:xfrm>
            <a:off x="566928" y="3456432"/>
            <a:ext cx="11064240" cy="420624"/>
          </a:xfrm>
          <a:prstGeom prst="roundRect">
            <a:avLst>
              <a:gd name="adj" fmla="val 13043"/>
            </a:avLst>
          </a:prstGeom>
          <a:solidFill>
            <a:srgbClr val="F5F7FA"/>
          </a:solidFill>
          <a:ln w="12700">
            <a:solidFill>
              <a:srgbClr val="DDE5EE"/>
            </a:solidFill>
            <a:prstDash val="solid"/>
          </a:ln>
        </p:spPr>
      </p:sp>
      <p:sp>
        <p:nvSpPr>
          <p:cNvPr id="21" name="Text 19"/>
          <p:cNvSpPr/>
          <p:nvPr/>
        </p:nvSpPr>
        <p:spPr>
          <a:xfrm>
            <a:off x="786384" y="3456432"/>
            <a:ext cx="2377440" cy="420624"/>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Bailey IS et al.</a:t>
            </a:r>
            <a:endParaRPr lang="en-US" sz="1100" dirty="0"/>
          </a:p>
        </p:txBody>
      </p:sp>
      <p:sp>
        <p:nvSpPr>
          <p:cNvPr id="22" name="Text 20"/>
          <p:cNvSpPr/>
          <p:nvPr/>
        </p:nvSpPr>
        <p:spPr>
          <a:xfrm>
            <a:off x="3264408" y="3456432"/>
            <a:ext cx="6400800" cy="420624"/>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Southampton Wound Scoring System.</a:t>
            </a:r>
            <a:endParaRPr lang="en-US" sz="1000" dirty="0"/>
          </a:p>
        </p:txBody>
      </p:sp>
      <p:sp>
        <p:nvSpPr>
          <p:cNvPr id="23" name="Text 21"/>
          <p:cNvSpPr/>
          <p:nvPr/>
        </p:nvSpPr>
        <p:spPr>
          <a:xfrm>
            <a:off x="9802368" y="3456432"/>
            <a:ext cx="1691640" cy="420624"/>
          </a:xfrm>
          <a:prstGeom prst="rect">
            <a:avLst/>
          </a:prstGeom>
          <a:noFill/>
          <a:ln/>
        </p:spPr>
        <p:txBody>
          <a:bodyPr wrap="square" lIns="0" tIns="0" rIns="0" bIns="0" rtlCol="0" anchor="ctr"/>
          <a:lstStyle/>
          <a:p>
            <a:pPr algn="r" indent="0" marL="0">
              <a:buNone/>
            </a:pPr>
            <a:r>
              <a:rPr lang="en-US" sz="950" i="1" dirty="0">
                <a:solidFill>
                  <a:srgbClr val="5D7186"/>
                </a:solidFill>
                <a:latin typeface="Calibri" pitchFamily="34" charset="0"/>
                <a:ea typeface="Calibri" pitchFamily="34" charset="-122"/>
                <a:cs typeface="Calibri" pitchFamily="34" charset="-120"/>
              </a:rPr>
              <a:t>grades 0–V</a:t>
            </a:r>
            <a:endParaRPr lang="en-US" sz="950" dirty="0"/>
          </a:p>
        </p:txBody>
      </p:sp>
      <p:sp>
        <p:nvSpPr>
          <p:cNvPr id="24" name="Shape 22"/>
          <p:cNvSpPr/>
          <p:nvPr/>
        </p:nvSpPr>
        <p:spPr>
          <a:xfrm>
            <a:off x="566928" y="3931920"/>
            <a:ext cx="11064240" cy="420624"/>
          </a:xfrm>
          <a:prstGeom prst="roundRect">
            <a:avLst>
              <a:gd name="adj" fmla="val 13043"/>
            </a:avLst>
          </a:prstGeom>
          <a:solidFill>
            <a:srgbClr val="FFFFFF"/>
          </a:solidFill>
          <a:ln w="12700">
            <a:solidFill>
              <a:srgbClr val="DDE5EE"/>
            </a:solidFill>
            <a:prstDash val="solid"/>
          </a:ln>
        </p:spPr>
      </p:sp>
      <p:sp>
        <p:nvSpPr>
          <p:cNvPr id="25" name="Text 23"/>
          <p:cNvSpPr/>
          <p:nvPr/>
        </p:nvSpPr>
        <p:spPr>
          <a:xfrm>
            <a:off x="786384" y="3931920"/>
            <a:ext cx="2377440" cy="420624"/>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Campwala I, Unsell K, Gupta S</a:t>
            </a:r>
            <a:endParaRPr lang="en-US" sz="1100" dirty="0"/>
          </a:p>
        </p:txBody>
      </p:sp>
      <p:sp>
        <p:nvSpPr>
          <p:cNvPr id="26" name="Text 24"/>
          <p:cNvSpPr/>
          <p:nvPr/>
        </p:nvSpPr>
        <p:spPr>
          <a:xfrm>
            <a:off x="3264408" y="3931920"/>
            <a:ext cx="6400800" cy="420624"/>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A Comparative Analysis of Surgical Wound Infection Methods: CDC, ASEPSIS and Southampton in breast reconstruction SSI. Plastic Surgery, 2019.</a:t>
            </a:r>
            <a:endParaRPr lang="en-US" sz="1000" dirty="0"/>
          </a:p>
        </p:txBody>
      </p:sp>
      <p:sp>
        <p:nvSpPr>
          <p:cNvPr id="27" name="Text 25"/>
          <p:cNvSpPr/>
          <p:nvPr/>
        </p:nvSpPr>
        <p:spPr>
          <a:xfrm>
            <a:off x="9802368" y="3931920"/>
            <a:ext cx="1691640" cy="420624"/>
          </a:xfrm>
          <a:prstGeom prst="rect">
            <a:avLst/>
          </a:prstGeom>
          <a:noFill/>
          <a:ln/>
        </p:spPr>
        <p:txBody>
          <a:bodyPr wrap="square" lIns="0" tIns="0" rIns="0" bIns="0" rtlCol="0" anchor="ctr"/>
          <a:lstStyle/>
          <a:p>
            <a:pPr algn="r" indent="0" marL="0">
              <a:buNone/>
            </a:pPr>
            <a:r>
              <a:rPr lang="en-US" sz="950" i="1" dirty="0">
                <a:solidFill>
                  <a:srgbClr val="5D7186"/>
                </a:solidFill>
                <a:latin typeface="Calibri" pitchFamily="34" charset="0"/>
                <a:ea typeface="Calibri" pitchFamily="34" charset="-122"/>
                <a:cs typeface="Calibri" pitchFamily="34" charset="-120"/>
              </a:rPr>
              <a:t>PMID 31106164</a:t>
            </a:r>
            <a:endParaRPr lang="en-US" sz="950" dirty="0"/>
          </a:p>
        </p:txBody>
      </p:sp>
      <p:sp>
        <p:nvSpPr>
          <p:cNvPr id="28" name="Shape 26"/>
          <p:cNvSpPr/>
          <p:nvPr/>
        </p:nvSpPr>
        <p:spPr>
          <a:xfrm>
            <a:off x="566928" y="4407408"/>
            <a:ext cx="11064240" cy="420624"/>
          </a:xfrm>
          <a:prstGeom prst="roundRect">
            <a:avLst>
              <a:gd name="adj" fmla="val 13043"/>
            </a:avLst>
          </a:prstGeom>
          <a:solidFill>
            <a:srgbClr val="F5F7FA"/>
          </a:solidFill>
          <a:ln w="12700">
            <a:solidFill>
              <a:srgbClr val="DDE5EE"/>
            </a:solidFill>
            <a:prstDash val="solid"/>
          </a:ln>
        </p:spPr>
      </p:sp>
      <p:sp>
        <p:nvSpPr>
          <p:cNvPr id="29" name="Text 27"/>
          <p:cNvSpPr/>
          <p:nvPr/>
        </p:nvSpPr>
        <p:spPr>
          <a:xfrm>
            <a:off x="786384" y="4407408"/>
            <a:ext cx="2377440" cy="420624"/>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WHO</a:t>
            </a:r>
            <a:endParaRPr lang="en-US" sz="1100" dirty="0"/>
          </a:p>
        </p:txBody>
      </p:sp>
      <p:sp>
        <p:nvSpPr>
          <p:cNvPr id="30" name="Text 28"/>
          <p:cNvSpPr/>
          <p:nvPr/>
        </p:nvSpPr>
        <p:spPr>
          <a:xfrm>
            <a:off x="3264408" y="4407408"/>
            <a:ext cx="6400800" cy="420624"/>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Monitoring and Evaluating Digital Health Interventions: a practical guide. 2016.</a:t>
            </a:r>
            <a:endParaRPr lang="en-US" sz="1000" dirty="0"/>
          </a:p>
        </p:txBody>
      </p:sp>
      <p:sp>
        <p:nvSpPr>
          <p:cNvPr id="31" name="Text 29"/>
          <p:cNvSpPr/>
          <p:nvPr/>
        </p:nvSpPr>
        <p:spPr>
          <a:xfrm>
            <a:off x="9802368" y="4407408"/>
            <a:ext cx="1691640" cy="420624"/>
          </a:xfrm>
          <a:prstGeom prst="rect">
            <a:avLst/>
          </a:prstGeom>
          <a:noFill/>
          <a:ln/>
        </p:spPr>
        <p:txBody>
          <a:bodyPr wrap="square" lIns="0" tIns="0" rIns="0" bIns="0" rtlCol="0" anchor="ctr"/>
          <a:lstStyle/>
          <a:p>
            <a:pPr algn="r" indent="0" marL="0">
              <a:buNone/>
            </a:pPr>
            <a:r>
              <a:rPr lang="en-US" sz="950" i="1" dirty="0">
                <a:solidFill>
                  <a:srgbClr val="5D7186"/>
                </a:solidFill>
                <a:latin typeface="Calibri" pitchFamily="34" charset="0"/>
                <a:ea typeface="Calibri" pitchFamily="34" charset="-122"/>
                <a:cs typeface="Calibri" pitchFamily="34" charset="-120"/>
              </a:rPr>
              <a:t>maturity stages</a:t>
            </a:r>
            <a:endParaRPr lang="en-US" sz="950" dirty="0"/>
          </a:p>
        </p:txBody>
      </p:sp>
      <p:sp>
        <p:nvSpPr>
          <p:cNvPr id="32" name="Shape 30"/>
          <p:cNvSpPr/>
          <p:nvPr/>
        </p:nvSpPr>
        <p:spPr>
          <a:xfrm>
            <a:off x="566928" y="4882896"/>
            <a:ext cx="11064240" cy="420624"/>
          </a:xfrm>
          <a:prstGeom prst="roundRect">
            <a:avLst>
              <a:gd name="adj" fmla="val 13043"/>
            </a:avLst>
          </a:prstGeom>
          <a:solidFill>
            <a:srgbClr val="FFFFFF"/>
          </a:solidFill>
          <a:ln w="12700">
            <a:solidFill>
              <a:srgbClr val="DDE5EE"/>
            </a:solidFill>
            <a:prstDash val="solid"/>
          </a:ln>
        </p:spPr>
      </p:sp>
      <p:sp>
        <p:nvSpPr>
          <p:cNvPr id="33" name="Text 31"/>
          <p:cNvSpPr/>
          <p:nvPr/>
        </p:nvSpPr>
        <p:spPr>
          <a:xfrm>
            <a:off x="786384" y="4882896"/>
            <a:ext cx="2377440" cy="420624"/>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WHO</a:t>
            </a:r>
            <a:endParaRPr lang="en-US" sz="1100" dirty="0"/>
          </a:p>
        </p:txBody>
      </p:sp>
      <p:sp>
        <p:nvSpPr>
          <p:cNvPr id="34" name="Text 32"/>
          <p:cNvSpPr/>
          <p:nvPr/>
        </p:nvSpPr>
        <p:spPr>
          <a:xfrm>
            <a:off x="3264408" y="4882896"/>
            <a:ext cx="6400800" cy="420624"/>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SMART Guidelines — the L1–L5 knowledge layers.</a:t>
            </a:r>
            <a:endParaRPr lang="en-US" sz="1000" dirty="0"/>
          </a:p>
        </p:txBody>
      </p:sp>
      <p:sp>
        <p:nvSpPr>
          <p:cNvPr id="35" name="Text 33"/>
          <p:cNvSpPr/>
          <p:nvPr/>
        </p:nvSpPr>
        <p:spPr>
          <a:xfrm>
            <a:off x="9802368" y="4882896"/>
            <a:ext cx="1691640" cy="420624"/>
          </a:xfrm>
          <a:prstGeom prst="rect">
            <a:avLst/>
          </a:prstGeom>
          <a:noFill/>
          <a:ln/>
        </p:spPr>
        <p:txBody>
          <a:bodyPr wrap="square" lIns="0" tIns="0" rIns="0" bIns="0" rtlCol="0" anchor="ctr"/>
          <a:lstStyle/>
          <a:p>
            <a:pPr algn="r" indent="0" marL="0">
              <a:buNone/>
            </a:pPr>
            <a:r>
              <a:rPr lang="en-US" sz="950" i="1" dirty="0">
                <a:solidFill>
                  <a:srgbClr val="5D7186"/>
                </a:solidFill>
                <a:latin typeface="Calibri" pitchFamily="34" charset="0"/>
                <a:ea typeface="Calibri" pitchFamily="34" charset="-122"/>
                <a:cs typeface="Calibri" pitchFamily="34" charset="-120"/>
              </a:rPr>
              <a:t>who.int</a:t>
            </a:r>
            <a:endParaRPr lang="en-US" sz="950" dirty="0"/>
          </a:p>
        </p:txBody>
      </p:sp>
      <p:sp>
        <p:nvSpPr>
          <p:cNvPr id="36" name="Shape 34"/>
          <p:cNvSpPr/>
          <p:nvPr/>
        </p:nvSpPr>
        <p:spPr>
          <a:xfrm>
            <a:off x="566928" y="5358384"/>
            <a:ext cx="11064240" cy="420624"/>
          </a:xfrm>
          <a:prstGeom prst="roundRect">
            <a:avLst>
              <a:gd name="adj" fmla="val 13043"/>
            </a:avLst>
          </a:prstGeom>
          <a:solidFill>
            <a:srgbClr val="F5F7FA"/>
          </a:solidFill>
          <a:ln w="12700">
            <a:solidFill>
              <a:srgbClr val="DDE5EE"/>
            </a:solidFill>
            <a:prstDash val="solid"/>
          </a:ln>
        </p:spPr>
      </p:sp>
      <p:sp>
        <p:nvSpPr>
          <p:cNvPr id="37" name="Text 35"/>
          <p:cNvSpPr/>
          <p:nvPr/>
        </p:nvSpPr>
        <p:spPr>
          <a:xfrm>
            <a:off x="786384" y="5358384"/>
            <a:ext cx="2377440" cy="420624"/>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IMDRF</a:t>
            </a:r>
            <a:endParaRPr lang="en-US" sz="1100" dirty="0"/>
          </a:p>
        </p:txBody>
      </p:sp>
      <p:sp>
        <p:nvSpPr>
          <p:cNvPr id="38" name="Text 36"/>
          <p:cNvSpPr/>
          <p:nvPr/>
        </p:nvSpPr>
        <p:spPr>
          <a:xfrm>
            <a:off x="3264408" y="5358384"/>
            <a:ext cx="6400800" cy="420624"/>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Software as a Medical Device: possible framework for risk categorisation.</a:t>
            </a:r>
            <a:endParaRPr lang="en-US" sz="1000" dirty="0"/>
          </a:p>
        </p:txBody>
      </p:sp>
      <p:sp>
        <p:nvSpPr>
          <p:cNvPr id="39" name="Text 37"/>
          <p:cNvSpPr/>
          <p:nvPr/>
        </p:nvSpPr>
        <p:spPr>
          <a:xfrm>
            <a:off x="9802368" y="5358384"/>
            <a:ext cx="1691640" cy="420624"/>
          </a:xfrm>
          <a:prstGeom prst="rect">
            <a:avLst/>
          </a:prstGeom>
          <a:noFill/>
          <a:ln/>
        </p:spPr>
        <p:txBody>
          <a:bodyPr wrap="square" lIns="0" tIns="0" rIns="0" bIns="0" rtlCol="0" anchor="ctr"/>
          <a:lstStyle/>
          <a:p>
            <a:pPr algn="r" indent="0" marL="0">
              <a:buNone/>
            </a:pPr>
            <a:r>
              <a:rPr lang="en-US" sz="950" i="1" dirty="0">
                <a:solidFill>
                  <a:srgbClr val="5D7186"/>
                </a:solidFill>
                <a:latin typeface="Calibri" pitchFamily="34" charset="0"/>
                <a:ea typeface="Calibri" pitchFamily="34" charset="-122"/>
                <a:cs typeface="Calibri" pitchFamily="34" charset="-120"/>
              </a:rPr>
              <a:t>categories I–IV</a:t>
            </a:r>
            <a:endParaRPr lang="en-US" sz="950" dirty="0"/>
          </a:p>
        </p:txBody>
      </p:sp>
      <p:sp>
        <p:nvSpPr>
          <p:cNvPr id="40" name="Shape 38"/>
          <p:cNvSpPr/>
          <p:nvPr/>
        </p:nvSpPr>
        <p:spPr>
          <a:xfrm>
            <a:off x="566928" y="5833872"/>
            <a:ext cx="11064240" cy="420624"/>
          </a:xfrm>
          <a:prstGeom prst="roundRect">
            <a:avLst>
              <a:gd name="adj" fmla="val 13043"/>
            </a:avLst>
          </a:prstGeom>
          <a:solidFill>
            <a:srgbClr val="FFFFFF"/>
          </a:solidFill>
          <a:ln w="12700">
            <a:solidFill>
              <a:srgbClr val="DDE5EE"/>
            </a:solidFill>
            <a:prstDash val="solid"/>
          </a:ln>
        </p:spPr>
      </p:sp>
      <p:sp>
        <p:nvSpPr>
          <p:cNvPr id="41" name="Text 39"/>
          <p:cNvSpPr/>
          <p:nvPr/>
        </p:nvSpPr>
        <p:spPr>
          <a:xfrm>
            <a:off x="786384" y="5833872"/>
            <a:ext cx="2377440" cy="420624"/>
          </a:xfrm>
          <a:prstGeom prst="rect">
            <a:avLst/>
          </a:prstGeom>
          <a:noFill/>
          <a:ln/>
        </p:spPr>
        <p:txBody>
          <a:bodyPr wrap="square" lIns="0" tIns="0" rIns="0" bIns="0" rtlCol="0" anchor="ctr"/>
          <a:lstStyle/>
          <a:p>
            <a:pPr indent="0" marL="0">
              <a:buNone/>
            </a:pPr>
            <a:r>
              <a:rPr lang="en-US" sz="1100" b="1" dirty="0">
                <a:solidFill>
                  <a:srgbClr val="12202E"/>
                </a:solidFill>
                <a:latin typeface="Calibri" pitchFamily="34" charset="0"/>
                <a:ea typeface="Calibri" pitchFamily="34" charset="-122"/>
                <a:cs typeface="Calibri" pitchFamily="34" charset="-120"/>
              </a:rPr>
              <a:t>HL7</a:t>
            </a:r>
            <a:endParaRPr lang="en-US" sz="1100" dirty="0"/>
          </a:p>
        </p:txBody>
      </p:sp>
      <p:sp>
        <p:nvSpPr>
          <p:cNvPr id="42" name="Text 40"/>
          <p:cNvSpPr/>
          <p:nvPr/>
        </p:nvSpPr>
        <p:spPr>
          <a:xfrm>
            <a:off x="3264408" y="5833872"/>
            <a:ext cx="6400800" cy="420624"/>
          </a:xfrm>
          <a:prstGeom prst="rect">
            <a:avLst/>
          </a:prstGeom>
          <a:noFill/>
          <a:ln/>
        </p:spPr>
        <p:txBody>
          <a:bodyPr wrap="square" lIns="0" tIns="0" rIns="0" bIns="0" rtlCol="0" anchor="ctr"/>
          <a:lstStyle/>
          <a:p>
            <a:pPr indent="0" marL="0">
              <a:buNone/>
            </a:pPr>
            <a:r>
              <a:rPr lang="en-US" sz="1000" dirty="0">
                <a:solidFill>
                  <a:srgbClr val="5D7186"/>
                </a:solidFill>
                <a:latin typeface="Calibri" pitchFamily="34" charset="0"/>
                <a:ea typeface="Calibri" pitchFamily="34" charset="-122"/>
                <a:cs typeface="Calibri" pitchFamily="34" charset="-120"/>
              </a:rPr>
              <a:t>FHIR R4 — QuestionnaireResponse, Observation, Communication.</a:t>
            </a:r>
            <a:endParaRPr lang="en-US" sz="1000" dirty="0"/>
          </a:p>
        </p:txBody>
      </p:sp>
      <p:sp>
        <p:nvSpPr>
          <p:cNvPr id="43" name="Text 41"/>
          <p:cNvSpPr/>
          <p:nvPr/>
        </p:nvSpPr>
        <p:spPr>
          <a:xfrm>
            <a:off x="9802368" y="5833872"/>
            <a:ext cx="1691640" cy="420624"/>
          </a:xfrm>
          <a:prstGeom prst="rect">
            <a:avLst/>
          </a:prstGeom>
          <a:noFill/>
          <a:ln/>
        </p:spPr>
        <p:txBody>
          <a:bodyPr wrap="square" lIns="0" tIns="0" rIns="0" bIns="0" rtlCol="0" anchor="ctr"/>
          <a:lstStyle/>
          <a:p>
            <a:pPr algn="r" indent="0" marL="0">
              <a:buNone/>
            </a:pPr>
            <a:r>
              <a:rPr lang="en-US" sz="950" i="1" dirty="0">
                <a:solidFill>
                  <a:srgbClr val="5D7186"/>
                </a:solidFill>
                <a:latin typeface="Calibri" pitchFamily="34" charset="0"/>
                <a:ea typeface="Calibri" pitchFamily="34" charset="-122"/>
                <a:cs typeface="Calibri" pitchFamily="34" charset="-120"/>
              </a:rPr>
              <a:t>hl7.org/fhir/R4</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WundCheck — a mini CDSS for post-operative wound self-checks</dc:title>
  <dc:subject>PptxGenJS Presentation</dc:subject>
  <dc:creator>FHNW MSc Medical Informatics</dc:creator>
  <cp:lastModifiedBy>FHNW MSc Medical Informatics</cp:lastModifiedBy>
  <cp:revision>1</cp:revision>
  <dcterms:created xsi:type="dcterms:W3CDTF">2026-08-04T09:36:28Z</dcterms:created>
  <dcterms:modified xsi:type="dcterms:W3CDTF">2026-08-04T09:36:28Z</dcterms:modified>
</cp:coreProperties>
</file>