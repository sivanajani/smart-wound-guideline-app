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TITLE — FELINE · 0:15
──────────────────────────────────────────────
SAY:
Good afternoon. We are Feline Weger and Sivanajani Sivakumar.
Most surgical wound infections do not appear in the hospital. They appear at home, after discharge — exactly when nobody is looking at the wound.
Our project is called WundCheck. In one sentence: we translated a guideline written for health professionals into an instrument for laypersons — and we learned where that translation becomes dangerous.
DO: do not read the four numbers out loud. They are there so the audience sees the scale while you talk.
REMINDER
──────────────────────────────────────────────
Opening line: postoperative wound infections mostly appear AFTER discharge — exactly when nobody is looking at the wound. Our thread for the next ten minutes is the translation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HEALTH SYSTEM NEED — FELINE · 0:42
──────────────────────────────────────────────
SAY:
The number on the left is the whole problem. Sixty per cent of surgical site infections occur AFTER discharge — a systematic review of one point four million operations. The CDC surveillance window is thirty days, ninety for implants. Almost all of that time the patient is at home.
And the observation gap cuts both ways. TOO LATE: a warning sign gets read as normal healing, and treatment starts days later than it could. TOO EARLY: a scab or day-two redness triggers a call that costs practice time and frightens the patient.
We looked at the alternatives. A leaflet already exists everywhere and gives us no feedback. Telephone follow-up is not deliverable daily. Photo-based machine learning fails on light, angle and skin tone, and it cannot explain itself. In a patient-facing safety context, explainability beats predictive accuracy — so: a rule-based CDSS, traceable to a guideline, maintainable by clinicians.
Scope: adults, elective surgery, primary closure, any body region. Not chronic wounds, not burns, not children.
DO: point at "60.1 %" once. Point at the green "Rule-based CDSS" row once.
CUT IF LATE: the alternatives box — say only the last line (saves 15 s).
REMINDER
──────────────────────────────────────────────
The gap is not a knowledge gap in professionals — it is an observation gap at home, plus laypeople being unable to tell normal from abnormal. Explainability beats predictive accuracy in a patient-facing safety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PERSONAS &amp; SCENARIO A — FELINE · 0:35
──────────────────────────────────────────────
SAY:
Three users on three levels — and only one of them operates the app. Peter, fifty-eight, four days after a knee replacement, little medical knowledge. Sandra in the practice, who triages messages all day. And Dr Keller, who wants the trajectory, not a recollection.
Each persona produced a design decision. Images instead of clinical terms — that is Peter. Alerts only from orange upwards — that is Sandra. The classification as its own FHIR Observation — that is Dr Keller.
Scenario A is the one people underestimate. Day six, a brown scab. Peter's brother once had a wound infection, so he is worried. WundCheck says green and says WHY: a scab is a normal sign of healing. He does not call. But the entry still goes into the record — otherwise the surgeon has no trajectory at suture removal.
The call that is avoided is worth as much as the one that is triggered.
REMINDER
──────────────────────────────────────────────
Personas drive design decisions: images instead of terminology because of Peter; alerts only from ORANGE upwards because of Sandra; classification as a separate FHIR Observation because of Dr Keller.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L1 &amp; EVIDENCE APPRAISAL — FELINE · 0:42
──────────────────────────────────────────────
SAY:
Four sources, and we gave each of them one role. CDC defines what an infection is. NICE says when to act. Southampton says how to describe a wound visually.
NICE is also our legitimation. Recommendation one-point-one-point-three already requires that patients be taught to recognise a surgical site infection. That recommendation normally ends its life as a leaflet. We operationalise it.
The box on the left is a decision we want to be asked about. ASEPSIS is the better-performing instrument in the literature. It needs antibiotic days, drainage, debridement, inpatient days, culture results — none of which a patient at home can give us. We chose the usable instrument over the statistically better one, and we say so out loud.
And on the right we grade our own evidence rather than citing it. Campwala: twenty-two patients, retrospective, single-centre, breast reconstruction — a population far from ours, with implant failure as the endpoint. Southampton showed only limited predictive value there. So we use it as a triage and communication grid, not as a prognostic instrument.
DO: this is the slide where you sound like a clinician, not a student. Slow down on the last sentence.
REMINDER
──────────────────────────────────────────────
Three roles, deliberately separated: CDC defines WHAT an SSI is, NICE says WHEN to act, Southampton says HOW to describe the wound visually. NICE 1.1.3 is the legitimation of the whole use case — it already requires that patients be taught to recognise an SSI; we operationalise a recommendation that usually ends up as a leaflet. And we grade our own evidence rather than citing it uncritically.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SOUTHAMPTON MAPPING — FELINE · 0:42  ← THE HINGE OF THE TALK
──────────────────────────────────────────────
SAY:
This is the hinge of the whole project, so I will stay here a moment.
Our core interaction is that the patient picks a PICTURE of their wound. The obvious objection is that we invented those pictures to make a nice interface. We did not. Every image card is a published Southampton grade. Grade zero, normal healing, is "calm and dry". Grade two, erythema plus other signs of inflammation, is "markedly reddened and swollen". Grade four, pus, is "cloudy discharge". Grade five is "open".
That buys us three things: a citable source for our central interaction, a non-trivial derived element — the grade is calculated, not asked — and an honest limitation.
Because the mapping is not clean. Southampton grades redness as "more than two centimetres along the wound". Patients do not measure. So we ask: one small spot, or the whole wound? Closer to usable, further from precise. That trade-off is documented, and it is the single most important thing we would want validated.
NEVER CUT THIS SLIDE.
REMINDER
──────────────────────────────────────────────
This slide is the hinge of the whole talk: the image selection is the answer to the translation problem, and it is anchored in a published instrument rather than invented by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BPMN HIGH-LEVEL — FELINE · 0:30
──────────────────────────────────────────────
SAY:
This is real BPMN two-point-zero, editable in bpmn dot io — not a flowchart with diamonds.
Four lanes, so responsibility is explicit: patient, app, decision logic, practice. The one thing to notice is the business rule task. The app does not decide anything. It executes the L3 decision table. That is why the next two slides are about the table and not about the code.
Two more things. Every completed check is written to the record — INCLUDING the green ones, because without that baseline there is no trajectory. And there are two end events: check completed, or case handed to the practice.
DO: trace the lane boundaries with your hand once, then point at the business rule task and leave your hand there while you say that sentence.
REMINDER
──────────────────────────────────────────────
Say out loud: four lanes, so responsibility is explicit. One business rule task — the app decides nothing itself, it executes the L3 decision table. Every completed check is written to the record, INCLUDING green: without that baseline the surgeon has no trajectory at the follow-up appointment. Two end events: check completed, or case handed to the practice. Real BPMN 2.0, editable in bpmn.io — not a flowchart with diamonds.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DATA DICTIONARY — FELINE · 0:25
──────────────────────────────────────────────
SAY:
Forty-eight data elements. Nine are calculated. Thirty-eight carry a terminology binding — SNOMED, LOINC, ICD-10. Forty-seven have a FHIR mapping.
The column that matters is the last one: every element names the L1 source it comes from. And the element ID is the same string in the data dictionary, the L3, the test protocol and the FHIR export — that is what makes traceability demonstrable instead of claimed.
One design note: the sequence follows the patient, not the guideline. Baseline data once, then how do I feel, then the wound — because looking at the wound means opening the dressing.
CUT IF LATE (first): drop the sample rows, say only the four numbers (saves 12 s).
REMINDER
──────────────────────────────────────────────
Every element carries a DE-ID that is identical in the data dictionary, the L3, the test protocol and the FHIR export. That is what makes traceability demonstrable rather than claimed.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DECISION LOGIC — FELINE · 0:38
──────────────────────────────────────────────
SAY:
Eighteen rules. Thirteen are exclusive and evaluated in this order, worst first. Five are information rules that fire alongside the classification.
Worst-first means a reassuring finding can never overwrite a warning. That is a deliberate asymmetry: a false alarm costs a phone call, false reassurance can delay an infection by days. We accept a higher false-alarm rate on purpose, and we say so in the risk section.
The box on the right is a real finding. One rule needs the classification as its own input — persistence, two yellow days in a row. That is circular. So the rules run twice, and the worse of the two results wins: a second pass can escalate, never de-escalate. We only discovered that when we executed the table, not when we wrote it.
And every threshold on this slide is a named constant in the L3 with its source attached. A guideline change is one line, not a release. You will see that live in a moment.
REMINDER
──────────────────────────────────────────────
Priority order is explicit and tested. Information rules I1–I5 are non-exclusive and fire alongside the classification — a scab note appears next to a warning, never instead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L1 → L2 CHALLENGES — FELINE · 0:38
──────────────────────────────────────────────
SAY:
Nine places where the guideline stopped and left us on our own. Each one is documented with its type, our decision, the rationale, the implication and a risk level. Two of them are marked high, and they sit in the same place.
C-01: Southampton was built for trained staff. We turned it into an image selection for laypeople. That is our core idea — and it is unvalidated.
C-03: no source we found defines the day on which redness stops being physiological. We set day three. Too early means false alarms. Too late means delayed detection. It is a defensible number, but it is our number, not the guideline's.
All nine would need clinical sign-off before this touched a patient. We do not have it, and we list that as a limitation rather than hiding it.
NEVER CUT THIS SLIDE.
&gt;&gt;&gt; HANDOVER — Feline hands to Sivanajani. Sivanajani opens slide 10.
REMINDER
──────────────────────────────────────────────
This is the slide that shows critical thinking. Each challenge has a type, a decision, a rationale, an implication and a risk level in the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L3 ARCHITECTURE — SIVANAJANI · 0:30
──────────────────────────────────────────────
OPENING LINE (this sentence belongs to Sivanajani, not Feline):
"Which brings us to where all of that knowledge actually lives — because it is deliberately not in the app."
SAY:
We compared four ways to make the L2 machine-readable. XLSForm is executable by existing engines, but its standard widgets cannot carry our image cards — the tooling would have dictated our UX, and the images are the whole idea. FHIR Questionnaire plus CQL is the full standard, but the point from the lecture stands: FHIR resources are not human-readable, and Feline had to be able to review this in six days. Hardcoding is fastest and needs a developer for every rule change.
So: we author in a custom JSON that reads like the L2, and we speak standards at the interface. We do not achieve full software neutrality. That is a stated trade-off, not an oversight.
And the claim at the bottom is not a promise, it is a check that FAILS THE BUILD. It scans the app source for every element ID, every rule ID, every threshold, every code system and the endpoint. It found two real leaks the first time we ran it.
REMINDER
──────────────────────────────────────────────
The lecture explicitly permits authoring in a tailored format and translating at the boundary. We disclose that we do not achieve full software neutrality — a deliberate trade-off for maintainability and available 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LIVE DEMO — SIVANAJANI · 1:50
──────────────────────────────────────────────
SET UP BEFORE THE TALK: app open in a second window, baseline section already
completed, day-6 answers already entered except the three you click on stage,
zoom 125-150 %, language English, L3 inspector located once. Full checklist in
docs/14 §14.5.
FRAMING (10 s, still on this slide):
This is the running application — one HTML file, no server, no installation, it works offline. One patient, two days, and then one change that is the actual point.
&gt;&gt;&gt; SWITCH TO THE BROWSER
STEP 1 — DAY 6, GREEN (~30 s)
CLICK: wound picture "Calm &amp; dry" · fluid "None" · scab "Yes" · Evaluate check
SAY:
Day six after a knee replacement. Temperature thirty-six point nine, pain two out of ten and improving. The patient picks the picture — not a clinical term, a picture. No discharge. But a scab has formed, and that is exactly the thing laypeople read as a problem.
(after Evaluate) Green — and it says why. "A scab is a normal sign of healing, do not pick it off." The reason is always shown next to the colour; that is our answer to automation bias. No call to the clinic — and the entry still goes into the record.
STEP 2 — DAY 7, ORANGE + FHIR (~35 s)
CLICK: New day · wound picture "Markedly reddened" · fluid "Cloudy" · Evaluate check · Send to patient record
SAY:
Next day. Thirty-eight point three degrees, pain up to six and worsening, the wound markedly reddened — and now cloudy discharge.
(after Evaluate) Orange, suspected infection, contact your practice today. That is rule R4: purulent discharge is a primary CDC criterion for a superficial incisional infection, and it fires regardless of anything else.
(clicking Send to patient record) And this goes straight into the record — a FHIR R4 transaction bundle: the QuestionnaireResponse, an Observation carrying the classification, and — because this case is orange — a Communication alert to the practice. The endpoint is configuration in the L3, not a line of code.
STEP 3 — THE THRESHOLD CHANGE (~35 s) — THIS IS THE POINT
CLICK: New day, day-8 borderline case 37.6 °C · Evaluate check → GREEN
THEN: open the L3 inspector · fever_orange 38.0 → 37.5 · apply · Evaluate check again
SAY:
One more day. Thirty-seven point six degrees, nothing else remarkable. Green — because thirty-seven point six is below our thirty-eight degree threshold. The rule is right. But is the threshold?
Every threshold lives in the L3, and each one names its source. Suppose a guideline update lowers it. (changing the value) Thirty-eight point zero becomes thirty-seven point five. Re-evaluate.
Same patient. Same answers. Different result. No rebuild, no deployment, no developer — not one line of code was touched. That is what the layer model is actually for: the app renders and executes, and every piece of clinical knowledge sits in a file a clinician can read.
&gt;&gt;&gt; SWITCH BACK TO THE SLIDES
IF ANYTHING HANGS: stop clicking. Walk the three numbered steps from the two
screenshots on this slide (25 s) and add: "the recorded walkthrough is in the
submission package, and the app is a single HTML file you can open yourselves."
CUT IF LATE: skip the FHIR send in step 2, go straight to the threshold change.
NEVER CUT: step 3.
REMINDER
──────────────────────────────────────────────
LIVE DEMO — switch to the browser with l4/wundcheck-app.html already open, both windows arranged before the talk. Click-through: (1) day 6 case is pre-filled, pick 'calm &amp; dry' + 'none' + scab yes, Evaluate -&gt; GREEN; (2) New day, day 7 case, pick 'markedly reddened' + 'cloudy', Evaluate -&gt; ORANGE, then Send to patient record; (3) open the L3 inspector, change fever_orange 38.0 -&gt; 37.5, re-evaluate the borderline 37.6 case -&gt; GREEN becomes ORANGE. Step 3 is the important one — it is the live proof that the layer separation is real. If anything hangs, stop clicking and use the two screenshots on this slide; the recorded walkthrough is in the submission package as a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QUALITY ASSURANCE — SIVANAJANI · 0:45
──────────────────────────────────────────────
SAY:
We used the risk-based approach from the testing lecture: identify hazards, rank them by risk, test the critical paths first, then document what is left over.
Six hazards ranked, nineteen decision-logic test cases, twenty FHIR conformance checks. All passing — but that is not the interesting part. Eight defects. And three of them could not have been found by reading our own documents.
B-zero-seven: the trend rule referenced its own result, so it could never fire. B-zero-eight: after we fixed that, the rule turned out to be unreachable behind the worst-first cascade anyway. Both only surfaced when the rules were actually executed — that is exactly the L2-to-L4 translation problem. B-zero-six was a contradiction between two of our own documents: Southampton four was red in one and orange in the other.
And the box on the right is the honest one. We never tested the one thing our whole approach rests on — whether laypeople pick the right picture. We cannot test that without patients. So it becomes a monitoring indicator: green cases who still present to a physician within seventy-two hours.
NEVER CUT the residual risk.
REMINDER
──────────────────────────────────────────────
B-07 and B-08 could not have been found by reading the decision table — only by executing it. That is exactly what the assignment means by L2–L4 translation issues.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IMPLEMENTATION, MONITORING &amp; EVALUATION — SIVANAJANI · 0:35
──────────────────────────────────────────────
SAY:
Delivery is a QR code on the discharge sheet — no app store, no account, no installation. Five minutes of training at discharge, with the first check done together.
The content is owned by the clinical department, not by us. Four-eyes sign-off, and a target of a guideline update being live in under four weeks.
Monitoring is the four ISO categories — functionality, stability, fidelity, data quality — each with a number against it. Evaluation scales with the phase: usability and patient-versus-clinician agreement in the pilot; time to medical contact as the primary outcome in a chart review; a stepped-wedge design and SSI rate only at scale-up.
The stakeholder who decides whether this survives is the practice. If the alerts feel like a burden, the implementation fails no matter how good the classification is.
CUT IF LATE: the phase strip — say only "pilot, evaluate, expand" (saves 12 s).
REMINDER
──────────────────────────────────────────────
The critical stakeholder group is the practice: if the alerts are experienced as a burden, the implementation fails regardless of how good the classification is. Hence alerts only from ORANGE upwards, and alert load as an explicit monitoring indicator.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IMPACT &amp; REGULATION — SIVANAJANI · 0:28
──────────────────────────────────────────────
SAY:
Benefits: earlier treatment, fewer contacts without consequence, a complete trajectory, structured follow-up data. Risks, and we take them seriously: automation bias, alert fatigue, scaling our own errors consistently and at volume, and a digital divide that this may widen rather than close.
Is it a medical device? Yes. Software as a medical device, IMDRF Category two. The condition is serious — an untreated infection is not self-limiting. The information drives clinical management: we neither diagnose nor treat, but we determine whether and when someone seeks care.
You could argue for Category three via sepsis risk. We chose two because the category describes the typical condition, not the rare extreme — and we would rather defend the reasoning than the label.
CUT IF LATE: the standards list (saves 10 s).
REMINDER
──────────────────────────────────────────────
One could argue for Category III via sepsis risk. We chose II because the IMDRF category describes the typical condition, not the rare extreme. The reasoning matters more than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 INDIVIDUAL CONTRIBUTIONS — SIVANAJANI · 0:15
──────────────────────────────────────────────
SAY:
Feline owned the clinical layers: the sources, the evidence appraisal, the personas, and the whole L2 — BPMN, data dictionary, decision table. I owned the L3, the application, the FHIR interface and the quality assurance, plus implementation and regulation.
We cross-assigned the testing on purpose: neither of us signed off our own layer. And both of us can answer questions on the whole project.
DO: stay standing as a pair. Do not sit down.
REMINDER
──────────────────────────────────────────────
Keep it concrete — 'we both worked on everything' is the weakest possible formulation. The cross-assignment is worth saying out loud: the person who wrote a layer did not sign off their own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 REPOSITORY &amp; QR CODE — SIVANAJANI · 0:12
──────────────────────────────────────────────
SAY:
Everything is in the repository — the documents, the BPMN sources, the L3, the running app and the test scripts. Scan the code and you can re-run every check we just claimed.
Thank you. We are happy to take questions.
DO: leave this slide up for the ENTIRE question round. The QR code stays on
screen and the repository answers half the possible questions by itself.
BACKUP SLIDES FOLLOW (17-26). In presenter mode, type the number and press Enter.
 17 decision table  ·  18 test protocol  ·  19 hazard matrix  ·  20 BPMN detail
 21 FHIR interface  ·  22 traceability   ·  23 the L3 in one screen
 24 data dictionary ·  25 what did not fit ·  26 sources
REMINDER
──────────────────────────────────────────────
Closing slide. Leave it up for the whole question round — the QR code stays on screen and the repository is the answer to half the possible questions. Backup slides follow from here (17–26); type the number and press Enter to jump.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17 · DECISION TABLE — ALL 18 RULES
──────────────────────────────────────────────
JUMP HERE WHEN ASKED: "show me the full rule set" / "what happens with a case that matches no rule?"
SAY:
Here is the complete table. Thirteen exclusive rules in priority order, five information rules that fire alongside. Each row carries the condition AND the source it came from — CDC for the discharge and dehiscence rules, NICE one-point-four-point-nine for the red streak, Southampton for the grading rules. R8 at the bottom is the catch-all: it always matches, so no input can ever fall through without an answer — and even R8 never says "everything is fine" without a hint about when to make contact.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18 · TEST PROTOCOL — 19 CASES
──────────────────────────────────────────────
JUMP HERE WHEN ASKED: "what exactly did you test?"
SAY:
Nineteen cases, and they are not arbitrary — they are chosen against the hazard ranking. T1 to T3 are the red paths. T5 and T14 are the counter-checks: cases that MUST NOT escalate, because over-triage is a real failure mode too. T13, T11, T12 and T16 are the retests for the defects we fixed. T15, T17 and T19 are the three that failed on first run and produced defects B-06, B-07 and B-08. T19 is the threshold change you saw in the demo, as an automated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19 · HAZARD ANALYSIS AND RISK MATRIX
──────────────────────────────────────────────
JUMP HERE WHEN ASKED: "how did you rank the risks?" / "where is your logic most fragile?"
SAY:
Six hazards, scored severity times likelihood. The two in the red zone are H-01, a missed infection classified green, and H-03, an emergency rule that is unreachable. Both drove the test order — we tested the red paths before we tested anything cosmetic. The matrix is also our argument for worst-first: it moves risk from the severe corner into the tolerable one, at the cost of more false alarms.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20 · BPMN — DETAIL PROCESS INSIDE THE APP
──────────────────────────────────────────────
JUMP HERE WHEN ASKED: "what actually happens inside the app?"
SAY:
This is the process one level down: input validation, the two-pass evaluation, the worst-first cascade as explicit gateways, and the write-back. The gateway chain is the decision table one to one — the same rule IDs. That is deliberate: the diagram and the executable file cannot drift apart, because they are generated from the same rule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21 · THE FHIR INTERFACE
──────────────────────────────────────────────
JUMP HERE WHEN ASKED: "how do you connect to a hospital system / an EHR?"
SAY:
One check produces three resources in a single transaction bundle. The QuestionnaireResponse holds the raw answers against a versioned canonical Questionnaire. The Observation carries the classification, coded in SNOMED, with the Southampton grade and the fired rule as components. And the Communication is the alert to the practice, created only from orange upwards — that is Sandra's persona turned into a technical rule. The endpoint, the patient reference and the alert recipient are all L3 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22 · TRACEABILITY — ONE FINDING, ALL THE WAY THROUGH
──────────────────────────────────────────────
JUMP HERE WHEN ASKED: "can you trace one finding end to end?"
SAY:
This is one finding traced end to end: the CDC criterion "purulent drainage" becomes data element DE-035 with a SNOMED code, which is used by rule R4 at orange priority, which produces an Observation component in the FHIR bundle, and which is verified by test case T15. Five artefacts, one identifier. If you change the element, everything downstream of it is findable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23 · THE L3 IN ONE SCREEN
──────────────────────────────────────────────
JUMP HERE WHEN ASKED: "what does your L3 actually look like?" / "how do you roll out a guideline update?"
SAY:
This file IS the CDSS. Metadata with the thresholds and their sources, the elements with their labels in two languages and their terminology bindings, and the decision rules with their conditions and outputs. The app that renders it contains none of this. Hand this file to a different renderer and you have the same clinical system — that is the property we were actually trying to buy.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24 · DATA DICTIONARY — THE FOUR REQUIRED COLUMNS
──────────────────────────────────────────────
JUMP HERE WHEN ASKED: "did you produce a proper data dictionary?"
SAY:
The full dictionary has forty-eight rows; this is an excerpt showing the four columns the assignment asks for — the element, its type and permitted values, its terminology binding, and its FHIR mapping — plus a fifth we added, the L1 source. Nine elements are calculated rather than asked, eight carry plausibility constraints, and four are conditional on an earlier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25 · DEPTH THAT DID NOT FIT INTO TEN MINUTES
──────────────────────────────────────────────
JUMP HERE WHEN ASKED: "what would you do differently with more time?" / "which interoperability level?"
SAY:
A pointer slide. It lists the testing types we applied, the versioning and update path for the L3, the multilingualism approach, the interoperability level we reach — structural yes, semantic partly, organisational no — and what we would do differently with more time. The honest answer to that last one is: validate the image assignment. Everything else is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26 · SOURCES
──────────────────────────────────────────────
JUMP HERE WHEN ASKED: "where are your sources?"
SAY:
Ten sources. Woelber for the sixty per cent, ECDC and WHO for incidence, CDC for the definition, NICE for the management recommendations, Bailey for the Southampton system, Campwala for the comparison, WHO for the M&amp;E framework and the SMART layer model, IMDRF for the risk categorisation, and HL7 for the FHIR resources.
TWO ANSWERS THAT ARE ON NO SLIDE:
· "Did you use AI to build this?" — Yes, for drafting and for the tooling. The
  clinical decisions, the source appraisal and the nine translation calls are
  ours, and every threshold names the source it came from.
· "Would you deploy this?" — No. Not without clinical sign-off on all nine
  translation decisions and a validation study on the image assignment. It is a
  study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02E"/>
        </a:solidFill>
      </p:bgPr>
    </p:bg>
    <p:spTree>
      <p:nvGrpSpPr>
        <p:cNvPr id="1" name=""/>
        <p:cNvGrpSpPr/>
        <p:nvPr/>
      </p:nvGrpSpPr>
      <p:grpSpPr>
        <a:xfrm>
          <a:off x="0" y="0"/>
          <a:ext cx="0" cy="0"/>
          <a:chOff x="0" y="0"/>
          <a:chExt cx="0" cy="0"/>
        </a:xfrm>
      </p:grpSpPr>
      <p:sp>
        <p:nvSpPr>
          <p:cNvPr id="2" name="Text 0"/>
          <p:cNvSpPr/>
          <p:nvPr/>
        </p:nvSpPr>
        <p:spPr>
          <a:xfrm>
            <a:off x="566928" y="1572768"/>
            <a:ext cx="8229600" cy="86868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WundCheck</a:t>
            </a:r>
            <a:endParaRPr lang="en-US" sz="5200" dirty="0"/>
          </a:p>
        </p:txBody>
      </p:sp>
      <p:sp>
        <p:nvSpPr>
          <p:cNvPr id="3" name="Text 1"/>
          <p:cNvSpPr/>
          <p:nvPr/>
        </p:nvSpPr>
        <p:spPr>
          <a:xfrm>
            <a:off x="566928" y="2487168"/>
            <a:ext cx="7863840" cy="548640"/>
          </a:xfrm>
          <a:prstGeom prst="rect">
            <a:avLst/>
          </a:prstGeom>
          <a:noFill/>
          <a:ln/>
        </p:spPr>
        <p:txBody>
          <a:bodyPr wrap="square" lIns="0" tIns="0" rIns="0" bIns="0" rtlCol="0" anchor="ctr"/>
          <a:lstStyle/>
          <a:p>
            <a:pPr indent="0" marL="0">
              <a:buNone/>
            </a:pPr>
            <a:r>
              <a:rPr lang="en-US" sz="1700" dirty="0">
                <a:solidFill>
                  <a:srgbClr val="C9D6E4"/>
                </a:solidFill>
                <a:latin typeface="Calibri" pitchFamily="34" charset="0"/>
                <a:ea typeface="Calibri" pitchFamily="34" charset="-122"/>
                <a:cs typeface="Calibri" pitchFamily="34" charset="-120"/>
              </a:rPr>
              <a:t>A mini CDSS that puts the daily wound check in the hands of the patient</a:t>
            </a:r>
            <a:endParaRPr lang="en-US" sz="1700" dirty="0"/>
          </a:p>
        </p:txBody>
      </p:sp>
      <p:sp>
        <p:nvSpPr>
          <p:cNvPr id="4" name="Text 2"/>
          <p:cNvSpPr/>
          <p:nvPr/>
        </p:nvSpPr>
        <p:spPr>
          <a:xfrm>
            <a:off x="566928" y="3200400"/>
            <a:ext cx="8046720" cy="822960"/>
          </a:xfrm>
          <a:prstGeom prst="rect">
            <a:avLst/>
          </a:prstGeom>
          <a:noFill/>
          <a:ln/>
        </p:spPr>
        <p:txBody>
          <a:bodyPr wrap="square" lIns="0" tIns="0" rIns="0" bIns="0" rtlCol="0" anchor="ctr"/>
          <a:lstStyle/>
          <a:p>
            <a:pPr indent="0" marL="0">
              <a:lnSpc>
                <a:spcPts val="2000"/>
              </a:lnSpc>
              <a:buNone/>
            </a:pPr>
            <a:r>
              <a:rPr lang="en-US" sz="1350" i="1" dirty="0">
                <a:solidFill>
                  <a:srgbClr val="8FA3B8"/>
                </a:solidFill>
                <a:latin typeface="Calibri" pitchFamily="34" charset="0"/>
                <a:ea typeface="Calibri" pitchFamily="34" charset="-122"/>
                <a:cs typeface="Calibri" pitchFamily="34" charset="-120"/>
              </a:rPr>
              <a:t>We translated a guideline written for health professionals into an instrument for laypersons —</a:t>
            </a:r>
            <a:endParaRPr lang="en-US" sz="1350" dirty="0"/>
          </a:p>
          <a:p>
            <a:pPr indent="0" marL="0">
              <a:lnSpc>
                <a:spcPts val="2000"/>
              </a:lnSpc>
              <a:buNone/>
            </a:pPr>
            <a:r>
              <a:rPr lang="en-US" sz="1350" i="1" dirty="0">
                <a:solidFill>
                  <a:srgbClr val="8FA3B8"/>
                </a:solidFill>
                <a:latin typeface="Calibri" pitchFamily="34" charset="0"/>
                <a:ea typeface="Calibri" pitchFamily="34" charset="-122"/>
                <a:cs typeface="Calibri" pitchFamily="34" charset="-120"/>
              </a:rPr>
              <a:t>and learned where that translation becomes dangerous.</a:t>
            </a:r>
            <a:endParaRPr lang="en-US" sz="1350" dirty="0"/>
          </a:p>
        </p:txBody>
      </p:sp>
      <p:sp>
        <p:nvSpPr>
          <p:cNvPr id="5" name="Text 3"/>
          <p:cNvSpPr/>
          <p:nvPr/>
        </p:nvSpPr>
        <p:spPr>
          <a:xfrm>
            <a:off x="566928" y="4059936"/>
            <a:ext cx="8229600" cy="292608"/>
          </a:xfrm>
          <a:prstGeom prst="rect">
            <a:avLst/>
          </a:prstGeom>
          <a:noFill/>
          <a:ln/>
        </p:spPr>
        <p:txBody>
          <a:bodyPr wrap="square" lIns="0" tIns="0" rIns="0" bIns="0" rtlCol="0" anchor="ctr"/>
          <a:lstStyle/>
          <a:p>
            <a:pPr indent="0" marL="0">
              <a:buNone/>
            </a:pPr>
            <a:r>
              <a:rPr lang="en-US" sz="1350" dirty="0">
                <a:solidFill>
                  <a:srgbClr val="D6E2EE"/>
                </a:solidFill>
                <a:latin typeface="Calibri" pitchFamily="34" charset="0"/>
                <a:ea typeface="Calibri" pitchFamily="34" charset="-122"/>
                <a:cs typeface="Calibri" pitchFamily="34" charset="-120"/>
              </a:rPr>
              <a:t>Feline Weger, Biomedical Engineer   ·   Sivanajani Sivakumar</a:t>
            </a:r>
            <a:endParaRPr lang="en-US" sz="1350" dirty="0"/>
          </a:p>
        </p:txBody>
      </p:sp>
      <p:sp>
        <p:nvSpPr>
          <p:cNvPr id="6" name="Text 4"/>
          <p:cNvSpPr/>
          <p:nvPr/>
        </p:nvSpPr>
        <p:spPr>
          <a:xfrm>
            <a:off x="566928" y="4617720"/>
            <a:ext cx="2103120" cy="56692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48</a:t>
            </a:r>
            <a:endParaRPr lang="en-US" sz="3400" dirty="0"/>
          </a:p>
        </p:txBody>
      </p:sp>
      <p:sp>
        <p:nvSpPr>
          <p:cNvPr id="7" name="Text 5"/>
          <p:cNvSpPr/>
          <p:nvPr/>
        </p:nvSpPr>
        <p:spPr>
          <a:xfrm>
            <a:off x="566928" y="5193792"/>
            <a:ext cx="2103120" cy="274320"/>
          </a:xfrm>
          <a:prstGeom prst="rect">
            <a:avLst/>
          </a:prstGeom>
          <a:noFill/>
          <a:ln/>
        </p:spPr>
        <p:txBody>
          <a:bodyPr wrap="square" lIns="0" tIns="0" rIns="0" bIns="0" rtlCol="0" anchor="ctr"/>
          <a:lstStyle/>
          <a:p>
            <a:pPr indent="0" marL="0">
              <a:buNone/>
            </a:pPr>
            <a:r>
              <a:rPr lang="en-US" sz="1100" dirty="0">
                <a:solidFill>
                  <a:srgbClr val="8FA3B8"/>
                </a:solidFill>
                <a:latin typeface="Calibri" pitchFamily="34" charset="0"/>
                <a:ea typeface="Calibri" pitchFamily="34" charset="-122"/>
                <a:cs typeface="Calibri" pitchFamily="34" charset="-120"/>
              </a:rPr>
              <a:t>data elements</a:t>
            </a:r>
            <a:endParaRPr lang="en-US" sz="1100" dirty="0"/>
          </a:p>
        </p:txBody>
      </p:sp>
      <p:sp>
        <p:nvSpPr>
          <p:cNvPr id="8" name="Text 6"/>
          <p:cNvSpPr/>
          <p:nvPr/>
        </p:nvSpPr>
        <p:spPr>
          <a:xfrm>
            <a:off x="2898648" y="4617720"/>
            <a:ext cx="2103120" cy="56692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18</a:t>
            </a:r>
            <a:endParaRPr lang="en-US" sz="3400" dirty="0"/>
          </a:p>
        </p:txBody>
      </p:sp>
      <p:sp>
        <p:nvSpPr>
          <p:cNvPr id="9" name="Text 7"/>
          <p:cNvSpPr/>
          <p:nvPr/>
        </p:nvSpPr>
        <p:spPr>
          <a:xfrm>
            <a:off x="2898648" y="5193792"/>
            <a:ext cx="2103120" cy="274320"/>
          </a:xfrm>
          <a:prstGeom prst="rect">
            <a:avLst/>
          </a:prstGeom>
          <a:noFill/>
          <a:ln/>
        </p:spPr>
        <p:txBody>
          <a:bodyPr wrap="square" lIns="0" tIns="0" rIns="0" bIns="0" rtlCol="0" anchor="ctr"/>
          <a:lstStyle/>
          <a:p>
            <a:pPr indent="0" marL="0">
              <a:buNone/>
            </a:pPr>
            <a:r>
              <a:rPr lang="en-US" sz="1100" dirty="0">
                <a:solidFill>
                  <a:srgbClr val="8FA3B8"/>
                </a:solidFill>
                <a:latin typeface="Calibri" pitchFamily="34" charset="0"/>
                <a:ea typeface="Calibri" pitchFamily="34" charset="-122"/>
                <a:cs typeface="Calibri" pitchFamily="34" charset="-120"/>
              </a:rPr>
              <a:t>decision rules</a:t>
            </a:r>
            <a:endParaRPr lang="en-US" sz="1100" dirty="0"/>
          </a:p>
        </p:txBody>
      </p:sp>
      <p:sp>
        <p:nvSpPr>
          <p:cNvPr id="10" name="Text 8"/>
          <p:cNvSpPr/>
          <p:nvPr/>
        </p:nvSpPr>
        <p:spPr>
          <a:xfrm>
            <a:off x="5230368" y="4617720"/>
            <a:ext cx="2103120" cy="56692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9</a:t>
            </a:r>
            <a:endParaRPr lang="en-US" sz="3400" dirty="0"/>
          </a:p>
        </p:txBody>
      </p:sp>
      <p:sp>
        <p:nvSpPr>
          <p:cNvPr id="11" name="Text 9"/>
          <p:cNvSpPr/>
          <p:nvPr/>
        </p:nvSpPr>
        <p:spPr>
          <a:xfrm>
            <a:off x="5230368" y="5193792"/>
            <a:ext cx="2103120" cy="274320"/>
          </a:xfrm>
          <a:prstGeom prst="rect">
            <a:avLst/>
          </a:prstGeom>
          <a:noFill/>
          <a:ln/>
        </p:spPr>
        <p:txBody>
          <a:bodyPr wrap="square" lIns="0" tIns="0" rIns="0" bIns="0" rtlCol="0" anchor="ctr"/>
          <a:lstStyle/>
          <a:p>
            <a:pPr indent="0" marL="0">
              <a:buNone/>
            </a:pPr>
            <a:r>
              <a:rPr lang="en-US" sz="1100" dirty="0">
                <a:solidFill>
                  <a:srgbClr val="8FA3B8"/>
                </a:solidFill>
                <a:latin typeface="Calibri" pitchFamily="34" charset="0"/>
                <a:ea typeface="Calibri" pitchFamily="34" charset="-122"/>
                <a:cs typeface="Calibri" pitchFamily="34" charset="-120"/>
              </a:rPr>
              <a:t>L1→L2 challenges</a:t>
            </a:r>
            <a:endParaRPr lang="en-US" sz="1100" dirty="0"/>
          </a:p>
        </p:txBody>
      </p:sp>
      <p:sp>
        <p:nvSpPr>
          <p:cNvPr id="12" name="Text 10"/>
          <p:cNvSpPr/>
          <p:nvPr/>
        </p:nvSpPr>
        <p:spPr>
          <a:xfrm>
            <a:off x="7562088" y="4617720"/>
            <a:ext cx="2103120" cy="56692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8</a:t>
            </a:r>
            <a:endParaRPr lang="en-US" sz="3400" dirty="0"/>
          </a:p>
        </p:txBody>
      </p:sp>
      <p:sp>
        <p:nvSpPr>
          <p:cNvPr id="13" name="Text 11"/>
          <p:cNvSpPr/>
          <p:nvPr/>
        </p:nvSpPr>
        <p:spPr>
          <a:xfrm>
            <a:off x="7562088" y="5193792"/>
            <a:ext cx="2103120" cy="274320"/>
          </a:xfrm>
          <a:prstGeom prst="rect">
            <a:avLst/>
          </a:prstGeom>
          <a:noFill/>
          <a:ln/>
        </p:spPr>
        <p:txBody>
          <a:bodyPr wrap="square" lIns="0" tIns="0" rIns="0" bIns="0" rtlCol="0" anchor="ctr"/>
          <a:lstStyle/>
          <a:p>
            <a:pPr indent="0" marL="0">
              <a:buNone/>
            </a:pPr>
            <a:r>
              <a:rPr lang="en-US" sz="1100" dirty="0">
                <a:solidFill>
                  <a:srgbClr val="8FA3B8"/>
                </a:solidFill>
                <a:latin typeface="Calibri" pitchFamily="34" charset="0"/>
                <a:ea typeface="Calibri" pitchFamily="34" charset="-122"/>
                <a:cs typeface="Calibri" pitchFamily="34" charset="-120"/>
              </a:rPr>
              <a:t>defects fixed</a:t>
            </a:r>
            <a:endParaRPr lang="en-US" sz="1100" dirty="0"/>
          </a:p>
        </p:txBody>
      </p:sp>
      <p:sp>
        <p:nvSpPr>
          <p:cNvPr id="14" name="Text 12"/>
          <p:cNvSpPr/>
          <p:nvPr/>
        </p:nvSpPr>
        <p:spPr>
          <a:xfrm>
            <a:off x="566928" y="6089904"/>
            <a:ext cx="8229600" cy="274320"/>
          </a:xfrm>
          <a:prstGeom prst="rect">
            <a:avLst/>
          </a:prstGeom>
          <a:noFill/>
          <a:ln/>
        </p:spPr>
        <p:txBody>
          <a:bodyPr wrap="square" lIns="0" tIns="0" rIns="0" bIns="0" rtlCol="0" anchor="ctr"/>
          <a:lstStyle/>
          <a:p>
            <a:pPr indent="0" marL="0">
              <a:buNone/>
            </a:pPr>
            <a:r>
              <a:rPr lang="en-US" sz="1100" dirty="0">
                <a:solidFill>
                  <a:srgbClr val="8FA3B8"/>
                </a:solidFill>
                <a:latin typeface="Calibri" pitchFamily="34" charset="0"/>
                <a:ea typeface="Calibri" pitchFamily="34" charset="-122"/>
                <a:cs typeface="Calibri" pitchFamily="34" charset="-120"/>
              </a:rPr>
              <a:t>FHNW  ·  MSc Medical Informatics  ·  Clinical Decision Support Systems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indent="0" marL="0">
              <a:buNone/>
            </a:pPr>
            <a:r>
              <a:rPr lang="en-US" sz="1050" b="1" spc="160" kern="0" dirty="0">
                <a:solidFill>
                  <a:srgbClr val="5D7186"/>
                </a:solidFill>
                <a:latin typeface="Calibri" pitchFamily="34" charset="0"/>
                <a:ea typeface="Calibri" pitchFamily="34" charset="-122"/>
                <a:cs typeface="Calibri" pitchFamily="34" charset="-120"/>
              </a:rPr>
              <a:t>HEALTH SYSTEM NEED</a:t>
            </a:r>
            <a:endParaRPr lang="en-US" sz="1050" dirty="0"/>
          </a:p>
        </p:txBody>
      </p:sp>
      <p:sp>
        <p:nvSpPr>
          <p:cNvPr id="3" name="Text 1"/>
          <p:cNvSpPr/>
          <p:nvPr/>
        </p:nvSpPr>
        <p:spPr>
          <a:xfrm>
            <a:off x="566928" y="640080"/>
            <a:ext cx="10607040" cy="658368"/>
          </a:xfrm>
          <a:prstGeom prst="rect">
            <a:avLst/>
          </a:prstGeom>
          <a:noFill/>
          <a:ln/>
        </p:spPr>
        <p:txBody>
          <a:bodyPr wrap="square" lIns="0" tIns="0" rIns="0" bIns="0" rtlCol="0" anchor="t"/>
          <a:lstStyle/>
          <a:p>
            <a:pPr indent="0" marL="0">
              <a:buNone/>
            </a:pPr>
            <a:r>
              <a:rPr lang="en-US" sz="2700" b="1" dirty="0">
                <a:solidFill>
                  <a:srgbClr val="12202E"/>
                </a:solidFill>
                <a:latin typeface="Cambria" pitchFamily="34" charset="0"/>
                <a:ea typeface="Cambria" pitchFamily="34" charset="-122"/>
                <a:cs typeface="Cambria" pitchFamily="34" charset="-120"/>
              </a:rPr>
              <a:t>Surgical site infections appear after discharge — when nobody is looking</a:t>
            </a:r>
            <a:endParaRPr lang="en-US" sz="2700" dirty="0"/>
          </a:p>
        </p:txBody>
      </p:sp>
      <p:sp>
        <p:nvSpPr>
          <p:cNvPr id="4" name="Shape 2"/>
          <p:cNvSpPr/>
          <p:nvPr/>
        </p:nvSpPr>
        <p:spPr>
          <a:xfrm>
            <a:off x="566928" y="1700784"/>
            <a:ext cx="3474720" cy="1572768"/>
          </a:xfrm>
          <a:prstGeom prst="roundRect">
            <a:avLst>
              <a:gd name="adj" fmla="val 5233"/>
            </a:avLst>
          </a:prstGeom>
          <a:solidFill>
            <a:srgbClr val="FFFFFF"/>
          </a:solidFill>
          <a:ln w="12700">
            <a:solidFill>
              <a:srgbClr val="DDE5EE"/>
            </a:solidFill>
            <a:prstDash val="solid"/>
          </a:ln>
        </p:spPr>
      </p:sp>
      <p:sp>
        <p:nvSpPr>
          <p:cNvPr id="5" name="Text 3"/>
          <p:cNvSpPr/>
          <p:nvPr/>
        </p:nvSpPr>
        <p:spPr>
          <a:xfrm>
            <a:off x="822960" y="1847088"/>
            <a:ext cx="3017520" cy="384048"/>
          </a:xfrm>
          <a:prstGeom prst="rect">
            <a:avLst/>
          </a:prstGeom>
          <a:noFill/>
          <a:ln/>
        </p:spPr>
        <p:txBody>
          <a:bodyPr wrap="square" lIns="0" tIns="0" rIns="0" bIns="0" rtlCol="0" anchor="ctr"/>
          <a:lstStyle/>
          <a:p>
            <a:pPr indent="0" marL="0">
              <a:buNone/>
            </a:pPr>
            <a:r>
              <a:rPr lang="en-US" sz="2600" b="1" dirty="0">
                <a:solidFill>
                  <a:srgbClr val="12202E"/>
                </a:solidFill>
                <a:latin typeface="Cambria" pitchFamily="34" charset="0"/>
                <a:ea typeface="Cambria" pitchFamily="34" charset="-122"/>
                <a:cs typeface="Cambria" pitchFamily="34" charset="-120"/>
              </a:rPr>
              <a:t>60.1 %</a:t>
            </a:r>
            <a:endParaRPr lang="en-US" sz="2600" dirty="0"/>
          </a:p>
        </p:txBody>
      </p:sp>
      <p:sp>
        <p:nvSpPr>
          <p:cNvPr id="6" name="Text 4"/>
          <p:cNvSpPr/>
          <p:nvPr/>
        </p:nvSpPr>
        <p:spPr>
          <a:xfrm>
            <a:off x="822960" y="2286000"/>
            <a:ext cx="3017520" cy="914400"/>
          </a:xfrm>
          <a:prstGeom prst="rect">
            <a:avLst/>
          </a:prstGeom>
          <a:noFill/>
          <a:ln/>
        </p:spPr>
        <p:txBody>
          <a:bodyPr wrap="square" lIns="0" tIns="0" rIns="0" bIns="0" rtlCol="0" anchor="t"/>
          <a:lstStyle/>
          <a:p>
            <a:pPr indent="0" marL="0">
              <a:lnSpc>
                <a:spcPts val="1400"/>
              </a:lnSpc>
              <a:buNone/>
            </a:pPr>
            <a:r>
              <a:rPr lang="en-US" sz="1100" dirty="0">
                <a:solidFill>
                  <a:srgbClr val="5D7186"/>
                </a:solidFill>
                <a:latin typeface="Calibri" pitchFamily="34" charset="0"/>
                <a:ea typeface="Calibri" pitchFamily="34" charset="-122"/>
                <a:cs typeface="Calibri" pitchFamily="34" charset="-120"/>
              </a:rPr>
              <a:t>of surgical site infections occur after discharge — systematic review of 1.4 million operations. The CDC surveillance window runs 30 days, 90 for implants.</a:t>
            </a:r>
            <a:endParaRPr lang="en-US" sz="1100" dirty="0"/>
          </a:p>
        </p:txBody>
      </p:sp>
      <p:sp>
        <p:nvSpPr>
          <p:cNvPr id="7" name="Shape 5"/>
          <p:cNvSpPr/>
          <p:nvPr/>
        </p:nvSpPr>
        <p:spPr>
          <a:xfrm>
            <a:off x="4279392" y="1700784"/>
            <a:ext cx="3474720" cy="1572768"/>
          </a:xfrm>
          <a:prstGeom prst="roundRect">
            <a:avLst>
              <a:gd name="adj" fmla="val 5233"/>
            </a:avLst>
          </a:prstGeom>
          <a:solidFill>
            <a:srgbClr val="FFFFFF"/>
          </a:solidFill>
          <a:ln w="12700">
            <a:solidFill>
              <a:srgbClr val="DDE5EE"/>
            </a:solidFill>
            <a:prstDash val="solid"/>
          </a:ln>
        </p:spPr>
      </p:sp>
      <p:sp>
        <p:nvSpPr>
          <p:cNvPr id="8" name="Text 6"/>
          <p:cNvSpPr/>
          <p:nvPr/>
        </p:nvSpPr>
        <p:spPr>
          <a:xfrm>
            <a:off x="4535424" y="1847088"/>
            <a:ext cx="3017520" cy="384048"/>
          </a:xfrm>
          <a:prstGeom prst="rect">
            <a:avLst/>
          </a:prstGeom>
          <a:noFill/>
          <a:ln/>
        </p:spPr>
        <p:txBody>
          <a:bodyPr wrap="square" lIns="0" tIns="0" rIns="0" bIns="0" rtlCol="0" anchor="ctr"/>
          <a:lstStyle/>
          <a:p>
            <a:pPr indent="0" marL="0">
              <a:buNone/>
            </a:pPr>
            <a:r>
              <a:rPr lang="en-US" sz="1900" b="1" dirty="0">
                <a:solidFill>
                  <a:srgbClr val="C25C07"/>
                </a:solidFill>
                <a:latin typeface="Cambria" pitchFamily="34" charset="0"/>
                <a:ea typeface="Cambria" pitchFamily="34" charset="-122"/>
                <a:cs typeface="Cambria" pitchFamily="34" charset="-120"/>
              </a:rPr>
              <a:t>Too late</a:t>
            </a:r>
            <a:endParaRPr lang="en-US" sz="1900" dirty="0"/>
          </a:p>
        </p:txBody>
      </p:sp>
      <p:sp>
        <p:nvSpPr>
          <p:cNvPr id="9" name="Text 7"/>
          <p:cNvSpPr/>
          <p:nvPr/>
        </p:nvSpPr>
        <p:spPr>
          <a:xfrm>
            <a:off x="4535424" y="2286000"/>
            <a:ext cx="3017520" cy="914400"/>
          </a:xfrm>
          <a:prstGeom prst="rect">
            <a:avLst/>
          </a:prstGeom>
          <a:noFill/>
          <a:ln/>
        </p:spPr>
        <p:txBody>
          <a:bodyPr wrap="square" lIns="0" tIns="0" rIns="0" bIns="0" rtlCol="0" anchor="t"/>
          <a:lstStyle/>
          <a:p>
            <a:pPr indent="0" marL="0">
              <a:lnSpc>
                <a:spcPts val="1400"/>
              </a:lnSpc>
              <a:buNone/>
            </a:pPr>
            <a:r>
              <a:rPr lang="en-US" sz="1100" dirty="0">
                <a:solidFill>
                  <a:srgbClr val="5D7186"/>
                </a:solidFill>
                <a:latin typeface="Calibri" pitchFamily="34" charset="0"/>
                <a:ea typeface="Calibri" pitchFamily="34" charset="-122"/>
                <a:cs typeface="Calibri" pitchFamily="34" charset="-120"/>
              </a:rPr>
              <a:t>Warning signs are read as normal. The infection progresses; treatment starts days later than it could.</a:t>
            </a:r>
            <a:endParaRPr lang="en-US" sz="1100" dirty="0"/>
          </a:p>
        </p:txBody>
      </p:sp>
      <p:sp>
        <p:nvSpPr>
          <p:cNvPr id="10" name="Shape 8"/>
          <p:cNvSpPr/>
          <p:nvPr/>
        </p:nvSpPr>
        <p:spPr>
          <a:xfrm>
            <a:off x="7991856" y="1700784"/>
            <a:ext cx="3474720" cy="1572768"/>
          </a:xfrm>
          <a:prstGeom prst="roundRect">
            <a:avLst>
              <a:gd name="adj" fmla="val 5233"/>
            </a:avLst>
          </a:prstGeom>
          <a:solidFill>
            <a:srgbClr val="FFFFFF"/>
          </a:solidFill>
          <a:ln w="12700">
            <a:solidFill>
              <a:srgbClr val="DDE5EE"/>
            </a:solidFill>
            <a:prstDash val="solid"/>
          </a:ln>
        </p:spPr>
      </p:sp>
      <p:sp>
        <p:nvSpPr>
          <p:cNvPr id="11" name="Text 9"/>
          <p:cNvSpPr/>
          <p:nvPr/>
        </p:nvSpPr>
        <p:spPr>
          <a:xfrm>
            <a:off x="8247888" y="1847088"/>
            <a:ext cx="3017520" cy="384048"/>
          </a:xfrm>
          <a:prstGeom prst="rect">
            <a:avLst/>
          </a:prstGeom>
          <a:noFill/>
          <a:ln/>
        </p:spPr>
        <p:txBody>
          <a:bodyPr wrap="square" lIns="0" tIns="0" rIns="0" bIns="0" rtlCol="0" anchor="ctr"/>
          <a:lstStyle/>
          <a:p>
            <a:pPr indent="0" marL="0">
              <a:buNone/>
            </a:pPr>
            <a:r>
              <a:rPr lang="en-US" sz="1900" b="1" dirty="0">
                <a:solidFill>
                  <a:srgbClr val="C25C07"/>
                </a:solidFill>
                <a:latin typeface="Cambria" pitchFamily="34" charset="0"/>
                <a:ea typeface="Cambria" pitchFamily="34" charset="-122"/>
                <a:cs typeface="Cambria" pitchFamily="34" charset="-120"/>
              </a:rPr>
              <a:t>Too early</a:t>
            </a:r>
            <a:endParaRPr lang="en-US" sz="1900" dirty="0"/>
          </a:p>
        </p:txBody>
      </p:sp>
      <p:sp>
        <p:nvSpPr>
          <p:cNvPr id="12" name="Text 10"/>
          <p:cNvSpPr/>
          <p:nvPr/>
        </p:nvSpPr>
        <p:spPr>
          <a:xfrm>
            <a:off x="8247888" y="2286000"/>
            <a:ext cx="3017520" cy="914400"/>
          </a:xfrm>
          <a:prstGeom prst="rect">
            <a:avLst/>
          </a:prstGeom>
          <a:noFill/>
          <a:ln/>
        </p:spPr>
        <p:txBody>
          <a:bodyPr wrap="square" lIns="0" tIns="0" rIns="0" bIns="0" rtlCol="0" anchor="t"/>
          <a:lstStyle/>
          <a:p>
            <a:pPr indent="0" marL="0">
              <a:lnSpc>
                <a:spcPts val="1400"/>
              </a:lnSpc>
              <a:buNone/>
            </a:pPr>
            <a:r>
              <a:rPr lang="en-US" sz="1100" dirty="0">
                <a:solidFill>
                  <a:srgbClr val="5D7186"/>
                </a:solidFill>
                <a:latin typeface="Calibri" pitchFamily="34" charset="0"/>
                <a:ea typeface="Calibri" pitchFamily="34" charset="-122"/>
                <a:cs typeface="Calibri" pitchFamily="34" charset="-120"/>
              </a:rPr>
              <a:t>Normal healing signs — a scab, day-2 redness — trigger calls that bind practice staff and worry patients.</a:t>
            </a:r>
            <a:endParaRPr lang="en-US" sz="1100" dirty="0"/>
          </a:p>
        </p:txBody>
      </p:sp>
      <p:sp>
        <p:nvSpPr>
          <p:cNvPr id="13" name="Text 11"/>
          <p:cNvSpPr/>
          <p:nvPr/>
        </p:nvSpPr>
        <p:spPr>
          <a:xfrm>
            <a:off x="566928" y="3346704"/>
            <a:ext cx="11064240" cy="310896"/>
          </a:xfrm>
          <a:prstGeom prst="rect">
            <a:avLst/>
          </a:prstGeom>
          <a:noFill/>
          <a:ln/>
        </p:spPr>
        <p:txBody>
          <a:bodyPr wrap="square" lIns="0" tIns="0" rIns="0" bIns="0" rtlCol="0" anchor="ctr"/>
          <a:lstStyle/>
          <a:p>
            <a:pPr indent="0" marL="0">
              <a:buNone/>
            </a:pPr>
            <a:r>
              <a:rPr lang="en-US" sz="950" dirty="0">
                <a:solidFill>
                  <a:srgbClr val="5D7186"/>
                </a:solidFill>
                <a:latin typeface="Calibri" pitchFamily="34" charset="0"/>
                <a:ea typeface="Calibri" pitchFamily="34" charset="-122"/>
                <a:cs typeface="Calibri" pitchFamily="34" charset="-120"/>
              </a:rPr>
              <a:t>SSI incidence in Europe 0.5–10.1 % depending on procedure (ECDC 2017: 10,149 SSIs in 648,512 operations) · 9.5 % after colon surgery, 1.0 % after hip replacement (WHO) · Switzerland: &gt; 170 hospitals in the Swissnoso surveillance programme</a:t>
            </a:r>
            <a:endParaRPr lang="en-US" sz="950" dirty="0"/>
          </a:p>
        </p:txBody>
      </p:sp>
      <p:sp>
        <p:nvSpPr>
          <p:cNvPr id="14" name="Shape 12"/>
          <p:cNvSpPr/>
          <p:nvPr/>
        </p:nvSpPr>
        <p:spPr>
          <a:xfrm>
            <a:off x="566928" y="3767328"/>
            <a:ext cx="6858000" cy="2212848"/>
          </a:xfrm>
          <a:prstGeom prst="roundRect">
            <a:avLst>
              <a:gd name="adj" fmla="val 3719"/>
            </a:avLst>
          </a:prstGeom>
          <a:solidFill>
            <a:srgbClr val="F5F7FA"/>
          </a:solidFill>
          <a:ln w="12700">
            <a:solidFill>
              <a:srgbClr val="DDE5EE"/>
            </a:solidFill>
            <a:prstDash val="solid"/>
          </a:ln>
        </p:spPr>
      </p:sp>
      <p:sp>
        <p:nvSpPr>
          <p:cNvPr id="15" name="Text 13"/>
          <p:cNvSpPr/>
          <p:nvPr/>
        </p:nvSpPr>
        <p:spPr>
          <a:xfrm>
            <a:off x="841248" y="3950208"/>
            <a:ext cx="6309360" cy="292608"/>
          </a:xfrm>
          <a:prstGeom prst="rect">
            <a:avLst/>
          </a:prstGeom>
          <a:noFill/>
          <a:ln/>
        </p:spPr>
        <p:txBody>
          <a:bodyPr wrap="square" lIns="0" tIns="0" rIns="0" bIns="0" rtlCol="0" anchor="ctr"/>
          <a:lstStyle/>
          <a:p>
            <a:pPr indent="0" marL="0">
              <a:buNone/>
            </a:pPr>
            <a:r>
              <a:rPr lang="en-US" sz="1300" b="1" dirty="0">
                <a:solidFill>
                  <a:srgbClr val="12202E"/>
                </a:solidFill>
                <a:latin typeface="Calibri" pitchFamily="34" charset="0"/>
                <a:ea typeface="Calibri" pitchFamily="34" charset="-122"/>
                <a:cs typeface="Calibri" pitchFamily="34" charset="-120"/>
              </a:rPr>
              <a:t>Why a knowledge-based CDSS — and not the alternatives</a:t>
            </a:r>
            <a:endParaRPr lang="en-US" sz="1300" dirty="0"/>
          </a:p>
        </p:txBody>
      </p:sp>
      <p:sp>
        <p:nvSpPr>
          <p:cNvPr id="16" name="Text 14"/>
          <p:cNvSpPr/>
          <p:nvPr/>
        </p:nvSpPr>
        <p:spPr>
          <a:xfrm>
            <a:off x="841248" y="4352544"/>
            <a:ext cx="1920240" cy="274320"/>
          </a:xfrm>
          <a:prstGeom prst="rect">
            <a:avLst/>
          </a:prstGeom>
          <a:noFill/>
          <a:ln/>
        </p:spPr>
        <p:txBody>
          <a:bodyPr wrap="square" lIns="0" tIns="0" rIns="0" bIns="0" rtlCol="0" anchor="ctr"/>
          <a:lstStyle/>
          <a:p>
            <a:pPr indent="0" marL="0">
              <a:buNone/>
            </a:pPr>
            <a:r>
              <a:rPr lang="en-US" sz="1150" b="1" dirty="0">
                <a:solidFill>
                  <a:srgbClr val="12202E"/>
                </a:solidFill>
                <a:latin typeface="Calibri" pitchFamily="34" charset="0"/>
                <a:ea typeface="Calibri" pitchFamily="34" charset="-122"/>
                <a:cs typeface="Calibri" pitchFamily="34" charset="-120"/>
              </a:rPr>
              <a:t>Information leaflet</a:t>
            </a:r>
            <a:endParaRPr lang="en-US" sz="1150" dirty="0"/>
          </a:p>
        </p:txBody>
      </p:sp>
      <p:sp>
        <p:nvSpPr>
          <p:cNvPr id="17" name="Text 15"/>
          <p:cNvSpPr/>
          <p:nvPr/>
        </p:nvSpPr>
        <p:spPr>
          <a:xfrm>
            <a:off x="2807208" y="4352544"/>
            <a:ext cx="4343400" cy="274320"/>
          </a:xfrm>
          <a:prstGeom prst="rect">
            <a:avLst/>
          </a:prstGeom>
          <a:noFill/>
          <a:ln/>
        </p:spPr>
        <p:txBody>
          <a:bodyPr wrap="square" lIns="0" tIns="0" rIns="0" bIns="0" rtlCol="0" anchor="ctr"/>
          <a:lstStyle/>
          <a:p>
            <a:pPr indent="0" marL="0">
              <a:buNone/>
            </a:pPr>
            <a:r>
              <a:rPr lang="en-US" sz="1100" dirty="0">
                <a:solidFill>
                  <a:srgbClr val="5D7186"/>
                </a:solidFill>
                <a:latin typeface="Calibri" pitchFamily="34" charset="0"/>
                <a:ea typeface="Calibri" pitchFamily="34" charset="-122"/>
                <a:cs typeface="Calibri" pitchFamily="34" charset="-120"/>
              </a:rPr>
              <a:t>already exists everywhere; no feedback on the actual finding</a:t>
            </a:r>
            <a:endParaRPr lang="en-US" sz="1100" dirty="0"/>
          </a:p>
        </p:txBody>
      </p:sp>
      <p:sp>
        <p:nvSpPr>
          <p:cNvPr id="18" name="Text 16"/>
          <p:cNvSpPr/>
          <p:nvPr/>
        </p:nvSpPr>
        <p:spPr>
          <a:xfrm>
            <a:off x="841248" y="4754880"/>
            <a:ext cx="1920240" cy="274320"/>
          </a:xfrm>
          <a:prstGeom prst="rect">
            <a:avLst/>
          </a:prstGeom>
          <a:noFill/>
          <a:ln/>
        </p:spPr>
        <p:txBody>
          <a:bodyPr wrap="square" lIns="0" tIns="0" rIns="0" bIns="0" rtlCol="0" anchor="ctr"/>
          <a:lstStyle/>
          <a:p>
            <a:pPr indent="0" marL="0">
              <a:buNone/>
            </a:pPr>
            <a:r>
              <a:rPr lang="en-US" sz="1150" b="1" dirty="0">
                <a:solidFill>
                  <a:srgbClr val="12202E"/>
                </a:solidFill>
                <a:latin typeface="Calibri" pitchFamily="34" charset="0"/>
                <a:ea typeface="Calibri" pitchFamily="34" charset="-122"/>
                <a:cs typeface="Calibri" pitchFamily="34" charset="-120"/>
              </a:rPr>
              <a:t>Telephone follow-up</a:t>
            </a:r>
            <a:endParaRPr lang="en-US" sz="1150" dirty="0"/>
          </a:p>
        </p:txBody>
      </p:sp>
      <p:sp>
        <p:nvSpPr>
          <p:cNvPr id="19" name="Text 17"/>
          <p:cNvSpPr/>
          <p:nvPr/>
        </p:nvSpPr>
        <p:spPr>
          <a:xfrm>
            <a:off x="2807208" y="4754880"/>
            <a:ext cx="4343400" cy="274320"/>
          </a:xfrm>
          <a:prstGeom prst="rect">
            <a:avLst/>
          </a:prstGeom>
          <a:noFill/>
          <a:ln/>
        </p:spPr>
        <p:txBody>
          <a:bodyPr wrap="square" lIns="0" tIns="0" rIns="0" bIns="0" rtlCol="0" anchor="ctr"/>
          <a:lstStyle/>
          <a:p>
            <a:pPr indent="0" marL="0">
              <a:buNone/>
            </a:pPr>
            <a:r>
              <a:rPr lang="en-US" sz="1100" dirty="0">
                <a:solidFill>
                  <a:srgbClr val="5D7186"/>
                </a:solidFill>
                <a:latin typeface="Calibri" pitchFamily="34" charset="0"/>
                <a:ea typeface="Calibri" pitchFamily="34" charset="-122"/>
                <a:cs typeface="Calibri" pitchFamily="34" charset="-120"/>
              </a:rPr>
              <a:t>not deliverable daily; “the wound looks odd” is not usable data</a:t>
            </a:r>
            <a:endParaRPr lang="en-US" sz="1100" dirty="0"/>
          </a:p>
        </p:txBody>
      </p:sp>
      <p:sp>
        <p:nvSpPr>
          <p:cNvPr id="20" name="Text 18"/>
          <p:cNvSpPr/>
          <p:nvPr/>
        </p:nvSpPr>
        <p:spPr>
          <a:xfrm>
            <a:off x="841248" y="5157216"/>
            <a:ext cx="1920240" cy="274320"/>
          </a:xfrm>
          <a:prstGeom prst="rect">
            <a:avLst/>
          </a:prstGeom>
          <a:noFill/>
          <a:ln/>
        </p:spPr>
        <p:txBody>
          <a:bodyPr wrap="square" lIns="0" tIns="0" rIns="0" bIns="0" rtlCol="0" anchor="ctr"/>
          <a:lstStyle/>
          <a:p>
            <a:pPr indent="0" marL="0">
              <a:buNone/>
            </a:pPr>
            <a:r>
              <a:rPr lang="en-US" sz="1150" b="1" dirty="0">
                <a:solidFill>
                  <a:srgbClr val="12202E"/>
                </a:solidFill>
                <a:latin typeface="Calibri" pitchFamily="34" charset="0"/>
                <a:ea typeface="Calibri" pitchFamily="34" charset="-122"/>
                <a:cs typeface="Calibri" pitchFamily="34" charset="-120"/>
              </a:rPr>
              <a:t>Photo-based ML</a:t>
            </a:r>
            <a:endParaRPr lang="en-US" sz="1150" dirty="0"/>
          </a:p>
        </p:txBody>
      </p:sp>
      <p:sp>
        <p:nvSpPr>
          <p:cNvPr id="21" name="Text 19"/>
          <p:cNvSpPr/>
          <p:nvPr/>
        </p:nvSpPr>
        <p:spPr>
          <a:xfrm>
            <a:off x="2807208" y="5157216"/>
            <a:ext cx="4343400" cy="274320"/>
          </a:xfrm>
          <a:prstGeom prst="rect">
            <a:avLst/>
          </a:prstGeom>
          <a:noFill/>
          <a:ln/>
        </p:spPr>
        <p:txBody>
          <a:bodyPr wrap="square" lIns="0" tIns="0" rIns="0" bIns="0" rtlCol="0" anchor="ctr"/>
          <a:lstStyle/>
          <a:p>
            <a:pPr indent="0" marL="0">
              <a:buNone/>
            </a:pPr>
            <a:r>
              <a:rPr lang="en-US" sz="1100" dirty="0">
                <a:solidFill>
                  <a:srgbClr val="5D7186"/>
                </a:solidFill>
                <a:latin typeface="Calibri" pitchFamily="34" charset="0"/>
                <a:ea typeface="Calibri" pitchFamily="34" charset="-122"/>
                <a:cs typeface="Calibri" pitchFamily="34" charset="-120"/>
              </a:rPr>
              <a:t>light, angle and skin tone vary; decisions not explainable</a:t>
            </a:r>
            <a:endParaRPr lang="en-US" sz="1100" dirty="0"/>
          </a:p>
        </p:txBody>
      </p:sp>
      <p:sp>
        <p:nvSpPr>
          <p:cNvPr id="22" name="Text 20"/>
          <p:cNvSpPr/>
          <p:nvPr/>
        </p:nvSpPr>
        <p:spPr>
          <a:xfrm>
            <a:off x="841248" y="5559552"/>
            <a:ext cx="1920240" cy="274320"/>
          </a:xfrm>
          <a:prstGeom prst="rect">
            <a:avLst/>
          </a:prstGeom>
          <a:noFill/>
          <a:ln/>
        </p:spPr>
        <p:txBody>
          <a:bodyPr wrap="square" lIns="0" tIns="0" rIns="0" bIns="0" rtlCol="0" anchor="ctr"/>
          <a:lstStyle/>
          <a:p>
            <a:pPr indent="0" marL="0">
              <a:buNone/>
            </a:pPr>
            <a:r>
              <a:rPr lang="en-US" sz="1150" b="1" dirty="0">
                <a:solidFill>
                  <a:srgbClr val="1A7F4B"/>
                </a:solidFill>
                <a:latin typeface="Calibri" pitchFamily="34" charset="0"/>
                <a:ea typeface="Calibri" pitchFamily="34" charset="-122"/>
                <a:cs typeface="Calibri" pitchFamily="34" charset="-120"/>
              </a:rPr>
              <a:t>Rule-based CDSS</a:t>
            </a:r>
            <a:endParaRPr lang="en-US" sz="1150" dirty="0"/>
          </a:p>
        </p:txBody>
      </p:sp>
      <p:sp>
        <p:nvSpPr>
          <p:cNvPr id="23" name="Text 21"/>
          <p:cNvSpPr/>
          <p:nvPr/>
        </p:nvSpPr>
        <p:spPr>
          <a:xfrm>
            <a:off x="2807208" y="5559552"/>
            <a:ext cx="4343400" cy="274320"/>
          </a:xfrm>
          <a:prstGeom prst="rect">
            <a:avLst/>
          </a:prstGeom>
          <a:noFill/>
          <a:ln/>
        </p:spPr>
        <p:txBody>
          <a:bodyPr wrap="square" lIns="0" tIns="0" rIns="0" bIns="0" rtlCol="0" anchor="ctr"/>
          <a:lstStyle/>
          <a:p>
            <a:pPr indent="0" marL="0">
              <a:buNone/>
            </a:pPr>
            <a:r>
              <a:rPr lang="en-US" sz="1100" dirty="0">
                <a:solidFill>
                  <a:srgbClr val="5D7186"/>
                </a:solidFill>
                <a:latin typeface="Calibri" pitchFamily="34" charset="0"/>
                <a:ea typeface="Calibri" pitchFamily="34" charset="-122"/>
                <a:cs typeface="Calibri" pitchFamily="34" charset="-120"/>
              </a:rPr>
              <a:t>traceable to a guideline, reviewable, maintainable by clinicians</a:t>
            </a:r>
            <a:endParaRPr lang="en-US" sz="1100" dirty="0"/>
          </a:p>
        </p:txBody>
      </p:sp>
      <p:sp>
        <p:nvSpPr>
          <p:cNvPr id="24" name="Shape 22"/>
          <p:cNvSpPr/>
          <p:nvPr/>
        </p:nvSpPr>
        <p:spPr>
          <a:xfrm>
            <a:off x="7754112" y="3767328"/>
            <a:ext cx="3877056" cy="2212848"/>
          </a:xfrm>
          <a:prstGeom prst="roundRect">
            <a:avLst>
              <a:gd name="adj" fmla="val 3719"/>
            </a:avLst>
          </a:prstGeom>
          <a:solidFill>
            <a:srgbClr val="FFFFFF"/>
          </a:solidFill>
          <a:ln w="12700">
            <a:solidFill>
              <a:srgbClr val="DDE5EE"/>
            </a:solidFill>
            <a:prstDash val="solid"/>
          </a:ln>
        </p:spPr>
      </p:sp>
      <p:sp>
        <p:nvSpPr>
          <p:cNvPr id="25" name="Text 23"/>
          <p:cNvSpPr/>
          <p:nvPr/>
        </p:nvSpPr>
        <p:spPr>
          <a:xfrm>
            <a:off x="8010144" y="3950208"/>
            <a:ext cx="3383280" cy="274320"/>
          </a:xfrm>
          <a:prstGeom prst="rect">
            <a:avLst/>
          </a:prstGeom>
          <a:noFill/>
          <a:ln/>
        </p:spPr>
        <p:txBody>
          <a:bodyPr wrap="square" lIns="0" tIns="0" rIns="0" bIns="0" rtlCol="0" anchor="ctr"/>
          <a:lstStyle/>
          <a:p>
            <a:pPr indent="0" marL="0">
              <a:buNone/>
            </a:pPr>
            <a:r>
              <a:rPr lang="en-US" sz="1300" b="1" dirty="0">
                <a:solidFill>
                  <a:srgbClr val="12202E"/>
                </a:solidFill>
                <a:latin typeface="Calibri" pitchFamily="34" charset="0"/>
                <a:ea typeface="Calibri" pitchFamily="34" charset="-122"/>
                <a:cs typeface="Calibri" pitchFamily="34" charset="-120"/>
              </a:rPr>
              <a:t>Scope</a:t>
            </a:r>
            <a:endParaRPr lang="en-US" sz="1300" dirty="0"/>
          </a:p>
        </p:txBody>
      </p:sp>
      <p:sp>
        <p:nvSpPr>
          <p:cNvPr id="26" name="Text 24"/>
          <p:cNvSpPr/>
          <p:nvPr/>
        </p:nvSpPr>
        <p:spPr>
          <a:xfrm>
            <a:off x="8010144" y="4315968"/>
            <a:ext cx="3383280" cy="731520"/>
          </a:xfrm>
          <a:prstGeom prst="rect">
            <a:avLst/>
          </a:prstGeom>
          <a:noFill/>
          <a:ln/>
        </p:spPr>
        <p:txBody>
          <a:bodyPr wrap="square" lIns="0" tIns="0" rIns="0" bIns="0" rtlCol="0" anchor="t"/>
          <a:lstStyle/>
          <a:p>
            <a:pPr indent="0" marL="0">
              <a:lnSpc>
                <a:spcPts val="1600"/>
              </a:lnSpc>
              <a:buNone/>
            </a:pPr>
            <a:r>
              <a:rPr lang="en-US" sz="1150" dirty="0">
                <a:solidFill>
                  <a:srgbClr val="12202E"/>
                </a:solidFill>
                <a:latin typeface="Calibri" pitchFamily="34" charset="0"/>
                <a:ea typeface="Calibri" pitchFamily="34" charset="-122"/>
                <a:cs typeface="Calibri" pitchFamily="34" charset="-120"/>
              </a:rPr>
              <a:t>Adults · elective surgery · wounds with primary closure · any body region.</a:t>
            </a:r>
            <a:endParaRPr lang="en-US" sz="1150" dirty="0"/>
          </a:p>
        </p:txBody>
      </p:sp>
      <p:sp>
        <p:nvSpPr>
          <p:cNvPr id="27" name="Text 25"/>
          <p:cNvSpPr/>
          <p:nvPr/>
        </p:nvSpPr>
        <p:spPr>
          <a:xfrm>
            <a:off x="8010144" y="5029200"/>
            <a:ext cx="3383280" cy="237744"/>
          </a:xfrm>
          <a:prstGeom prst="rect">
            <a:avLst/>
          </a:prstGeom>
          <a:noFill/>
          <a:ln/>
        </p:spPr>
        <p:txBody>
          <a:bodyPr wrap="square" lIns="0" tIns="0" rIns="0" bIns="0" rtlCol="0" anchor="ctr"/>
          <a:lstStyle/>
          <a:p>
            <a:pPr indent="0" marL="0">
              <a:buNone/>
            </a:pPr>
            <a:r>
              <a:rPr lang="en-US" sz="1050" b="1" dirty="0">
                <a:solidFill>
                  <a:srgbClr val="C0281C"/>
                </a:solidFill>
                <a:latin typeface="Calibri" pitchFamily="34" charset="0"/>
                <a:ea typeface="Calibri" pitchFamily="34" charset="-122"/>
                <a:cs typeface="Calibri" pitchFamily="34" charset="-120"/>
              </a:rPr>
              <a:t>Not covered</a:t>
            </a:r>
            <a:endParaRPr lang="en-US" sz="1050" dirty="0"/>
          </a:p>
        </p:txBody>
      </p:sp>
      <p:sp>
        <p:nvSpPr>
          <p:cNvPr id="28" name="Text 26"/>
          <p:cNvSpPr/>
          <p:nvPr/>
        </p:nvSpPr>
        <p:spPr>
          <a:xfrm>
            <a:off x="8010144" y="5303520"/>
            <a:ext cx="3383280" cy="685800"/>
          </a:xfrm>
          <a:prstGeom prst="rect">
            <a:avLst/>
          </a:prstGeom>
          <a:noFill/>
          <a:ln/>
        </p:spPr>
        <p:txBody>
          <a:bodyPr wrap="square" lIns="0" tIns="0" rIns="0" bIns="0" rtlCol="0" anchor="t"/>
          <a:lstStyle/>
          <a:p>
            <a:pPr indent="0" marL="0">
              <a:lnSpc>
                <a:spcPts val="1500"/>
              </a:lnSpc>
              <a:buNone/>
            </a:pPr>
            <a:r>
              <a:rPr lang="en-US" sz="1100" dirty="0">
                <a:solidFill>
                  <a:srgbClr val="5D7186"/>
                </a:solidFill>
                <a:latin typeface="Calibri" pitchFamily="34" charset="0"/>
                <a:ea typeface="Calibri" pitchFamily="34" charset="-122"/>
                <a:cs typeface="Calibri" pitchFamily="34" charset="-120"/>
              </a:rPr>
              <a:t>Chronic wounds · burns · secondary healing · children · contaminated emergencies</a:t>
            </a:r>
            <a:endParaRPr lang="en-US" sz="1100" dirty="0"/>
          </a:p>
        </p:txBody>
      </p:sp>
      <p:sp>
        <p:nvSpPr>
          <p:cNvPr id="29" name="Text 27"/>
          <p:cNvSpPr/>
          <p:nvPr/>
        </p:nvSpPr>
        <p:spPr>
          <a:xfrm>
            <a:off x="566928" y="6089904"/>
            <a:ext cx="11064240" cy="274320"/>
          </a:xfrm>
          <a:prstGeom prst="rect">
            <a:avLst/>
          </a:prstGeom>
          <a:noFill/>
          <a:ln/>
        </p:spPr>
        <p:txBody>
          <a:bodyPr wrap="square" lIns="0" tIns="0" rIns="0" bIns="0" rtlCol="0" anchor="ctr"/>
          <a:lstStyle/>
          <a:p>
            <a:pPr indent="0" marL="0">
              <a:buNone/>
            </a:pPr>
            <a:r>
              <a:rPr lang="en-US" sz="850" i="1" dirty="0">
                <a:solidFill>
                  <a:srgbClr val="5D7186"/>
                </a:solidFill>
                <a:latin typeface="Calibri" pitchFamily="34" charset="0"/>
                <a:ea typeface="Calibri" pitchFamily="34" charset="-122"/>
                <a:cs typeface="Calibri" pitchFamily="34" charset="-120"/>
              </a:rPr>
              <a:t>Woelber et al., Surg Infect 2016;17(5):510–19  ·  ECDC Annual Epidemiological Report 2017  ·  WHO Global Guidelines for the Prevention of SSI  ·  CDC/NHSN SSI Event</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indent="0" marL="0">
              <a:buNone/>
            </a:pPr>
            <a:r>
              <a:rPr lang="en-US" sz="1050" b="1" spc="160" kern="0" dirty="0">
                <a:solidFill>
                  <a:srgbClr val="5D7186"/>
                </a:solidFill>
                <a:latin typeface="Calibri" pitchFamily="34" charset="0"/>
                <a:ea typeface="Calibri" pitchFamily="34" charset="-122"/>
                <a:cs typeface="Calibri" pitchFamily="34" charset="-120"/>
              </a:rPr>
              <a:t>PERSONAS &amp; SCENARIOS</a:t>
            </a:r>
            <a:endParaRPr lang="en-US" sz="1050" dirty="0"/>
          </a:p>
        </p:txBody>
      </p:sp>
      <p:sp>
        <p:nvSpPr>
          <p:cNvPr id="3" name="Text 1"/>
          <p:cNvSpPr/>
          <p:nvPr/>
        </p:nvSpPr>
        <p:spPr>
          <a:xfrm>
            <a:off x="566928" y="640080"/>
            <a:ext cx="10607040" cy="658368"/>
          </a:xfrm>
          <a:prstGeom prst="rect">
            <a:avLst/>
          </a:prstGeom>
          <a:noFill/>
          <a:ln/>
        </p:spPr>
        <p:txBody>
          <a:bodyPr wrap="square" lIns="0" tIns="0" rIns="0" bIns="0" rtlCol="0" anchor="t"/>
          <a:lstStyle/>
          <a:p>
            <a:pPr indent="0" marL="0">
              <a:buNone/>
            </a:pPr>
            <a:r>
              <a:rPr lang="en-US" sz="2700" b="1" dirty="0">
                <a:solidFill>
                  <a:srgbClr val="12202E"/>
                </a:solidFill>
                <a:latin typeface="Cambria" pitchFamily="34" charset="0"/>
                <a:ea typeface="Cambria" pitchFamily="34" charset="-122"/>
                <a:cs typeface="Cambria" pitchFamily="34" charset="-120"/>
              </a:rPr>
              <a:t>Three users on three levels — only one of them operates the app</a:t>
            </a:r>
            <a:endParaRPr lang="en-US" sz="2700" dirty="0"/>
          </a:p>
        </p:txBody>
      </p:sp>
      <p:sp>
        <p:nvSpPr>
          <p:cNvPr id="4" name="Shape 2"/>
          <p:cNvSpPr/>
          <p:nvPr/>
        </p:nvSpPr>
        <p:spPr>
          <a:xfrm>
            <a:off x="566928" y="1664208"/>
            <a:ext cx="3474720" cy="2121408"/>
          </a:xfrm>
          <a:prstGeom prst="roundRect">
            <a:avLst>
              <a:gd name="adj" fmla="val 3879"/>
            </a:avLst>
          </a:prstGeom>
          <a:solidFill>
            <a:srgbClr val="FFFFFF"/>
          </a:solidFill>
          <a:ln w="12700">
            <a:solidFill>
              <a:srgbClr val="DDE5EE"/>
            </a:solidFill>
            <a:prstDash val="solid"/>
          </a:ln>
        </p:spPr>
      </p:sp>
      <p:sp>
        <p:nvSpPr>
          <p:cNvPr id="5" name="Shape 3"/>
          <p:cNvSpPr/>
          <p:nvPr/>
        </p:nvSpPr>
        <p:spPr>
          <a:xfrm>
            <a:off x="822960" y="1865376"/>
            <a:ext cx="420624" cy="420624"/>
          </a:xfrm>
          <a:prstGeom prst="ellipse">
            <a:avLst/>
          </a:prstGeom>
          <a:solidFill>
            <a:srgbClr val="12202E"/>
          </a:solidFill>
          <a:ln w="12700">
            <a:solidFill>
              <a:srgbClr val="12202E"/>
            </a:solidFill>
            <a:prstDash val="solid"/>
          </a:ln>
        </p:spPr>
      </p:sp>
      <p:sp>
        <p:nvSpPr>
          <p:cNvPr id="6" name="Text 4"/>
          <p:cNvSpPr/>
          <p:nvPr/>
        </p:nvSpPr>
        <p:spPr>
          <a:xfrm>
            <a:off x="822960" y="186537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353312" y="1865376"/>
            <a:ext cx="2514600" cy="256032"/>
          </a:xfrm>
          <a:prstGeom prst="rect">
            <a:avLst/>
          </a:prstGeom>
          <a:noFill/>
          <a:ln/>
        </p:spPr>
        <p:txBody>
          <a:bodyPr wrap="square" lIns="0" tIns="0" rIns="0" bIns="0" rtlCol="0" anchor="ctr"/>
          <a:lstStyle/>
          <a:p>
            <a:pPr indent="0" marL="0">
              <a:buNone/>
            </a:pPr>
            <a:r>
              <a:rPr lang="en-US" sz="1300" b="1" dirty="0">
                <a:solidFill>
                  <a:srgbClr val="12202E"/>
                </a:solidFill>
                <a:latin typeface="Calibri" pitchFamily="34" charset="0"/>
                <a:ea typeface="Calibri" pitchFamily="34" charset="-122"/>
                <a:cs typeface="Calibri" pitchFamily="34" charset="-120"/>
              </a:rPr>
              <a:t>Peter Brunner, 58</a:t>
            </a:r>
            <a:endParaRPr lang="en-US" sz="1300" dirty="0"/>
          </a:p>
        </p:txBody>
      </p:sp>
      <p:sp>
        <p:nvSpPr>
          <p:cNvPr id="8" name="Text 6"/>
          <p:cNvSpPr/>
          <p:nvPr/>
        </p:nvSpPr>
        <p:spPr>
          <a:xfrm>
            <a:off x="1353312" y="2103120"/>
            <a:ext cx="2514600" cy="219456"/>
          </a:xfrm>
          <a:prstGeom prst="rect">
            <a:avLst/>
          </a:prstGeom>
          <a:noFill/>
          <a:ln/>
        </p:spPr>
        <p:txBody>
          <a:bodyPr wrap="square" lIns="0" tIns="0" rIns="0" bIns="0" rtlCol="0" anchor="ctr"/>
          <a:lstStyle/>
          <a:p>
            <a:pPr indent="0" marL="0">
              <a:buNone/>
            </a:pPr>
            <a:r>
              <a:rPr lang="en-US" sz="1000" dirty="0">
                <a:solidFill>
                  <a:srgbClr val="5D7186"/>
                </a:solidFill>
                <a:latin typeface="Calibri" pitchFamily="34" charset="0"/>
                <a:ea typeface="Calibri" pitchFamily="34" charset="-122"/>
                <a:cs typeface="Calibri" pitchFamily="34" charset="-120"/>
              </a:rPr>
              <a:t>Patient · primary user</a:t>
            </a:r>
            <a:endParaRPr lang="en-US" sz="1000" dirty="0"/>
          </a:p>
        </p:txBody>
      </p:sp>
      <p:sp>
        <p:nvSpPr>
          <p:cNvPr id="9" name="Text 7"/>
          <p:cNvSpPr/>
          <p:nvPr/>
        </p:nvSpPr>
        <p:spPr>
          <a:xfrm>
            <a:off x="822960" y="2487168"/>
            <a:ext cx="2999232" cy="868680"/>
          </a:xfrm>
          <a:prstGeom prst="rect">
            <a:avLst/>
          </a:prstGeom>
          <a:noFill/>
          <a:ln/>
        </p:spPr>
        <p:txBody>
          <a:bodyPr wrap="square" lIns="0" tIns="0" rIns="0" bIns="0" rtlCol="0" anchor="t"/>
          <a:lstStyle/>
          <a:p>
            <a:pPr indent="0" marL="0">
              <a:lnSpc>
                <a:spcPts val="1500"/>
              </a:lnSpc>
              <a:buNone/>
            </a:pPr>
            <a:r>
              <a:rPr lang="en-US" sz="1100" dirty="0">
                <a:solidFill>
                  <a:srgbClr val="5D7186"/>
                </a:solidFill>
                <a:latin typeface="Calibri" pitchFamily="34" charset="0"/>
                <a:ea typeface="Calibri" pitchFamily="34" charset="-122"/>
                <a:cs typeface="Calibri" pitchFamily="34" charset="-120"/>
              </a:rPr>
              <a:t>Knee replacement 4 days ago. Little medical knowledge, reading glasses, uses everyday apps.</a:t>
            </a:r>
            <a:endParaRPr lang="en-US" sz="1100" dirty="0"/>
          </a:p>
        </p:txBody>
      </p:sp>
      <p:sp>
        <p:nvSpPr>
          <p:cNvPr id="10" name="Text 8"/>
          <p:cNvSpPr/>
          <p:nvPr/>
        </p:nvSpPr>
        <p:spPr>
          <a:xfrm>
            <a:off x="822960" y="3127248"/>
            <a:ext cx="2999232" cy="548640"/>
          </a:xfrm>
          <a:prstGeom prst="rect">
            <a:avLst/>
          </a:prstGeom>
          <a:noFill/>
          <a:ln/>
        </p:spPr>
        <p:txBody>
          <a:bodyPr wrap="square" lIns="0" tIns="0" rIns="0" bIns="0" rtlCol="0" anchor="ctr"/>
          <a:lstStyle/>
          <a:p>
            <a:pPr indent="0" marL="0">
              <a:lnSpc>
                <a:spcPts val="1500"/>
              </a:lnSpc>
              <a:buNone/>
            </a:pPr>
            <a:r>
              <a:rPr lang="en-US" sz="1100" i="1" dirty="0">
                <a:solidFill>
                  <a:srgbClr val="12202E"/>
                </a:solidFill>
                <a:latin typeface="Calibri" pitchFamily="34" charset="0"/>
                <a:ea typeface="Calibri" pitchFamily="34" charset="-122"/>
                <a:cs typeface="Calibri" pitchFamily="34" charset="-120"/>
              </a:rPr>
              <a:t>“I want to know it is fine — without calling anyone.”</a:t>
            </a:r>
            <a:endParaRPr lang="en-US" sz="1100" dirty="0"/>
          </a:p>
        </p:txBody>
      </p:sp>
      <p:sp>
        <p:nvSpPr>
          <p:cNvPr id="11" name="Shape 9"/>
          <p:cNvSpPr/>
          <p:nvPr/>
        </p:nvSpPr>
        <p:spPr>
          <a:xfrm>
            <a:off x="4279392" y="1664208"/>
            <a:ext cx="3474720" cy="2121408"/>
          </a:xfrm>
          <a:prstGeom prst="roundRect">
            <a:avLst>
              <a:gd name="adj" fmla="val 3879"/>
            </a:avLst>
          </a:prstGeom>
          <a:solidFill>
            <a:srgbClr val="FFFFFF"/>
          </a:solidFill>
          <a:ln w="12700">
            <a:solidFill>
              <a:srgbClr val="DDE5EE"/>
            </a:solidFill>
            <a:prstDash val="solid"/>
          </a:ln>
        </p:spPr>
      </p:sp>
      <p:sp>
        <p:nvSpPr>
          <p:cNvPr id="12" name="Shape 10"/>
          <p:cNvSpPr/>
          <p:nvPr/>
        </p:nvSpPr>
        <p:spPr>
          <a:xfrm>
            <a:off x="4535424" y="1865376"/>
            <a:ext cx="420624" cy="420624"/>
          </a:xfrm>
          <a:prstGeom prst="ellipse">
            <a:avLst/>
          </a:prstGeom>
          <a:solidFill>
            <a:srgbClr val="12202E"/>
          </a:solidFill>
          <a:ln w="12700">
            <a:solidFill>
              <a:srgbClr val="12202E"/>
            </a:solidFill>
            <a:prstDash val="solid"/>
          </a:ln>
        </p:spPr>
      </p:sp>
      <p:sp>
        <p:nvSpPr>
          <p:cNvPr id="13" name="Text 11"/>
          <p:cNvSpPr/>
          <p:nvPr/>
        </p:nvSpPr>
        <p:spPr>
          <a:xfrm>
            <a:off x="4535424" y="186537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p:nvPr/>
        </p:nvSpPr>
        <p:spPr>
          <a:xfrm>
            <a:off x="5065776" y="1865376"/>
            <a:ext cx="2514600" cy="256032"/>
          </a:xfrm>
          <a:prstGeom prst="rect">
            <a:avLst/>
          </a:prstGeom>
          <a:noFill/>
          <a:ln/>
        </p:spPr>
        <p:txBody>
          <a:bodyPr wrap="square" lIns="0" tIns="0" rIns="0" bIns="0" rtlCol="0" anchor="ctr"/>
          <a:lstStyle/>
          <a:p>
            <a:pPr indent="0" marL="0">
              <a:buNone/>
            </a:pPr>
            <a:r>
              <a:rPr lang="en-US" sz="1300" b="1" dirty="0">
                <a:solidFill>
                  <a:srgbClr val="12202E"/>
                </a:solidFill>
                <a:latin typeface="Calibri" pitchFamily="34" charset="0"/>
                <a:ea typeface="Calibri" pitchFamily="34" charset="-122"/>
                <a:cs typeface="Calibri" pitchFamily="34" charset="-120"/>
              </a:rPr>
              <a:t>Sandra Meier, 34</a:t>
            </a:r>
            <a:endParaRPr lang="en-US" sz="1300" dirty="0"/>
          </a:p>
        </p:txBody>
      </p:sp>
      <p:sp>
        <p:nvSpPr>
          <p:cNvPr id="15" name="Text 13"/>
          <p:cNvSpPr/>
          <p:nvPr/>
        </p:nvSpPr>
        <p:spPr>
          <a:xfrm>
            <a:off x="5065776" y="2103120"/>
            <a:ext cx="2514600" cy="219456"/>
          </a:xfrm>
          <a:prstGeom prst="rect">
            <a:avLst/>
          </a:prstGeom>
          <a:noFill/>
          <a:ln/>
        </p:spPr>
        <p:txBody>
          <a:bodyPr wrap="square" lIns="0" tIns="0" rIns="0" bIns="0" rtlCol="0" anchor="ctr"/>
          <a:lstStyle/>
          <a:p>
            <a:pPr indent="0" marL="0">
              <a:buNone/>
            </a:pPr>
            <a:r>
              <a:rPr lang="en-US" sz="1000" dirty="0">
                <a:solidFill>
                  <a:srgbClr val="5D7186"/>
                </a:solidFill>
                <a:latin typeface="Calibri" pitchFamily="34" charset="0"/>
                <a:ea typeface="Calibri" pitchFamily="34" charset="-122"/>
                <a:cs typeface="Calibri" pitchFamily="34" charset="-120"/>
              </a:rPr>
              <a:t>Practice assistant · secondary</a:t>
            </a:r>
            <a:endParaRPr lang="en-US" sz="1000" dirty="0"/>
          </a:p>
        </p:txBody>
      </p:sp>
      <p:sp>
        <p:nvSpPr>
          <p:cNvPr id="16" name="Text 14"/>
          <p:cNvSpPr/>
          <p:nvPr/>
        </p:nvSpPr>
        <p:spPr>
          <a:xfrm>
            <a:off x="4535424" y="2487168"/>
            <a:ext cx="2999232" cy="868680"/>
          </a:xfrm>
          <a:prstGeom prst="rect">
            <a:avLst/>
          </a:prstGeom>
          <a:noFill/>
          <a:ln/>
        </p:spPr>
        <p:txBody>
          <a:bodyPr wrap="square" lIns="0" tIns="0" rIns="0" bIns="0" rtlCol="0" anchor="t"/>
          <a:lstStyle/>
          <a:p>
            <a:pPr indent="0" marL="0">
              <a:lnSpc>
                <a:spcPts val="1500"/>
              </a:lnSpc>
              <a:buNone/>
            </a:pPr>
            <a:r>
              <a:rPr lang="en-US" sz="1100" dirty="0">
                <a:solidFill>
                  <a:srgbClr val="5D7186"/>
                </a:solidFill>
                <a:latin typeface="Calibri" pitchFamily="34" charset="0"/>
                <a:ea typeface="Calibri" pitchFamily="34" charset="-122"/>
                <a:cs typeface="Calibri" pitchFamily="34" charset="-120"/>
              </a:rPr>
              <a:t>Triages calls and messages all day. High workload, no time for guessing games.</a:t>
            </a:r>
            <a:endParaRPr lang="en-US" sz="1100" dirty="0"/>
          </a:p>
        </p:txBody>
      </p:sp>
      <p:sp>
        <p:nvSpPr>
          <p:cNvPr id="17" name="Text 15"/>
          <p:cNvSpPr/>
          <p:nvPr/>
        </p:nvSpPr>
        <p:spPr>
          <a:xfrm>
            <a:off x="4535424" y="3127248"/>
            <a:ext cx="2999232" cy="548640"/>
          </a:xfrm>
          <a:prstGeom prst="rect">
            <a:avLst/>
          </a:prstGeom>
          <a:noFill/>
          <a:ln/>
        </p:spPr>
        <p:txBody>
          <a:bodyPr wrap="square" lIns="0" tIns="0" rIns="0" bIns="0" rtlCol="0" anchor="ctr"/>
          <a:lstStyle/>
          <a:p>
            <a:pPr indent="0" marL="0">
              <a:lnSpc>
                <a:spcPts val="1500"/>
              </a:lnSpc>
              <a:buNone/>
            </a:pPr>
            <a:r>
              <a:rPr lang="en-US" sz="1100" i="1" dirty="0">
                <a:solidFill>
                  <a:srgbClr val="12202E"/>
                </a:solidFill>
                <a:latin typeface="Calibri" pitchFamily="34" charset="0"/>
                <a:ea typeface="Calibri" pitchFamily="34" charset="-122"/>
                <a:cs typeface="Calibri" pitchFamily="34" charset="-120"/>
              </a:rPr>
              <a:t>“I need to see in 10 seconds whether this needs an appointment today.”</a:t>
            </a:r>
            <a:endParaRPr lang="en-US" sz="1100" dirty="0"/>
          </a:p>
        </p:txBody>
      </p:sp>
      <p:sp>
        <p:nvSpPr>
          <p:cNvPr id="18" name="Shape 16"/>
          <p:cNvSpPr/>
          <p:nvPr/>
        </p:nvSpPr>
        <p:spPr>
          <a:xfrm>
            <a:off x="7991856" y="1664208"/>
            <a:ext cx="3474720" cy="2121408"/>
          </a:xfrm>
          <a:prstGeom prst="roundRect">
            <a:avLst>
              <a:gd name="adj" fmla="val 3879"/>
            </a:avLst>
          </a:prstGeom>
          <a:solidFill>
            <a:srgbClr val="FFFFFF"/>
          </a:solidFill>
          <a:ln w="12700">
            <a:solidFill>
              <a:srgbClr val="DDE5EE"/>
            </a:solidFill>
            <a:prstDash val="solid"/>
          </a:ln>
        </p:spPr>
      </p:sp>
      <p:sp>
        <p:nvSpPr>
          <p:cNvPr id="19" name="Shape 17"/>
          <p:cNvSpPr/>
          <p:nvPr/>
        </p:nvSpPr>
        <p:spPr>
          <a:xfrm>
            <a:off x="8247888" y="1865376"/>
            <a:ext cx="420624" cy="420624"/>
          </a:xfrm>
          <a:prstGeom prst="ellipse">
            <a:avLst/>
          </a:prstGeom>
          <a:solidFill>
            <a:srgbClr val="12202E"/>
          </a:solidFill>
          <a:ln w="12700">
            <a:solidFill>
              <a:srgbClr val="12202E"/>
            </a:solidFill>
            <a:prstDash val="solid"/>
          </a:ln>
        </p:spPr>
      </p:sp>
      <p:sp>
        <p:nvSpPr>
          <p:cNvPr id="20" name="Text 18"/>
          <p:cNvSpPr/>
          <p:nvPr/>
        </p:nvSpPr>
        <p:spPr>
          <a:xfrm>
            <a:off x="8247888" y="186537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1" name="Text 19"/>
          <p:cNvSpPr/>
          <p:nvPr/>
        </p:nvSpPr>
        <p:spPr>
          <a:xfrm>
            <a:off x="8778240" y="1865376"/>
            <a:ext cx="2514600" cy="256032"/>
          </a:xfrm>
          <a:prstGeom prst="rect">
            <a:avLst/>
          </a:prstGeom>
          <a:noFill/>
          <a:ln/>
        </p:spPr>
        <p:txBody>
          <a:bodyPr wrap="square" lIns="0" tIns="0" rIns="0" bIns="0" rtlCol="0" anchor="ctr"/>
          <a:lstStyle/>
          <a:p>
            <a:pPr indent="0" marL="0">
              <a:buNone/>
            </a:pPr>
            <a:r>
              <a:rPr lang="en-US" sz="1300" b="1" dirty="0">
                <a:solidFill>
                  <a:srgbClr val="12202E"/>
                </a:solidFill>
                <a:latin typeface="Calibri" pitchFamily="34" charset="0"/>
                <a:ea typeface="Calibri" pitchFamily="34" charset="-122"/>
                <a:cs typeface="Calibri" pitchFamily="34" charset="-120"/>
              </a:rPr>
              <a:t>Dr Anna Keller, 45</a:t>
            </a:r>
            <a:endParaRPr lang="en-US" sz="1300" dirty="0"/>
          </a:p>
        </p:txBody>
      </p:sp>
      <p:sp>
        <p:nvSpPr>
          <p:cNvPr id="22" name="Text 20"/>
          <p:cNvSpPr/>
          <p:nvPr/>
        </p:nvSpPr>
        <p:spPr>
          <a:xfrm>
            <a:off x="8778240" y="2103120"/>
            <a:ext cx="2514600" cy="219456"/>
          </a:xfrm>
          <a:prstGeom prst="rect">
            <a:avLst/>
          </a:prstGeom>
          <a:noFill/>
          <a:ln/>
        </p:spPr>
        <p:txBody>
          <a:bodyPr wrap="square" lIns="0" tIns="0" rIns="0" bIns="0" rtlCol="0" anchor="ctr"/>
          <a:lstStyle/>
          <a:p>
            <a:pPr indent="0" marL="0">
              <a:buNone/>
            </a:pPr>
            <a:r>
              <a:rPr lang="en-US" sz="1000" dirty="0">
                <a:solidFill>
                  <a:srgbClr val="5D7186"/>
                </a:solidFill>
                <a:latin typeface="Calibri" pitchFamily="34" charset="0"/>
                <a:ea typeface="Calibri" pitchFamily="34" charset="-122"/>
                <a:cs typeface="Calibri" pitchFamily="34" charset="-120"/>
              </a:rPr>
              <a:t>Surgeon · tertiary</a:t>
            </a:r>
            <a:endParaRPr lang="en-US" sz="1000" dirty="0"/>
          </a:p>
        </p:txBody>
      </p:sp>
      <p:sp>
        <p:nvSpPr>
          <p:cNvPr id="23" name="Text 21"/>
          <p:cNvSpPr/>
          <p:nvPr/>
        </p:nvSpPr>
        <p:spPr>
          <a:xfrm>
            <a:off x="8247888" y="2487168"/>
            <a:ext cx="2999232" cy="868680"/>
          </a:xfrm>
          <a:prstGeom prst="rect">
            <a:avLst/>
          </a:prstGeom>
          <a:noFill/>
          <a:ln/>
        </p:spPr>
        <p:txBody>
          <a:bodyPr wrap="square" lIns="0" tIns="0" rIns="0" bIns="0" rtlCol="0" anchor="t"/>
          <a:lstStyle/>
          <a:p>
            <a:pPr indent="0" marL="0">
              <a:lnSpc>
                <a:spcPts val="1500"/>
              </a:lnSpc>
              <a:buNone/>
            </a:pPr>
            <a:r>
              <a:rPr lang="en-US" sz="1100" dirty="0">
                <a:solidFill>
                  <a:srgbClr val="5D7186"/>
                </a:solidFill>
                <a:latin typeface="Calibri" pitchFamily="34" charset="0"/>
                <a:ea typeface="Calibri" pitchFamily="34" charset="-122"/>
                <a:cs typeface="Calibri" pitchFamily="34" charset="-120"/>
              </a:rPr>
              <a:t>Operates and runs follow-ups. Wants the trajectory, not a retrospective recollection.</a:t>
            </a:r>
            <a:endParaRPr lang="en-US" sz="1100" dirty="0"/>
          </a:p>
        </p:txBody>
      </p:sp>
      <p:sp>
        <p:nvSpPr>
          <p:cNvPr id="24" name="Text 22"/>
          <p:cNvSpPr/>
          <p:nvPr/>
        </p:nvSpPr>
        <p:spPr>
          <a:xfrm>
            <a:off x="8247888" y="3127248"/>
            <a:ext cx="2999232" cy="548640"/>
          </a:xfrm>
          <a:prstGeom prst="rect">
            <a:avLst/>
          </a:prstGeom>
          <a:noFill/>
          <a:ln/>
        </p:spPr>
        <p:txBody>
          <a:bodyPr wrap="square" lIns="0" tIns="0" rIns="0" bIns="0" rtlCol="0" anchor="ctr"/>
          <a:lstStyle/>
          <a:p>
            <a:pPr indent="0" marL="0">
              <a:lnSpc>
                <a:spcPts val="1500"/>
              </a:lnSpc>
              <a:buNone/>
            </a:pPr>
            <a:r>
              <a:rPr lang="en-US" sz="1100" i="1" dirty="0">
                <a:solidFill>
                  <a:srgbClr val="12202E"/>
                </a:solidFill>
                <a:latin typeface="Calibri" pitchFamily="34" charset="0"/>
                <a:ea typeface="Calibri" pitchFamily="34" charset="-122"/>
                <a:cs typeface="Calibri" pitchFamily="34" charset="-120"/>
              </a:rPr>
              <a:t>“I want the full trend without opening every single answer.”</a:t>
            </a:r>
            <a:endParaRPr lang="en-US" sz="1100" dirty="0"/>
          </a:p>
        </p:txBody>
      </p:sp>
      <p:sp>
        <p:nvSpPr>
          <p:cNvPr id="25" name="Shape 23"/>
          <p:cNvSpPr/>
          <p:nvPr/>
        </p:nvSpPr>
        <p:spPr>
          <a:xfrm>
            <a:off x="566928" y="4315968"/>
            <a:ext cx="11064240" cy="1700784"/>
          </a:xfrm>
          <a:prstGeom prst="roundRect">
            <a:avLst>
              <a:gd name="adj" fmla="val 4839"/>
            </a:avLst>
          </a:prstGeom>
          <a:solidFill>
            <a:srgbClr val="E8F6EE"/>
          </a:solidFill>
          <a:ln w="12700">
            <a:solidFill>
              <a:srgbClr val="A8D9BF"/>
            </a:solidFill>
            <a:prstDash val="solid"/>
          </a:ln>
        </p:spPr>
      </p:sp>
      <p:sp>
        <p:nvSpPr>
          <p:cNvPr id="26" name="Shape 24"/>
          <p:cNvSpPr/>
          <p:nvPr/>
        </p:nvSpPr>
        <p:spPr>
          <a:xfrm>
            <a:off x="841248" y="4535424"/>
            <a:ext cx="1371600" cy="256032"/>
          </a:xfrm>
          <a:prstGeom prst="roundRect">
            <a:avLst>
              <a:gd name="adj" fmla="val 50000"/>
            </a:avLst>
          </a:prstGeom>
          <a:solidFill>
            <a:srgbClr val="FFFFFF"/>
          </a:solidFill>
          <a:ln w="12700">
            <a:solidFill>
              <a:srgbClr val="FFFFFF"/>
            </a:solidFill>
            <a:prstDash val="solid"/>
          </a:ln>
        </p:spPr>
      </p:sp>
      <p:sp>
        <p:nvSpPr>
          <p:cNvPr id="27" name="Text 25"/>
          <p:cNvSpPr/>
          <p:nvPr/>
        </p:nvSpPr>
        <p:spPr>
          <a:xfrm>
            <a:off x="841248" y="4535424"/>
            <a:ext cx="1371600" cy="256032"/>
          </a:xfrm>
          <a:prstGeom prst="rect">
            <a:avLst/>
          </a:prstGeom>
          <a:noFill/>
          <a:ln/>
        </p:spPr>
        <p:txBody>
          <a:bodyPr wrap="square" lIns="0" tIns="0" rIns="0" bIns="0" rtlCol="0" anchor="ctr"/>
          <a:lstStyle/>
          <a:p>
            <a:pPr algn="ctr" indent="0" marL="0">
              <a:buNone/>
            </a:pPr>
            <a:r>
              <a:rPr lang="en-US" sz="950" b="1" dirty="0">
                <a:solidFill>
                  <a:srgbClr val="1A7F4B"/>
                </a:solidFill>
                <a:latin typeface="Calibri" pitchFamily="34" charset="0"/>
                <a:ea typeface="Calibri" pitchFamily="34" charset="-122"/>
                <a:cs typeface="Calibri" pitchFamily="34" charset="-120"/>
              </a:rPr>
              <a:t>SCENARIO A</a:t>
            </a:r>
            <a:endParaRPr lang="en-US" sz="950" dirty="0"/>
          </a:p>
        </p:txBody>
      </p:sp>
      <p:sp>
        <p:nvSpPr>
          <p:cNvPr id="28" name="Text 26"/>
          <p:cNvSpPr/>
          <p:nvPr/>
        </p:nvSpPr>
        <p:spPr>
          <a:xfrm>
            <a:off x="2350008" y="4535424"/>
            <a:ext cx="2743200" cy="256032"/>
          </a:xfrm>
          <a:prstGeom prst="rect">
            <a:avLst/>
          </a:prstGeom>
          <a:noFill/>
          <a:ln/>
        </p:spPr>
        <p:txBody>
          <a:bodyPr wrap="square" lIns="0" tIns="0" rIns="0" bIns="0" rtlCol="0" anchor="ctr"/>
          <a:lstStyle/>
          <a:p>
            <a:pPr indent="0" marL="0">
              <a:buNone/>
            </a:pPr>
            <a:r>
              <a:rPr lang="en-US" sz="1250" b="1" dirty="0">
                <a:solidFill>
                  <a:srgbClr val="1A7F4B"/>
                </a:solidFill>
                <a:latin typeface="Calibri" pitchFamily="34" charset="0"/>
                <a:ea typeface="Calibri" pitchFamily="34" charset="-122"/>
                <a:cs typeface="Calibri" pitchFamily="34" charset="-120"/>
              </a:rPr>
              <a:t>Day 6 — the scab</a:t>
            </a:r>
            <a:endParaRPr lang="en-US" sz="1250" dirty="0"/>
          </a:p>
        </p:txBody>
      </p:sp>
      <p:sp>
        <p:nvSpPr>
          <p:cNvPr id="29" name="Text 27"/>
          <p:cNvSpPr/>
          <p:nvPr/>
        </p:nvSpPr>
        <p:spPr>
          <a:xfrm>
            <a:off x="841248" y="4882896"/>
            <a:ext cx="10515600" cy="960120"/>
          </a:xfrm>
          <a:prstGeom prst="rect">
            <a:avLst/>
          </a:prstGeom>
          <a:noFill/>
          <a:ln/>
        </p:spPr>
        <p:txBody>
          <a:bodyPr wrap="square" lIns="0" tIns="0" rIns="0" bIns="0" rtlCol="0" anchor="t"/>
          <a:lstStyle/>
          <a:p>
            <a:pPr indent="0" marL="0">
              <a:lnSpc>
                <a:spcPts val="1700"/>
              </a:lnSpc>
              <a:buNone/>
            </a:pPr>
            <a:r>
              <a:rPr lang="en-US" sz="1200" dirty="0">
                <a:solidFill>
                  <a:srgbClr val="12202E"/>
                </a:solidFill>
                <a:latin typeface="Calibri" pitchFamily="34" charset="0"/>
                <a:ea typeface="Calibri" pitchFamily="34" charset="-122"/>
                <a:cs typeface="Calibri" pitchFamily="34" charset="-120"/>
              </a:rPr>
              <a:t>36.9 °C, pain 2/10 and better than yesterday — but a brown scab has formed, and Peter's brother once had a wound infection. WundCheck returns GREEN with “a scab is a normal sign of healing — do not pick it off”. Peter does not call the clinic. The entry still goes into the record, so Dr Keller sees an unbroken trajectory at the suture removal appointment.</a:t>
            </a:r>
            <a:endParaRPr lang="en-US" sz="1200" dirty="0"/>
          </a:p>
        </p:txBody>
      </p:sp>
      <p:sp>
        <p:nvSpPr>
          <p:cNvPr id="30" name="Text 28"/>
          <p:cNvSpPr/>
          <p:nvPr/>
        </p:nvSpPr>
        <p:spPr>
          <a:xfrm>
            <a:off x="841248" y="5742432"/>
            <a:ext cx="10515600" cy="256032"/>
          </a:xfrm>
          <a:prstGeom prst="rect">
            <a:avLst/>
          </a:prstGeom>
          <a:noFill/>
          <a:ln/>
        </p:spPr>
        <p:txBody>
          <a:bodyPr wrap="square" lIns="0" tIns="0" rIns="0" bIns="0" rtlCol="0" anchor="ctr"/>
          <a:lstStyle/>
          <a:p>
            <a:pPr indent="0" marL="0">
              <a:buNone/>
            </a:pPr>
            <a:r>
              <a:rPr lang="en-US" sz="1150" b="1" i="1" dirty="0">
                <a:solidFill>
                  <a:srgbClr val="1A7F4B"/>
                </a:solidFill>
                <a:latin typeface="Calibri" pitchFamily="34" charset="0"/>
                <a:ea typeface="Calibri" pitchFamily="34" charset="-122"/>
                <a:cs typeface="Calibri" pitchFamily="34" charset="-120"/>
              </a:rPr>
              <a:t>The call that is avoided is worth as much as the one that is triggered.</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indent="0" marL="0">
              <a:buNone/>
            </a:pPr>
            <a:r>
              <a:rPr lang="en-US" sz="1050" b="1" spc="160" kern="0" dirty="0">
                <a:solidFill>
                  <a:srgbClr val="5D7186"/>
                </a:solidFill>
                <a:latin typeface="Calibri" pitchFamily="34" charset="0"/>
                <a:ea typeface="Calibri" pitchFamily="34" charset="-122"/>
                <a:cs typeface="Calibri" pitchFamily="34" charset="-120"/>
              </a:rPr>
              <a:t>GUIDELINES &amp; EVIDENCE</a:t>
            </a:r>
            <a:endParaRPr lang="en-US" sz="1050" dirty="0"/>
          </a:p>
        </p:txBody>
      </p:sp>
      <p:sp>
        <p:nvSpPr>
          <p:cNvPr id="3" name="Text 1"/>
          <p:cNvSpPr/>
          <p:nvPr/>
        </p:nvSpPr>
        <p:spPr>
          <a:xfrm>
            <a:off x="566928" y="640080"/>
            <a:ext cx="8412480" cy="658368"/>
          </a:xfrm>
          <a:prstGeom prst="rect">
            <a:avLst/>
          </a:prstGeom>
          <a:noFill/>
          <a:ln/>
        </p:spPr>
        <p:txBody>
          <a:bodyPr wrap="square" lIns="0" tIns="0" rIns="0" bIns="0" rtlCol="0" anchor="t"/>
          <a:lstStyle/>
          <a:p>
            <a:pPr indent="0" marL="0">
              <a:buNone/>
            </a:pPr>
            <a:r>
              <a:rPr lang="en-US" sz="2700" b="1" dirty="0">
                <a:solidFill>
                  <a:srgbClr val="12202E"/>
                </a:solidFill>
                <a:latin typeface="Cambria" pitchFamily="34" charset="0"/>
                <a:ea typeface="Cambria" pitchFamily="34" charset="-122"/>
                <a:cs typeface="Cambria" pitchFamily="34" charset="-120"/>
              </a:rPr>
              <a:t>Four sources, three roles — and one we deliberately discarded</a:t>
            </a:r>
            <a:endParaRPr lang="en-US" sz="2700" dirty="0"/>
          </a:p>
        </p:txBody>
      </p:sp>
      <p:sp>
        <p:nvSpPr>
          <p:cNvPr id="4" name="Shape 2"/>
          <p:cNvSpPr/>
          <p:nvPr/>
        </p:nvSpPr>
        <p:spPr>
          <a:xfrm>
            <a:off x="9290304" y="475488"/>
            <a:ext cx="475488" cy="274320"/>
          </a:xfrm>
          <a:prstGeom prst="roundRect">
            <a:avLst>
              <a:gd name="adj" fmla="val 46667"/>
            </a:avLst>
          </a:prstGeom>
          <a:solidFill>
            <a:srgbClr val="12202E"/>
          </a:solidFill>
          <a:ln w="12700">
            <a:solidFill>
              <a:srgbClr val="12202E"/>
            </a:solidFill>
            <a:prstDash val="solid"/>
          </a:ln>
        </p:spPr>
      </p:sp>
      <p:sp>
        <p:nvSpPr>
          <p:cNvPr id="5" name="Text 3"/>
          <p:cNvSpPr/>
          <p:nvPr/>
        </p:nvSpPr>
        <p:spPr>
          <a:xfrm>
            <a:off x="9290304" y="475488"/>
            <a:ext cx="475488"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L1</a:t>
            </a:r>
            <a:endParaRPr lang="en-US" sz="1050" dirty="0"/>
          </a:p>
        </p:txBody>
      </p:sp>
      <p:sp>
        <p:nvSpPr>
          <p:cNvPr id="6" name="Text 4"/>
          <p:cNvSpPr/>
          <p:nvPr/>
        </p:nvSpPr>
        <p:spPr>
          <a:xfrm>
            <a:off x="9765792" y="475488"/>
            <a:ext cx="146304" cy="274320"/>
          </a:xfrm>
          <a:prstGeom prst="rect">
            <a:avLst/>
          </a:prstGeom>
          <a:noFill/>
          <a:ln/>
        </p:spPr>
        <p:txBody>
          <a:bodyPr wrap="square" lIns="0" tIns="0" rIns="0" bIns="0" rtlCol="0" anchor="ctr"/>
          <a:lstStyle/>
          <a:p>
            <a:pPr algn="ctr" indent="0" marL="0">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7" name="Shape 5"/>
          <p:cNvSpPr/>
          <p:nvPr/>
        </p:nvSpPr>
        <p:spPr>
          <a:xfrm>
            <a:off x="9912096" y="475488"/>
            <a:ext cx="475488" cy="274320"/>
          </a:xfrm>
          <a:prstGeom prst="roundRect">
            <a:avLst>
              <a:gd name="adj" fmla="val 46667"/>
            </a:avLst>
          </a:prstGeom>
          <a:solidFill>
            <a:srgbClr val="F5F7FA"/>
          </a:solidFill>
          <a:ln w="12700">
            <a:solidFill>
              <a:srgbClr val="DDE5EE"/>
            </a:solidFill>
            <a:prstDash val="solid"/>
          </a:ln>
        </p:spPr>
      </p:sp>
      <p:sp>
        <p:nvSpPr>
          <p:cNvPr id="8" name="Text 6"/>
          <p:cNvSpPr/>
          <p:nvPr/>
        </p:nvSpPr>
        <p:spPr>
          <a:xfrm>
            <a:off x="9912096" y="475488"/>
            <a:ext cx="475488" cy="274320"/>
          </a:xfrm>
          <a:prstGeom prst="rect">
            <a:avLst/>
          </a:prstGeom>
          <a:noFill/>
          <a:ln/>
        </p:spPr>
        <p:txBody>
          <a:bodyPr wrap="square" lIns="0" tIns="0" rIns="0" bIns="0" rtlCol="0" anchor="ctr"/>
          <a:lstStyle/>
          <a:p>
            <a:pPr algn="ctr" indent="0" marL="0">
              <a:buNone/>
            </a:pPr>
            <a:r>
              <a:rPr lang="en-US" sz="1050" b="1" dirty="0">
                <a:solidFill>
                  <a:srgbClr val="5D7186"/>
                </a:solidFill>
                <a:latin typeface="Calibri" pitchFamily="34" charset="0"/>
                <a:ea typeface="Calibri" pitchFamily="34" charset="-122"/>
                <a:cs typeface="Calibri" pitchFamily="34" charset="-120"/>
              </a:rPr>
              <a:t>L2</a:t>
            </a:r>
            <a:endParaRPr lang="en-US" sz="1050" dirty="0"/>
          </a:p>
        </p:txBody>
      </p:sp>
      <p:sp>
        <p:nvSpPr>
          <p:cNvPr id="9" name="Text 7"/>
          <p:cNvSpPr/>
          <p:nvPr/>
        </p:nvSpPr>
        <p:spPr>
          <a:xfrm>
            <a:off x="10387584" y="475488"/>
            <a:ext cx="146304" cy="274320"/>
          </a:xfrm>
          <a:prstGeom prst="rect">
            <a:avLst/>
          </a:prstGeom>
          <a:noFill/>
          <a:ln/>
        </p:spPr>
        <p:txBody>
          <a:bodyPr wrap="square" lIns="0" tIns="0" rIns="0" bIns="0" rtlCol="0" anchor="ctr"/>
          <a:lstStyle/>
          <a:p>
            <a:pPr algn="ctr" indent="0" marL="0">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10" name="Shape 8"/>
          <p:cNvSpPr/>
          <p:nvPr/>
        </p:nvSpPr>
        <p:spPr>
          <a:xfrm>
            <a:off x="10533888" y="475488"/>
            <a:ext cx="475488" cy="274320"/>
          </a:xfrm>
          <a:prstGeom prst="roundRect">
            <a:avLst>
              <a:gd name="adj" fmla="val 46667"/>
            </a:avLst>
          </a:prstGeom>
          <a:solidFill>
            <a:srgbClr val="F5F7FA"/>
          </a:solidFill>
          <a:ln w="12700">
            <a:solidFill>
              <a:srgbClr val="DDE5EE"/>
            </a:solidFill>
            <a:prstDash val="solid"/>
          </a:ln>
        </p:spPr>
      </p:sp>
      <p:sp>
        <p:nvSpPr>
          <p:cNvPr id="11" name="Text 9"/>
          <p:cNvSpPr/>
          <p:nvPr/>
        </p:nvSpPr>
        <p:spPr>
          <a:xfrm>
            <a:off x="10533888" y="475488"/>
            <a:ext cx="475488" cy="274320"/>
          </a:xfrm>
          <a:prstGeom prst="rect">
            <a:avLst/>
          </a:prstGeom>
          <a:noFill/>
          <a:ln/>
        </p:spPr>
        <p:txBody>
          <a:bodyPr wrap="square" lIns="0" tIns="0" rIns="0" bIns="0" rtlCol="0" anchor="ctr"/>
          <a:lstStyle/>
          <a:p>
            <a:pPr algn="ctr" indent="0" marL="0">
              <a:buNone/>
            </a:pPr>
            <a:r>
              <a:rPr lang="en-US" sz="1050" b="1" dirty="0">
                <a:solidFill>
                  <a:srgbClr val="5D7186"/>
                </a:solidFill>
                <a:latin typeface="Calibri" pitchFamily="34" charset="0"/>
                <a:ea typeface="Calibri" pitchFamily="34" charset="-122"/>
                <a:cs typeface="Calibri" pitchFamily="34" charset="-120"/>
              </a:rPr>
              <a:t>L3</a:t>
            </a:r>
            <a:endParaRPr lang="en-US" sz="1050" dirty="0"/>
          </a:p>
        </p:txBody>
      </p:sp>
      <p:sp>
        <p:nvSpPr>
          <p:cNvPr id="12" name="Text 10"/>
          <p:cNvSpPr/>
          <p:nvPr/>
        </p:nvSpPr>
        <p:spPr>
          <a:xfrm>
            <a:off x="11009376" y="475488"/>
            <a:ext cx="146304" cy="274320"/>
          </a:xfrm>
          <a:prstGeom prst="rect">
            <a:avLst/>
          </a:prstGeom>
          <a:noFill/>
          <a:ln/>
        </p:spPr>
        <p:txBody>
          <a:bodyPr wrap="square" lIns="0" tIns="0" rIns="0" bIns="0" rtlCol="0" anchor="ctr"/>
          <a:lstStyle/>
          <a:p>
            <a:pPr algn="ctr" indent="0" marL="0">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13" name="Shape 11"/>
          <p:cNvSpPr/>
          <p:nvPr/>
        </p:nvSpPr>
        <p:spPr>
          <a:xfrm>
            <a:off x="11155680" y="475488"/>
            <a:ext cx="475488" cy="274320"/>
          </a:xfrm>
          <a:prstGeom prst="roundRect">
            <a:avLst>
              <a:gd name="adj" fmla="val 46667"/>
            </a:avLst>
          </a:prstGeom>
          <a:solidFill>
            <a:srgbClr val="F5F7FA"/>
          </a:solidFill>
          <a:ln w="12700">
            <a:solidFill>
              <a:srgbClr val="DDE5EE"/>
            </a:solidFill>
            <a:prstDash val="solid"/>
          </a:ln>
        </p:spPr>
      </p:sp>
      <p:sp>
        <p:nvSpPr>
          <p:cNvPr id="14" name="Text 12"/>
          <p:cNvSpPr/>
          <p:nvPr/>
        </p:nvSpPr>
        <p:spPr>
          <a:xfrm>
            <a:off x="11155680" y="475488"/>
            <a:ext cx="475488" cy="274320"/>
          </a:xfrm>
          <a:prstGeom prst="rect">
            <a:avLst/>
          </a:prstGeom>
          <a:noFill/>
          <a:ln/>
        </p:spPr>
        <p:txBody>
          <a:bodyPr wrap="square" lIns="0" tIns="0" rIns="0" bIns="0" rtlCol="0" anchor="ctr"/>
          <a:lstStyle/>
          <a:p>
            <a:pPr algn="ctr" indent="0" marL="0">
              <a:buNone/>
            </a:pPr>
            <a:r>
              <a:rPr lang="en-US" sz="1050" b="1" dirty="0">
                <a:solidFill>
                  <a:srgbClr val="5D7186"/>
                </a:solidFill>
                <a:latin typeface="Calibri" pitchFamily="34" charset="0"/>
                <a:ea typeface="Calibri" pitchFamily="34" charset="-122"/>
                <a:cs typeface="Calibri" pitchFamily="34" charset="-120"/>
              </a:rPr>
              <a:t>L4</a:t>
            </a:r>
            <a:endParaRPr lang="en-US" sz="1050" dirty="0"/>
          </a:p>
        </p:txBody>
      </p:sp>
      <p:sp>
        <p:nvSpPr>
          <p:cNvPr id="15" name="Shape 13"/>
          <p:cNvSpPr/>
          <p:nvPr/>
        </p:nvSpPr>
        <p:spPr>
          <a:xfrm>
            <a:off x="566928" y="1664208"/>
            <a:ext cx="11064240" cy="658368"/>
          </a:xfrm>
          <a:prstGeom prst="roundRect">
            <a:avLst>
              <a:gd name="adj" fmla="val 12500"/>
            </a:avLst>
          </a:prstGeom>
          <a:solidFill>
            <a:srgbClr val="FFFFFF"/>
          </a:solidFill>
          <a:ln w="12700">
            <a:solidFill>
              <a:srgbClr val="DDE5EE"/>
            </a:solidFill>
            <a:prstDash val="solid"/>
          </a:ln>
        </p:spPr>
      </p:sp>
      <p:sp>
        <p:nvSpPr>
          <p:cNvPr id="16" name="Text 14"/>
          <p:cNvSpPr/>
          <p:nvPr/>
        </p:nvSpPr>
        <p:spPr>
          <a:xfrm>
            <a:off x="804672" y="1737360"/>
            <a:ext cx="1965960" cy="512064"/>
          </a:xfrm>
          <a:prstGeom prst="rect">
            <a:avLst/>
          </a:prstGeom>
          <a:noFill/>
          <a:ln/>
        </p:spPr>
        <p:txBody>
          <a:bodyPr wrap="square" lIns="0" tIns="0" rIns="0" bIns="0" rtlCol="0" anchor="ctr"/>
          <a:lstStyle/>
          <a:p>
            <a:pPr indent="0" marL="0">
              <a:buNone/>
            </a:pPr>
            <a:r>
              <a:rPr lang="en-US" sz="1250" b="1" dirty="0">
                <a:solidFill>
                  <a:srgbClr val="12202E"/>
                </a:solidFill>
                <a:latin typeface="Calibri" pitchFamily="34" charset="0"/>
                <a:ea typeface="Calibri" pitchFamily="34" charset="-122"/>
                <a:cs typeface="Calibri" pitchFamily="34" charset="-120"/>
              </a:rPr>
              <a:t>CDC / NHSN</a:t>
            </a:r>
            <a:endParaRPr lang="en-US" sz="1250" dirty="0"/>
          </a:p>
        </p:txBody>
      </p:sp>
      <p:sp>
        <p:nvSpPr>
          <p:cNvPr id="17" name="Text 15"/>
          <p:cNvSpPr/>
          <p:nvPr/>
        </p:nvSpPr>
        <p:spPr>
          <a:xfrm>
            <a:off x="2807208" y="1737360"/>
            <a:ext cx="1783080" cy="512064"/>
          </a:xfrm>
          <a:prstGeom prst="rect">
            <a:avLst/>
          </a:prstGeom>
          <a:noFill/>
          <a:ln/>
        </p:spPr>
        <p:txBody>
          <a:bodyPr wrap="square" lIns="0" tIns="0" rIns="0" bIns="0" rtlCol="0" anchor="ctr"/>
          <a:lstStyle/>
          <a:p>
            <a:pPr indent="0" marL="0">
              <a:buNone/>
            </a:pPr>
            <a:r>
              <a:rPr lang="en-US" sz="1050" dirty="0">
                <a:solidFill>
                  <a:srgbClr val="5D7186"/>
                </a:solidFill>
                <a:latin typeface="Calibri" pitchFamily="34" charset="0"/>
                <a:ea typeface="Calibri" pitchFamily="34" charset="-122"/>
                <a:cs typeface="Calibri" pitchFamily="34" charset="-120"/>
              </a:rPr>
              <a:t>Normative — definition</a:t>
            </a:r>
            <a:endParaRPr lang="en-US" sz="1050" dirty="0"/>
          </a:p>
        </p:txBody>
      </p:sp>
      <p:sp>
        <p:nvSpPr>
          <p:cNvPr id="18" name="Text 16"/>
          <p:cNvSpPr/>
          <p:nvPr/>
        </p:nvSpPr>
        <p:spPr>
          <a:xfrm>
            <a:off x="4681728" y="1737360"/>
            <a:ext cx="5120640" cy="512064"/>
          </a:xfrm>
          <a:prstGeom prst="rect">
            <a:avLst/>
          </a:prstGeom>
          <a:noFill/>
          <a:ln/>
        </p:spPr>
        <p:txBody>
          <a:bodyPr wrap="square" lIns="0" tIns="0" rIns="0" bIns="0" rtlCol="0" anchor="ctr"/>
          <a:lstStyle/>
          <a:p>
            <a:pPr indent="0" marL="0">
              <a:buNone/>
            </a:pPr>
            <a:r>
              <a:rPr lang="en-US" sz="1150" dirty="0">
                <a:solidFill>
                  <a:srgbClr val="12202E"/>
                </a:solidFill>
                <a:latin typeface="Calibri" pitchFamily="34" charset="0"/>
                <a:ea typeface="Calibri" pitchFamily="34" charset="-122"/>
                <a:cs typeface="Calibri" pitchFamily="34" charset="-120"/>
              </a:rPr>
              <a:t>Superficial vs. deep incisional SSI, 30/90-day window, the five clinical signs</a:t>
            </a:r>
            <a:endParaRPr lang="en-US" sz="1150" dirty="0"/>
          </a:p>
        </p:txBody>
      </p:sp>
      <p:sp>
        <p:nvSpPr>
          <p:cNvPr id="19" name="Text 17"/>
          <p:cNvSpPr/>
          <p:nvPr/>
        </p:nvSpPr>
        <p:spPr>
          <a:xfrm>
            <a:off x="9893808" y="1737360"/>
            <a:ext cx="1554480" cy="512064"/>
          </a:xfrm>
          <a:prstGeom prst="rect">
            <a:avLst/>
          </a:prstGeom>
          <a:noFill/>
          <a:ln/>
        </p:spPr>
        <p:txBody>
          <a:bodyPr wrap="square" lIns="0" tIns="0" rIns="0" bIns="0" rtlCol="0" anchor="ctr"/>
          <a:lstStyle/>
          <a:p>
            <a:pPr algn="r" indent="0" marL="0">
              <a:buNone/>
            </a:pPr>
            <a:r>
              <a:rPr lang="en-US" sz="1000" i="1" dirty="0">
                <a:solidFill>
                  <a:srgbClr val="5D7186"/>
                </a:solidFill>
                <a:latin typeface="Calibri" pitchFamily="34" charset="0"/>
                <a:ea typeface="Calibri" pitchFamily="34" charset="-122"/>
                <a:cs typeface="Calibri" pitchFamily="34" charset="-120"/>
              </a:rPr>
              <a:t>Surveillance definition</a:t>
            </a:r>
            <a:endParaRPr lang="en-US" sz="1000" dirty="0"/>
          </a:p>
        </p:txBody>
      </p:sp>
      <p:sp>
        <p:nvSpPr>
          <p:cNvPr id="20" name="Shape 18"/>
          <p:cNvSpPr/>
          <p:nvPr/>
        </p:nvSpPr>
        <p:spPr>
          <a:xfrm>
            <a:off x="566928" y="2423160"/>
            <a:ext cx="11064240" cy="658368"/>
          </a:xfrm>
          <a:prstGeom prst="roundRect">
            <a:avLst>
              <a:gd name="adj" fmla="val 12500"/>
            </a:avLst>
          </a:prstGeom>
          <a:solidFill>
            <a:srgbClr val="FFFFFF"/>
          </a:solidFill>
          <a:ln w="12700">
            <a:solidFill>
              <a:srgbClr val="DDE5EE"/>
            </a:solidFill>
            <a:prstDash val="solid"/>
          </a:ln>
        </p:spPr>
      </p:sp>
      <p:sp>
        <p:nvSpPr>
          <p:cNvPr id="21" name="Text 19"/>
          <p:cNvSpPr/>
          <p:nvPr/>
        </p:nvSpPr>
        <p:spPr>
          <a:xfrm>
            <a:off x="804672" y="2496312"/>
            <a:ext cx="1965960" cy="512064"/>
          </a:xfrm>
          <a:prstGeom prst="rect">
            <a:avLst/>
          </a:prstGeom>
          <a:noFill/>
          <a:ln/>
        </p:spPr>
        <p:txBody>
          <a:bodyPr wrap="square" lIns="0" tIns="0" rIns="0" bIns="0" rtlCol="0" anchor="ctr"/>
          <a:lstStyle/>
          <a:p>
            <a:pPr indent="0" marL="0">
              <a:buNone/>
            </a:pPr>
            <a:r>
              <a:rPr lang="en-US" sz="1250" b="1" dirty="0">
                <a:solidFill>
                  <a:srgbClr val="12202E"/>
                </a:solidFill>
                <a:latin typeface="Calibri" pitchFamily="34" charset="0"/>
                <a:ea typeface="Calibri" pitchFamily="34" charset="-122"/>
                <a:cs typeface="Calibri" pitchFamily="34" charset="-120"/>
              </a:rPr>
              <a:t>NICE NG125</a:t>
            </a:r>
            <a:endParaRPr lang="en-US" sz="1250" dirty="0"/>
          </a:p>
        </p:txBody>
      </p:sp>
      <p:sp>
        <p:nvSpPr>
          <p:cNvPr id="22" name="Text 20"/>
          <p:cNvSpPr/>
          <p:nvPr/>
        </p:nvSpPr>
        <p:spPr>
          <a:xfrm>
            <a:off x="2807208" y="2496312"/>
            <a:ext cx="1783080" cy="512064"/>
          </a:xfrm>
          <a:prstGeom prst="rect">
            <a:avLst/>
          </a:prstGeom>
          <a:noFill/>
          <a:ln/>
        </p:spPr>
        <p:txBody>
          <a:bodyPr wrap="square" lIns="0" tIns="0" rIns="0" bIns="0" rtlCol="0" anchor="ctr"/>
          <a:lstStyle/>
          <a:p>
            <a:pPr indent="0" marL="0">
              <a:buNone/>
            </a:pPr>
            <a:r>
              <a:rPr lang="en-US" sz="1050" dirty="0">
                <a:solidFill>
                  <a:srgbClr val="5D7186"/>
                </a:solidFill>
                <a:latin typeface="Calibri" pitchFamily="34" charset="0"/>
                <a:ea typeface="Calibri" pitchFamily="34" charset="-122"/>
                <a:cs typeface="Calibri" pitchFamily="34" charset="-120"/>
              </a:rPr>
              <a:t>Normative — management</a:t>
            </a:r>
            <a:endParaRPr lang="en-US" sz="1050" dirty="0"/>
          </a:p>
        </p:txBody>
      </p:sp>
      <p:sp>
        <p:nvSpPr>
          <p:cNvPr id="23" name="Text 21"/>
          <p:cNvSpPr/>
          <p:nvPr/>
        </p:nvSpPr>
        <p:spPr>
          <a:xfrm>
            <a:off x="4681728" y="2496312"/>
            <a:ext cx="5120640" cy="512064"/>
          </a:xfrm>
          <a:prstGeom prst="rect">
            <a:avLst/>
          </a:prstGeom>
          <a:noFill/>
          <a:ln/>
        </p:spPr>
        <p:txBody>
          <a:bodyPr wrap="square" lIns="0" tIns="0" rIns="0" bIns="0" rtlCol="0" anchor="ctr"/>
          <a:lstStyle/>
          <a:p>
            <a:pPr indent="0" marL="0">
              <a:buNone/>
            </a:pPr>
            <a:r>
              <a:rPr lang="en-US" sz="1150" dirty="0">
                <a:solidFill>
                  <a:srgbClr val="12202E"/>
                </a:solidFill>
                <a:latin typeface="Calibri" pitchFamily="34" charset="0"/>
                <a:ea typeface="Calibri" pitchFamily="34" charset="-122"/>
                <a:cs typeface="Calibri" pitchFamily="34" charset="-120"/>
              </a:rPr>
              <a:t>Post-operative wound care; §1.1.3 requires patients be taught to recognise an SSI</a:t>
            </a:r>
            <a:endParaRPr lang="en-US" sz="1150" dirty="0"/>
          </a:p>
        </p:txBody>
      </p:sp>
      <p:sp>
        <p:nvSpPr>
          <p:cNvPr id="24" name="Text 22"/>
          <p:cNvSpPr/>
          <p:nvPr/>
        </p:nvSpPr>
        <p:spPr>
          <a:xfrm>
            <a:off x="9893808" y="2496312"/>
            <a:ext cx="1554480" cy="512064"/>
          </a:xfrm>
          <a:prstGeom prst="rect">
            <a:avLst/>
          </a:prstGeom>
          <a:noFill/>
          <a:ln/>
        </p:spPr>
        <p:txBody>
          <a:bodyPr wrap="square" lIns="0" tIns="0" rIns="0" bIns="0" rtlCol="0" anchor="ctr"/>
          <a:lstStyle/>
          <a:p>
            <a:pPr algn="r" indent="0" marL="0">
              <a:buNone/>
            </a:pPr>
            <a:r>
              <a:rPr lang="en-US" sz="1000" i="1" dirty="0">
                <a:solidFill>
                  <a:srgbClr val="5D7186"/>
                </a:solidFill>
                <a:latin typeface="Calibri" pitchFamily="34" charset="0"/>
                <a:ea typeface="Calibri" pitchFamily="34" charset="-122"/>
                <a:cs typeface="Calibri" pitchFamily="34" charset="-120"/>
              </a:rPr>
              <a:t>Evidence-based guideline</a:t>
            </a:r>
            <a:endParaRPr lang="en-US" sz="1000" dirty="0"/>
          </a:p>
        </p:txBody>
      </p:sp>
      <p:sp>
        <p:nvSpPr>
          <p:cNvPr id="25" name="Shape 23"/>
          <p:cNvSpPr/>
          <p:nvPr/>
        </p:nvSpPr>
        <p:spPr>
          <a:xfrm>
            <a:off x="566928" y="3182112"/>
            <a:ext cx="11064240" cy="658368"/>
          </a:xfrm>
          <a:prstGeom prst="roundRect">
            <a:avLst>
              <a:gd name="adj" fmla="val 12500"/>
            </a:avLst>
          </a:prstGeom>
          <a:solidFill>
            <a:srgbClr val="FFFFFF"/>
          </a:solidFill>
          <a:ln w="12700">
            <a:solidFill>
              <a:srgbClr val="DDE5EE"/>
            </a:solidFill>
            <a:prstDash val="solid"/>
          </a:ln>
        </p:spPr>
      </p:sp>
      <p:sp>
        <p:nvSpPr>
          <p:cNvPr id="26" name="Text 24"/>
          <p:cNvSpPr/>
          <p:nvPr/>
        </p:nvSpPr>
        <p:spPr>
          <a:xfrm>
            <a:off x="804672" y="3255264"/>
            <a:ext cx="1965960" cy="512064"/>
          </a:xfrm>
          <a:prstGeom prst="rect">
            <a:avLst/>
          </a:prstGeom>
          <a:noFill/>
          <a:ln/>
        </p:spPr>
        <p:txBody>
          <a:bodyPr wrap="square" lIns="0" tIns="0" rIns="0" bIns="0" rtlCol="0" anchor="ctr"/>
          <a:lstStyle/>
          <a:p>
            <a:pPr indent="0" marL="0">
              <a:buNone/>
            </a:pPr>
            <a:r>
              <a:rPr lang="en-US" sz="1250" b="1" dirty="0">
                <a:solidFill>
                  <a:srgbClr val="12202E"/>
                </a:solidFill>
                <a:latin typeface="Calibri" pitchFamily="34" charset="0"/>
                <a:ea typeface="Calibri" pitchFamily="34" charset="-122"/>
                <a:cs typeface="Calibri" pitchFamily="34" charset="-120"/>
              </a:rPr>
              <a:t>Southampton score</a:t>
            </a:r>
            <a:endParaRPr lang="en-US" sz="1250" dirty="0"/>
          </a:p>
        </p:txBody>
      </p:sp>
      <p:sp>
        <p:nvSpPr>
          <p:cNvPr id="27" name="Text 25"/>
          <p:cNvSpPr/>
          <p:nvPr/>
        </p:nvSpPr>
        <p:spPr>
          <a:xfrm>
            <a:off x="2807208" y="3255264"/>
            <a:ext cx="1783080" cy="512064"/>
          </a:xfrm>
          <a:prstGeom prst="rect">
            <a:avLst/>
          </a:prstGeom>
          <a:noFill/>
          <a:ln/>
        </p:spPr>
        <p:txBody>
          <a:bodyPr wrap="square" lIns="0" tIns="0" rIns="0" bIns="0" rtlCol="0" anchor="ctr"/>
          <a:lstStyle/>
          <a:p>
            <a:pPr indent="0" marL="0">
              <a:buNone/>
            </a:pPr>
            <a:r>
              <a:rPr lang="en-US" sz="1050" dirty="0">
                <a:solidFill>
                  <a:srgbClr val="5D7186"/>
                </a:solidFill>
                <a:latin typeface="Calibri" pitchFamily="34" charset="0"/>
                <a:ea typeface="Calibri" pitchFamily="34" charset="-122"/>
                <a:cs typeface="Calibri" pitchFamily="34" charset="-120"/>
              </a:rPr>
              <a:t>Instrument</a:t>
            </a:r>
            <a:endParaRPr lang="en-US" sz="1050" dirty="0"/>
          </a:p>
        </p:txBody>
      </p:sp>
      <p:sp>
        <p:nvSpPr>
          <p:cNvPr id="28" name="Text 26"/>
          <p:cNvSpPr/>
          <p:nvPr/>
        </p:nvSpPr>
        <p:spPr>
          <a:xfrm>
            <a:off x="4681728" y="3255264"/>
            <a:ext cx="5120640" cy="512064"/>
          </a:xfrm>
          <a:prstGeom prst="rect">
            <a:avLst/>
          </a:prstGeom>
          <a:noFill/>
          <a:ln/>
        </p:spPr>
        <p:txBody>
          <a:bodyPr wrap="square" lIns="0" tIns="0" rIns="0" bIns="0" rtlCol="0" anchor="ctr"/>
          <a:lstStyle/>
          <a:p>
            <a:pPr indent="0" marL="0">
              <a:buNone/>
            </a:pPr>
            <a:r>
              <a:rPr lang="en-US" sz="1150" dirty="0">
                <a:solidFill>
                  <a:srgbClr val="12202E"/>
                </a:solidFill>
                <a:latin typeface="Calibri" pitchFamily="34" charset="0"/>
                <a:ea typeface="Calibri" pitchFamily="34" charset="-122"/>
                <a:cs typeface="Calibri" pitchFamily="34" charset="-120"/>
              </a:rPr>
              <a:t>Visual grading 0–V — the anchor for our image selection</a:t>
            </a:r>
            <a:endParaRPr lang="en-US" sz="1150" dirty="0"/>
          </a:p>
        </p:txBody>
      </p:sp>
      <p:sp>
        <p:nvSpPr>
          <p:cNvPr id="29" name="Text 27"/>
          <p:cNvSpPr/>
          <p:nvPr/>
        </p:nvSpPr>
        <p:spPr>
          <a:xfrm>
            <a:off x="9893808" y="3255264"/>
            <a:ext cx="1554480" cy="512064"/>
          </a:xfrm>
          <a:prstGeom prst="rect">
            <a:avLst/>
          </a:prstGeom>
          <a:noFill/>
          <a:ln/>
        </p:spPr>
        <p:txBody>
          <a:bodyPr wrap="square" lIns="0" tIns="0" rIns="0" bIns="0" rtlCol="0" anchor="ctr"/>
          <a:lstStyle/>
          <a:p>
            <a:pPr algn="r" indent="0" marL="0">
              <a:buNone/>
            </a:pPr>
            <a:r>
              <a:rPr lang="en-US" sz="1000" i="1" dirty="0">
                <a:solidFill>
                  <a:srgbClr val="5D7186"/>
                </a:solidFill>
                <a:latin typeface="Calibri" pitchFamily="34" charset="0"/>
                <a:ea typeface="Calibri" pitchFamily="34" charset="-122"/>
                <a:cs typeface="Calibri" pitchFamily="34" charset="-120"/>
              </a:rPr>
              <a:t>Validated instrument</a:t>
            </a:r>
            <a:endParaRPr lang="en-US" sz="1000" dirty="0"/>
          </a:p>
        </p:txBody>
      </p:sp>
      <p:sp>
        <p:nvSpPr>
          <p:cNvPr id="30" name="Shape 28"/>
          <p:cNvSpPr/>
          <p:nvPr/>
        </p:nvSpPr>
        <p:spPr>
          <a:xfrm>
            <a:off x="566928" y="3941064"/>
            <a:ext cx="11064240" cy="658368"/>
          </a:xfrm>
          <a:prstGeom prst="roundRect">
            <a:avLst>
              <a:gd name="adj" fmla="val 12500"/>
            </a:avLst>
          </a:prstGeom>
          <a:solidFill>
            <a:srgbClr val="F5F7FA"/>
          </a:solidFill>
          <a:ln w="12700">
            <a:solidFill>
              <a:srgbClr val="DDE5EE"/>
            </a:solidFill>
            <a:prstDash val="solid"/>
          </a:ln>
        </p:spPr>
      </p:sp>
      <p:sp>
        <p:nvSpPr>
          <p:cNvPr id="31" name="Text 29"/>
          <p:cNvSpPr/>
          <p:nvPr/>
        </p:nvSpPr>
        <p:spPr>
          <a:xfrm>
            <a:off x="804672" y="4014216"/>
            <a:ext cx="1965960" cy="512064"/>
          </a:xfrm>
          <a:prstGeom prst="rect">
            <a:avLst/>
          </a:prstGeom>
          <a:noFill/>
          <a:ln/>
        </p:spPr>
        <p:txBody>
          <a:bodyPr wrap="square" lIns="0" tIns="0" rIns="0" bIns="0" rtlCol="0" anchor="ctr"/>
          <a:lstStyle/>
          <a:p>
            <a:pPr indent="0" marL="0">
              <a:buNone/>
            </a:pPr>
            <a:r>
              <a:rPr lang="en-US" sz="1250" b="1" dirty="0">
                <a:solidFill>
                  <a:srgbClr val="12202E"/>
                </a:solidFill>
                <a:latin typeface="Calibri" pitchFamily="34" charset="0"/>
                <a:ea typeface="Calibri" pitchFamily="34" charset="-122"/>
                <a:cs typeface="Calibri" pitchFamily="34" charset="-120"/>
              </a:rPr>
              <a:t>Campwala et al. 2019</a:t>
            </a:r>
            <a:endParaRPr lang="en-US" sz="1250" dirty="0"/>
          </a:p>
        </p:txBody>
      </p:sp>
      <p:sp>
        <p:nvSpPr>
          <p:cNvPr id="32" name="Text 30"/>
          <p:cNvSpPr/>
          <p:nvPr/>
        </p:nvSpPr>
        <p:spPr>
          <a:xfrm>
            <a:off x="2807208" y="4014216"/>
            <a:ext cx="1783080" cy="512064"/>
          </a:xfrm>
          <a:prstGeom prst="rect">
            <a:avLst/>
          </a:prstGeom>
          <a:noFill/>
          <a:ln/>
        </p:spPr>
        <p:txBody>
          <a:bodyPr wrap="square" lIns="0" tIns="0" rIns="0" bIns="0" rtlCol="0" anchor="ctr"/>
          <a:lstStyle/>
          <a:p>
            <a:pPr indent="0" marL="0">
              <a:buNone/>
            </a:pPr>
            <a:r>
              <a:rPr lang="en-US" sz="1050" dirty="0">
                <a:solidFill>
                  <a:srgbClr val="5D7186"/>
                </a:solidFill>
                <a:latin typeface="Calibri" pitchFamily="34" charset="0"/>
                <a:ea typeface="Calibri" pitchFamily="34" charset="-122"/>
                <a:cs typeface="Calibri" pitchFamily="34" charset="-120"/>
              </a:rPr>
              <a:t>Evidence</a:t>
            </a:r>
            <a:endParaRPr lang="en-US" sz="1050" dirty="0"/>
          </a:p>
        </p:txBody>
      </p:sp>
      <p:sp>
        <p:nvSpPr>
          <p:cNvPr id="33" name="Text 31"/>
          <p:cNvSpPr/>
          <p:nvPr/>
        </p:nvSpPr>
        <p:spPr>
          <a:xfrm>
            <a:off x="4681728" y="4014216"/>
            <a:ext cx="5120640" cy="512064"/>
          </a:xfrm>
          <a:prstGeom prst="rect">
            <a:avLst/>
          </a:prstGeom>
          <a:noFill/>
          <a:ln/>
        </p:spPr>
        <p:txBody>
          <a:bodyPr wrap="square" lIns="0" tIns="0" rIns="0" bIns="0" rtlCol="0" anchor="ctr"/>
          <a:lstStyle/>
          <a:p>
            <a:pPr indent="0" marL="0">
              <a:buNone/>
            </a:pPr>
            <a:r>
              <a:rPr lang="en-US" sz="1150" dirty="0">
                <a:solidFill>
                  <a:srgbClr val="12202E"/>
                </a:solidFill>
                <a:latin typeface="Calibri" pitchFamily="34" charset="0"/>
                <a:ea typeface="Calibri" pitchFamily="34" charset="-122"/>
                <a:cs typeface="Calibri" pitchFamily="34" charset="-120"/>
              </a:rPr>
              <a:t>Compares CDC, ASEPSIS and Southampton</a:t>
            </a:r>
            <a:endParaRPr lang="en-US" sz="1150" dirty="0"/>
          </a:p>
        </p:txBody>
      </p:sp>
      <p:sp>
        <p:nvSpPr>
          <p:cNvPr id="34" name="Text 32"/>
          <p:cNvSpPr/>
          <p:nvPr/>
        </p:nvSpPr>
        <p:spPr>
          <a:xfrm>
            <a:off x="9893808" y="4014216"/>
            <a:ext cx="1554480" cy="512064"/>
          </a:xfrm>
          <a:prstGeom prst="rect">
            <a:avLst/>
          </a:prstGeom>
          <a:noFill/>
          <a:ln/>
        </p:spPr>
        <p:txBody>
          <a:bodyPr wrap="square" lIns="0" tIns="0" rIns="0" bIns="0" rtlCol="0" anchor="ctr"/>
          <a:lstStyle/>
          <a:p>
            <a:pPr algn="r" indent="0" marL="0">
              <a:buNone/>
            </a:pPr>
            <a:r>
              <a:rPr lang="en-US" sz="1000" i="1" dirty="0">
                <a:solidFill>
                  <a:srgbClr val="C0281C"/>
                </a:solidFill>
                <a:latin typeface="Calibri" pitchFamily="34" charset="0"/>
                <a:ea typeface="Calibri" pitchFamily="34" charset="-122"/>
                <a:cs typeface="Calibri" pitchFamily="34" charset="-120"/>
              </a:rPr>
              <a:t>Retrospective, n = 22</a:t>
            </a:r>
            <a:endParaRPr lang="en-US" sz="1000" dirty="0"/>
          </a:p>
        </p:txBody>
      </p:sp>
      <p:sp>
        <p:nvSpPr>
          <p:cNvPr id="35" name="Shape 33"/>
          <p:cNvSpPr/>
          <p:nvPr/>
        </p:nvSpPr>
        <p:spPr>
          <a:xfrm>
            <a:off x="566928" y="4791456"/>
            <a:ext cx="5440680" cy="1517904"/>
          </a:xfrm>
          <a:prstGeom prst="roundRect">
            <a:avLst>
              <a:gd name="adj" fmla="val 5422"/>
            </a:avLst>
          </a:prstGeom>
          <a:solidFill>
            <a:srgbClr val="12202E"/>
          </a:solidFill>
          <a:ln w="12700">
            <a:solidFill>
              <a:srgbClr val="12202E"/>
            </a:solidFill>
            <a:prstDash val="solid"/>
          </a:ln>
        </p:spPr>
      </p:sp>
      <p:sp>
        <p:nvSpPr>
          <p:cNvPr id="36" name="Text 34"/>
          <p:cNvSpPr/>
          <p:nvPr/>
        </p:nvSpPr>
        <p:spPr>
          <a:xfrm>
            <a:off x="822960" y="4937760"/>
            <a:ext cx="4937760" cy="25603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Why we discarded ASEPSIS — the best performer</a:t>
            </a:r>
            <a:endParaRPr lang="en-US" sz="1200" dirty="0"/>
          </a:p>
        </p:txBody>
      </p:sp>
      <p:sp>
        <p:nvSpPr>
          <p:cNvPr id="37" name="Text 35"/>
          <p:cNvSpPr/>
          <p:nvPr/>
        </p:nvSpPr>
        <p:spPr>
          <a:xfrm>
            <a:off x="822960" y="5230368"/>
            <a:ext cx="4937760" cy="960120"/>
          </a:xfrm>
          <a:prstGeom prst="rect">
            <a:avLst/>
          </a:prstGeom>
          <a:noFill/>
          <a:ln/>
        </p:spPr>
        <p:txBody>
          <a:bodyPr wrap="square" lIns="0" tIns="0" rIns="0" bIns="0" rtlCol="0" anchor="t"/>
          <a:lstStyle/>
          <a:p>
            <a:pPr indent="0" marL="0">
              <a:lnSpc>
                <a:spcPts val="1500"/>
              </a:lnSpc>
              <a:buNone/>
            </a:pPr>
            <a:r>
              <a:rPr lang="en-US" sz="1100" dirty="0">
                <a:solidFill>
                  <a:srgbClr val="C9D6E4"/>
                </a:solidFill>
                <a:latin typeface="Calibri" pitchFamily="34" charset="0"/>
                <a:ea typeface="Calibri" pitchFamily="34" charset="-122"/>
                <a:cs typeface="Calibri" pitchFamily="34" charset="-120"/>
              </a:rPr>
              <a:t>It needs antibiotic administration, drainage, debridement, inpatient days and culture results. None of that is obtainable by a patient at home. We chose the usable instrument over the statistically better one — and we say so.</a:t>
            </a:r>
            <a:endParaRPr lang="en-US" sz="1100" dirty="0"/>
          </a:p>
        </p:txBody>
      </p:sp>
      <p:sp>
        <p:nvSpPr>
          <p:cNvPr id="38" name="Shape 36"/>
          <p:cNvSpPr/>
          <p:nvPr/>
        </p:nvSpPr>
        <p:spPr>
          <a:xfrm>
            <a:off x="6190488" y="4791456"/>
            <a:ext cx="5440680" cy="1517904"/>
          </a:xfrm>
          <a:prstGeom prst="roundRect">
            <a:avLst>
              <a:gd name="adj" fmla="val 5422"/>
            </a:avLst>
          </a:prstGeom>
          <a:solidFill>
            <a:srgbClr val="FBE7E5"/>
          </a:solidFill>
          <a:ln w="12700">
            <a:solidFill>
              <a:srgbClr val="F0ACA6"/>
            </a:solidFill>
            <a:prstDash val="solid"/>
          </a:ln>
        </p:spPr>
      </p:sp>
      <p:sp>
        <p:nvSpPr>
          <p:cNvPr id="39" name="Text 37"/>
          <p:cNvSpPr/>
          <p:nvPr/>
        </p:nvSpPr>
        <p:spPr>
          <a:xfrm>
            <a:off x="6446520" y="4937760"/>
            <a:ext cx="4937760" cy="256032"/>
          </a:xfrm>
          <a:prstGeom prst="rect">
            <a:avLst/>
          </a:prstGeom>
          <a:noFill/>
          <a:ln/>
        </p:spPr>
        <p:txBody>
          <a:bodyPr wrap="square" lIns="0" tIns="0" rIns="0" bIns="0" rtlCol="0" anchor="ctr"/>
          <a:lstStyle/>
          <a:p>
            <a:pPr indent="0" marL="0">
              <a:buNone/>
            </a:pPr>
            <a:r>
              <a:rPr lang="en-US" sz="1200" b="1" dirty="0">
                <a:solidFill>
                  <a:srgbClr val="C0281C"/>
                </a:solidFill>
                <a:latin typeface="Calibri" pitchFamily="34" charset="0"/>
                <a:ea typeface="Calibri" pitchFamily="34" charset="-122"/>
                <a:cs typeface="Calibri" pitchFamily="34" charset="-120"/>
              </a:rPr>
              <a:t>How good is our evidence? Not very — and that shapes the use</a:t>
            </a:r>
            <a:endParaRPr lang="en-US" sz="1200" dirty="0"/>
          </a:p>
        </p:txBody>
      </p:sp>
      <p:sp>
        <p:nvSpPr>
          <p:cNvPr id="40" name="Text 38"/>
          <p:cNvSpPr/>
          <p:nvPr/>
        </p:nvSpPr>
        <p:spPr>
          <a:xfrm>
            <a:off x="6446520" y="5230368"/>
            <a:ext cx="4937760" cy="960120"/>
          </a:xfrm>
          <a:prstGeom prst="rect">
            <a:avLst/>
          </a:prstGeom>
          <a:noFill/>
          <a:ln/>
        </p:spPr>
        <p:txBody>
          <a:bodyPr wrap="square" lIns="0" tIns="0" rIns="0" bIns="0" rtlCol="0" anchor="t"/>
          <a:lstStyle/>
          <a:p>
            <a:pPr indent="0" marL="0">
              <a:lnSpc>
                <a:spcPts val="1300"/>
              </a:lnSpc>
              <a:buNone/>
            </a:pPr>
            <a:r>
              <a:rPr lang="en-US" sz="1050" dirty="0">
                <a:solidFill>
                  <a:srgbClr val="12202E"/>
                </a:solidFill>
                <a:latin typeface="Calibri" pitchFamily="34" charset="0"/>
                <a:ea typeface="Calibri" pitchFamily="34" charset="-122"/>
                <a:cs typeface="Calibri" pitchFamily="34" charset="-120"/>
              </a:rPr>
              <a:t>Campwala et al.: n = 22, retrospective, single-centre, implant-based breast reconstruction — a population far from ours, and the endpoint is implant failure, not detection of infection. Southampton showed only limited predictive value there.</a:t>
            </a:r>
            <a:endParaRPr lang="en-US" sz="1050" dirty="0"/>
          </a:p>
          <a:p>
            <a:pPr indent="0" marL="0">
              <a:lnSpc>
                <a:spcPts val="1300"/>
              </a:lnSpc>
              <a:buNone/>
            </a:pPr>
            <a:endParaRPr lang="en-US" sz="1050" dirty="0"/>
          </a:p>
          <a:p>
            <a:pPr indent="0" marL="0">
              <a:lnSpc>
                <a:spcPts val="1300"/>
              </a:lnSpc>
              <a:buNone/>
            </a:pPr>
            <a:r>
              <a:rPr lang="en-US" sz="1050" dirty="0">
                <a:solidFill>
                  <a:srgbClr val="12202E"/>
                </a:solidFill>
                <a:latin typeface="Calibri" pitchFamily="34" charset="0"/>
                <a:ea typeface="Calibri" pitchFamily="34" charset="-122"/>
                <a:cs typeface="Calibri" pitchFamily="34" charset="-120"/>
              </a:rPr>
              <a:t>So we use it as a communication and triage grid, not as a prognostic instrument.</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indent="0" marL="0">
              <a:buNone/>
            </a:pPr>
            <a:r>
              <a:rPr lang="en-US" sz="1050" b="1" spc="160" kern="0" dirty="0">
                <a:solidFill>
                  <a:srgbClr val="5D7186"/>
                </a:solidFill>
                <a:latin typeface="Calibri" pitchFamily="34" charset="0"/>
                <a:ea typeface="Calibri" pitchFamily="34" charset="-122"/>
                <a:cs typeface="Calibri" pitchFamily="34" charset="-120"/>
              </a:rPr>
              <a:t>L1 → L2 · SOUTHAMPTON MAPPING</a:t>
            </a:r>
            <a:endParaRPr lang="en-US" sz="1050" dirty="0"/>
          </a:p>
        </p:txBody>
      </p:sp>
      <p:sp>
        <p:nvSpPr>
          <p:cNvPr id="3" name="Text 1"/>
          <p:cNvSpPr/>
          <p:nvPr/>
        </p:nvSpPr>
        <p:spPr>
          <a:xfrm>
            <a:off x="566928" y="640080"/>
            <a:ext cx="8412480" cy="658368"/>
          </a:xfrm>
          <a:prstGeom prst="rect">
            <a:avLst/>
          </a:prstGeom>
          <a:noFill/>
          <a:ln/>
        </p:spPr>
        <p:txBody>
          <a:bodyPr wrap="square" lIns="0" tIns="0" rIns="0" bIns="0" rtlCol="0" anchor="t"/>
          <a:lstStyle/>
          <a:p>
            <a:pPr indent="0" marL="0">
              <a:buNone/>
            </a:pPr>
            <a:r>
              <a:rPr lang="en-US" sz="2700" b="1" dirty="0">
                <a:solidFill>
                  <a:srgbClr val="12202E"/>
                </a:solidFill>
                <a:latin typeface="Cambria" pitchFamily="34" charset="0"/>
                <a:ea typeface="Cambria" pitchFamily="34" charset="-122"/>
                <a:cs typeface="Cambria" pitchFamily="34" charset="-120"/>
              </a:rPr>
              <a:t>Our image selection is a published grading, not a UI whim</a:t>
            </a:r>
            <a:endParaRPr lang="en-US" sz="2700" dirty="0"/>
          </a:p>
        </p:txBody>
      </p:sp>
      <p:sp>
        <p:nvSpPr>
          <p:cNvPr id="4" name="Shape 2"/>
          <p:cNvSpPr/>
          <p:nvPr/>
        </p:nvSpPr>
        <p:spPr>
          <a:xfrm>
            <a:off x="9290304" y="475488"/>
            <a:ext cx="475488" cy="274320"/>
          </a:xfrm>
          <a:prstGeom prst="roundRect">
            <a:avLst>
              <a:gd name="adj" fmla="val 46667"/>
            </a:avLst>
          </a:prstGeom>
          <a:solidFill>
            <a:srgbClr val="F5F7FA"/>
          </a:solidFill>
          <a:ln w="12700">
            <a:solidFill>
              <a:srgbClr val="DDE5EE"/>
            </a:solidFill>
            <a:prstDash val="solid"/>
          </a:ln>
        </p:spPr>
      </p:sp>
      <p:sp>
        <p:nvSpPr>
          <p:cNvPr id="5" name="Text 3"/>
          <p:cNvSpPr/>
          <p:nvPr/>
        </p:nvSpPr>
        <p:spPr>
          <a:xfrm>
            <a:off x="9290304" y="475488"/>
            <a:ext cx="475488" cy="274320"/>
          </a:xfrm>
          <a:prstGeom prst="rect">
            <a:avLst/>
          </a:prstGeom>
          <a:noFill/>
          <a:ln/>
        </p:spPr>
        <p:txBody>
          <a:bodyPr wrap="square" lIns="0" tIns="0" rIns="0" bIns="0" rtlCol="0" anchor="ctr"/>
          <a:lstStyle/>
          <a:p>
            <a:pPr algn="ctr" indent="0" marL="0">
              <a:buNone/>
            </a:pPr>
            <a:r>
              <a:rPr lang="en-US" sz="1050" b="1" dirty="0">
                <a:solidFill>
                  <a:srgbClr val="5D7186"/>
                </a:solidFill>
                <a:latin typeface="Calibri" pitchFamily="34" charset="0"/>
                <a:ea typeface="Calibri" pitchFamily="34" charset="-122"/>
                <a:cs typeface="Calibri" pitchFamily="34" charset="-120"/>
              </a:rPr>
              <a:t>L1</a:t>
            </a:r>
            <a:endParaRPr lang="en-US" sz="1050" dirty="0"/>
          </a:p>
        </p:txBody>
      </p:sp>
      <p:sp>
        <p:nvSpPr>
          <p:cNvPr id="6" name="Text 4"/>
          <p:cNvSpPr/>
          <p:nvPr/>
        </p:nvSpPr>
        <p:spPr>
          <a:xfrm>
            <a:off x="9765792" y="475488"/>
            <a:ext cx="146304" cy="274320"/>
          </a:xfrm>
          <a:prstGeom prst="rect">
            <a:avLst/>
          </a:prstGeom>
          <a:noFill/>
          <a:ln/>
        </p:spPr>
        <p:txBody>
          <a:bodyPr wrap="square" lIns="0" tIns="0" rIns="0" bIns="0" rtlCol="0" anchor="ctr"/>
          <a:lstStyle/>
          <a:p>
            <a:pPr algn="ctr" indent="0" marL="0">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7" name="Shape 5"/>
          <p:cNvSpPr/>
          <p:nvPr/>
        </p:nvSpPr>
        <p:spPr>
          <a:xfrm>
            <a:off x="9912096" y="475488"/>
            <a:ext cx="475488" cy="274320"/>
          </a:xfrm>
          <a:prstGeom prst="roundRect">
            <a:avLst>
              <a:gd name="adj" fmla="val 46667"/>
            </a:avLst>
          </a:prstGeom>
          <a:solidFill>
            <a:srgbClr val="12202E"/>
          </a:solidFill>
          <a:ln w="12700">
            <a:solidFill>
              <a:srgbClr val="12202E"/>
            </a:solidFill>
            <a:prstDash val="solid"/>
          </a:ln>
        </p:spPr>
      </p:sp>
      <p:sp>
        <p:nvSpPr>
          <p:cNvPr id="8" name="Text 6"/>
          <p:cNvSpPr/>
          <p:nvPr/>
        </p:nvSpPr>
        <p:spPr>
          <a:xfrm>
            <a:off x="9912096" y="475488"/>
            <a:ext cx="475488"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L2</a:t>
            </a:r>
            <a:endParaRPr lang="en-US" sz="1050" dirty="0"/>
          </a:p>
        </p:txBody>
      </p:sp>
      <p:sp>
        <p:nvSpPr>
          <p:cNvPr id="9" name="Text 7"/>
          <p:cNvSpPr/>
          <p:nvPr/>
        </p:nvSpPr>
        <p:spPr>
          <a:xfrm>
            <a:off x="10387584" y="475488"/>
            <a:ext cx="146304" cy="274320"/>
          </a:xfrm>
          <a:prstGeom prst="rect">
            <a:avLst/>
          </a:prstGeom>
          <a:noFill/>
          <a:ln/>
        </p:spPr>
        <p:txBody>
          <a:bodyPr wrap="square" lIns="0" tIns="0" rIns="0" bIns="0" rtlCol="0" anchor="ctr"/>
          <a:lstStyle/>
          <a:p>
            <a:pPr algn="ctr" indent="0" marL="0">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10" name="Shape 8"/>
          <p:cNvSpPr/>
          <p:nvPr/>
        </p:nvSpPr>
        <p:spPr>
          <a:xfrm>
            <a:off x="10533888" y="475488"/>
            <a:ext cx="475488" cy="274320"/>
          </a:xfrm>
          <a:prstGeom prst="roundRect">
            <a:avLst>
              <a:gd name="adj" fmla="val 46667"/>
            </a:avLst>
          </a:prstGeom>
          <a:solidFill>
            <a:srgbClr val="F5F7FA"/>
          </a:solidFill>
          <a:ln w="12700">
            <a:solidFill>
              <a:srgbClr val="DDE5EE"/>
            </a:solidFill>
            <a:prstDash val="solid"/>
          </a:ln>
        </p:spPr>
      </p:sp>
      <p:sp>
        <p:nvSpPr>
          <p:cNvPr id="11" name="Text 9"/>
          <p:cNvSpPr/>
          <p:nvPr/>
        </p:nvSpPr>
        <p:spPr>
          <a:xfrm>
            <a:off x="10533888" y="475488"/>
            <a:ext cx="475488" cy="274320"/>
          </a:xfrm>
          <a:prstGeom prst="rect">
            <a:avLst/>
          </a:prstGeom>
          <a:noFill/>
          <a:ln/>
        </p:spPr>
        <p:txBody>
          <a:bodyPr wrap="square" lIns="0" tIns="0" rIns="0" bIns="0" rtlCol="0" anchor="ctr"/>
          <a:lstStyle/>
          <a:p>
            <a:pPr algn="ctr" indent="0" marL="0">
              <a:buNone/>
            </a:pPr>
            <a:r>
              <a:rPr lang="en-US" sz="1050" b="1" dirty="0">
                <a:solidFill>
                  <a:srgbClr val="5D7186"/>
                </a:solidFill>
                <a:latin typeface="Calibri" pitchFamily="34" charset="0"/>
                <a:ea typeface="Calibri" pitchFamily="34" charset="-122"/>
                <a:cs typeface="Calibri" pitchFamily="34" charset="-120"/>
              </a:rPr>
              <a:t>L3</a:t>
            </a:r>
            <a:endParaRPr lang="en-US" sz="1050" dirty="0"/>
          </a:p>
        </p:txBody>
      </p:sp>
      <p:sp>
        <p:nvSpPr>
          <p:cNvPr id="12" name="Text 10"/>
          <p:cNvSpPr/>
          <p:nvPr/>
        </p:nvSpPr>
        <p:spPr>
          <a:xfrm>
            <a:off x="11009376" y="475488"/>
            <a:ext cx="146304" cy="274320"/>
          </a:xfrm>
          <a:prstGeom prst="rect">
            <a:avLst/>
          </a:prstGeom>
          <a:noFill/>
          <a:ln/>
        </p:spPr>
        <p:txBody>
          <a:bodyPr wrap="square" lIns="0" tIns="0" rIns="0" bIns="0" rtlCol="0" anchor="ctr"/>
          <a:lstStyle/>
          <a:p>
            <a:pPr algn="ctr" indent="0" marL="0">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13" name="Shape 11"/>
          <p:cNvSpPr/>
          <p:nvPr/>
        </p:nvSpPr>
        <p:spPr>
          <a:xfrm>
            <a:off x="11155680" y="475488"/>
            <a:ext cx="475488" cy="274320"/>
          </a:xfrm>
          <a:prstGeom prst="roundRect">
            <a:avLst>
              <a:gd name="adj" fmla="val 46667"/>
            </a:avLst>
          </a:prstGeom>
          <a:solidFill>
            <a:srgbClr val="F5F7FA"/>
          </a:solidFill>
          <a:ln w="12700">
            <a:solidFill>
              <a:srgbClr val="DDE5EE"/>
            </a:solidFill>
            <a:prstDash val="solid"/>
          </a:ln>
        </p:spPr>
      </p:sp>
      <p:sp>
        <p:nvSpPr>
          <p:cNvPr id="14" name="Text 12"/>
          <p:cNvSpPr/>
          <p:nvPr/>
        </p:nvSpPr>
        <p:spPr>
          <a:xfrm>
            <a:off x="11155680" y="475488"/>
            <a:ext cx="475488" cy="274320"/>
          </a:xfrm>
          <a:prstGeom prst="rect">
            <a:avLst/>
          </a:prstGeom>
          <a:noFill/>
          <a:ln/>
        </p:spPr>
        <p:txBody>
          <a:bodyPr wrap="square" lIns="0" tIns="0" rIns="0" bIns="0" rtlCol="0" anchor="ctr"/>
          <a:lstStyle/>
          <a:p>
            <a:pPr algn="ctr" indent="0" marL="0">
              <a:buNone/>
            </a:pPr>
            <a:r>
              <a:rPr lang="en-US" sz="1050" b="1" dirty="0">
                <a:solidFill>
                  <a:srgbClr val="5D7186"/>
                </a:solidFill>
                <a:latin typeface="Calibri" pitchFamily="34" charset="0"/>
                <a:ea typeface="Calibri" pitchFamily="34" charset="-122"/>
                <a:cs typeface="Calibri" pitchFamily="34" charset="-120"/>
              </a:rPr>
              <a:t>L4</a:t>
            </a:r>
            <a:endParaRPr lang="en-US" sz="1050" dirty="0"/>
          </a:p>
        </p:txBody>
      </p:sp>
      <p:sp>
        <p:nvSpPr>
          <p:cNvPr id="15" name="Shape 13"/>
          <p:cNvSpPr/>
          <p:nvPr/>
        </p:nvSpPr>
        <p:spPr>
          <a:xfrm>
            <a:off x="566928" y="1645920"/>
            <a:ext cx="7772400" cy="566928"/>
          </a:xfrm>
          <a:prstGeom prst="roundRect">
            <a:avLst>
              <a:gd name="adj" fmla="val 14516"/>
            </a:avLst>
          </a:prstGeom>
          <a:solidFill>
            <a:srgbClr val="FFFFFF"/>
          </a:solidFill>
          <a:ln w="12700">
            <a:solidFill>
              <a:srgbClr val="DDE5EE"/>
            </a:solidFill>
            <a:prstDash val="solid"/>
          </a:ln>
        </p:spPr>
      </p:sp>
      <p:sp>
        <p:nvSpPr>
          <p:cNvPr id="16" name="Shape 14"/>
          <p:cNvSpPr/>
          <p:nvPr/>
        </p:nvSpPr>
        <p:spPr>
          <a:xfrm>
            <a:off x="713232" y="1773936"/>
            <a:ext cx="457200" cy="310896"/>
          </a:xfrm>
          <a:prstGeom prst="roundRect">
            <a:avLst>
              <a:gd name="adj" fmla="val 23529"/>
            </a:avLst>
          </a:prstGeom>
          <a:solidFill>
            <a:srgbClr val="E8F6EE"/>
          </a:solidFill>
          <a:ln w="12700">
            <a:solidFill>
              <a:srgbClr val="E8F6EE"/>
            </a:solidFill>
            <a:prstDash val="solid"/>
          </a:ln>
        </p:spPr>
      </p:sp>
      <p:sp>
        <p:nvSpPr>
          <p:cNvPr id="17" name="Text 15"/>
          <p:cNvSpPr/>
          <p:nvPr/>
        </p:nvSpPr>
        <p:spPr>
          <a:xfrm>
            <a:off x="713232" y="1773936"/>
            <a:ext cx="457200" cy="310896"/>
          </a:xfrm>
          <a:prstGeom prst="rect">
            <a:avLst/>
          </a:prstGeom>
          <a:noFill/>
          <a:ln/>
        </p:spPr>
        <p:txBody>
          <a:bodyPr wrap="square" lIns="0" tIns="0" rIns="0" bIns="0" rtlCol="0" anchor="ctr"/>
          <a:lstStyle/>
          <a:p>
            <a:pPr algn="ctr" indent="0" marL="0">
              <a:buNone/>
            </a:pPr>
            <a:r>
              <a:rPr lang="en-US" sz="1150" b="1" dirty="0">
                <a:solidFill>
                  <a:srgbClr val="1A7F4B"/>
                </a:solidFill>
                <a:latin typeface="Calibri" pitchFamily="34" charset="0"/>
                <a:ea typeface="Calibri" pitchFamily="34" charset="-122"/>
                <a:cs typeface="Calibri" pitchFamily="34" charset="-120"/>
              </a:rPr>
              <a:t>0</a:t>
            </a:r>
            <a:endParaRPr lang="en-US" sz="1150" dirty="0"/>
          </a:p>
        </p:txBody>
      </p:sp>
      <p:sp>
        <p:nvSpPr>
          <p:cNvPr id="18" name="Text 16"/>
          <p:cNvSpPr/>
          <p:nvPr/>
        </p:nvSpPr>
        <p:spPr>
          <a:xfrm>
            <a:off x="1298448" y="1645920"/>
            <a:ext cx="4114800" cy="566928"/>
          </a:xfrm>
          <a:prstGeom prst="rect">
            <a:avLst/>
          </a:prstGeom>
          <a:noFill/>
          <a:ln/>
        </p:spPr>
        <p:txBody>
          <a:bodyPr wrap="square" lIns="0" tIns="0" rIns="0" bIns="0" rtlCol="0" anchor="ctr"/>
          <a:lstStyle/>
          <a:p>
            <a:pPr indent="0" marL="0">
              <a:buNone/>
            </a:pPr>
            <a:r>
              <a:rPr lang="en-US" sz="1150" dirty="0">
                <a:solidFill>
                  <a:srgbClr val="12202E"/>
                </a:solidFill>
                <a:latin typeface="Calibri" pitchFamily="34" charset="0"/>
                <a:ea typeface="Calibri" pitchFamily="34" charset="-122"/>
                <a:cs typeface="Calibri" pitchFamily="34" charset="-120"/>
              </a:rPr>
              <a:t>Normal healing</a:t>
            </a:r>
            <a:endParaRPr lang="en-US" sz="1150" dirty="0"/>
          </a:p>
        </p:txBody>
      </p:sp>
      <p:sp>
        <p:nvSpPr>
          <p:cNvPr id="19" name="Text 17"/>
          <p:cNvSpPr/>
          <p:nvPr/>
        </p:nvSpPr>
        <p:spPr>
          <a:xfrm>
            <a:off x="5504688" y="1645920"/>
            <a:ext cx="2743200" cy="566928"/>
          </a:xfrm>
          <a:prstGeom prst="rect">
            <a:avLst/>
          </a:prstGeom>
          <a:noFill/>
          <a:ln/>
        </p:spPr>
        <p:txBody>
          <a:bodyPr wrap="square" lIns="0" tIns="0" rIns="0" bIns="0" rtlCol="0" anchor="ctr"/>
          <a:lstStyle/>
          <a:p>
            <a:pPr indent="0" marL="0">
              <a:buNone/>
            </a:pPr>
            <a:r>
              <a:rPr lang="en-US" sz="1100" dirty="0">
                <a:solidFill>
                  <a:srgbClr val="5D7186"/>
                </a:solidFill>
                <a:latin typeface="Calibri" pitchFamily="34" charset="0"/>
                <a:ea typeface="Calibri" pitchFamily="34" charset="-122"/>
                <a:cs typeface="Calibri" pitchFamily="34" charset="-120"/>
              </a:rPr>
              <a:t>→  Calm &amp; dry</a:t>
            </a:r>
            <a:endParaRPr lang="en-US" sz="1100" dirty="0"/>
          </a:p>
        </p:txBody>
      </p:sp>
      <p:sp>
        <p:nvSpPr>
          <p:cNvPr id="20" name="Shape 18"/>
          <p:cNvSpPr/>
          <p:nvPr/>
        </p:nvSpPr>
        <p:spPr>
          <a:xfrm>
            <a:off x="566928" y="2322576"/>
            <a:ext cx="7772400" cy="566928"/>
          </a:xfrm>
          <a:prstGeom prst="roundRect">
            <a:avLst>
              <a:gd name="adj" fmla="val 14516"/>
            </a:avLst>
          </a:prstGeom>
          <a:solidFill>
            <a:srgbClr val="F5F7FA"/>
          </a:solidFill>
          <a:ln w="12700">
            <a:solidFill>
              <a:srgbClr val="DDE5EE"/>
            </a:solidFill>
            <a:prstDash val="solid"/>
          </a:ln>
        </p:spPr>
      </p:sp>
      <p:sp>
        <p:nvSpPr>
          <p:cNvPr id="21" name="Shape 19"/>
          <p:cNvSpPr/>
          <p:nvPr/>
        </p:nvSpPr>
        <p:spPr>
          <a:xfrm>
            <a:off x="713232" y="2450592"/>
            <a:ext cx="457200" cy="310896"/>
          </a:xfrm>
          <a:prstGeom prst="roundRect">
            <a:avLst>
              <a:gd name="adj" fmla="val 23529"/>
            </a:avLst>
          </a:prstGeom>
          <a:solidFill>
            <a:srgbClr val="E8F6EE"/>
          </a:solidFill>
          <a:ln w="12700">
            <a:solidFill>
              <a:srgbClr val="E8F6EE"/>
            </a:solidFill>
            <a:prstDash val="solid"/>
          </a:ln>
        </p:spPr>
      </p:sp>
      <p:sp>
        <p:nvSpPr>
          <p:cNvPr id="22" name="Text 20"/>
          <p:cNvSpPr/>
          <p:nvPr/>
        </p:nvSpPr>
        <p:spPr>
          <a:xfrm>
            <a:off x="713232" y="2450592"/>
            <a:ext cx="457200" cy="310896"/>
          </a:xfrm>
          <a:prstGeom prst="rect">
            <a:avLst/>
          </a:prstGeom>
          <a:noFill/>
          <a:ln/>
        </p:spPr>
        <p:txBody>
          <a:bodyPr wrap="square" lIns="0" tIns="0" rIns="0" bIns="0" rtlCol="0" anchor="ctr"/>
          <a:lstStyle/>
          <a:p>
            <a:pPr algn="ctr" indent="0" marL="0">
              <a:buNone/>
            </a:pPr>
            <a:r>
              <a:rPr lang="en-US" sz="1150" b="1" dirty="0">
                <a:solidFill>
                  <a:srgbClr val="1A7F4B"/>
                </a:solidFill>
                <a:latin typeface="Calibri" pitchFamily="34" charset="0"/>
                <a:ea typeface="Calibri" pitchFamily="34" charset="-122"/>
                <a:cs typeface="Calibri" pitchFamily="34" charset="-120"/>
              </a:rPr>
              <a:t>I</a:t>
            </a:r>
            <a:endParaRPr lang="en-US" sz="1150" dirty="0"/>
          </a:p>
        </p:txBody>
      </p:sp>
      <p:sp>
        <p:nvSpPr>
          <p:cNvPr id="23" name="Text 21"/>
          <p:cNvSpPr/>
          <p:nvPr/>
        </p:nvSpPr>
        <p:spPr>
          <a:xfrm>
            <a:off x="1298448" y="2322576"/>
            <a:ext cx="4114800" cy="566928"/>
          </a:xfrm>
          <a:prstGeom prst="rect">
            <a:avLst/>
          </a:prstGeom>
          <a:noFill/>
          <a:ln/>
        </p:spPr>
        <p:txBody>
          <a:bodyPr wrap="square" lIns="0" tIns="0" rIns="0" bIns="0" rtlCol="0" anchor="ctr"/>
          <a:lstStyle/>
          <a:p>
            <a:pPr indent="0" marL="0">
              <a:buNone/>
            </a:pPr>
            <a:r>
              <a:rPr lang="en-US" sz="1150" dirty="0">
                <a:solidFill>
                  <a:srgbClr val="12202E"/>
                </a:solidFill>
                <a:latin typeface="Calibri" pitchFamily="34" charset="0"/>
                <a:ea typeface="Calibri" pitchFamily="34" charset="-122"/>
                <a:cs typeface="Calibri" pitchFamily="34" charset="-120"/>
              </a:rPr>
              <a:t>Mild bruising and/or erythema</a:t>
            </a:r>
            <a:endParaRPr lang="en-US" sz="1150" dirty="0"/>
          </a:p>
        </p:txBody>
      </p:sp>
      <p:sp>
        <p:nvSpPr>
          <p:cNvPr id="24" name="Text 22"/>
          <p:cNvSpPr/>
          <p:nvPr/>
        </p:nvSpPr>
        <p:spPr>
          <a:xfrm>
            <a:off x="5504688" y="2322576"/>
            <a:ext cx="2743200" cy="566928"/>
          </a:xfrm>
          <a:prstGeom prst="rect">
            <a:avLst/>
          </a:prstGeom>
          <a:noFill/>
          <a:ln/>
        </p:spPr>
        <p:txBody>
          <a:bodyPr wrap="square" lIns="0" tIns="0" rIns="0" bIns="0" rtlCol="0" anchor="ctr"/>
          <a:lstStyle/>
          <a:p>
            <a:pPr indent="0" marL="0">
              <a:buNone/>
            </a:pPr>
            <a:r>
              <a:rPr lang="en-US" sz="1100" dirty="0">
                <a:solidFill>
                  <a:srgbClr val="5D7186"/>
                </a:solidFill>
                <a:latin typeface="Calibri" pitchFamily="34" charset="0"/>
                <a:ea typeface="Calibri" pitchFamily="34" charset="-122"/>
                <a:cs typeface="Calibri" pitchFamily="34" charset="-120"/>
              </a:rPr>
              <a:t>→  Slightly reddened</a:t>
            </a:r>
            <a:endParaRPr lang="en-US" sz="1100" dirty="0"/>
          </a:p>
        </p:txBody>
      </p:sp>
      <p:sp>
        <p:nvSpPr>
          <p:cNvPr id="25" name="Shape 23"/>
          <p:cNvSpPr/>
          <p:nvPr/>
        </p:nvSpPr>
        <p:spPr>
          <a:xfrm>
            <a:off x="566928" y="2999232"/>
            <a:ext cx="7772400" cy="566928"/>
          </a:xfrm>
          <a:prstGeom prst="roundRect">
            <a:avLst>
              <a:gd name="adj" fmla="val 14516"/>
            </a:avLst>
          </a:prstGeom>
          <a:solidFill>
            <a:srgbClr val="FFFFFF"/>
          </a:solidFill>
          <a:ln w="12700">
            <a:solidFill>
              <a:srgbClr val="DDE5EE"/>
            </a:solidFill>
            <a:prstDash val="solid"/>
          </a:ln>
        </p:spPr>
      </p:sp>
      <p:sp>
        <p:nvSpPr>
          <p:cNvPr id="26" name="Shape 24"/>
          <p:cNvSpPr/>
          <p:nvPr/>
        </p:nvSpPr>
        <p:spPr>
          <a:xfrm>
            <a:off x="713232" y="3127248"/>
            <a:ext cx="457200" cy="310896"/>
          </a:xfrm>
          <a:prstGeom prst="roundRect">
            <a:avLst>
              <a:gd name="adj" fmla="val 23529"/>
            </a:avLst>
          </a:prstGeom>
          <a:solidFill>
            <a:srgbClr val="FBF2DC"/>
          </a:solidFill>
          <a:ln w="12700">
            <a:solidFill>
              <a:srgbClr val="FBF2DC"/>
            </a:solidFill>
            <a:prstDash val="solid"/>
          </a:ln>
        </p:spPr>
      </p:sp>
      <p:sp>
        <p:nvSpPr>
          <p:cNvPr id="27" name="Text 25"/>
          <p:cNvSpPr/>
          <p:nvPr/>
        </p:nvSpPr>
        <p:spPr>
          <a:xfrm>
            <a:off x="713232" y="3127248"/>
            <a:ext cx="457200" cy="310896"/>
          </a:xfrm>
          <a:prstGeom prst="rect">
            <a:avLst/>
          </a:prstGeom>
          <a:noFill/>
          <a:ln/>
        </p:spPr>
        <p:txBody>
          <a:bodyPr wrap="square" lIns="0" tIns="0" rIns="0" bIns="0" rtlCol="0" anchor="ctr"/>
          <a:lstStyle/>
          <a:p>
            <a:pPr algn="ctr" indent="0" marL="0">
              <a:buNone/>
            </a:pPr>
            <a:r>
              <a:rPr lang="en-US" sz="1150" b="1" dirty="0">
                <a:solidFill>
                  <a:srgbClr val="9C6D00"/>
                </a:solidFill>
                <a:latin typeface="Calibri" pitchFamily="34" charset="0"/>
                <a:ea typeface="Calibri" pitchFamily="34" charset="-122"/>
                <a:cs typeface="Calibri" pitchFamily="34" charset="-120"/>
              </a:rPr>
              <a:t>II</a:t>
            </a:r>
            <a:endParaRPr lang="en-US" sz="1150" dirty="0"/>
          </a:p>
        </p:txBody>
      </p:sp>
      <p:sp>
        <p:nvSpPr>
          <p:cNvPr id="28" name="Text 26"/>
          <p:cNvSpPr/>
          <p:nvPr/>
        </p:nvSpPr>
        <p:spPr>
          <a:xfrm>
            <a:off x="1298448" y="2999232"/>
            <a:ext cx="4114800" cy="566928"/>
          </a:xfrm>
          <a:prstGeom prst="rect">
            <a:avLst/>
          </a:prstGeom>
          <a:noFill/>
          <a:ln/>
        </p:spPr>
        <p:txBody>
          <a:bodyPr wrap="square" lIns="0" tIns="0" rIns="0" bIns="0" rtlCol="0" anchor="ctr"/>
          <a:lstStyle/>
          <a:p>
            <a:pPr indent="0" marL="0">
              <a:buNone/>
            </a:pPr>
            <a:r>
              <a:rPr lang="en-US" sz="1150" dirty="0">
                <a:solidFill>
                  <a:srgbClr val="12202E"/>
                </a:solidFill>
                <a:latin typeface="Calibri" pitchFamily="34" charset="0"/>
                <a:ea typeface="Calibri" pitchFamily="34" charset="-122"/>
                <a:cs typeface="Calibri" pitchFamily="34" charset="-120"/>
              </a:rPr>
              <a:t>Erythema plus other signs of inflammation</a:t>
            </a:r>
            <a:endParaRPr lang="en-US" sz="1150" dirty="0"/>
          </a:p>
        </p:txBody>
      </p:sp>
      <p:sp>
        <p:nvSpPr>
          <p:cNvPr id="29" name="Text 27"/>
          <p:cNvSpPr/>
          <p:nvPr/>
        </p:nvSpPr>
        <p:spPr>
          <a:xfrm>
            <a:off x="5504688" y="2999232"/>
            <a:ext cx="2743200" cy="566928"/>
          </a:xfrm>
          <a:prstGeom prst="rect">
            <a:avLst/>
          </a:prstGeom>
          <a:noFill/>
          <a:ln/>
        </p:spPr>
        <p:txBody>
          <a:bodyPr wrap="square" lIns="0" tIns="0" rIns="0" bIns="0" rtlCol="0" anchor="ctr"/>
          <a:lstStyle/>
          <a:p>
            <a:pPr indent="0" marL="0">
              <a:buNone/>
            </a:pPr>
            <a:r>
              <a:rPr lang="en-US" sz="1100" dirty="0">
                <a:solidFill>
                  <a:srgbClr val="5D7186"/>
                </a:solidFill>
                <a:latin typeface="Calibri" pitchFamily="34" charset="0"/>
                <a:ea typeface="Calibri" pitchFamily="34" charset="-122"/>
                <a:cs typeface="Calibri" pitchFamily="34" charset="-120"/>
              </a:rPr>
              <a:t>→  Markedly reddened &amp; swollen</a:t>
            </a:r>
            <a:endParaRPr lang="en-US" sz="1100" dirty="0"/>
          </a:p>
        </p:txBody>
      </p:sp>
      <p:sp>
        <p:nvSpPr>
          <p:cNvPr id="30" name="Shape 28"/>
          <p:cNvSpPr/>
          <p:nvPr/>
        </p:nvSpPr>
        <p:spPr>
          <a:xfrm>
            <a:off x="566928" y="3675888"/>
            <a:ext cx="7772400" cy="566928"/>
          </a:xfrm>
          <a:prstGeom prst="roundRect">
            <a:avLst>
              <a:gd name="adj" fmla="val 14516"/>
            </a:avLst>
          </a:prstGeom>
          <a:solidFill>
            <a:srgbClr val="F5F7FA"/>
          </a:solidFill>
          <a:ln w="12700">
            <a:solidFill>
              <a:srgbClr val="DDE5EE"/>
            </a:solidFill>
            <a:prstDash val="solid"/>
          </a:ln>
        </p:spPr>
      </p:sp>
      <p:sp>
        <p:nvSpPr>
          <p:cNvPr id="31" name="Shape 29"/>
          <p:cNvSpPr/>
          <p:nvPr/>
        </p:nvSpPr>
        <p:spPr>
          <a:xfrm>
            <a:off x="713232" y="3803904"/>
            <a:ext cx="457200" cy="310896"/>
          </a:xfrm>
          <a:prstGeom prst="roundRect">
            <a:avLst>
              <a:gd name="adj" fmla="val 23529"/>
            </a:avLst>
          </a:prstGeom>
          <a:solidFill>
            <a:srgbClr val="FCEADB"/>
          </a:solidFill>
          <a:ln w="12700">
            <a:solidFill>
              <a:srgbClr val="FCEADB"/>
            </a:solidFill>
            <a:prstDash val="solid"/>
          </a:ln>
        </p:spPr>
      </p:sp>
      <p:sp>
        <p:nvSpPr>
          <p:cNvPr id="32" name="Text 30"/>
          <p:cNvSpPr/>
          <p:nvPr/>
        </p:nvSpPr>
        <p:spPr>
          <a:xfrm>
            <a:off x="713232" y="3803904"/>
            <a:ext cx="457200" cy="310896"/>
          </a:xfrm>
          <a:prstGeom prst="rect">
            <a:avLst/>
          </a:prstGeom>
          <a:noFill/>
          <a:ln/>
        </p:spPr>
        <p:txBody>
          <a:bodyPr wrap="square" lIns="0" tIns="0" rIns="0" bIns="0" rtlCol="0" anchor="ctr"/>
          <a:lstStyle/>
          <a:p>
            <a:pPr algn="ctr" indent="0" marL="0">
              <a:buNone/>
            </a:pPr>
            <a:r>
              <a:rPr lang="en-US" sz="1150" b="1" dirty="0">
                <a:solidFill>
                  <a:srgbClr val="C25C07"/>
                </a:solidFill>
                <a:latin typeface="Calibri" pitchFamily="34" charset="0"/>
                <a:ea typeface="Calibri" pitchFamily="34" charset="-122"/>
                <a:cs typeface="Calibri" pitchFamily="34" charset="-120"/>
              </a:rPr>
              <a:t>III</a:t>
            </a:r>
            <a:endParaRPr lang="en-US" sz="1150" dirty="0"/>
          </a:p>
        </p:txBody>
      </p:sp>
      <p:sp>
        <p:nvSpPr>
          <p:cNvPr id="33" name="Text 31"/>
          <p:cNvSpPr/>
          <p:nvPr/>
        </p:nvSpPr>
        <p:spPr>
          <a:xfrm>
            <a:off x="1298448" y="3675888"/>
            <a:ext cx="4114800" cy="566928"/>
          </a:xfrm>
          <a:prstGeom prst="rect">
            <a:avLst/>
          </a:prstGeom>
          <a:noFill/>
          <a:ln/>
        </p:spPr>
        <p:txBody>
          <a:bodyPr wrap="square" lIns="0" tIns="0" rIns="0" bIns="0" rtlCol="0" anchor="ctr"/>
          <a:lstStyle/>
          <a:p>
            <a:pPr indent="0" marL="0">
              <a:buNone/>
            </a:pPr>
            <a:r>
              <a:rPr lang="en-US" sz="1150" dirty="0">
                <a:solidFill>
                  <a:srgbClr val="12202E"/>
                </a:solidFill>
                <a:latin typeface="Calibri" pitchFamily="34" charset="0"/>
                <a:ea typeface="Calibri" pitchFamily="34" charset="-122"/>
                <a:cs typeface="Calibri" pitchFamily="34" charset="-120"/>
              </a:rPr>
              <a:t>Clear / serous / bloody discharge</a:t>
            </a:r>
            <a:endParaRPr lang="en-US" sz="1150" dirty="0"/>
          </a:p>
        </p:txBody>
      </p:sp>
      <p:sp>
        <p:nvSpPr>
          <p:cNvPr id="34" name="Text 32"/>
          <p:cNvSpPr/>
          <p:nvPr/>
        </p:nvSpPr>
        <p:spPr>
          <a:xfrm>
            <a:off x="5504688" y="3675888"/>
            <a:ext cx="2743200" cy="566928"/>
          </a:xfrm>
          <a:prstGeom prst="rect">
            <a:avLst/>
          </a:prstGeom>
          <a:noFill/>
          <a:ln/>
        </p:spPr>
        <p:txBody>
          <a:bodyPr wrap="square" lIns="0" tIns="0" rIns="0" bIns="0" rtlCol="0" anchor="ctr"/>
          <a:lstStyle/>
          <a:p>
            <a:pPr indent="0" marL="0">
              <a:buNone/>
            </a:pPr>
            <a:r>
              <a:rPr lang="en-US" sz="1100" dirty="0">
                <a:solidFill>
                  <a:srgbClr val="5D7186"/>
                </a:solidFill>
                <a:latin typeface="Calibri" pitchFamily="34" charset="0"/>
                <a:ea typeface="Calibri" pitchFamily="34" charset="-122"/>
                <a:cs typeface="Calibri" pitchFamily="34" charset="-120"/>
              </a:rPr>
              <a:t>→  Clear or bloody discharge</a:t>
            </a:r>
            <a:endParaRPr lang="en-US" sz="1100" dirty="0"/>
          </a:p>
        </p:txBody>
      </p:sp>
      <p:sp>
        <p:nvSpPr>
          <p:cNvPr id="35" name="Shape 33"/>
          <p:cNvSpPr/>
          <p:nvPr/>
        </p:nvSpPr>
        <p:spPr>
          <a:xfrm>
            <a:off x="566928" y="4352544"/>
            <a:ext cx="7772400" cy="566928"/>
          </a:xfrm>
          <a:prstGeom prst="roundRect">
            <a:avLst>
              <a:gd name="adj" fmla="val 14516"/>
            </a:avLst>
          </a:prstGeom>
          <a:solidFill>
            <a:srgbClr val="FFFFFF"/>
          </a:solidFill>
          <a:ln w="12700">
            <a:solidFill>
              <a:srgbClr val="DDE5EE"/>
            </a:solidFill>
            <a:prstDash val="solid"/>
          </a:ln>
        </p:spPr>
      </p:sp>
      <p:sp>
        <p:nvSpPr>
          <p:cNvPr id="36" name="Shape 34"/>
          <p:cNvSpPr/>
          <p:nvPr/>
        </p:nvSpPr>
        <p:spPr>
          <a:xfrm>
            <a:off x="713232" y="4480560"/>
            <a:ext cx="457200" cy="310896"/>
          </a:xfrm>
          <a:prstGeom prst="roundRect">
            <a:avLst>
              <a:gd name="adj" fmla="val 23529"/>
            </a:avLst>
          </a:prstGeom>
          <a:solidFill>
            <a:srgbClr val="FCEADB"/>
          </a:solidFill>
          <a:ln w="12700">
            <a:solidFill>
              <a:srgbClr val="FCEADB"/>
            </a:solidFill>
            <a:prstDash val="solid"/>
          </a:ln>
        </p:spPr>
      </p:sp>
      <p:sp>
        <p:nvSpPr>
          <p:cNvPr id="37" name="Text 35"/>
          <p:cNvSpPr/>
          <p:nvPr/>
        </p:nvSpPr>
        <p:spPr>
          <a:xfrm>
            <a:off x="713232" y="4480560"/>
            <a:ext cx="457200" cy="310896"/>
          </a:xfrm>
          <a:prstGeom prst="rect">
            <a:avLst/>
          </a:prstGeom>
          <a:noFill/>
          <a:ln/>
        </p:spPr>
        <p:txBody>
          <a:bodyPr wrap="square" lIns="0" tIns="0" rIns="0" bIns="0" rtlCol="0" anchor="ctr"/>
          <a:lstStyle/>
          <a:p>
            <a:pPr algn="ctr" indent="0" marL="0">
              <a:buNone/>
            </a:pPr>
            <a:r>
              <a:rPr lang="en-US" sz="1150" b="1" dirty="0">
                <a:solidFill>
                  <a:srgbClr val="C25C07"/>
                </a:solidFill>
                <a:latin typeface="Calibri" pitchFamily="34" charset="0"/>
                <a:ea typeface="Calibri" pitchFamily="34" charset="-122"/>
                <a:cs typeface="Calibri" pitchFamily="34" charset="-120"/>
              </a:rPr>
              <a:t>IV</a:t>
            </a:r>
            <a:endParaRPr lang="en-US" sz="1150" dirty="0"/>
          </a:p>
        </p:txBody>
      </p:sp>
      <p:sp>
        <p:nvSpPr>
          <p:cNvPr id="38" name="Text 36"/>
          <p:cNvSpPr/>
          <p:nvPr/>
        </p:nvSpPr>
        <p:spPr>
          <a:xfrm>
            <a:off x="1298448" y="4352544"/>
            <a:ext cx="4114800" cy="566928"/>
          </a:xfrm>
          <a:prstGeom prst="rect">
            <a:avLst/>
          </a:prstGeom>
          <a:noFill/>
          <a:ln/>
        </p:spPr>
        <p:txBody>
          <a:bodyPr wrap="square" lIns="0" tIns="0" rIns="0" bIns="0" rtlCol="0" anchor="ctr"/>
          <a:lstStyle/>
          <a:p>
            <a:pPr indent="0" marL="0">
              <a:buNone/>
            </a:pPr>
            <a:r>
              <a:rPr lang="en-US" sz="1150" dirty="0">
                <a:solidFill>
                  <a:srgbClr val="12202E"/>
                </a:solidFill>
                <a:latin typeface="Calibri" pitchFamily="34" charset="0"/>
                <a:ea typeface="Calibri" pitchFamily="34" charset="-122"/>
                <a:cs typeface="Calibri" pitchFamily="34" charset="-120"/>
              </a:rPr>
              <a:t>Pus</a:t>
            </a:r>
            <a:endParaRPr lang="en-US" sz="1150" dirty="0"/>
          </a:p>
        </p:txBody>
      </p:sp>
      <p:sp>
        <p:nvSpPr>
          <p:cNvPr id="39" name="Text 37"/>
          <p:cNvSpPr/>
          <p:nvPr/>
        </p:nvSpPr>
        <p:spPr>
          <a:xfrm>
            <a:off x="5504688" y="4352544"/>
            <a:ext cx="2743200" cy="566928"/>
          </a:xfrm>
          <a:prstGeom prst="rect">
            <a:avLst/>
          </a:prstGeom>
          <a:noFill/>
          <a:ln/>
        </p:spPr>
        <p:txBody>
          <a:bodyPr wrap="square" lIns="0" tIns="0" rIns="0" bIns="0" rtlCol="0" anchor="ctr"/>
          <a:lstStyle/>
          <a:p>
            <a:pPr indent="0" marL="0">
              <a:buNone/>
            </a:pPr>
            <a:r>
              <a:rPr lang="en-US" sz="1100" dirty="0">
                <a:solidFill>
                  <a:srgbClr val="5D7186"/>
                </a:solidFill>
                <a:latin typeface="Calibri" pitchFamily="34" charset="0"/>
                <a:ea typeface="Calibri" pitchFamily="34" charset="-122"/>
                <a:cs typeface="Calibri" pitchFamily="34" charset="-120"/>
              </a:rPr>
              <a:t>→  Cloudy / purulent discharge</a:t>
            </a:r>
            <a:endParaRPr lang="en-US" sz="1100" dirty="0"/>
          </a:p>
        </p:txBody>
      </p:sp>
      <p:sp>
        <p:nvSpPr>
          <p:cNvPr id="40" name="Shape 38"/>
          <p:cNvSpPr/>
          <p:nvPr/>
        </p:nvSpPr>
        <p:spPr>
          <a:xfrm>
            <a:off x="566928" y="5029200"/>
            <a:ext cx="7772400" cy="566928"/>
          </a:xfrm>
          <a:prstGeom prst="roundRect">
            <a:avLst>
              <a:gd name="adj" fmla="val 14516"/>
            </a:avLst>
          </a:prstGeom>
          <a:solidFill>
            <a:srgbClr val="F5F7FA"/>
          </a:solidFill>
          <a:ln w="12700">
            <a:solidFill>
              <a:srgbClr val="DDE5EE"/>
            </a:solidFill>
            <a:prstDash val="solid"/>
          </a:ln>
        </p:spPr>
      </p:sp>
      <p:sp>
        <p:nvSpPr>
          <p:cNvPr id="41" name="Shape 39"/>
          <p:cNvSpPr/>
          <p:nvPr/>
        </p:nvSpPr>
        <p:spPr>
          <a:xfrm>
            <a:off x="713232" y="5157216"/>
            <a:ext cx="457200" cy="310896"/>
          </a:xfrm>
          <a:prstGeom prst="roundRect">
            <a:avLst>
              <a:gd name="adj" fmla="val 23529"/>
            </a:avLst>
          </a:prstGeom>
          <a:solidFill>
            <a:srgbClr val="FBE7E5"/>
          </a:solidFill>
          <a:ln w="12700">
            <a:solidFill>
              <a:srgbClr val="FBE7E5"/>
            </a:solidFill>
            <a:prstDash val="solid"/>
          </a:ln>
        </p:spPr>
      </p:sp>
      <p:sp>
        <p:nvSpPr>
          <p:cNvPr id="42" name="Text 40"/>
          <p:cNvSpPr/>
          <p:nvPr/>
        </p:nvSpPr>
        <p:spPr>
          <a:xfrm>
            <a:off x="713232" y="5157216"/>
            <a:ext cx="457200" cy="310896"/>
          </a:xfrm>
          <a:prstGeom prst="rect">
            <a:avLst/>
          </a:prstGeom>
          <a:noFill/>
          <a:ln/>
        </p:spPr>
        <p:txBody>
          <a:bodyPr wrap="square" lIns="0" tIns="0" rIns="0" bIns="0" rtlCol="0" anchor="ctr"/>
          <a:lstStyle/>
          <a:p>
            <a:pPr algn="ctr" indent="0" marL="0">
              <a:buNone/>
            </a:pPr>
            <a:r>
              <a:rPr lang="en-US" sz="1150" b="1" dirty="0">
                <a:solidFill>
                  <a:srgbClr val="C0281C"/>
                </a:solidFill>
                <a:latin typeface="Calibri" pitchFamily="34" charset="0"/>
                <a:ea typeface="Calibri" pitchFamily="34" charset="-122"/>
                <a:cs typeface="Calibri" pitchFamily="34" charset="-120"/>
              </a:rPr>
              <a:t>V</a:t>
            </a:r>
            <a:endParaRPr lang="en-US" sz="1150" dirty="0"/>
          </a:p>
        </p:txBody>
      </p:sp>
      <p:sp>
        <p:nvSpPr>
          <p:cNvPr id="43" name="Text 41"/>
          <p:cNvSpPr/>
          <p:nvPr/>
        </p:nvSpPr>
        <p:spPr>
          <a:xfrm>
            <a:off x="1298448" y="5029200"/>
            <a:ext cx="4114800" cy="566928"/>
          </a:xfrm>
          <a:prstGeom prst="rect">
            <a:avLst/>
          </a:prstGeom>
          <a:noFill/>
          <a:ln/>
        </p:spPr>
        <p:txBody>
          <a:bodyPr wrap="square" lIns="0" tIns="0" rIns="0" bIns="0" rtlCol="0" anchor="ctr"/>
          <a:lstStyle/>
          <a:p>
            <a:pPr indent="0" marL="0">
              <a:buNone/>
            </a:pPr>
            <a:r>
              <a:rPr lang="en-US" sz="1150" dirty="0">
                <a:solidFill>
                  <a:srgbClr val="12202E"/>
                </a:solidFill>
                <a:latin typeface="Calibri" pitchFamily="34" charset="0"/>
                <a:ea typeface="Calibri" pitchFamily="34" charset="-122"/>
                <a:cs typeface="Calibri" pitchFamily="34" charset="-120"/>
              </a:rPr>
              <a:t>Deep infection ± tissue breakdown</a:t>
            </a:r>
            <a:endParaRPr lang="en-US" sz="1150" dirty="0"/>
          </a:p>
        </p:txBody>
      </p:sp>
      <p:sp>
        <p:nvSpPr>
          <p:cNvPr id="44" name="Text 42"/>
          <p:cNvSpPr/>
          <p:nvPr/>
        </p:nvSpPr>
        <p:spPr>
          <a:xfrm>
            <a:off x="5504688" y="5029200"/>
            <a:ext cx="2743200" cy="566928"/>
          </a:xfrm>
          <a:prstGeom prst="rect">
            <a:avLst/>
          </a:prstGeom>
          <a:noFill/>
          <a:ln/>
        </p:spPr>
        <p:txBody>
          <a:bodyPr wrap="square" lIns="0" tIns="0" rIns="0" bIns="0" rtlCol="0" anchor="ctr"/>
          <a:lstStyle/>
          <a:p>
            <a:pPr indent="0" marL="0">
              <a:buNone/>
            </a:pPr>
            <a:r>
              <a:rPr lang="en-US" sz="1100" dirty="0">
                <a:solidFill>
                  <a:srgbClr val="5D7186"/>
                </a:solidFill>
                <a:latin typeface="Calibri" pitchFamily="34" charset="0"/>
                <a:ea typeface="Calibri" pitchFamily="34" charset="-122"/>
                <a:cs typeface="Calibri" pitchFamily="34" charset="-120"/>
              </a:rPr>
              <a:t>→  Open / pus</a:t>
            </a:r>
            <a:endParaRPr lang="en-US" sz="1100" dirty="0"/>
          </a:p>
        </p:txBody>
      </p:sp>
      <p:sp>
        <p:nvSpPr>
          <p:cNvPr id="45" name="Shape 43"/>
          <p:cNvSpPr/>
          <p:nvPr/>
        </p:nvSpPr>
        <p:spPr>
          <a:xfrm>
            <a:off x="8613648" y="1645920"/>
            <a:ext cx="3017520" cy="2103120"/>
          </a:xfrm>
          <a:prstGeom prst="roundRect">
            <a:avLst>
              <a:gd name="adj" fmla="val 3913"/>
            </a:avLst>
          </a:prstGeom>
          <a:solidFill>
            <a:srgbClr val="FFFFFF"/>
          </a:solidFill>
          <a:ln w="12700">
            <a:solidFill>
              <a:srgbClr val="DDE5EE"/>
            </a:solidFill>
            <a:prstDash val="solid"/>
          </a:ln>
        </p:spPr>
      </p:sp>
      <p:sp>
        <p:nvSpPr>
          <p:cNvPr id="46" name="Text 44"/>
          <p:cNvSpPr/>
          <p:nvPr/>
        </p:nvSpPr>
        <p:spPr>
          <a:xfrm>
            <a:off x="8842248" y="1810512"/>
            <a:ext cx="2560320" cy="256032"/>
          </a:xfrm>
          <a:prstGeom prst="rect">
            <a:avLst/>
          </a:prstGeom>
          <a:noFill/>
          <a:ln/>
        </p:spPr>
        <p:txBody>
          <a:bodyPr wrap="square" lIns="0" tIns="0" rIns="0" bIns="0" rtlCol="0" anchor="ctr"/>
          <a:lstStyle/>
          <a:p>
            <a:pPr indent="0" marL="0">
              <a:buNone/>
            </a:pPr>
            <a:r>
              <a:rPr lang="en-US" sz="1200" b="1" dirty="0">
                <a:solidFill>
                  <a:srgbClr val="12202E"/>
                </a:solidFill>
                <a:latin typeface="Calibri" pitchFamily="34" charset="0"/>
                <a:ea typeface="Calibri" pitchFamily="34" charset="-122"/>
                <a:cs typeface="Calibri" pitchFamily="34" charset="-120"/>
              </a:rPr>
              <a:t>What this buys us</a:t>
            </a:r>
            <a:endParaRPr lang="en-US" sz="1200" dirty="0"/>
          </a:p>
        </p:txBody>
      </p:sp>
      <p:sp>
        <p:nvSpPr>
          <p:cNvPr id="47" name="Text 45"/>
          <p:cNvSpPr/>
          <p:nvPr/>
        </p:nvSpPr>
        <p:spPr>
          <a:xfrm>
            <a:off x="8842248" y="2103120"/>
            <a:ext cx="2560320" cy="1417320"/>
          </a:xfrm>
          <a:prstGeom prst="rect">
            <a:avLst/>
          </a:prstGeom>
          <a:noFill/>
          <a:ln/>
        </p:spPr>
        <p:txBody>
          <a:bodyPr wrap="square" lIns="0" tIns="0" rIns="0" bIns="0" rtlCol="0" anchor="t"/>
          <a:lstStyle/>
          <a:p>
            <a:pPr marL="177800" indent="-177800">
              <a:lnSpc>
                <a:spcPts val="1500"/>
              </a:lnSpc>
              <a:spcAft>
                <a:spcPts val="700"/>
              </a:spcAft>
              <a:buSzPct val="100000"/>
              <a:buChar char="•"/>
            </a:pPr>
            <a:r>
              <a:rPr lang="en-US" sz="1100" dirty="0">
                <a:solidFill>
                  <a:srgbClr val="5D7186"/>
                </a:solidFill>
                <a:latin typeface="Calibri" pitchFamily="34" charset="0"/>
                <a:ea typeface="Calibri" pitchFamily="34" charset="-122"/>
                <a:cs typeface="Calibri" pitchFamily="34" charset="-120"/>
              </a:rPr>
              <a:t>a citable source for our core interaction</a:t>
            </a:r>
            <a:endParaRPr lang="en-US" sz="1100" dirty="0"/>
          </a:p>
          <a:p>
            <a:pPr marL="177800" indent="-177800">
              <a:lnSpc>
                <a:spcPts val="1500"/>
              </a:lnSpc>
              <a:spcAft>
                <a:spcPts val="700"/>
              </a:spcAft>
              <a:buSzPct val="100000"/>
              <a:buChar char="•"/>
            </a:pPr>
            <a:r>
              <a:rPr lang="en-US" sz="1100" dirty="0">
                <a:solidFill>
                  <a:srgbClr val="5D7186"/>
                </a:solidFill>
                <a:latin typeface="Calibri" pitchFamily="34" charset="0"/>
                <a:ea typeface="Calibri" pitchFamily="34" charset="-122"/>
                <a:cs typeface="Calibri" pitchFamily="34" charset="-120"/>
              </a:rPr>
              <a:t>a non-trivial derived element</a:t>
            </a:r>
            <a:endParaRPr lang="en-US" sz="1100" dirty="0"/>
          </a:p>
          <a:p>
            <a:pPr marL="177800" indent="-177800">
              <a:lnSpc>
                <a:spcPts val="1500"/>
              </a:lnSpc>
              <a:spcAft>
                <a:spcPts val="700"/>
              </a:spcAft>
              <a:buSzPct val="100000"/>
              <a:buChar char="•"/>
            </a:pPr>
            <a:r>
              <a:rPr lang="en-US" sz="1100" dirty="0">
                <a:solidFill>
                  <a:srgbClr val="5D7186"/>
                </a:solidFill>
                <a:latin typeface="Calibri" pitchFamily="34" charset="0"/>
                <a:ea typeface="Calibri" pitchFamily="34" charset="-122"/>
                <a:cs typeface="Calibri" pitchFamily="34" charset="-120"/>
              </a:rPr>
              <a:t>an honest, evidenced limitation</a:t>
            </a:r>
            <a:endParaRPr lang="en-US" sz="1100" dirty="0"/>
          </a:p>
        </p:txBody>
      </p:sp>
      <p:sp>
        <p:nvSpPr>
          <p:cNvPr id="48" name="Shape 46"/>
          <p:cNvSpPr/>
          <p:nvPr/>
        </p:nvSpPr>
        <p:spPr>
          <a:xfrm>
            <a:off x="8613648" y="3931920"/>
            <a:ext cx="3017520" cy="1773936"/>
          </a:xfrm>
          <a:prstGeom prst="roundRect">
            <a:avLst>
              <a:gd name="adj" fmla="val 4639"/>
            </a:avLst>
          </a:prstGeom>
          <a:solidFill>
            <a:srgbClr val="FBE7E5"/>
          </a:solidFill>
          <a:ln w="12700">
            <a:solidFill>
              <a:srgbClr val="F0ACA6"/>
            </a:solidFill>
            <a:prstDash val="solid"/>
          </a:ln>
        </p:spPr>
      </p:sp>
      <p:sp>
        <p:nvSpPr>
          <p:cNvPr id="49" name="Text 47"/>
          <p:cNvSpPr/>
          <p:nvPr/>
        </p:nvSpPr>
        <p:spPr>
          <a:xfrm>
            <a:off x="8842248" y="4096512"/>
            <a:ext cx="2560320" cy="256032"/>
          </a:xfrm>
          <a:prstGeom prst="rect">
            <a:avLst/>
          </a:prstGeom>
          <a:noFill/>
          <a:ln/>
        </p:spPr>
        <p:txBody>
          <a:bodyPr wrap="square" lIns="0" tIns="0" rIns="0" bIns="0" rtlCol="0" anchor="ctr"/>
          <a:lstStyle/>
          <a:p>
            <a:pPr indent="0" marL="0">
              <a:buNone/>
            </a:pPr>
            <a:r>
              <a:rPr lang="en-US" sz="1200" b="1" dirty="0">
                <a:solidFill>
                  <a:srgbClr val="C0281C"/>
                </a:solidFill>
                <a:latin typeface="Calibri" pitchFamily="34" charset="0"/>
                <a:ea typeface="Calibri" pitchFamily="34" charset="-122"/>
                <a:cs typeface="Calibri" pitchFamily="34" charset="-120"/>
              </a:rPr>
              <a:t>The adaptation problem</a:t>
            </a:r>
            <a:endParaRPr lang="en-US" sz="1200" dirty="0"/>
          </a:p>
        </p:txBody>
      </p:sp>
      <p:sp>
        <p:nvSpPr>
          <p:cNvPr id="50" name="Text 48"/>
          <p:cNvSpPr/>
          <p:nvPr/>
        </p:nvSpPr>
        <p:spPr>
          <a:xfrm>
            <a:off x="8842248" y="4425696"/>
            <a:ext cx="2560320" cy="1188720"/>
          </a:xfrm>
          <a:prstGeom prst="rect">
            <a:avLst/>
          </a:prstGeom>
          <a:noFill/>
          <a:ln/>
        </p:spPr>
        <p:txBody>
          <a:bodyPr wrap="square" lIns="0" tIns="0" rIns="0" bIns="0" rtlCol="0" anchor="t"/>
          <a:lstStyle/>
          <a:p>
            <a:pPr indent="0" marL="0">
              <a:lnSpc>
                <a:spcPts val="1400"/>
              </a:lnSpc>
              <a:buNone/>
            </a:pPr>
            <a:r>
              <a:rPr lang="en-US" sz="1050" dirty="0">
                <a:solidFill>
                  <a:srgbClr val="12202E"/>
                </a:solidFill>
                <a:latin typeface="Calibri" pitchFamily="34" charset="0"/>
                <a:ea typeface="Calibri" pitchFamily="34" charset="-122"/>
                <a:cs typeface="Calibri" pitchFamily="34" charset="-120"/>
              </a:rPr>
              <a:t>Southampton grades “&gt; 2 cm along the wound”. Patients do not measure. We ask “one small spot or the whole wound?” — closer to usable, further from precise.</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indent="0" marL="0">
              <a:buNone/>
            </a:pPr>
            <a:r>
              <a:rPr lang="en-US" sz="1050" b="1" spc="160" kern="0" dirty="0">
                <a:solidFill>
                  <a:srgbClr val="5D7186"/>
                </a:solidFill>
                <a:latin typeface="Calibri" pitchFamily="34" charset="0"/>
                <a:ea typeface="Calibri" pitchFamily="34" charset="-122"/>
                <a:cs typeface="Calibri" pitchFamily="34" charset="-120"/>
              </a:rPr>
              <a:t>L2 · HIGH-LEVEL WORKFLOW (BPMN)</a:t>
            </a:r>
            <a:endParaRPr lang="en-US" sz="1050" dirty="0"/>
          </a:p>
        </p:txBody>
      </p:sp>
      <p:sp>
        <p:nvSpPr>
          <p:cNvPr id="3" name="Text 1"/>
          <p:cNvSpPr/>
          <p:nvPr/>
        </p:nvSpPr>
        <p:spPr>
          <a:xfrm>
            <a:off x="566928" y="640080"/>
            <a:ext cx="8412480" cy="658368"/>
          </a:xfrm>
          <a:prstGeom prst="rect">
            <a:avLst/>
          </a:prstGeom>
          <a:noFill/>
          <a:ln/>
        </p:spPr>
        <p:txBody>
          <a:bodyPr wrap="square" lIns="0" tIns="0" rIns="0" bIns="0" rtlCol="0" anchor="t"/>
          <a:lstStyle/>
          <a:p>
            <a:pPr indent="0" marL="0">
              <a:buNone/>
            </a:pPr>
            <a:r>
              <a:rPr lang="en-US" sz="2700" b="1" dirty="0">
                <a:solidFill>
                  <a:srgbClr val="12202E"/>
                </a:solidFill>
                <a:latin typeface="Cambria" pitchFamily="34" charset="0"/>
                <a:ea typeface="Cambria" pitchFamily="34" charset="-122"/>
                <a:cs typeface="Cambria" pitchFamily="34" charset="-120"/>
              </a:rPr>
              <a:t>The logic sits in a business rule task — not in the app</a:t>
            </a:r>
            <a:endParaRPr lang="en-US" sz="2700" dirty="0"/>
          </a:p>
        </p:txBody>
      </p:sp>
      <p:sp>
        <p:nvSpPr>
          <p:cNvPr id="4" name="Shape 2"/>
          <p:cNvSpPr/>
          <p:nvPr/>
        </p:nvSpPr>
        <p:spPr>
          <a:xfrm>
            <a:off x="9290304" y="475488"/>
            <a:ext cx="475488" cy="274320"/>
          </a:xfrm>
          <a:prstGeom prst="roundRect">
            <a:avLst>
              <a:gd name="adj" fmla="val 46667"/>
            </a:avLst>
          </a:prstGeom>
          <a:solidFill>
            <a:srgbClr val="F5F7FA"/>
          </a:solidFill>
          <a:ln w="12700">
            <a:solidFill>
              <a:srgbClr val="DDE5EE"/>
            </a:solidFill>
            <a:prstDash val="solid"/>
          </a:ln>
        </p:spPr>
      </p:sp>
      <p:sp>
        <p:nvSpPr>
          <p:cNvPr id="5" name="Text 3"/>
          <p:cNvSpPr/>
          <p:nvPr/>
        </p:nvSpPr>
        <p:spPr>
          <a:xfrm>
            <a:off x="9290304" y="475488"/>
            <a:ext cx="475488" cy="274320"/>
          </a:xfrm>
          <a:prstGeom prst="rect">
            <a:avLst/>
          </a:prstGeom>
          <a:noFill/>
          <a:ln/>
        </p:spPr>
        <p:txBody>
          <a:bodyPr wrap="square" lIns="0" tIns="0" rIns="0" bIns="0" rtlCol="0" anchor="ctr"/>
          <a:lstStyle/>
          <a:p>
            <a:pPr algn="ctr" indent="0" marL="0">
              <a:buNone/>
            </a:pPr>
            <a:r>
              <a:rPr lang="en-US" sz="1050" b="1" dirty="0">
                <a:solidFill>
                  <a:srgbClr val="5D7186"/>
                </a:solidFill>
                <a:latin typeface="Calibri" pitchFamily="34" charset="0"/>
                <a:ea typeface="Calibri" pitchFamily="34" charset="-122"/>
                <a:cs typeface="Calibri" pitchFamily="34" charset="-120"/>
              </a:rPr>
              <a:t>L1</a:t>
            </a:r>
            <a:endParaRPr lang="en-US" sz="1050" dirty="0"/>
          </a:p>
        </p:txBody>
      </p:sp>
      <p:sp>
        <p:nvSpPr>
          <p:cNvPr id="6" name="Text 4"/>
          <p:cNvSpPr/>
          <p:nvPr/>
        </p:nvSpPr>
        <p:spPr>
          <a:xfrm>
            <a:off x="9765792" y="475488"/>
            <a:ext cx="146304" cy="274320"/>
          </a:xfrm>
          <a:prstGeom prst="rect">
            <a:avLst/>
          </a:prstGeom>
          <a:noFill/>
          <a:ln/>
        </p:spPr>
        <p:txBody>
          <a:bodyPr wrap="square" lIns="0" tIns="0" rIns="0" bIns="0" rtlCol="0" anchor="ctr"/>
          <a:lstStyle/>
          <a:p>
            <a:pPr algn="ctr" indent="0" marL="0">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7" name="Shape 5"/>
          <p:cNvSpPr/>
          <p:nvPr/>
        </p:nvSpPr>
        <p:spPr>
          <a:xfrm>
            <a:off x="9912096" y="475488"/>
            <a:ext cx="475488" cy="274320"/>
          </a:xfrm>
          <a:prstGeom prst="roundRect">
            <a:avLst>
              <a:gd name="adj" fmla="val 46667"/>
            </a:avLst>
          </a:prstGeom>
          <a:solidFill>
            <a:srgbClr val="12202E"/>
          </a:solidFill>
          <a:ln w="12700">
            <a:solidFill>
              <a:srgbClr val="12202E"/>
            </a:solidFill>
            <a:prstDash val="solid"/>
          </a:ln>
        </p:spPr>
      </p:sp>
      <p:sp>
        <p:nvSpPr>
          <p:cNvPr id="8" name="Text 6"/>
          <p:cNvSpPr/>
          <p:nvPr/>
        </p:nvSpPr>
        <p:spPr>
          <a:xfrm>
            <a:off x="9912096" y="475488"/>
            <a:ext cx="475488"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L2</a:t>
            </a:r>
            <a:endParaRPr lang="en-US" sz="1050" dirty="0"/>
          </a:p>
        </p:txBody>
      </p:sp>
      <p:sp>
        <p:nvSpPr>
          <p:cNvPr id="9" name="Text 7"/>
          <p:cNvSpPr/>
          <p:nvPr/>
        </p:nvSpPr>
        <p:spPr>
          <a:xfrm>
            <a:off x="10387584" y="475488"/>
            <a:ext cx="146304" cy="274320"/>
          </a:xfrm>
          <a:prstGeom prst="rect">
            <a:avLst/>
          </a:prstGeom>
          <a:noFill/>
          <a:ln/>
        </p:spPr>
        <p:txBody>
          <a:bodyPr wrap="square" lIns="0" tIns="0" rIns="0" bIns="0" rtlCol="0" anchor="ctr"/>
          <a:lstStyle/>
          <a:p>
            <a:pPr algn="ctr" indent="0" marL="0">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10" name="Shape 8"/>
          <p:cNvSpPr/>
          <p:nvPr/>
        </p:nvSpPr>
        <p:spPr>
          <a:xfrm>
            <a:off x="10533888" y="475488"/>
            <a:ext cx="475488" cy="274320"/>
          </a:xfrm>
          <a:prstGeom prst="roundRect">
            <a:avLst>
              <a:gd name="adj" fmla="val 46667"/>
            </a:avLst>
          </a:prstGeom>
          <a:solidFill>
            <a:srgbClr val="F5F7FA"/>
          </a:solidFill>
          <a:ln w="12700">
            <a:solidFill>
              <a:srgbClr val="DDE5EE"/>
            </a:solidFill>
            <a:prstDash val="solid"/>
          </a:ln>
        </p:spPr>
      </p:sp>
      <p:sp>
        <p:nvSpPr>
          <p:cNvPr id="11" name="Text 9"/>
          <p:cNvSpPr/>
          <p:nvPr/>
        </p:nvSpPr>
        <p:spPr>
          <a:xfrm>
            <a:off x="10533888" y="475488"/>
            <a:ext cx="475488" cy="274320"/>
          </a:xfrm>
          <a:prstGeom prst="rect">
            <a:avLst/>
          </a:prstGeom>
          <a:noFill/>
          <a:ln/>
        </p:spPr>
        <p:txBody>
          <a:bodyPr wrap="square" lIns="0" tIns="0" rIns="0" bIns="0" rtlCol="0" anchor="ctr"/>
          <a:lstStyle/>
          <a:p>
            <a:pPr algn="ctr" indent="0" marL="0">
              <a:buNone/>
            </a:pPr>
            <a:r>
              <a:rPr lang="en-US" sz="1050" b="1" dirty="0">
                <a:solidFill>
                  <a:srgbClr val="5D7186"/>
                </a:solidFill>
                <a:latin typeface="Calibri" pitchFamily="34" charset="0"/>
                <a:ea typeface="Calibri" pitchFamily="34" charset="-122"/>
                <a:cs typeface="Calibri" pitchFamily="34" charset="-120"/>
              </a:rPr>
              <a:t>L3</a:t>
            </a:r>
            <a:endParaRPr lang="en-US" sz="1050" dirty="0"/>
          </a:p>
        </p:txBody>
      </p:sp>
      <p:sp>
        <p:nvSpPr>
          <p:cNvPr id="12" name="Text 10"/>
          <p:cNvSpPr/>
          <p:nvPr/>
        </p:nvSpPr>
        <p:spPr>
          <a:xfrm>
            <a:off x="11009376" y="475488"/>
            <a:ext cx="146304" cy="274320"/>
          </a:xfrm>
          <a:prstGeom prst="rect">
            <a:avLst/>
          </a:prstGeom>
          <a:noFill/>
          <a:ln/>
        </p:spPr>
        <p:txBody>
          <a:bodyPr wrap="square" lIns="0" tIns="0" rIns="0" bIns="0" rtlCol="0" anchor="ctr"/>
          <a:lstStyle/>
          <a:p>
            <a:pPr algn="ctr" indent="0" marL="0">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13" name="Shape 11"/>
          <p:cNvSpPr/>
          <p:nvPr/>
        </p:nvSpPr>
        <p:spPr>
          <a:xfrm>
            <a:off x="11155680" y="475488"/>
            <a:ext cx="475488" cy="274320"/>
          </a:xfrm>
          <a:prstGeom prst="roundRect">
            <a:avLst>
              <a:gd name="adj" fmla="val 46667"/>
            </a:avLst>
          </a:prstGeom>
          <a:solidFill>
            <a:srgbClr val="F5F7FA"/>
          </a:solidFill>
          <a:ln w="12700">
            <a:solidFill>
              <a:srgbClr val="DDE5EE"/>
            </a:solidFill>
            <a:prstDash val="solid"/>
          </a:ln>
        </p:spPr>
      </p:sp>
      <p:sp>
        <p:nvSpPr>
          <p:cNvPr id="14" name="Text 12"/>
          <p:cNvSpPr/>
          <p:nvPr/>
        </p:nvSpPr>
        <p:spPr>
          <a:xfrm>
            <a:off x="11155680" y="475488"/>
            <a:ext cx="475488" cy="274320"/>
          </a:xfrm>
          <a:prstGeom prst="rect">
            <a:avLst/>
          </a:prstGeom>
          <a:noFill/>
          <a:ln/>
        </p:spPr>
        <p:txBody>
          <a:bodyPr wrap="square" lIns="0" tIns="0" rIns="0" bIns="0" rtlCol="0" anchor="ctr"/>
          <a:lstStyle/>
          <a:p>
            <a:pPr algn="ctr" indent="0" marL="0">
              <a:buNone/>
            </a:pPr>
            <a:r>
              <a:rPr lang="en-US" sz="1050" b="1" dirty="0">
                <a:solidFill>
                  <a:srgbClr val="5D7186"/>
                </a:solidFill>
                <a:latin typeface="Calibri" pitchFamily="34" charset="0"/>
                <a:ea typeface="Calibri" pitchFamily="34" charset="-122"/>
                <a:cs typeface="Calibri" pitchFamily="34" charset="-120"/>
              </a:rPr>
              <a:t>L4</a:t>
            </a:r>
            <a:endParaRPr lang="en-US" sz="1050" dirty="0"/>
          </a:p>
        </p:txBody>
      </p:sp>
      <p:pic>
        <p:nvPicPr>
          <p:cNvPr id="15" name="Image 0" descr="workflow-highlevel.png">    </p:cNvPr>
          <p:cNvPicPr>
            <a:picLocks noChangeAspect="1"/>
          </p:cNvPicPr>
          <p:nvPr/>
        </p:nvPicPr>
        <p:blipFill>
          <a:blip r:embed="rId1"/>
          <a:stretch>
            <a:fillRect/>
          </a:stretch>
        </p:blipFill>
        <p:spPr>
          <a:xfrm>
            <a:off x="1202436" y="1499616"/>
            <a:ext cx="9784080" cy="492652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indent="0" marL="0">
              <a:buNone/>
            </a:pPr>
            <a:r>
              <a:rPr lang="en-US" sz="1050" b="1" spc="160" kern="0" dirty="0">
                <a:solidFill>
                  <a:srgbClr val="5D7186"/>
                </a:solidFill>
                <a:latin typeface="Calibri" pitchFamily="34" charset="0"/>
                <a:ea typeface="Calibri" pitchFamily="34" charset="-122"/>
                <a:cs typeface="Calibri" pitchFamily="34" charset="-120"/>
              </a:rPr>
              <a:t>L2 · DATA DICTIONARY</a:t>
            </a:r>
            <a:endParaRPr lang="en-US" sz="1050" dirty="0"/>
          </a:p>
        </p:txBody>
      </p:sp>
      <p:sp>
        <p:nvSpPr>
          <p:cNvPr id="3" name="Text 1"/>
          <p:cNvSpPr/>
          <p:nvPr/>
        </p:nvSpPr>
        <p:spPr>
          <a:xfrm>
            <a:off x="566928" y="640080"/>
            <a:ext cx="8412480" cy="658368"/>
          </a:xfrm>
          <a:prstGeom prst="rect">
            <a:avLst/>
          </a:prstGeom>
          <a:noFill/>
          <a:ln/>
        </p:spPr>
        <p:txBody>
          <a:bodyPr wrap="square" lIns="0" tIns="0" rIns="0" bIns="0" rtlCol="0" anchor="t"/>
          <a:lstStyle/>
          <a:p>
            <a:pPr indent="0" marL="0">
              <a:buNone/>
            </a:pPr>
            <a:r>
              <a:rPr lang="en-US" sz="2700" b="1" dirty="0">
                <a:solidFill>
                  <a:srgbClr val="12202E"/>
                </a:solidFill>
                <a:latin typeface="Cambria" pitchFamily="34" charset="0"/>
                <a:ea typeface="Cambria" pitchFamily="34" charset="-122"/>
                <a:cs typeface="Cambria" pitchFamily="34" charset="-120"/>
              </a:rPr>
              <a:t>48 data elements — every one traceable to a guideline</a:t>
            </a:r>
            <a:endParaRPr lang="en-US" sz="2700" dirty="0"/>
          </a:p>
        </p:txBody>
      </p:sp>
      <p:sp>
        <p:nvSpPr>
          <p:cNvPr id="4" name="Shape 2"/>
          <p:cNvSpPr/>
          <p:nvPr/>
        </p:nvSpPr>
        <p:spPr>
          <a:xfrm>
            <a:off x="9290304" y="475488"/>
            <a:ext cx="475488" cy="274320"/>
          </a:xfrm>
          <a:prstGeom prst="roundRect">
            <a:avLst>
              <a:gd name="adj" fmla="val 46667"/>
            </a:avLst>
          </a:prstGeom>
          <a:solidFill>
            <a:srgbClr val="F5F7FA"/>
          </a:solidFill>
          <a:ln w="12700">
            <a:solidFill>
              <a:srgbClr val="DDE5EE"/>
            </a:solidFill>
            <a:prstDash val="solid"/>
          </a:ln>
        </p:spPr>
      </p:sp>
      <p:sp>
        <p:nvSpPr>
          <p:cNvPr id="5" name="Text 3"/>
          <p:cNvSpPr/>
          <p:nvPr/>
        </p:nvSpPr>
        <p:spPr>
          <a:xfrm>
            <a:off x="9290304" y="475488"/>
            <a:ext cx="475488" cy="274320"/>
          </a:xfrm>
          <a:prstGeom prst="rect">
            <a:avLst/>
          </a:prstGeom>
          <a:noFill/>
          <a:ln/>
        </p:spPr>
        <p:txBody>
          <a:bodyPr wrap="square" lIns="0" tIns="0" rIns="0" bIns="0" rtlCol="0" anchor="ctr"/>
          <a:lstStyle/>
          <a:p>
            <a:pPr algn="ctr" indent="0" marL="0">
              <a:buNone/>
            </a:pPr>
            <a:r>
              <a:rPr lang="en-US" sz="1050" b="1" dirty="0">
                <a:solidFill>
                  <a:srgbClr val="5D7186"/>
                </a:solidFill>
                <a:latin typeface="Calibri" pitchFamily="34" charset="0"/>
                <a:ea typeface="Calibri" pitchFamily="34" charset="-122"/>
                <a:cs typeface="Calibri" pitchFamily="34" charset="-120"/>
              </a:rPr>
              <a:t>L1</a:t>
            </a:r>
            <a:endParaRPr lang="en-US" sz="1050" dirty="0"/>
          </a:p>
        </p:txBody>
      </p:sp>
      <p:sp>
        <p:nvSpPr>
          <p:cNvPr id="6" name="Text 4"/>
          <p:cNvSpPr/>
          <p:nvPr/>
        </p:nvSpPr>
        <p:spPr>
          <a:xfrm>
            <a:off x="9765792" y="475488"/>
            <a:ext cx="146304" cy="274320"/>
          </a:xfrm>
          <a:prstGeom prst="rect">
            <a:avLst/>
          </a:prstGeom>
          <a:noFill/>
          <a:ln/>
        </p:spPr>
        <p:txBody>
          <a:bodyPr wrap="square" lIns="0" tIns="0" rIns="0" bIns="0" rtlCol="0" anchor="ctr"/>
          <a:lstStyle/>
          <a:p>
            <a:pPr algn="ctr" indent="0" marL="0">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7" name="Shape 5"/>
          <p:cNvSpPr/>
          <p:nvPr/>
        </p:nvSpPr>
        <p:spPr>
          <a:xfrm>
            <a:off x="9912096" y="475488"/>
            <a:ext cx="475488" cy="274320"/>
          </a:xfrm>
          <a:prstGeom prst="roundRect">
            <a:avLst>
              <a:gd name="adj" fmla="val 46667"/>
            </a:avLst>
          </a:prstGeom>
          <a:solidFill>
            <a:srgbClr val="12202E"/>
          </a:solidFill>
          <a:ln w="12700">
            <a:solidFill>
              <a:srgbClr val="12202E"/>
            </a:solidFill>
            <a:prstDash val="solid"/>
          </a:ln>
        </p:spPr>
      </p:sp>
      <p:sp>
        <p:nvSpPr>
          <p:cNvPr id="8" name="Text 6"/>
          <p:cNvSpPr/>
          <p:nvPr/>
        </p:nvSpPr>
        <p:spPr>
          <a:xfrm>
            <a:off x="9912096" y="475488"/>
            <a:ext cx="475488"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L2</a:t>
            </a:r>
            <a:endParaRPr lang="en-US" sz="1050" dirty="0"/>
          </a:p>
        </p:txBody>
      </p:sp>
      <p:sp>
        <p:nvSpPr>
          <p:cNvPr id="9" name="Text 7"/>
          <p:cNvSpPr/>
          <p:nvPr/>
        </p:nvSpPr>
        <p:spPr>
          <a:xfrm>
            <a:off x="10387584" y="475488"/>
            <a:ext cx="146304" cy="274320"/>
          </a:xfrm>
          <a:prstGeom prst="rect">
            <a:avLst/>
          </a:prstGeom>
          <a:noFill/>
          <a:ln/>
        </p:spPr>
        <p:txBody>
          <a:bodyPr wrap="square" lIns="0" tIns="0" rIns="0" bIns="0" rtlCol="0" anchor="ctr"/>
          <a:lstStyle/>
          <a:p>
            <a:pPr algn="ctr" indent="0" marL="0">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10" name="Shape 8"/>
          <p:cNvSpPr/>
          <p:nvPr/>
        </p:nvSpPr>
        <p:spPr>
          <a:xfrm>
            <a:off x="10533888" y="475488"/>
            <a:ext cx="475488" cy="274320"/>
          </a:xfrm>
          <a:prstGeom prst="roundRect">
            <a:avLst>
              <a:gd name="adj" fmla="val 46667"/>
            </a:avLst>
          </a:prstGeom>
          <a:solidFill>
            <a:srgbClr val="F5F7FA"/>
          </a:solidFill>
          <a:ln w="12700">
            <a:solidFill>
              <a:srgbClr val="DDE5EE"/>
            </a:solidFill>
            <a:prstDash val="solid"/>
          </a:ln>
        </p:spPr>
      </p:sp>
      <p:sp>
        <p:nvSpPr>
          <p:cNvPr id="11" name="Text 9"/>
          <p:cNvSpPr/>
          <p:nvPr/>
        </p:nvSpPr>
        <p:spPr>
          <a:xfrm>
            <a:off x="10533888" y="475488"/>
            <a:ext cx="475488" cy="274320"/>
          </a:xfrm>
          <a:prstGeom prst="rect">
            <a:avLst/>
          </a:prstGeom>
          <a:noFill/>
          <a:ln/>
        </p:spPr>
        <p:txBody>
          <a:bodyPr wrap="square" lIns="0" tIns="0" rIns="0" bIns="0" rtlCol="0" anchor="ctr"/>
          <a:lstStyle/>
          <a:p>
            <a:pPr algn="ctr" indent="0" marL="0">
              <a:buNone/>
            </a:pPr>
            <a:r>
              <a:rPr lang="en-US" sz="1050" b="1" dirty="0">
                <a:solidFill>
                  <a:srgbClr val="5D7186"/>
                </a:solidFill>
                <a:latin typeface="Calibri" pitchFamily="34" charset="0"/>
                <a:ea typeface="Calibri" pitchFamily="34" charset="-122"/>
                <a:cs typeface="Calibri" pitchFamily="34" charset="-120"/>
              </a:rPr>
              <a:t>L3</a:t>
            </a:r>
            <a:endParaRPr lang="en-US" sz="1050" dirty="0"/>
          </a:p>
        </p:txBody>
      </p:sp>
      <p:sp>
        <p:nvSpPr>
          <p:cNvPr id="12" name="Text 10"/>
          <p:cNvSpPr/>
          <p:nvPr/>
        </p:nvSpPr>
        <p:spPr>
          <a:xfrm>
            <a:off x="11009376" y="475488"/>
            <a:ext cx="146304" cy="274320"/>
          </a:xfrm>
          <a:prstGeom prst="rect">
            <a:avLst/>
          </a:prstGeom>
          <a:noFill/>
          <a:ln/>
        </p:spPr>
        <p:txBody>
          <a:bodyPr wrap="square" lIns="0" tIns="0" rIns="0" bIns="0" rtlCol="0" anchor="ctr"/>
          <a:lstStyle/>
          <a:p>
            <a:pPr algn="ctr" indent="0" marL="0">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13" name="Shape 11"/>
          <p:cNvSpPr/>
          <p:nvPr/>
        </p:nvSpPr>
        <p:spPr>
          <a:xfrm>
            <a:off x="11155680" y="475488"/>
            <a:ext cx="475488" cy="274320"/>
          </a:xfrm>
          <a:prstGeom prst="roundRect">
            <a:avLst>
              <a:gd name="adj" fmla="val 46667"/>
            </a:avLst>
          </a:prstGeom>
          <a:solidFill>
            <a:srgbClr val="F5F7FA"/>
          </a:solidFill>
          <a:ln w="12700">
            <a:solidFill>
              <a:srgbClr val="DDE5EE"/>
            </a:solidFill>
            <a:prstDash val="solid"/>
          </a:ln>
        </p:spPr>
      </p:sp>
      <p:sp>
        <p:nvSpPr>
          <p:cNvPr id="14" name="Text 12"/>
          <p:cNvSpPr/>
          <p:nvPr/>
        </p:nvSpPr>
        <p:spPr>
          <a:xfrm>
            <a:off x="11155680" y="475488"/>
            <a:ext cx="475488" cy="274320"/>
          </a:xfrm>
          <a:prstGeom prst="rect">
            <a:avLst/>
          </a:prstGeom>
          <a:noFill/>
          <a:ln/>
        </p:spPr>
        <p:txBody>
          <a:bodyPr wrap="square" lIns="0" tIns="0" rIns="0" bIns="0" rtlCol="0" anchor="ctr"/>
          <a:lstStyle/>
          <a:p>
            <a:pPr algn="ctr" indent="0" marL="0">
              <a:buNone/>
            </a:pPr>
            <a:r>
              <a:rPr lang="en-US" sz="1050" b="1" dirty="0">
                <a:solidFill>
                  <a:srgbClr val="5D7186"/>
                </a:solidFill>
                <a:latin typeface="Calibri" pitchFamily="34" charset="0"/>
                <a:ea typeface="Calibri" pitchFamily="34" charset="-122"/>
                <a:cs typeface="Calibri" pitchFamily="34" charset="-120"/>
              </a:rPr>
              <a:t>L4</a:t>
            </a:r>
            <a:endParaRPr lang="en-US" sz="1050" dirty="0"/>
          </a:p>
        </p:txBody>
      </p:sp>
      <p:sp>
        <p:nvSpPr>
          <p:cNvPr id="15" name="Shape 13"/>
          <p:cNvSpPr/>
          <p:nvPr/>
        </p:nvSpPr>
        <p:spPr>
          <a:xfrm>
            <a:off x="566928" y="1627632"/>
            <a:ext cx="2606040" cy="1170432"/>
          </a:xfrm>
          <a:prstGeom prst="roundRect">
            <a:avLst>
              <a:gd name="adj" fmla="val 7031"/>
            </a:avLst>
          </a:prstGeom>
          <a:solidFill>
            <a:srgbClr val="F5F7FA"/>
          </a:solidFill>
          <a:ln w="12700">
            <a:solidFill>
              <a:srgbClr val="DDE5EE"/>
            </a:solidFill>
            <a:prstDash val="solid"/>
          </a:ln>
        </p:spPr>
      </p:sp>
      <p:sp>
        <p:nvSpPr>
          <p:cNvPr id="16" name="Text 14"/>
          <p:cNvSpPr/>
          <p:nvPr/>
        </p:nvSpPr>
        <p:spPr>
          <a:xfrm>
            <a:off x="804672" y="1755648"/>
            <a:ext cx="2103120" cy="603504"/>
          </a:xfrm>
          <a:prstGeom prst="rect">
            <a:avLst/>
          </a:prstGeom>
          <a:noFill/>
          <a:ln/>
        </p:spPr>
        <p:txBody>
          <a:bodyPr wrap="square" lIns="0" tIns="0" rIns="0" bIns="0" rtlCol="0" anchor="ctr"/>
          <a:lstStyle/>
          <a:p>
            <a:pPr indent="0" marL="0">
              <a:buNone/>
            </a:pPr>
            <a:r>
              <a:rPr lang="en-US" sz="3600" b="1" dirty="0">
                <a:solidFill>
                  <a:srgbClr val="12202E"/>
                </a:solidFill>
                <a:latin typeface="Cambria" pitchFamily="34" charset="0"/>
                <a:ea typeface="Cambria" pitchFamily="34" charset="-122"/>
                <a:cs typeface="Cambria" pitchFamily="34" charset="-120"/>
              </a:rPr>
              <a:t>48</a:t>
            </a:r>
            <a:endParaRPr lang="en-US" sz="3600" dirty="0"/>
          </a:p>
        </p:txBody>
      </p:sp>
      <p:sp>
        <p:nvSpPr>
          <p:cNvPr id="17" name="Text 15"/>
          <p:cNvSpPr/>
          <p:nvPr/>
        </p:nvSpPr>
        <p:spPr>
          <a:xfrm>
            <a:off x="804672" y="2377440"/>
            <a:ext cx="2103120" cy="274320"/>
          </a:xfrm>
          <a:prstGeom prst="rect">
            <a:avLst/>
          </a:prstGeom>
          <a:noFill/>
          <a:ln/>
        </p:spPr>
        <p:txBody>
          <a:bodyPr wrap="square" lIns="0" tIns="0" rIns="0" bIns="0" rtlCol="0" anchor="ctr"/>
          <a:lstStyle/>
          <a:p>
            <a:pPr indent="0" marL="0">
              <a:buNone/>
            </a:pPr>
            <a:r>
              <a:rPr lang="en-US" sz="1100" dirty="0">
                <a:solidFill>
                  <a:srgbClr val="5D7186"/>
                </a:solidFill>
                <a:latin typeface="Calibri" pitchFamily="34" charset="0"/>
                <a:ea typeface="Calibri" pitchFamily="34" charset="-122"/>
                <a:cs typeface="Calibri" pitchFamily="34" charset="-120"/>
              </a:rPr>
              <a:t>data elements</a:t>
            </a:r>
            <a:endParaRPr lang="en-US" sz="1100" dirty="0"/>
          </a:p>
        </p:txBody>
      </p:sp>
      <p:sp>
        <p:nvSpPr>
          <p:cNvPr id="18" name="Shape 16"/>
          <p:cNvSpPr/>
          <p:nvPr/>
        </p:nvSpPr>
        <p:spPr>
          <a:xfrm>
            <a:off x="3355848" y="1627632"/>
            <a:ext cx="2606040" cy="1170432"/>
          </a:xfrm>
          <a:prstGeom prst="roundRect">
            <a:avLst>
              <a:gd name="adj" fmla="val 7031"/>
            </a:avLst>
          </a:prstGeom>
          <a:solidFill>
            <a:srgbClr val="F5F7FA"/>
          </a:solidFill>
          <a:ln w="12700">
            <a:solidFill>
              <a:srgbClr val="DDE5EE"/>
            </a:solidFill>
            <a:prstDash val="solid"/>
          </a:ln>
        </p:spPr>
      </p:sp>
      <p:sp>
        <p:nvSpPr>
          <p:cNvPr id="19" name="Text 17"/>
          <p:cNvSpPr/>
          <p:nvPr/>
        </p:nvSpPr>
        <p:spPr>
          <a:xfrm>
            <a:off x="3593592" y="1755648"/>
            <a:ext cx="2103120" cy="603504"/>
          </a:xfrm>
          <a:prstGeom prst="rect">
            <a:avLst/>
          </a:prstGeom>
          <a:noFill/>
          <a:ln/>
        </p:spPr>
        <p:txBody>
          <a:bodyPr wrap="square" lIns="0" tIns="0" rIns="0" bIns="0" rtlCol="0" anchor="ctr"/>
          <a:lstStyle/>
          <a:p>
            <a:pPr indent="0" marL="0">
              <a:buNone/>
            </a:pPr>
            <a:r>
              <a:rPr lang="en-US" sz="3600" b="1" dirty="0">
                <a:solidFill>
                  <a:srgbClr val="12202E"/>
                </a:solidFill>
                <a:latin typeface="Cambria" pitchFamily="34" charset="0"/>
                <a:ea typeface="Cambria" pitchFamily="34" charset="-122"/>
                <a:cs typeface="Cambria" pitchFamily="34" charset="-120"/>
              </a:rPr>
              <a:t>9</a:t>
            </a:r>
            <a:endParaRPr lang="en-US" sz="3600" dirty="0"/>
          </a:p>
        </p:txBody>
      </p:sp>
      <p:sp>
        <p:nvSpPr>
          <p:cNvPr id="20" name="Text 18"/>
          <p:cNvSpPr/>
          <p:nvPr/>
        </p:nvSpPr>
        <p:spPr>
          <a:xfrm>
            <a:off x="3593592" y="2377440"/>
            <a:ext cx="2103120" cy="274320"/>
          </a:xfrm>
          <a:prstGeom prst="rect">
            <a:avLst/>
          </a:prstGeom>
          <a:noFill/>
          <a:ln/>
        </p:spPr>
        <p:txBody>
          <a:bodyPr wrap="square" lIns="0" tIns="0" rIns="0" bIns="0" rtlCol="0" anchor="ctr"/>
          <a:lstStyle/>
          <a:p>
            <a:pPr indent="0" marL="0">
              <a:buNone/>
            </a:pPr>
            <a:r>
              <a:rPr lang="en-US" sz="1100" dirty="0">
                <a:solidFill>
                  <a:srgbClr val="5D7186"/>
                </a:solidFill>
                <a:latin typeface="Calibri" pitchFamily="34" charset="0"/>
                <a:ea typeface="Calibri" pitchFamily="34" charset="-122"/>
                <a:cs typeface="Calibri" pitchFamily="34" charset="-120"/>
              </a:rPr>
              <a:t>derived</a:t>
            </a:r>
            <a:endParaRPr lang="en-US" sz="1100" dirty="0"/>
          </a:p>
        </p:txBody>
      </p:sp>
      <p:sp>
        <p:nvSpPr>
          <p:cNvPr id="21" name="Shape 19"/>
          <p:cNvSpPr/>
          <p:nvPr/>
        </p:nvSpPr>
        <p:spPr>
          <a:xfrm>
            <a:off x="6144768" y="1627632"/>
            <a:ext cx="2606040" cy="1170432"/>
          </a:xfrm>
          <a:prstGeom prst="roundRect">
            <a:avLst>
              <a:gd name="adj" fmla="val 7031"/>
            </a:avLst>
          </a:prstGeom>
          <a:solidFill>
            <a:srgbClr val="F5F7FA"/>
          </a:solidFill>
          <a:ln w="12700">
            <a:solidFill>
              <a:srgbClr val="DDE5EE"/>
            </a:solidFill>
            <a:prstDash val="solid"/>
          </a:ln>
        </p:spPr>
      </p:sp>
      <p:sp>
        <p:nvSpPr>
          <p:cNvPr id="22" name="Text 20"/>
          <p:cNvSpPr/>
          <p:nvPr/>
        </p:nvSpPr>
        <p:spPr>
          <a:xfrm>
            <a:off x="6382512" y="1755648"/>
            <a:ext cx="2103120" cy="603504"/>
          </a:xfrm>
          <a:prstGeom prst="rect">
            <a:avLst/>
          </a:prstGeom>
          <a:noFill/>
          <a:ln/>
        </p:spPr>
        <p:txBody>
          <a:bodyPr wrap="square" lIns="0" tIns="0" rIns="0" bIns="0" rtlCol="0" anchor="ctr"/>
          <a:lstStyle/>
          <a:p>
            <a:pPr indent="0" marL="0">
              <a:buNone/>
            </a:pPr>
            <a:r>
              <a:rPr lang="en-US" sz="3600" b="1" dirty="0">
                <a:solidFill>
                  <a:srgbClr val="12202E"/>
                </a:solidFill>
                <a:latin typeface="Cambria" pitchFamily="34" charset="0"/>
                <a:ea typeface="Cambria" pitchFamily="34" charset="-122"/>
                <a:cs typeface="Cambria" pitchFamily="34" charset="-120"/>
              </a:rPr>
              <a:t>38</a:t>
            </a:r>
            <a:endParaRPr lang="en-US" sz="3600" dirty="0"/>
          </a:p>
        </p:txBody>
      </p:sp>
      <p:sp>
        <p:nvSpPr>
          <p:cNvPr id="23" name="Text 21"/>
          <p:cNvSpPr/>
          <p:nvPr/>
        </p:nvSpPr>
        <p:spPr>
          <a:xfrm>
            <a:off x="6382512" y="2377440"/>
            <a:ext cx="2103120" cy="274320"/>
          </a:xfrm>
          <a:prstGeom prst="rect">
            <a:avLst/>
          </a:prstGeom>
          <a:noFill/>
          <a:ln/>
        </p:spPr>
        <p:txBody>
          <a:bodyPr wrap="square" lIns="0" tIns="0" rIns="0" bIns="0" rtlCol="0" anchor="ctr"/>
          <a:lstStyle/>
          <a:p>
            <a:pPr indent="0" marL="0">
              <a:buNone/>
            </a:pPr>
            <a:r>
              <a:rPr lang="en-US" sz="1100" dirty="0">
                <a:solidFill>
                  <a:srgbClr val="5D7186"/>
                </a:solidFill>
                <a:latin typeface="Calibri" pitchFamily="34" charset="0"/>
                <a:ea typeface="Calibri" pitchFamily="34" charset="-122"/>
                <a:cs typeface="Calibri" pitchFamily="34" charset="-120"/>
              </a:rPr>
              <a:t>terminology-bound</a:t>
            </a:r>
            <a:endParaRPr lang="en-US" sz="1100" dirty="0"/>
          </a:p>
        </p:txBody>
      </p:sp>
      <p:sp>
        <p:nvSpPr>
          <p:cNvPr id="24" name="Shape 22"/>
          <p:cNvSpPr/>
          <p:nvPr/>
        </p:nvSpPr>
        <p:spPr>
          <a:xfrm>
            <a:off x="8933688" y="1627632"/>
            <a:ext cx="2606040" cy="1170432"/>
          </a:xfrm>
          <a:prstGeom prst="roundRect">
            <a:avLst>
              <a:gd name="adj" fmla="val 7031"/>
            </a:avLst>
          </a:prstGeom>
          <a:solidFill>
            <a:srgbClr val="F5F7FA"/>
          </a:solidFill>
          <a:ln w="12700">
            <a:solidFill>
              <a:srgbClr val="DDE5EE"/>
            </a:solidFill>
            <a:prstDash val="solid"/>
          </a:ln>
        </p:spPr>
      </p:sp>
      <p:sp>
        <p:nvSpPr>
          <p:cNvPr id="25" name="Text 23"/>
          <p:cNvSpPr/>
          <p:nvPr/>
        </p:nvSpPr>
        <p:spPr>
          <a:xfrm>
            <a:off x="9171432" y="1755648"/>
            <a:ext cx="2103120" cy="603504"/>
          </a:xfrm>
          <a:prstGeom prst="rect">
            <a:avLst/>
          </a:prstGeom>
          <a:noFill/>
          <a:ln/>
        </p:spPr>
        <p:txBody>
          <a:bodyPr wrap="square" lIns="0" tIns="0" rIns="0" bIns="0" rtlCol="0" anchor="ctr"/>
          <a:lstStyle/>
          <a:p>
            <a:pPr indent="0" marL="0">
              <a:buNone/>
            </a:pPr>
            <a:r>
              <a:rPr lang="en-US" sz="3600" b="1" dirty="0">
                <a:solidFill>
                  <a:srgbClr val="12202E"/>
                </a:solidFill>
                <a:latin typeface="Cambria" pitchFamily="34" charset="0"/>
                <a:ea typeface="Cambria" pitchFamily="34" charset="-122"/>
                <a:cs typeface="Cambria" pitchFamily="34" charset="-120"/>
              </a:rPr>
              <a:t>47</a:t>
            </a:r>
            <a:endParaRPr lang="en-US" sz="3600" dirty="0"/>
          </a:p>
        </p:txBody>
      </p:sp>
      <p:sp>
        <p:nvSpPr>
          <p:cNvPr id="26" name="Text 24"/>
          <p:cNvSpPr/>
          <p:nvPr/>
        </p:nvSpPr>
        <p:spPr>
          <a:xfrm>
            <a:off x="9171432" y="2377440"/>
            <a:ext cx="2103120" cy="274320"/>
          </a:xfrm>
          <a:prstGeom prst="rect">
            <a:avLst/>
          </a:prstGeom>
          <a:noFill/>
          <a:ln/>
        </p:spPr>
        <p:txBody>
          <a:bodyPr wrap="square" lIns="0" tIns="0" rIns="0" bIns="0" rtlCol="0" anchor="ctr"/>
          <a:lstStyle/>
          <a:p>
            <a:pPr indent="0" marL="0">
              <a:buNone/>
            </a:pPr>
            <a:r>
              <a:rPr lang="en-US" sz="1100" dirty="0">
                <a:solidFill>
                  <a:srgbClr val="5D7186"/>
                </a:solidFill>
                <a:latin typeface="Calibri" pitchFamily="34" charset="0"/>
                <a:ea typeface="Calibri" pitchFamily="34" charset="-122"/>
                <a:cs typeface="Calibri" pitchFamily="34" charset="-120"/>
              </a:rPr>
              <a:t>FHIR-mapped</a:t>
            </a:r>
            <a:endParaRPr lang="en-US" sz="1100" dirty="0"/>
          </a:p>
        </p:txBody>
      </p:sp>
      <p:sp>
        <p:nvSpPr>
          <p:cNvPr id="27" name="Text 25"/>
          <p:cNvSpPr/>
          <p:nvPr/>
        </p:nvSpPr>
        <p:spPr>
          <a:xfrm>
            <a:off x="566928" y="3072384"/>
            <a:ext cx="777240" cy="237744"/>
          </a:xfrm>
          <a:prstGeom prst="rect">
            <a:avLst/>
          </a:prstGeom>
          <a:noFill/>
          <a:ln/>
        </p:spPr>
        <p:txBody>
          <a:bodyPr wrap="square" lIns="0" tIns="0" rIns="0" bIns="0" rtlCol="0" anchor="ctr"/>
          <a:lstStyle/>
          <a:p>
            <a:pPr indent="0" marL="0">
              <a:buNone/>
            </a:pPr>
            <a:r>
              <a:rPr lang="en-US" sz="900" b="1" spc="100" kern="0" dirty="0">
                <a:solidFill>
                  <a:srgbClr val="5D7186"/>
                </a:solidFill>
                <a:latin typeface="Calibri" pitchFamily="34" charset="0"/>
                <a:ea typeface="Calibri" pitchFamily="34" charset="-122"/>
                <a:cs typeface="Calibri" pitchFamily="34" charset="-120"/>
              </a:rPr>
              <a:t>ID</a:t>
            </a:r>
            <a:endParaRPr lang="en-US" sz="900" dirty="0"/>
          </a:p>
        </p:txBody>
      </p:sp>
      <p:sp>
        <p:nvSpPr>
          <p:cNvPr id="28" name="Text 26"/>
          <p:cNvSpPr/>
          <p:nvPr/>
        </p:nvSpPr>
        <p:spPr>
          <a:xfrm>
            <a:off x="1399032" y="3072384"/>
            <a:ext cx="2331720" cy="237744"/>
          </a:xfrm>
          <a:prstGeom prst="rect">
            <a:avLst/>
          </a:prstGeom>
          <a:noFill/>
          <a:ln/>
        </p:spPr>
        <p:txBody>
          <a:bodyPr wrap="square" lIns="0" tIns="0" rIns="0" bIns="0" rtlCol="0" anchor="ctr"/>
          <a:lstStyle/>
          <a:p>
            <a:pPr indent="0" marL="0">
              <a:buNone/>
            </a:pPr>
            <a:r>
              <a:rPr lang="en-US" sz="900" b="1" spc="100" kern="0" dirty="0">
                <a:solidFill>
                  <a:srgbClr val="5D7186"/>
                </a:solidFill>
                <a:latin typeface="Calibri" pitchFamily="34" charset="0"/>
                <a:ea typeface="Calibri" pitchFamily="34" charset="-122"/>
                <a:cs typeface="Calibri" pitchFamily="34" charset="-120"/>
              </a:rPr>
              <a:t>ELEMENT</a:t>
            </a:r>
            <a:endParaRPr lang="en-US" sz="900" dirty="0"/>
          </a:p>
        </p:txBody>
      </p:sp>
      <p:sp>
        <p:nvSpPr>
          <p:cNvPr id="29" name="Text 27"/>
          <p:cNvSpPr/>
          <p:nvPr/>
        </p:nvSpPr>
        <p:spPr>
          <a:xfrm>
            <a:off x="3785616" y="3072384"/>
            <a:ext cx="1234440" cy="237744"/>
          </a:xfrm>
          <a:prstGeom prst="rect">
            <a:avLst/>
          </a:prstGeom>
          <a:noFill/>
          <a:ln/>
        </p:spPr>
        <p:txBody>
          <a:bodyPr wrap="square" lIns="0" tIns="0" rIns="0" bIns="0" rtlCol="0" anchor="ctr"/>
          <a:lstStyle/>
          <a:p>
            <a:pPr indent="0" marL="0">
              <a:buNone/>
            </a:pPr>
            <a:r>
              <a:rPr lang="en-US" sz="900" b="1" spc="100" kern="0" dirty="0">
                <a:solidFill>
                  <a:srgbClr val="5D7186"/>
                </a:solidFill>
                <a:latin typeface="Calibri" pitchFamily="34" charset="0"/>
                <a:ea typeface="Calibri" pitchFamily="34" charset="-122"/>
                <a:cs typeface="Calibri" pitchFamily="34" charset="-120"/>
              </a:rPr>
              <a:t>TYPE</a:t>
            </a:r>
            <a:endParaRPr lang="en-US" sz="900" dirty="0"/>
          </a:p>
        </p:txBody>
      </p:sp>
      <p:sp>
        <p:nvSpPr>
          <p:cNvPr id="30" name="Text 28"/>
          <p:cNvSpPr/>
          <p:nvPr/>
        </p:nvSpPr>
        <p:spPr>
          <a:xfrm>
            <a:off x="5074920" y="3072384"/>
            <a:ext cx="1691640" cy="237744"/>
          </a:xfrm>
          <a:prstGeom prst="rect">
            <a:avLst/>
          </a:prstGeom>
          <a:noFill/>
          <a:ln/>
        </p:spPr>
        <p:txBody>
          <a:bodyPr wrap="square" lIns="0" tIns="0" rIns="0" bIns="0" rtlCol="0" anchor="ctr"/>
          <a:lstStyle/>
          <a:p>
            <a:pPr indent="0" marL="0">
              <a:buNone/>
            </a:pPr>
            <a:r>
              <a:rPr lang="en-US" sz="900" b="1" spc="100" kern="0" dirty="0">
                <a:solidFill>
                  <a:srgbClr val="5D7186"/>
                </a:solidFill>
                <a:latin typeface="Calibri" pitchFamily="34" charset="0"/>
                <a:ea typeface="Calibri" pitchFamily="34" charset="-122"/>
                <a:cs typeface="Calibri" pitchFamily="34" charset="-120"/>
              </a:rPr>
              <a:t>TERMINOLOGY</a:t>
            </a:r>
            <a:endParaRPr lang="en-US" sz="900" dirty="0"/>
          </a:p>
        </p:txBody>
      </p:sp>
      <p:sp>
        <p:nvSpPr>
          <p:cNvPr id="31" name="Text 29"/>
          <p:cNvSpPr/>
          <p:nvPr/>
        </p:nvSpPr>
        <p:spPr>
          <a:xfrm>
            <a:off x="6821424" y="3072384"/>
            <a:ext cx="2240280" cy="237744"/>
          </a:xfrm>
          <a:prstGeom prst="rect">
            <a:avLst/>
          </a:prstGeom>
          <a:noFill/>
          <a:ln/>
        </p:spPr>
        <p:txBody>
          <a:bodyPr wrap="square" lIns="0" tIns="0" rIns="0" bIns="0" rtlCol="0" anchor="ctr"/>
          <a:lstStyle/>
          <a:p>
            <a:pPr indent="0" marL="0">
              <a:buNone/>
            </a:pPr>
            <a:r>
              <a:rPr lang="en-US" sz="900" b="1" spc="100" kern="0" dirty="0">
                <a:solidFill>
                  <a:srgbClr val="5D7186"/>
                </a:solidFill>
                <a:latin typeface="Calibri" pitchFamily="34" charset="0"/>
                <a:ea typeface="Calibri" pitchFamily="34" charset="-122"/>
                <a:cs typeface="Calibri" pitchFamily="34" charset="-120"/>
              </a:rPr>
              <a:t>FHIR</a:t>
            </a:r>
            <a:endParaRPr lang="en-US" sz="900" dirty="0"/>
          </a:p>
        </p:txBody>
      </p:sp>
      <p:sp>
        <p:nvSpPr>
          <p:cNvPr id="32" name="Text 30"/>
          <p:cNvSpPr/>
          <p:nvPr/>
        </p:nvSpPr>
        <p:spPr>
          <a:xfrm>
            <a:off x="9116568" y="3072384"/>
            <a:ext cx="2651760" cy="237744"/>
          </a:xfrm>
          <a:prstGeom prst="rect">
            <a:avLst/>
          </a:prstGeom>
          <a:noFill/>
          <a:ln/>
        </p:spPr>
        <p:txBody>
          <a:bodyPr wrap="square" lIns="0" tIns="0" rIns="0" bIns="0" rtlCol="0" anchor="ctr"/>
          <a:lstStyle/>
          <a:p>
            <a:pPr indent="0" marL="0">
              <a:buNone/>
            </a:pPr>
            <a:r>
              <a:rPr lang="en-US" sz="900" b="1" spc="100" kern="0" dirty="0">
                <a:solidFill>
                  <a:srgbClr val="5D7186"/>
                </a:solidFill>
                <a:latin typeface="Calibri" pitchFamily="34" charset="0"/>
                <a:ea typeface="Calibri" pitchFamily="34" charset="-122"/>
                <a:cs typeface="Calibri" pitchFamily="34" charset="-120"/>
              </a:rPr>
              <a:t>L1 SOURCE</a:t>
            </a:r>
            <a:endParaRPr lang="en-US" sz="900" dirty="0"/>
          </a:p>
        </p:txBody>
      </p:sp>
      <p:sp>
        <p:nvSpPr>
          <p:cNvPr id="33" name="Shape 31"/>
          <p:cNvSpPr/>
          <p:nvPr/>
        </p:nvSpPr>
        <p:spPr>
          <a:xfrm>
            <a:off x="566928" y="3364992"/>
            <a:ext cx="11064240" cy="384048"/>
          </a:xfrm>
          <a:prstGeom prst="roundRect">
            <a:avLst>
              <a:gd name="adj" fmla="val 21429"/>
            </a:avLst>
          </a:prstGeom>
          <a:solidFill>
            <a:srgbClr val="F5F7FA"/>
          </a:solidFill>
          <a:ln w="12700">
            <a:solidFill>
              <a:srgbClr val="DDE5EE"/>
            </a:solidFill>
            <a:prstDash val="solid"/>
          </a:ln>
        </p:spPr>
      </p:sp>
      <p:sp>
        <p:nvSpPr>
          <p:cNvPr id="34" name="Text 32"/>
          <p:cNvSpPr/>
          <p:nvPr/>
        </p:nvSpPr>
        <p:spPr>
          <a:xfrm>
            <a:off x="585216" y="3364992"/>
            <a:ext cx="777240" cy="384048"/>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DE-020</a:t>
            </a:r>
            <a:endParaRPr lang="en-US" sz="1000" dirty="0"/>
          </a:p>
        </p:txBody>
      </p:sp>
      <p:sp>
        <p:nvSpPr>
          <p:cNvPr id="35" name="Text 33"/>
          <p:cNvSpPr/>
          <p:nvPr/>
        </p:nvSpPr>
        <p:spPr>
          <a:xfrm>
            <a:off x="1417320" y="3364992"/>
            <a:ext cx="2331720" cy="384048"/>
          </a:xfrm>
          <a:prstGeom prst="rect">
            <a:avLst/>
          </a:prstGeom>
          <a:noFill/>
          <a:ln/>
        </p:spPr>
        <p:txBody>
          <a:bodyPr wrap="square" lIns="0" tIns="0" rIns="0" bIns="0" rtlCol="0" anchor="ctr"/>
          <a:lstStyle/>
          <a:p>
            <a:pPr indent="0" marL="0">
              <a:buNone/>
            </a:pPr>
            <a:r>
              <a:rPr lang="en-US" sz="1000" dirty="0">
                <a:solidFill>
                  <a:srgbClr val="12202E"/>
                </a:solidFill>
                <a:latin typeface="Calibri" pitchFamily="34" charset="0"/>
                <a:ea typeface="Calibri" pitchFamily="34" charset="-122"/>
                <a:cs typeface="Calibri" pitchFamily="34" charset="-120"/>
              </a:rPr>
              <a:t>Body temperature</a:t>
            </a:r>
            <a:endParaRPr lang="en-US" sz="1000" dirty="0"/>
          </a:p>
        </p:txBody>
      </p:sp>
      <p:sp>
        <p:nvSpPr>
          <p:cNvPr id="36" name="Text 34"/>
          <p:cNvSpPr/>
          <p:nvPr/>
        </p:nvSpPr>
        <p:spPr>
          <a:xfrm>
            <a:off x="3803904" y="3364992"/>
            <a:ext cx="1234440" cy="384048"/>
          </a:xfrm>
          <a:prstGeom prst="rect">
            <a:avLst/>
          </a:prstGeom>
          <a:noFill/>
          <a:ln/>
        </p:spPr>
        <p:txBody>
          <a:bodyPr wrap="square" lIns="0" tIns="0" rIns="0" bIns="0" rtlCol="0" anchor="ctr"/>
          <a:lstStyle/>
          <a:p>
            <a:pPr indent="0" marL="0">
              <a:buNone/>
            </a:pPr>
            <a:r>
              <a:rPr lang="en-US" sz="1000" dirty="0">
                <a:solidFill>
                  <a:srgbClr val="12202E"/>
                </a:solidFill>
                <a:latin typeface="Calibri" pitchFamily="34" charset="0"/>
                <a:ea typeface="Calibri" pitchFamily="34" charset="-122"/>
                <a:cs typeface="Calibri" pitchFamily="34" charset="-120"/>
              </a:rPr>
              <a:t>decimal</a:t>
            </a:r>
            <a:endParaRPr lang="en-US" sz="1000" dirty="0"/>
          </a:p>
        </p:txBody>
      </p:sp>
      <p:sp>
        <p:nvSpPr>
          <p:cNvPr id="37" name="Text 35"/>
          <p:cNvSpPr/>
          <p:nvPr/>
        </p:nvSpPr>
        <p:spPr>
          <a:xfrm>
            <a:off x="5093208" y="3364992"/>
            <a:ext cx="1691640" cy="384048"/>
          </a:xfrm>
          <a:prstGeom prst="rect">
            <a:avLst/>
          </a:prstGeom>
          <a:noFill/>
          <a:ln/>
        </p:spPr>
        <p:txBody>
          <a:bodyPr wrap="square" lIns="0" tIns="0" rIns="0" bIns="0" rtlCol="0" anchor="ctr"/>
          <a:lstStyle/>
          <a:p>
            <a:pPr indent="0" marL="0">
              <a:buNone/>
            </a:pPr>
            <a:r>
              <a:rPr lang="en-US" sz="1000" dirty="0">
                <a:solidFill>
                  <a:srgbClr val="5D7186"/>
                </a:solidFill>
                <a:latin typeface="Calibri" pitchFamily="34" charset="0"/>
                <a:ea typeface="Calibri" pitchFamily="34" charset="-122"/>
                <a:cs typeface="Calibri" pitchFamily="34" charset="-120"/>
              </a:rPr>
              <a:t>LOINC 8310-5</a:t>
            </a:r>
            <a:endParaRPr lang="en-US" sz="1000" dirty="0"/>
          </a:p>
        </p:txBody>
      </p:sp>
      <p:sp>
        <p:nvSpPr>
          <p:cNvPr id="38" name="Text 36"/>
          <p:cNvSpPr/>
          <p:nvPr/>
        </p:nvSpPr>
        <p:spPr>
          <a:xfrm>
            <a:off x="6839712" y="3364992"/>
            <a:ext cx="2240280" cy="384048"/>
          </a:xfrm>
          <a:prstGeom prst="rect">
            <a:avLst/>
          </a:prstGeom>
          <a:noFill/>
          <a:ln/>
        </p:spPr>
        <p:txBody>
          <a:bodyPr wrap="square" lIns="0" tIns="0" rIns="0" bIns="0" rtlCol="0" anchor="ctr"/>
          <a:lstStyle/>
          <a:p>
            <a:pPr indent="0" marL="0">
              <a:buNone/>
            </a:pPr>
            <a:r>
              <a:rPr lang="en-US" sz="1000" dirty="0">
                <a:solidFill>
                  <a:srgbClr val="5D7186"/>
                </a:solidFill>
                <a:latin typeface="Calibri" pitchFamily="34" charset="0"/>
                <a:ea typeface="Calibri" pitchFamily="34" charset="-122"/>
                <a:cs typeface="Calibri" pitchFamily="34" charset="-120"/>
              </a:rPr>
              <a:t>Observation.valueQuantity</a:t>
            </a:r>
            <a:endParaRPr lang="en-US" sz="1000" dirty="0"/>
          </a:p>
        </p:txBody>
      </p:sp>
      <p:sp>
        <p:nvSpPr>
          <p:cNvPr id="39" name="Text 37"/>
          <p:cNvSpPr/>
          <p:nvPr/>
        </p:nvSpPr>
        <p:spPr>
          <a:xfrm>
            <a:off x="9134856" y="3364992"/>
            <a:ext cx="2651760" cy="384048"/>
          </a:xfrm>
          <a:prstGeom prst="rect">
            <a:avLst/>
          </a:prstGeom>
          <a:noFill/>
          <a:ln/>
        </p:spPr>
        <p:txBody>
          <a:bodyPr wrap="square" lIns="0" tIns="0" rIns="0" bIns="0" rtlCol="0" anchor="ctr"/>
          <a:lstStyle/>
          <a:p>
            <a:pPr indent="0" marL="0">
              <a:buNone/>
            </a:pPr>
            <a:r>
              <a:rPr lang="en-US" sz="1000" dirty="0">
                <a:solidFill>
                  <a:srgbClr val="5D7186"/>
                </a:solidFill>
                <a:latin typeface="Calibri" pitchFamily="34" charset="0"/>
                <a:ea typeface="Calibri" pitchFamily="34" charset="-122"/>
                <a:cs typeface="Calibri" pitchFamily="34" charset="-120"/>
              </a:rPr>
              <a:t>CDC — fever &gt; 38 °C</a:t>
            </a:r>
            <a:endParaRPr lang="en-US" sz="1000" dirty="0"/>
          </a:p>
        </p:txBody>
      </p:sp>
      <p:sp>
        <p:nvSpPr>
          <p:cNvPr id="40" name="Shape 38"/>
          <p:cNvSpPr/>
          <p:nvPr/>
        </p:nvSpPr>
        <p:spPr>
          <a:xfrm>
            <a:off x="566928" y="3822192"/>
            <a:ext cx="11064240" cy="384048"/>
          </a:xfrm>
          <a:prstGeom prst="roundRect">
            <a:avLst>
              <a:gd name="adj" fmla="val 21429"/>
            </a:avLst>
          </a:prstGeom>
          <a:solidFill>
            <a:srgbClr val="FFFFFF"/>
          </a:solidFill>
          <a:ln w="12700">
            <a:solidFill>
              <a:srgbClr val="FFFFFF"/>
            </a:solidFill>
            <a:prstDash val="solid"/>
          </a:ln>
        </p:spPr>
      </p:sp>
      <p:sp>
        <p:nvSpPr>
          <p:cNvPr id="41" name="Text 39"/>
          <p:cNvSpPr/>
          <p:nvPr/>
        </p:nvSpPr>
        <p:spPr>
          <a:xfrm>
            <a:off x="585216" y="3822192"/>
            <a:ext cx="777240" cy="384048"/>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DE-030</a:t>
            </a:r>
            <a:endParaRPr lang="en-US" sz="1000" dirty="0"/>
          </a:p>
        </p:txBody>
      </p:sp>
      <p:sp>
        <p:nvSpPr>
          <p:cNvPr id="42" name="Text 40"/>
          <p:cNvSpPr/>
          <p:nvPr/>
        </p:nvSpPr>
        <p:spPr>
          <a:xfrm>
            <a:off x="1417320" y="3822192"/>
            <a:ext cx="2331720" cy="384048"/>
          </a:xfrm>
          <a:prstGeom prst="rect">
            <a:avLst/>
          </a:prstGeom>
          <a:noFill/>
          <a:ln/>
        </p:spPr>
        <p:txBody>
          <a:bodyPr wrap="square" lIns="0" tIns="0" rIns="0" bIns="0" rtlCol="0" anchor="ctr"/>
          <a:lstStyle/>
          <a:p>
            <a:pPr indent="0" marL="0">
              <a:buNone/>
            </a:pPr>
            <a:r>
              <a:rPr lang="en-US" sz="1000" dirty="0">
                <a:solidFill>
                  <a:srgbClr val="12202E"/>
                </a:solidFill>
                <a:latin typeface="Calibri" pitchFamily="34" charset="0"/>
                <a:ea typeface="Calibri" pitchFamily="34" charset="-122"/>
                <a:cs typeface="Calibri" pitchFamily="34" charset="-120"/>
              </a:rPr>
              <a:t>Wound appearance</a:t>
            </a:r>
            <a:endParaRPr lang="en-US" sz="1000" dirty="0"/>
          </a:p>
        </p:txBody>
      </p:sp>
      <p:sp>
        <p:nvSpPr>
          <p:cNvPr id="43" name="Text 41"/>
          <p:cNvSpPr/>
          <p:nvPr/>
        </p:nvSpPr>
        <p:spPr>
          <a:xfrm>
            <a:off x="3803904" y="3822192"/>
            <a:ext cx="1234440" cy="384048"/>
          </a:xfrm>
          <a:prstGeom prst="rect">
            <a:avLst/>
          </a:prstGeom>
          <a:noFill/>
          <a:ln/>
        </p:spPr>
        <p:txBody>
          <a:bodyPr wrap="square" lIns="0" tIns="0" rIns="0" bIns="0" rtlCol="0" anchor="ctr"/>
          <a:lstStyle/>
          <a:p>
            <a:pPr indent="0" marL="0">
              <a:buNone/>
            </a:pPr>
            <a:r>
              <a:rPr lang="en-US" sz="1000" dirty="0">
                <a:solidFill>
                  <a:srgbClr val="12202E"/>
                </a:solidFill>
                <a:latin typeface="Calibri" pitchFamily="34" charset="0"/>
                <a:ea typeface="Calibri" pitchFamily="34" charset="-122"/>
                <a:cs typeface="Calibri" pitchFamily="34" charset="-120"/>
              </a:rPr>
              <a:t>select_one</a:t>
            </a:r>
            <a:endParaRPr lang="en-US" sz="1000" dirty="0"/>
          </a:p>
        </p:txBody>
      </p:sp>
      <p:sp>
        <p:nvSpPr>
          <p:cNvPr id="44" name="Text 42"/>
          <p:cNvSpPr/>
          <p:nvPr/>
        </p:nvSpPr>
        <p:spPr>
          <a:xfrm>
            <a:off x="5093208" y="3822192"/>
            <a:ext cx="1691640" cy="384048"/>
          </a:xfrm>
          <a:prstGeom prst="rect">
            <a:avLst/>
          </a:prstGeom>
          <a:noFill/>
          <a:ln/>
        </p:spPr>
        <p:txBody>
          <a:bodyPr wrap="square" lIns="0" tIns="0" rIns="0" bIns="0" rtlCol="0" anchor="ctr"/>
          <a:lstStyle/>
          <a:p>
            <a:pPr indent="0" marL="0">
              <a:buNone/>
            </a:pPr>
            <a:r>
              <a:rPr lang="en-US" sz="1000" dirty="0">
                <a:solidFill>
                  <a:srgbClr val="5D7186"/>
                </a:solidFill>
                <a:latin typeface="Calibri" pitchFamily="34" charset="0"/>
                <a:ea typeface="Calibri" pitchFamily="34" charset="-122"/>
                <a:cs typeface="Calibri" pitchFamily="34" charset="-120"/>
              </a:rPr>
              <a:t>SNOMED 225552003</a:t>
            </a:r>
            <a:endParaRPr lang="en-US" sz="1000" dirty="0"/>
          </a:p>
        </p:txBody>
      </p:sp>
      <p:sp>
        <p:nvSpPr>
          <p:cNvPr id="45" name="Text 43"/>
          <p:cNvSpPr/>
          <p:nvPr/>
        </p:nvSpPr>
        <p:spPr>
          <a:xfrm>
            <a:off x="6839712" y="3822192"/>
            <a:ext cx="2240280" cy="384048"/>
          </a:xfrm>
          <a:prstGeom prst="rect">
            <a:avLst/>
          </a:prstGeom>
          <a:noFill/>
          <a:ln/>
        </p:spPr>
        <p:txBody>
          <a:bodyPr wrap="square" lIns="0" tIns="0" rIns="0" bIns="0" rtlCol="0" anchor="ctr"/>
          <a:lstStyle/>
          <a:p>
            <a:pPr indent="0" marL="0">
              <a:buNone/>
            </a:pPr>
            <a:r>
              <a:rPr lang="en-US" sz="1000" dirty="0">
                <a:solidFill>
                  <a:srgbClr val="5D7186"/>
                </a:solidFill>
                <a:latin typeface="Calibri" pitchFamily="34" charset="0"/>
                <a:ea typeface="Calibri" pitchFamily="34" charset="-122"/>
                <a:cs typeface="Calibri" pitchFamily="34" charset="-120"/>
              </a:rPr>
              <a:t>Observation.valueCodeable</a:t>
            </a:r>
            <a:endParaRPr lang="en-US" sz="1000" dirty="0"/>
          </a:p>
        </p:txBody>
      </p:sp>
      <p:sp>
        <p:nvSpPr>
          <p:cNvPr id="46" name="Text 44"/>
          <p:cNvSpPr/>
          <p:nvPr/>
        </p:nvSpPr>
        <p:spPr>
          <a:xfrm>
            <a:off x="9134856" y="3822192"/>
            <a:ext cx="2651760" cy="384048"/>
          </a:xfrm>
          <a:prstGeom prst="rect">
            <a:avLst/>
          </a:prstGeom>
          <a:noFill/>
          <a:ln/>
        </p:spPr>
        <p:txBody>
          <a:bodyPr wrap="square" lIns="0" tIns="0" rIns="0" bIns="0" rtlCol="0" anchor="ctr"/>
          <a:lstStyle/>
          <a:p>
            <a:pPr indent="0" marL="0">
              <a:buNone/>
            </a:pPr>
            <a:r>
              <a:rPr lang="en-US" sz="1000" dirty="0">
                <a:solidFill>
                  <a:srgbClr val="5D7186"/>
                </a:solidFill>
                <a:latin typeface="Calibri" pitchFamily="34" charset="0"/>
                <a:ea typeface="Calibri" pitchFamily="34" charset="-122"/>
                <a:cs typeface="Calibri" pitchFamily="34" charset="-120"/>
              </a:rPr>
              <a:t>Southampton 0–V</a:t>
            </a:r>
            <a:endParaRPr lang="en-US" sz="1000" dirty="0"/>
          </a:p>
        </p:txBody>
      </p:sp>
      <p:sp>
        <p:nvSpPr>
          <p:cNvPr id="47" name="Shape 45"/>
          <p:cNvSpPr/>
          <p:nvPr/>
        </p:nvSpPr>
        <p:spPr>
          <a:xfrm>
            <a:off x="566928" y="4279392"/>
            <a:ext cx="11064240" cy="384048"/>
          </a:xfrm>
          <a:prstGeom prst="roundRect">
            <a:avLst>
              <a:gd name="adj" fmla="val 21429"/>
            </a:avLst>
          </a:prstGeom>
          <a:solidFill>
            <a:srgbClr val="F5F7FA"/>
          </a:solidFill>
          <a:ln w="12700">
            <a:solidFill>
              <a:srgbClr val="DDE5EE"/>
            </a:solidFill>
            <a:prstDash val="solid"/>
          </a:ln>
        </p:spPr>
      </p:sp>
      <p:sp>
        <p:nvSpPr>
          <p:cNvPr id="48" name="Text 46"/>
          <p:cNvSpPr/>
          <p:nvPr/>
        </p:nvSpPr>
        <p:spPr>
          <a:xfrm>
            <a:off x="585216" y="4279392"/>
            <a:ext cx="777240" cy="384048"/>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DE-032</a:t>
            </a:r>
            <a:endParaRPr lang="en-US" sz="1000" dirty="0"/>
          </a:p>
        </p:txBody>
      </p:sp>
      <p:sp>
        <p:nvSpPr>
          <p:cNvPr id="49" name="Text 47"/>
          <p:cNvSpPr/>
          <p:nvPr/>
        </p:nvSpPr>
        <p:spPr>
          <a:xfrm>
            <a:off x="1417320" y="4279392"/>
            <a:ext cx="2331720" cy="384048"/>
          </a:xfrm>
          <a:prstGeom prst="rect">
            <a:avLst/>
          </a:prstGeom>
          <a:noFill/>
          <a:ln/>
        </p:spPr>
        <p:txBody>
          <a:bodyPr wrap="square" lIns="0" tIns="0" rIns="0" bIns="0" rtlCol="0" anchor="ctr"/>
          <a:lstStyle/>
          <a:p>
            <a:pPr indent="0" marL="0">
              <a:buNone/>
            </a:pPr>
            <a:r>
              <a:rPr lang="en-US" sz="1000" dirty="0">
                <a:solidFill>
                  <a:srgbClr val="12202E"/>
                </a:solidFill>
                <a:latin typeface="Calibri" pitchFamily="34" charset="0"/>
                <a:ea typeface="Calibri" pitchFamily="34" charset="-122"/>
                <a:cs typeface="Calibri" pitchFamily="34" charset="-120"/>
              </a:rPr>
              <a:t>Red streak</a:t>
            </a:r>
            <a:endParaRPr lang="en-US" sz="1000" dirty="0"/>
          </a:p>
        </p:txBody>
      </p:sp>
      <p:sp>
        <p:nvSpPr>
          <p:cNvPr id="50" name="Text 48"/>
          <p:cNvSpPr/>
          <p:nvPr/>
        </p:nvSpPr>
        <p:spPr>
          <a:xfrm>
            <a:off x="3803904" y="4279392"/>
            <a:ext cx="1234440" cy="384048"/>
          </a:xfrm>
          <a:prstGeom prst="rect">
            <a:avLst/>
          </a:prstGeom>
          <a:noFill/>
          <a:ln/>
        </p:spPr>
        <p:txBody>
          <a:bodyPr wrap="square" lIns="0" tIns="0" rIns="0" bIns="0" rtlCol="0" anchor="ctr"/>
          <a:lstStyle/>
          <a:p>
            <a:pPr indent="0" marL="0">
              <a:buNone/>
            </a:pPr>
            <a:r>
              <a:rPr lang="en-US" sz="1000" dirty="0">
                <a:solidFill>
                  <a:srgbClr val="12202E"/>
                </a:solidFill>
                <a:latin typeface="Calibri" pitchFamily="34" charset="0"/>
                <a:ea typeface="Calibri" pitchFamily="34" charset="-122"/>
                <a:cs typeface="Calibri" pitchFamily="34" charset="-120"/>
              </a:rPr>
              <a:t>select_one</a:t>
            </a:r>
            <a:endParaRPr lang="en-US" sz="1000" dirty="0"/>
          </a:p>
        </p:txBody>
      </p:sp>
      <p:sp>
        <p:nvSpPr>
          <p:cNvPr id="51" name="Text 49"/>
          <p:cNvSpPr/>
          <p:nvPr/>
        </p:nvSpPr>
        <p:spPr>
          <a:xfrm>
            <a:off x="5093208" y="4279392"/>
            <a:ext cx="1691640" cy="384048"/>
          </a:xfrm>
          <a:prstGeom prst="rect">
            <a:avLst/>
          </a:prstGeom>
          <a:noFill/>
          <a:ln/>
        </p:spPr>
        <p:txBody>
          <a:bodyPr wrap="square" lIns="0" tIns="0" rIns="0" bIns="0" rtlCol="0" anchor="ctr"/>
          <a:lstStyle/>
          <a:p>
            <a:pPr indent="0" marL="0">
              <a:buNone/>
            </a:pPr>
            <a:r>
              <a:rPr lang="en-US" sz="1000" dirty="0">
                <a:solidFill>
                  <a:srgbClr val="5D7186"/>
                </a:solidFill>
                <a:latin typeface="Calibri" pitchFamily="34" charset="0"/>
                <a:ea typeface="Calibri" pitchFamily="34" charset="-122"/>
                <a:cs typeface="Calibri" pitchFamily="34" charset="-120"/>
              </a:rPr>
              <a:t>SNOMED 46117009</a:t>
            </a:r>
            <a:endParaRPr lang="en-US" sz="1000" dirty="0"/>
          </a:p>
        </p:txBody>
      </p:sp>
      <p:sp>
        <p:nvSpPr>
          <p:cNvPr id="52" name="Text 50"/>
          <p:cNvSpPr/>
          <p:nvPr/>
        </p:nvSpPr>
        <p:spPr>
          <a:xfrm>
            <a:off x="6839712" y="4279392"/>
            <a:ext cx="2240280" cy="384048"/>
          </a:xfrm>
          <a:prstGeom prst="rect">
            <a:avLst/>
          </a:prstGeom>
          <a:noFill/>
          <a:ln/>
        </p:spPr>
        <p:txBody>
          <a:bodyPr wrap="square" lIns="0" tIns="0" rIns="0" bIns="0" rtlCol="0" anchor="ctr"/>
          <a:lstStyle/>
          <a:p>
            <a:pPr indent="0" marL="0">
              <a:buNone/>
            </a:pPr>
            <a:r>
              <a:rPr lang="en-US" sz="1000" dirty="0">
                <a:solidFill>
                  <a:srgbClr val="5D7186"/>
                </a:solidFill>
                <a:latin typeface="Calibri" pitchFamily="34" charset="0"/>
                <a:ea typeface="Calibri" pitchFamily="34" charset="-122"/>
                <a:cs typeface="Calibri" pitchFamily="34" charset="-120"/>
              </a:rPr>
              <a:t>Observation.valueCodeable</a:t>
            </a:r>
            <a:endParaRPr lang="en-US" sz="1000" dirty="0"/>
          </a:p>
        </p:txBody>
      </p:sp>
      <p:sp>
        <p:nvSpPr>
          <p:cNvPr id="53" name="Text 51"/>
          <p:cNvSpPr/>
          <p:nvPr/>
        </p:nvSpPr>
        <p:spPr>
          <a:xfrm>
            <a:off x="9134856" y="4279392"/>
            <a:ext cx="2651760" cy="384048"/>
          </a:xfrm>
          <a:prstGeom prst="rect">
            <a:avLst/>
          </a:prstGeom>
          <a:noFill/>
          <a:ln/>
        </p:spPr>
        <p:txBody>
          <a:bodyPr wrap="square" lIns="0" tIns="0" rIns="0" bIns="0" rtlCol="0" anchor="ctr"/>
          <a:lstStyle/>
          <a:p>
            <a:pPr indent="0" marL="0">
              <a:buNone/>
            </a:pPr>
            <a:r>
              <a:rPr lang="en-US" sz="1000" dirty="0">
                <a:solidFill>
                  <a:srgbClr val="5D7186"/>
                </a:solidFill>
                <a:latin typeface="Calibri" pitchFamily="34" charset="0"/>
                <a:ea typeface="Calibri" pitchFamily="34" charset="-122"/>
                <a:cs typeface="Calibri" pitchFamily="34" charset="-120"/>
              </a:rPr>
              <a:t>NICE NG125 §1.4.9</a:t>
            </a:r>
            <a:endParaRPr lang="en-US" sz="1000" dirty="0"/>
          </a:p>
        </p:txBody>
      </p:sp>
      <p:sp>
        <p:nvSpPr>
          <p:cNvPr id="54" name="Shape 52"/>
          <p:cNvSpPr/>
          <p:nvPr/>
        </p:nvSpPr>
        <p:spPr>
          <a:xfrm>
            <a:off x="566928" y="4736592"/>
            <a:ext cx="11064240" cy="384048"/>
          </a:xfrm>
          <a:prstGeom prst="roundRect">
            <a:avLst>
              <a:gd name="adj" fmla="val 21429"/>
            </a:avLst>
          </a:prstGeom>
          <a:solidFill>
            <a:srgbClr val="FFFFFF"/>
          </a:solidFill>
          <a:ln w="12700">
            <a:solidFill>
              <a:srgbClr val="FFFFFF"/>
            </a:solidFill>
            <a:prstDash val="solid"/>
          </a:ln>
        </p:spPr>
      </p:sp>
      <p:sp>
        <p:nvSpPr>
          <p:cNvPr id="55" name="Text 53"/>
          <p:cNvSpPr/>
          <p:nvPr/>
        </p:nvSpPr>
        <p:spPr>
          <a:xfrm>
            <a:off x="585216" y="4736592"/>
            <a:ext cx="777240" cy="384048"/>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DE-035</a:t>
            </a:r>
            <a:endParaRPr lang="en-US" sz="1000" dirty="0"/>
          </a:p>
        </p:txBody>
      </p:sp>
      <p:sp>
        <p:nvSpPr>
          <p:cNvPr id="56" name="Text 54"/>
          <p:cNvSpPr/>
          <p:nvPr/>
        </p:nvSpPr>
        <p:spPr>
          <a:xfrm>
            <a:off x="1417320" y="4736592"/>
            <a:ext cx="2331720" cy="384048"/>
          </a:xfrm>
          <a:prstGeom prst="rect">
            <a:avLst/>
          </a:prstGeom>
          <a:noFill/>
          <a:ln/>
        </p:spPr>
        <p:txBody>
          <a:bodyPr wrap="square" lIns="0" tIns="0" rIns="0" bIns="0" rtlCol="0" anchor="ctr"/>
          <a:lstStyle/>
          <a:p>
            <a:pPr indent="0" marL="0">
              <a:buNone/>
            </a:pPr>
            <a:r>
              <a:rPr lang="en-US" sz="1000" dirty="0">
                <a:solidFill>
                  <a:srgbClr val="12202E"/>
                </a:solidFill>
                <a:latin typeface="Calibri" pitchFamily="34" charset="0"/>
                <a:ea typeface="Calibri" pitchFamily="34" charset="-122"/>
                <a:cs typeface="Calibri" pitchFamily="34" charset="-120"/>
              </a:rPr>
              <a:t>Discharge</a:t>
            </a:r>
            <a:endParaRPr lang="en-US" sz="1000" dirty="0"/>
          </a:p>
        </p:txBody>
      </p:sp>
      <p:sp>
        <p:nvSpPr>
          <p:cNvPr id="57" name="Text 55"/>
          <p:cNvSpPr/>
          <p:nvPr/>
        </p:nvSpPr>
        <p:spPr>
          <a:xfrm>
            <a:off x="3803904" y="4736592"/>
            <a:ext cx="1234440" cy="384048"/>
          </a:xfrm>
          <a:prstGeom prst="rect">
            <a:avLst/>
          </a:prstGeom>
          <a:noFill/>
          <a:ln/>
        </p:spPr>
        <p:txBody>
          <a:bodyPr wrap="square" lIns="0" tIns="0" rIns="0" bIns="0" rtlCol="0" anchor="ctr"/>
          <a:lstStyle/>
          <a:p>
            <a:pPr indent="0" marL="0">
              <a:buNone/>
            </a:pPr>
            <a:r>
              <a:rPr lang="en-US" sz="1000" dirty="0">
                <a:solidFill>
                  <a:srgbClr val="12202E"/>
                </a:solidFill>
                <a:latin typeface="Calibri" pitchFamily="34" charset="0"/>
                <a:ea typeface="Calibri" pitchFamily="34" charset="-122"/>
                <a:cs typeface="Calibri" pitchFamily="34" charset="-120"/>
              </a:rPr>
              <a:t>select_one</a:t>
            </a:r>
            <a:endParaRPr lang="en-US" sz="1000" dirty="0"/>
          </a:p>
        </p:txBody>
      </p:sp>
      <p:sp>
        <p:nvSpPr>
          <p:cNvPr id="58" name="Text 56"/>
          <p:cNvSpPr/>
          <p:nvPr/>
        </p:nvSpPr>
        <p:spPr>
          <a:xfrm>
            <a:off x="5093208" y="4736592"/>
            <a:ext cx="1691640" cy="384048"/>
          </a:xfrm>
          <a:prstGeom prst="rect">
            <a:avLst/>
          </a:prstGeom>
          <a:noFill/>
          <a:ln/>
        </p:spPr>
        <p:txBody>
          <a:bodyPr wrap="square" lIns="0" tIns="0" rIns="0" bIns="0" rtlCol="0" anchor="ctr"/>
          <a:lstStyle/>
          <a:p>
            <a:pPr indent="0" marL="0">
              <a:buNone/>
            </a:pPr>
            <a:r>
              <a:rPr lang="en-US" sz="1000" dirty="0">
                <a:solidFill>
                  <a:srgbClr val="5D7186"/>
                </a:solidFill>
                <a:latin typeface="Calibri" pitchFamily="34" charset="0"/>
                <a:ea typeface="Calibri" pitchFamily="34" charset="-122"/>
                <a:cs typeface="Calibri" pitchFamily="34" charset="-120"/>
              </a:rPr>
              <a:t>SNOMED 449736006</a:t>
            </a:r>
            <a:endParaRPr lang="en-US" sz="1000" dirty="0"/>
          </a:p>
        </p:txBody>
      </p:sp>
      <p:sp>
        <p:nvSpPr>
          <p:cNvPr id="59" name="Text 57"/>
          <p:cNvSpPr/>
          <p:nvPr/>
        </p:nvSpPr>
        <p:spPr>
          <a:xfrm>
            <a:off x="6839712" y="4736592"/>
            <a:ext cx="2240280" cy="384048"/>
          </a:xfrm>
          <a:prstGeom prst="rect">
            <a:avLst/>
          </a:prstGeom>
          <a:noFill/>
          <a:ln/>
        </p:spPr>
        <p:txBody>
          <a:bodyPr wrap="square" lIns="0" tIns="0" rIns="0" bIns="0" rtlCol="0" anchor="ctr"/>
          <a:lstStyle/>
          <a:p>
            <a:pPr indent="0" marL="0">
              <a:buNone/>
            </a:pPr>
            <a:r>
              <a:rPr lang="en-US" sz="1000" dirty="0">
                <a:solidFill>
                  <a:srgbClr val="5D7186"/>
                </a:solidFill>
                <a:latin typeface="Calibri" pitchFamily="34" charset="0"/>
                <a:ea typeface="Calibri" pitchFamily="34" charset="-122"/>
                <a:cs typeface="Calibri" pitchFamily="34" charset="-120"/>
              </a:rPr>
              <a:t>Observation.valueCodeable</a:t>
            </a:r>
            <a:endParaRPr lang="en-US" sz="1000" dirty="0"/>
          </a:p>
        </p:txBody>
      </p:sp>
      <p:sp>
        <p:nvSpPr>
          <p:cNvPr id="60" name="Text 58"/>
          <p:cNvSpPr/>
          <p:nvPr/>
        </p:nvSpPr>
        <p:spPr>
          <a:xfrm>
            <a:off x="9134856" y="4736592"/>
            <a:ext cx="2651760" cy="384048"/>
          </a:xfrm>
          <a:prstGeom prst="rect">
            <a:avLst/>
          </a:prstGeom>
          <a:noFill/>
          <a:ln/>
        </p:spPr>
        <p:txBody>
          <a:bodyPr wrap="square" lIns="0" tIns="0" rIns="0" bIns="0" rtlCol="0" anchor="ctr"/>
          <a:lstStyle/>
          <a:p>
            <a:pPr indent="0" marL="0">
              <a:buNone/>
            </a:pPr>
            <a:r>
              <a:rPr lang="en-US" sz="1000" dirty="0">
                <a:solidFill>
                  <a:srgbClr val="5D7186"/>
                </a:solidFill>
                <a:latin typeface="Calibri" pitchFamily="34" charset="0"/>
                <a:ea typeface="Calibri" pitchFamily="34" charset="-122"/>
                <a:cs typeface="Calibri" pitchFamily="34" charset="-120"/>
              </a:rPr>
              <a:t>CDC — purulent drainage</a:t>
            </a:r>
            <a:endParaRPr lang="en-US" sz="1000" dirty="0"/>
          </a:p>
        </p:txBody>
      </p:sp>
      <p:sp>
        <p:nvSpPr>
          <p:cNvPr id="61" name="Shape 59"/>
          <p:cNvSpPr/>
          <p:nvPr/>
        </p:nvSpPr>
        <p:spPr>
          <a:xfrm>
            <a:off x="566928" y="5193792"/>
            <a:ext cx="11064240" cy="384048"/>
          </a:xfrm>
          <a:prstGeom prst="roundRect">
            <a:avLst>
              <a:gd name="adj" fmla="val 21429"/>
            </a:avLst>
          </a:prstGeom>
          <a:solidFill>
            <a:srgbClr val="F5F7FA"/>
          </a:solidFill>
          <a:ln w="12700">
            <a:solidFill>
              <a:srgbClr val="DDE5EE"/>
            </a:solidFill>
            <a:prstDash val="solid"/>
          </a:ln>
        </p:spPr>
      </p:sp>
      <p:sp>
        <p:nvSpPr>
          <p:cNvPr id="62" name="Text 60"/>
          <p:cNvSpPr/>
          <p:nvPr/>
        </p:nvSpPr>
        <p:spPr>
          <a:xfrm>
            <a:off x="585216" y="5193792"/>
            <a:ext cx="777240" cy="384048"/>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DE-045</a:t>
            </a:r>
            <a:endParaRPr lang="en-US" sz="1000" dirty="0"/>
          </a:p>
        </p:txBody>
      </p:sp>
      <p:sp>
        <p:nvSpPr>
          <p:cNvPr id="63" name="Text 61"/>
          <p:cNvSpPr/>
          <p:nvPr/>
        </p:nvSpPr>
        <p:spPr>
          <a:xfrm>
            <a:off x="1417320" y="5193792"/>
            <a:ext cx="2331720" cy="384048"/>
          </a:xfrm>
          <a:prstGeom prst="rect">
            <a:avLst/>
          </a:prstGeom>
          <a:noFill/>
          <a:ln/>
        </p:spPr>
        <p:txBody>
          <a:bodyPr wrap="square" lIns="0" tIns="0" rIns="0" bIns="0" rtlCol="0" anchor="ctr"/>
          <a:lstStyle/>
          <a:p>
            <a:pPr indent="0" marL="0">
              <a:buNone/>
            </a:pPr>
            <a:r>
              <a:rPr lang="en-US" sz="1000" dirty="0">
                <a:solidFill>
                  <a:srgbClr val="12202E"/>
                </a:solidFill>
                <a:latin typeface="Calibri" pitchFamily="34" charset="0"/>
                <a:ea typeface="Calibri" pitchFamily="34" charset="-122"/>
                <a:cs typeface="Calibri" pitchFamily="34" charset="-120"/>
              </a:rPr>
              <a:t>Southampton grade</a:t>
            </a:r>
            <a:endParaRPr lang="en-US" sz="1000" dirty="0"/>
          </a:p>
        </p:txBody>
      </p:sp>
      <p:sp>
        <p:nvSpPr>
          <p:cNvPr id="64" name="Text 62"/>
          <p:cNvSpPr/>
          <p:nvPr/>
        </p:nvSpPr>
        <p:spPr>
          <a:xfrm>
            <a:off x="3803904" y="5193792"/>
            <a:ext cx="1234440" cy="384048"/>
          </a:xfrm>
          <a:prstGeom prst="rect">
            <a:avLst/>
          </a:prstGeom>
          <a:noFill/>
          <a:ln/>
        </p:spPr>
        <p:txBody>
          <a:bodyPr wrap="square" lIns="0" tIns="0" rIns="0" bIns="0" rtlCol="0" anchor="ctr"/>
          <a:lstStyle/>
          <a:p>
            <a:pPr indent="0" marL="0">
              <a:buNone/>
            </a:pPr>
            <a:r>
              <a:rPr lang="en-US" sz="1000" dirty="0">
                <a:solidFill>
                  <a:srgbClr val="12202E"/>
                </a:solidFill>
                <a:latin typeface="Calibri" pitchFamily="34" charset="0"/>
                <a:ea typeface="Calibri" pitchFamily="34" charset="-122"/>
                <a:cs typeface="Calibri" pitchFamily="34" charset="-120"/>
              </a:rPr>
              <a:t>calculated</a:t>
            </a:r>
            <a:endParaRPr lang="en-US" sz="1000" dirty="0"/>
          </a:p>
        </p:txBody>
      </p:sp>
      <p:sp>
        <p:nvSpPr>
          <p:cNvPr id="65" name="Text 63"/>
          <p:cNvSpPr/>
          <p:nvPr/>
        </p:nvSpPr>
        <p:spPr>
          <a:xfrm>
            <a:off x="5093208" y="5193792"/>
            <a:ext cx="1691640" cy="384048"/>
          </a:xfrm>
          <a:prstGeom prst="rect">
            <a:avLst/>
          </a:prstGeom>
          <a:noFill/>
          <a:ln/>
        </p:spPr>
        <p:txBody>
          <a:bodyPr wrap="square" lIns="0" tIns="0" rIns="0" bIns="0" rtlCol="0" anchor="ctr"/>
          <a:lstStyle/>
          <a:p>
            <a:pPr indent="0" marL="0">
              <a:buNone/>
            </a:pPr>
            <a:r>
              <a:rPr lang="en-US" sz="1000" dirty="0">
                <a:solidFill>
                  <a:srgbClr val="5D7186"/>
                </a:solidFill>
                <a:latin typeface="Calibri" pitchFamily="34" charset="0"/>
                <a:ea typeface="Calibri" pitchFamily="34" charset="-122"/>
                <a:cs typeface="Calibri" pitchFamily="34" charset="-120"/>
              </a:rPr>
              <a:t>SNOMED 225552003</a:t>
            </a:r>
            <a:endParaRPr lang="en-US" sz="1000" dirty="0"/>
          </a:p>
        </p:txBody>
      </p:sp>
      <p:sp>
        <p:nvSpPr>
          <p:cNvPr id="66" name="Text 64"/>
          <p:cNvSpPr/>
          <p:nvPr/>
        </p:nvSpPr>
        <p:spPr>
          <a:xfrm>
            <a:off x="6839712" y="5193792"/>
            <a:ext cx="2240280" cy="384048"/>
          </a:xfrm>
          <a:prstGeom prst="rect">
            <a:avLst/>
          </a:prstGeom>
          <a:noFill/>
          <a:ln/>
        </p:spPr>
        <p:txBody>
          <a:bodyPr wrap="square" lIns="0" tIns="0" rIns="0" bIns="0" rtlCol="0" anchor="ctr"/>
          <a:lstStyle/>
          <a:p>
            <a:pPr indent="0" marL="0">
              <a:buNone/>
            </a:pPr>
            <a:r>
              <a:rPr lang="en-US" sz="1000" dirty="0">
                <a:solidFill>
                  <a:srgbClr val="5D7186"/>
                </a:solidFill>
                <a:latin typeface="Calibri" pitchFamily="34" charset="0"/>
                <a:ea typeface="Calibri" pitchFamily="34" charset="-122"/>
                <a:cs typeface="Calibri" pitchFamily="34" charset="-120"/>
              </a:rPr>
              <a:t>Observation.valueCodeable</a:t>
            </a:r>
            <a:endParaRPr lang="en-US" sz="1000" dirty="0"/>
          </a:p>
        </p:txBody>
      </p:sp>
      <p:sp>
        <p:nvSpPr>
          <p:cNvPr id="67" name="Text 65"/>
          <p:cNvSpPr/>
          <p:nvPr/>
        </p:nvSpPr>
        <p:spPr>
          <a:xfrm>
            <a:off x="9134856" y="5193792"/>
            <a:ext cx="2651760" cy="384048"/>
          </a:xfrm>
          <a:prstGeom prst="rect">
            <a:avLst/>
          </a:prstGeom>
          <a:noFill/>
          <a:ln/>
        </p:spPr>
        <p:txBody>
          <a:bodyPr wrap="square" lIns="0" tIns="0" rIns="0" bIns="0" rtlCol="0" anchor="ctr"/>
          <a:lstStyle/>
          <a:p>
            <a:pPr indent="0" marL="0">
              <a:buNone/>
            </a:pPr>
            <a:r>
              <a:rPr lang="en-US" sz="1000" dirty="0">
                <a:solidFill>
                  <a:srgbClr val="5D7186"/>
                </a:solidFill>
                <a:latin typeface="Calibri" pitchFamily="34" charset="0"/>
                <a:ea typeface="Calibri" pitchFamily="34" charset="-122"/>
                <a:cs typeface="Calibri" pitchFamily="34" charset="-120"/>
              </a:rPr>
              <a:t>Southampton</a:t>
            </a:r>
            <a:endParaRPr lang="en-US" sz="1000" dirty="0"/>
          </a:p>
        </p:txBody>
      </p:sp>
      <p:sp>
        <p:nvSpPr>
          <p:cNvPr id="68" name="Shape 66"/>
          <p:cNvSpPr/>
          <p:nvPr/>
        </p:nvSpPr>
        <p:spPr>
          <a:xfrm>
            <a:off x="566928" y="5815584"/>
            <a:ext cx="11064240" cy="658368"/>
          </a:xfrm>
          <a:prstGeom prst="roundRect">
            <a:avLst>
              <a:gd name="adj" fmla="val 12500"/>
            </a:avLst>
          </a:prstGeom>
          <a:solidFill>
            <a:srgbClr val="12202E"/>
          </a:solidFill>
          <a:ln w="12700">
            <a:solidFill>
              <a:srgbClr val="12202E"/>
            </a:solidFill>
            <a:prstDash val="solid"/>
          </a:ln>
        </p:spPr>
      </p:sp>
      <p:sp>
        <p:nvSpPr>
          <p:cNvPr id="69" name="Text 67"/>
          <p:cNvSpPr/>
          <p:nvPr/>
        </p:nvSpPr>
        <p:spPr>
          <a:xfrm>
            <a:off x="841248" y="5815584"/>
            <a:ext cx="10515600" cy="658368"/>
          </a:xfrm>
          <a:prstGeom prst="rect">
            <a:avLst/>
          </a:prstGeom>
          <a:noFill/>
          <a:ln/>
        </p:spPr>
        <p:txBody>
          <a:bodyPr wrap="square" lIns="0" tIns="0" rIns="0" bIns="0" rtlCol="0" anchor="ctr"/>
          <a:lstStyle/>
          <a:p>
            <a:pPr indent="0" marL="0">
              <a:buNone/>
            </a:pPr>
            <a:r>
              <a:rPr lang="en-US" sz="1150" dirty="0">
                <a:solidFill>
                  <a:srgbClr val="C9D6E4"/>
                </a:solidFill>
                <a:latin typeface="Calibri" pitchFamily="34" charset="0"/>
                <a:ea typeface="Calibri" pitchFamily="34" charset="-122"/>
                <a:cs typeface="Calibri" pitchFamily="34" charset="-120"/>
              </a:rPr>
              <a:t>Sequence follows the patient, not the guideline: baseline data once, then “how do I feel”, then the wound — because inspecting it means opening the dressing.</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indent="0" marL="0">
              <a:buNone/>
            </a:pPr>
            <a:r>
              <a:rPr lang="en-US" sz="1050" b="1" spc="160" kern="0" dirty="0">
                <a:solidFill>
                  <a:srgbClr val="5D7186"/>
                </a:solidFill>
                <a:latin typeface="Calibri" pitchFamily="34" charset="0"/>
                <a:ea typeface="Calibri" pitchFamily="34" charset="-122"/>
                <a:cs typeface="Calibri" pitchFamily="34" charset="-120"/>
              </a:rPr>
              <a:t>L2 · DECISION LOGIC</a:t>
            </a:r>
            <a:endParaRPr lang="en-US" sz="1050" dirty="0"/>
          </a:p>
        </p:txBody>
      </p:sp>
      <p:sp>
        <p:nvSpPr>
          <p:cNvPr id="3" name="Text 1"/>
          <p:cNvSpPr/>
          <p:nvPr/>
        </p:nvSpPr>
        <p:spPr>
          <a:xfrm>
            <a:off x="566928" y="640080"/>
            <a:ext cx="8412480" cy="658368"/>
          </a:xfrm>
          <a:prstGeom prst="rect">
            <a:avLst/>
          </a:prstGeom>
          <a:noFill/>
          <a:ln/>
        </p:spPr>
        <p:txBody>
          <a:bodyPr wrap="square" lIns="0" tIns="0" rIns="0" bIns="0" rtlCol="0" anchor="t"/>
          <a:lstStyle/>
          <a:p>
            <a:pPr indent="0" marL="0">
              <a:buNone/>
            </a:pPr>
            <a:r>
              <a:rPr lang="en-US" sz="2700" b="1" dirty="0">
                <a:solidFill>
                  <a:srgbClr val="12202E"/>
                </a:solidFill>
                <a:latin typeface="Cambria" pitchFamily="34" charset="0"/>
                <a:ea typeface="Cambria" pitchFamily="34" charset="-122"/>
                <a:cs typeface="Cambria" pitchFamily="34" charset="-120"/>
              </a:rPr>
              <a:t>Worst-first: a reassuring finding can never overwrite a warning</a:t>
            </a:r>
            <a:endParaRPr lang="en-US" sz="2700" dirty="0"/>
          </a:p>
        </p:txBody>
      </p:sp>
      <p:sp>
        <p:nvSpPr>
          <p:cNvPr id="4" name="Shape 2"/>
          <p:cNvSpPr/>
          <p:nvPr/>
        </p:nvSpPr>
        <p:spPr>
          <a:xfrm>
            <a:off x="9290304" y="475488"/>
            <a:ext cx="475488" cy="274320"/>
          </a:xfrm>
          <a:prstGeom prst="roundRect">
            <a:avLst>
              <a:gd name="adj" fmla="val 46667"/>
            </a:avLst>
          </a:prstGeom>
          <a:solidFill>
            <a:srgbClr val="F5F7FA"/>
          </a:solidFill>
          <a:ln w="12700">
            <a:solidFill>
              <a:srgbClr val="DDE5EE"/>
            </a:solidFill>
            <a:prstDash val="solid"/>
          </a:ln>
        </p:spPr>
      </p:sp>
      <p:sp>
        <p:nvSpPr>
          <p:cNvPr id="5" name="Text 3"/>
          <p:cNvSpPr/>
          <p:nvPr/>
        </p:nvSpPr>
        <p:spPr>
          <a:xfrm>
            <a:off x="9290304" y="475488"/>
            <a:ext cx="475488" cy="274320"/>
          </a:xfrm>
          <a:prstGeom prst="rect">
            <a:avLst/>
          </a:prstGeom>
          <a:noFill/>
          <a:ln/>
        </p:spPr>
        <p:txBody>
          <a:bodyPr wrap="square" lIns="0" tIns="0" rIns="0" bIns="0" rtlCol="0" anchor="ctr"/>
          <a:lstStyle/>
          <a:p>
            <a:pPr algn="ctr" indent="0" marL="0">
              <a:buNone/>
            </a:pPr>
            <a:r>
              <a:rPr lang="en-US" sz="1050" b="1" dirty="0">
                <a:solidFill>
                  <a:srgbClr val="5D7186"/>
                </a:solidFill>
                <a:latin typeface="Calibri" pitchFamily="34" charset="0"/>
                <a:ea typeface="Calibri" pitchFamily="34" charset="-122"/>
                <a:cs typeface="Calibri" pitchFamily="34" charset="-120"/>
              </a:rPr>
              <a:t>L1</a:t>
            </a:r>
            <a:endParaRPr lang="en-US" sz="1050" dirty="0"/>
          </a:p>
        </p:txBody>
      </p:sp>
      <p:sp>
        <p:nvSpPr>
          <p:cNvPr id="6" name="Text 4"/>
          <p:cNvSpPr/>
          <p:nvPr/>
        </p:nvSpPr>
        <p:spPr>
          <a:xfrm>
            <a:off x="9765792" y="475488"/>
            <a:ext cx="146304" cy="274320"/>
          </a:xfrm>
          <a:prstGeom prst="rect">
            <a:avLst/>
          </a:prstGeom>
          <a:noFill/>
          <a:ln/>
        </p:spPr>
        <p:txBody>
          <a:bodyPr wrap="square" lIns="0" tIns="0" rIns="0" bIns="0" rtlCol="0" anchor="ctr"/>
          <a:lstStyle/>
          <a:p>
            <a:pPr algn="ctr" indent="0" marL="0">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7" name="Shape 5"/>
          <p:cNvSpPr/>
          <p:nvPr/>
        </p:nvSpPr>
        <p:spPr>
          <a:xfrm>
            <a:off x="9912096" y="475488"/>
            <a:ext cx="475488" cy="274320"/>
          </a:xfrm>
          <a:prstGeom prst="roundRect">
            <a:avLst>
              <a:gd name="adj" fmla="val 46667"/>
            </a:avLst>
          </a:prstGeom>
          <a:solidFill>
            <a:srgbClr val="12202E"/>
          </a:solidFill>
          <a:ln w="12700">
            <a:solidFill>
              <a:srgbClr val="12202E"/>
            </a:solidFill>
            <a:prstDash val="solid"/>
          </a:ln>
        </p:spPr>
      </p:sp>
      <p:sp>
        <p:nvSpPr>
          <p:cNvPr id="8" name="Text 6"/>
          <p:cNvSpPr/>
          <p:nvPr/>
        </p:nvSpPr>
        <p:spPr>
          <a:xfrm>
            <a:off x="9912096" y="475488"/>
            <a:ext cx="475488"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L2</a:t>
            </a:r>
            <a:endParaRPr lang="en-US" sz="1050" dirty="0"/>
          </a:p>
        </p:txBody>
      </p:sp>
      <p:sp>
        <p:nvSpPr>
          <p:cNvPr id="9" name="Text 7"/>
          <p:cNvSpPr/>
          <p:nvPr/>
        </p:nvSpPr>
        <p:spPr>
          <a:xfrm>
            <a:off x="10387584" y="475488"/>
            <a:ext cx="146304" cy="274320"/>
          </a:xfrm>
          <a:prstGeom prst="rect">
            <a:avLst/>
          </a:prstGeom>
          <a:noFill/>
          <a:ln/>
        </p:spPr>
        <p:txBody>
          <a:bodyPr wrap="square" lIns="0" tIns="0" rIns="0" bIns="0" rtlCol="0" anchor="ctr"/>
          <a:lstStyle/>
          <a:p>
            <a:pPr algn="ctr" indent="0" marL="0">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10" name="Shape 8"/>
          <p:cNvSpPr/>
          <p:nvPr/>
        </p:nvSpPr>
        <p:spPr>
          <a:xfrm>
            <a:off x="10533888" y="475488"/>
            <a:ext cx="475488" cy="274320"/>
          </a:xfrm>
          <a:prstGeom prst="roundRect">
            <a:avLst>
              <a:gd name="adj" fmla="val 46667"/>
            </a:avLst>
          </a:prstGeom>
          <a:solidFill>
            <a:srgbClr val="F5F7FA"/>
          </a:solidFill>
          <a:ln w="12700">
            <a:solidFill>
              <a:srgbClr val="DDE5EE"/>
            </a:solidFill>
            <a:prstDash val="solid"/>
          </a:ln>
        </p:spPr>
      </p:sp>
      <p:sp>
        <p:nvSpPr>
          <p:cNvPr id="11" name="Text 9"/>
          <p:cNvSpPr/>
          <p:nvPr/>
        </p:nvSpPr>
        <p:spPr>
          <a:xfrm>
            <a:off x="10533888" y="475488"/>
            <a:ext cx="475488" cy="274320"/>
          </a:xfrm>
          <a:prstGeom prst="rect">
            <a:avLst/>
          </a:prstGeom>
          <a:noFill/>
          <a:ln/>
        </p:spPr>
        <p:txBody>
          <a:bodyPr wrap="square" lIns="0" tIns="0" rIns="0" bIns="0" rtlCol="0" anchor="ctr"/>
          <a:lstStyle/>
          <a:p>
            <a:pPr algn="ctr" indent="0" marL="0">
              <a:buNone/>
            </a:pPr>
            <a:r>
              <a:rPr lang="en-US" sz="1050" b="1" dirty="0">
                <a:solidFill>
                  <a:srgbClr val="5D7186"/>
                </a:solidFill>
                <a:latin typeface="Calibri" pitchFamily="34" charset="0"/>
                <a:ea typeface="Calibri" pitchFamily="34" charset="-122"/>
                <a:cs typeface="Calibri" pitchFamily="34" charset="-120"/>
              </a:rPr>
              <a:t>L3</a:t>
            </a:r>
            <a:endParaRPr lang="en-US" sz="1050" dirty="0"/>
          </a:p>
        </p:txBody>
      </p:sp>
      <p:sp>
        <p:nvSpPr>
          <p:cNvPr id="12" name="Text 10"/>
          <p:cNvSpPr/>
          <p:nvPr/>
        </p:nvSpPr>
        <p:spPr>
          <a:xfrm>
            <a:off x="11009376" y="475488"/>
            <a:ext cx="146304" cy="274320"/>
          </a:xfrm>
          <a:prstGeom prst="rect">
            <a:avLst/>
          </a:prstGeom>
          <a:noFill/>
          <a:ln/>
        </p:spPr>
        <p:txBody>
          <a:bodyPr wrap="square" lIns="0" tIns="0" rIns="0" bIns="0" rtlCol="0" anchor="ctr"/>
          <a:lstStyle/>
          <a:p>
            <a:pPr algn="ctr" indent="0" marL="0">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13" name="Shape 11"/>
          <p:cNvSpPr/>
          <p:nvPr/>
        </p:nvSpPr>
        <p:spPr>
          <a:xfrm>
            <a:off x="11155680" y="475488"/>
            <a:ext cx="475488" cy="274320"/>
          </a:xfrm>
          <a:prstGeom prst="roundRect">
            <a:avLst>
              <a:gd name="adj" fmla="val 46667"/>
            </a:avLst>
          </a:prstGeom>
          <a:solidFill>
            <a:srgbClr val="F5F7FA"/>
          </a:solidFill>
          <a:ln w="12700">
            <a:solidFill>
              <a:srgbClr val="DDE5EE"/>
            </a:solidFill>
            <a:prstDash val="solid"/>
          </a:ln>
        </p:spPr>
      </p:sp>
      <p:sp>
        <p:nvSpPr>
          <p:cNvPr id="14" name="Text 12"/>
          <p:cNvSpPr/>
          <p:nvPr/>
        </p:nvSpPr>
        <p:spPr>
          <a:xfrm>
            <a:off x="11155680" y="475488"/>
            <a:ext cx="475488" cy="274320"/>
          </a:xfrm>
          <a:prstGeom prst="rect">
            <a:avLst/>
          </a:prstGeom>
          <a:noFill/>
          <a:ln/>
        </p:spPr>
        <p:txBody>
          <a:bodyPr wrap="square" lIns="0" tIns="0" rIns="0" bIns="0" rtlCol="0" anchor="ctr"/>
          <a:lstStyle/>
          <a:p>
            <a:pPr algn="ctr" indent="0" marL="0">
              <a:buNone/>
            </a:pPr>
            <a:r>
              <a:rPr lang="en-US" sz="1050" b="1" dirty="0">
                <a:solidFill>
                  <a:srgbClr val="5D7186"/>
                </a:solidFill>
                <a:latin typeface="Calibri" pitchFamily="34" charset="0"/>
                <a:ea typeface="Calibri" pitchFamily="34" charset="-122"/>
                <a:cs typeface="Calibri" pitchFamily="34" charset="-120"/>
              </a:rPr>
              <a:t>L4</a:t>
            </a:r>
            <a:endParaRPr lang="en-US" sz="1050" dirty="0"/>
          </a:p>
        </p:txBody>
      </p:sp>
      <p:sp>
        <p:nvSpPr>
          <p:cNvPr id="15" name="Shape 13"/>
          <p:cNvSpPr/>
          <p:nvPr/>
        </p:nvSpPr>
        <p:spPr>
          <a:xfrm>
            <a:off x="566928" y="1645920"/>
            <a:ext cx="7589520" cy="786384"/>
          </a:xfrm>
          <a:prstGeom prst="roundRect">
            <a:avLst>
              <a:gd name="adj" fmla="val 10465"/>
            </a:avLst>
          </a:prstGeom>
          <a:solidFill>
            <a:srgbClr val="FBE7E5"/>
          </a:solidFill>
          <a:ln w="12700">
            <a:solidFill>
              <a:srgbClr val="FBE7E5"/>
            </a:solidFill>
            <a:prstDash val="solid"/>
          </a:ln>
        </p:spPr>
      </p:sp>
      <p:sp>
        <p:nvSpPr>
          <p:cNvPr id="16" name="Text 14"/>
          <p:cNvSpPr/>
          <p:nvPr/>
        </p:nvSpPr>
        <p:spPr>
          <a:xfrm>
            <a:off x="841248" y="1719072"/>
            <a:ext cx="2286000" cy="292608"/>
          </a:xfrm>
          <a:prstGeom prst="rect">
            <a:avLst/>
          </a:prstGeom>
          <a:noFill/>
          <a:ln/>
        </p:spPr>
        <p:txBody>
          <a:bodyPr wrap="square" lIns="0" tIns="0" rIns="0" bIns="0" rtlCol="0" anchor="ctr"/>
          <a:lstStyle/>
          <a:p>
            <a:pPr indent="0" marL="0">
              <a:buNone/>
            </a:pPr>
            <a:r>
              <a:rPr lang="en-US" sz="1300" b="1" dirty="0">
                <a:solidFill>
                  <a:srgbClr val="C0281C"/>
                </a:solidFill>
                <a:latin typeface="Calibri" pitchFamily="34" charset="0"/>
                <a:ea typeface="Calibri" pitchFamily="34" charset="-122"/>
                <a:cs typeface="Calibri" pitchFamily="34" charset="-120"/>
              </a:rPr>
              <a:t>RED · emergency</a:t>
            </a:r>
            <a:endParaRPr lang="en-US" sz="1300" dirty="0"/>
          </a:p>
        </p:txBody>
      </p:sp>
      <p:sp>
        <p:nvSpPr>
          <p:cNvPr id="17" name="Text 15"/>
          <p:cNvSpPr/>
          <p:nvPr/>
        </p:nvSpPr>
        <p:spPr>
          <a:xfrm>
            <a:off x="841248" y="2048256"/>
            <a:ext cx="2286000" cy="274320"/>
          </a:xfrm>
          <a:prstGeom prst="rect">
            <a:avLst/>
          </a:prstGeom>
          <a:noFill/>
          <a:ln/>
        </p:spPr>
        <p:txBody>
          <a:bodyPr wrap="square" lIns="0" tIns="0" rIns="0" bIns="0" rtlCol="0" anchor="ctr"/>
          <a:lstStyle/>
          <a:p>
            <a:pPr indent="0" marL="0">
              <a:buNone/>
            </a:pPr>
            <a:r>
              <a:rPr lang="en-US" sz="1050" dirty="0">
                <a:solidFill>
                  <a:srgbClr val="C0281C"/>
                </a:solidFill>
                <a:latin typeface="Calibri" pitchFamily="34" charset="0"/>
                <a:ea typeface="Calibri" pitchFamily="34" charset="-122"/>
                <a:cs typeface="Calibri" pitchFamily="34" charset="-120"/>
              </a:rPr>
              <a:t>R1  R2  R3</a:t>
            </a:r>
            <a:endParaRPr lang="en-US" sz="1050" dirty="0"/>
          </a:p>
        </p:txBody>
      </p:sp>
      <p:sp>
        <p:nvSpPr>
          <p:cNvPr id="18" name="Text 16"/>
          <p:cNvSpPr/>
          <p:nvPr/>
        </p:nvSpPr>
        <p:spPr>
          <a:xfrm>
            <a:off x="3310128" y="1645920"/>
            <a:ext cx="4663440" cy="786384"/>
          </a:xfrm>
          <a:prstGeom prst="rect">
            <a:avLst/>
          </a:prstGeom>
          <a:noFill/>
          <a:ln/>
        </p:spPr>
        <p:txBody>
          <a:bodyPr wrap="square" lIns="0" tIns="0" rIns="0" bIns="0" rtlCol="0" anchor="ctr"/>
          <a:lstStyle/>
          <a:p>
            <a:pPr indent="0" marL="0">
              <a:buNone/>
            </a:pPr>
            <a:r>
              <a:rPr lang="en-US" sz="1150" dirty="0">
                <a:solidFill>
                  <a:srgbClr val="12202E"/>
                </a:solidFill>
                <a:latin typeface="Calibri" pitchFamily="34" charset="0"/>
                <a:ea typeface="Calibri" pitchFamily="34" charset="-122"/>
                <a:cs typeface="Calibri" pitchFamily="34" charset="-120"/>
              </a:rPr>
              <a:t>Systemic signs · lymphangitis · dehiscence or pus</a:t>
            </a:r>
            <a:endParaRPr lang="en-US" sz="1150" dirty="0"/>
          </a:p>
        </p:txBody>
      </p:sp>
      <p:sp>
        <p:nvSpPr>
          <p:cNvPr id="19" name="Text 17"/>
          <p:cNvSpPr/>
          <p:nvPr/>
        </p:nvSpPr>
        <p:spPr>
          <a:xfrm>
            <a:off x="4133088" y="2432304"/>
            <a:ext cx="365760" cy="146304"/>
          </a:xfrm>
          <a:prstGeom prst="rect">
            <a:avLst/>
          </a:prstGeom>
          <a:noFill/>
          <a:ln/>
        </p:spPr>
        <p:txBody>
          <a:bodyPr wrap="square" lIns="0" tIns="0" rIns="0" bIns="0" rtlCol="0" anchor="ctr"/>
          <a:lstStyle/>
          <a:p>
            <a:pPr algn="ctr" indent="0" marL="0">
              <a:buNone/>
            </a:pPr>
            <a:r>
              <a:rPr lang="en-US" sz="800" dirty="0">
                <a:solidFill>
                  <a:srgbClr val="5D7186"/>
                </a:solidFill>
                <a:latin typeface="Calibri" pitchFamily="34" charset="0"/>
                <a:ea typeface="Calibri" pitchFamily="34" charset="-122"/>
                <a:cs typeface="Calibri" pitchFamily="34" charset="-120"/>
              </a:rPr>
              <a:t>▼</a:t>
            </a:r>
            <a:endParaRPr lang="en-US" sz="800" dirty="0"/>
          </a:p>
        </p:txBody>
      </p:sp>
      <p:sp>
        <p:nvSpPr>
          <p:cNvPr id="20" name="Shape 18"/>
          <p:cNvSpPr/>
          <p:nvPr/>
        </p:nvSpPr>
        <p:spPr>
          <a:xfrm>
            <a:off x="566928" y="2578608"/>
            <a:ext cx="7589520" cy="786384"/>
          </a:xfrm>
          <a:prstGeom prst="roundRect">
            <a:avLst>
              <a:gd name="adj" fmla="val 10465"/>
            </a:avLst>
          </a:prstGeom>
          <a:solidFill>
            <a:srgbClr val="FCEADB"/>
          </a:solidFill>
          <a:ln w="12700">
            <a:solidFill>
              <a:srgbClr val="FCEADB"/>
            </a:solidFill>
            <a:prstDash val="solid"/>
          </a:ln>
        </p:spPr>
      </p:sp>
      <p:sp>
        <p:nvSpPr>
          <p:cNvPr id="21" name="Text 19"/>
          <p:cNvSpPr/>
          <p:nvPr/>
        </p:nvSpPr>
        <p:spPr>
          <a:xfrm>
            <a:off x="841248" y="2651760"/>
            <a:ext cx="2286000" cy="292608"/>
          </a:xfrm>
          <a:prstGeom prst="rect">
            <a:avLst/>
          </a:prstGeom>
          <a:noFill/>
          <a:ln/>
        </p:spPr>
        <p:txBody>
          <a:bodyPr wrap="square" lIns="0" tIns="0" rIns="0" bIns="0" rtlCol="0" anchor="ctr"/>
          <a:lstStyle/>
          <a:p>
            <a:pPr indent="0" marL="0">
              <a:buNone/>
            </a:pPr>
            <a:r>
              <a:rPr lang="en-US" sz="1300" b="1" dirty="0">
                <a:solidFill>
                  <a:srgbClr val="C25C07"/>
                </a:solidFill>
                <a:latin typeface="Calibri" pitchFamily="34" charset="0"/>
                <a:ea typeface="Calibri" pitchFamily="34" charset="-122"/>
                <a:cs typeface="Calibri" pitchFamily="34" charset="-120"/>
              </a:rPr>
              <a:t>ORANGE · suspected</a:t>
            </a:r>
            <a:endParaRPr lang="en-US" sz="1300" dirty="0"/>
          </a:p>
        </p:txBody>
      </p:sp>
      <p:sp>
        <p:nvSpPr>
          <p:cNvPr id="22" name="Text 20"/>
          <p:cNvSpPr/>
          <p:nvPr/>
        </p:nvSpPr>
        <p:spPr>
          <a:xfrm>
            <a:off x="841248" y="2980944"/>
            <a:ext cx="2286000" cy="274320"/>
          </a:xfrm>
          <a:prstGeom prst="rect">
            <a:avLst/>
          </a:prstGeom>
          <a:noFill/>
          <a:ln/>
        </p:spPr>
        <p:txBody>
          <a:bodyPr wrap="square" lIns="0" tIns="0" rIns="0" bIns="0" rtlCol="0" anchor="ctr"/>
          <a:lstStyle/>
          <a:p>
            <a:pPr indent="0" marL="0">
              <a:buNone/>
            </a:pPr>
            <a:r>
              <a:rPr lang="en-US" sz="1050" dirty="0">
                <a:solidFill>
                  <a:srgbClr val="C25C07"/>
                </a:solidFill>
                <a:latin typeface="Calibri" pitchFamily="34" charset="0"/>
                <a:ea typeface="Calibri" pitchFamily="34" charset="-122"/>
                <a:cs typeface="Calibri" pitchFamily="34" charset="-120"/>
              </a:rPr>
              <a:t>R9  R4  R5  R11  R12</a:t>
            </a:r>
            <a:endParaRPr lang="en-US" sz="1050" dirty="0"/>
          </a:p>
        </p:txBody>
      </p:sp>
      <p:sp>
        <p:nvSpPr>
          <p:cNvPr id="23" name="Text 21"/>
          <p:cNvSpPr/>
          <p:nvPr/>
        </p:nvSpPr>
        <p:spPr>
          <a:xfrm>
            <a:off x="3310128" y="2578608"/>
            <a:ext cx="4663440" cy="786384"/>
          </a:xfrm>
          <a:prstGeom prst="rect">
            <a:avLst/>
          </a:prstGeom>
          <a:noFill/>
          <a:ln/>
        </p:spPr>
        <p:txBody>
          <a:bodyPr wrap="square" lIns="0" tIns="0" rIns="0" bIns="0" rtlCol="0" anchor="ctr"/>
          <a:lstStyle/>
          <a:p>
            <a:pPr indent="0" marL="0">
              <a:buNone/>
            </a:pPr>
            <a:r>
              <a:rPr lang="en-US" sz="1150" dirty="0">
                <a:solidFill>
                  <a:srgbClr val="12202E"/>
                </a:solidFill>
                <a:latin typeface="Calibri" pitchFamily="34" charset="0"/>
                <a:ea typeface="Calibri" pitchFamily="34" charset="-122"/>
                <a:cs typeface="Calibri" pitchFamily="34" charset="-120"/>
              </a:rPr>
              <a:t>Feeling unwell · purulent discharge · fever · persistence</a:t>
            </a:r>
            <a:endParaRPr lang="en-US" sz="1150" dirty="0"/>
          </a:p>
        </p:txBody>
      </p:sp>
      <p:sp>
        <p:nvSpPr>
          <p:cNvPr id="24" name="Text 22"/>
          <p:cNvSpPr/>
          <p:nvPr/>
        </p:nvSpPr>
        <p:spPr>
          <a:xfrm>
            <a:off x="4133088" y="3364992"/>
            <a:ext cx="365760" cy="146304"/>
          </a:xfrm>
          <a:prstGeom prst="rect">
            <a:avLst/>
          </a:prstGeom>
          <a:noFill/>
          <a:ln/>
        </p:spPr>
        <p:txBody>
          <a:bodyPr wrap="square" lIns="0" tIns="0" rIns="0" bIns="0" rtlCol="0" anchor="ctr"/>
          <a:lstStyle/>
          <a:p>
            <a:pPr algn="ctr" indent="0" marL="0">
              <a:buNone/>
            </a:pPr>
            <a:r>
              <a:rPr lang="en-US" sz="800" dirty="0">
                <a:solidFill>
                  <a:srgbClr val="5D7186"/>
                </a:solidFill>
                <a:latin typeface="Calibri" pitchFamily="34" charset="0"/>
                <a:ea typeface="Calibri" pitchFamily="34" charset="-122"/>
                <a:cs typeface="Calibri" pitchFamily="34" charset="-120"/>
              </a:rPr>
              <a:t>▼</a:t>
            </a:r>
            <a:endParaRPr lang="en-US" sz="800" dirty="0"/>
          </a:p>
        </p:txBody>
      </p:sp>
      <p:sp>
        <p:nvSpPr>
          <p:cNvPr id="25" name="Shape 23"/>
          <p:cNvSpPr/>
          <p:nvPr/>
        </p:nvSpPr>
        <p:spPr>
          <a:xfrm>
            <a:off x="566928" y="3511296"/>
            <a:ext cx="7589520" cy="786384"/>
          </a:xfrm>
          <a:prstGeom prst="roundRect">
            <a:avLst>
              <a:gd name="adj" fmla="val 10465"/>
            </a:avLst>
          </a:prstGeom>
          <a:solidFill>
            <a:srgbClr val="FBF2DC"/>
          </a:solidFill>
          <a:ln w="12700">
            <a:solidFill>
              <a:srgbClr val="FBF2DC"/>
            </a:solidFill>
            <a:prstDash val="solid"/>
          </a:ln>
        </p:spPr>
      </p:sp>
      <p:sp>
        <p:nvSpPr>
          <p:cNvPr id="26" name="Text 24"/>
          <p:cNvSpPr/>
          <p:nvPr/>
        </p:nvSpPr>
        <p:spPr>
          <a:xfrm>
            <a:off x="841248" y="3584448"/>
            <a:ext cx="2286000" cy="292608"/>
          </a:xfrm>
          <a:prstGeom prst="rect">
            <a:avLst/>
          </a:prstGeom>
          <a:noFill/>
          <a:ln/>
        </p:spPr>
        <p:txBody>
          <a:bodyPr wrap="square" lIns="0" tIns="0" rIns="0" bIns="0" rtlCol="0" anchor="ctr"/>
          <a:lstStyle/>
          <a:p>
            <a:pPr indent="0" marL="0">
              <a:buNone/>
            </a:pPr>
            <a:r>
              <a:rPr lang="en-US" sz="1300" b="1" dirty="0">
                <a:solidFill>
                  <a:srgbClr val="9C6D00"/>
                </a:solidFill>
                <a:latin typeface="Calibri" pitchFamily="34" charset="0"/>
                <a:ea typeface="Calibri" pitchFamily="34" charset="-122"/>
                <a:cs typeface="Calibri" pitchFamily="34" charset="-120"/>
              </a:rPr>
              <a:t>YELLOW · abnormal</a:t>
            </a:r>
            <a:endParaRPr lang="en-US" sz="1300" dirty="0"/>
          </a:p>
        </p:txBody>
      </p:sp>
      <p:sp>
        <p:nvSpPr>
          <p:cNvPr id="27" name="Text 25"/>
          <p:cNvSpPr/>
          <p:nvPr/>
        </p:nvSpPr>
        <p:spPr>
          <a:xfrm>
            <a:off x="841248" y="3913632"/>
            <a:ext cx="2286000" cy="274320"/>
          </a:xfrm>
          <a:prstGeom prst="rect">
            <a:avLst/>
          </a:prstGeom>
          <a:noFill/>
          <a:ln/>
        </p:spPr>
        <p:txBody>
          <a:bodyPr wrap="square" lIns="0" tIns="0" rIns="0" bIns="0" rtlCol="0" anchor="ctr"/>
          <a:lstStyle/>
          <a:p>
            <a:pPr indent="0" marL="0">
              <a:buNone/>
            </a:pPr>
            <a:r>
              <a:rPr lang="en-US" sz="1050" dirty="0">
                <a:solidFill>
                  <a:srgbClr val="9C6D00"/>
                </a:solidFill>
                <a:latin typeface="Calibri" pitchFamily="34" charset="0"/>
                <a:ea typeface="Calibri" pitchFamily="34" charset="-122"/>
                <a:cs typeface="Calibri" pitchFamily="34" charset="-120"/>
              </a:rPr>
              <a:t>R6b  R6a  R7  R10</a:t>
            </a:r>
            <a:endParaRPr lang="en-US" sz="1050" dirty="0"/>
          </a:p>
        </p:txBody>
      </p:sp>
      <p:sp>
        <p:nvSpPr>
          <p:cNvPr id="28" name="Text 26"/>
          <p:cNvSpPr/>
          <p:nvPr/>
        </p:nvSpPr>
        <p:spPr>
          <a:xfrm>
            <a:off x="3310128" y="3511296"/>
            <a:ext cx="4663440" cy="786384"/>
          </a:xfrm>
          <a:prstGeom prst="rect">
            <a:avLst/>
          </a:prstGeom>
          <a:noFill/>
          <a:ln/>
        </p:spPr>
        <p:txBody>
          <a:bodyPr wrap="square" lIns="0" tIns="0" rIns="0" bIns="0" rtlCol="0" anchor="ctr"/>
          <a:lstStyle/>
          <a:p>
            <a:pPr indent="0" marL="0">
              <a:buNone/>
            </a:pPr>
            <a:r>
              <a:rPr lang="en-US" sz="1150" dirty="0">
                <a:solidFill>
                  <a:srgbClr val="12202E"/>
                </a:solidFill>
                <a:latin typeface="Calibri" pitchFamily="34" charset="0"/>
                <a:ea typeface="Calibri" pitchFamily="34" charset="-122"/>
                <a:cs typeface="Calibri" pitchFamily="34" charset="-120"/>
              </a:rPr>
              <a:t>Inflammation · wound gap · bleeding on anticoagulants</a:t>
            </a:r>
            <a:endParaRPr lang="en-US" sz="1150" dirty="0"/>
          </a:p>
        </p:txBody>
      </p:sp>
      <p:sp>
        <p:nvSpPr>
          <p:cNvPr id="29" name="Text 27"/>
          <p:cNvSpPr/>
          <p:nvPr/>
        </p:nvSpPr>
        <p:spPr>
          <a:xfrm>
            <a:off x="4133088" y="4297680"/>
            <a:ext cx="365760" cy="146304"/>
          </a:xfrm>
          <a:prstGeom prst="rect">
            <a:avLst/>
          </a:prstGeom>
          <a:noFill/>
          <a:ln/>
        </p:spPr>
        <p:txBody>
          <a:bodyPr wrap="square" lIns="0" tIns="0" rIns="0" bIns="0" rtlCol="0" anchor="ctr"/>
          <a:lstStyle/>
          <a:p>
            <a:pPr algn="ctr" indent="0" marL="0">
              <a:buNone/>
            </a:pPr>
            <a:r>
              <a:rPr lang="en-US" sz="800" dirty="0">
                <a:solidFill>
                  <a:srgbClr val="5D7186"/>
                </a:solidFill>
                <a:latin typeface="Calibri" pitchFamily="34" charset="0"/>
                <a:ea typeface="Calibri" pitchFamily="34" charset="-122"/>
                <a:cs typeface="Calibri" pitchFamily="34" charset="-120"/>
              </a:rPr>
              <a:t>▼</a:t>
            </a:r>
            <a:endParaRPr lang="en-US" sz="800" dirty="0"/>
          </a:p>
        </p:txBody>
      </p:sp>
      <p:sp>
        <p:nvSpPr>
          <p:cNvPr id="30" name="Shape 28"/>
          <p:cNvSpPr/>
          <p:nvPr/>
        </p:nvSpPr>
        <p:spPr>
          <a:xfrm>
            <a:off x="566928" y="4443984"/>
            <a:ext cx="7589520" cy="786384"/>
          </a:xfrm>
          <a:prstGeom prst="roundRect">
            <a:avLst>
              <a:gd name="adj" fmla="val 10465"/>
            </a:avLst>
          </a:prstGeom>
          <a:solidFill>
            <a:srgbClr val="E8F6EE"/>
          </a:solidFill>
          <a:ln w="12700">
            <a:solidFill>
              <a:srgbClr val="E8F6EE"/>
            </a:solidFill>
            <a:prstDash val="solid"/>
          </a:ln>
        </p:spPr>
      </p:sp>
      <p:sp>
        <p:nvSpPr>
          <p:cNvPr id="31" name="Text 29"/>
          <p:cNvSpPr/>
          <p:nvPr/>
        </p:nvSpPr>
        <p:spPr>
          <a:xfrm>
            <a:off x="841248" y="4517136"/>
            <a:ext cx="2286000" cy="292608"/>
          </a:xfrm>
          <a:prstGeom prst="rect">
            <a:avLst/>
          </a:prstGeom>
          <a:noFill/>
          <a:ln/>
        </p:spPr>
        <p:txBody>
          <a:bodyPr wrap="square" lIns="0" tIns="0" rIns="0" bIns="0" rtlCol="0" anchor="ctr"/>
          <a:lstStyle/>
          <a:p>
            <a:pPr indent="0" marL="0">
              <a:buNone/>
            </a:pPr>
            <a:r>
              <a:rPr lang="en-US" sz="1300" b="1" dirty="0">
                <a:solidFill>
                  <a:srgbClr val="1A7F4B"/>
                </a:solidFill>
                <a:latin typeface="Calibri" pitchFamily="34" charset="0"/>
                <a:ea typeface="Calibri" pitchFamily="34" charset="-122"/>
                <a:cs typeface="Calibri" pitchFamily="34" charset="-120"/>
              </a:rPr>
              <a:t>GREEN · all clear</a:t>
            </a:r>
            <a:endParaRPr lang="en-US" sz="1300" dirty="0"/>
          </a:p>
        </p:txBody>
      </p:sp>
      <p:sp>
        <p:nvSpPr>
          <p:cNvPr id="32" name="Text 30"/>
          <p:cNvSpPr/>
          <p:nvPr/>
        </p:nvSpPr>
        <p:spPr>
          <a:xfrm>
            <a:off x="841248" y="4846320"/>
            <a:ext cx="2286000" cy="274320"/>
          </a:xfrm>
          <a:prstGeom prst="rect">
            <a:avLst/>
          </a:prstGeom>
          <a:noFill/>
          <a:ln/>
        </p:spPr>
        <p:txBody>
          <a:bodyPr wrap="square" lIns="0" tIns="0" rIns="0" bIns="0" rtlCol="0" anchor="ctr"/>
          <a:lstStyle/>
          <a:p>
            <a:pPr indent="0" marL="0">
              <a:buNone/>
            </a:pPr>
            <a:r>
              <a:rPr lang="en-US" sz="1050" dirty="0">
                <a:solidFill>
                  <a:srgbClr val="1A7F4B"/>
                </a:solidFill>
                <a:latin typeface="Calibri" pitchFamily="34" charset="0"/>
                <a:ea typeface="Calibri" pitchFamily="34" charset="-122"/>
                <a:cs typeface="Calibri" pitchFamily="34" charset="-120"/>
              </a:rPr>
              <a:t>R8</a:t>
            </a:r>
            <a:endParaRPr lang="en-US" sz="1050" dirty="0"/>
          </a:p>
        </p:txBody>
      </p:sp>
      <p:sp>
        <p:nvSpPr>
          <p:cNvPr id="33" name="Text 31"/>
          <p:cNvSpPr/>
          <p:nvPr/>
        </p:nvSpPr>
        <p:spPr>
          <a:xfrm>
            <a:off x="3310128" y="4443984"/>
            <a:ext cx="4663440" cy="786384"/>
          </a:xfrm>
          <a:prstGeom prst="rect">
            <a:avLst/>
          </a:prstGeom>
          <a:noFill/>
          <a:ln/>
        </p:spPr>
        <p:txBody>
          <a:bodyPr wrap="square" lIns="0" tIns="0" rIns="0" bIns="0" rtlCol="0" anchor="ctr"/>
          <a:lstStyle/>
          <a:p>
            <a:pPr indent="0" marL="0">
              <a:buNone/>
            </a:pPr>
            <a:r>
              <a:rPr lang="en-US" sz="1150" dirty="0">
                <a:solidFill>
                  <a:srgbClr val="12202E"/>
                </a:solidFill>
                <a:latin typeface="Calibri" pitchFamily="34" charset="0"/>
                <a:ea typeface="Calibri" pitchFamily="34" charset="-122"/>
                <a:cs typeface="Calibri" pitchFamily="34" charset="-120"/>
              </a:rPr>
              <a:t>Catch-all — never “everything is fine” without a contact hint</a:t>
            </a:r>
            <a:endParaRPr lang="en-US" sz="1150" dirty="0"/>
          </a:p>
        </p:txBody>
      </p:sp>
      <p:sp>
        <p:nvSpPr>
          <p:cNvPr id="34" name="Shape 32"/>
          <p:cNvSpPr/>
          <p:nvPr/>
        </p:nvSpPr>
        <p:spPr>
          <a:xfrm>
            <a:off x="8430768" y="1645920"/>
            <a:ext cx="3200400" cy="1737360"/>
          </a:xfrm>
          <a:prstGeom prst="roundRect">
            <a:avLst>
              <a:gd name="adj" fmla="val 4737"/>
            </a:avLst>
          </a:prstGeom>
          <a:solidFill>
            <a:srgbClr val="F5F7FA"/>
          </a:solidFill>
          <a:ln w="12700">
            <a:solidFill>
              <a:srgbClr val="DDE5EE"/>
            </a:solidFill>
            <a:prstDash val="solid"/>
          </a:ln>
        </p:spPr>
      </p:sp>
      <p:sp>
        <p:nvSpPr>
          <p:cNvPr id="35" name="Text 33"/>
          <p:cNvSpPr/>
          <p:nvPr/>
        </p:nvSpPr>
        <p:spPr>
          <a:xfrm>
            <a:off x="8668512" y="1810512"/>
            <a:ext cx="2743200" cy="256032"/>
          </a:xfrm>
          <a:prstGeom prst="rect">
            <a:avLst/>
          </a:prstGeom>
          <a:noFill/>
          <a:ln/>
        </p:spPr>
        <p:txBody>
          <a:bodyPr wrap="square" lIns="0" tIns="0" rIns="0" bIns="0" rtlCol="0" anchor="ctr"/>
          <a:lstStyle/>
          <a:p>
            <a:pPr indent="0" marL="0">
              <a:buNone/>
            </a:pPr>
            <a:r>
              <a:rPr lang="en-US" sz="1200" b="1" dirty="0">
                <a:solidFill>
                  <a:srgbClr val="12202E"/>
                </a:solidFill>
                <a:latin typeface="Calibri" pitchFamily="34" charset="0"/>
                <a:ea typeface="Calibri" pitchFamily="34" charset="-122"/>
                <a:cs typeface="Calibri" pitchFamily="34" charset="-120"/>
              </a:rPr>
              <a:t>Why worst-first</a:t>
            </a:r>
            <a:endParaRPr lang="en-US" sz="1200" dirty="0"/>
          </a:p>
        </p:txBody>
      </p:sp>
      <p:sp>
        <p:nvSpPr>
          <p:cNvPr id="36" name="Text 34"/>
          <p:cNvSpPr/>
          <p:nvPr/>
        </p:nvSpPr>
        <p:spPr>
          <a:xfrm>
            <a:off x="8668512" y="2139696"/>
            <a:ext cx="2743200" cy="1234440"/>
          </a:xfrm>
          <a:prstGeom prst="rect">
            <a:avLst/>
          </a:prstGeom>
          <a:noFill/>
          <a:ln/>
        </p:spPr>
        <p:txBody>
          <a:bodyPr wrap="square" lIns="0" tIns="0" rIns="0" bIns="0" rtlCol="0" anchor="t"/>
          <a:lstStyle/>
          <a:p>
            <a:pPr indent="0" marL="0">
              <a:lnSpc>
                <a:spcPts val="1500"/>
              </a:lnSpc>
              <a:buNone/>
            </a:pPr>
            <a:r>
              <a:rPr lang="en-US" sz="1100" dirty="0">
                <a:solidFill>
                  <a:srgbClr val="5D7186"/>
                </a:solidFill>
                <a:latin typeface="Calibri" pitchFamily="34" charset="0"/>
                <a:ea typeface="Calibri" pitchFamily="34" charset="-122"/>
                <a:cs typeface="Calibri" pitchFamily="34" charset="-120"/>
              </a:rPr>
              <a:t>A false alarm costs a phone call. False reassurance can delay an infection by days. We accept a higher false-alarm rate on purpose.</a:t>
            </a:r>
            <a:endParaRPr lang="en-US" sz="1100" dirty="0"/>
          </a:p>
        </p:txBody>
      </p:sp>
      <p:sp>
        <p:nvSpPr>
          <p:cNvPr id="37" name="Shape 35"/>
          <p:cNvSpPr/>
          <p:nvPr/>
        </p:nvSpPr>
        <p:spPr>
          <a:xfrm>
            <a:off x="8430768" y="3566160"/>
            <a:ext cx="3200400" cy="1755648"/>
          </a:xfrm>
          <a:prstGeom prst="roundRect">
            <a:avLst>
              <a:gd name="adj" fmla="val 4688"/>
            </a:avLst>
          </a:prstGeom>
          <a:solidFill>
            <a:srgbClr val="FFFFFF"/>
          </a:solidFill>
          <a:ln w="12700">
            <a:solidFill>
              <a:srgbClr val="DDE5EE"/>
            </a:solidFill>
            <a:prstDash val="solid"/>
          </a:ln>
        </p:spPr>
      </p:sp>
      <p:sp>
        <p:nvSpPr>
          <p:cNvPr id="38" name="Text 36"/>
          <p:cNvSpPr/>
          <p:nvPr/>
        </p:nvSpPr>
        <p:spPr>
          <a:xfrm>
            <a:off x="8668512" y="3730752"/>
            <a:ext cx="2743200" cy="256032"/>
          </a:xfrm>
          <a:prstGeom prst="rect">
            <a:avLst/>
          </a:prstGeom>
          <a:noFill/>
          <a:ln/>
        </p:spPr>
        <p:txBody>
          <a:bodyPr wrap="square" lIns="0" tIns="0" rIns="0" bIns="0" rtlCol="0" anchor="ctr"/>
          <a:lstStyle/>
          <a:p>
            <a:pPr indent="0" marL="0">
              <a:buNone/>
            </a:pPr>
            <a:r>
              <a:rPr lang="en-US" sz="1200" b="1" dirty="0">
                <a:solidFill>
                  <a:srgbClr val="12202E"/>
                </a:solidFill>
                <a:latin typeface="Calibri" pitchFamily="34" charset="0"/>
                <a:ea typeface="Calibri" pitchFamily="34" charset="-122"/>
                <a:cs typeface="Calibri" pitchFamily="34" charset="-120"/>
              </a:rPr>
              <a:t>Two-pass evaluation</a:t>
            </a:r>
            <a:endParaRPr lang="en-US" sz="1200" dirty="0"/>
          </a:p>
        </p:txBody>
      </p:sp>
      <p:sp>
        <p:nvSpPr>
          <p:cNvPr id="39" name="Text 37"/>
          <p:cNvSpPr/>
          <p:nvPr/>
        </p:nvSpPr>
        <p:spPr>
          <a:xfrm>
            <a:off x="8668512" y="4059936"/>
            <a:ext cx="2743200" cy="1188720"/>
          </a:xfrm>
          <a:prstGeom prst="rect">
            <a:avLst/>
          </a:prstGeom>
          <a:noFill/>
          <a:ln/>
        </p:spPr>
        <p:txBody>
          <a:bodyPr wrap="square" lIns="0" tIns="0" rIns="0" bIns="0" rtlCol="0" anchor="t"/>
          <a:lstStyle/>
          <a:p>
            <a:pPr indent="0" marL="0">
              <a:lnSpc>
                <a:spcPts val="1500"/>
              </a:lnSpc>
              <a:buNone/>
            </a:pPr>
            <a:r>
              <a:rPr lang="en-US" sz="1100" dirty="0">
                <a:solidFill>
                  <a:srgbClr val="5D7186"/>
                </a:solidFill>
                <a:latin typeface="Calibri" pitchFamily="34" charset="0"/>
                <a:ea typeface="Calibri" pitchFamily="34" charset="-122"/>
                <a:cs typeface="Calibri" pitchFamily="34" charset="-120"/>
              </a:rPr>
              <a:t>One rule needs the classification as its own input. The rules run twice — the worse result wins, so a second pass can escalate but never de-escalate.</a:t>
            </a:r>
            <a:endParaRPr lang="en-US" sz="1100" dirty="0"/>
          </a:p>
        </p:txBody>
      </p:sp>
      <p:sp>
        <p:nvSpPr>
          <p:cNvPr id="40" name="Text 38"/>
          <p:cNvSpPr/>
          <p:nvPr/>
        </p:nvSpPr>
        <p:spPr>
          <a:xfrm>
            <a:off x="566928" y="5577840"/>
            <a:ext cx="11064240" cy="365760"/>
          </a:xfrm>
          <a:prstGeom prst="rect">
            <a:avLst/>
          </a:prstGeom>
          <a:noFill/>
          <a:ln/>
        </p:spPr>
        <p:txBody>
          <a:bodyPr wrap="square" lIns="0" tIns="0" rIns="0" bIns="0" rtlCol="0" anchor="ctr"/>
          <a:lstStyle/>
          <a:p>
            <a:pPr indent="0" marL="0">
              <a:buNone/>
            </a:pPr>
            <a:r>
              <a:rPr lang="en-US" sz="1150" i="1" dirty="0">
                <a:solidFill>
                  <a:srgbClr val="5D7186"/>
                </a:solidFill>
                <a:latin typeface="Calibri" pitchFamily="34" charset="0"/>
                <a:ea typeface="Calibri" pitchFamily="34" charset="-122"/>
                <a:cs typeface="Calibri" pitchFamily="34" charset="-120"/>
              </a:rPr>
              <a:t>All thresholds are named constants in the L3 with their source — a guideline change is one line, not a release.</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indent="0" marL="0">
              <a:buNone/>
            </a:pPr>
            <a:r>
              <a:rPr lang="en-US" sz="1050" b="1" spc="160" kern="0" dirty="0">
                <a:solidFill>
                  <a:srgbClr val="5D7186"/>
                </a:solidFill>
                <a:latin typeface="Calibri" pitchFamily="34" charset="0"/>
                <a:ea typeface="Calibri" pitchFamily="34" charset="-122"/>
                <a:cs typeface="Calibri" pitchFamily="34" charset="-120"/>
              </a:rPr>
              <a:t>L1 → L2 · TRANSLATION CHALLENGES</a:t>
            </a:r>
            <a:endParaRPr lang="en-US" sz="1050" dirty="0"/>
          </a:p>
        </p:txBody>
      </p:sp>
      <p:sp>
        <p:nvSpPr>
          <p:cNvPr id="3" name="Text 1"/>
          <p:cNvSpPr/>
          <p:nvPr/>
        </p:nvSpPr>
        <p:spPr>
          <a:xfrm>
            <a:off x="566928" y="640080"/>
            <a:ext cx="8412480" cy="658368"/>
          </a:xfrm>
          <a:prstGeom prst="rect">
            <a:avLst/>
          </a:prstGeom>
          <a:noFill/>
          <a:ln/>
        </p:spPr>
        <p:txBody>
          <a:bodyPr wrap="square" lIns="0" tIns="0" rIns="0" bIns="0" rtlCol="0" anchor="t"/>
          <a:lstStyle/>
          <a:p>
            <a:pPr indent="0" marL="0">
              <a:buNone/>
            </a:pPr>
            <a:r>
              <a:rPr lang="en-US" sz="2700" b="1" dirty="0">
                <a:solidFill>
                  <a:srgbClr val="12202E"/>
                </a:solidFill>
                <a:latin typeface="Cambria" pitchFamily="34" charset="0"/>
                <a:ea typeface="Cambria" pitchFamily="34" charset="-122"/>
                <a:cs typeface="Cambria" pitchFamily="34" charset="-120"/>
              </a:rPr>
              <a:t>Nine places where the guideline left us on our own</a:t>
            </a:r>
            <a:endParaRPr lang="en-US" sz="2700" dirty="0"/>
          </a:p>
        </p:txBody>
      </p:sp>
      <p:sp>
        <p:nvSpPr>
          <p:cNvPr id="4" name="Shape 2"/>
          <p:cNvSpPr/>
          <p:nvPr/>
        </p:nvSpPr>
        <p:spPr>
          <a:xfrm>
            <a:off x="9290304" y="475488"/>
            <a:ext cx="475488" cy="274320"/>
          </a:xfrm>
          <a:prstGeom prst="roundRect">
            <a:avLst>
              <a:gd name="adj" fmla="val 46667"/>
            </a:avLst>
          </a:prstGeom>
          <a:solidFill>
            <a:srgbClr val="F5F7FA"/>
          </a:solidFill>
          <a:ln w="12700">
            <a:solidFill>
              <a:srgbClr val="DDE5EE"/>
            </a:solidFill>
            <a:prstDash val="solid"/>
          </a:ln>
        </p:spPr>
      </p:sp>
      <p:sp>
        <p:nvSpPr>
          <p:cNvPr id="5" name="Text 3"/>
          <p:cNvSpPr/>
          <p:nvPr/>
        </p:nvSpPr>
        <p:spPr>
          <a:xfrm>
            <a:off x="9290304" y="475488"/>
            <a:ext cx="475488" cy="274320"/>
          </a:xfrm>
          <a:prstGeom prst="rect">
            <a:avLst/>
          </a:prstGeom>
          <a:noFill/>
          <a:ln/>
        </p:spPr>
        <p:txBody>
          <a:bodyPr wrap="square" lIns="0" tIns="0" rIns="0" bIns="0" rtlCol="0" anchor="ctr"/>
          <a:lstStyle/>
          <a:p>
            <a:pPr algn="ctr" indent="0" marL="0">
              <a:buNone/>
            </a:pPr>
            <a:r>
              <a:rPr lang="en-US" sz="1050" b="1" dirty="0">
                <a:solidFill>
                  <a:srgbClr val="5D7186"/>
                </a:solidFill>
                <a:latin typeface="Calibri" pitchFamily="34" charset="0"/>
                <a:ea typeface="Calibri" pitchFamily="34" charset="-122"/>
                <a:cs typeface="Calibri" pitchFamily="34" charset="-120"/>
              </a:rPr>
              <a:t>L1</a:t>
            </a:r>
            <a:endParaRPr lang="en-US" sz="1050" dirty="0"/>
          </a:p>
        </p:txBody>
      </p:sp>
      <p:sp>
        <p:nvSpPr>
          <p:cNvPr id="6" name="Text 4"/>
          <p:cNvSpPr/>
          <p:nvPr/>
        </p:nvSpPr>
        <p:spPr>
          <a:xfrm>
            <a:off x="9765792" y="475488"/>
            <a:ext cx="146304" cy="274320"/>
          </a:xfrm>
          <a:prstGeom prst="rect">
            <a:avLst/>
          </a:prstGeom>
          <a:noFill/>
          <a:ln/>
        </p:spPr>
        <p:txBody>
          <a:bodyPr wrap="square" lIns="0" tIns="0" rIns="0" bIns="0" rtlCol="0" anchor="ctr"/>
          <a:lstStyle/>
          <a:p>
            <a:pPr algn="ctr" indent="0" marL="0">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7" name="Shape 5"/>
          <p:cNvSpPr/>
          <p:nvPr/>
        </p:nvSpPr>
        <p:spPr>
          <a:xfrm>
            <a:off x="9912096" y="475488"/>
            <a:ext cx="475488" cy="274320"/>
          </a:xfrm>
          <a:prstGeom prst="roundRect">
            <a:avLst>
              <a:gd name="adj" fmla="val 46667"/>
            </a:avLst>
          </a:prstGeom>
          <a:solidFill>
            <a:srgbClr val="12202E"/>
          </a:solidFill>
          <a:ln w="12700">
            <a:solidFill>
              <a:srgbClr val="12202E"/>
            </a:solidFill>
            <a:prstDash val="solid"/>
          </a:ln>
        </p:spPr>
      </p:sp>
      <p:sp>
        <p:nvSpPr>
          <p:cNvPr id="8" name="Text 6"/>
          <p:cNvSpPr/>
          <p:nvPr/>
        </p:nvSpPr>
        <p:spPr>
          <a:xfrm>
            <a:off x="9912096" y="475488"/>
            <a:ext cx="475488"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L2</a:t>
            </a:r>
            <a:endParaRPr lang="en-US" sz="1050" dirty="0"/>
          </a:p>
        </p:txBody>
      </p:sp>
      <p:sp>
        <p:nvSpPr>
          <p:cNvPr id="9" name="Text 7"/>
          <p:cNvSpPr/>
          <p:nvPr/>
        </p:nvSpPr>
        <p:spPr>
          <a:xfrm>
            <a:off x="10387584" y="475488"/>
            <a:ext cx="146304" cy="274320"/>
          </a:xfrm>
          <a:prstGeom prst="rect">
            <a:avLst/>
          </a:prstGeom>
          <a:noFill/>
          <a:ln/>
        </p:spPr>
        <p:txBody>
          <a:bodyPr wrap="square" lIns="0" tIns="0" rIns="0" bIns="0" rtlCol="0" anchor="ctr"/>
          <a:lstStyle/>
          <a:p>
            <a:pPr algn="ctr" indent="0" marL="0">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10" name="Shape 8"/>
          <p:cNvSpPr/>
          <p:nvPr/>
        </p:nvSpPr>
        <p:spPr>
          <a:xfrm>
            <a:off x="10533888" y="475488"/>
            <a:ext cx="475488" cy="274320"/>
          </a:xfrm>
          <a:prstGeom prst="roundRect">
            <a:avLst>
              <a:gd name="adj" fmla="val 46667"/>
            </a:avLst>
          </a:prstGeom>
          <a:solidFill>
            <a:srgbClr val="F5F7FA"/>
          </a:solidFill>
          <a:ln w="12700">
            <a:solidFill>
              <a:srgbClr val="DDE5EE"/>
            </a:solidFill>
            <a:prstDash val="solid"/>
          </a:ln>
        </p:spPr>
      </p:sp>
      <p:sp>
        <p:nvSpPr>
          <p:cNvPr id="11" name="Text 9"/>
          <p:cNvSpPr/>
          <p:nvPr/>
        </p:nvSpPr>
        <p:spPr>
          <a:xfrm>
            <a:off x="10533888" y="475488"/>
            <a:ext cx="475488" cy="274320"/>
          </a:xfrm>
          <a:prstGeom prst="rect">
            <a:avLst/>
          </a:prstGeom>
          <a:noFill/>
          <a:ln/>
        </p:spPr>
        <p:txBody>
          <a:bodyPr wrap="square" lIns="0" tIns="0" rIns="0" bIns="0" rtlCol="0" anchor="ctr"/>
          <a:lstStyle/>
          <a:p>
            <a:pPr algn="ctr" indent="0" marL="0">
              <a:buNone/>
            </a:pPr>
            <a:r>
              <a:rPr lang="en-US" sz="1050" b="1" dirty="0">
                <a:solidFill>
                  <a:srgbClr val="5D7186"/>
                </a:solidFill>
                <a:latin typeface="Calibri" pitchFamily="34" charset="0"/>
                <a:ea typeface="Calibri" pitchFamily="34" charset="-122"/>
                <a:cs typeface="Calibri" pitchFamily="34" charset="-120"/>
              </a:rPr>
              <a:t>L3</a:t>
            </a:r>
            <a:endParaRPr lang="en-US" sz="1050" dirty="0"/>
          </a:p>
        </p:txBody>
      </p:sp>
      <p:sp>
        <p:nvSpPr>
          <p:cNvPr id="12" name="Text 10"/>
          <p:cNvSpPr/>
          <p:nvPr/>
        </p:nvSpPr>
        <p:spPr>
          <a:xfrm>
            <a:off x="11009376" y="475488"/>
            <a:ext cx="146304" cy="274320"/>
          </a:xfrm>
          <a:prstGeom prst="rect">
            <a:avLst/>
          </a:prstGeom>
          <a:noFill/>
          <a:ln/>
        </p:spPr>
        <p:txBody>
          <a:bodyPr wrap="square" lIns="0" tIns="0" rIns="0" bIns="0" rtlCol="0" anchor="ctr"/>
          <a:lstStyle/>
          <a:p>
            <a:pPr algn="ctr" indent="0" marL="0">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13" name="Shape 11"/>
          <p:cNvSpPr/>
          <p:nvPr/>
        </p:nvSpPr>
        <p:spPr>
          <a:xfrm>
            <a:off x="11155680" y="475488"/>
            <a:ext cx="475488" cy="274320"/>
          </a:xfrm>
          <a:prstGeom prst="roundRect">
            <a:avLst>
              <a:gd name="adj" fmla="val 46667"/>
            </a:avLst>
          </a:prstGeom>
          <a:solidFill>
            <a:srgbClr val="F5F7FA"/>
          </a:solidFill>
          <a:ln w="12700">
            <a:solidFill>
              <a:srgbClr val="DDE5EE"/>
            </a:solidFill>
            <a:prstDash val="solid"/>
          </a:ln>
        </p:spPr>
      </p:sp>
      <p:sp>
        <p:nvSpPr>
          <p:cNvPr id="14" name="Text 12"/>
          <p:cNvSpPr/>
          <p:nvPr/>
        </p:nvSpPr>
        <p:spPr>
          <a:xfrm>
            <a:off x="11155680" y="475488"/>
            <a:ext cx="475488" cy="274320"/>
          </a:xfrm>
          <a:prstGeom prst="rect">
            <a:avLst/>
          </a:prstGeom>
          <a:noFill/>
          <a:ln/>
        </p:spPr>
        <p:txBody>
          <a:bodyPr wrap="square" lIns="0" tIns="0" rIns="0" bIns="0" rtlCol="0" anchor="ctr"/>
          <a:lstStyle/>
          <a:p>
            <a:pPr algn="ctr" indent="0" marL="0">
              <a:buNone/>
            </a:pPr>
            <a:r>
              <a:rPr lang="en-US" sz="1050" b="1" dirty="0">
                <a:solidFill>
                  <a:srgbClr val="5D7186"/>
                </a:solidFill>
                <a:latin typeface="Calibri" pitchFamily="34" charset="0"/>
                <a:ea typeface="Calibri" pitchFamily="34" charset="-122"/>
                <a:cs typeface="Calibri" pitchFamily="34" charset="-120"/>
              </a:rPr>
              <a:t>L4</a:t>
            </a:r>
            <a:endParaRPr lang="en-US" sz="1050" dirty="0"/>
          </a:p>
        </p:txBody>
      </p:sp>
      <p:sp>
        <p:nvSpPr>
          <p:cNvPr id="15" name="Shape 13"/>
          <p:cNvSpPr/>
          <p:nvPr/>
        </p:nvSpPr>
        <p:spPr>
          <a:xfrm>
            <a:off x="566928" y="1645920"/>
            <a:ext cx="3474720" cy="640080"/>
          </a:xfrm>
          <a:prstGeom prst="roundRect">
            <a:avLst>
              <a:gd name="adj" fmla="val 12857"/>
            </a:avLst>
          </a:prstGeom>
          <a:solidFill>
            <a:srgbClr val="FBE7E5"/>
          </a:solidFill>
          <a:ln w="12700">
            <a:solidFill>
              <a:srgbClr val="F0ACA6"/>
            </a:solidFill>
            <a:prstDash val="solid"/>
          </a:ln>
        </p:spPr>
      </p:sp>
      <p:sp>
        <p:nvSpPr>
          <p:cNvPr id="16" name="Text 14"/>
          <p:cNvSpPr/>
          <p:nvPr/>
        </p:nvSpPr>
        <p:spPr>
          <a:xfrm>
            <a:off x="768096" y="1700784"/>
            <a:ext cx="640080" cy="256032"/>
          </a:xfrm>
          <a:prstGeom prst="rect">
            <a:avLst/>
          </a:prstGeom>
          <a:noFill/>
          <a:ln/>
        </p:spPr>
        <p:txBody>
          <a:bodyPr wrap="square" lIns="0" tIns="0" rIns="0" bIns="0" rtlCol="0" anchor="ctr"/>
          <a:lstStyle/>
          <a:p>
            <a:pPr indent="0" marL="0">
              <a:buNone/>
            </a:pPr>
            <a:r>
              <a:rPr lang="en-US" sz="1000" b="1" dirty="0">
                <a:solidFill>
                  <a:srgbClr val="C0281C"/>
                </a:solidFill>
                <a:latin typeface="Calibri" pitchFamily="34" charset="0"/>
                <a:ea typeface="Calibri" pitchFamily="34" charset="-122"/>
                <a:cs typeface="Calibri" pitchFamily="34" charset="-120"/>
              </a:rPr>
              <a:t>C-01</a:t>
            </a:r>
            <a:endParaRPr lang="en-US" sz="1000" dirty="0"/>
          </a:p>
        </p:txBody>
      </p:sp>
      <p:sp>
        <p:nvSpPr>
          <p:cNvPr id="17" name="Text 15"/>
          <p:cNvSpPr/>
          <p:nvPr/>
        </p:nvSpPr>
        <p:spPr>
          <a:xfrm>
            <a:off x="768096" y="1920240"/>
            <a:ext cx="3108960" cy="310896"/>
          </a:xfrm>
          <a:prstGeom prst="rect">
            <a:avLst/>
          </a:prstGeom>
          <a:noFill/>
          <a:ln/>
        </p:spPr>
        <p:txBody>
          <a:bodyPr wrap="square" lIns="0" tIns="0" rIns="0" bIns="0" rtlCol="0" anchor="ctr"/>
          <a:lstStyle/>
          <a:p>
            <a:pPr indent="0" marL="0">
              <a:buNone/>
            </a:pPr>
            <a:r>
              <a:rPr lang="en-US" sz="1100" dirty="0">
                <a:solidFill>
                  <a:srgbClr val="12202E"/>
                </a:solidFill>
                <a:latin typeface="Calibri" pitchFamily="34" charset="0"/>
                <a:ea typeface="Calibri" pitchFamily="34" charset="-122"/>
                <a:cs typeface="Calibri" pitchFamily="34" charset="-120"/>
              </a:rPr>
              <a:t>Professional instrument → layperson instrument</a:t>
            </a:r>
            <a:endParaRPr lang="en-US" sz="1100" dirty="0"/>
          </a:p>
        </p:txBody>
      </p:sp>
      <p:sp>
        <p:nvSpPr>
          <p:cNvPr id="18" name="Shape 16"/>
          <p:cNvSpPr/>
          <p:nvPr/>
        </p:nvSpPr>
        <p:spPr>
          <a:xfrm>
            <a:off x="4279392" y="1645920"/>
            <a:ext cx="3474720" cy="640080"/>
          </a:xfrm>
          <a:prstGeom prst="roundRect">
            <a:avLst>
              <a:gd name="adj" fmla="val 12857"/>
            </a:avLst>
          </a:prstGeom>
          <a:solidFill>
            <a:srgbClr val="FFFFFF"/>
          </a:solidFill>
          <a:ln w="12700">
            <a:solidFill>
              <a:srgbClr val="DDE5EE"/>
            </a:solidFill>
            <a:prstDash val="solid"/>
          </a:ln>
        </p:spPr>
      </p:sp>
      <p:sp>
        <p:nvSpPr>
          <p:cNvPr id="19" name="Text 17"/>
          <p:cNvSpPr/>
          <p:nvPr/>
        </p:nvSpPr>
        <p:spPr>
          <a:xfrm>
            <a:off x="4480560" y="1700784"/>
            <a:ext cx="640080" cy="256032"/>
          </a:xfrm>
          <a:prstGeom prst="rect">
            <a:avLst/>
          </a:prstGeom>
          <a:noFill/>
          <a:ln/>
        </p:spPr>
        <p:txBody>
          <a:bodyPr wrap="square" lIns="0" tIns="0" rIns="0" bIns="0" rtlCol="0" anchor="ctr"/>
          <a:lstStyle/>
          <a:p>
            <a:pPr indent="0" marL="0">
              <a:buNone/>
            </a:pPr>
            <a:r>
              <a:rPr lang="en-US" sz="1000" b="1" dirty="0">
                <a:solidFill>
                  <a:srgbClr val="5D7186"/>
                </a:solidFill>
                <a:latin typeface="Calibri" pitchFamily="34" charset="0"/>
                <a:ea typeface="Calibri" pitchFamily="34" charset="-122"/>
                <a:cs typeface="Calibri" pitchFamily="34" charset="-120"/>
              </a:rPr>
              <a:t>C-02</a:t>
            </a:r>
            <a:endParaRPr lang="en-US" sz="1000" dirty="0"/>
          </a:p>
        </p:txBody>
      </p:sp>
      <p:sp>
        <p:nvSpPr>
          <p:cNvPr id="20" name="Text 18"/>
          <p:cNvSpPr/>
          <p:nvPr/>
        </p:nvSpPr>
        <p:spPr>
          <a:xfrm>
            <a:off x="4480560" y="1920240"/>
            <a:ext cx="3108960" cy="310896"/>
          </a:xfrm>
          <a:prstGeom prst="rect">
            <a:avLst/>
          </a:prstGeom>
          <a:noFill/>
          <a:ln/>
        </p:spPr>
        <p:txBody>
          <a:bodyPr wrap="square" lIns="0" tIns="0" rIns="0" bIns="0" rtlCol="0" anchor="ctr"/>
          <a:lstStyle/>
          <a:p>
            <a:pPr indent="0" marL="0">
              <a:buNone/>
            </a:pPr>
            <a:r>
              <a:rPr lang="en-US" sz="1100" dirty="0">
                <a:solidFill>
                  <a:srgbClr val="12202E"/>
                </a:solidFill>
                <a:latin typeface="Calibri" pitchFamily="34" charset="0"/>
                <a:ea typeface="Calibri" pitchFamily="34" charset="-122"/>
                <a:cs typeface="Calibri" pitchFamily="34" charset="-120"/>
              </a:rPr>
              <a:t>Sub-grades without centimetres</a:t>
            </a:r>
            <a:endParaRPr lang="en-US" sz="1100" dirty="0"/>
          </a:p>
        </p:txBody>
      </p:sp>
      <p:sp>
        <p:nvSpPr>
          <p:cNvPr id="21" name="Shape 19"/>
          <p:cNvSpPr/>
          <p:nvPr/>
        </p:nvSpPr>
        <p:spPr>
          <a:xfrm>
            <a:off x="7991856" y="1645920"/>
            <a:ext cx="3474720" cy="640080"/>
          </a:xfrm>
          <a:prstGeom prst="roundRect">
            <a:avLst>
              <a:gd name="adj" fmla="val 12857"/>
            </a:avLst>
          </a:prstGeom>
          <a:solidFill>
            <a:srgbClr val="FBE7E5"/>
          </a:solidFill>
          <a:ln w="12700">
            <a:solidFill>
              <a:srgbClr val="F0ACA6"/>
            </a:solidFill>
            <a:prstDash val="solid"/>
          </a:ln>
        </p:spPr>
      </p:sp>
      <p:sp>
        <p:nvSpPr>
          <p:cNvPr id="22" name="Text 20"/>
          <p:cNvSpPr/>
          <p:nvPr/>
        </p:nvSpPr>
        <p:spPr>
          <a:xfrm>
            <a:off x="8193024" y="1700784"/>
            <a:ext cx="640080" cy="256032"/>
          </a:xfrm>
          <a:prstGeom prst="rect">
            <a:avLst/>
          </a:prstGeom>
          <a:noFill/>
          <a:ln/>
        </p:spPr>
        <p:txBody>
          <a:bodyPr wrap="square" lIns="0" tIns="0" rIns="0" bIns="0" rtlCol="0" anchor="ctr"/>
          <a:lstStyle/>
          <a:p>
            <a:pPr indent="0" marL="0">
              <a:buNone/>
            </a:pPr>
            <a:r>
              <a:rPr lang="en-US" sz="1000" b="1" dirty="0">
                <a:solidFill>
                  <a:srgbClr val="C0281C"/>
                </a:solidFill>
                <a:latin typeface="Calibri" pitchFamily="34" charset="0"/>
                <a:ea typeface="Calibri" pitchFamily="34" charset="-122"/>
                <a:cs typeface="Calibri" pitchFamily="34" charset="-120"/>
              </a:rPr>
              <a:t>C-03</a:t>
            </a:r>
            <a:endParaRPr lang="en-US" sz="1000" dirty="0"/>
          </a:p>
        </p:txBody>
      </p:sp>
      <p:sp>
        <p:nvSpPr>
          <p:cNvPr id="23" name="Text 21"/>
          <p:cNvSpPr/>
          <p:nvPr/>
        </p:nvSpPr>
        <p:spPr>
          <a:xfrm>
            <a:off x="8193024" y="1920240"/>
            <a:ext cx="3108960" cy="310896"/>
          </a:xfrm>
          <a:prstGeom prst="rect">
            <a:avLst/>
          </a:prstGeom>
          <a:noFill/>
          <a:ln/>
        </p:spPr>
        <p:txBody>
          <a:bodyPr wrap="square" lIns="0" tIns="0" rIns="0" bIns="0" rtlCol="0" anchor="ctr"/>
          <a:lstStyle/>
          <a:p>
            <a:pPr indent="0" marL="0">
              <a:buNone/>
            </a:pPr>
            <a:r>
              <a:rPr lang="en-US" sz="1100" dirty="0">
                <a:solidFill>
                  <a:srgbClr val="12202E"/>
                </a:solidFill>
                <a:latin typeface="Calibri" pitchFamily="34" charset="0"/>
                <a:ea typeface="Calibri" pitchFamily="34" charset="-122"/>
                <a:cs typeface="Calibri" pitchFamily="34" charset="-120"/>
              </a:rPr>
              <a:t>When does redness stop being normal?</a:t>
            </a:r>
            <a:endParaRPr lang="en-US" sz="1100" dirty="0"/>
          </a:p>
        </p:txBody>
      </p:sp>
      <p:sp>
        <p:nvSpPr>
          <p:cNvPr id="24" name="Shape 22"/>
          <p:cNvSpPr/>
          <p:nvPr/>
        </p:nvSpPr>
        <p:spPr>
          <a:xfrm>
            <a:off x="566928" y="2395728"/>
            <a:ext cx="3474720" cy="640080"/>
          </a:xfrm>
          <a:prstGeom prst="roundRect">
            <a:avLst>
              <a:gd name="adj" fmla="val 12857"/>
            </a:avLst>
          </a:prstGeom>
          <a:solidFill>
            <a:srgbClr val="FFFFFF"/>
          </a:solidFill>
          <a:ln w="12700">
            <a:solidFill>
              <a:srgbClr val="DDE5EE"/>
            </a:solidFill>
            <a:prstDash val="solid"/>
          </a:ln>
        </p:spPr>
      </p:sp>
      <p:sp>
        <p:nvSpPr>
          <p:cNvPr id="25" name="Text 23"/>
          <p:cNvSpPr/>
          <p:nvPr/>
        </p:nvSpPr>
        <p:spPr>
          <a:xfrm>
            <a:off x="768096" y="2450592"/>
            <a:ext cx="640080" cy="256032"/>
          </a:xfrm>
          <a:prstGeom prst="rect">
            <a:avLst/>
          </a:prstGeom>
          <a:noFill/>
          <a:ln/>
        </p:spPr>
        <p:txBody>
          <a:bodyPr wrap="square" lIns="0" tIns="0" rIns="0" bIns="0" rtlCol="0" anchor="ctr"/>
          <a:lstStyle/>
          <a:p>
            <a:pPr indent="0" marL="0">
              <a:buNone/>
            </a:pPr>
            <a:r>
              <a:rPr lang="en-US" sz="1000" b="1" dirty="0">
                <a:solidFill>
                  <a:srgbClr val="5D7186"/>
                </a:solidFill>
                <a:latin typeface="Calibri" pitchFamily="34" charset="0"/>
                <a:ea typeface="Calibri" pitchFamily="34" charset="-122"/>
                <a:cs typeface="Calibri" pitchFamily="34" charset="-120"/>
              </a:rPr>
              <a:t>C-04</a:t>
            </a:r>
            <a:endParaRPr lang="en-US" sz="1000" dirty="0"/>
          </a:p>
        </p:txBody>
      </p:sp>
      <p:sp>
        <p:nvSpPr>
          <p:cNvPr id="26" name="Text 24"/>
          <p:cNvSpPr/>
          <p:nvPr/>
        </p:nvSpPr>
        <p:spPr>
          <a:xfrm>
            <a:off x="768096" y="2670048"/>
            <a:ext cx="3108960" cy="310896"/>
          </a:xfrm>
          <a:prstGeom prst="rect">
            <a:avLst/>
          </a:prstGeom>
          <a:noFill/>
          <a:ln/>
        </p:spPr>
        <p:txBody>
          <a:bodyPr wrap="square" lIns="0" tIns="0" rIns="0" bIns="0" rtlCol="0" anchor="ctr"/>
          <a:lstStyle/>
          <a:p>
            <a:pPr indent="0" marL="0">
              <a:buNone/>
            </a:pPr>
            <a:r>
              <a:rPr lang="en-US" sz="1100" dirty="0">
                <a:solidFill>
                  <a:srgbClr val="12202E"/>
                </a:solidFill>
                <a:latin typeface="Calibri" pitchFamily="34" charset="0"/>
                <a:ea typeface="Calibri" pitchFamily="34" charset="-122"/>
                <a:cs typeface="Calibri" pitchFamily="34" charset="-120"/>
              </a:rPr>
              <a:t>Scab: warning or reassurance?</a:t>
            </a:r>
            <a:endParaRPr lang="en-US" sz="1100" dirty="0"/>
          </a:p>
        </p:txBody>
      </p:sp>
      <p:sp>
        <p:nvSpPr>
          <p:cNvPr id="27" name="Shape 25"/>
          <p:cNvSpPr/>
          <p:nvPr/>
        </p:nvSpPr>
        <p:spPr>
          <a:xfrm>
            <a:off x="4279392" y="2395728"/>
            <a:ext cx="3474720" cy="640080"/>
          </a:xfrm>
          <a:prstGeom prst="roundRect">
            <a:avLst>
              <a:gd name="adj" fmla="val 12857"/>
            </a:avLst>
          </a:prstGeom>
          <a:solidFill>
            <a:srgbClr val="FFFFFF"/>
          </a:solidFill>
          <a:ln w="12700">
            <a:solidFill>
              <a:srgbClr val="DDE5EE"/>
            </a:solidFill>
            <a:prstDash val="solid"/>
          </a:ln>
        </p:spPr>
      </p:sp>
      <p:sp>
        <p:nvSpPr>
          <p:cNvPr id="28" name="Text 26"/>
          <p:cNvSpPr/>
          <p:nvPr/>
        </p:nvSpPr>
        <p:spPr>
          <a:xfrm>
            <a:off x="4480560" y="2450592"/>
            <a:ext cx="640080" cy="256032"/>
          </a:xfrm>
          <a:prstGeom prst="rect">
            <a:avLst/>
          </a:prstGeom>
          <a:noFill/>
          <a:ln/>
        </p:spPr>
        <p:txBody>
          <a:bodyPr wrap="square" lIns="0" tIns="0" rIns="0" bIns="0" rtlCol="0" anchor="ctr"/>
          <a:lstStyle/>
          <a:p>
            <a:pPr indent="0" marL="0">
              <a:buNone/>
            </a:pPr>
            <a:r>
              <a:rPr lang="en-US" sz="1000" b="1" dirty="0">
                <a:solidFill>
                  <a:srgbClr val="5D7186"/>
                </a:solidFill>
                <a:latin typeface="Calibri" pitchFamily="34" charset="0"/>
                <a:ea typeface="Calibri" pitchFamily="34" charset="-122"/>
                <a:cs typeface="Calibri" pitchFamily="34" charset="-120"/>
              </a:rPr>
              <a:t>C-05</a:t>
            </a:r>
            <a:endParaRPr lang="en-US" sz="1000" dirty="0"/>
          </a:p>
        </p:txBody>
      </p:sp>
      <p:sp>
        <p:nvSpPr>
          <p:cNvPr id="29" name="Text 27"/>
          <p:cNvSpPr/>
          <p:nvPr/>
        </p:nvSpPr>
        <p:spPr>
          <a:xfrm>
            <a:off x="4480560" y="2670048"/>
            <a:ext cx="3108960" cy="310896"/>
          </a:xfrm>
          <a:prstGeom prst="rect">
            <a:avLst/>
          </a:prstGeom>
          <a:noFill/>
          <a:ln/>
        </p:spPr>
        <p:txBody>
          <a:bodyPr wrap="square" lIns="0" tIns="0" rIns="0" bIns="0" rtlCol="0" anchor="ctr"/>
          <a:lstStyle/>
          <a:p>
            <a:pPr indent="0" marL="0">
              <a:buNone/>
            </a:pPr>
            <a:r>
              <a:rPr lang="en-US" sz="1100" dirty="0">
                <a:solidFill>
                  <a:srgbClr val="12202E"/>
                </a:solidFill>
                <a:latin typeface="Calibri" pitchFamily="34" charset="0"/>
                <a:ea typeface="Calibri" pitchFamily="34" charset="-122"/>
                <a:cs typeface="Calibri" pitchFamily="34" charset="-120"/>
              </a:rPr>
              <a:t>CDC criteria assume a clinical examination</a:t>
            </a:r>
            <a:endParaRPr lang="en-US" sz="1100" dirty="0"/>
          </a:p>
        </p:txBody>
      </p:sp>
      <p:sp>
        <p:nvSpPr>
          <p:cNvPr id="30" name="Shape 28"/>
          <p:cNvSpPr/>
          <p:nvPr/>
        </p:nvSpPr>
        <p:spPr>
          <a:xfrm>
            <a:off x="7991856" y="2395728"/>
            <a:ext cx="3474720" cy="640080"/>
          </a:xfrm>
          <a:prstGeom prst="roundRect">
            <a:avLst>
              <a:gd name="adj" fmla="val 12857"/>
            </a:avLst>
          </a:prstGeom>
          <a:solidFill>
            <a:srgbClr val="FFFFFF"/>
          </a:solidFill>
          <a:ln w="12700">
            <a:solidFill>
              <a:srgbClr val="DDE5EE"/>
            </a:solidFill>
            <a:prstDash val="solid"/>
          </a:ln>
        </p:spPr>
      </p:sp>
      <p:sp>
        <p:nvSpPr>
          <p:cNvPr id="31" name="Text 29"/>
          <p:cNvSpPr/>
          <p:nvPr/>
        </p:nvSpPr>
        <p:spPr>
          <a:xfrm>
            <a:off x="8193024" y="2450592"/>
            <a:ext cx="640080" cy="256032"/>
          </a:xfrm>
          <a:prstGeom prst="rect">
            <a:avLst/>
          </a:prstGeom>
          <a:noFill/>
          <a:ln/>
        </p:spPr>
        <p:txBody>
          <a:bodyPr wrap="square" lIns="0" tIns="0" rIns="0" bIns="0" rtlCol="0" anchor="ctr"/>
          <a:lstStyle/>
          <a:p>
            <a:pPr indent="0" marL="0">
              <a:buNone/>
            </a:pPr>
            <a:r>
              <a:rPr lang="en-US" sz="1000" b="1" dirty="0">
                <a:solidFill>
                  <a:srgbClr val="5D7186"/>
                </a:solidFill>
                <a:latin typeface="Calibri" pitchFamily="34" charset="0"/>
                <a:ea typeface="Calibri" pitchFamily="34" charset="-122"/>
                <a:cs typeface="Calibri" pitchFamily="34" charset="-120"/>
              </a:rPr>
              <a:t>C-06</a:t>
            </a:r>
            <a:endParaRPr lang="en-US" sz="1000" dirty="0"/>
          </a:p>
        </p:txBody>
      </p:sp>
      <p:sp>
        <p:nvSpPr>
          <p:cNvPr id="32" name="Text 30"/>
          <p:cNvSpPr/>
          <p:nvPr/>
        </p:nvSpPr>
        <p:spPr>
          <a:xfrm>
            <a:off x="8193024" y="2670048"/>
            <a:ext cx="3108960" cy="310896"/>
          </a:xfrm>
          <a:prstGeom prst="rect">
            <a:avLst/>
          </a:prstGeom>
          <a:noFill/>
          <a:ln/>
        </p:spPr>
        <p:txBody>
          <a:bodyPr wrap="square" lIns="0" tIns="0" rIns="0" bIns="0" rtlCol="0" anchor="ctr"/>
          <a:lstStyle/>
          <a:p>
            <a:pPr indent="0" marL="0">
              <a:buNone/>
            </a:pPr>
            <a:r>
              <a:rPr lang="en-US" sz="1100" dirty="0">
                <a:solidFill>
                  <a:srgbClr val="12202E"/>
                </a:solidFill>
                <a:latin typeface="Calibri" pitchFamily="34" charset="0"/>
                <a:ea typeface="Calibri" pitchFamily="34" charset="-122"/>
                <a:cs typeface="Calibri" pitchFamily="34" charset="-120"/>
              </a:rPr>
              <a:t>Southampton as triage, not prognosis</a:t>
            </a:r>
            <a:endParaRPr lang="en-US" sz="1100" dirty="0"/>
          </a:p>
        </p:txBody>
      </p:sp>
      <p:sp>
        <p:nvSpPr>
          <p:cNvPr id="33" name="Shape 31"/>
          <p:cNvSpPr/>
          <p:nvPr/>
        </p:nvSpPr>
        <p:spPr>
          <a:xfrm>
            <a:off x="566928" y="3145536"/>
            <a:ext cx="3474720" cy="640080"/>
          </a:xfrm>
          <a:prstGeom prst="roundRect">
            <a:avLst>
              <a:gd name="adj" fmla="val 12857"/>
            </a:avLst>
          </a:prstGeom>
          <a:solidFill>
            <a:srgbClr val="FFFFFF"/>
          </a:solidFill>
          <a:ln w="12700">
            <a:solidFill>
              <a:srgbClr val="DDE5EE"/>
            </a:solidFill>
            <a:prstDash val="solid"/>
          </a:ln>
        </p:spPr>
      </p:sp>
      <p:sp>
        <p:nvSpPr>
          <p:cNvPr id="34" name="Text 32"/>
          <p:cNvSpPr/>
          <p:nvPr/>
        </p:nvSpPr>
        <p:spPr>
          <a:xfrm>
            <a:off x="768096" y="3200400"/>
            <a:ext cx="640080" cy="256032"/>
          </a:xfrm>
          <a:prstGeom prst="rect">
            <a:avLst/>
          </a:prstGeom>
          <a:noFill/>
          <a:ln/>
        </p:spPr>
        <p:txBody>
          <a:bodyPr wrap="square" lIns="0" tIns="0" rIns="0" bIns="0" rtlCol="0" anchor="ctr"/>
          <a:lstStyle/>
          <a:p>
            <a:pPr indent="0" marL="0">
              <a:buNone/>
            </a:pPr>
            <a:r>
              <a:rPr lang="en-US" sz="1000" b="1" dirty="0">
                <a:solidFill>
                  <a:srgbClr val="5D7186"/>
                </a:solidFill>
                <a:latin typeface="Calibri" pitchFamily="34" charset="0"/>
                <a:ea typeface="Calibri" pitchFamily="34" charset="-122"/>
                <a:cs typeface="Calibri" pitchFamily="34" charset="-120"/>
              </a:rPr>
              <a:t>C-07</a:t>
            </a:r>
            <a:endParaRPr lang="en-US" sz="1000" dirty="0"/>
          </a:p>
        </p:txBody>
      </p:sp>
      <p:sp>
        <p:nvSpPr>
          <p:cNvPr id="35" name="Text 33"/>
          <p:cNvSpPr/>
          <p:nvPr/>
        </p:nvSpPr>
        <p:spPr>
          <a:xfrm>
            <a:off x="768096" y="3419856"/>
            <a:ext cx="3108960" cy="310896"/>
          </a:xfrm>
          <a:prstGeom prst="rect">
            <a:avLst/>
          </a:prstGeom>
          <a:noFill/>
          <a:ln/>
        </p:spPr>
        <p:txBody>
          <a:bodyPr wrap="square" lIns="0" tIns="0" rIns="0" bIns="0" rtlCol="0" anchor="ctr"/>
          <a:lstStyle/>
          <a:p>
            <a:pPr indent="0" marL="0">
              <a:buNone/>
            </a:pPr>
            <a:r>
              <a:rPr lang="en-US" sz="1100" dirty="0">
                <a:solidFill>
                  <a:srgbClr val="12202E"/>
                </a:solidFill>
                <a:latin typeface="Calibri" pitchFamily="34" charset="0"/>
                <a:ea typeface="Calibri" pitchFamily="34" charset="-122"/>
                <a:cs typeface="Calibri" pitchFamily="34" charset="-120"/>
              </a:rPr>
              <a:t>Two fever thresholds instead of one</a:t>
            </a:r>
            <a:endParaRPr lang="en-US" sz="1100" dirty="0"/>
          </a:p>
        </p:txBody>
      </p:sp>
      <p:sp>
        <p:nvSpPr>
          <p:cNvPr id="36" name="Shape 34"/>
          <p:cNvSpPr/>
          <p:nvPr/>
        </p:nvSpPr>
        <p:spPr>
          <a:xfrm>
            <a:off x="4279392" y="3145536"/>
            <a:ext cx="3474720" cy="640080"/>
          </a:xfrm>
          <a:prstGeom prst="roundRect">
            <a:avLst>
              <a:gd name="adj" fmla="val 12857"/>
            </a:avLst>
          </a:prstGeom>
          <a:solidFill>
            <a:srgbClr val="FFFFFF"/>
          </a:solidFill>
          <a:ln w="12700">
            <a:solidFill>
              <a:srgbClr val="DDE5EE"/>
            </a:solidFill>
            <a:prstDash val="solid"/>
          </a:ln>
        </p:spPr>
      </p:sp>
      <p:sp>
        <p:nvSpPr>
          <p:cNvPr id="37" name="Text 35"/>
          <p:cNvSpPr/>
          <p:nvPr/>
        </p:nvSpPr>
        <p:spPr>
          <a:xfrm>
            <a:off x="4480560" y="3200400"/>
            <a:ext cx="640080" cy="256032"/>
          </a:xfrm>
          <a:prstGeom prst="rect">
            <a:avLst/>
          </a:prstGeom>
          <a:noFill/>
          <a:ln/>
        </p:spPr>
        <p:txBody>
          <a:bodyPr wrap="square" lIns="0" tIns="0" rIns="0" bIns="0" rtlCol="0" anchor="ctr"/>
          <a:lstStyle/>
          <a:p>
            <a:pPr indent="0" marL="0">
              <a:buNone/>
            </a:pPr>
            <a:r>
              <a:rPr lang="en-US" sz="1000" b="1" dirty="0">
                <a:solidFill>
                  <a:srgbClr val="5D7186"/>
                </a:solidFill>
                <a:latin typeface="Calibri" pitchFamily="34" charset="0"/>
                <a:ea typeface="Calibri" pitchFamily="34" charset="-122"/>
                <a:cs typeface="Calibri" pitchFamily="34" charset="-120"/>
              </a:rPr>
              <a:t>C-08</a:t>
            </a:r>
            <a:endParaRPr lang="en-US" sz="1000" dirty="0"/>
          </a:p>
        </p:txBody>
      </p:sp>
      <p:sp>
        <p:nvSpPr>
          <p:cNvPr id="38" name="Text 36"/>
          <p:cNvSpPr/>
          <p:nvPr/>
        </p:nvSpPr>
        <p:spPr>
          <a:xfrm>
            <a:off x="4480560" y="3419856"/>
            <a:ext cx="3108960" cy="310896"/>
          </a:xfrm>
          <a:prstGeom prst="rect">
            <a:avLst/>
          </a:prstGeom>
          <a:noFill/>
          <a:ln/>
        </p:spPr>
        <p:txBody>
          <a:bodyPr wrap="square" lIns="0" tIns="0" rIns="0" bIns="0" rtlCol="0" anchor="ctr"/>
          <a:lstStyle/>
          <a:p>
            <a:pPr indent="0" marL="0">
              <a:buNone/>
            </a:pPr>
            <a:r>
              <a:rPr lang="en-US" sz="1100" dirty="0">
                <a:solidFill>
                  <a:srgbClr val="12202E"/>
                </a:solidFill>
                <a:latin typeface="Calibri" pitchFamily="34" charset="0"/>
                <a:ea typeface="Calibri" pitchFamily="34" charset="-122"/>
                <a:cs typeface="Calibri" pitchFamily="34" charset="-120"/>
              </a:rPr>
              <a:t>No trajectory on the first day</a:t>
            </a:r>
            <a:endParaRPr lang="en-US" sz="1100" dirty="0"/>
          </a:p>
        </p:txBody>
      </p:sp>
      <p:sp>
        <p:nvSpPr>
          <p:cNvPr id="39" name="Shape 37"/>
          <p:cNvSpPr/>
          <p:nvPr/>
        </p:nvSpPr>
        <p:spPr>
          <a:xfrm>
            <a:off x="7991856" y="3145536"/>
            <a:ext cx="3474720" cy="640080"/>
          </a:xfrm>
          <a:prstGeom prst="roundRect">
            <a:avLst>
              <a:gd name="adj" fmla="val 12857"/>
            </a:avLst>
          </a:prstGeom>
          <a:solidFill>
            <a:srgbClr val="FFFFFF"/>
          </a:solidFill>
          <a:ln w="12700">
            <a:solidFill>
              <a:srgbClr val="DDE5EE"/>
            </a:solidFill>
            <a:prstDash val="solid"/>
          </a:ln>
        </p:spPr>
      </p:sp>
      <p:sp>
        <p:nvSpPr>
          <p:cNvPr id="40" name="Text 38"/>
          <p:cNvSpPr/>
          <p:nvPr/>
        </p:nvSpPr>
        <p:spPr>
          <a:xfrm>
            <a:off x="8193024" y="3200400"/>
            <a:ext cx="640080" cy="256032"/>
          </a:xfrm>
          <a:prstGeom prst="rect">
            <a:avLst/>
          </a:prstGeom>
          <a:noFill/>
          <a:ln/>
        </p:spPr>
        <p:txBody>
          <a:bodyPr wrap="square" lIns="0" tIns="0" rIns="0" bIns="0" rtlCol="0" anchor="ctr"/>
          <a:lstStyle/>
          <a:p>
            <a:pPr indent="0" marL="0">
              <a:buNone/>
            </a:pPr>
            <a:r>
              <a:rPr lang="en-US" sz="1000" b="1" dirty="0">
                <a:solidFill>
                  <a:srgbClr val="5D7186"/>
                </a:solidFill>
                <a:latin typeface="Calibri" pitchFamily="34" charset="0"/>
                <a:ea typeface="Calibri" pitchFamily="34" charset="-122"/>
                <a:cs typeface="Calibri" pitchFamily="34" charset="-120"/>
              </a:rPr>
              <a:t>C-09</a:t>
            </a:r>
            <a:endParaRPr lang="en-US" sz="1000" dirty="0"/>
          </a:p>
        </p:txBody>
      </p:sp>
      <p:sp>
        <p:nvSpPr>
          <p:cNvPr id="41" name="Text 39"/>
          <p:cNvSpPr/>
          <p:nvPr/>
        </p:nvSpPr>
        <p:spPr>
          <a:xfrm>
            <a:off x="8193024" y="3419856"/>
            <a:ext cx="3108960" cy="310896"/>
          </a:xfrm>
          <a:prstGeom prst="rect">
            <a:avLst/>
          </a:prstGeom>
          <a:noFill/>
          <a:ln/>
        </p:spPr>
        <p:txBody>
          <a:bodyPr wrap="square" lIns="0" tIns="0" rIns="0" bIns="0" rtlCol="0" anchor="ctr"/>
          <a:lstStyle/>
          <a:p>
            <a:pPr indent="0" marL="0">
              <a:buNone/>
            </a:pPr>
            <a:r>
              <a:rPr lang="en-US" sz="1100" dirty="0">
                <a:solidFill>
                  <a:srgbClr val="12202E"/>
                </a:solidFill>
                <a:latin typeface="Calibri" pitchFamily="34" charset="0"/>
                <a:ea typeface="Calibri" pitchFamily="34" charset="-122"/>
                <a:cs typeface="Calibri" pitchFamily="34" charset="-120"/>
              </a:rPr>
              <a:t>Severity scale ≠ urgency of action</a:t>
            </a:r>
            <a:endParaRPr lang="en-US" sz="1100" dirty="0"/>
          </a:p>
        </p:txBody>
      </p:sp>
      <p:sp>
        <p:nvSpPr>
          <p:cNvPr id="42" name="Shape 40"/>
          <p:cNvSpPr/>
          <p:nvPr/>
        </p:nvSpPr>
        <p:spPr>
          <a:xfrm>
            <a:off x="566928" y="4041648"/>
            <a:ext cx="11064240" cy="1810512"/>
          </a:xfrm>
          <a:prstGeom prst="roundRect">
            <a:avLst>
              <a:gd name="adj" fmla="val 4545"/>
            </a:avLst>
          </a:prstGeom>
          <a:solidFill>
            <a:srgbClr val="12202E"/>
          </a:solidFill>
          <a:ln w="12700">
            <a:solidFill>
              <a:srgbClr val="12202E"/>
            </a:solidFill>
            <a:prstDash val="solid"/>
          </a:ln>
        </p:spPr>
      </p:sp>
      <p:sp>
        <p:nvSpPr>
          <p:cNvPr id="43" name="Text 41"/>
          <p:cNvSpPr/>
          <p:nvPr/>
        </p:nvSpPr>
        <p:spPr>
          <a:xfrm>
            <a:off x="859536" y="4206240"/>
            <a:ext cx="1042416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The two highest-risk decisions sit in the same place</a:t>
            </a:r>
            <a:endParaRPr lang="en-US" sz="1300" dirty="0"/>
          </a:p>
        </p:txBody>
      </p:sp>
      <p:sp>
        <p:nvSpPr>
          <p:cNvPr id="44" name="Text 42"/>
          <p:cNvSpPr/>
          <p:nvPr/>
        </p:nvSpPr>
        <p:spPr>
          <a:xfrm>
            <a:off x="859536" y="4480560"/>
            <a:ext cx="10424160" cy="603504"/>
          </a:xfrm>
          <a:prstGeom prst="rect">
            <a:avLst/>
          </a:prstGeom>
          <a:noFill/>
          <a:ln/>
        </p:spPr>
        <p:txBody>
          <a:bodyPr wrap="square" lIns="0" tIns="0" rIns="0" bIns="0" rtlCol="0" anchor="t"/>
          <a:lstStyle/>
          <a:p>
            <a:pPr indent="0" marL="0">
              <a:lnSpc>
                <a:spcPts val="1600"/>
              </a:lnSpc>
              <a:buNone/>
            </a:pPr>
            <a:r>
              <a:rPr lang="en-US" sz="1150" b="1" dirty="0">
                <a:solidFill>
                  <a:srgbClr val="FFFFFF"/>
                </a:solidFill>
                <a:latin typeface="Calibri" pitchFamily="34" charset="0"/>
                <a:ea typeface="Calibri" pitchFamily="34" charset="-122"/>
                <a:cs typeface="Calibri" pitchFamily="34" charset="-120"/>
              </a:rPr>
              <a:t>C-01   </a:t>
            </a:r>
            <a:pPr indent="0" marL="0">
              <a:lnSpc>
                <a:spcPts val="1600"/>
              </a:lnSpc>
              <a:buNone/>
            </a:pPr>
            <a:r>
              <a:rPr lang="en-US" sz="1150" dirty="0">
                <a:solidFill>
                  <a:srgbClr val="C9D6E4"/>
                </a:solidFill>
                <a:latin typeface="Calibri" pitchFamily="34" charset="0"/>
                <a:ea typeface="Calibri" pitchFamily="34" charset="-122"/>
                <a:cs typeface="Calibri" pitchFamily="34" charset="-120"/>
              </a:rPr>
              <a:t>Southampton was built for trained staff. We turned it into an image selection for laypersons. That is our core idea — and it is unvalidated.</a:t>
            </a:r>
            <a:endParaRPr lang="en-US" sz="1150" dirty="0"/>
          </a:p>
        </p:txBody>
      </p:sp>
      <p:sp>
        <p:nvSpPr>
          <p:cNvPr id="45" name="Text 43"/>
          <p:cNvSpPr/>
          <p:nvPr/>
        </p:nvSpPr>
        <p:spPr>
          <a:xfrm>
            <a:off x="859536" y="5084064"/>
            <a:ext cx="10424160" cy="603504"/>
          </a:xfrm>
          <a:prstGeom prst="rect">
            <a:avLst/>
          </a:prstGeom>
          <a:noFill/>
          <a:ln/>
        </p:spPr>
        <p:txBody>
          <a:bodyPr wrap="square" lIns="0" tIns="0" rIns="0" bIns="0" rtlCol="0" anchor="t"/>
          <a:lstStyle/>
          <a:p>
            <a:pPr indent="0" marL="0">
              <a:lnSpc>
                <a:spcPts val="1600"/>
              </a:lnSpc>
              <a:buNone/>
            </a:pPr>
            <a:r>
              <a:rPr lang="en-US" sz="1150" b="1" dirty="0">
                <a:solidFill>
                  <a:srgbClr val="FFFFFF"/>
                </a:solidFill>
                <a:latin typeface="Calibri" pitchFamily="34" charset="0"/>
                <a:ea typeface="Calibri" pitchFamily="34" charset="-122"/>
                <a:cs typeface="Calibri" pitchFamily="34" charset="-120"/>
              </a:rPr>
              <a:t>C-03   </a:t>
            </a:r>
            <a:pPr indent="0" marL="0">
              <a:lnSpc>
                <a:spcPts val="1600"/>
              </a:lnSpc>
              <a:buNone/>
            </a:pPr>
            <a:r>
              <a:rPr lang="en-US" sz="1150" dirty="0">
                <a:solidFill>
                  <a:srgbClr val="C9D6E4"/>
                </a:solidFill>
                <a:latin typeface="Calibri" pitchFamily="34" charset="0"/>
                <a:ea typeface="Calibri" pitchFamily="34" charset="-122"/>
                <a:cs typeface="Calibri" pitchFamily="34" charset="-120"/>
              </a:rPr>
              <a:t>No source defines the day on which redness stops being physiological. We set day 3. Too early means false alarms; too late means delayed detection.</a:t>
            </a:r>
            <a:endParaRPr lang="en-US" sz="1150" dirty="0"/>
          </a:p>
        </p:txBody>
      </p:sp>
      <p:sp>
        <p:nvSpPr>
          <p:cNvPr id="46" name="Text 44"/>
          <p:cNvSpPr/>
          <p:nvPr/>
        </p:nvSpPr>
        <p:spPr>
          <a:xfrm>
            <a:off x="566928" y="5998464"/>
            <a:ext cx="11064240" cy="274320"/>
          </a:xfrm>
          <a:prstGeom prst="rect">
            <a:avLst/>
          </a:prstGeom>
          <a:noFill/>
          <a:ln/>
        </p:spPr>
        <p:txBody>
          <a:bodyPr wrap="square" lIns="0" tIns="0" rIns="0" bIns="0" rtlCol="0" anchor="ctr"/>
          <a:lstStyle/>
          <a:p>
            <a:pPr indent="0" marL="0">
              <a:buNone/>
            </a:pPr>
            <a:r>
              <a:rPr lang="en-US" sz="1150" i="1" dirty="0">
                <a:solidFill>
                  <a:srgbClr val="5D7186"/>
                </a:solidFill>
                <a:latin typeface="Calibri" pitchFamily="34" charset="0"/>
                <a:ea typeface="Calibri" pitchFamily="34" charset="-122"/>
                <a:cs typeface="Calibri" pitchFamily="34" charset="-120"/>
              </a:rPr>
              <a:t>All nine would need clinical sign-off. We do not have it — and we list that as a limitation.</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indent="0" marL="0">
              <a:buNone/>
            </a:pPr>
            <a:r>
              <a:rPr lang="en-US" sz="1050" b="1" spc="160" kern="0" dirty="0">
                <a:solidFill>
                  <a:srgbClr val="5D7186"/>
                </a:solidFill>
                <a:latin typeface="Calibri" pitchFamily="34" charset="0"/>
                <a:ea typeface="Calibri" pitchFamily="34" charset="-122"/>
                <a:cs typeface="Calibri" pitchFamily="34" charset="-120"/>
              </a:rPr>
              <a:t>L3 · ARCHITECTURE DECISION</a:t>
            </a:r>
            <a:endParaRPr lang="en-US" sz="1050" dirty="0"/>
          </a:p>
        </p:txBody>
      </p:sp>
      <p:sp>
        <p:nvSpPr>
          <p:cNvPr id="3" name="Text 1"/>
          <p:cNvSpPr/>
          <p:nvPr/>
        </p:nvSpPr>
        <p:spPr>
          <a:xfrm>
            <a:off x="566928" y="640080"/>
            <a:ext cx="8412480" cy="658368"/>
          </a:xfrm>
          <a:prstGeom prst="rect">
            <a:avLst/>
          </a:prstGeom>
          <a:noFill/>
          <a:ln/>
        </p:spPr>
        <p:txBody>
          <a:bodyPr wrap="square" lIns="0" tIns="0" rIns="0" bIns="0" rtlCol="0" anchor="t"/>
          <a:lstStyle/>
          <a:p>
            <a:pPr indent="0" marL="0">
              <a:buNone/>
            </a:pPr>
            <a:r>
              <a:rPr lang="en-US" sz="2700" b="1" dirty="0">
                <a:solidFill>
                  <a:srgbClr val="12202E"/>
                </a:solidFill>
                <a:latin typeface="Cambria" pitchFamily="34" charset="0"/>
                <a:ea typeface="Cambria" pitchFamily="34" charset="-122"/>
                <a:cs typeface="Cambria" pitchFamily="34" charset="-120"/>
              </a:rPr>
              <a:t>Author in readable JSON, speak standards at the interface</a:t>
            </a:r>
            <a:endParaRPr lang="en-US" sz="2700" dirty="0"/>
          </a:p>
        </p:txBody>
      </p:sp>
      <p:sp>
        <p:nvSpPr>
          <p:cNvPr id="4" name="Shape 2"/>
          <p:cNvSpPr/>
          <p:nvPr/>
        </p:nvSpPr>
        <p:spPr>
          <a:xfrm>
            <a:off x="9290304" y="475488"/>
            <a:ext cx="475488" cy="274320"/>
          </a:xfrm>
          <a:prstGeom prst="roundRect">
            <a:avLst>
              <a:gd name="adj" fmla="val 46667"/>
            </a:avLst>
          </a:prstGeom>
          <a:solidFill>
            <a:srgbClr val="F5F7FA"/>
          </a:solidFill>
          <a:ln w="12700">
            <a:solidFill>
              <a:srgbClr val="DDE5EE"/>
            </a:solidFill>
            <a:prstDash val="solid"/>
          </a:ln>
        </p:spPr>
      </p:sp>
      <p:sp>
        <p:nvSpPr>
          <p:cNvPr id="5" name="Text 3"/>
          <p:cNvSpPr/>
          <p:nvPr/>
        </p:nvSpPr>
        <p:spPr>
          <a:xfrm>
            <a:off x="9290304" y="475488"/>
            <a:ext cx="475488" cy="274320"/>
          </a:xfrm>
          <a:prstGeom prst="rect">
            <a:avLst/>
          </a:prstGeom>
          <a:noFill/>
          <a:ln/>
        </p:spPr>
        <p:txBody>
          <a:bodyPr wrap="square" lIns="0" tIns="0" rIns="0" bIns="0" rtlCol="0" anchor="ctr"/>
          <a:lstStyle/>
          <a:p>
            <a:pPr algn="ctr" indent="0" marL="0">
              <a:buNone/>
            </a:pPr>
            <a:r>
              <a:rPr lang="en-US" sz="1050" b="1" dirty="0">
                <a:solidFill>
                  <a:srgbClr val="5D7186"/>
                </a:solidFill>
                <a:latin typeface="Calibri" pitchFamily="34" charset="0"/>
                <a:ea typeface="Calibri" pitchFamily="34" charset="-122"/>
                <a:cs typeface="Calibri" pitchFamily="34" charset="-120"/>
              </a:rPr>
              <a:t>L1</a:t>
            </a:r>
            <a:endParaRPr lang="en-US" sz="1050" dirty="0"/>
          </a:p>
        </p:txBody>
      </p:sp>
      <p:sp>
        <p:nvSpPr>
          <p:cNvPr id="6" name="Text 4"/>
          <p:cNvSpPr/>
          <p:nvPr/>
        </p:nvSpPr>
        <p:spPr>
          <a:xfrm>
            <a:off x="9765792" y="475488"/>
            <a:ext cx="146304" cy="274320"/>
          </a:xfrm>
          <a:prstGeom prst="rect">
            <a:avLst/>
          </a:prstGeom>
          <a:noFill/>
          <a:ln/>
        </p:spPr>
        <p:txBody>
          <a:bodyPr wrap="square" lIns="0" tIns="0" rIns="0" bIns="0" rtlCol="0" anchor="ctr"/>
          <a:lstStyle/>
          <a:p>
            <a:pPr algn="ctr" indent="0" marL="0">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7" name="Shape 5"/>
          <p:cNvSpPr/>
          <p:nvPr/>
        </p:nvSpPr>
        <p:spPr>
          <a:xfrm>
            <a:off x="9912096" y="475488"/>
            <a:ext cx="475488" cy="274320"/>
          </a:xfrm>
          <a:prstGeom prst="roundRect">
            <a:avLst>
              <a:gd name="adj" fmla="val 46667"/>
            </a:avLst>
          </a:prstGeom>
          <a:solidFill>
            <a:srgbClr val="F5F7FA"/>
          </a:solidFill>
          <a:ln w="12700">
            <a:solidFill>
              <a:srgbClr val="DDE5EE"/>
            </a:solidFill>
            <a:prstDash val="solid"/>
          </a:ln>
        </p:spPr>
      </p:sp>
      <p:sp>
        <p:nvSpPr>
          <p:cNvPr id="8" name="Text 6"/>
          <p:cNvSpPr/>
          <p:nvPr/>
        </p:nvSpPr>
        <p:spPr>
          <a:xfrm>
            <a:off x="9912096" y="475488"/>
            <a:ext cx="475488" cy="274320"/>
          </a:xfrm>
          <a:prstGeom prst="rect">
            <a:avLst/>
          </a:prstGeom>
          <a:noFill/>
          <a:ln/>
        </p:spPr>
        <p:txBody>
          <a:bodyPr wrap="square" lIns="0" tIns="0" rIns="0" bIns="0" rtlCol="0" anchor="ctr"/>
          <a:lstStyle/>
          <a:p>
            <a:pPr algn="ctr" indent="0" marL="0">
              <a:buNone/>
            </a:pPr>
            <a:r>
              <a:rPr lang="en-US" sz="1050" b="1" dirty="0">
                <a:solidFill>
                  <a:srgbClr val="5D7186"/>
                </a:solidFill>
                <a:latin typeface="Calibri" pitchFamily="34" charset="0"/>
                <a:ea typeface="Calibri" pitchFamily="34" charset="-122"/>
                <a:cs typeface="Calibri" pitchFamily="34" charset="-120"/>
              </a:rPr>
              <a:t>L2</a:t>
            </a:r>
            <a:endParaRPr lang="en-US" sz="1050" dirty="0"/>
          </a:p>
        </p:txBody>
      </p:sp>
      <p:sp>
        <p:nvSpPr>
          <p:cNvPr id="9" name="Text 7"/>
          <p:cNvSpPr/>
          <p:nvPr/>
        </p:nvSpPr>
        <p:spPr>
          <a:xfrm>
            <a:off x="10387584" y="475488"/>
            <a:ext cx="146304" cy="274320"/>
          </a:xfrm>
          <a:prstGeom prst="rect">
            <a:avLst/>
          </a:prstGeom>
          <a:noFill/>
          <a:ln/>
        </p:spPr>
        <p:txBody>
          <a:bodyPr wrap="square" lIns="0" tIns="0" rIns="0" bIns="0" rtlCol="0" anchor="ctr"/>
          <a:lstStyle/>
          <a:p>
            <a:pPr algn="ctr" indent="0" marL="0">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10" name="Shape 8"/>
          <p:cNvSpPr/>
          <p:nvPr/>
        </p:nvSpPr>
        <p:spPr>
          <a:xfrm>
            <a:off x="10533888" y="475488"/>
            <a:ext cx="475488" cy="274320"/>
          </a:xfrm>
          <a:prstGeom prst="roundRect">
            <a:avLst>
              <a:gd name="adj" fmla="val 46667"/>
            </a:avLst>
          </a:prstGeom>
          <a:solidFill>
            <a:srgbClr val="12202E"/>
          </a:solidFill>
          <a:ln w="12700">
            <a:solidFill>
              <a:srgbClr val="12202E"/>
            </a:solidFill>
            <a:prstDash val="solid"/>
          </a:ln>
        </p:spPr>
      </p:sp>
      <p:sp>
        <p:nvSpPr>
          <p:cNvPr id="11" name="Text 9"/>
          <p:cNvSpPr/>
          <p:nvPr/>
        </p:nvSpPr>
        <p:spPr>
          <a:xfrm>
            <a:off x="10533888" y="475488"/>
            <a:ext cx="475488"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L3</a:t>
            </a:r>
            <a:endParaRPr lang="en-US" sz="1050" dirty="0"/>
          </a:p>
        </p:txBody>
      </p:sp>
      <p:sp>
        <p:nvSpPr>
          <p:cNvPr id="12" name="Text 10"/>
          <p:cNvSpPr/>
          <p:nvPr/>
        </p:nvSpPr>
        <p:spPr>
          <a:xfrm>
            <a:off x="11009376" y="475488"/>
            <a:ext cx="146304" cy="274320"/>
          </a:xfrm>
          <a:prstGeom prst="rect">
            <a:avLst/>
          </a:prstGeom>
          <a:noFill/>
          <a:ln/>
        </p:spPr>
        <p:txBody>
          <a:bodyPr wrap="square" lIns="0" tIns="0" rIns="0" bIns="0" rtlCol="0" anchor="ctr"/>
          <a:lstStyle/>
          <a:p>
            <a:pPr algn="ctr" indent="0" marL="0">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13" name="Shape 11"/>
          <p:cNvSpPr/>
          <p:nvPr/>
        </p:nvSpPr>
        <p:spPr>
          <a:xfrm>
            <a:off x="11155680" y="475488"/>
            <a:ext cx="475488" cy="274320"/>
          </a:xfrm>
          <a:prstGeom prst="roundRect">
            <a:avLst>
              <a:gd name="adj" fmla="val 46667"/>
            </a:avLst>
          </a:prstGeom>
          <a:solidFill>
            <a:srgbClr val="F5F7FA"/>
          </a:solidFill>
          <a:ln w="12700">
            <a:solidFill>
              <a:srgbClr val="DDE5EE"/>
            </a:solidFill>
            <a:prstDash val="solid"/>
          </a:ln>
        </p:spPr>
      </p:sp>
      <p:sp>
        <p:nvSpPr>
          <p:cNvPr id="14" name="Text 12"/>
          <p:cNvSpPr/>
          <p:nvPr/>
        </p:nvSpPr>
        <p:spPr>
          <a:xfrm>
            <a:off x="11155680" y="475488"/>
            <a:ext cx="475488" cy="274320"/>
          </a:xfrm>
          <a:prstGeom prst="rect">
            <a:avLst/>
          </a:prstGeom>
          <a:noFill/>
          <a:ln/>
        </p:spPr>
        <p:txBody>
          <a:bodyPr wrap="square" lIns="0" tIns="0" rIns="0" bIns="0" rtlCol="0" anchor="ctr"/>
          <a:lstStyle/>
          <a:p>
            <a:pPr algn="ctr" indent="0" marL="0">
              <a:buNone/>
            </a:pPr>
            <a:r>
              <a:rPr lang="en-US" sz="1050" b="1" dirty="0">
                <a:solidFill>
                  <a:srgbClr val="5D7186"/>
                </a:solidFill>
                <a:latin typeface="Calibri" pitchFamily="34" charset="0"/>
                <a:ea typeface="Calibri" pitchFamily="34" charset="-122"/>
                <a:cs typeface="Calibri" pitchFamily="34" charset="-120"/>
              </a:rPr>
              <a:t>L4</a:t>
            </a:r>
            <a:endParaRPr lang="en-US" sz="1050" dirty="0"/>
          </a:p>
        </p:txBody>
      </p:sp>
      <p:sp>
        <p:nvSpPr>
          <p:cNvPr id="15" name="Shape 13"/>
          <p:cNvSpPr/>
          <p:nvPr/>
        </p:nvSpPr>
        <p:spPr>
          <a:xfrm>
            <a:off x="566928" y="1645920"/>
            <a:ext cx="11064240" cy="749808"/>
          </a:xfrm>
          <a:prstGeom prst="roundRect">
            <a:avLst>
              <a:gd name="adj" fmla="val 10976"/>
            </a:avLst>
          </a:prstGeom>
          <a:solidFill>
            <a:srgbClr val="FFFFFF"/>
          </a:solidFill>
          <a:ln w="12700">
            <a:solidFill>
              <a:srgbClr val="DDE5EE"/>
            </a:solidFill>
            <a:prstDash val="solid"/>
          </a:ln>
        </p:spPr>
      </p:sp>
      <p:sp>
        <p:nvSpPr>
          <p:cNvPr id="16" name="Text 14"/>
          <p:cNvSpPr/>
          <p:nvPr/>
        </p:nvSpPr>
        <p:spPr>
          <a:xfrm>
            <a:off x="804672" y="1645920"/>
            <a:ext cx="2651760" cy="749808"/>
          </a:xfrm>
          <a:prstGeom prst="rect">
            <a:avLst/>
          </a:prstGeom>
          <a:noFill/>
          <a:ln/>
        </p:spPr>
        <p:txBody>
          <a:bodyPr wrap="square" lIns="0" tIns="0" rIns="0" bIns="0" rtlCol="0" anchor="ctr"/>
          <a:lstStyle/>
          <a:p>
            <a:pPr indent="0" marL="0">
              <a:buNone/>
            </a:pPr>
            <a:r>
              <a:rPr lang="en-US" sz="1200" b="1" dirty="0">
                <a:solidFill>
                  <a:srgbClr val="12202E"/>
                </a:solidFill>
                <a:latin typeface="Calibri" pitchFamily="34" charset="0"/>
                <a:ea typeface="Calibri" pitchFamily="34" charset="-122"/>
                <a:cs typeface="Calibri" pitchFamily="34" charset="-120"/>
              </a:rPr>
              <a:t>XLSForm / ODK</a:t>
            </a:r>
            <a:endParaRPr lang="en-US" sz="1200" dirty="0"/>
          </a:p>
        </p:txBody>
      </p:sp>
      <p:sp>
        <p:nvSpPr>
          <p:cNvPr id="17" name="Text 15"/>
          <p:cNvSpPr/>
          <p:nvPr/>
        </p:nvSpPr>
        <p:spPr>
          <a:xfrm>
            <a:off x="3584448" y="1645920"/>
            <a:ext cx="3337560" cy="749808"/>
          </a:xfrm>
          <a:prstGeom prst="rect">
            <a:avLst/>
          </a:prstGeom>
          <a:noFill/>
          <a:ln/>
        </p:spPr>
        <p:txBody>
          <a:bodyPr wrap="square" lIns="0" tIns="0" rIns="0" bIns="0" rtlCol="0" anchor="ctr"/>
          <a:lstStyle/>
          <a:p>
            <a:pPr indent="0" marL="0">
              <a:buNone/>
            </a:pPr>
            <a:r>
              <a:rPr lang="en-US" sz="1050" dirty="0">
                <a:solidFill>
                  <a:srgbClr val="5D7186"/>
                </a:solidFill>
                <a:latin typeface="Calibri" pitchFamily="34" charset="0"/>
                <a:ea typeface="Calibri" pitchFamily="34" charset="-122"/>
                <a:cs typeface="Calibri" pitchFamily="34" charset="-120"/>
              </a:rPr>
              <a:t>Established, executable by existing engines</a:t>
            </a:r>
            <a:endParaRPr lang="en-US" sz="1050" dirty="0"/>
          </a:p>
        </p:txBody>
      </p:sp>
      <p:sp>
        <p:nvSpPr>
          <p:cNvPr id="18" name="Text 16"/>
          <p:cNvSpPr/>
          <p:nvPr/>
        </p:nvSpPr>
        <p:spPr>
          <a:xfrm>
            <a:off x="7470648" y="1645920"/>
            <a:ext cx="3657600" cy="749808"/>
          </a:xfrm>
          <a:prstGeom prst="rect">
            <a:avLst/>
          </a:prstGeom>
          <a:noFill/>
          <a:ln/>
        </p:spPr>
        <p:txBody>
          <a:bodyPr wrap="square" lIns="0" tIns="0" rIns="0" bIns="0" rtlCol="0" anchor="ctr"/>
          <a:lstStyle/>
          <a:p>
            <a:pPr indent="0" marL="0">
              <a:buNone/>
            </a:pPr>
            <a:r>
              <a:rPr lang="en-US" sz="1050" dirty="0">
                <a:solidFill>
                  <a:srgbClr val="5D7186"/>
                </a:solidFill>
                <a:latin typeface="Calibri" pitchFamily="34" charset="0"/>
                <a:ea typeface="Calibri" pitchFamily="34" charset="-122"/>
                <a:cs typeface="Calibri" pitchFamily="34" charset="-120"/>
              </a:rPr>
              <a:t>Standard widgets cannot carry our image cards — the L4 would dictate the UX</a:t>
            </a:r>
            <a:endParaRPr lang="en-US" sz="1050" dirty="0"/>
          </a:p>
        </p:txBody>
      </p:sp>
      <p:sp>
        <p:nvSpPr>
          <p:cNvPr id="19" name="Shape 17"/>
          <p:cNvSpPr/>
          <p:nvPr/>
        </p:nvSpPr>
        <p:spPr>
          <a:xfrm>
            <a:off x="566928" y="2505456"/>
            <a:ext cx="11064240" cy="749808"/>
          </a:xfrm>
          <a:prstGeom prst="roundRect">
            <a:avLst>
              <a:gd name="adj" fmla="val 10976"/>
            </a:avLst>
          </a:prstGeom>
          <a:solidFill>
            <a:srgbClr val="FFFFFF"/>
          </a:solidFill>
          <a:ln w="12700">
            <a:solidFill>
              <a:srgbClr val="DDE5EE"/>
            </a:solidFill>
            <a:prstDash val="solid"/>
          </a:ln>
        </p:spPr>
      </p:sp>
      <p:sp>
        <p:nvSpPr>
          <p:cNvPr id="20" name="Text 18"/>
          <p:cNvSpPr/>
          <p:nvPr/>
        </p:nvSpPr>
        <p:spPr>
          <a:xfrm>
            <a:off x="804672" y="2505456"/>
            <a:ext cx="2651760" cy="749808"/>
          </a:xfrm>
          <a:prstGeom prst="rect">
            <a:avLst/>
          </a:prstGeom>
          <a:noFill/>
          <a:ln/>
        </p:spPr>
        <p:txBody>
          <a:bodyPr wrap="square" lIns="0" tIns="0" rIns="0" bIns="0" rtlCol="0" anchor="ctr"/>
          <a:lstStyle/>
          <a:p>
            <a:pPr indent="0" marL="0">
              <a:buNone/>
            </a:pPr>
            <a:r>
              <a:rPr lang="en-US" sz="1200" b="1" dirty="0">
                <a:solidFill>
                  <a:srgbClr val="12202E"/>
                </a:solidFill>
                <a:latin typeface="Calibri" pitchFamily="34" charset="0"/>
                <a:ea typeface="Calibri" pitchFamily="34" charset="-122"/>
                <a:cs typeface="Calibri" pitchFamily="34" charset="-120"/>
              </a:rPr>
              <a:t>FHIR Questionnaire + CQL</a:t>
            </a:r>
            <a:endParaRPr lang="en-US" sz="1200" dirty="0"/>
          </a:p>
        </p:txBody>
      </p:sp>
      <p:sp>
        <p:nvSpPr>
          <p:cNvPr id="21" name="Text 19"/>
          <p:cNvSpPr/>
          <p:nvPr/>
        </p:nvSpPr>
        <p:spPr>
          <a:xfrm>
            <a:off x="3584448" y="2505456"/>
            <a:ext cx="3337560" cy="749808"/>
          </a:xfrm>
          <a:prstGeom prst="rect">
            <a:avLst/>
          </a:prstGeom>
          <a:noFill/>
          <a:ln/>
        </p:spPr>
        <p:txBody>
          <a:bodyPr wrap="square" lIns="0" tIns="0" rIns="0" bIns="0" rtlCol="0" anchor="ctr"/>
          <a:lstStyle/>
          <a:p>
            <a:pPr indent="0" marL="0">
              <a:buNone/>
            </a:pPr>
            <a:r>
              <a:rPr lang="en-US" sz="1050" dirty="0">
                <a:solidFill>
                  <a:srgbClr val="5D7186"/>
                </a:solidFill>
                <a:latin typeface="Calibri" pitchFamily="34" charset="0"/>
                <a:ea typeface="Calibri" pitchFamily="34" charset="-122"/>
                <a:cs typeface="Calibri" pitchFamily="34" charset="-120"/>
              </a:rPr>
              <a:t>Full standard, WHO SMART compliant</a:t>
            </a:r>
            <a:endParaRPr lang="en-US" sz="1050" dirty="0"/>
          </a:p>
        </p:txBody>
      </p:sp>
      <p:sp>
        <p:nvSpPr>
          <p:cNvPr id="22" name="Text 20"/>
          <p:cNvSpPr/>
          <p:nvPr/>
        </p:nvSpPr>
        <p:spPr>
          <a:xfrm>
            <a:off x="7470648" y="2505456"/>
            <a:ext cx="3657600" cy="749808"/>
          </a:xfrm>
          <a:prstGeom prst="rect">
            <a:avLst/>
          </a:prstGeom>
          <a:noFill/>
          <a:ln/>
        </p:spPr>
        <p:txBody>
          <a:bodyPr wrap="square" lIns="0" tIns="0" rIns="0" bIns="0" rtlCol="0" anchor="ctr"/>
          <a:lstStyle/>
          <a:p>
            <a:pPr indent="0" marL="0">
              <a:buNone/>
            </a:pPr>
            <a:r>
              <a:rPr lang="en-US" sz="1050" dirty="0">
                <a:solidFill>
                  <a:srgbClr val="5D7186"/>
                </a:solidFill>
                <a:latin typeface="Calibri" pitchFamily="34" charset="0"/>
                <a:ea typeface="Calibri" pitchFamily="34" charset="-122"/>
                <a:cs typeface="Calibri" pitchFamily="34" charset="-120"/>
              </a:rPr>
              <a:t>“FHIR resources are not human readable” — not reviewable by our clinical lead in six days</a:t>
            </a:r>
            <a:endParaRPr lang="en-US" sz="1050" dirty="0"/>
          </a:p>
        </p:txBody>
      </p:sp>
      <p:sp>
        <p:nvSpPr>
          <p:cNvPr id="23" name="Shape 21"/>
          <p:cNvSpPr/>
          <p:nvPr/>
        </p:nvSpPr>
        <p:spPr>
          <a:xfrm>
            <a:off x="566928" y="3364992"/>
            <a:ext cx="11064240" cy="749808"/>
          </a:xfrm>
          <a:prstGeom prst="roundRect">
            <a:avLst>
              <a:gd name="adj" fmla="val 10976"/>
            </a:avLst>
          </a:prstGeom>
          <a:solidFill>
            <a:srgbClr val="FFFFFF"/>
          </a:solidFill>
          <a:ln w="12700">
            <a:solidFill>
              <a:srgbClr val="DDE5EE"/>
            </a:solidFill>
            <a:prstDash val="solid"/>
          </a:ln>
        </p:spPr>
      </p:sp>
      <p:sp>
        <p:nvSpPr>
          <p:cNvPr id="24" name="Text 22"/>
          <p:cNvSpPr/>
          <p:nvPr/>
        </p:nvSpPr>
        <p:spPr>
          <a:xfrm>
            <a:off x="804672" y="3364992"/>
            <a:ext cx="2651760" cy="749808"/>
          </a:xfrm>
          <a:prstGeom prst="rect">
            <a:avLst/>
          </a:prstGeom>
          <a:noFill/>
          <a:ln/>
        </p:spPr>
        <p:txBody>
          <a:bodyPr wrap="square" lIns="0" tIns="0" rIns="0" bIns="0" rtlCol="0" anchor="ctr"/>
          <a:lstStyle/>
          <a:p>
            <a:pPr indent="0" marL="0">
              <a:buNone/>
            </a:pPr>
            <a:r>
              <a:rPr lang="en-US" sz="1200" b="1" dirty="0">
                <a:solidFill>
                  <a:srgbClr val="12202E"/>
                </a:solidFill>
                <a:latin typeface="Calibri" pitchFamily="34" charset="0"/>
                <a:ea typeface="Calibri" pitchFamily="34" charset="-122"/>
                <a:cs typeface="Calibri" pitchFamily="34" charset="-120"/>
              </a:rPr>
              <a:t>Hardcoding in the app</a:t>
            </a:r>
            <a:endParaRPr lang="en-US" sz="1200" dirty="0"/>
          </a:p>
        </p:txBody>
      </p:sp>
      <p:sp>
        <p:nvSpPr>
          <p:cNvPr id="25" name="Text 23"/>
          <p:cNvSpPr/>
          <p:nvPr/>
        </p:nvSpPr>
        <p:spPr>
          <a:xfrm>
            <a:off x="3584448" y="3364992"/>
            <a:ext cx="3337560" cy="749808"/>
          </a:xfrm>
          <a:prstGeom prst="rect">
            <a:avLst/>
          </a:prstGeom>
          <a:noFill/>
          <a:ln/>
        </p:spPr>
        <p:txBody>
          <a:bodyPr wrap="square" lIns="0" tIns="0" rIns="0" bIns="0" rtlCol="0" anchor="ctr"/>
          <a:lstStyle/>
          <a:p>
            <a:pPr indent="0" marL="0">
              <a:buNone/>
            </a:pPr>
            <a:r>
              <a:rPr lang="en-US" sz="1050" dirty="0">
                <a:solidFill>
                  <a:srgbClr val="5D7186"/>
                </a:solidFill>
                <a:latin typeface="Calibri" pitchFamily="34" charset="0"/>
                <a:ea typeface="Calibri" pitchFamily="34" charset="-122"/>
                <a:cs typeface="Calibri" pitchFamily="34" charset="-120"/>
              </a:rPr>
              <a:t>Fastest to a prototype</a:t>
            </a:r>
            <a:endParaRPr lang="en-US" sz="1050" dirty="0"/>
          </a:p>
        </p:txBody>
      </p:sp>
      <p:sp>
        <p:nvSpPr>
          <p:cNvPr id="26" name="Text 24"/>
          <p:cNvSpPr/>
          <p:nvPr/>
        </p:nvSpPr>
        <p:spPr>
          <a:xfrm>
            <a:off x="7470648" y="3364992"/>
            <a:ext cx="3657600" cy="749808"/>
          </a:xfrm>
          <a:prstGeom prst="rect">
            <a:avLst/>
          </a:prstGeom>
          <a:noFill/>
          <a:ln/>
        </p:spPr>
        <p:txBody>
          <a:bodyPr wrap="square" lIns="0" tIns="0" rIns="0" bIns="0" rtlCol="0" anchor="ctr"/>
          <a:lstStyle/>
          <a:p>
            <a:pPr indent="0" marL="0">
              <a:buNone/>
            </a:pPr>
            <a:r>
              <a:rPr lang="en-US" sz="1050" dirty="0">
                <a:solidFill>
                  <a:srgbClr val="5D7186"/>
                </a:solidFill>
                <a:latin typeface="Calibri" pitchFamily="34" charset="0"/>
                <a:ea typeface="Calibri" pitchFamily="34" charset="-122"/>
                <a:cs typeface="Calibri" pitchFamily="34" charset="-120"/>
              </a:rPr>
              <a:t>Every rule change needs a developer and a rebuild</a:t>
            </a:r>
            <a:endParaRPr lang="en-US" sz="1050" dirty="0"/>
          </a:p>
        </p:txBody>
      </p:sp>
      <p:sp>
        <p:nvSpPr>
          <p:cNvPr id="27" name="Shape 25"/>
          <p:cNvSpPr/>
          <p:nvPr/>
        </p:nvSpPr>
        <p:spPr>
          <a:xfrm>
            <a:off x="566928" y="4224528"/>
            <a:ext cx="11064240" cy="749808"/>
          </a:xfrm>
          <a:prstGeom prst="roundRect">
            <a:avLst>
              <a:gd name="adj" fmla="val 10976"/>
            </a:avLst>
          </a:prstGeom>
          <a:solidFill>
            <a:srgbClr val="E8F6EE"/>
          </a:solidFill>
          <a:ln w="12700">
            <a:solidFill>
              <a:srgbClr val="A8D9BF"/>
            </a:solidFill>
            <a:prstDash val="solid"/>
          </a:ln>
        </p:spPr>
      </p:sp>
      <p:sp>
        <p:nvSpPr>
          <p:cNvPr id="28" name="Text 26"/>
          <p:cNvSpPr/>
          <p:nvPr/>
        </p:nvSpPr>
        <p:spPr>
          <a:xfrm>
            <a:off x="804672" y="4224528"/>
            <a:ext cx="2651760" cy="749808"/>
          </a:xfrm>
          <a:prstGeom prst="rect">
            <a:avLst/>
          </a:prstGeom>
          <a:noFill/>
          <a:ln/>
        </p:spPr>
        <p:txBody>
          <a:bodyPr wrap="square" lIns="0" tIns="0" rIns="0" bIns="0" rtlCol="0" anchor="ctr"/>
          <a:lstStyle/>
          <a:p>
            <a:pPr indent="0" marL="0">
              <a:buNone/>
            </a:pPr>
            <a:r>
              <a:rPr lang="en-US" sz="1200" b="1" dirty="0">
                <a:solidFill>
                  <a:srgbClr val="1A7F4B"/>
                </a:solidFill>
                <a:latin typeface="Calibri" pitchFamily="34" charset="0"/>
                <a:ea typeface="Calibri" pitchFamily="34" charset="-122"/>
                <a:cs typeface="Calibri" pitchFamily="34" charset="-120"/>
              </a:rPr>
              <a:t>Custom JSON + FHIR at the edge</a:t>
            </a:r>
            <a:endParaRPr lang="en-US" sz="1200" dirty="0"/>
          </a:p>
        </p:txBody>
      </p:sp>
      <p:sp>
        <p:nvSpPr>
          <p:cNvPr id="29" name="Text 27"/>
          <p:cNvSpPr/>
          <p:nvPr/>
        </p:nvSpPr>
        <p:spPr>
          <a:xfrm>
            <a:off x="3584448" y="4224528"/>
            <a:ext cx="3337560" cy="749808"/>
          </a:xfrm>
          <a:prstGeom prst="rect">
            <a:avLst/>
          </a:prstGeom>
          <a:noFill/>
          <a:ln/>
        </p:spPr>
        <p:txBody>
          <a:bodyPr wrap="square" lIns="0" tIns="0" rIns="0" bIns="0" rtlCol="0" anchor="ctr"/>
          <a:lstStyle/>
          <a:p>
            <a:pPr indent="0" marL="0">
              <a:buNone/>
            </a:pPr>
            <a:r>
              <a:rPr lang="en-US" sz="1050" dirty="0">
                <a:solidFill>
                  <a:srgbClr val="5D7186"/>
                </a:solidFill>
                <a:latin typeface="Calibri" pitchFamily="34" charset="0"/>
                <a:ea typeface="Calibri" pitchFamily="34" charset="-122"/>
                <a:cs typeface="Calibri" pitchFamily="34" charset="-120"/>
              </a:rPr>
              <a:t>Reads like the L2; full control of the UX; standards where they count</a:t>
            </a:r>
            <a:endParaRPr lang="en-US" sz="1050" dirty="0"/>
          </a:p>
        </p:txBody>
      </p:sp>
      <p:sp>
        <p:nvSpPr>
          <p:cNvPr id="30" name="Text 28"/>
          <p:cNvSpPr/>
          <p:nvPr/>
        </p:nvSpPr>
        <p:spPr>
          <a:xfrm>
            <a:off x="7470648" y="4224528"/>
            <a:ext cx="3657600" cy="749808"/>
          </a:xfrm>
          <a:prstGeom prst="rect">
            <a:avLst/>
          </a:prstGeom>
          <a:noFill/>
          <a:ln/>
        </p:spPr>
        <p:txBody>
          <a:bodyPr wrap="square" lIns="0" tIns="0" rIns="0" bIns="0" rtlCol="0" anchor="ctr"/>
          <a:lstStyle/>
          <a:p>
            <a:pPr indent="0" marL="0">
              <a:buNone/>
            </a:pPr>
            <a:r>
              <a:rPr lang="en-US" sz="1050" dirty="0">
                <a:solidFill>
                  <a:srgbClr val="5D7186"/>
                </a:solidFill>
                <a:latin typeface="Calibri" pitchFamily="34" charset="0"/>
                <a:ea typeface="Calibri" pitchFamily="34" charset="-122"/>
                <a:cs typeface="Calibri" pitchFamily="34" charset="-120"/>
              </a:rPr>
              <a:t>No existing engine runs it directly; expression language is not CQL</a:t>
            </a:r>
            <a:endParaRPr lang="en-US" sz="1050" dirty="0"/>
          </a:p>
        </p:txBody>
      </p:sp>
      <p:sp>
        <p:nvSpPr>
          <p:cNvPr id="31" name="Text 29"/>
          <p:cNvSpPr/>
          <p:nvPr/>
        </p:nvSpPr>
        <p:spPr>
          <a:xfrm>
            <a:off x="11173968" y="4224528"/>
            <a:ext cx="365760" cy="749808"/>
          </a:xfrm>
          <a:prstGeom prst="rect">
            <a:avLst/>
          </a:prstGeom>
          <a:noFill/>
          <a:ln/>
        </p:spPr>
        <p:txBody>
          <a:bodyPr wrap="square" lIns="0" tIns="0" rIns="0" bIns="0" rtlCol="0" anchor="ctr"/>
          <a:lstStyle/>
          <a:p>
            <a:pPr algn="ctr" indent="0" marL="0">
              <a:buNone/>
            </a:pPr>
            <a:r>
              <a:rPr lang="en-US" sz="1600" b="1" dirty="0">
                <a:solidFill>
                  <a:srgbClr val="1A7F4B"/>
                </a:solidFill>
                <a:latin typeface="Calibri" pitchFamily="34" charset="0"/>
                <a:ea typeface="Calibri" pitchFamily="34" charset="-122"/>
                <a:cs typeface="Calibri" pitchFamily="34" charset="-120"/>
              </a:rPr>
              <a:t>✓</a:t>
            </a:r>
            <a:endParaRPr lang="en-US" sz="1600" dirty="0"/>
          </a:p>
        </p:txBody>
      </p:sp>
      <p:sp>
        <p:nvSpPr>
          <p:cNvPr id="32" name="Shape 30"/>
          <p:cNvSpPr/>
          <p:nvPr/>
        </p:nvSpPr>
        <p:spPr>
          <a:xfrm>
            <a:off x="566928" y="5120640"/>
            <a:ext cx="11064240" cy="960120"/>
          </a:xfrm>
          <a:prstGeom prst="roundRect">
            <a:avLst>
              <a:gd name="adj" fmla="val 8571"/>
            </a:avLst>
          </a:prstGeom>
          <a:solidFill>
            <a:srgbClr val="12202E"/>
          </a:solidFill>
          <a:ln w="12700">
            <a:solidFill>
              <a:srgbClr val="12202E"/>
            </a:solidFill>
            <a:prstDash val="solid"/>
          </a:ln>
        </p:spPr>
      </p:sp>
      <p:sp>
        <p:nvSpPr>
          <p:cNvPr id="33" name="Text 31"/>
          <p:cNvSpPr/>
          <p:nvPr/>
        </p:nvSpPr>
        <p:spPr>
          <a:xfrm>
            <a:off x="859536" y="5120640"/>
            <a:ext cx="10515600" cy="96012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And we can prove it: a check scans the app source for every element id, threshold, code system and endpoint. Any clinical content in the L4 fails the build.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202E"/>
        </a:solidFill>
      </p:bgPr>
    </p:bg>
    <p:spTree>
      <p:nvGrpSpPr>
        <p:cNvPr id="1" name=""/>
        <p:cNvGrpSpPr/>
        <p:nvPr/>
      </p:nvGrpSpPr>
      <p:grpSpPr>
        <a:xfrm>
          <a:off x="0" y="0"/>
          <a:ext cx="0" cy="0"/>
          <a:chOff x="0" y="0"/>
          <a:chExt cx="0" cy="0"/>
        </a:xfrm>
      </p:grpSpPr>
      <p:sp>
        <p:nvSpPr>
          <p:cNvPr id="2" name="Text 0"/>
          <p:cNvSpPr/>
          <p:nvPr/>
        </p:nvSpPr>
        <p:spPr>
          <a:xfrm>
            <a:off x="566928" y="384048"/>
            <a:ext cx="5486400" cy="274320"/>
          </a:xfrm>
          <a:prstGeom prst="rect">
            <a:avLst/>
          </a:prstGeom>
          <a:noFill/>
          <a:ln/>
        </p:spPr>
        <p:txBody>
          <a:bodyPr wrap="square" lIns="0" tIns="0" rIns="0" bIns="0" rtlCol="0" anchor="ctr"/>
          <a:lstStyle/>
          <a:p>
            <a:pPr indent="0" marL="0">
              <a:buNone/>
            </a:pPr>
            <a:r>
              <a:rPr lang="en-US" sz="1050" b="1" spc="160" kern="0" dirty="0">
                <a:solidFill>
                  <a:srgbClr val="8FA3B8"/>
                </a:solidFill>
                <a:latin typeface="Calibri" pitchFamily="34" charset="0"/>
                <a:ea typeface="Calibri" pitchFamily="34" charset="-122"/>
                <a:cs typeface="Calibri" pitchFamily="34" charset="-120"/>
              </a:rPr>
              <a:t>DEMO</a:t>
            </a:r>
            <a:endParaRPr lang="en-US" sz="1050" dirty="0"/>
          </a:p>
        </p:txBody>
      </p:sp>
      <p:sp>
        <p:nvSpPr>
          <p:cNvPr id="3" name="Text 1"/>
          <p:cNvSpPr/>
          <p:nvPr/>
        </p:nvSpPr>
        <p:spPr>
          <a:xfrm>
            <a:off x="566928" y="640080"/>
            <a:ext cx="10515600" cy="45720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One patient, two days — and a threshold change with no rebuild</a:t>
            </a:r>
            <a:endParaRPr lang="en-US" sz="2500" dirty="0"/>
          </a:p>
        </p:txBody>
      </p:sp>
      <p:pic>
        <p:nvPicPr>
          <p:cNvPr id="4" name="Image 0" descr="result-green.png">    </p:cNvPr>
          <p:cNvPicPr>
            <a:picLocks noChangeAspect="1"/>
          </p:cNvPicPr>
          <p:nvPr/>
        </p:nvPicPr>
        <p:blipFill>
          <a:blip r:embed="rId1"/>
          <a:stretch>
            <a:fillRect/>
          </a:stretch>
        </p:blipFill>
        <p:spPr>
          <a:xfrm>
            <a:off x="566928" y="1481328"/>
            <a:ext cx="5394960" cy="2348698"/>
          </a:xfrm>
          <a:prstGeom prst="rect">
            <a:avLst/>
          </a:prstGeom>
        </p:spPr>
      </p:pic>
      <p:pic>
        <p:nvPicPr>
          <p:cNvPr id="5" name="Image 1" descr="result-orange.png">    </p:cNvPr>
          <p:cNvPicPr>
            <a:picLocks noChangeAspect="1"/>
          </p:cNvPicPr>
          <p:nvPr/>
        </p:nvPicPr>
        <p:blipFill>
          <a:blip r:embed="rId2"/>
          <a:stretch>
            <a:fillRect/>
          </a:stretch>
        </p:blipFill>
        <p:spPr>
          <a:xfrm>
            <a:off x="566928" y="4041648"/>
            <a:ext cx="5394960" cy="2202924"/>
          </a:xfrm>
          <a:prstGeom prst="rect">
            <a:avLst/>
          </a:prstGeom>
        </p:spPr>
      </p:pic>
      <p:sp>
        <p:nvSpPr>
          <p:cNvPr id="6" name="Shape 2"/>
          <p:cNvSpPr/>
          <p:nvPr/>
        </p:nvSpPr>
        <p:spPr>
          <a:xfrm>
            <a:off x="6510528" y="1517904"/>
            <a:ext cx="347472" cy="347472"/>
          </a:xfrm>
          <a:prstGeom prst="ellipse">
            <a:avLst/>
          </a:prstGeom>
          <a:solidFill>
            <a:srgbClr val="1D3148"/>
          </a:solidFill>
          <a:ln w="12700">
            <a:solidFill>
              <a:srgbClr val="8FA3B8"/>
            </a:solidFill>
            <a:prstDash val="solid"/>
          </a:ln>
        </p:spPr>
      </p:sp>
      <p:sp>
        <p:nvSpPr>
          <p:cNvPr id="7" name="Text 3"/>
          <p:cNvSpPr/>
          <p:nvPr/>
        </p:nvSpPr>
        <p:spPr>
          <a:xfrm>
            <a:off x="6510528" y="15179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4"/>
          <p:cNvSpPr/>
          <p:nvPr/>
        </p:nvSpPr>
        <p:spPr>
          <a:xfrm>
            <a:off x="6986016" y="1527048"/>
            <a:ext cx="429768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Day 6 — GREEN · Scenario A</a:t>
            </a:r>
            <a:endParaRPr lang="en-US" sz="1300" dirty="0"/>
          </a:p>
        </p:txBody>
      </p:sp>
      <p:sp>
        <p:nvSpPr>
          <p:cNvPr id="9" name="Text 5"/>
          <p:cNvSpPr/>
          <p:nvPr/>
        </p:nvSpPr>
        <p:spPr>
          <a:xfrm>
            <a:off x="6986016" y="1801368"/>
            <a:ext cx="4297680" cy="731520"/>
          </a:xfrm>
          <a:prstGeom prst="rect">
            <a:avLst/>
          </a:prstGeom>
          <a:noFill/>
          <a:ln/>
        </p:spPr>
        <p:txBody>
          <a:bodyPr wrap="square" lIns="0" tIns="0" rIns="0" bIns="0" rtlCol="0" anchor="ctr"/>
          <a:lstStyle/>
          <a:p>
            <a:pPr indent="0" marL="0">
              <a:lnSpc>
                <a:spcPts val="1400"/>
              </a:lnSpc>
              <a:buNone/>
            </a:pPr>
            <a:r>
              <a:rPr lang="en-US" sz="1050" dirty="0">
                <a:solidFill>
                  <a:srgbClr val="C9D6E4"/>
                </a:solidFill>
                <a:latin typeface="Calibri" pitchFamily="34" charset="0"/>
                <a:ea typeface="Calibri" pitchFamily="34" charset="-122"/>
                <a:cs typeface="Calibri" pitchFamily="34" charset="-120"/>
              </a:rPr>
              <a:t>A scab worries the patient. The system reassures and names the reason. No call to the clinic.</a:t>
            </a:r>
            <a:endParaRPr lang="en-US" sz="1050" dirty="0"/>
          </a:p>
        </p:txBody>
      </p:sp>
      <p:sp>
        <p:nvSpPr>
          <p:cNvPr id="10" name="Shape 6"/>
          <p:cNvSpPr/>
          <p:nvPr/>
        </p:nvSpPr>
        <p:spPr>
          <a:xfrm>
            <a:off x="6510528" y="2651760"/>
            <a:ext cx="347472" cy="347472"/>
          </a:xfrm>
          <a:prstGeom prst="ellipse">
            <a:avLst/>
          </a:prstGeom>
          <a:solidFill>
            <a:srgbClr val="1D3148"/>
          </a:solidFill>
          <a:ln w="12700">
            <a:solidFill>
              <a:srgbClr val="8FA3B8"/>
            </a:solidFill>
            <a:prstDash val="solid"/>
          </a:ln>
        </p:spPr>
      </p:sp>
      <p:sp>
        <p:nvSpPr>
          <p:cNvPr id="11" name="Text 7"/>
          <p:cNvSpPr/>
          <p:nvPr/>
        </p:nvSpPr>
        <p:spPr>
          <a:xfrm>
            <a:off x="6510528" y="265176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8"/>
          <p:cNvSpPr/>
          <p:nvPr/>
        </p:nvSpPr>
        <p:spPr>
          <a:xfrm>
            <a:off x="6986016" y="2660904"/>
            <a:ext cx="429768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Day 7 — ORANGE · Scenario B</a:t>
            </a:r>
            <a:endParaRPr lang="en-US" sz="1300" dirty="0"/>
          </a:p>
        </p:txBody>
      </p:sp>
      <p:sp>
        <p:nvSpPr>
          <p:cNvPr id="13" name="Text 9"/>
          <p:cNvSpPr/>
          <p:nvPr/>
        </p:nvSpPr>
        <p:spPr>
          <a:xfrm>
            <a:off x="6986016" y="2935224"/>
            <a:ext cx="4297680" cy="731520"/>
          </a:xfrm>
          <a:prstGeom prst="rect">
            <a:avLst/>
          </a:prstGeom>
          <a:noFill/>
          <a:ln/>
        </p:spPr>
        <p:txBody>
          <a:bodyPr wrap="square" lIns="0" tIns="0" rIns="0" bIns="0" rtlCol="0" anchor="ctr"/>
          <a:lstStyle/>
          <a:p>
            <a:pPr indent="0" marL="0">
              <a:lnSpc>
                <a:spcPts val="1400"/>
              </a:lnSpc>
              <a:buNone/>
            </a:pPr>
            <a:r>
              <a:rPr lang="en-US" sz="1050" dirty="0">
                <a:solidFill>
                  <a:srgbClr val="C9D6E4"/>
                </a:solidFill>
                <a:latin typeface="Calibri" pitchFamily="34" charset="0"/>
                <a:ea typeface="Calibri" pitchFamily="34" charset="-122"/>
                <a:cs typeface="Calibri" pitchFamily="34" charset="-120"/>
              </a:rPr>
              <a:t>Purulent discharge, 38.3 °C. R4 fires, the patient is told to contact the practice today, a FHIR Communication goes out.</a:t>
            </a:r>
            <a:endParaRPr lang="en-US" sz="1050" dirty="0"/>
          </a:p>
        </p:txBody>
      </p:sp>
      <p:sp>
        <p:nvSpPr>
          <p:cNvPr id="14" name="Shape 10"/>
          <p:cNvSpPr/>
          <p:nvPr/>
        </p:nvSpPr>
        <p:spPr>
          <a:xfrm>
            <a:off x="6510528" y="3785616"/>
            <a:ext cx="347472" cy="347472"/>
          </a:xfrm>
          <a:prstGeom prst="ellipse">
            <a:avLst/>
          </a:prstGeom>
          <a:solidFill>
            <a:srgbClr val="1D3148"/>
          </a:solidFill>
          <a:ln w="12700">
            <a:solidFill>
              <a:srgbClr val="8FA3B8"/>
            </a:solidFill>
            <a:prstDash val="solid"/>
          </a:ln>
        </p:spPr>
      </p:sp>
      <p:sp>
        <p:nvSpPr>
          <p:cNvPr id="15" name="Text 11"/>
          <p:cNvSpPr/>
          <p:nvPr/>
        </p:nvSpPr>
        <p:spPr>
          <a:xfrm>
            <a:off x="6510528" y="3785616"/>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2"/>
          <p:cNvSpPr/>
          <p:nvPr/>
        </p:nvSpPr>
        <p:spPr>
          <a:xfrm>
            <a:off x="6986016" y="3794760"/>
            <a:ext cx="429768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Threshold change</a:t>
            </a:r>
            <a:endParaRPr lang="en-US" sz="1300" dirty="0"/>
          </a:p>
        </p:txBody>
      </p:sp>
      <p:sp>
        <p:nvSpPr>
          <p:cNvPr id="17" name="Text 13"/>
          <p:cNvSpPr/>
          <p:nvPr/>
        </p:nvSpPr>
        <p:spPr>
          <a:xfrm>
            <a:off x="6986016" y="4069080"/>
            <a:ext cx="4297680" cy="731520"/>
          </a:xfrm>
          <a:prstGeom prst="rect">
            <a:avLst/>
          </a:prstGeom>
          <a:noFill/>
          <a:ln/>
        </p:spPr>
        <p:txBody>
          <a:bodyPr wrap="square" lIns="0" tIns="0" rIns="0" bIns="0" rtlCol="0" anchor="ctr"/>
          <a:lstStyle/>
          <a:p>
            <a:pPr indent="0" marL="0">
              <a:lnSpc>
                <a:spcPts val="1400"/>
              </a:lnSpc>
              <a:buNone/>
            </a:pPr>
            <a:r>
              <a:rPr lang="en-US" sz="1050" dirty="0">
                <a:solidFill>
                  <a:srgbClr val="C9D6E4"/>
                </a:solidFill>
                <a:latin typeface="Calibri" pitchFamily="34" charset="0"/>
                <a:ea typeface="Calibri" pitchFamily="34" charset="-122"/>
                <a:cs typeface="Calibri" pitchFamily="34" charset="-120"/>
              </a:rPr>
              <a:t>fever_orange 38.0 → 37.5 in the L3 inspector. Same case, different result. No rebuild, no developer, not a line of code.</a:t>
            </a:r>
            <a:endParaRPr lang="en-US" sz="1050" dirty="0"/>
          </a:p>
        </p:txBody>
      </p:sp>
      <p:sp>
        <p:nvSpPr>
          <p:cNvPr id="18" name="Shape 14"/>
          <p:cNvSpPr/>
          <p:nvPr/>
        </p:nvSpPr>
        <p:spPr>
          <a:xfrm>
            <a:off x="6510528" y="4992624"/>
            <a:ext cx="4773168" cy="1517904"/>
          </a:xfrm>
          <a:prstGeom prst="roundRect">
            <a:avLst>
              <a:gd name="adj" fmla="val 5422"/>
            </a:avLst>
          </a:prstGeom>
          <a:solidFill>
            <a:srgbClr val="1D3148"/>
          </a:solidFill>
          <a:ln w="12700">
            <a:solidFill>
              <a:srgbClr val="1D3148"/>
            </a:solidFill>
            <a:prstDash val="solid"/>
          </a:ln>
        </p:spPr>
      </p:sp>
      <p:sp>
        <p:nvSpPr>
          <p:cNvPr id="19" name="Text 15"/>
          <p:cNvSpPr/>
          <p:nvPr/>
        </p:nvSpPr>
        <p:spPr>
          <a:xfrm>
            <a:off x="6748272" y="5120640"/>
            <a:ext cx="4389120" cy="23774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Why the interface looks like this</a:t>
            </a:r>
            <a:endParaRPr lang="en-US" sz="1200" dirty="0"/>
          </a:p>
        </p:txBody>
      </p:sp>
      <p:sp>
        <p:nvSpPr>
          <p:cNvPr id="20" name="Text 16"/>
          <p:cNvSpPr/>
          <p:nvPr/>
        </p:nvSpPr>
        <p:spPr>
          <a:xfrm>
            <a:off x="6748272" y="5394960"/>
            <a:ext cx="4389120" cy="1005840"/>
          </a:xfrm>
          <a:prstGeom prst="rect">
            <a:avLst/>
          </a:prstGeom>
          <a:noFill/>
          <a:ln/>
        </p:spPr>
        <p:txBody>
          <a:bodyPr wrap="square" lIns="0" tIns="0" rIns="0" bIns="0" rtlCol="0" anchor="t"/>
          <a:lstStyle/>
          <a:p>
            <a:pPr marL="152400" indent="-152400">
              <a:lnSpc>
                <a:spcPts val="1200"/>
              </a:lnSpc>
              <a:spcAft>
                <a:spcPts val="300"/>
              </a:spcAft>
              <a:buSzPct val="100000"/>
              <a:buChar char="•"/>
            </a:pPr>
            <a:r>
              <a:rPr lang="en-US" sz="950" dirty="0">
                <a:solidFill>
                  <a:srgbClr val="C9D6E4"/>
                </a:solidFill>
                <a:latin typeface="Calibri" pitchFamily="34" charset="0"/>
                <a:ea typeface="Calibri" pitchFamily="34" charset="-122"/>
                <a:cs typeface="Calibri" pitchFamily="34" charset="-120"/>
              </a:rPr>
              <a:t>Images, not clinical terms — crosses language and literacy barriers</a:t>
            </a:r>
            <a:endParaRPr lang="en-US" sz="950" dirty="0"/>
          </a:p>
          <a:p>
            <a:pPr marL="152400" indent="-152400">
              <a:lnSpc>
                <a:spcPts val="1200"/>
              </a:lnSpc>
              <a:spcAft>
                <a:spcPts val="300"/>
              </a:spcAft>
              <a:buSzPct val="100000"/>
              <a:buChar char="•"/>
            </a:pPr>
            <a:r>
              <a:rPr lang="en-US" sz="950" dirty="0">
                <a:solidFill>
                  <a:srgbClr val="C9D6E4"/>
                </a:solidFill>
                <a:latin typeface="Calibri" pitchFamily="34" charset="0"/>
                <a:ea typeface="Calibri" pitchFamily="34" charset="-122"/>
                <a:cs typeface="Calibri" pitchFamily="34" charset="-120"/>
              </a:rPr>
              <a:t>The result names its reason, not just a colour — against automation bias</a:t>
            </a:r>
            <a:endParaRPr lang="en-US" sz="950" dirty="0"/>
          </a:p>
          <a:p>
            <a:pPr marL="152400" indent="-152400">
              <a:lnSpc>
                <a:spcPts val="1200"/>
              </a:lnSpc>
              <a:spcAft>
                <a:spcPts val="300"/>
              </a:spcAft>
              <a:buSzPct val="100000"/>
              <a:buChar char="•"/>
            </a:pPr>
            <a:r>
              <a:rPr lang="en-US" sz="950" dirty="0">
                <a:solidFill>
                  <a:srgbClr val="C9D6E4"/>
                </a:solidFill>
                <a:latin typeface="Calibri" pitchFamily="34" charset="0"/>
                <a:ea typeface="Calibri" pitchFamily="34" charset="-122"/>
                <a:cs typeface="Calibri" pitchFamily="34" charset="-120"/>
              </a:rPr>
              <a:t>Reassurance is a first-class output, not a leftover</a:t>
            </a:r>
            <a:endParaRPr lang="en-US" sz="950" dirty="0"/>
          </a:p>
          <a:p>
            <a:pPr marL="152400" indent="-152400">
              <a:lnSpc>
                <a:spcPts val="1200"/>
              </a:lnSpc>
              <a:spcAft>
                <a:spcPts val="300"/>
              </a:spcAft>
              <a:buSzPct val="100000"/>
              <a:buChar char="•"/>
            </a:pPr>
            <a:r>
              <a:rPr lang="en-US" sz="950" dirty="0">
                <a:solidFill>
                  <a:srgbClr val="C9D6E4"/>
                </a:solidFill>
                <a:latin typeface="Calibri" pitchFamily="34" charset="0"/>
                <a:ea typeface="Calibri" pitchFamily="34" charset="-122"/>
                <a:cs typeface="Calibri" pitchFamily="34" charset="-120"/>
              </a:rPr>
              <a:t>Baseline data once only — a daily check has to stay under 3 minutes</a:t>
            </a:r>
            <a:endParaRPr lang="en-US" sz="950" dirty="0"/>
          </a:p>
        </p:txBody>
      </p:sp>
      <p:sp>
        <p:nvSpPr>
          <p:cNvPr id="21" name="Text 17"/>
          <p:cNvSpPr/>
          <p:nvPr/>
        </p:nvSpPr>
        <p:spPr>
          <a:xfrm>
            <a:off x="566928" y="6455664"/>
            <a:ext cx="5486400" cy="274320"/>
          </a:xfrm>
          <a:prstGeom prst="rect">
            <a:avLst/>
          </a:prstGeom>
          <a:noFill/>
          <a:ln/>
        </p:spPr>
        <p:txBody>
          <a:bodyPr wrap="square" lIns="0" tIns="0" rIns="0" bIns="0" rtlCol="0" anchor="ctr"/>
          <a:lstStyle/>
          <a:p>
            <a:pPr algn="ctr" indent="0" marL="0">
              <a:buNone/>
            </a:pPr>
            <a:r>
              <a:rPr lang="en-US" sz="950" i="1" dirty="0">
                <a:solidFill>
                  <a:srgbClr val="8FA3B8"/>
                </a:solidFill>
                <a:latin typeface="Calibri" pitchFamily="34" charset="0"/>
                <a:ea typeface="Calibri" pitchFamily="34" charset="-122"/>
                <a:cs typeface="Calibri" pitchFamily="34" charset="-120"/>
              </a:rPr>
              <a:t>▶  Live in the browser   ·   Single HTML file · offline · no installation · no build step · EN / DE</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indent="0" marL="0">
              <a:buNone/>
            </a:pPr>
            <a:r>
              <a:rPr lang="en-US" sz="1050" b="1" spc="160" kern="0" dirty="0">
                <a:solidFill>
                  <a:srgbClr val="5D7186"/>
                </a:solidFill>
                <a:latin typeface="Calibri" pitchFamily="34" charset="0"/>
                <a:ea typeface="Calibri" pitchFamily="34" charset="-122"/>
                <a:cs typeface="Calibri" pitchFamily="34" charset="-120"/>
              </a:rPr>
              <a:t>QUALITY ASSURANCE</a:t>
            </a:r>
            <a:endParaRPr lang="en-US" sz="1050" dirty="0"/>
          </a:p>
        </p:txBody>
      </p:sp>
      <p:sp>
        <p:nvSpPr>
          <p:cNvPr id="3" name="Text 1"/>
          <p:cNvSpPr/>
          <p:nvPr/>
        </p:nvSpPr>
        <p:spPr>
          <a:xfrm>
            <a:off x="566928" y="640080"/>
            <a:ext cx="10607040" cy="658368"/>
          </a:xfrm>
          <a:prstGeom prst="rect">
            <a:avLst/>
          </a:prstGeom>
          <a:noFill/>
          <a:ln/>
        </p:spPr>
        <p:txBody>
          <a:bodyPr wrap="square" lIns="0" tIns="0" rIns="0" bIns="0" rtlCol="0" anchor="t"/>
          <a:lstStyle/>
          <a:p>
            <a:pPr indent="0" marL="0">
              <a:buNone/>
            </a:pPr>
            <a:r>
              <a:rPr lang="en-US" sz="2700" b="1" dirty="0">
                <a:solidFill>
                  <a:srgbClr val="12202E"/>
                </a:solidFill>
                <a:latin typeface="Cambria" pitchFamily="34" charset="0"/>
                <a:ea typeface="Cambria" pitchFamily="34" charset="-122"/>
                <a:cs typeface="Cambria" pitchFamily="34" charset="-120"/>
              </a:rPr>
              <a:t>Two defects were invisible until the rules actually ran</a:t>
            </a:r>
            <a:endParaRPr lang="en-US" sz="2700" dirty="0"/>
          </a:p>
        </p:txBody>
      </p:sp>
      <p:sp>
        <p:nvSpPr>
          <p:cNvPr id="4" name="Shape 2"/>
          <p:cNvSpPr/>
          <p:nvPr/>
        </p:nvSpPr>
        <p:spPr>
          <a:xfrm>
            <a:off x="566928" y="1627632"/>
            <a:ext cx="7132320" cy="457200"/>
          </a:xfrm>
          <a:prstGeom prst="roundRect">
            <a:avLst>
              <a:gd name="adj" fmla="val 18000"/>
            </a:avLst>
          </a:prstGeom>
          <a:solidFill>
            <a:srgbClr val="FFFFFF"/>
          </a:solidFill>
          <a:ln w="12700">
            <a:solidFill>
              <a:srgbClr val="FFFFFF"/>
            </a:solidFill>
            <a:prstDash val="solid"/>
          </a:ln>
        </p:spPr>
      </p:sp>
      <p:sp>
        <p:nvSpPr>
          <p:cNvPr id="5" name="Shape 3"/>
          <p:cNvSpPr/>
          <p:nvPr/>
        </p:nvSpPr>
        <p:spPr>
          <a:xfrm>
            <a:off x="749808" y="1783080"/>
            <a:ext cx="146304" cy="146304"/>
          </a:xfrm>
          <a:prstGeom prst="ellipse">
            <a:avLst/>
          </a:prstGeom>
          <a:solidFill>
            <a:srgbClr val="C0281C"/>
          </a:solidFill>
          <a:ln w="12700">
            <a:solidFill>
              <a:srgbClr val="C0281C"/>
            </a:solidFill>
            <a:prstDash val="solid"/>
          </a:ln>
        </p:spPr>
      </p:sp>
      <p:sp>
        <p:nvSpPr>
          <p:cNvPr id="6" name="Text 4"/>
          <p:cNvSpPr/>
          <p:nvPr/>
        </p:nvSpPr>
        <p:spPr>
          <a:xfrm>
            <a:off x="1024128" y="1627632"/>
            <a:ext cx="594360" cy="457200"/>
          </a:xfrm>
          <a:prstGeom prst="rect">
            <a:avLst/>
          </a:prstGeom>
          <a:noFill/>
          <a:ln/>
        </p:spPr>
        <p:txBody>
          <a:bodyPr wrap="square" lIns="0" tIns="0" rIns="0" bIns="0" rtlCol="0" anchor="ctr"/>
          <a:lstStyle/>
          <a:p>
            <a:pPr indent="0" marL="0">
              <a:buNone/>
            </a:pPr>
            <a:r>
              <a:rPr lang="en-US" sz="1050" b="1" dirty="0">
                <a:solidFill>
                  <a:srgbClr val="12202E"/>
                </a:solidFill>
                <a:latin typeface="Calibri" pitchFamily="34" charset="0"/>
                <a:ea typeface="Calibri" pitchFamily="34" charset="-122"/>
                <a:cs typeface="Calibri" pitchFamily="34" charset="-120"/>
              </a:rPr>
              <a:t>B-01</a:t>
            </a:r>
            <a:endParaRPr lang="en-US" sz="1050" dirty="0"/>
          </a:p>
        </p:txBody>
      </p:sp>
      <p:sp>
        <p:nvSpPr>
          <p:cNvPr id="7" name="Text 5"/>
          <p:cNvSpPr/>
          <p:nvPr/>
        </p:nvSpPr>
        <p:spPr>
          <a:xfrm>
            <a:off x="1664208" y="1627632"/>
            <a:ext cx="5303520" cy="457200"/>
          </a:xfrm>
          <a:prstGeom prst="rect">
            <a:avLst/>
          </a:prstGeom>
          <a:noFill/>
          <a:ln/>
        </p:spPr>
        <p:txBody>
          <a:bodyPr wrap="square" lIns="0" tIns="0" rIns="0" bIns="0" rtlCol="0" anchor="ctr"/>
          <a:lstStyle/>
          <a:p>
            <a:pPr indent="0" marL="0">
              <a:buNone/>
            </a:pPr>
            <a:r>
              <a:rPr lang="en-US" sz="1100" dirty="0">
                <a:solidFill>
                  <a:srgbClr val="12202E"/>
                </a:solidFill>
                <a:latin typeface="Calibri" pitchFamily="34" charset="0"/>
                <a:ea typeface="Calibri" pitchFamily="34" charset="-122"/>
                <a:cs typeface="Calibri" pitchFamily="34" charset="-120"/>
              </a:rPr>
              <a:t>Marked inflammation on day 1–2 classified GREEN</a:t>
            </a:r>
            <a:endParaRPr lang="en-US" sz="1100" dirty="0"/>
          </a:p>
        </p:txBody>
      </p:sp>
      <p:sp>
        <p:nvSpPr>
          <p:cNvPr id="8" name="Text 6"/>
          <p:cNvSpPr/>
          <p:nvPr/>
        </p:nvSpPr>
        <p:spPr>
          <a:xfrm>
            <a:off x="6876288" y="1627632"/>
            <a:ext cx="685800" cy="457200"/>
          </a:xfrm>
          <a:prstGeom prst="rect">
            <a:avLst/>
          </a:prstGeom>
          <a:noFill/>
          <a:ln/>
        </p:spPr>
        <p:txBody>
          <a:bodyPr wrap="square" lIns="0" tIns="0" rIns="0" bIns="0" rtlCol="0" anchor="ctr"/>
          <a:lstStyle/>
          <a:p>
            <a:pPr algn="r" indent="0" marL="0">
              <a:buNone/>
            </a:pPr>
            <a:r>
              <a:rPr lang="en-US" sz="950" dirty="0">
                <a:solidFill>
                  <a:srgbClr val="5D7186"/>
                </a:solidFill>
                <a:latin typeface="Calibri" pitchFamily="34" charset="0"/>
                <a:ea typeface="Calibri" pitchFamily="34" charset="-122"/>
                <a:cs typeface="Calibri" pitchFamily="34" charset="-120"/>
              </a:rPr>
              <a:t>L2</a:t>
            </a:r>
            <a:endParaRPr lang="en-US" sz="950" dirty="0"/>
          </a:p>
        </p:txBody>
      </p:sp>
      <p:sp>
        <p:nvSpPr>
          <p:cNvPr id="9" name="Shape 7"/>
          <p:cNvSpPr/>
          <p:nvPr/>
        </p:nvSpPr>
        <p:spPr>
          <a:xfrm>
            <a:off x="566928" y="2176272"/>
            <a:ext cx="7132320" cy="457200"/>
          </a:xfrm>
          <a:prstGeom prst="roundRect">
            <a:avLst>
              <a:gd name="adj" fmla="val 18000"/>
            </a:avLst>
          </a:prstGeom>
          <a:solidFill>
            <a:srgbClr val="F5F7FA"/>
          </a:solidFill>
          <a:ln w="12700">
            <a:solidFill>
              <a:srgbClr val="DDE5EE"/>
            </a:solidFill>
            <a:prstDash val="solid"/>
          </a:ln>
        </p:spPr>
      </p:sp>
      <p:sp>
        <p:nvSpPr>
          <p:cNvPr id="10" name="Shape 8"/>
          <p:cNvSpPr/>
          <p:nvPr/>
        </p:nvSpPr>
        <p:spPr>
          <a:xfrm>
            <a:off x="749808" y="2331720"/>
            <a:ext cx="146304" cy="146304"/>
          </a:xfrm>
          <a:prstGeom prst="ellipse">
            <a:avLst/>
          </a:prstGeom>
          <a:solidFill>
            <a:srgbClr val="C0281C"/>
          </a:solidFill>
          <a:ln w="12700">
            <a:solidFill>
              <a:srgbClr val="C0281C"/>
            </a:solidFill>
            <a:prstDash val="solid"/>
          </a:ln>
        </p:spPr>
      </p:sp>
      <p:sp>
        <p:nvSpPr>
          <p:cNvPr id="11" name="Text 9"/>
          <p:cNvSpPr/>
          <p:nvPr/>
        </p:nvSpPr>
        <p:spPr>
          <a:xfrm>
            <a:off x="1024128" y="2176272"/>
            <a:ext cx="594360" cy="457200"/>
          </a:xfrm>
          <a:prstGeom prst="rect">
            <a:avLst/>
          </a:prstGeom>
          <a:noFill/>
          <a:ln/>
        </p:spPr>
        <p:txBody>
          <a:bodyPr wrap="square" lIns="0" tIns="0" rIns="0" bIns="0" rtlCol="0" anchor="ctr"/>
          <a:lstStyle/>
          <a:p>
            <a:pPr indent="0" marL="0">
              <a:buNone/>
            </a:pPr>
            <a:r>
              <a:rPr lang="en-US" sz="1050" b="1" dirty="0">
                <a:solidFill>
                  <a:srgbClr val="12202E"/>
                </a:solidFill>
                <a:latin typeface="Calibri" pitchFamily="34" charset="0"/>
                <a:ea typeface="Calibri" pitchFamily="34" charset="-122"/>
                <a:cs typeface="Calibri" pitchFamily="34" charset="-120"/>
              </a:rPr>
              <a:t>B-02</a:t>
            </a:r>
            <a:endParaRPr lang="en-US" sz="1050" dirty="0"/>
          </a:p>
        </p:txBody>
      </p:sp>
      <p:sp>
        <p:nvSpPr>
          <p:cNvPr id="12" name="Text 10"/>
          <p:cNvSpPr/>
          <p:nvPr/>
        </p:nvSpPr>
        <p:spPr>
          <a:xfrm>
            <a:off x="1664208" y="2176272"/>
            <a:ext cx="5303520" cy="457200"/>
          </a:xfrm>
          <a:prstGeom prst="rect">
            <a:avLst/>
          </a:prstGeom>
          <a:noFill/>
          <a:ln/>
        </p:spPr>
        <p:txBody>
          <a:bodyPr wrap="square" lIns="0" tIns="0" rIns="0" bIns="0" rtlCol="0" anchor="ctr"/>
          <a:lstStyle/>
          <a:p>
            <a:pPr indent="0" marL="0">
              <a:buNone/>
            </a:pPr>
            <a:r>
              <a:rPr lang="en-US" sz="1100" dirty="0">
                <a:solidFill>
                  <a:srgbClr val="12202E"/>
                </a:solidFill>
                <a:latin typeface="Calibri" pitchFamily="34" charset="0"/>
                <a:ea typeface="Calibri" pitchFamily="34" charset="-122"/>
                <a:cs typeface="Calibri" pitchFamily="34" charset="-120"/>
              </a:rPr>
              <a:t>“I feel really unwell” triggered nothing at all</a:t>
            </a:r>
            <a:endParaRPr lang="en-US" sz="1100" dirty="0"/>
          </a:p>
        </p:txBody>
      </p:sp>
      <p:sp>
        <p:nvSpPr>
          <p:cNvPr id="13" name="Text 11"/>
          <p:cNvSpPr/>
          <p:nvPr/>
        </p:nvSpPr>
        <p:spPr>
          <a:xfrm>
            <a:off x="6876288" y="2176272"/>
            <a:ext cx="685800" cy="457200"/>
          </a:xfrm>
          <a:prstGeom prst="rect">
            <a:avLst/>
          </a:prstGeom>
          <a:noFill/>
          <a:ln/>
        </p:spPr>
        <p:txBody>
          <a:bodyPr wrap="square" lIns="0" tIns="0" rIns="0" bIns="0" rtlCol="0" anchor="ctr"/>
          <a:lstStyle/>
          <a:p>
            <a:pPr algn="r" indent="0" marL="0">
              <a:buNone/>
            </a:pPr>
            <a:r>
              <a:rPr lang="en-US" sz="950" dirty="0">
                <a:solidFill>
                  <a:srgbClr val="5D7186"/>
                </a:solidFill>
                <a:latin typeface="Calibri" pitchFamily="34" charset="0"/>
                <a:ea typeface="Calibri" pitchFamily="34" charset="-122"/>
                <a:cs typeface="Calibri" pitchFamily="34" charset="-120"/>
              </a:rPr>
              <a:t>L2</a:t>
            </a:r>
            <a:endParaRPr lang="en-US" sz="950" dirty="0"/>
          </a:p>
        </p:txBody>
      </p:sp>
      <p:sp>
        <p:nvSpPr>
          <p:cNvPr id="14" name="Shape 12"/>
          <p:cNvSpPr/>
          <p:nvPr/>
        </p:nvSpPr>
        <p:spPr>
          <a:xfrm>
            <a:off x="566928" y="2724912"/>
            <a:ext cx="7132320" cy="457200"/>
          </a:xfrm>
          <a:prstGeom prst="roundRect">
            <a:avLst>
              <a:gd name="adj" fmla="val 18000"/>
            </a:avLst>
          </a:prstGeom>
          <a:solidFill>
            <a:srgbClr val="FFFFFF"/>
          </a:solidFill>
          <a:ln w="12700">
            <a:solidFill>
              <a:srgbClr val="FFFFFF"/>
            </a:solidFill>
            <a:prstDash val="solid"/>
          </a:ln>
        </p:spPr>
      </p:sp>
      <p:sp>
        <p:nvSpPr>
          <p:cNvPr id="15" name="Shape 13"/>
          <p:cNvSpPr/>
          <p:nvPr/>
        </p:nvSpPr>
        <p:spPr>
          <a:xfrm>
            <a:off x="749808" y="2880360"/>
            <a:ext cx="146304" cy="146304"/>
          </a:xfrm>
          <a:prstGeom prst="ellipse">
            <a:avLst/>
          </a:prstGeom>
          <a:solidFill>
            <a:srgbClr val="C0281C"/>
          </a:solidFill>
          <a:ln w="12700">
            <a:solidFill>
              <a:srgbClr val="C0281C"/>
            </a:solidFill>
            <a:prstDash val="solid"/>
          </a:ln>
        </p:spPr>
      </p:sp>
      <p:sp>
        <p:nvSpPr>
          <p:cNvPr id="16" name="Text 14"/>
          <p:cNvSpPr/>
          <p:nvPr/>
        </p:nvSpPr>
        <p:spPr>
          <a:xfrm>
            <a:off x="1024128" y="2724912"/>
            <a:ext cx="594360" cy="457200"/>
          </a:xfrm>
          <a:prstGeom prst="rect">
            <a:avLst/>
          </a:prstGeom>
          <a:noFill/>
          <a:ln/>
        </p:spPr>
        <p:txBody>
          <a:bodyPr wrap="square" lIns="0" tIns="0" rIns="0" bIns="0" rtlCol="0" anchor="ctr"/>
          <a:lstStyle/>
          <a:p>
            <a:pPr indent="0" marL="0">
              <a:buNone/>
            </a:pPr>
            <a:r>
              <a:rPr lang="en-US" sz="1050" b="1" dirty="0">
                <a:solidFill>
                  <a:srgbClr val="12202E"/>
                </a:solidFill>
                <a:latin typeface="Calibri" pitchFamily="34" charset="0"/>
                <a:ea typeface="Calibri" pitchFamily="34" charset="-122"/>
                <a:cs typeface="Calibri" pitchFamily="34" charset="-120"/>
              </a:rPr>
              <a:t>B-03</a:t>
            </a:r>
            <a:endParaRPr lang="en-US" sz="1050" dirty="0"/>
          </a:p>
        </p:txBody>
      </p:sp>
      <p:sp>
        <p:nvSpPr>
          <p:cNvPr id="17" name="Text 15"/>
          <p:cNvSpPr/>
          <p:nvPr/>
        </p:nvSpPr>
        <p:spPr>
          <a:xfrm>
            <a:off x="1664208" y="2724912"/>
            <a:ext cx="5303520" cy="457200"/>
          </a:xfrm>
          <a:prstGeom prst="rect">
            <a:avLst/>
          </a:prstGeom>
          <a:noFill/>
          <a:ln/>
        </p:spPr>
        <p:txBody>
          <a:bodyPr wrap="square" lIns="0" tIns="0" rIns="0" bIns="0" rtlCol="0" anchor="ctr"/>
          <a:lstStyle/>
          <a:p>
            <a:pPr indent="0" marL="0">
              <a:buNone/>
            </a:pPr>
            <a:r>
              <a:rPr lang="en-US" sz="1100" dirty="0">
                <a:solidFill>
                  <a:srgbClr val="12202E"/>
                </a:solidFill>
                <a:latin typeface="Calibri" pitchFamily="34" charset="0"/>
                <a:ea typeface="Calibri" pitchFamily="34" charset="-122"/>
                <a:cs typeface="Calibri" pitchFamily="34" charset="-120"/>
              </a:rPr>
              <a:t>Emergency rule unreachable behind conditional logic</a:t>
            </a:r>
            <a:endParaRPr lang="en-US" sz="1100" dirty="0"/>
          </a:p>
        </p:txBody>
      </p:sp>
      <p:sp>
        <p:nvSpPr>
          <p:cNvPr id="18" name="Text 16"/>
          <p:cNvSpPr/>
          <p:nvPr/>
        </p:nvSpPr>
        <p:spPr>
          <a:xfrm>
            <a:off x="6876288" y="2724912"/>
            <a:ext cx="685800" cy="457200"/>
          </a:xfrm>
          <a:prstGeom prst="rect">
            <a:avLst/>
          </a:prstGeom>
          <a:noFill/>
          <a:ln/>
        </p:spPr>
        <p:txBody>
          <a:bodyPr wrap="square" lIns="0" tIns="0" rIns="0" bIns="0" rtlCol="0" anchor="ctr"/>
          <a:lstStyle/>
          <a:p>
            <a:pPr algn="r" indent="0" marL="0">
              <a:buNone/>
            </a:pPr>
            <a:r>
              <a:rPr lang="en-US" sz="950" dirty="0">
                <a:solidFill>
                  <a:srgbClr val="5D7186"/>
                </a:solidFill>
                <a:latin typeface="Calibri" pitchFamily="34" charset="0"/>
                <a:ea typeface="Calibri" pitchFamily="34" charset="-122"/>
                <a:cs typeface="Calibri" pitchFamily="34" charset="-120"/>
              </a:rPr>
              <a:t>L2/L3</a:t>
            </a:r>
            <a:endParaRPr lang="en-US" sz="950" dirty="0"/>
          </a:p>
        </p:txBody>
      </p:sp>
      <p:sp>
        <p:nvSpPr>
          <p:cNvPr id="19" name="Shape 17"/>
          <p:cNvSpPr/>
          <p:nvPr/>
        </p:nvSpPr>
        <p:spPr>
          <a:xfrm>
            <a:off x="566928" y="3273552"/>
            <a:ext cx="7132320" cy="457200"/>
          </a:xfrm>
          <a:prstGeom prst="roundRect">
            <a:avLst>
              <a:gd name="adj" fmla="val 18000"/>
            </a:avLst>
          </a:prstGeom>
          <a:solidFill>
            <a:srgbClr val="F5F7FA"/>
          </a:solidFill>
          <a:ln w="12700">
            <a:solidFill>
              <a:srgbClr val="DDE5EE"/>
            </a:solidFill>
            <a:prstDash val="solid"/>
          </a:ln>
        </p:spPr>
      </p:sp>
      <p:sp>
        <p:nvSpPr>
          <p:cNvPr id="20" name="Shape 18"/>
          <p:cNvSpPr/>
          <p:nvPr/>
        </p:nvSpPr>
        <p:spPr>
          <a:xfrm>
            <a:off x="749808" y="3429000"/>
            <a:ext cx="146304" cy="146304"/>
          </a:xfrm>
          <a:prstGeom prst="ellipse">
            <a:avLst/>
          </a:prstGeom>
          <a:solidFill>
            <a:srgbClr val="9C6D00"/>
          </a:solidFill>
          <a:ln w="12700">
            <a:solidFill>
              <a:srgbClr val="9C6D00"/>
            </a:solidFill>
            <a:prstDash val="solid"/>
          </a:ln>
        </p:spPr>
      </p:sp>
      <p:sp>
        <p:nvSpPr>
          <p:cNvPr id="21" name="Text 19"/>
          <p:cNvSpPr/>
          <p:nvPr/>
        </p:nvSpPr>
        <p:spPr>
          <a:xfrm>
            <a:off x="1024128" y="3273552"/>
            <a:ext cx="594360" cy="457200"/>
          </a:xfrm>
          <a:prstGeom prst="rect">
            <a:avLst/>
          </a:prstGeom>
          <a:noFill/>
          <a:ln/>
        </p:spPr>
        <p:txBody>
          <a:bodyPr wrap="square" lIns="0" tIns="0" rIns="0" bIns="0" rtlCol="0" anchor="ctr"/>
          <a:lstStyle/>
          <a:p>
            <a:pPr indent="0" marL="0">
              <a:buNone/>
            </a:pPr>
            <a:r>
              <a:rPr lang="en-US" sz="1050" b="1" dirty="0">
                <a:solidFill>
                  <a:srgbClr val="12202E"/>
                </a:solidFill>
                <a:latin typeface="Calibri" pitchFamily="34" charset="0"/>
                <a:ea typeface="Calibri" pitchFamily="34" charset="-122"/>
                <a:cs typeface="Calibri" pitchFamily="34" charset="-120"/>
              </a:rPr>
              <a:t>B-04</a:t>
            </a:r>
            <a:endParaRPr lang="en-US" sz="1050" dirty="0"/>
          </a:p>
        </p:txBody>
      </p:sp>
      <p:sp>
        <p:nvSpPr>
          <p:cNvPr id="22" name="Text 20"/>
          <p:cNvSpPr/>
          <p:nvPr/>
        </p:nvSpPr>
        <p:spPr>
          <a:xfrm>
            <a:off x="1664208" y="3273552"/>
            <a:ext cx="5303520" cy="457200"/>
          </a:xfrm>
          <a:prstGeom prst="rect">
            <a:avLst/>
          </a:prstGeom>
          <a:noFill/>
          <a:ln/>
        </p:spPr>
        <p:txBody>
          <a:bodyPr wrap="square" lIns="0" tIns="0" rIns="0" bIns="0" rtlCol="0" anchor="ctr"/>
          <a:lstStyle/>
          <a:p>
            <a:pPr indent="0" marL="0">
              <a:buNone/>
            </a:pPr>
            <a:r>
              <a:rPr lang="en-US" sz="1100" dirty="0">
                <a:solidFill>
                  <a:srgbClr val="12202E"/>
                </a:solidFill>
                <a:latin typeface="Calibri" pitchFamily="34" charset="0"/>
                <a:ea typeface="Calibri" pitchFamily="34" charset="-122"/>
                <a:cs typeface="Calibri" pitchFamily="34" charset="-120"/>
              </a:rPr>
              <a:t>Fever threshold duplicated in two places</a:t>
            </a:r>
            <a:endParaRPr lang="en-US" sz="1100" dirty="0"/>
          </a:p>
        </p:txBody>
      </p:sp>
      <p:sp>
        <p:nvSpPr>
          <p:cNvPr id="23" name="Text 21"/>
          <p:cNvSpPr/>
          <p:nvPr/>
        </p:nvSpPr>
        <p:spPr>
          <a:xfrm>
            <a:off x="6876288" y="3273552"/>
            <a:ext cx="685800" cy="457200"/>
          </a:xfrm>
          <a:prstGeom prst="rect">
            <a:avLst/>
          </a:prstGeom>
          <a:noFill/>
          <a:ln/>
        </p:spPr>
        <p:txBody>
          <a:bodyPr wrap="square" lIns="0" tIns="0" rIns="0" bIns="0" rtlCol="0" anchor="ctr"/>
          <a:lstStyle/>
          <a:p>
            <a:pPr algn="r" indent="0" marL="0">
              <a:buNone/>
            </a:pPr>
            <a:r>
              <a:rPr lang="en-US" sz="950" dirty="0">
                <a:solidFill>
                  <a:srgbClr val="5D7186"/>
                </a:solidFill>
                <a:latin typeface="Calibri" pitchFamily="34" charset="0"/>
                <a:ea typeface="Calibri" pitchFamily="34" charset="-122"/>
                <a:cs typeface="Calibri" pitchFamily="34" charset="-120"/>
              </a:rPr>
              <a:t>L3</a:t>
            </a:r>
            <a:endParaRPr lang="en-US" sz="950" dirty="0"/>
          </a:p>
        </p:txBody>
      </p:sp>
      <p:sp>
        <p:nvSpPr>
          <p:cNvPr id="24" name="Shape 22"/>
          <p:cNvSpPr/>
          <p:nvPr/>
        </p:nvSpPr>
        <p:spPr>
          <a:xfrm>
            <a:off x="566928" y="3822192"/>
            <a:ext cx="7132320" cy="457200"/>
          </a:xfrm>
          <a:prstGeom prst="roundRect">
            <a:avLst>
              <a:gd name="adj" fmla="val 18000"/>
            </a:avLst>
          </a:prstGeom>
          <a:solidFill>
            <a:srgbClr val="FFFFFF"/>
          </a:solidFill>
          <a:ln w="12700">
            <a:solidFill>
              <a:srgbClr val="FFFFFF"/>
            </a:solidFill>
            <a:prstDash val="solid"/>
          </a:ln>
        </p:spPr>
      </p:sp>
      <p:sp>
        <p:nvSpPr>
          <p:cNvPr id="25" name="Shape 23"/>
          <p:cNvSpPr/>
          <p:nvPr/>
        </p:nvSpPr>
        <p:spPr>
          <a:xfrm>
            <a:off x="749808" y="3977640"/>
            <a:ext cx="146304" cy="146304"/>
          </a:xfrm>
          <a:prstGeom prst="ellipse">
            <a:avLst/>
          </a:prstGeom>
          <a:solidFill>
            <a:srgbClr val="1A7F4B"/>
          </a:solidFill>
          <a:ln w="12700">
            <a:solidFill>
              <a:srgbClr val="1A7F4B"/>
            </a:solidFill>
            <a:prstDash val="solid"/>
          </a:ln>
        </p:spPr>
      </p:sp>
      <p:sp>
        <p:nvSpPr>
          <p:cNvPr id="26" name="Text 24"/>
          <p:cNvSpPr/>
          <p:nvPr/>
        </p:nvSpPr>
        <p:spPr>
          <a:xfrm>
            <a:off x="1024128" y="3822192"/>
            <a:ext cx="594360" cy="457200"/>
          </a:xfrm>
          <a:prstGeom prst="rect">
            <a:avLst/>
          </a:prstGeom>
          <a:noFill/>
          <a:ln/>
        </p:spPr>
        <p:txBody>
          <a:bodyPr wrap="square" lIns="0" tIns="0" rIns="0" bIns="0" rtlCol="0" anchor="ctr"/>
          <a:lstStyle/>
          <a:p>
            <a:pPr indent="0" marL="0">
              <a:buNone/>
            </a:pPr>
            <a:r>
              <a:rPr lang="en-US" sz="1050" b="1" dirty="0">
                <a:solidFill>
                  <a:srgbClr val="12202E"/>
                </a:solidFill>
                <a:latin typeface="Calibri" pitchFamily="34" charset="0"/>
                <a:ea typeface="Calibri" pitchFamily="34" charset="-122"/>
                <a:cs typeface="Calibri" pitchFamily="34" charset="-120"/>
              </a:rPr>
              <a:t>B-05</a:t>
            </a:r>
            <a:endParaRPr lang="en-US" sz="1050" dirty="0"/>
          </a:p>
        </p:txBody>
      </p:sp>
      <p:sp>
        <p:nvSpPr>
          <p:cNvPr id="27" name="Text 25"/>
          <p:cNvSpPr/>
          <p:nvPr/>
        </p:nvSpPr>
        <p:spPr>
          <a:xfrm>
            <a:off x="1664208" y="3822192"/>
            <a:ext cx="5303520" cy="457200"/>
          </a:xfrm>
          <a:prstGeom prst="rect">
            <a:avLst/>
          </a:prstGeom>
          <a:noFill/>
          <a:ln/>
        </p:spPr>
        <p:txBody>
          <a:bodyPr wrap="square" lIns="0" tIns="0" rIns="0" bIns="0" rtlCol="0" anchor="ctr"/>
          <a:lstStyle/>
          <a:p>
            <a:pPr indent="0" marL="0">
              <a:buNone/>
            </a:pPr>
            <a:r>
              <a:rPr lang="en-US" sz="1100" dirty="0">
                <a:solidFill>
                  <a:srgbClr val="12202E"/>
                </a:solidFill>
                <a:latin typeface="Calibri" pitchFamily="34" charset="0"/>
                <a:ea typeface="Calibri" pitchFamily="34" charset="-122"/>
                <a:cs typeface="Calibri" pitchFamily="34" charset="-120"/>
              </a:rPr>
              <a:t>Anticoagulant status collected but never used</a:t>
            </a:r>
            <a:endParaRPr lang="en-US" sz="1100" dirty="0"/>
          </a:p>
        </p:txBody>
      </p:sp>
      <p:sp>
        <p:nvSpPr>
          <p:cNvPr id="28" name="Text 26"/>
          <p:cNvSpPr/>
          <p:nvPr/>
        </p:nvSpPr>
        <p:spPr>
          <a:xfrm>
            <a:off x="6876288" y="3822192"/>
            <a:ext cx="685800" cy="457200"/>
          </a:xfrm>
          <a:prstGeom prst="rect">
            <a:avLst/>
          </a:prstGeom>
          <a:noFill/>
          <a:ln/>
        </p:spPr>
        <p:txBody>
          <a:bodyPr wrap="square" lIns="0" tIns="0" rIns="0" bIns="0" rtlCol="0" anchor="ctr"/>
          <a:lstStyle/>
          <a:p>
            <a:pPr algn="r" indent="0" marL="0">
              <a:buNone/>
            </a:pPr>
            <a:r>
              <a:rPr lang="en-US" sz="950" dirty="0">
                <a:solidFill>
                  <a:srgbClr val="5D7186"/>
                </a:solidFill>
                <a:latin typeface="Calibri" pitchFamily="34" charset="0"/>
                <a:ea typeface="Calibri" pitchFamily="34" charset="-122"/>
                <a:cs typeface="Calibri" pitchFamily="34" charset="-120"/>
              </a:rPr>
              <a:t>L2</a:t>
            </a:r>
            <a:endParaRPr lang="en-US" sz="950" dirty="0"/>
          </a:p>
        </p:txBody>
      </p:sp>
      <p:sp>
        <p:nvSpPr>
          <p:cNvPr id="29" name="Shape 27"/>
          <p:cNvSpPr/>
          <p:nvPr/>
        </p:nvSpPr>
        <p:spPr>
          <a:xfrm>
            <a:off x="566928" y="4370832"/>
            <a:ext cx="7132320" cy="457200"/>
          </a:xfrm>
          <a:prstGeom prst="roundRect">
            <a:avLst>
              <a:gd name="adj" fmla="val 18000"/>
            </a:avLst>
          </a:prstGeom>
          <a:solidFill>
            <a:srgbClr val="F5F7FA"/>
          </a:solidFill>
          <a:ln w="12700">
            <a:solidFill>
              <a:srgbClr val="DDE5EE"/>
            </a:solidFill>
            <a:prstDash val="solid"/>
          </a:ln>
        </p:spPr>
      </p:sp>
      <p:sp>
        <p:nvSpPr>
          <p:cNvPr id="30" name="Shape 28"/>
          <p:cNvSpPr/>
          <p:nvPr/>
        </p:nvSpPr>
        <p:spPr>
          <a:xfrm>
            <a:off x="749808" y="4526280"/>
            <a:ext cx="146304" cy="146304"/>
          </a:xfrm>
          <a:prstGeom prst="ellipse">
            <a:avLst/>
          </a:prstGeom>
          <a:solidFill>
            <a:srgbClr val="9C6D00"/>
          </a:solidFill>
          <a:ln w="12700">
            <a:solidFill>
              <a:srgbClr val="9C6D00"/>
            </a:solidFill>
            <a:prstDash val="solid"/>
          </a:ln>
        </p:spPr>
      </p:sp>
      <p:sp>
        <p:nvSpPr>
          <p:cNvPr id="31" name="Text 29"/>
          <p:cNvSpPr/>
          <p:nvPr/>
        </p:nvSpPr>
        <p:spPr>
          <a:xfrm>
            <a:off x="1024128" y="4370832"/>
            <a:ext cx="594360" cy="457200"/>
          </a:xfrm>
          <a:prstGeom prst="rect">
            <a:avLst/>
          </a:prstGeom>
          <a:noFill/>
          <a:ln/>
        </p:spPr>
        <p:txBody>
          <a:bodyPr wrap="square" lIns="0" tIns="0" rIns="0" bIns="0" rtlCol="0" anchor="ctr"/>
          <a:lstStyle/>
          <a:p>
            <a:pPr indent="0" marL="0">
              <a:buNone/>
            </a:pPr>
            <a:r>
              <a:rPr lang="en-US" sz="1050" b="1" dirty="0">
                <a:solidFill>
                  <a:srgbClr val="12202E"/>
                </a:solidFill>
                <a:latin typeface="Calibri" pitchFamily="34" charset="0"/>
                <a:ea typeface="Calibri" pitchFamily="34" charset="-122"/>
                <a:cs typeface="Calibri" pitchFamily="34" charset="-120"/>
              </a:rPr>
              <a:t>B-06</a:t>
            </a:r>
            <a:endParaRPr lang="en-US" sz="1050" dirty="0"/>
          </a:p>
        </p:txBody>
      </p:sp>
      <p:sp>
        <p:nvSpPr>
          <p:cNvPr id="32" name="Text 30"/>
          <p:cNvSpPr/>
          <p:nvPr/>
        </p:nvSpPr>
        <p:spPr>
          <a:xfrm>
            <a:off x="1664208" y="4370832"/>
            <a:ext cx="5303520" cy="457200"/>
          </a:xfrm>
          <a:prstGeom prst="rect">
            <a:avLst/>
          </a:prstGeom>
          <a:noFill/>
          <a:ln/>
        </p:spPr>
        <p:txBody>
          <a:bodyPr wrap="square" lIns="0" tIns="0" rIns="0" bIns="0" rtlCol="0" anchor="ctr"/>
          <a:lstStyle/>
          <a:p>
            <a:pPr indent="0" marL="0">
              <a:buNone/>
            </a:pPr>
            <a:r>
              <a:rPr lang="en-US" sz="1100" dirty="0">
                <a:solidFill>
                  <a:srgbClr val="12202E"/>
                </a:solidFill>
                <a:latin typeface="Calibri" pitchFamily="34" charset="0"/>
                <a:ea typeface="Calibri" pitchFamily="34" charset="-122"/>
                <a:cs typeface="Calibri" pitchFamily="34" charset="-120"/>
              </a:rPr>
              <a:t>Southampton IV mapped RED in one doc, ORANGE in another</a:t>
            </a:r>
            <a:endParaRPr lang="en-US" sz="1100" dirty="0"/>
          </a:p>
        </p:txBody>
      </p:sp>
      <p:sp>
        <p:nvSpPr>
          <p:cNvPr id="33" name="Text 31"/>
          <p:cNvSpPr/>
          <p:nvPr/>
        </p:nvSpPr>
        <p:spPr>
          <a:xfrm>
            <a:off x="6876288" y="4370832"/>
            <a:ext cx="685800" cy="457200"/>
          </a:xfrm>
          <a:prstGeom prst="rect">
            <a:avLst/>
          </a:prstGeom>
          <a:noFill/>
          <a:ln/>
        </p:spPr>
        <p:txBody>
          <a:bodyPr wrap="square" lIns="0" tIns="0" rIns="0" bIns="0" rtlCol="0" anchor="ctr"/>
          <a:lstStyle/>
          <a:p>
            <a:pPr algn="r" indent="0" marL="0">
              <a:buNone/>
            </a:pPr>
            <a:r>
              <a:rPr lang="en-US" sz="950" dirty="0">
                <a:solidFill>
                  <a:srgbClr val="5D7186"/>
                </a:solidFill>
                <a:latin typeface="Calibri" pitchFamily="34" charset="0"/>
                <a:ea typeface="Calibri" pitchFamily="34" charset="-122"/>
                <a:cs typeface="Calibri" pitchFamily="34" charset="-120"/>
              </a:rPr>
              <a:t>L2</a:t>
            </a:r>
            <a:endParaRPr lang="en-US" sz="950" dirty="0"/>
          </a:p>
        </p:txBody>
      </p:sp>
      <p:sp>
        <p:nvSpPr>
          <p:cNvPr id="34" name="Shape 32"/>
          <p:cNvSpPr/>
          <p:nvPr/>
        </p:nvSpPr>
        <p:spPr>
          <a:xfrm>
            <a:off x="566928" y="4919472"/>
            <a:ext cx="7132320" cy="457200"/>
          </a:xfrm>
          <a:prstGeom prst="roundRect">
            <a:avLst>
              <a:gd name="adj" fmla="val 18000"/>
            </a:avLst>
          </a:prstGeom>
          <a:solidFill>
            <a:srgbClr val="FFFFFF"/>
          </a:solidFill>
          <a:ln w="12700">
            <a:solidFill>
              <a:srgbClr val="FFFFFF"/>
            </a:solidFill>
            <a:prstDash val="solid"/>
          </a:ln>
        </p:spPr>
      </p:sp>
      <p:sp>
        <p:nvSpPr>
          <p:cNvPr id="35" name="Shape 33"/>
          <p:cNvSpPr/>
          <p:nvPr/>
        </p:nvSpPr>
        <p:spPr>
          <a:xfrm>
            <a:off x="749808" y="5074920"/>
            <a:ext cx="146304" cy="146304"/>
          </a:xfrm>
          <a:prstGeom prst="ellipse">
            <a:avLst/>
          </a:prstGeom>
          <a:solidFill>
            <a:srgbClr val="C0281C"/>
          </a:solidFill>
          <a:ln w="12700">
            <a:solidFill>
              <a:srgbClr val="C0281C"/>
            </a:solidFill>
            <a:prstDash val="solid"/>
          </a:ln>
        </p:spPr>
      </p:sp>
      <p:sp>
        <p:nvSpPr>
          <p:cNvPr id="36" name="Text 34"/>
          <p:cNvSpPr/>
          <p:nvPr/>
        </p:nvSpPr>
        <p:spPr>
          <a:xfrm>
            <a:off x="1024128" y="4919472"/>
            <a:ext cx="594360" cy="457200"/>
          </a:xfrm>
          <a:prstGeom prst="rect">
            <a:avLst/>
          </a:prstGeom>
          <a:noFill/>
          <a:ln/>
        </p:spPr>
        <p:txBody>
          <a:bodyPr wrap="square" lIns="0" tIns="0" rIns="0" bIns="0" rtlCol="0" anchor="ctr"/>
          <a:lstStyle/>
          <a:p>
            <a:pPr indent="0" marL="0">
              <a:buNone/>
            </a:pPr>
            <a:r>
              <a:rPr lang="en-US" sz="1050" b="1" dirty="0">
                <a:solidFill>
                  <a:srgbClr val="12202E"/>
                </a:solidFill>
                <a:latin typeface="Calibri" pitchFamily="34" charset="0"/>
                <a:ea typeface="Calibri" pitchFamily="34" charset="-122"/>
                <a:cs typeface="Calibri" pitchFamily="34" charset="-120"/>
              </a:rPr>
              <a:t>B-07</a:t>
            </a:r>
            <a:endParaRPr lang="en-US" sz="1050" dirty="0"/>
          </a:p>
        </p:txBody>
      </p:sp>
      <p:sp>
        <p:nvSpPr>
          <p:cNvPr id="37" name="Text 35"/>
          <p:cNvSpPr/>
          <p:nvPr/>
        </p:nvSpPr>
        <p:spPr>
          <a:xfrm>
            <a:off x="1664208" y="4919472"/>
            <a:ext cx="5303520" cy="457200"/>
          </a:xfrm>
          <a:prstGeom prst="rect">
            <a:avLst/>
          </a:prstGeom>
          <a:noFill/>
          <a:ln/>
        </p:spPr>
        <p:txBody>
          <a:bodyPr wrap="square" lIns="0" tIns="0" rIns="0" bIns="0" rtlCol="0" anchor="ctr"/>
          <a:lstStyle/>
          <a:p>
            <a:pPr indent="0" marL="0">
              <a:buNone/>
            </a:pPr>
            <a:r>
              <a:rPr lang="en-US" sz="1100" dirty="0">
                <a:solidFill>
                  <a:srgbClr val="12202E"/>
                </a:solidFill>
                <a:latin typeface="Calibri" pitchFamily="34" charset="0"/>
                <a:ea typeface="Calibri" pitchFamily="34" charset="-122"/>
                <a:cs typeface="Calibri" pitchFamily="34" charset="-120"/>
              </a:rPr>
              <a:t>Trend rule could never fire — circular dependency</a:t>
            </a:r>
            <a:endParaRPr lang="en-US" sz="1100" dirty="0"/>
          </a:p>
        </p:txBody>
      </p:sp>
      <p:sp>
        <p:nvSpPr>
          <p:cNvPr id="38" name="Text 36"/>
          <p:cNvSpPr/>
          <p:nvPr/>
        </p:nvSpPr>
        <p:spPr>
          <a:xfrm>
            <a:off x="6876288" y="4919472"/>
            <a:ext cx="685800" cy="457200"/>
          </a:xfrm>
          <a:prstGeom prst="rect">
            <a:avLst/>
          </a:prstGeom>
          <a:noFill/>
          <a:ln/>
        </p:spPr>
        <p:txBody>
          <a:bodyPr wrap="square" lIns="0" tIns="0" rIns="0" bIns="0" rtlCol="0" anchor="ctr"/>
          <a:lstStyle/>
          <a:p>
            <a:pPr algn="r" indent="0" marL="0">
              <a:buNone/>
            </a:pPr>
            <a:r>
              <a:rPr lang="en-US" sz="950" dirty="0">
                <a:solidFill>
                  <a:srgbClr val="5D7186"/>
                </a:solidFill>
                <a:latin typeface="Calibri" pitchFamily="34" charset="0"/>
                <a:ea typeface="Calibri" pitchFamily="34" charset="-122"/>
                <a:cs typeface="Calibri" pitchFamily="34" charset="-120"/>
              </a:rPr>
              <a:t>L3/L4</a:t>
            </a:r>
            <a:endParaRPr lang="en-US" sz="950" dirty="0"/>
          </a:p>
        </p:txBody>
      </p:sp>
      <p:sp>
        <p:nvSpPr>
          <p:cNvPr id="39" name="Shape 37"/>
          <p:cNvSpPr/>
          <p:nvPr/>
        </p:nvSpPr>
        <p:spPr>
          <a:xfrm>
            <a:off x="566928" y="5468112"/>
            <a:ext cx="7132320" cy="457200"/>
          </a:xfrm>
          <a:prstGeom prst="roundRect">
            <a:avLst>
              <a:gd name="adj" fmla="val 18000"/>
            </a:avLst>
          </a:prstGeom>
          <a:solidFill>
            <a:srgbClr val="F5F7FA"/>
          </a:solidFill>
          <a:ln w="12700">
            <a:solidFill>
              <a:srgbClr val="DDE5EE"/>
            </a:solidFill>
            <a:prstDash val="solid"/>
          </a:ln>
        </p:spPr>
      </p:sp>
      <p:sp>
        <p:nvSpPr>
          <p:cNvPr id="40" name="Shape 38"/>
          <p:cNvSpPr/>
          <p:nvPr/>
        </p:nvSpPr>
        <p:spPr>
          <a:xfrm>
            <a:off x="749808" y="5623560"/>
            <a:ext cx="146304" cy="146304"/>
          </a:xfrm>
          <a:prstGeom prst="ellipse">
            <a:avLst/>
          </a:prstGeom>
          <a:solidFill>
            <a:srgbClr val="9C6D00"/>
          </a:solidFill>
          <a:ln w="12700">
            <a:solidFill>
              <a:srgbClr val="9C6D00"/>
            </a:solidFill>
            <a:prstDash val="solid"/>
          </a:ln>
        </p:spPr>
      </p:sp>
      <p:sp>
        <p:nvSpPr>
          <p:cNvPr id="41" name="Text 39"/>
          <p:cNvSpPr/>
          <p:nvPr/>
        </p:nvSpPr>
        <p:spPr>
          <a:xfrm>
            <a:off x="1024128" y="5468112"/>
            <a:ext cx="594360" cy="457200"/>
          </a:xfrm>
          <a:prstGeom prst="rect">
            <a:avLst/>
          </a:prstGeom>
          <a:noFill/>
          <a:ln/>
        </p:spPr>
        <p:txBody>
          <a:bodyPr wrap="square" lIns="0" tIns="0" rIns="0" bIns="0" rtlCol="0" anchor="ctr"/>
          <a:lstStyle/>
          <a:p>
            <a:pPr indent="0" marL="0">
              <a:buNone/>
            </a:pPr>
            <a:r>
              <a:rPr lang="en-US" sz="1050" b="1" dirty="0">
                <a:solidFill>
                  <a:srgbClr val="12202E"/>
                </a:solidFill>
                <a:latin typeface="Calibri" pitchFamily="34" charset="0"/>
                <a:ea typeface="Calibri" pitchFamily="34" charset="-122"/>
                <a:cs typeface="Calibri" pitchFamily="34" charset="-120"/>
              </a:rPr>
              <a:t>B-08</a:t>
            </a:r>
            <a:endParaRPr lang="en-US" sz="1050" dirty="0"/>
          </a:p>
        </p:txBody>
      </p:sp>
      <p:sp>
        <p:nvSpPr>
          <p:cNvPr id="42" name="Text 40"/>
          <p:cNvSpPr/>
          <p:nvPr/>
        </p:nvSpPr>
        <p:spPr>
          <a:xfrm>
            <a:off x="1664208" y="5468112"/>
            <a:ext cx="5303520" cy="457200"/>
          </a:xfrm>
          <a:prstGeom prst="rect">
            <a:avLst/>
          </a:prstGeom>
          <a:noFill/>
          <a:ln/>
        </p:spPr>
        <p:txBody>
          <a:bodyPr wrap="square" lIns="0" tIns="0" rIns="0" bIns="0" rtlCol="0" anchor="ctr"/>
          <a:lstStyle/>
          <a:p>
            <a:pPr indent="0" marL="0">
              <a:buNone/>
            </a:pPr>
            <a:r>
              <a:rPr lang="en-US" sz="1100" dirty="0">
                <a:solidFill>
                  <a:srgbClr val="12202E"/>
                </a:solidFill>
                <a:latin typeface="Calibri" pitchFamily="34" charset="0"/>
                <a:ea typeface="Calibri" pitchFamily="34" charset="-122"/>
                <a:cs typeface="Calibri" pitchFamily="34" charset="-120"/>
              </a:rPr>
              <a:t>That same rule was unreachable even after the fix</a:t>
            </a:r>
            <a:endParaRPr lang="en-US" sz="1100" dirty="0"/>
          </a:p>
        </p:txBody>
      </p:sp>
      <p:sp>
        <p:nvSpPr>
          <p:cNvPr id="43" name="Text 41"/>
          <p:cNvSpPr/>
          <p:nvPr/>
        </p:nvSpPr>
        <p:spPr>
          <a:xfrm>
            <a:off x="6876288" y="5468112"/>
            <a:ext cx="685800" cy="457200"/>
          </a:xfrm>
          <a:prstGeom prst="rect">
            <a:avLst/>
          </a:prstGeom>
          <a:noFill/>
          <a:ln/>
        </p:spPr>
        <p:txBody>
          <a:bodyPr wrap="square" lIns="0" tIns="0" rIns="0" bIns="0" rtlCol="0" anchor="ctr"/>
          <a:lstStyle/>
          <a:p>
            <a:pPr algn="r" indent="0" marL="0">
              <a:buNone/>
            </a:pPr>
            <a:r>
              <a:rPr lang="en-US" sz="950" dirty="0">
                <a:solidFill>
                  <a:srgbClr val="5D7186"/>
                </a:solidFill>
                <a:latin typeface="Calibri" pitchFamily="34" charset="0"/>
                <a:ea typeface="Calibri" pitchFamily="34" charset="-122"/>
                <a:cs typeface="Calibri" pitchFamily="34" charset="-120"/>
              </a:rPr>
              <a:t>L2</a:t>
            </a:r>
            <a:endParaRPr lang="en-US" sz="950" dirty="0"/>
          </a:p>
        </p:txBody>
      </p:sp>
      <p:sp>
        <p:nvSpPr>
          <p:cNvPr id="44" name="Shape 42"/>
          <p:cNvSpPr/>
          <p:nvPr/>
        </p:nvSpPr>
        <p:spPr>
          <a:xfrm>
            <a:off x="8293608" y="1627632"/>
            <a:ext cx="3337560" cy="786384"/>
          </a:xfrm>
          <a:prstGeom prst="roundRect">
            <a:avLst>
              <a:gd name="adj" fmla="val 10465"/>
            </a:avLst>
          </a:prstGeom>
          <a:solidFill>
            <a:srgbClr val="F5F7FA"/>
          </a:solidFill>
          <a:ln w="12700">
            <a:solidFill>
              <a:srgbClr val="DDE5EE"/>
            </a:solidFill>
            <a:prstDash val="solid"/>
          </a:ln>
        </p:spPr>
      </p:sp>
      <p:sp>
        <p:nvSpPr>
          <p:cNvPr id="45" name="Text 43"/>
          <p:cNvSpPr/>
          <p:nvPr/>
        </p:nvSpPr>
        <p:spPr>
          <a:xfrm>
            <a:off x="8531352" y="1627632"/>
            <a:ext cx="1371600" cy="786384"/>
          </a:xfrm>
          <a:prstGeom prst="rect">
            <a:avLst/>
          </a:prstGeom>
          <a:noFill/>
          <a:ln/>
        </p:spPr>
        <p:txBody>
          <a:bodyPr wrap="square" lIns="0" tIns="0" rIns="0" bIns="0" rtlCol="0" anchor="ctr"/>
          <a:lstStyle/>
          <a:p>
            <a:pPr indent="0" marL="0">
              <a:buNone/>
            </a:pPr>
            <a:r>
              <a:rPr lang="en-US" sz="2200" b="1" dirty="0">
                <a:solidFill>
                  <a:srgbClr val="12202E"/>
                </a:solidFill>
                <a:latin typeface="Cambria" pitchFamily="34" charset="0"/>
                <a:ea typeface="Cambria" pitchFamily="34" charset="-122"/>
                <a:cs typeface="Cambria" pitchFamily="34" charset="-120"/>
              </a:rPr>
              <a:t>19/19</a:t>
            </a:r>
            <a:endParaRPr lang="en-US" sz="2200" dirty="0"/>
          </a:p>
        </p:txBody>
      </p:sp>
      <p:sp>
        <p:nvSpPr>
          <p:cNvPr id="46" name="Text 44"/>
          <p:cNvSpPr/>
          <p:nvPr/>
        </p:nvSpPr>
        <p:spPr>
          <a:xfrm>
            <a:off x="9893808" y="1627632"/>
            <a:ext cx="1691640" cy="786384"/>
          </a:xfrm>
          <a:prstGeom prst="rect">
            <a:avLst/>
          </a:prstGeom>
          <a:noFill/>
          <a:ln/>
        </p:spPr>
        <p:txBody>
          <a:bodyPr wrap="square" lIns="0" tIns="0" rIns="0" bIns="0" rtlCol="0" anchor="ctr"/>
          <a:lstStyle/>
          <a:p>
            <a:pPr indent="0" marL="0">
              <a:buNone/>
            </a:pPr>
            <a:r>
              <a:rPr lang="en-US" sz="1050" dirty="0">
                <a:solidFill>
                  <a:srgbClr val="5D7186"/>
                </a:solidFill>
                <a:latin typeface="Calibri" pitchFamily="34" charset="0"/>
                <a:ea typeface="Calibri" pitchFamily="34" charset="-122"/>
                <a:cs typeface="Calibri" pitchFamily="34" charset="-120"/>
              </a:rPr>
              <a:t>decision-logic tests</a:t>
            </a:r>
            <a:endParaRPr lang="en-US" sz="1050" dirty="0"/>
          </a:p>
        </p:txBody>
      </p:sp>
      <p:sp>
        <p:nvSpPr>
          <p:cNvPr id="47" name="Shape 45"/>
          <p:cNvSpPr/>
          <p:nvPr/>
        </p:nvSpPr>
        <p:spPr>
          <a:xfrm>
            <a:off x="8293608" y="2542032"/>
            <a:ext cx="3337560" cy="786384"/>
          </a:xfrm>
          <a:prstGeom prst="roundRect">
            <a:avLst>
              <a:gd name="adj" fmla="val 10465"/>
            </a:avLst>
          </a:prstGeom>
          <a:solidFill>
            <a:srgbClr val="F5F7FA"/>
          </a:solidFill>
          <a:ln w="12700">
            <a:solidFill>
              <a:srgbClr val="DDE5EE"/>
            </a:solidFill>
            <a:prstDash val="solid"/>
          </a:ln>
        </p:spPr>
      </p:sp>
      <p:sp>
        <p:nvSpPr>
          <p:cNvPr id="48" name="Text 46"/>
          <p:cNvSpPr/>
          <p:nvPr/>
        </p:nvSpPr>
        <p:spPr>
          <a:xfrm>
            <a:off x="8531352" y="2542032"/>
            <a:ext cx="1371600" cy="786384"/>
          </a:xfrm>
          <a:prstGeom prst="rect">
            <a:avLst/>
          </a:prstGeom>
          <a:noFill/>
          <a:ln/>
        </p:spPr>
        <p:txBody>
          <a:bodyPr wrap="square" lIns="0" tIns="0" rIns="0" bIns="0" rtlCol="0" anchor="ctr"/>
          <a:lstStyle/>
          <a:p>
            <a:pPr indent="0" marL="0">
              <a:buNone/>
            </a:pPr>
            <a:r>
              <a:rPr lang="en-US" sz="2200" b="1" dirty="0">
                <a:solidFill>
                  <a:srgbClr val="12202E"/>
                </a:solidFill>
                <a:latin typeface="Cambria" pitchFamily="34" charset="0"/>
                <a:ea typeface="Cambria" pitchFamily="34" charset="-122"/>
                <a:cs typeface="Cambria" pitchFamily="34" charset="-120"/>
              </a:rPr>
              <a:t>20/20</a:t>
            </a:r>
            <a:endParaRPr lang="en-US" sz="2200" dirty="0"/>
          </a:p>
        </p:txBody>
      </p:sp>
      <p:sp>
        <p:nvSpPr>
          <p:cNvPr id="49" name="Text 47"/>
          <p:cNvSpPr/>
          <p:nvPr/>
        </p:nvSpPr>
        <p:spPr>
          <a:xfrm>
            <a:off x="9893808" y="2542032"/>
            <a:ext cx="1691640" cy="786384"/>
          </a:xfrm>
          <a:prstGeom prst="rect">
            <a:avLst/>
          </a:prstGeom>
          <a:noFill/>
          <a:ln/>
        </p:spPr>
        <p:txBody>
          <a:bodyPr wrap="square" lIns="0" tIns="0" rIns="0" bIns="0" rtlCol="0" anchor="ctr"/>
          <a:lstStyle/>
          <a:p>
            <a:pPr indent="0" marL="0">
              <a:buNone/>
            </a:pPr>
            <a:r>
              <a:rPr lang="en-US" sz="1050" dirty="0">
                <a:solidFill>
                  <a:srgbClr val="5D7186"/>
                </a:solidFill>
                <a:latin typeface="Calibri" pitchFamily="34" charset="0"/>
                <a:ea typeface="Calibri" pitchFamily="34" charset="-122"/>
                <a:cs typeface="Calibri" pitchFamily="34" charset="-120"/>
              </a:rPr>
              <a:t>FHIR conformance checks</a:t>
            </a:r>
            <a:endParaRPr lang="en-US" sz="1050" dirty="0"/>
          </a:p>
        </p:txBody>
      </p:sp>
      <p:sp>
        <p:nvSpPr>
          <p:cNvPr id="50" name="Shape 48"/>
          <p:cNvSpPr/>
          <p:nvPr/>
        </p:nvSpPr>
        <p:spPr>
          <a:xfrm>
            <a:off x="8293608" y="3456432"/>
            <a:ext cx="3337560" cy="786384"/>
          </a:xfrm>
          <a:prstGeom prst="roundRect">
            <a:avLst>
              <a:gd name="adj" fmla="val 10465"/>
            </a:avLst>
          </a:prstGeom>
          <a:solidFill>
            <a:srgbClr val="F5F7FA"/>
          </a:solidFill>
          <a:ln w="12700">
            <a:solidFill>
              <a:srgbClr val="DDE5EE"/>
            </a:solidFill>
            <a:prstDash val="solid"/>
          </a:ln>
        </p:spPr>
      </p:sp>
      <p:sp>
        <p:nvSpPr>
          <p:cNvPr id="51" name="Text 49"/>
          <p:cNvSpPr/>
          <p:nvPr/>
        </p:nvSpPr>
        <p:spPr>
          <a:xfrm>
            <a:off x="8531352" y="3456432"/>
            <a:ext cx="1371600" cy="786384"/>
          </a:xfrm>
          <a:prstGeom prst="rect">
            <a:avLst/>
          </a:prstGeom>
          <a:noFill/>
          <a:ln/>
        </p:spPr>
        <p:txBody>
          <a:bodyPr wrap="square" lIns="0" tIns="0" rIns="0" bIns="0" rtlCol="0" anchor="ctr"/>
          <a:lstStyle/>
          <a:p>
            <a:pPr indent="0" marL="0">
              <a:buNone/>
            </a:pPr>
            <a:r>
              <a:rPr lang="en-US" sz="2200" b="1" dirty="0">
                <a:solidFill>
                  <a:srgbClr val="12202E"/>
                </a:solidFill>
                <a:latin typeface="Cambria" pitchFamily="34" charset="0"/>
                <a:ea typeface="Cambria" pitchFamily="34" charset="-122"/>
                <a:cs typeface="Cambria" pitchFamily="34" charset="-120"/>
              </a:rPr>
              <a:t>6</a:t>
            </a:r>
            <a:endParaRPr lang="en-US" sz="2200" dirty="0"/>
          </a:p>
        </p:txBody>
      </p:sp>
      <p:sp>
        <p:nvSpPr>
          <p:cNvPr id="52" name="Text 50"/>
          <p:cNvSpPr/>
          <p:nvPr/>
        </p:nvSpPr>
        <p:spPr>
          <a:xfrm>
            <a:off x="9893808" y="3456432"/>
            <a:ext cx="1691640" cy="786384"/>
          </a:xfrm>
          <a:prstGeom prst="rect">
            <a:avLst/>
          </a:prstGeom>
          <a:noFill/>
          <a:ln/>
        </p:spPr>
        <p:txBody>
          <a:bodyPr wrap="square" lIns="0" tIns="0" rIns="0" bIns="0" rtlCol="0" anchor="ctr"/>
          <a:lstStyle/>
          <a:p>
            <a:pPr indent="0" marL="0">
              <a:buNone/>
            </a:pPr>
            <a:r>
              <a:rPr lang="en-US" sz="1050" dirty="0">
                <a:solidFill>
                  <a:srgbClr val="5D7186"/>
                </a:solidFill>
                <a:latin typeface="Calibri" pitchFamily="34" charset="0"/>
                <a:ea typeface="Calibri" pitchFamily="34" charset="-122"/>
                <a:cs typeface="Calibri" pitchFamily="34" charset="-120"/>
              </a:rPr>
              <a:t>hazards ranked</a:t>
            </a:r>
            <a:endParaRPr lang="en-US" sz="1050" dirty="0"/>
          </a:p>
        </p:txBody>
      </p:sp>
      <p:sp>
        <p:nvSpPr>
          <p:cNvPr id="53" name="Shape 51"/>
          <p:cNvSpPr/>
          <p:nvPr/>
        </p:nvSpPr>
        <p:spPr>
          <a:xfrm>
            <a:off x="8293608" y="4370832"/>
            <a:ext cx="3337560" cy="1664208"/>
          </a:xfrm>
          <a:prstGeom prst="roundRect">
            <a:avLst>
              <a:gd name="adj" fmla="val 4945"/>
            </a:avLst>
          </a:prstGeom>
          <a:solidFill>
            <a:srgbClr val="12202E"/>
          </a:solidFill>
          <a:ln w="12700">
            <a:solidFill>
              <a:srgbClr val="12202E"/>
            </a:solidFill>
            <a:prstDash val="solid"/>
          </a:ln>
        </p:spPr>
      </p:sp>
      <p:sp>
        <p:nvSpPr>
          <p:cNvPr id="54" name="Text 52"/>
          <p:cNvSpPr/>
          <p:nvPr/>
        </p:nvSpPr>
        <p:spPr>
          <a:xfrm>
            <a:off x="8531352" y="4535424"/>
            <a:ext cx="2834640" cy="25603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Residual risk</a:t>
            </a:r>
            <a:endParaRPr lang="en-US" sz="1200" dirty="0"/>
          </a:p>
        </p:txBody>
      </p:sp>
      <p:sp>
        <p:nvSpPr>
          <p:cNvPr id="55" name="Text 53"/>
          <p:cNvSpPr/>
          <p:nvPr/>
        </p:nvSpPr>
        <p:spPr>
          <a:xfrm>
            <a:off x="8531352" y="4846320"/>
            <a:ext cx="2834640" cy="1097280"/>
          </a:xfrm>
          <a:prstGeom prst="rect">
            <a:avLst/>
          </a:prstGeom>
          <a:noFill/>
          <a:ln/>
        </p:spPr>
        <p:txBody>
          <a:bodyPr wrap="square" lIns="0" tIns="0" rIns="0" bIns="0" rtlCol="0" anchor="t"/>
          <a:lstStyle/>
          <a:p>
            <a:pPr indent="0" marL="0">
              <a:lnSpc>
                <a:spcPts val="1400"/>
              </a:lnSpc>
              <a:buNone/>
            </a:pPr>
            <a:r>
              <a:rPr lang="en-US" sz="1050" dirty="0">
                <a:solidFill>
                  <a:srgbClr val="C9D6E4"/>
                </a:solidFill>
                <a:latin typeface="Calibri" pitchFamily="34" charset="0"/>
                <a:ea typeface="Calibri" pitchFamily="34" charset="-122"/>
                <a:cs typeface="Calibri" pitchFamily="34" charset="-120"/>
              </a:rPr>
              <a:t>We never tested the one thing our whole approach rests on: whether laypeople assign the images correctly. That is monitored after deployment — GREEN cases that still present to a physician within 72 h.</a:t>
            </a:r>
            <a:endParaRPr lang="en-US" sz="1050" dirty="0"/>
          </a:p>
        </p:txBody>
      </p:sp>
      <p:sp>
        <p:nvSpPr>
          <p:cNvPr id="56" name="Text 54"/>
          <p:cNvSpPr/>
          <p:nvPr/>
        </p:nvSpPr>
        <p:spPr>
          <a:xfrm>
            <a:off x="566928" y="6089904"/>
            <a:ext cx="7132320" cy="274320"/>
          </a:xfrm>
          <a:prstGeom prst="rect">
            <a:avLst/>
          </a:prstGeom>
          <a:noFill/>
          <a:ln/>
        </p:spPr>
        <p:txBody>
          <a:bodyPr wrap="square" lIns="0" tIns="0" rIns="0" bIns="0" rtlCol="0" anchor="ctr"/>
          <a:lstStyle/>
          <a:p>
            <a:pPr indent="0" marL="0">
              <a:buNone/>
            </a:pPr>
            <a:r>
              <a:rPr lang="en-US" sz="1100" i="1" dirty="0">
                <a:solidFill>
                  <a:srgbClr val="5D7186"/>
                </a:solidFill>
                <a:latin typeface="Calibri" pitchFamily="34" charset="0"/>
                <a:ea typeface="Calibri" pitchFamily="34" charset="-122"/>
                <a:cs typeface="Calibri" pitchFamily="34" charset="-120"/>
              </a:rPr>
              <a:t>Risk-based testing per Day 5: identify hazards → rank by risk → test critical paths first → document residual risk.</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indent="0" marL="0">
              <a:buNone/>
            </a:pPr>
            <a:r>
              <a:rPr lang="en-US" sz="1050" b="1" spc="160" kern="0" dirty="0">
                <a:solidFill>
                  <a:srgbClr val="5D7186"/>
                </a:solidFill>
                <a:latin typeface="Calibri" pitchFamily="34" charset="0"/>
                <a:ea typeface="Calibri" pitchFamily="34" charset="-122"/>
                <a:cs typeface="Calibri" pitchFamily="34" charset="-120"/>
              </a:rPr>
              <a:t>IMPLEMENTATION, MONITORING &amp; EVALUATION</a:t>
            </a:r>
            <a:endParaRPr lang="en-US" sz="1050" dirty="0"/>
          </a:p>
        </p:txBody>
      </p:sp>
      <p:sp>
        <p:nvSpPr>
          <p:cNvPr id="3" name="Text 1"/>
          <p:cNvSpPr/>
          <p:nvPr/>
        </p:nvSpPr>
        <p:spPr>
          <a:xfrm>
            <a:off x="566928" y="640080"/>
            <a:ext cx="10607040" cy="658368"/>
          </a:xfrm>
          <a:prstGeom prst="rect">
            <a:avLst/>
          </a:prstGeom>
          <a:noFill/>
          <a:ln/>
        </p:spPr>
        <p:txBody>
          <a:bodyPr wrap="square" lIns="0" tIns="0" rIns="0" bIns="0" rtlCol="0" anchor="t"/>
          <a:lstStyle/>
          <a:p>
            <a:pPr indent="0" marL="0">
              <a:buNone/>
            </a:pPr>
            <a:r>
              <a:rPr lang="en-US" sz="2700" b="1" dirty="0">
                <a:solidFill>
                  <a:srgbClr val="12202E"/>
                </a:solidFill>
                <a:latin typeface="Cambria" pitchFamily="34" charset="0"/>
                <a:ea typeface="Cambria" pitchFamily="34" charset="-122"/>
                <a:cs typeface="Cambria" pitchFamily="34" charset="-120"/>
              </a:rPr>
              <a:t>How it reaches users, how it is maintained, how we would know it works</a:t>
            </a:r>
            <a:endParaRPr lang="en-US" sz="2700" dirty="0"/>
          </a:p>
        </p:txBody>
      </p:sp>
      <p:sp>
        <p:nvSpPr>
          <p:cNvPr id="4" name="Shape 2"/>
          <p:cNvSpPr/>
          <p:nvPr/>
        </p:nvSpPr>
        <p:spPr>
          <a:xfrm>
            <a:off x="566928" y="1609344"/>
            <a:ext cx="1956816" cy="969264"/>
          </a:xfrm>
          <a:prstGeom prst="roundRect">
            <a:avLst>
              <a:gd name="adj" fmla="val 8491"/>
            </a:avLst>
          </a:prstGeom>
          <a:solidFill>
            <a:srgbClr val="FFFFFF"/>
          </a:solidFill>
          <a:ln w="12700">
            <a:solidFill>
              <a:srgbClr val="DDE5EE"/>
            </a:solidFill>
            <a:prstDash val="solid"/>
          </a:ln>
        </p:spPr>
      </p:sp>
      <p:sp>
        <p:nvSpPr>
          <p:cNvPr id="5" name="Text 3"/>
          <p:cNvSpPr/>
          <p:nvPr/>
        </p:nvSpPr>
        <p:spPr>
          <a:xfrm>
            <a:off x="731520" y="1682496"/>
            <a:ext cx="1691640" cy="256032"/>
          </a:xfrm>
          <a:prstGeom prst="rect">
            <a:avLst/>
          </a:prstGeom>
          <a:noFill/>
          <a:ln/>
        </p:spPr>
        <p:txBody>
          <a:bodyPr wrap="square" lIns="0" tIns="0" rIns="0" bIns="0" rtlCol="0" anchor="ctr"/>
          <a:lstStyle/>
          <a:p>
            <a:pPr indent="0" marL="0">
              <a:buNone/>
            </a:pPr>
            <a:r>
              <a:rPr lang="en-US" sz="1150" b="1" dirty="0">
                <a:solidFill>
                  <a:srgbClr val="12202E"/>
                </a:solidFill>
                <a:latin typeface="Calibri" pitchFamily="34" charset="0"/>
                <a:ea typeface="Calibri" pitchFamily="34" charset="-122"/>
                <a:cs typeface="Calibri" pitchFamily="34" charset="-120"/>
              </a:rPr>
              <a:t>0 · Preparation</a:t>
            </a:r>
            <a:endParaRPr lang="en-US" sz="1150" dirty="0"/>
          </a:p>
        </p:txBody>
      </p:sp>
      <p:sp>
        <p:nvSpPr>
          <p:cNvPr id="6" name="Text 4"/>
          <p:cNvSpPr/>
          <p:nvPr/>
        </p:nvSpPr>
        <p:spPr>
          <a:xfrm>
            <a:off x="731520" y="1920240"/>
            <a:ext cx="1691640" cy="384048"/>
          </a:xfrm>
          <a:prstGeom prst="rect">
            <a:avLst/>
          </a:prstGeom>
          <a:noFill/>
          <a:ln/>
        </p:spPr>
        <p:txBody>
          <a:bodyPr wrap="square" lIns="0" tIns="0" rIns="0" bIns="0" rtlCol="0" anchor="ctr"/>
          <a:lstStyle/>
          <a:p>
            <a:pPr indent="0" marL="0">
              <a:lnSpc>
                <a:spcPts val="1200"/>
              </a:lnSpc>
              <a:buNone/>
            </a:pPr>
            <a:r>
              <a:rPr lang="en-US" sz="950" dirty="0">
                <a:solidFill>
                  <a:srgbClr val="5D7186"/>
                </a:solidFill>
                <a:latin typeface="Calibri" pitchFamily="34" charset="0"/>
                <a:ea typeface="Calibri" pitchFamily="34" charset="-122"/>
                <a:cs typeface="Calibri" pitchFamily="34" charset="-120"/>
              </a:rPr>
              <a:t>clinical sign-off</a:t>
            </a:r>
            <a:endParaRPr lang="en-US" sz="950" dirty="0"/>
          </a:p>
        </p:txBody>
      </p:sp>
      <p:sp>
        <p:nvSpPr>
          <p:cNvPr id="7" name="Text 5"/>
          <p:cNvSpPr/>
          <p:nvPr/>
        </p:nvSpPr>
        <p:spPr>
          <a:xfrm>
            <a:off x="731520" y="2304288"/>
            <a:ext cx="1691640" cy="201168"/>
          </a:xfrm>
          <a:prstGeom prst="rect">
            <a:avLst/>
          </a:prstGeom>
          <a:noFill/>
          <a:ln/>
        </p:spPr>
        <p:txBody>
          <a:bodyPr wrap="square" lIns="0" tIns="0" rIns="0" bIns="0" rtlCol="0" anchor="ctr"/>
          <a:lstStyle/>
          <a:p>
            <a:pPr indent="0" marL="0">
              <a:buNone/>
            </a:pPr>
            <a:r>
              <a:rPr lang="en-US" sz="900" i="1" dirty="0">
                <a:solidFill>
                  <a:srgbClr val="5D7186"/>
                </a:solidFill>
                <a:latin typeface="Calibri" pitchFamily="34" charset="0"/>
                <a:ea typeface="Calibri" pitchFamily="34" charset="-122"/>
                <a:cs typeface="Calibri" pitchFamily="34" charset="-120"/>
              </a:rPr>
              <a:t>4 wk</a:t>
            </a:r>
            <a:endParaRPr lang="en-US" sz="900" dirty="0"/>
          </a:p>
        </p:txBody>
      </p:sp>
      <p:sp>
        <p:nvSpPr>
          <p:cNvPr id="8" name="Shape 6"/>
          <p:cNvSpPr/>
          <p:nvPr/>
        </p:nvSpPr>
        <p:spPr>
          <a:xfrm>
            <a:off x="2843784" y="1609344"/>
            <a:ext cx="1956816" cy="969264"/>
          </a:xfrm>
          <a:prstGeom prst="roundRect">
            <a:avLst>
              <a:gd name="adj" fmla="val 8491"/>
            </a:avLst>
          </a:prstGeom>
          <a:solidFill>
            <a:srgbClr val="12202E"/>
          </a:solidFill>
          <a:ln w="12700">
            <a:solidFill>
              <a:srgbClr val="12202E"/>
            </a:solidFill>
            <a:prstDash val="solid"/>
          </a:ln>
        </p:spPr>
      </p:sp>
      <p:sp>
        <p:nvSpPr>
          <p:cNvPr id="9" name="Text 7"/>
          <p:cNvSpPr/>
          <p:nvPr/>
        </p:nvSpPr>
        <p:spPr>
          <a:xfrm>
            <a:off x="3008376" y="1682496"/>
            <a:ext cx="1691640" cy="256032"/>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1 · Pilot</a:t>
            </a:r>
            <a:endParaRPr lang="en-US" sz="1150" dirty="0"/>
          </a:p>
        </p:txBody>
      </p:sp>
      <p:sp>
        <p:nvSpPr>
          <p:cNvPr id="10" name="Text 8"/>
          <p:cNvSpPr/>
          <p:nvPr/>
        </p:nvSpPr>
        <p:spPr>
          <a:xfrm>
            <a:off x="3008376" y="1920240"/>
            <a:ext cx="1691640" cy="384048"/>
          </a:xfrm>
          <a:prstGeom prst="rect">
            <a:avLst/>
          </a:prstGeom>
          <a:noFill/>
          <a:ln/>
        </p:spPr>
        <p:txBody>
          <a:bodyPr wrap="square" lIns="0" tIns="0" rIns="0" bIns="0" rtlCol="0" anchor="ctr"/>
          <a:lstStyle/>
          <a:p>
            <a:pPr indent="0" marL="0">
              <a:lnSpc>
                <a:spcPts val="1200"/>
              </a:lnSpc>
              <a:buNone/>
            </a:pPr>
            <a:r>
              <a:rPr lang="en-US" sz="950" dirty="0">
                <a:solidFill>
                  <a:srgbClr val="C9D6E4"/>
                </a:solidFill>
                <a:latin typeface="Calibri" pitchFamily="34" charset="0"/>
                <a:ea typeface="Calibri" pitchFamily="34" charset="-122"/>
                <a:cs typeface="Calibri" pitchFamily="34" charset="-120"/>
              </a:rPr>
              <a:t>1 hospital, 30 patients</a:t>
            </a:r>
            <a:endParaRPr lang="en-US" sz="950" dirty="0"/>
          </a:p>
        </p:txBody>
      </p:sp>
      <p:sp>
        <p:nvSpPr>
          <p:cNvPr id="11" name="Text 9"/>
          <p:cNvSpPr/>
          <p:nvPr/>
        </p:nvSpPr>
        <p:spPr>
          <a:xfrm>
            <a:off x="3008376" y="2304288"/>
            <a:ext cx="1691640" cy="201168"/>
          </a:xfrm>
          <a:prstGeom prst="rect">
            <a:avLst/>
          </a:prstGeom>
          <a:noFill/>
          <a:ln/>
        </p:spPr>
        <p:txBody>
          <a:bodyPr wrap="square" lIns="0" tIns="0" rIns="0" bIns="0" rtlCol="0" anchor="ctr"/>
          <a:lstStyle/>
          <a:p>
            <a:pPr indent="0" marL="0">
              <a:buNone/>
            </a:pPr>
            <a:r>
              <a:rPr lang="en-US" sz="900" i="1" dirty="0">
                <a:solidFill>
                  <a:srgbClr val="8FA3B8"/>
                </a:solidFill>
                <a:latin typeface="Calibri" pitchFamily="34" charset="0"/>
                <a:ea typeface="Calibri" pitchFamily="34" charset="-122"/>
                <a:cs typeface="Calibri" pitchFamily="34" charset="-120"/>
              </a:rPr>
              <a:t>3 mo</a:t>
            </a:r>
            <a:endParaRPr lang="en-US" sz="900" dirty="0"/>
          </a:p>
        </p:txBody>
      </p:sp>
      <p:sp>
        <p:nvSpPr>
          <p:cNvPr id="12" name="Shape 10"/>
          <p:cNvSpPr/>
          <p:nvPr/>
        </p:nvSpPr>
        <p:spPr>
          <a:xfrm>
            <a:off x="5120640" y="1609344"/>
            <a:ext cx="1956816" cy="969264"/>
          </a:xfrm>
          <a:prstGeom prst="roundRect">
            <a:avLst>
              <a:gd name="adj" fmla="val 8491"/>
            </a:avLst>
          </a:prstGeom>
          <a:solidFill>
            <a:srgbClr val="FFFFFF"/>
          </a:solidFill>
          <a:ln w="12700">
            <a:solidFill>
              <a:srgbClr val="DDE5EE"/>
            </a:solidFill>
            <a:prstDash val="solid"/>
          </a:ln>
        </p:spPr>
      </p:sp>
      <p:sp>
        <p:nvSpPr>
          <p:cNvPr id="13" name="Text 11"/>
          <p:cNvSpPr/>
          <p:nvPr/>
        </p:nvSpPr>
        <p:spPr>
          <a:xfrm>
            <a:off x="5285232" y="1682496"/>
            <a:ext cx="1691640" cy="256032"/>
          </a:xfrm>
          <a:prstGeom prst="rect">
            <a:avLst/>
          </a:prstGeom>
          <a:noFill/>
          <a:ln/>
        </p:spPr>
        <p:txBody>
          <a:bodyPr wrap="square" lIns="0" tIns="0" rIns="0" bIns="0" rtlCol="0" anchor="ctr"/>
          <a:lstStyle/>
          <a:p>
            <a:pPr indent="0" marL="0">
              <a:buNone/>
            </a:pPr>
            <a:r>
              <a:rPr lang="en-US" sz="1150" b="1" dirty="0">
                <a:solidFill>
                  <a:srgbClr val="12202E"/>
                </a:solidFill>
                <a:latin typeface="Calibri" pitchFamily="34" charset="0"/>
                <a:ea typeface="Calibri" pitchFamily="34" charset="-122"/>
                <a:cs typeface="Calibri" pitchFamily="34" charset="-120"/>
              </a:rPr>
              <a:t>2 · Evaluation</a:t>
            </a:r>
            <a:endParaRPr lang="en-US" sz="1150" dirty="0"/>
          </a:p>
        </p:txBody>
      </p:sp>
      <p:sp>
        <p:nvSpPr>
          <p:cNvPr id="14" name="Text 12"/>
          <p:cNvSpPr/>
          <p:nvPr/>
        </p:nvSpPr>
        <p:spPr>
          <a:xfrm>
            <a:off x="5285232" y="1920240"/>
            <a:ext cx="1691640" cy="384048"/>
          </a:xfrm>
          <a:prstGeom prst="rect">
            <a:avLst/>
          </a:prstGeom>
          <a:noFill/>
          <a:ln/>
        </p:spPr>
        <p:txBody>
          <a:bodyPr wrap="square" lIns="0" tIns="0" rIns="0" bIns="0" rtlCol="0" anchor="ctr"/>
          <a:lstStyle/>
          <a:p>
            <a:pPr indent="0" marL="0">
              <a:lnSpc>
                <a:spcPts val="1200"/>
              </a:lnSpc>
              <a:buNone/>
            </a:pPr>
            <a:r>
              <a:rPr lang="en-US" sz="950" dirty="0">
                <a:solidFill>
                  <a:srgbClr val="5D7186"/>
                </a:solidFill>
                <a:latin typeface="Calibri" pitchFamily="34" charset="0"/>
                <a:ea typeface="Calibri" pitchFamily="34" charset="-122"/>
                <a:cs typeface="Calibri" pitchFamily="34" charset="-120"/>
              </a:rPr>
              <a:t>rule revision, UX rework</a:t>
            </a:r>
            <a:endParaRPr lang="en-US" sz="950" dirty="0"/>
          </a:p>
        </p:txBody>
      </p:sp>
      <p:sp>
        <p:nvSpPr>
          <p:cNvPr id="15" name="Text 13"/>
          <p:cNvSpPr/>
          <p:nvPr/>
        </p:nvSpPr>
        <p:spPr>
          <a:xfrm>
            <a:off x="5285232" y="2304288"/>
            <a:ext cx="1691640" cy="201168"/>
          </a:xfrm>
          <a:prstGeom prst="rect">
            <a:avLst/>
          </a:prstGeom>
          <a:noFill/>
          <a:ln/>
        </p:spPr>
        <p:txBody>
          <a:bodyPr wrap="square" lIns="0" tIns="0" rIns="0" bIns="0" rtlCol="0" anchor="ctr"/>
          <a:lstStyle/>
          <a:p>
            <a:pPr indent="0" marL="0">
              <a:buNone/>
            </a:pPr>
            <a:r>
              <a:rPr lang="en-US" sz="900" i="1" dirty="0">
                <a:solidFill>
                  <a:srgbClr val="5D7186"/>
                </a:solidFill>
                <a:latin typeface="Calibri" pitchFamily="34" charset="0"/>
                <a:ea typeface="Calibri" pitchFamily="34" charset="-122"/>
                <a:cs typeface="Calibri" pitchFamily="34" charset="-120"/>
              </a:rPr>
              <a:t>2 mo</a:t>
            </a:r>
            <a:endParaRPr lang="en-US" sz="900" dirty="0"/>
          </a:p>
        </p:txBody>
      </p:sp>
      <p:sp>
        <p:nvSpPr>
          <p:cNvPr id="16" name="Shape 14"/>
          <p:cNvSpPr/>
          <p:nvPr/>
        </p:nvSpPr>
        <p:spPr>
          <a:xfrm>
            <a:off x="7397496" y="1609344"/>
            <a:ext cx="1956816" cy="969264"/>
          </a:xfrm>
          <a:prstGeom prst="roundRect">
            <a:avLst>
              <a:gd name="adj" fmla="val 8491"/>
            </a:avLst>
          </a:prstGeom>
          <a:solidFill>
            <a:srgbClr val="FFFFFF"/>
          </a:solidFill>
          <a:ln w="12700">
            <a:solidFill>
              <a:srgbClr val="DDE5EE"/>
            </a:solidFill>
            <a:prstDash val="solid"/>
          </a:ln>
        </p:spPr>
      </p:sp>
      <p:sp>
        <p:nvSpPr>
          <p:cNvPr id="17" name="Text 15"/>
          <p:cNvSpPr/>
          <p:nvPr/>
        </p:nvSpPr>
        <p:spPr>
          <a:xfrm>
            <a:off x="7562088" y="1682496"/>
            <a:ext cx="1691640" cy="256032"/>
          </a:xfrm>
          <a:prstGeom prst="rect">
            <a:avLst/>
          </a:prstGeom>
          <a:noFill/>
          <a:ln/>
        </p:spPr>
        <p:txBody>
          <a:bodyPr wrap="square" lIns="0" tIns="0" rIns="0" bIns="0" rtlCol="0" anchor="ctr"/>
          <a:lstStyle/>
          <a:p>
            <a:pPr indent="0" marL="0">
              <a:buNone/>
            </a:pPr>
            <a:r>
              <a:rPr lang="en-US" sz="1150" b="1" dirty="0">
                <a:solidFill>
                  <a:srgbClr val="12202E"/>
                </a:solidFill>
                <a:latin typeface="Calibri" pitchFamily="34" charset="0"/>
                <a:ea typeface="Calibri" pitchFamily="34" charset="-122"/>
                <a:cs typeface="Calibri" pitchFamily="34" charset="-120"/>
              </a:rPr>
              <a:t>3 · Expansion</a:t>
            </a:r>
            <a:endParaRPr lang="en-US" sz="1150" dirty="0"/>
          </a:p>
        </p:txBody>
      </p:sp>
      <p:sp>
        <p:nvSpPr>
          <p:cNvPr id="18" name="Text 16"/>
          <p:cNvSpPr/>
          <p:nvPr/>
        </p:nvSpPr>
        <p:spPr>
          <a:xfrm>
            <a:off x="7562088" y="1920240"/>
            <a:ext cx="1691640" cy="384048"/>
          </a:xfrm>
          <a:prstGeom prst="rect">
            <a:avLst/>
          </a:prstGeom>
          <a:noFill/>
          <a:ln/>
        </p:spPr>
        <p:txBody>
          <a:bodyPr wrap="square" lIns="0" tIns="0" rIns="0" bIns="0" rtlCol="0" anchor="ctr"/>
          <a:lstStyle/>
          <a:p>
            <a:pPr indent="0" marL="0">
              <a:lnSpc>
                <a:spcPts val="1200"/>
              </a:lnSpc>
              <a:buNone/>
            </a:pPr>
            <a:r>
              <a:rPr lang="en-US" sz="950" dirty="0">
                <a:solidFill>
                  <a:srgbClr val="5D7186"/>
                </a:solidFill>
                <a:latin typeface="Calibri" pitchFamily="34" charset="0"/>
                <a:ea typeface="Calibri" pitchFamily="34" charset="-122"/>
                <a:cs typeface="Calibri" pitchFamily="34" charset="-120"/>
              </a:rPr>
              <a:t>HIS integration live</a:t>
            </a:r>
            <a:endParaRPr lang="en-US" sz="950" dirty="0"/>
          </a:p>
        </p:txBody>
      </p:sp>
      <p:sp>
        <p:nvSpPr>
          <p:cNvPr id="19" name="Text 17"/>
          <p:cNvSpPr/>
          <p:nvPr/>
        </p:nvSpPr>
        <p:spPr>
          <a:xfrm>
            <a:off x="7562088" y="2304288"/>
            <a:ext cx="1691640" cy="201168"/>
          </a:xfrm>
          <a:prstGeom prst="rect">
            <a:avLst/>
          </a:prstGeom>
          <a:noFill/>
          <a:ln/>
        </p:spPr>
        <p:txBody>
          <a:bodyPr wrap="square" lIns="0" tIns="0" rIns="0" bIns="0" rtlCol="0" anchor="ctr"/>
          <a:lstStyle/>
          <a:p>
            <a:pPr indent="0" marL="0">
              <a:buNone/>
            </a:pPr>
            <a:r>
              <a:rPr lang="en-US" sz="900" i="1" dirty="0">
                <a:solidFill>
                  <a:srgbClr val="5D7186"/>
                </a:solidFill>
                <a:latin typeface="Calibri" pitchFamily="34" charset="0"/>
                <a:ea typeface="Calibri" pitchFamily="34" charset="-122"/>
                <a:cs typeface="Calibri" pitchFamily="34" charset="-120"/>
              </a:rPr>
              <a:t>6 mo</a:t>
            </a:r>
            <a:endParaRPr lang="en-US" sz="900" dirty="0"/>
          </a:p>
        </p:txBody>
      </p:sp>
      <p:sp>
        <p:nvSpPr>
          <p:cNvPr id="20" name="Shape 18"/>
          <p:cNvSpPr/>
          <p:nvPr/>
        </p:nvSpPr>
        <p:spPr>
          <a:xfrm>
            <a:off x="9674352" y="1609344"/>
            <a:ext cx="1956816" cy="969264"/>
          </a:xfrm>
          <a:prstGeom prst="roundRect">
            <a:avLst>
              <a:gd name="adj" fmla="val 8491"/>
            </a:avLst>
          </a:prstGeom>
          <a:solidFill>
            <a:srgbClr val="FFFFFF"/>
          </a:solidFill>
          <a:ln w="12700">
            <a:solidFill>
              <a:srgbClr val="DDE5EE"/>
            </a:solidFill>
            <a:prstDash val="solid"/>
          </a:ln>
        </p:spPr>
      </p:sp>
      <p:sp>
        <p:nvSpPr>
          <p:cNvPr id="21" name="Text 19"/>
          <p:cNvSpPr/>
          <p:nvPr/>
        </p:nvSpPr>
        <p:spPr>
          <a:xfrm>
            <a:off x="9838944" y="1682496"/>
            <a:ext cx="1691640" cy="256032"/>
          </a:xfrm>
          <a:prstGeom prst="rect">
            <a:avLst/>
          </a:prstGeom>
          <a:noFill/>
          <a:ln/>
        </p:spPr>
        <p:txBody>
          <a:bodyPr wrap="square" lIns="0" tIns="0" rIns="0" bIns="0" rtlCol="0" anchor="ctr"/>
          <a:lstStyle/>
          <a:p>
            <a:pPr indent="0" marL="0">
              <a:buNone/>
            </a:pPr>
            <a:r>
              <a:rPr lang="en-US" sz="1150" b="1" dirty="0">
                <a:solidFill>
                  <a:srgbClr val="12202E"/>
                </a:solidFill>
                <a:latin typeface="Calibri" pitchFamily="34" charset="0"/>
                <a:ea typeface="Calibri" pitchFamily="34" charset="-122"/>
                <a:cs typeface="Calibri" pitchFamily="34" charset="-120"/>
              </a:rPr>
              <a:t>4 · Scaling</a:t>
            </a:r>
            <a:endParaRPr lang="en-US" sz="1150" dirty="0"/>
          </a:p>
        </p:txBody>
      </p:sp>
      <p:sp>
        <p:nvSpPr>
          <p:cNvPr id="22" name="Text 20"/>
          <p:cNvSpPr/>
          <p:nvPr/>
        </p:nvSpPr>
        <p:spPr>
          <a:xfrm>
            <a:off x="9838944" y="1920240"/>
            <a:ext cx="1691640" cy="384048"/>
          </a:xfrm>
          <a:prstGeom prst="rect">
            <a:avLst/>
          </a:prstGeom>
          <a:noFill/>
          <a:ln/>
        </p:spPr>
        <p:txBody>
          <a:bodyPr wrap="square" lIns="0" tIns="0" rIns="0" bIns="0" rtlCol="0" anchor="ctr"/>
          <a:lstStyle/>
          <a:p>
            <a:pPr indent="0" marL="0">
              <a:lnSpc>
                <a:spcPts val="1200"/>
              </a:lnSpc>
              <a:buNone/>
            </a:pPr>
            <a:r>
              <a:rPr lang="en-US" sz="950" dirty="0">
                <a:solidFill>
                  <a:srgbClr val="5D7186"/>
                </a:solidFill>
                <a:latin typeface="Calibri" pitchFamily="34" charset="0"/>
                <a:ea typeface="Calibri" pitchFamily="34" charset="-122"/>
                <a:cs typeface="Calibri" pitchFamily="34" charset="-120"/>
              </a:rPr>
              <a:t>further sites, languages</a:t>
            </a:r>
            <a:endParaRPr lang="en-US" sz="950" dirty="0"/>
          </a:p>
        </p:txBody>
      </p:sp>
      <p:sp>
        <p:nvSpPr>
          <p:cNvPr id="23" name="Text 21"/>
          <p:cNvSpPr/>
          <p:nvPr/>
        </p:nvSpPr>
        <p:spPr>
          <a:xfrm>
            <a:off x="9838944" y="2304288"/>
            <a:ext cx="1691640" cy="201168"/>
          </a:xfrm>
          <a:prstGeom prst="rect">
            <a:avLst/>
          </a:prstGeom>
          <a:noFill/>
          <a:ln/>
        </p:spPr>
        <p:txBody>
          <a:bodyPr wrap="square" lIns="0" tIns="0" rIns="0" bIns="0" rtlCol="0" anchor="ctr"/>
          <a:lstStyle/>
          <a:p>
            <a:pPr indent="0" marL="0">
              <a:buNone/>
            </a:pPr>
            <a:r>
              <a:rPr lang="en-US" sz="900" i="1" dirty="0">
                <a:solidFill>
                  <a:srgbClr val="5D7186"/>
                </a:solidFill>
                <a:latin typeface="Calibri" pitchFamily="34" charset="0"/>
                <a:ea typeface="Calibri" pitchFamily="34" charset="-122"/>
                <a:cs typeface="Calibri" pitchFamily="34" charset="-120"/>
              </a:rPr>
              <a:t>open</a:t>
            </a:r>
            <a:endParaRPr lang="en-US" sz="900" dirty="0"/>
          </a:p>
        </p:txBody>
      </p:sp>
      <p:sp>
        <p:nvSpPr>
          <p:cNvPr id="24" name="Text 22"/>
          <p:cNvSpPr/>
          <p:nvPr/>
        </p:nvSpPr>
        <p:spPr>
          <a:xfrm>
            <a:off x="566928" y="2798064"/>
            <a:ext cx="3474720" cy="274320"/>
          </a:xfrm>
          <a:prstGeom prst="rect">
            <a:avLst/>
          </a:prstGeom>
          <a:noFill/>
          <a:ln/>
        </p:spPr>
        <p:txBody>
          <a:bodyPr wrap="square" lIns="0" tIns="0" rIns="0" bIns="0" rtlCol="0" anchor="ctr"/>
          <a:lstStyle/>
          <a:p>
            <a:pPr indent="0" marL="0">
              <a:buNone/>
            </a:pPr>
            <a:r>
              <a:rPr lang="en-US" sz="1300" b="1" dirty="0">
                <a:solidFill>
                  <a:srgbClr val="12202E"/>
                </a:solidFill>
                <a:latin typeface="Calibri" pitchFamily="34" charset="0"/>
                <a:ea typeface="Calibri" pitchFamily="34" charset="-122"/>
                <a:cs typeface="Calibri" pitchFamily="34" charset="-120"/>
              </a:rPr>
              <a:t>Implementation</a:t>
            </a:r>
            <a:endParaRPr lang="en-US" sz="1300" dirty="0"/>
          </a:p>
        </p:txBody>
      </p:sp>
      <p:sp>
        <p:nvSpPr>
          <p:cNvPr id="25" name="Shape 23"/>
          <p:cNvSpPr/>
          <p:nvPr/>
        </p:nvSpPr>
        <p:spPr>
          <a:xfrm>
            <a:off x="566928" y="3145536"/>
            <a:ext cx="3538728" cy="658368"/>
          </a:xfrm>
          <a:prstGeom prst="roundRect">
            <a:avLst>
              <a:gd name="adj" fmla="val 12500"/>
            </a:avLst>
          </a:prstGeom>
          <a:solidFill>
            <a:srgbClr val="F5F7FA"/>
          </a:solidFill>
          <a:ln w="12700">
            <a:solidFill>
              <a:srgbClr val="DDE5EE"/>
            </a:solidFill>
            <a:prstDash val="solid"/>
          </a:ln>
        </p:spPr>
      </p:sp>
      <p:sp>
        <p:nvSpPr>
          <p:cNvPr id="26" name="Text 24"/>
          <p:cNvSpPr/>
          <p:nvPr/>
        </p:nvSpPr>
        <p:spPr>
          <a:xfrm>
            <a:off x="768096" y="3191256"/>
            <a:ext cx="3108960" cy="219456"/>
          </a:xfrm>
          <a:prstGeom prst="rect">
            <a:avLst/>
          </a:prstGeom>
          <a:noFill/>
          <a:ln/>
        </p:spPr>
        <p:txBody>
          <a:bodyPr wrap="square" lIns="0" tIns="0" rIns="0" bIns="0" rtlCol="0" anchor="ctr"/>
          <a:lstStyle/>
          <a:p>
            <a:pPr indent="0" marL="0">
              <a:buNone/>
            </a:pPr>
            <a:r>
              <a:rPr lang="en-US" sz="1100" b="1" dirty="0">
                <a:solidFill>
                  <a:srgbClr val="12202E"/>
                </a:solidFill>
                <a:latin typeface="Calibri" pitchFamily="34" charset="0"/>
                <a:ea typeface="Calibri" pitchFamily="34" charset="-122"/>
                <a:cs typeface="Calibri" pitchFamily="34" charset="-120"/>
              </a:rPr>
              <a:t>Provision</a:t>
            </a:r>
            <a:endParaRPr lang="en-US" sz="1100" dirty="0"/>
          </a:p>
        </p:txBody>
      </p:sp>
      <p:sp>
        <p:nvSpPr>
          <p:cNvPr id="27" name="Text 25"/>
          <p:cNvSpPr/>
          <p:nvPr/>
        </p:nvSpPr>
        <p:spPr>
          <a:xfrm>
            <a:off x="768096" y="3401568"/>
            <a:ext cx="3108960" cy="384048"/>
          </a:xfrm>
          <a:prstGeom prst="rect">
            <a:avLst/>
          </a:prstGeom>
          <a:noFill/>
          <a:ln/>
        </p:spPr>
        <p:txBody>
          <a:bodyPr wrap="square" lIns="0" tIns="0" rIns="0" bIns="0" rtlCol="0" anchor="ctr"/>
          <a:lstStyle/>
          <a:p>
            <a:pPr indent="0" marL="0">
              <a:lnSpc>
                <a:spcPts val="1200"/>
              </a:lnSpc>
              <a:buNone/>
            </a:pPr>
            <a:r>
              <a:rPr lang="en-US" sz="950" dirty="0">
                <a:solidFill>
                  <a:srgbClr val="5D7186"/>
                </a:solidFill>
                <a:latin typeface="Calibri" pitchFamily="34" charset="0"/>
                <a:ea typeface="Calibri" pitchFamily="34" charset="-122"/>
                <a:cs typeface="Calibri" pitchFamily="34" charset="-120"/>
              </a:rPr>
              <a:t>QR code on the discharge sheet — no app store, no account, no install</a:t>
            </a:r>
            <a:endParaRPr lang="en-US" sz="950" dirty="0"/>
          </a:p>
        </p:txBody>
      </p:sp>
      <p:sp>
        <p:nvSpPr>
          <p:cNvPr id="28" name="Shape 26"/>
          <p:cNvSpPr/>
          <p:nvPr/>
        </p:nvSpPr>
        <p:spPr>
          <a:xfrm>
            <a:off x="566928" y="3895344"/>
            <a:ext cx="3538728" cy="658368"/>
          </a:xfrm>
          <a:prstGeom prst="roundRect">
            <a:avLst>
              <a:gd name="adj" fmla="val 12500"/>
            </a:avLst>
          </a:prstGeom>
          <a:solidFill>
            <a:srgbClr val="F5F7FA"/>
          </a:solidFill>
          <a:ln w="12700">
            <a:solidFill>
              <a:srgbClr val="DDE5EE"/>
            </a:solidFill>
            <a:prstDash val="solid"/>
          </a:ln>
        </p:spPr>
      </p:sp>
      <p:sp>
        <p:nvSpPr>
          <p:cNvPr id="29" name="Text 27"/>
          <p:cNvSpPr/>
          <p:nvPr/>
        </p:nvSpPr>
        <p:spPr>
          <a:xfrm>
            <a:off x="768096" y="3941064"/>
            <a:ext cx="3108960" cy="219456"/>
          </a:xfrm>
          <a:prstGeom prst="rect">
            <a:avLst/>
          </a:prstGeom>
          <a:noFill/>
          <a:ln/>
        </p:spPr>
        <p:txBody>
          <a:bodyPr wrap="square" lIns="0" tIns="0" rIns="0" bIns="0" rtlCol="0" anchor="ctr"/>
          <a:lstStyle/>
          <a:p>
            <a:pPr indent="0" marL="0">
              <a:buNone/>
            </a:pPr>
            <a:r>
              <a:rPr lang="en-US" sz="1100" b="1" dirty="0">
                <a:solidFill>
                  <a:srgbClr val="12202E"/>
                </a:solidFill>
                <a:latin typeface="Calibri" pitchFamily="34" charset="0"/>
                <a:ea typeface="Calibri" pitchFamily="34" charset="-122"/>
                <a:cs typeface="Calibri" pitchFamily="34" charset="-120"/>
              </a:rPr>
              <a:t>Training</a:t>
            </a:r>
            <a:endParaRPr lang="en-US" sz="1100" dirty="0"/>
          </a:p>
        </p:txBody>
      </p:sp>
      <p:sp>
        <p:nvSpPr>
          <p:cNvPr id="30" name="Text 28"/>
          <p:cNvSpPr/>
          <p:nvPr/>
        </p:nvSpPr>
        <p:spPr>
          <a:xfrm>
            <a:off x="768096" y="4151376"/>
            <a:ext cx="3108960" cy="384048"/>
          </a:xfrm>
          <a:prstGeom prst="rect">
            <a:avLst/>
          </a:prstGeom>
          <a:noFill/>
          <a:ln/>
        </p:spPr>
        <p:txBody>
          <a:bodyPr wrap="square" lIns="0" tIns="0" rIns="0" bIns="0" rtlCol="0" anchor="ctr"/>
          <a:lstStyle/>
          <a:p>
            <a:pPr indent="0" marL="0">
              <a:lnSpc>
                <a:spcPts val="1200"/>
              </a:lnSpc>
              <a:buNone/>
            </a:pPr>
            <a:r>
              <a:rPr lang="en-US" sz="950" dirty="0">
                <a:solidFill>
                  <a:srgbClr val="5D7186"/>
                </a:solidFill>
                <a:latin typeface="Calibri" pitchFamily="34" charset="0"/>
                <a:ea typeface="Calibri" pitchFamily="34" charset="-122"/>
                <a:cs typeface="Calibri" pitchFamily="34" charset="-120"/>
              </a:rPr>
              <a:t>Patient 5 min at discharge (first check done together) · practice 30 min · onboarding module for new staff</a:t>
            </a:r>
            <a:endParaRPr lang="en-US" sz="950" dirty="0"/>
          </a:p>
        </p:txBody>
      </p:sp>
      <p:sp>
        <p:nvSpPr>
          <p:cNvPr id="31" name="Shape 29"/>
          <p:cNvSpPr/>
          <p:nvPr/>
        </p:nvSpPr>
        <p:spPr>
          <a:xfrm>
            <a:off x="566928" y="4645152"/>
            <a:ext cx="3538728" cy="658368"/>
          </a:xfrm>
          <a:prstGeom prst="roundRect">
            <a:avLst>
              <a:gd name="adj" fmla="val 12500"/>
            </a:avLst>
          </a:prstGeom>
          <a:solidFill>
            <a:srgbClr val="F5F7FA"/>
          </a:solidFill>
          <a:ln w="12700">
            <a:solidFill>
              <a:srgbClr val="DDE5EE"/>
            </a:solidFill>
            <a:prstDash val="solid"/>
          </a:ln>
        </p:spPr>
      </p:sp>
      <p:sp>
        <p:nvSpPr>
          <p:cNvPr id="32" name="Text 30"/>
          <p:cNvSpPr/>
          <p:nvPr/>
        </p:nvSpPr>
        <p:spPr>
          <a:xfrm>
            <a:off x="768096" y="4690872"/>
            <a:ext cx="3108960" cy="219456"/>
          </a:xfrm>
          <a:prstGeom prst="rect">
            <a:avLst/>
          </a:prstGeom>
          <a:noFill/>
          <a:ln/>
        </p:spPr>
        <p:txBody>
          <a:bodyPr wrap="square" lIns="0" tIns="0" rIns="0" bIns="0" rtlCol="0" anchor="ctr"/>
          <a:lstStyle/>
          <a:p>
            <a:pPr indent="0" marL="0">
              <a:buNone/>
            </a:pPr>
            <a:r>
              <a:rPr lang="en-US" sz="1100" b="1" dirty="0">
                <a:solidFill>
                  <a:srgbClr val="12202E"/>
                </a:solidFill>
                <a:latin typeface="Calibri" pitchFamily="34" charset="0"/>
                <a:ea typeface="Calibri" pitchFamily="34" charset="-122"/>
                <a:cs typeface="Calibri" pitchFamily="34" charset="-120"/>
              </a:rPr>
              <a:t>Maintenance</a:t>
            </a:r>
            <a:endParaRPr lang="en-US" sz="1100" dirty="0"/>
          </a:p>
        </p:txBody>
      </p:sp>
      <p:sp>
        <p:nvSpPr>
          <p:cNvPr id="33" name="Text 31"/>
          <p:cNvSpPr/>
          <p:nvPr/>
        </p:nvSpPr>
        <p:spPr>
          <a:xfrm>
            <a:off x="768096" y="4901184"/>
            <a:ext cx="3108960" cy="384048"/>
          </a:xfrm>
          <a:prstGeom prst="rect">
            <a:avLst/>
          </a:prstGeom>
          <a:noFill/>
          <a:ln/>
        </p:spPr>
        <p:txBody>
          <a:bodyPr wrap="square" lIns="0" tIns="0" rIns="0" bIns="0" rtlCol="0" anchor="ctr"/>
          <a:lstStyle/>
          <a:p>
            <a:pPr indent="0" marL="0">
              <a:lnSpc>
                <a:spcPts val="1200"/>
              </a:lnSpc>
              <a:buNone/>
            </a:pPr>
            <a:r>
              <a:rPr lang="en-US" sz="950" dirty="0">
                <a:solidFill>
                  <a:srgbClr val="5D7186"/>
                </a:solidFill>
                <a:latin typeface="Calibri" pitchFamily="34" charset="0"/>
                <a:ea typeface="Calibri" pitchFamily="34" charset="-122"/>
                <a:cs typeface="Calibri" pitchFamily="34" charset="-120"/>
              </a:rPr>
              <a:t>Clinical department owns the content; four-eyes sign-off; guideline update to live in ≤ 4 weeks</a:t>
            </a:r>
            <a:endParaRPr lang="en-US" sz="950" dirty="0"/>
          </a:p>
        </p:txBody>
      </p:sp>
      <p:sp>
        <p:nvSpPr>
          <p:cNvPr id="34" name="Shape 32"/>
          <p:cNvSpPr/>
          <p:nvPr/>
        </p:nvSpPr>
        <p:spPr>
          <a:xfrm>
            <a:off x="566928" y="5394960"/>
            <a:ext cx="3538728" cy="658368"/>
          </a:xfrm>
          <a:prstGeom prst="roundRect">
            <a:avLst>
              <a:gd name="adj" fmla="val 12500"/>
            </a:avLst>
          </a:prstGeom>
          <a:solidFill>
            <a:srgbClr val="F5F7FA"/>
          </a:solidFill>
          <a:ln w="12700">
            <a:solidFill>
              <a:srgbClr val="DDE5EE"/>
            </a:solidFill>
            <a:prstDash val="solid"/>
          </a:ln>
        </p:spPr>
      </p:sp>
      <p:sp>
        <p:nvSpPr>
          <p:cNvPr id="35" name="Text 33"/>
          <p:cNvSpPr/>
          <p:nvPr/>
        </p:nvSpPr>
        <p:spPr>
          <a:xfrm>
            <a:off x="768096" y="5440680"/>
            <a:ext cx="3108960" cy="219456"/>
          </a:xfrm>
          <a:prstGeom prst="rect">
            <a:avLst/>
          </a:prstGeom>
          <a:noFill/>
          <a:ln/>
        </p:spPr>
        <p:txBody>
          <a:bodyPr wrap="square" lIns="0" tIns="0" rIns="0" bIns="0" rtlCol="0" anchor="ctr"/>
          <a:lstStyle/>
          <a:p>
            <a:pPr indent="0" marL="0">
              <a:buNone/>
            </a:pPr>
            <a:r>
              <a:rPr lang="en-US" sz="1100" b="1" dirty="0">
                <a:solidFill>
                  <a:srgbClr val="12202E"/>
                </a:solidFill>
                <a:latin typeface="Calibri" pitchFamily="34" charset="0"/>
                <a:ea typeface="Calibri" pitchFamily="34" charset="-122"/>
                <a:cs typeface="Calibri" pitchFamily="34" charset="-120"/>
              </a:rPr>
              <a:t>Integration</a:t>
            </a:r>
            <a:endParaRPr lang="en-US" sz="1100" dirty="0"/>
          </a:p>
        </p:txBody>
      </p:sp>
      <p:sp>
        <p:nvSpPr>
          <p:cNvPr id="36" name="Text 34"/>
          <p:cNvSpPr/>
          <p:nvPr/>
        </p:nvSpPr>
        <p:spPr>
          <a:xfrm>
            <a:off x="768096" y="5650992"/>
            <a:ext cx="3108960" cy="384048"/>
          </a:xfrm>
          <a:prstGeom prst="rect">
            <a:avLst/>
          </a:prstGeom>
          <a:noFill/>
          <a:ln/>
        </p:spPr>
        <p:txBody>
          <a:bodyPr wrap="square" lIns="0" tIns="0" rIns="0" bIns="0" rtlCol="0" anchor="ctr"/>
          <a:lstStyle/>
          <a:p>
            <a:pPr indent="0" marL="0">
              <a:lnSpc>
                <a:spcPts val="1200"/>
              </a:lnSpc>
              <a:buNone/>
            </a:pPr>
            <a:r>
              <a:rPr lang="en-US" sz="950" dirty="0">
                <a:solidFill>
                  <a:srgbClr val="5D7186"/>
                </a:solidFill>
                <a:latin typeface="Calibri" pitchFamily="34" charset="0"/>
                <a:ea typeface="Calibri" pitchFamily="34" charset="-122"/>
                <a:cs typeface="Calibri" pitchFamily="34" charset="-120"/>
              </a:rPr>
              <a:t>FHIR R4 to the HIS / Swiss EPD; endpoint is L3 configuration</a:t>
            </a:r>
            <a:endParaRPr lang="en-US" sz="950" dirty="0"/>
          </a:p>
        </p:txBody>
      </p:sp>
      <p:sp>
        <p:nvSpPr>
          <p:cNvPr id="37" name="Text 35"/>
          <p:cNvSpPr/>
          <p:nvPr/>
        </p:nvSpPr>
        <p:spPr>
          <a:xfrm>
            <a:off x="4279392" y="2798064"/>
            <a:ext cx="3474720" cy="274320"/>
          </a:xfrm>
          <a:prstGeom prst="rect">
            <a:avLst/>
          </a:prstGeom>
          <a:noFill/>
          <a:ln/>
        </p:spPr>
        <p:txBody>
          <a:bodyPr wrap="square" lIns="0" tIns="0" rIns="0" bIns="0" rtlCol="0" anchor="ctr"/>
          <a:lstStyle/>
          <a:p>
            <a:pPr indent="0" marL="0">
              <a:buNone/>
            </a:pPr>
            <a:r>
              <a:rPr lang="en-US" sz="1300" b="1" dirty="0">
                <a:solidFill>
                  <a:srgbClr val="5D7186"/>
                </a:solidFill>
                <a:latin typeface="Calibri" pitchFamily="34" charset="0"/>
                <a:ea typeface="Calibri" pitchFamily="34" charset="-122"/>
                <a:cs typeface="Calibri" pitchFamily="34" charset="-120"/>
              </a:rPr>
              <a:t>Monitoring</a:t>
            </a:r>
            <a:endParaRPr lang="en-US" sz="1300" dirty="0"/>
          </a:p>
        </p:txBody>
      </p:sp>
      <p:sp>
        <p:nvSpPr>
          <p:cNvPr id="38" name="Shape 36"/>
          <p:cNvSpPr/>
          <p:nvPr/>
        </p:nvSpPr>
        <p:spPr>
          <a:xfrm>
            <a:off x="4279392" y="3145536"/>
            <a:ext cx="3538728" cy="658368"/>
          </a:xfrm>
          <a:prstGeom prst="roundRect">
            <a:avLst>
              <a:gd name="adj" fmla="val 12500"/>
            </a:avLst>
          </a:prstGeom>
          <a:solidFill>
            <a:srgbClr val="FFFFFF"/>
          </a:solidFill>
          <a:ln w="12700">
            <a:solidFill>
              <a:srgbClr val="DDE5EE"/>
            </a:solidFill>
            <a:prstDash val="solid"/>
          </a:ln>
        </p:spPr>
      </p:sp>
      <p:sp>
        <p:nvSpPr>
          <p:cNvPr id="39" name="Text 37"/>
          <p:cNvSpPr/>
          <p:nvPr/>
        </p:nvSpPr>
        <p:spPr>
          <a:xfrm>
            <a:off x="4480560" y="3191256"/>
            <a:ext cx="3108960" cy="219456"/>
          </a:xfrm>
          <a:prstGeom prst="rect">
            <a:avLst/>
          </a:prstGeom>
          <a:noFill/>
          <a:ln/>
        </p:spPr>
        <p:txBody>
          <a:bodyPr wrap="square" lIns="0" tIns="0" rIns="0" bIns="0" rtlCol="0" anchor="ctr"/>
          <a:lstStyle/>
          <a:p>
            <a:pPr indent="0" marL="0">
              <a:buNone/>
            </a:pPr>
            <a:r>
              <a:rPr lang="en-US" sz="1100" b="1" dirty="0">
                <a:solidFill>
                  <a:srgbClr val="12202E"/>
                </a:solidFill>
                <a:latin typeface="Calibri" pitchFamily="34" charset="0"/>
                <a:ea typeface="Calibri" pitchFamily="34" charset="-122"/>
                <a:cs typeface="Calibri" pitchFamily="34" charset="-120"/>
              </a:rPr>
              <a:t>Functionality</a:t>
            </a:r>
            <a:endParaRPr lang="en-US" sz="1100" dirty="0"/>
          </a:p>
        </p:txBody>
      </p:sp>
      <p:sp>
        <p:nvSpPr>
          <p:cNvPr id="40" name="Text 38"/>
          <p:cNvSpPr/>
          <p:nvPr/>
        </p:nvSpPr>
        <p:spPr>
          <a:xfrm>
            <a:off x="4480560" y="3401568"/>
            <a:ext cx="3108960" cy="384048"/>
          </a:xfrm>
          <a:prstGeom prst="rect">
            <a:avLst/>
          </a:prstGeom>
          <a:noFill/>
          <a:ln/>
        </p:spPr>
        <p:txBody>
          <a:bodyPr wrap="square" lIns="0" tIns="0" rIns="0" bIns="0" rtlCol="0" anchor="ctr"/>
          <a:lstStyle/>
          <a:p>
            <a:pPr indent="0" marL="0">
              <a:lnSpc>
                <a:spcPts val="1200"/>
              </a:lnSpc>
              <a:buNone/>
            </a:pPr>
            <a:r>
              <a:rPr lang="en-US" sz="950" dirty="0">
                <a:solidFill>
                  <a:srgbClr val="5D7186"/>
                </a:solidFill>
                <a:latin typeface="Calibri" pitchFamily="34" charset="0"/>
                <a:ea typeface="Calibri" pitchFamily="34" charset="-122"/>
                <a:cs typeface="Calibri" pitchFamily="34" charset="-120"/>
              </a:rPr>
              <a:t>&gt; 99 % error-free runs</a:t>
            </a:r>
            <a:endParaRPr lang="en-US" sz="950" dirty="0"/>
          </a:p>
        </p:txBody>
      </p:sp>
      <p:sp>
        <p:nvSpPr>
          <p:cNvPr id="41" name="Shape 39"/>
          <p:cNvSpPr/>
          <p:nvPr/>
        </p:nvSpPr>
        <p:spPr>
          <a:xfrm>
            <a:off x="4279392" y="3895344"/>
            <a:ext cx="3538728" cy="658368"/>
          </a:xfrm>
          <a:prstGeom prst="roundRect">
            <a:avLst>
              <a:gd name="adj" fmla="val 12500"/>
            </a:avLst>
          </a:prstGeom>
          <a:solidFill>
            <a:srgbClr val="FFFFFF"/>
          </a:solidFill>
          <a:ln w="12700">
            <a:solidFill>
              <a:srgbClr val="DDE5EE"/>
            </a:solidFill>
            <a:prstDash val="solid"/>
          </a:ln>
        </p:spPr>
      </p:sp>
      <p:sp>
        <p:nvSpPr>
          <p:cNvPr id="42" name="Text 40"/>
          <p:cNvSpPr/>
          <p:nvPr/>
        </p:nvSpPr>
        <p:spPr>
          <a:xfrm>
            <a:off x="4480560" y="3941064"/>
            <a:ext cx="3108960" cy="219456"/>
          </a:xfrm>
          <a:prstGeom prst="rect">
            <a:avLst/>
          </a:prstGeom>
          <a:noFill/>
          <a:ln/>
        </p:spPr>
        <p:txBody>
          <a:bodyPr wrap="square" lIns="0" tIns="0" rIns="0" bIns="0" rtlCol="0" anchor="ctr"/>
          <a:lstStyle/>
          <a:p>
            <a:pPr indent="0" marL="0">
              <a:buNone/>
            </a:pPr>
            <a:r>
              <a:rPr lang="en-US" sz="1100" b="1" dirty="0">
                <a:solidFill>
                  <a:srgbClr val="12202E"/>
                </a:solidFill>
                <a:latin typeface="Calibri" pitchFamily="34" charset="0"/>
                <a:ea typeface="Calibri" pitchFamily="34" charset="-122"/>
                <a:cs typeface="Calibri" pitchFamily="34" charset="-120"/>
              </a:rPr>
              <a:t>Stability</a:t>
            </a:r>
            <a:endParaRPr lang="en-US" sz="1100" dirty="0"/>
          </a:p>
        </p:txBody>
      </p:sp>
      <p:sp>
        <p:nvSpPr>
          <p:cNvPr id="43" name="Text 41"/>
          <p:cNvSpPr/>
          <p:nvPr/>
        </p:nvSpPr>
        <p:spPr>
          <a:xfrm>
            <a:off x="4480560" y="4151376"/>
            <a:ext cx="3108960" cy="384048"/>
          </a:xfrm>
          <a:prstGeom prst="rect">
            <a:avLst/>
          </a:prstGeom>
          <a:noFill/>
          <a:ln/>
        </p:spPr>
        <p:txBody>
          <a:bodyPr wrap="square" lIns="0" tIns="0" rIns="0" bIns="0" rtlCol="0" anchor="ctr"/>
          <a:lstStyle/>
          <a:p>
            <a:pPr indent="0" marL="0">
              <a:lnSpc>
                <a:spcPts val="1200"/>
              </a:lnSpc>
              <a:buNone/>
            </a:pPr>
            <a:r>
              <a:rPr lang="en-US" sz="950" dirty="0">
                <a:solidFill>
                  <a:srgbClr val="5D7186"/>
                </a:solidFill>
                <a:latin typeface="Calibri" pitchFamily="34" charset="0"/>
                <a:ea typeface="Calibri" pitchFamily="34" charset="-122"/>
                <a:cs typeface="Calibri" pitchFamily="34" charset="-120"/>
              </a:rPr>
              <a:t>zero data loss on network drop</a:t>
            </a:r>
            <a:endParaRPr lang="en-US" sz="950" dirty="0"/>
          </a:p>
        </p:txBody>
      </p:sp>
      <p:sp>
        <p:nvSpPr>
          <p:cNvPr id="44" name="Shape 42"/>
          <p:cNvSpPr/>
          <p:nvPr/>
        </p:nvSpPr>
        <p:spPr>
          <a:xfrm>
            <a:off x="4279392" y="4645152"/>
            <a:ext cx="3538728" cy="658368"/>
          </a:xfrm>
          <a:prstGeom prst="roundRect">
            <a:avLst>
              <a:gd name="adj" fmla="val 12500"/>
            </a:avLst>
          </a:prstGeom>
          <a:solidFill>
            <a:srgbClr val="FFFFFF"/>
          </a:solidFill>
          <a:ln w="12700">
            <a:solidFill>
              <a:srgbClr val="DDE5EE"/>
            </a:solidFill>
            <a:prstDash val="solid"/>
          </a:ln>
        </p:spPr>
      </p:sp>
      <p:sp>
        <p:nvSpPr>
          <p:cNvPr id="45" name="Text 43"/>
          <p:cNvSpPr/>
          <p:nvPr/>
        </p:nvSpPr>
        <p:spPr>
          <a:xfrm>
            <a:off x="4480560" y="4690872"/>
            <a:ext cx="3108960" cy="219456"/>
          </a:xfrm>
          <a:prstGeom prst="rect">
            <a:avLst/>
          </a:prstGeom>
          <a:noFill/>
          <a:ln/>
        </p:spPr>
        <p:txBody>
          <a:bodyPr wrap="square" lIns="0" tIns="0" rIns="0" bIns="0" rtlCol="0" anchor="ctr"/>
          <a:lstStyle/>
          <a:p>
            <a:pPr indent="0" marL="0">
              <a:buNone/>
            </a:pPr>
            <a:r>
              <a:rPr lang="en-US" sz="1100" b="1" dirty="0">
                <a:solidFill>
                  <a:srgbClr val="12202E"/>
                </a:solidFill>
                <a:latin typeface="Calibri" pitchFamily="34" charset="0"/>
                <a:ea typeface="Calibri" pitchFamily="34" charset="-122"/>
                <a:cs typeface="Calibri" pitchFamily="34" charset="-120"/>
              </a:rPr>
              <a:t>Fidelity</a:t>
            </a:r>
            <a:endParaRPr lang="en-US" sz="1100" dirty="0"/>
          </a:p>
        </p:txBody>
      </p:sp>
      <p:sp>
        <p:nvSpPr>
          <p:cNvPr id="46" name="Text 44"/>
          <p:cNvSpPr/>
          <p:nvPr/>
        </p:nvSpPr>
        <p:spPr>
          <a:xfrm>
            <a:off x="4480560" y="4901184"/>
            <a:ext cx="3108960" cy="384048"/>
          </a:xfrm>
          <a:prstGeom prst="rect">
            <a:avLst/>
          </a:prstGeom>
          <a:noFill/>
          <a:ln/>
        </p:spPr>
        <p:txBody>
          <a:bodyPr wrap="square" lIns="0" tIns="0" rIns="0" bIns="0" rtlCol="0" anchor="ctr"/>
          <a:lstStyle/>
          <a:p>
            <a:pPr indent="0" marL="0">
              <a:lnSpc>
                <a:spcPts val="1200"/>
              </a:lnSpc>
              <a:buNone/>
            </a:pPr>
            <a:r>
              <a:rPr lang="en-US" sz="950" dirty="0">
                <a:solidFill>
                  <a:srgbClr val="5D7186"/>
                </a:solidFill>
                <a:latin typeface="Calibri" pitchFamily="34" charset="0"/>
                <a:ea typeface="Calibri" pitchFamily="34" charset="-122"/>
                <a:cs typeface="Calibri" pitchFamily="34" charset="-120"/>
              </a:rPr>
              <a:t>&gt; 70 % of days checked</a:t>
            </a:r>
            <a:endParaRPr lang="en-US" sz="950" dirty="0"/>
          </a:p>
        </p:txBody>
      </p:sp>
      <p:sp>
        <p:nvSpPr>
          <p:cNvPr id="47" name="Shape 45"/>
          <p:cNvSpPr/>
          <p:nvPr/>
        </p:nvSpPr>
        <p:spPr>
          <a:xfrm>
            <a:off x="4279392" y="5394960"/>
            <a:ext cx="3538728" cy="658368"/>
          </a:xfrm>
          <a:prstGeom prst="roundRect">
            <a:avLst>
              <a:gd name="adj" fmla="val 12500"/>
            </a:avLst>
          </a:prstGeom>
          <a:solidFill>
            <a:srgbClr val="FFFFFF"/>
          </a:solidFill>
          <a:ln w="12700">
            <a:solidFill>
              <a:srgbClr val="DDE5EE"/>
            </a:solidFill>
            <a:prstDash val="solid"/>
          </a:ln>
        </p:spPr>
      </p:sp>
      <p:sp>
        <p:nvSpPr>
          <p:cNvPr id="48" name="Text 46"/>
          <p:cNvSpPr/>
          <p:nvPr/>
        </p:nvSpPr>
        <p:spPr>
          <a:xfrm>
            <a:off x="4480560" y="5440680"/>
            <a:ext cx="3108960" cy="219456"/>
          </a:xfrm>
          <a:prstGeom prst="rect">
            <a:avLst/>
          </a:prstGeom>
          <a:noFill/>
          <a:ln/>
        </p:spPr>
        <p:txBody>
          <a:bodyPr wrap="square" lIns="0" tIns="0" rIns="0" bIns="0" rtlCol="0" anchor="ctr"/>
          <a:lstStyle/>
          <a:p>
            <a:pPr indent="0" marL="0">
              <a:buNone/>
            </a:pPr>
            <a:r>
              <a:rPr lang="en-US" sz="1100" b="1" dirty="0">
                <a:solidFill>
                  <a:srgbClr val="12202E"/>
                </a:solidFill>
                <a:latin typeface="Calibri" pitchFamily="34" charset="0"/>
                <a:ea typeface="Calibri" pitchFamily="34" charset="-122"/>
                <a:cs typeface="Calibri" pitchFamily="34" charset="-120"/>
              </a:rPr>
              <a:t>Data quality</a:t>
            </a:r>
            <a:endParaRPr lang="en-US" sz="1100" dirty="0"/>
          </a:p>
        </p:txBody>
      </p:sp>
      <p:sp>
        <p:nvSpPr>
          <p:cNvPr id="49" name="Text 47"/>
          <p:cNvSpPr/>
          <p:nvPr/>
        </p:nvSpPr>
        <p:spPr>
          <a:xfrm>
            <a:off x="4480560" y="5650992"/>
            <a:ext cx="3108960" cy="384048"/>
          </a:xfrm>
          <a:prstGeom prst="rect">
            <a:avLst/>
          </a:prstGeom>
          <a:noFill/>
          <a:ln/>
        </p:spPr>
        <p:txBody>
          <a:bodyPr wrap="square" lIns="0" tIns="0" rIns="0" bIns="0" rtlCol="0" anchor="ctr"/>
          <a:lstStyle/>
          <a:p>
            <a:pPr indent="0" marL="0">
              <a:lnSpc>
                <a:spcPts val="1200"/>
              </a:lnSpc>
              <a:buNone/>
            </a:pPr>
            <a:r>
              <a:rPr lang="en-US" sz="950" dirty="0">
                <a:solidFill>
                  <a:srgbClr val="5D7186"/>
                </a:solidFill>
                <a:latin typeface="Calibri" pitchFamily="34" charset="0"/>
                <a:ea typeface="Calibri" pitchFamily="34" charset="-122"/>
                <a:cs typeface="Calibri" pitchFamily="34" charset="-120"/>
              </a:rPr>
              <a:t>&lt; 5 % incomplete entries</a:t>
            </a:r>
            <a:endParaRPr lang="en-US" sz="950" dirty="0"/>
          </a:p>
        </p:txBody>
      </p:sp>
      <p:sp>
        <p:nvSpPr>
          <p:cNvPr id="50" name="Text 48"/>
          <p:cNvSpPr/>
          <p:nvPr/>
        </p:nvSpPr>
        <p:spPr>
          <a:xfrm>
            <a:off x="7991856" y="2798064"/>
            <a:ext cx="3474720" cy="274320"/>
          </a:xfrm>
          <a:prstGeom prst="rect">
            <a:avLst/>
          </a:prstGeom>
          <a:noFill/>
          <a:ln/>
        </p:spPr>
        <p:txBody>
          <a:bodyPr wrap="square" lIns="0" tIns="0" rIns="0" bIns="0" rtlCol="0" anchor="ctr"/>
          <a:lstStyle/>
          <a:p>
            <a:pPr indent="0" marL="0">
              <a:buNone/>
            </a:pPr>
            <a:r>
              <a:rPr lang="en-US" sz="1300" b="1" dirty="0">
                <a:solidFill>
                  <a:srgbClr val="5D7186"/>
                </a:solidFill>
                <a:latin typeface="Calibri" pitchFamily="34" charset="0"/>
                <a:ea typeface="Calibri" pitchFamily="34" charset="-122"/>
                <a:cs typeface="Calibri" pitchFamily="34" charset="-120"/>
              </a:rPr>
              <a:t>Evaluation</a:t>
            </a:r>
            <a:endParaRPr lang="en-US" sz="1300" dirty="0"/>
          </a:p>
        </p:txBody>
      </p:sp>
      <p:sp>
        <p:nvSpPr>
          <p:cNvPr id="51" name="Shape 49"/>
          <p:cNvSpPr/>
          <p:nvPr/>
        </p:nvSpPr>
        <p:spPr>
          <a:xfrm>
            <a:off x="7991856" y="3145536"/>
            <a:ext cx="3538728" cy="658368"/>
          </a:xfrm>
          <a:prstGeom prst="roundRect">
            <a:avLst>
              <a:gd name="adj" fmla="val 12500"/>
            </a:avLst>
          </a:prstGeom>
          <a:solidFill>
            <a:srgbClr val="FFFFFF"/>
          </a:solidFill>
          <a:ln w="12700">
            <a:solidFill>
              <a:srgbClr val="DDE5EE"/>
            </a:solidFill>
            <a:prstDash val="solid"/>
          </a:ln>
        </p:spPr>
      </p:sp>
      <p:sp>
        <p:nvSpPr>
          <p:cNvPr id="52" name="Text 50"/>
          <p:cNvSpPr/>
          <p:nvPr/>
        </p:nvSpPr>
        <p:spPr>
          <a:xfrm>
            <a:off x="8193024" y="3191256"/>
            <a:ext cx="3108960" cy="219456"/>
          </a:xfrm>
          <a:prstGeom prst="rect">
            <a:avLst/>
          </a:prstGeom>
          <a:noFill/>
          <a:ln/>
        </p:spPr>
        <p:txBody>
          <a:bodyPr wrap="square" lIns="0" tIns="0" rIns="0" bIns="0" rtlCol="0" anchor="ctr"/>
          <a:lstStyle/>
          <a:p>
            <a:pPr indent="0" marL="0">
              <a:buNone/>
            </a:pPr>
            <a:r>
              <a:rPr lang="en-US" sz="1100" b="1" dirty="0">
                <a:solidFill>
                  <a:srgbClr val="12202E"/>
                </a:solidFill>
                <a:latin typeface="Calibri" pitchFamily="34" charset="0"/>
                <a:ea typeface="Calibri" pitchFamily="34" charset="-122"/>
                <a:cs typeface="Calibri" pitchFamily="34" charset="-120"/>
              </a:rPr>
              <a:t>Pilot</a:t>
            </a:r>
            <a:endParaRPr lang="en-US" sz="1100" dirty="0"/>
          </a:p>
        </p:txBody>
      </p:sp>
      <p:sp>
        <p:nvSpPr>
          <p:cNvPr id="53" name="Text 51"/>
          <p:cNvSpPr/>
          <p:nvPr/>
        </p:nvSpPr>
        <p:spPr>
          <a:xfrm>
            <a:off x="8193024" y="3401568"/>
            <a:ext cx="3108960" cy="384048"/>
          </a:xfrm>
          <a:prstGeom prst="rect">
            <a:avLst/>
          </a:prstGeom>
          <a:noFill/>
          <a:ln/>
        </p:spPr>
        <p:txBody>
          <a:bodyPr wrap="square" lIns="0" tIns="0" rIns="0" bIns="0" rtlCol="0" anchor="ctr"/>
          <a:lstStyle/>
          <a:p>
            <a:pPr indent="0" marL="0">
              <a:lnSpc>
                <a:spcPts val="1200"/>
              </a:lnSpc>
              <a:buNone/>
            </a:pPr>
            <a:r>
              <a:rPr lang="en-US" sz="950" dirty="0">
                <a:solidFill>
                  <a:srgbClr val="5D7186"/>
                </a:solidFill>
                <a:latin typeface="Calibri" pitchFamily="34" charset="0"/>
                <a:ea typeface="Calibri" pitchFamily="34" charset="-122"/>
                <a:cs typeface="Calibri" pitchFamily="34" charset="-120"/>
              </a:rPr>
              <a:t>SUS + patient-vs-clinician agreement (κ)</a:t>
            </a:r>
            <a:endParaRPr lang="en-US" sz="950" dirty="0"/>
          </a:p>
        </p:txBody>
      </p:sp>
      <p:sp>
        <p:nvSpPr>
          <p:cNvPr id="54" name="Shape 52"/>
          <p:cNvSpPr/>
          <p:nvPr/>
        </p:nvSpPr>
        <p:spPr>
          <a:xfrm>
            <a:off x="7991856" y="3895344"/>
            <a:ext cx="3538728" cy="658368"/>
          </a:xfrm>
          <a:prstGeom prst="roundRect">
            <a:avLst>
              <a:gd name="adj" fmla="val 12500"/>
            </a:avLst>
          </a:prstGeom>
          <a:solidFill>
            <a:srgbClr val="FFFFFF"/>
          </a:solidFill>
          <a:ln w="12700">
            <a:solidFill>
              <a:srgbClr val="DDE5EE"/>
            </a:solidFill>
            <a:prstDash val="solid"/>
          </a:ln>
        </p:spPr>
      </p:sp>
      <p:sp>
        <p:nvSpPr>
          <p:cNvPr id="55" name="Text 53"/>
          <p:cNvSpPr/>
          <p:nvPr/>
        </p:nvSpPr>
        <p:spPr>
          <a:xfrm>
            <a:off x="8193024" y="3941064"/>
            <a:ext cx="3108960" cy="219456"/>
          </a:xfrm>
          <a:prstGeom prst="rect">
            <a:avLst/>
          </a:prstGeom>
          <a:noFill/>
          <a:ln/>
        </p:spPr>
        <p:txBody>
          <a:bodyPr wrap="square" lIns="0" tIns="0" rIns="0" bIns="0" rtlCol="0" anchor="ctr"/>
          <a:lstStyle/>
          <a:p>
            <a:pPr indent="0" marL="0">
              <a:buNone/>
            </a:pPr>
            <a:r>
              <a:rPr lang="en-US" sz="1100" b="1" dirty="0">
                <a:solidFill>
                  <a:srgbClr val="12202E"/>
                </a:solidFill>
                <a:latin typeface="Calibri" pitchFamily="34" charset="0"/>
                <a:ea typeface="Calibri" pitchFamily="34" charset="-122"/>
                <a:cs typeface="Calibri" pitchFamily="34" charset="-120"/>
              </a:rPr>
              <a:t>Demonstration</a:t>
            </a:r>
            <a:endParaRPr lang="en-US" sz="1100" dirty="0"/>
          </a:p>
        </p:txBody>
      </p:sp>
      <p:sp>
        <p:nvSpPr>
          <p:cNvPr id="56" name="Text 54"/>
          <p:cNvSpPr/>
          <p:nvPr/>
        </p:nvSpPr>
        <p:spPr>
          <a:xfrm>
            <a:off x="8193024" y="4151376"/>
            <a:ext cx="3108960" cy="384048"/>
          </a:xfrm>
          <a:prstGeom prst="rect">
            <a:avLst/>
          </a:prstGeom>
          <a:noFill/>
          <a:ln/>
        </p:spPr>
        <p:txBody>
          <a:bodyPr wrap="square" lIns="0" tIns="0" rIns="0" bIns="0" rtlCol="0" anchor="ctr"/>
          <a:lstStyle/>
          <a:p>
            <a:pPr indent="0" marL="0">
              <a:lnSpc>
                <a:spcPts val="1200"/>
              </a:lnSpc>
              <a:buNone/>
            </a:pPr>
            <a:r>
              <a:rPr lang="en-US" sz="950" dirty="0">
                <a:solidFill>
                  <a:srgbClr val="5D7186"/>
                </a:solidFill>
                <a:latin typeface="Calibri" pitchFamily="34" charset="0"/>
                <a:ea typeface="Calibri" pitchFamily="34" charset="-122"/>
                <a:cs typeface="Calibri" pitchFamily="34" charset="-120"/>
              </a:rPr>
              <a:t>chart review — time to medical contact</a:t>
            </a:r>
            <a:endParaRPr lang="en-US" sz="950" dirty="0"/>
          </a:p>
        </p:txBody>
      </p:sp>
      <p:sp>
        <p:nvSpPr>
          <p:cNvPr id="57" name="Shape 55"/>
          <p:cNvSpPr/>
          <p:nvPr/>
        </p:nvSpPr>
        <p:spPr>
          <a:xfrm>
            <a:off x="7991856" y="4645152"/>
            <a:ext cx="3538728" cy="658368"/>
          </a:xfrm>
          <a:prstGeom prst="roundRect">
            <a:avLst>
              <a:gd name="adj" fmla="val 12500"/>
            </a:avLst>
          </a:prstGeom>
          <a:solidFill>
            <a:srgbClr val="FFFFFF"/>
          </a:solidFill>
          <a:ln w="12700">
            <a:solidFill>
              <a:srgbClr val="DDE5EE"/>
            </a:solidFill>
            <a:prstDash val="solid"/>
          </a:ln>
        </p:spPr>
      </p:sp>
      <p:sp>
        <p:nvSpPr>
          <p:cNvPr id="58" name="Text 56"/>
          <p:cNvSpPr/>
          <p:nvPr/>
        </p:nvSpPr>
        <p:spPr>
          <a:xfrm>
            <a:off x="8193024" y="4690872"/>
            <a:ext cx="3108960" cy="219456"/>
          </a:xfrm>
          <a:prstGeom prst="rect">
            <a:avLst/>
          </a:prstGeom>
          <a:noFill/>
          <a:ln/>
        </p:spPr>
        <p:txBody>
          <a:bodyPr wrap="square" lIns="0" tIns="0" rIns="0" bIns="0" rtlCol="0" anchor="ctr"/>
          <a:lstStyle/>
          <a:p>
            <a:pPr indent="0" marL="0">
              <a:buNone/>
            </a:pPr>
            <a:r>
              <a:rPr lang="en-US" sz="1100" b="1" dirty="0">
                <a:solidFill>
                  <a:srgbClr val="12202E"/>
                </a:solidFill>
                <a:latin typeface="Calibri" pitchFamily="34" charset="0"/>
                <a:ea typeface="Calibri" pitchFamily="34" charset="-122"/>
                <a:cs typeface="Calibri" pitchFamily="34" charset="-120"/>
              </a:rPr>
              <a:t>Scale-up</a:t>
            </a:r>
            <a:endParaRPr lang="en-US" sz="1100" dirty="0"/>
          </a:p>
        </p:txBody>
      </p:sp>
      <p:sp>
        <p:nvSpPr>
          <p:cNvPr id="59" name="Text 57"/>
          <p:cNvSpPr/>
          <p:nvPr/>
        </p:nvSpPr>
        <p:spPr>
          <a:xfrm>
            <a:off x="8193024" y="4901184"/>
            <a:ext cx="3108960" cy="384048"/>
          </a:xfrm>
          <a:prstGeom prst="rect">
            <a:avLst/>
          </a:prstGeom>
          <a:noFill/>
          <a:ln/>
        </p:spPr>
        <p:txBody>
          <a:bodyPr wrap="square" lIns="0" tIns="0" rIns="0" bIns="0" rtlCol="0" anchor="ctr"/>
          <a:lstStyle/>
          <a:p>
            <a:pPr indent="0" marL="0">
              <a:lnSpc>
                <a:spcPts val="1200"/>
              </a:lnSpc>
              <a:buNone/>
            </a:pPr>
            <a:r>
              <a:rPr lang="en-US" sz="950" dirty="0">
                <a:solidFill>
                  <a:srgbClr val="5D7186"/>
                </a:solidFill>
                <a:latin typeface="Calibri" pitchFamily="34" charset="0"/>
                <a:ea typeface="Calibri" pitchFamily="34" charset="-122"/>
                <a:cs typeface="Calibri" pitchFamily="34" charset="-120"/>
              </a:rPr>
              <a:t>stepped-wedge; SSI rate, readmissions</a:t>
            </a:r>
            <a:endParaRPr lang="en-US" sz="950" dirty="0"/>
          </a:p>
        </p:txBody>
      </p:sp>
      <p:sp>
        <p:nvSpPr>
          <p:cNvPr id="60" name="Shape 58"/>
          <p:cNvSpPr/>
          <p:nvPr/>
        </p:nvSpPr>
        <p:spPr>
          <a:xfrm>
            <a:off x="7991856" y="5394960"/>
            <a:ext cx="3538728" cy="658368"/>
          </a:xfrm>
          <a:prstGeom prst="roundRect">
            <a:avLst>
              <a:gd name="adj" fmla="val 12500"/>
            </a:avLst>
          </a:prstGeom>
          <a:solidFill>
            <a:srgbClr val="FFFFFF"/>
          </a:solidFill>
          <a:ln w="12700">
            <a:solidFill>
              <a:srgbClr val="DDE5EE"/>
            </a:solidFill>
            <a:prstDash val="solid"/>
          </a:ln>
        </p:spPr>
      </p:sp>
      <p:sp>
        <p:nvSpPr>
          <p:cNvPr id="61" name="Text 59"/>
          <p:cNvSpPr/>
          <p:nvPr/>
        </p:nvSpPr>
        <p:spPr>
          <a:xfrm>
            <a:off x="8193024" y="5440680"/>
            <a:ext cx="3108960" cy="219456"/>
          </a:xfrm>
          <a:prstGeom prst="rect">
            <a:avLst/>
          </a:prstGeom>
          <a:noFill/>
          <a:ln/>
        </p:spPr>
        <p:txBody>
          <a:bodyPr wrap="square" lIns="0" tIns="0" rIns="0" bIns="0" rtlCol="0" anchor="ctr"/>
          <a:lstStyle/>
          <a:p>
            <a:pPr indent="0" marL="0">
              <a:buNone/>
            </a:pPr>
            <a:r>
              <a:rPr lang="en-US" sz="1100" b="1" dirty="0">
                <a:solidFill>
                  <a:srgbClr val="12202E"/>
                </a:solidFill>
                <a:latin typeface="Calibri" pitchFamily="34" charset="0"/>
                <a:ea typeface="Calibri" pitchFamily="34" charset="-122"/>
                <a:cs typeface="Calibri" pitchFamily="34" charset="-120"/>
              </a:rPr>
              <a:t>Adverse effects</a:t>
            </a:r>
            <a:endParaRPr lang="en-US" sz="1100" dirty="0"/>
          </a:p>
        </p:txBody>
      </p:sp>
      <p:sp>
        <p:nvSpPr>
          <p:cNvPr id="62" name="Text 60"/>
          <p:cNvSpPr/>
          <p:nvPr/>
        </p:nvSpPr>
        <p:spPr>
          <a:xfrm>
            <a:off x="8193024" y="5650992"/>
            <a:ext cx="3108960" cy="384048"/>
          </a:xfrm>
          <a:prstGeom prst="rect">
            <a:avLst/>
          </a:prstGeom>
          <a:noFill/>
          <a:ln/>
        </p:spPr>
        <p:txBody>
          <a:bodyPr wrap="square" lIns="0" tIns="0" rIns="0" bIns="0" rtlCol="0" anchor="ctr"/>
          <a:lstStyle/>
          <a:p>
            <a:pPr indent="0" marL="0">
              <a:lnSpc>
                <a:spcPts val="1200"/>
              </a:lnSpc>
              <a:buNone/>
            </a:pPr>
            <a:r>
              <a:rPr lang="en-US" sz="950" dirty="0">
                <a:solidFill>
                  <a:srgbClr val="5D7186"/>
                </a:solidFill>
                <a:latin typeface="Calibri" pitchFamily="34" charset="0"/>
                <a:ea typeface="Calibri" pitchFamily="34" charset="-122"/>
                <a:cs typeface="Calibri" pitchFamily="34" charset="-120"/>
              </a:rPr>
              <a:t>false alarms, alert overrides, equity</a:t>
            </a:r>
            <a:endParaRPr lang="en-US" sz="950" dirty="0"/>
          </a:p>
        </p:txBody>
      </p:sp>
      <p:sp>
        <p:nvSpPr>
          <p:cNvPr id="63" name="Text 61"/>
          <p:cNvSpPr/>
          <p:nvPr/>
        </p:nvSpPr>
        <p:spPr>
          <a:xfrm>
            <a:off x="566928" y="6181344"/>
            <a:ext cx="11064240" cy="274320"/>
          </a:xfrm>
          <a:prstGeom prst="rect">
            <a:avLst/>
          </a:prstGeom>
          <a:noFill/>
          <a:ln/>
        </p:spPr>
        <p:txBody>
          <a:bodyPr wrap="square" lIns="0" tIns="0" rIns="0" bIns="0" rtlCol="0" anchor="ctr"/>
          <a:lstStyle/>
          <a:p>
            <a:pPr indent="0" marL="0">
              <a:buNone/>
            </a:pPr>
            <a:r>
              <a:rPr lang="en-US" sz="1000" i="1" dirty="0">
                <a:solidFill>
                  <a:srgbClr val="5D7186"/>
                </a:solidFill>
                <a:latin typeface="Calibri" pitchFamily="34" charset="0"/>
                <a:ea typeface="Calibri" pitchFamily="34" charset="-122"/>
                <a:cs typeface="Calibri" pitchFamily="34" charset="-120"/>
              </a:rPr>
              <a:t>Interoperability reached: structural yes · semantic partly · organisational no.  ·  Most important safety indicator: GREEN cases that still present to a physician within 72 h.</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indent="0" marL="0">
              <a:buNone/>
            </a:pPr>
            <a:r>
              <a:rPr lang="en-US" sz="1050" b="1" spc="160" kern="0" dirty="0">
                <a:solidFill>
                  <a:srgbClr val="5D7186"/>
                </a:solidFill>
                <a:latin typeface="Calibri" pitchFamily="34" charset="0"/>
                <a:ea typeface="Calibri" pitchFamily="34" charset="-122"/>
                <a:cs typeface="Calibri" pitchFamily="34" charset="-120"/>
              </a:rPr>
              <a:t>EXPECTED IMPACT &amp; REGULATION</a:t>
            </a:r>
            <a:endParaRPr lang="en-US" sz="1050" dirty="0"/>
          </a:p>
        </p:txBody>
      </p:sp>
      <p:sp>
        <p:nvSpPr>
          <p:cNvPr id="3" name="Text 1"/>
          <p:cNvSpPr/>
          <p:nvPr/>
        </p:nvSpPr>
        <p:spPr>
          <a:xfrm>
            <a:off x="566928" y="640080"/>
            <a:ext cx="10607040" cy="658368"/>
          </a:xfrm>
          <a:prstGeom prst="rect">
            <a:avLst/>
          </a:prstGeom>
          <a:noFill/>
          <a:ln/>
        </p:spPr>
        <p:txBody>
          <a:bodyPr wrap="square" lIns="0" tIns="0" rIns="0" bIns="0" rtlCol="0" anchor="t"/>
          <a:lstStyle/>
          <a:p>
            <a:pPr indent="0" marL="0">
              <a:buNone/>
            </a:pPr>
            <a:r>
              <a:rPr lang="en-US" sz="2700" b="1" dirty="0">
                <a:solidFill>
                  <a:srgbClr val="12202E"/>
                </a:solidFill>
                <a:latin typeface="Cambria" pitchFamily="34" charset="0"/>
                <a:ea typeface="Cambria" pitchFamily="34" charset="-122"/>
                <a:cs typeface="Cambria" pitchFamily="34" charset="-120"/>
              </a:rPr>
              <a:t>False reassurance weighs more than a false alarm</a:t>
            </a:r>
            <a:endParaRPr lang="en-US" sz="2700" dirty="0"/>
          </a:p>
        </p:txBody>
      </p:sp>
      <p:sp>
        <p:nvSpPr>
          <p:cNvPr id="4" name="Shape 2"/>
          <p:cNvSpPr/>
          <p:nvPr/>
        </p:nvSpPr>
        <p:spPr>
          <a:xfrm>
            <a:off x="566928" y="1645920"/>
            <a:ext cx="5394960" cy="2377440"/>
          </a:xfrm>
          <a:prstGeom prst="roundRect">
            <a:avLst>
              <a:gd name="adj" fmla="val 3462"/>
            </a:avLst>
          </a:prstGeom>
          <a:solidFill>
            <a:srgbClr val="E8F6EE"/>
          </a:solidFill>
          <a:ln w="12700">
            <a:solidFill>
              <a:srgbClr val="A8D9BF"/>
            </a:solidFill>
            <a:prstDash val="solid"/>
          </a:ln>
        </p:spPr>
      </p:sp>
      <p:sp>
        <p:nvSpPr>
          <p:cNvPr id="5" name="Text 3"/>
          <p:cNvSpPr/>
          <p:nvPr/>
        </p:nvSpPr>
        <p:spPr>
          <a:xfrm>
            <a:off x="822960" y="1810512"/>
            <a:ext cx="2743200" cy="256032"/>
          </a:xfrm>
          <a:prstGeom prst="rect">
            <a:avLst/>
          </a:prstGeom>
          <a:noFill/>
          <a:ln/>
        </p:spPr>
        <p:txBody>
          <a:bodyPr wrap="square" lIns="0" tIns="0" rIns="0" bIns="0" rtlCol="0" anchor="ctr"/>
          <a:lstStyle/>
          <a:p>
            <a:pPr indent="0" marL="0">
              <a:buNone/>
            </a:pPr>
            <a:r>
              <a:rPr lang="en-US" sz="1300" b="1" dirty="0">
                <a:solidFill>
                  <a:srgbClr val="1A7F4B"/>
                </a:solidFill>
                <a:latin typeface="Calibri" pitchFamily="34" charset="0"/>
                <a:ea typeface="Calibri" pitchFamily="34" charset="-122"/>
                <a:cs typeface="Calibri" pitchFamily="34" charset="-120"/>
              </a:rPr>
              <a:t>Benefits</a:t>
            </a:r>
            <a:endParaRPr lang="en-US" sz="1300" dirty="0"/>
          </a:p>
        </p:txBody>
      </p:sp>
      <p:sp>
        <p:nvSpPr>
          <p:cNvPr id="6" name="Text 4"/>
          <p:cNvSpPr/>
          <p:nvPr/>
        </p:nvSpPr>
        <p:spPr>
          <a:xfrm>
            <a:off x="822960" y="2084832"/>
            <a:ext cx="4892040" cy="1783080"/>
          </a:xfrm>
          <a:prstGeom prst="rect">
            <a:avLst/>
          </a:prstGeom>
          <a:noFill/>
          <a:ln/>
        </p:spPr>
        <p:txBody>
          <a:bodyPr wrap="square" lIns="0" tIns="0" rIns="0" bIns="0" rtlCol="0" anchor="t"/>
          <a:lstStyle/>
          <a:p>
            <a:pPr marL="177800" indent="-177800">
              <a:lnSpc>
                <a:spcPts val="1500"/>
              </a:lnSpc>
              <a:spcAft>
                <a:spcPts val="600"/>
              </a:spcAft>
              <a:buSzPct val="100000"/>
              <a:buChar char="•"/>
            </a:pPr>
            <a:r>
              <a:rPr lang="en-US" sz="1150" dirty="0">
                <a:solidFill>
                  <a:srgbClr val="12202E"/>
                </a:solidFill>
                <a:latin typeface="Calibri" pitchFamily="34" charset="0"/>
                <a:ea typeface="Calibri" pitchFamily="34" charset="-122"/>
                <a:cs typeface="Calibri" pitchFamily="34" charset="-120"/>
              </a:rPr>
              <a:t>Earlier treatment when an infection develops</a:t>
            </a:r>
            <a:endParaRPr lang="en-US" sz="1150" dirty="0"/>
          </a:p>
          <a:p>
            <a:pPr marL="177800" indent="-177800">
              <a:lnSpc>
                <a:spcPts val="1500"/>
              </a:lnSpc>
              <a:spcAft>
                <a:spcPts val="600"/>
              </a:spcAft>
              <a:buSzPct val="100000"/>
              <a:buChar char="•"/>
            </a:pPr>
            <a:r>
              <a:rPr lang="en-US" sz="1150" dirty="0">
                <a:solidFill>
                  <a:srgbClr val="12202E"/>
                </a:solidFill>
                <a:latin typeface="Calibri" pitchFamily="34" charset="0"/>
                <a:ea typeface="Calibri" pitchFamily="34" charset="-122"/>
                <a:cs typeface="Calibri" pitchFamily="34" charset="-120"/>
              </a:rPr>
              <a:t>Fewer contacts without clinical consequence</a:t>
            </a:r>
            <a:endParaRPr lang="en-US" sz="1150" dirty="0"/>
          </a:p>
          <a:p>
            <a:pPr marL="177800" indent="-177800">
              <a:lnSpc>
                <a:spcPts val="1500"/>
              </a:lnSpc>
              <a:spcAft>
                <a:spcPts val="600"/>
              </a:spcAft>
              <a:buSzPct val="100000"/>
              <a:buChar char="•"/>
            </a:pPr>
            <a:r>
              <a:rPr lang="en-US" sz="1150" dirty="0">
                <a:solidFill>
                  <a:srgbClr val="12202E"/>
                </a:solidFill>
                <a:latin typeface="Calibri" pitchFamily="34" charset="0"/>
                <a:ea typeface="Calibri" pitchFamily="34" charset="-122"/>
                <a:cs typeface="Calibri" pitchFamily="34" charset="-120"/>
              </a:rPr>
              <a:t>Complete trajectory for the follow-up appointment</a:t>
            </a:r>
            <a:endParaRPr lang="en-US" sz="1150" dirty="0"/>
          </a:p>
          <a:p>
            <a:pPr marL="177800" indent="-177800">
              <a:lnSpc>
                <a:spcPts val="1500"/>
              </a:lnSpc>
              <a:spcAft>
                <a:spcPts val="600"/>
              </a:spcAft>
              <a:buSzPct val="100000"/>
              <a:buChar char="•"/>
            </a:pPr>
            <a:r>
              <a:rPr lang="en-US" sz="1150" dirty="0">
                <a:solidFill>
                  <a:srgbClr val="12202E"/>
                </a:solidFill>
                <a:latin typeface="Calibri" pitchFamily="34" charset="0"/>
                <a:ea typeface="Calibri" pitchFamily="34" charset="-122"/>
                <a:cs typeface="Calibri" pitchFamily="34" charset="-120"/>
              </a:rPr>
              <a:t>Structured, standardised follow-up data</a:t>
            </a:r>
            <a:endParaRPr lang="en-US" sz="1150" dirty="0"/>
          </a:p>
        </p:txBody>
      </p:sp>
      <p:sp>
        <p:nvSpPr>
          <p:cNvPr id="7" name="Shape 5"/>
          <p:cNvSpPr/>
          <p:nvPr/>
        </p:nvSpPr>
        <p:spPr>
          <a:xfrm>
            <a:off x="6236208" y="1645920"/>
            <a:ext cx="5394960" cy="2377440"/>
          </a:xfrm>
          <a:prstGeom prst="roundRect">
            <a:avLst>
              <a:gd name="adj" fmla="val 3462"/>
            </a:avLst>
          </a:prstGeom>
          <a:solidFill>
            <a:srgbClr val="FBE7E5"/>
          </a:solidFill>
          <a:ln w="12700">
            <a:solidFill>
              <a:srgbClr val="F0ACA6"/>
            </a:solidFill>
            <a:prstDash val="solid"/>
          </a:ln>
        </p:spPr>
      </p:sp>
      <p:sp>
        <p:nvSpPr>
          <p:cNvPr id="8" name="Text 6"/>
          <p:cNvSpPr/>
          <p:nvPr/>
        </p:nvSpPr>
        <p:spPr>
          <a:xfrm>
            <a:off x="6492240" y="1810512"/>
            <a:ext cx="2743200" cy="256032"/>
          </a:xfrm>
          <a:prstGeom prst="rect">
            <a:avLst/>
          </a:prstGeom>
          <a:noFill/>
          <a:ln/>
        </p:spPr>
        <p:txBody>
          <a:bodyPr wrap="square" lIns="0" tIns="0" rIns="0" bIns="0" rtlCol="0" anchor="ctr"/>
          <a:lstStyle/>
          <a:p>
            <a:pPr indent="0" marL="0">
              <a:buNone/>
            </a:pPr>
            <a:r>
              <a:rPr lang="en-US" sz="1300" b="1" dirty="0">
                <a:solidFill>
                  <a:srgbClr val="C0281C"/>
                </a:solidFill>
                <a:latin typeface="Calibri" pitchFamily="34" charset="0"/>
                <a:ea typeface="Calibri" pitchFamily="34" charset="-122"/>
                <a:cs typeface="Calibri" pitchFamily="34" charset="-120"/>
              </a:rPr>
              <a:t>Risks</a:t>
            </a:r>
            <a:endParaRPr lang="en-US" sz="1300" dirty="0"/>
          </a:p>
        </p:txBody>
      </p:sp>
      <p:sp>
        <p:nvSpPr>
          <p:cNvPr id="9" name="Text 7"/>
          <p:cNvSpPr/>
          <p:nvPr/>
        </p:nvSpPr>
        <p:spPr>
          <a:xfrm>
            <a:off x="6492240" y="2084832"/>
            <a:ext cx="4892040" cy="1783080"/>
          </a:xfrm>
          <a:prstGeom prst="rect">
            <a:avLst/>
          </a:prstGeom>
          <a:noFill/>
          <a:ln/>
        </p:spPr>
        <p:txBody>
          <a:bodyPr wrap="square" lIns="0" tIns="0" rIns="0" bIns="0" rtlCol="0" anchor="t"/>
          <a:lstStyle/>
          <a:p>
            <a:pPr marL="177800" indent="-177800">
              <a:lnSpc>
                <a:spcPts val="1500"/>
              </a:lnSpc>
              <a:spcAft>
                <a:spcPts val="600"/>
              </a:spcAft>
              <a:buSzPct val="100000"/>
              <a:buChar char="•"/>
            </a:pPr>
            <a:r>
              <a:rPr lang="en-US" sz="1150" dirty="0">
                <a:solidFill>
                  <a:srgbClr val="12202E"/>
                </a:solidFill>
                <a:latin typeface="Calibri" pitchFamily="34" charset="0"/>
                <a:ea typeface="Calibri" pitchFamily="34" charset="-122"/>
                <a:cs typeface="Calibri" pitchFamily="34" charset="-120"/>
              </a:rPr>
              <a:t>Automation bias — the patient stops observing</a:t>
            </a:r>
            <a:endParaRPr lang="en-US" sz="1150" dirty="0"/>
          </a:p>
          <a:p>
            <a:pPr marL="177800" indent="-177800">
              <a:lnSpc>
                <a:spcPts val="1500"/>
              </a:lnSpc>
              <a:spcAft>
                <a:spcPts val="600"/>
              </a:spcAft>
              <a:buSzPct val="100000"/>
              <a:buChar char="•"/>
            </a:pPr>
            <a:r>
              <a:rPr lang="en-US" sz="1150" dirty="0">
                <a:solidFill>
                  <a:srgbClr val="12202E"/>
                </a:solidFill>
                <a:latin typeface="Calibri" pitchFamily="34" charset="0"/>
                <a:ea typeface="Calibri" pitchFamily="34" charset="-122"/>
                <a:cs typeface="Calibri" pitchFamily="34" charset="-120"/>
              </a:rPr>
              <a:t>Alert fatigue in the practice</a:t>
            </a:r>
            <a:endParaRPr lang="en-US" sz="1150" dirty="0"/>
          </a:p>
          <a:p>
            <a:pPr marL="177800" indent="-177800">
              <a:lnSpc>
                <a:spcPts val="1500"/>
              </a:lnSpc>
              <a:spcAft>
                <a:spcPts val="600"/>
              </a:spcAft>
              <a:buSzPct val="100000"/>
              <a:buChar char="•"/>
            </a:pPr>
            <a:r>
              <a:rPr lang="en-US" sz="1150" dirty="0">
                <a:solidFill>
                  <a:srgbClr val="12202E"/>
                </a:solidFill>
                <a:latin typeface="Calibri" pitchFamily="34" charset="0"/>
                <a:ea typeface="Calibri" pitchFamily="34" charset="-122"/>
                <a:cs typeface="Calibri" pitchFamily="34" charset="-120"/>
              </a:rPr>
              <a:t>Scaling our own errors consistently, at volume</a:t>
            </a:r>
            <a:endParaRPr lang="en-US" sz="1150" dirty="0"/>
          </a:p>
          <a:p>
            <a:pPr marL="177800" indent="-177800">
              <a:lnSpc>
                <a:spcPts val="1500"/>
              </a:lnSpc>
              <a:spcAft>
                <a:spcPts val="600"/>
              </a:spcAft>
              <a:buSzPct val="100000"/>
              <a:buChar char="•"/>
            </a:pPr>
            <a:r>
              <a:rPr lang="en-US" sz="1150" dirty="0">
                <a:solidFill>
                  <a:srgbClr val="12202E"/>
                </a:solidFill>
                <a:latin typeface="Calibri" pitchFamily="34" charset="0"/>
                <a:ea typeface="Calibri" pitchFamily="34" charset="-122"/>
                <a:cs typeface="Calibri" pitchFamily="34" charset="-120"/>
              </a:rPr>
              <a:t>Digital divide — the gap may widen</a:t>
            </a:r>
            <a:endParaRPr lang="en-US" sz="1150" dirty="0"/>
          </a:p>
        </p:txBody>
      </p:sp>
      <p:sp>
        <p:nvSpPr>
          <p:cNvPr id="10" name="Text 8"/>
          <p:cNvSpPr/>
          <p:nvPr/>
        </p:nvSpPr>
        <p:spPr>
          <a:xfrm>
            <a:off x="566928" y="4224528"/>
            <a:ext cx="6766560" cy="310896"/>
          </a:xfrm>
          <a:prstGeom prst="rect">
            <a:avLst/>
          </a:prstGeom>
          <a:noFill/>
          <a:ln/>
        </p:spPr>
        <p:txBody>
          <a:bodyPr wrap="square" lIns="0" tIns="0" rIns="0" bIns="0" rtlCol="0" anchor="ctr"/>
          <a:lstStyle/>
          <a:p>
            <a:pPr indent="0" marL="0">
              <a:buNone/>
            </a:pPr>
            <a:r>
              <a:rPr lang="en-US" sz="1400" b="1" dirty="0">
                <a:solidFill>
                  <a:srgbClr val="12202E"/>
                </a:solidFill>
                <a:latin typeface="Calibri" pitchFamily="34" charset="0"/>
                <a:ea typeface="Calibri" pitchFamily="34" charset="-122"/>
                <a:cs typeface="Calibri" pitchFamily="34" charset="-120"/>
              </a:rPr>
              <a:t>Is WundCheck a medical device?  Yes — SaMD, IMDRF Category II</a:t>
            </a:r>
            <a:endParaRPr lang="en-US" sz="1400" dirty="0"/>
          </a:p>
        </p:txBody>
      </p:sp>
      <p:sp>
        <p:nvSpPr>
          <p:cNvPr id="11" name="Text 9"/>
          <p:cNvSpPr/>
          <p:nvPr/>
        </p:nvSpPr>
        <p:spPr>
          <a:xfrm>
            <a:off x="566928" y="4590288"/>
            <a:ext cx="6766560" cy="1554480"/>
          </a:xfrm>
          <a:prstGeom prst="rect">
            <a:avLst/>
          </a:prstGeom>
          <a:noFill/>
          <a:ln/>
        </p:spPr>
        <p:txBody>
          <a:bodyPr wrap="square" lIns="0" tIns="0" rIns="0" bIns="0" rtlCol="0" anchor="t"/>
          <a:lstStyle/>
          <a:p>
            <a:pPr indent="0" marL="0">
              <a:lnSpc>
                <a:spcPts val="1600"/>
              </a:lnSpc>
              <a:buNone/>
            </a:pPr>
            <a:r>
              <a:rPr lang="en-US" sz="1150" dirty="0">
                <a:solidFill>
                  <a:srgbClr val="5D7186"/>
                </a:solidFill>
                <a:latin typeface="Calibri" pitchFamily="34" charset="0"/>
                <a:ea typeface="Calibri" pitchFamily="34" charset="-122"/>
                <a:cs typeface="Calibri" pitchFamily="34" charset="-120"/>
              </a:rPr>
              <a:t>State of the healthcare situation = serious: an untreated SSI is not self-limiting and can lead to sepsis or revision surgery. Significance of information = drive clinical management: we neither diagnose nor treat, but we determine whether and when clinical action is taken.</a:t>
            </a:r>
            <a:endParaRPr lang="en-US" sz="1150" dirty="0"/>
          </a:p>
          <a:p>
            <a:pPr indent="0" marL="0">
              <a:lnSpc>
                <a:spcPts val="1600"/>
              </a:lnSpc>
              <a:buNone/>
            </a:pPr>
            <a:endParaRPr lang="en-US" sz="1150" dirty="0"/>
          </a:p>
          <a:p>
            <a:pPr indent="0" marL="0">
              <a:lnSpc>
                <a:spcPts val="1600"/>
              </a:lnSpc>
              <a:buNone/>
            </a:pPr>
            <a:r>
              <a:rPr lang="en-US" sz="1150" dirty="0">
                <a:solidFill>
                  <a:srgbClr val="5D7186"/>
                </a:solidFill>
                <a:latin typeface="Calibri" pitchFamily="34" charset="0"/>
                <a:ea typeface="Calibri" pitchFamily="34" charset="-122"/>
                <a:cs typeface="Calibri" pitchFamily="34" charset="-120"/>
              </a:rPr>
              <a:t>Standards that would apply: ISO 14971 · IEC 62304 · IEC 62366 · ISO 13485. The EU AI Act does not — the system is rule-based, a deliberate consequence of avoiding image analysis.</a:t>
            </a:r>
            <a:endParaRPr lang="en-US" sz="1150" dirty="0"/>
          </a:p>
        </p:txBody>
      </p:sp>
      <p:sp>
        <p:nvSpPr>
          <p:cNvPr id="12" name="Text 10"/>
          <p:cNvSpPr/>
          <p:nvPr/>
        </p:nvSpPr>
        <p:spPr>
          <a:xfrm>
            <a:off x="7790688" y="4224528"/>
            <a:ext cx="932688" cy="347472"/>
          </a:xfrm>
          <a:prstGeom prst="rect">
            <a:avLst/>
          </a:prstGeom>
          <a:noFill/>
          <a:ln/>
        </p:spPr>
        <p:txBody>
          <a:bodyPr wrap="square" lIns="0" tIns="0" rIns="0" bIns="0" rtlCol="0" anchor="ctr"/>
          <a:lstStyle/>
          <a:p>
            <a:pPr algn="l" indent="0" marL="0">
              <a:buNone/>
            </a:pPr>
            <a:endParaRPr lang="en-US" sz="950" dirty="0"/>
          </a:p>
        </p:txBody>
      </p:sp>
      <p:sp>
        <p:nvSpPr>
          <p:cNvPr id="13" name="Text 11"/>
          <p:cNvSpPr/>
          <p:nvPr/>
        </p:nvSpPr>
        <p:spPr>
          <a:xfrm>
            <a:off x="8759952" y="4224528"/>
            <a:ext cx="932688" cy="347472"/>
          </a:xfrm>
          <a:prstGeom prst="rect">
            <a:avLst/>
          </a:prstGeom>
          <a:noFill/>
          <a:ln/>
        </p:spPr>
        <p:txBody>
          <a:bodyPr wrap="square" lIns="0" tIns="0" rIns="0" bIns="0" rtlCol="0" anchor="ctr"/>
          <a:lstStyle/>
          <a:p>
            <a:pPr algn="ctr" indent="0" marL="0">
              <a:buNone/>
            </a:pPr>
            <a:r>
              <a:rPr lang="en-US" sz="950" b="1" dirty="0">
                <a:solidFill>
                  <a:srgbClr val="5D7186"/>
                </a:solidFill>
                <a:latin typeface="Calibri" pitchFamily="34" charset="0"/>
                <a:ea typeface="Calibri" pitchFamily="34" charset="-122"/>
                <a:cs typeface="Calibri" pitchFamily="34" charset="-120"/>
              </a:rPr>
              <a:t>Inform</a:t>
            </a:r>
            <a:endParaRPr lang="en-US" sz="950" dirty="0"/>
          </a:p>
        </p:txBody>
      </p:sp>
      <p:sp>
        <p:nvSpPr>
          <p:cNvPr id="14" name="Text 12"/>
          <p:cNvSpPr/>
          <p:nvPr/>
        </p:nvSpPr>
        <p:spPr>
          <a:xfrm>
            <a:off x="9729216" y="4224528"/>
            <a:ext cx="932688" cy="347472"/>
          </a:xfrm>
          <a:prstGeom prst="rect">
            <a:avLst/>
          </a:prstGeom>
          <a:noFill/>
          <a:ln/>
        </p:spPr>
        <p:txBody>
          <a:bodyPr wrap="square" lIns="0" tIns="0" rIns="0" bIns="0" rtlCol="0" anchor="ctr"/>
          <a:lstStyle/>
          <a:p>
            <a:pPr algn="ctr" indent="0" marL="0">
              <a:buNone/>
            </a:pPr>
            <a:r>
              <a:rPr lang="en-US" sz="950" b="1" dirty="0">
                <a:solidFill>
                  <a:srgbClr val="5D7186"/>
                </a:solidFill>
                <a:latin typeface="Calibri" pitchFamily="34" charset="0"/>
                <a:ea typeface="Calibri" pitchFamily="34" charset="-122"/>
                <a:cs typeface="Calibri" pitchFamily="34" charset="-120"/>
              </a:rPr>
              <a:t>Drive</a:t>
            </a:r>
            <a:endParaRPr lang="en-US" sz="950" dirty="0"/>
          </a:p>
        </p:txBody>
      </p:sp>
      <p:sp>
        <p:nvSpPr>
          <p:cNvPr id="15" name="Text 13"/>
          <p:cNvSpPr/>
          <p:nvPr/>
        </p:nvSpPr>
        <p:spPr>
          <a:xfrm>
            <a:off x="10698480" y="4224528"/>
            <a:ext cx="932688" cy="347472"/>
          </a:xfrm>
          <a:prstGeom prst="rect">
            <a:avLst/>
          </a:prstGeom>
          <a:noFill/>
          <a:ln/>
        </p:spPr>
        <p:txBody>
          <a:bodyPr wrap="square" lIns="0" tIns="0" rIns="0" bIns="0" rtlCol="0" anchor="ctr"/>
          <a:lstStyle/>
          <a:p>
            <a:pPr algn="ctr" indent="0" marL="0">
              <a:buNone/>
            </a:pPr>
            <a:r>
              <a:rPr lang="en-US" sz="950" b="1" dirty="0">
                <a:solidFill>
                  <a:srgbClr val="5D7186"/>
                </a:solidFill>
                <a:latin typeface="Calibri" pitchFamily="34" charset="0"/>
                <a:ea typeface="Calibri" pitchFamily="34" charset="-122"/>
                <a:cs typeface="Calibri" pitchFamily="34" charset="-120"/>
              </a:rPr>
              <a:t>Treat/dx</a:t>
            </a:r>
            <a:endParaRPr lang="en-US" sz="950" dirty="0"/>
          </a:p>
        </p:txBody>
      </p:sp>
      <p:sp>
        <p:nvSpPr>
          <p:cNvPr id="16" name="Text 14"/>
          <p:cNvSpPr/>
          <p:nvPr/>
        </p:nvSpPr>
        <p:spPr>
          <a:xfrm>
            <a:off x="7790688" y="4608576"/>
            <a:ext cx="932688" cy="347472"/>
          </a:xfrm>
          <a:prstGeom prst="rect">
            <a:avLst/>
          </a:prstGeom>
          <a:noFill/>
          <a:ln/>
        </p:spPr>
        <p:txBody>
          <a:bodyPr wrap="square" lIns="0" tIns="0" rIns="0" bIns="0" rtlCol="0" anchor="ctr"/>
          <a:lstStyle/>
          <a:p>
            <a:pPr algn="l" indent="0" marL="0">
              <a:buNone/>
            </a:pPr>
            <a:r>
              <a:rPr lang="en-US" sz="950" b="1" dirty="0">
                <a:solidFill>
                  <a:srgbClr val="5D7186"/>
                </a:solidFill>
                <a:latin typeface="Calibri" pitchFamily="34" charset="0"/>
                <a:ea typeface="Calibri" pitchFamily="34" charset="-122"/>
                <a:cs typeface="Calibri" pitchFamily="34" charset="-120"/>
              </a:rPr>
              <a:t>Critical</a:t>
            </a:r>
            <a:endParaRPr lang="en-US" sz="950" dirty="0"/>
          </a:p>
        </p:txBody>
      </p:sp>
      <p:sp>
        <p:nvSpPr>
          <p:cNvPr id="17" name="Shape 15"/>
          <p:cNvSpPr/>
          <p:nvPr/>
        </p:nvSpPr>
        <p:spPr>
          <a:xfrm>
            <a:off x="8759952" y="4608576"/>
            <a:ext cx="932688" cy="347472"/>
          </a:xfrm>
          <a:prstGeom prst="rect">
            <a:avLst/>
          </a:prstGeom>
          <a:solidFill>
            <a:srgbClr val="F5F7FA"/>
          </a:solidFill>
          <a:ln w="12700">
            <a:solidFill>
              <a:srgbClr val="DDE5EE"/>
            </a:solidFill>
            <a:prstDash val="solid"/>
          </a:ln>
        </p:spPr>
      </p:sp>
      <p:sp>
        <p:nvSpPr>
          <p:cNvPr id="18" name="Text 16"/>
          <p:cNvSpPr/>
          <p:nvPr/>
        </p:nvSpPr>
        <p:spPr>
          <a:xfrm>
            <a:off x="8759952" y="4608576"/>
            <a:ext cx="932688" cy="347472"/>
          </a:xfrm>
          <a:prstGeom prst="rect">
            <a:avLst/>
          </a:prstGeom>
          <a:noFill/>
          <a:ln/>
        </p:spPr>
        <p:txBody>
          <a:bodyPr wrap="square" lIns="0" tIns="0" rIns="0" bIns="0" rtlCol="0" anchor="ctr"/>
          <a:lstStyle/>
          <a:p>
            <a:pPr algn="ctr" indent="0" marL="0">
              <a:buNone/>
            </a:pPr>
            <a:r>
              <a:rPr lang="en-US" sz="1100" dirty="0">
                <a:solidFill>
                  <a:srgbClr val="12202E"/>
                </a:solidFill>
                <a:latin typeface="Calibri" pitchFamily="34" charset="0"/>
                <a:ea typeface="Calibri" pitchFamily="34" charset="-122"/>
                <a:cs typeface="Calibri" pitchFamily="34" charset="-120"/>
              </a:rPr>
              <a:t>IV</a:t>
            </a:r>
            <a:endParaRPr lang="en-US" sz="1100" dirty="0"/>
          </a:p>
        </p:txBody>
      </p:sp>
      <p:sp>
        <p:nvSpPr>
          <p:cNvPr id="19" name="Shape 17"/>
          <p:cNvSpPr/>
          <p:nvPr/>
        </p:nvSpPr>
        <p:spPr>
          <a:xfrm>
            <a:off x="9729216" y="4608576"/>
            <a:ext cx="932688" cy="347472"/>
          </a:xfrm>
          <a:prstGeom prst="rect">
            <a:avLst/>
          </a:prstGeom>
          <a:solidFill>
            <a:srgbClr val="F5F7FA"/>
          </a:solidFill>
          <a:ln w="12700">
            <a:solidFill>
              <a:srgbClr val="DDE5EE"/>
            </a:solidFill>
            <a:prstDash val="solid"/>
          </a:ln>
        </p:spPr>
      </p:sp>
      <p:sp>
        <p:nvSpPr>
          <p:cNvPr id="20" name="Text 18"/>
          <p:cNvSpPr/>
          <p:nvPr/>
        </p:nvSpPr>
        <p:spPr>
          <a:xfrm>
            <a:off x="9729216" y="4608576"/>
            <a:ext cx="932688" cy="347472"/>
          </a:xfrm>
          <a:prstGeom prst="rect">
            <a:avLst/>
          </a:prstGeom>
          <a:noFill/>
          <a:ln/>
        </p:spPr>
        <p:txBody>
          <a:bodyPr wrap="square" lIns="0" tIns="0" rIns="0" bIns="0" rtlCol="0" anchor="ctr"/>
          <a:lstStyle/>
          <a:p>
            <a:pPr algn="ctr" indent="0" marL="0">
              <a:buNone/>
            </a:pPr>
            <a:r>
              <a:rPr lang="en-US" sz="1100" dirty="0">
                <a:solidFill>
                  <a:srgbClr val="12202E"/>
                </a:solidFill>
                <a:latin typeface="Calibri" pitchFamily="34" charset="0"/>
                <a:ea typeface="Calibri" pitchFamily="34" charset="-122"/>
                <a:cs typeface="Calibri" pitchFamily="34" charset="-120"/>
              </a:rPr>
              <a:t>III</a:t>
            </a:r>
            <a:endParaRPr lang="en-US" sz="1100" dirty="0"/>
          </a:p>
        </p:txBody>
      </p:sp>
      <p:sp>
        <p:nvSpPr>
          <p:cNvPr id="21" name="Shape 19"/>
          <p:cNvSpPr/>
          <p:nvPr/>
        </p:nvSpPr>
        <p:spPr>
          <a:xfrm>
            <a:off x="10698480" y="4608576"/>
            <a:ext cx="932688" cy="347472"/>
          </a:xfrm>
          <a:prstGeom prst="rect">
            <a:avLst/>
          </a:prstGeom>
          <a:solidFill>
            <a:srgbClr val="F5F7FA"/>
          </a:solidFill>
          <a:ln w="12700">
            <a:solidFill>
              <a:srgbClr val="DDE5EE"/>
            </a:solidFill>
            <a:prstDash val="solid"/>
          </a:ln>
        </p:spPr>
      </p:sp>
      <p:sp>
        <p:nvSpPr>
          <p:cNvPr id="22" name="Text 20"/>
          <p:cNvSpPr/>
          <p:nvPr/>
        </p:nvSpPr>
        <p:spPr>
          <a:xfrm>
            <a:off x="10698480" y="4608576"/>
            <a:ext cx="932688" cy="347472"/>
          </a:xfrm>
          <a:prstGeom prst="rect">
            <a:avLst/>
          </a:prstGeom>
          <a:noFill/>
          <a:ln/>
        </p:spPr>
        <p:txBody>
          <a:bodyPr wrap="square" lIns="0" tIns="0" rIns="0" bIns="0" rtlCol="0" anchor="ctr"/>
          <a:lstStyle/>
          <a:p>
            <a:pPr algn="ctr" indent="0" marL="0">
              <a:buNone/>
            </a:pPr>
            <a:r>
              <a:rPr lang="en-US" sz="1100" dirty="0">
                <a:solidFill>
                  <a:srgbClr val="12202E"/>
                </a:solidFill>
                <a:latin typeface="Calibri" pitchFamily="34" charset="0"/>
                <a:ea typeface="Calibri" pitchFamily="34" charset="-122"/>
                <a:cs typeface="Calibri" pitchFamily="34" charset="-120"/>
              </a:rPr>
              <a:t>II</a:t>
            </a:r>
            <a:endParaRPr lang="en-US" sz="1100" dirty="0"/>
          </a:p>
        </p:txBody>
      </p:sp>
      <p:sp>
        <p:nvSpPr>
          <p:cNvPr id="23" name="Text 21"/>
          <p:cNvSpPr/>
          <p:nvPr/>
        </p:nvSpPr>
        <p:spPr>
          <a:xfrm>
            <a:off x="7790688" y="4992624"/>
            <a:ext cx="932688" cy="347472"/>
          </a:xfrm>
          <a:prstGeom prst="rect">
            <a:avLst/>
          </a:prstGeom>
          <a:noFill/>
          <a:ln/>
        </p:spPr>
        <p:txBody>
          <a:bodyPr wrap="square" lIns="0" tIns="0" rIns="0" bIns="0" rtlCol="0" anchor="ctr"/>
          <a:lstStyle/>
          <a:p>
            <a:pPr algn="l" indent="0" marL="0">
              <a:buNone/>
            </a:pPr>
            <a:r>
              <a:rPr lang="en-US" sz="950" b="1" dirty="0">
                <a:solidFill>
                  <a:srgbClr val="5D7186"/>
                </a:solidFill>
                <a:latin typeface="Calibri" pitchFamily="34" charset="0"/>
                <a:ea typeface="Calibri" pitchFamily="34" charset="-122"/>
                <a:cs typeface="Calibri" pitchFamily="34" charset="-120"/>
              </a:rPr>
              <a:t>Serious</a:t>
            </a:r>
            <a:endParaRPr lang="en-US" sz="950" dirty="0"/>
          </a:p>
        </p:txBody>
      </p:sp>
      <p:sp>
        <p:nvSpPr>
          <p:cNvPr id="24" name="Shape 22"/>
          <p:cNvSpPr/>
          <p:nvPr/>
        </p:nvSpPr>
        <p:spPr>
          <a:xfrm>
            <a:off x="8759952" y="4992624"/>
            <a:ext cx="932688" cy="347472"/>
          </a:xfrm>
          <a:prstGeom prst="rect">
            <a:avLst/>
          </a:prstGeom>
          <a:solidFill>
            <a:srgbClr val="F5F7FA"/>
          </a:solidFill>
          <a:ln w="12700">
            <a:solidFill>
              <a:srgbClr val="DDE5EE"/>
            </a:solidFill>
            <a:prstDash val="solid"/>
          </a:ln>
        </p:spPr>
      </p:sp>
      <p:sp>
        <p:nvSpPr>
          <p:cNvPr id="25" name="Text 23"/>
          <p:cNvSpPr/>
          <p:nvPr/>
        </p:nvSpPr>
        <p:spPr>
          <a:xfrm>
            <a:off x="8759952" y="4992624"/>
            <a:ext cx="932688" cy="347472"/>
          </a:xfrm>
          <a:prstGeom prst="rect">
            <a:avLst/>
          </a:prstGeom>
          <a:noFill/>
          <a:ln/>
        </p:spPr>
        <p:txBody>
          <a:bodyPr wrap="square" lIns="0" tIns="0" rIns="0" bIns="0" rtlCol="0" anchor="ctr"/>
          <a:lstStyle/>
          <a:p>
            <a:pPr algn="ctr" indent="0" marL="0">
              <a:buNone/>
            </a:pPr>
            <a:r>
              <a:rPr lang="en-US" sz="1100" dirty="0">
                <a:solidFill>
                  <a:srgbClr val="12202E"/>
                </a:solidFill>
                <a:latin typeface="Calibri" pitchFamily="34" charset="0"/>
                <a:ea typeface="Calibri" pitchFamily="34" charset="-122"/>
                <a:cs typeface="Calibri" pitchFamily="34" charset="-120"/>
              </a:rPr>
              <a:t>III</a:t>
            </a:r>
            <a:endParaRPr lang="en-US" sz="1100" dirty="0"/>
          </a:p>
        </p:txBody>
      </p:sp>
      <p:sp>
        <p:nvSpPr>
          <p:cNvPr id="26" name="Shape 24"/>
          <p:cNvSpPr/>
          <p:nvPr/>
        </p:nvSpPr>
        <p:spPr>
          <a:xfrm>
            <a:off x="9729216" y="4992624"/>
            <a:ext cx="932688" cy="347472"/>
          </a:xfrm>
          <a:prstGeom prst="rect">
            <a:avLst/>
          </a:prstGeom>
          <a:solidFill>
            <a:srgbClr val="12202E"/>
          </a:solidFill>
          <a:ln w="12700">
            <a:solidFill>
              <a:srgbClr val="12202E"/>
            </a:solidFill>
            <a:prstDash val="solid"/>
          </a:ln>
        </p:spPr>
      </p:sp>
      <p:sp>
        <p:nvSpPr>
          <p:cNvPr id="27" name="Text 25"/>
          <p:cNvSpPr/>
          <p:nvPr/>
        </p:nvSpPr>
        <p:spPr>
          <a:xfrm>
            <a:off x="9729216" y="4992624"/>
            <a:ext cx="932688"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II</a:t>
            </a:r>
            <a:endParaRPr lang="en-US" sz="1100" dirty="0"/>
          </a:p>
        </p:txBody>
      </p:sp>
      <p:sp>
        <p:nvSpPr>
          <p:cNvPr id="28" name="Shape 26"/>
          <p:cNvSpPr/>
          <p:nvPr/>
        </p:nvSpPr>
        <p:spPr>
          <a:xfrm>
            <a:off x="10698480" y="4992624"/>
            <a:ext cx="932688" cy="347472"/>
          </a:xfrm>
          <a:prstGeom prst="rect">
            <a:avLst/>
          </a:prstGeom>
          <a:solidFill>
            <a:srgbClr val="F5F7FA"/>
          </a:solidFill>
          <a:ln w="12700">
            <a:solidFill>
              <a:srgbClr val="DDE5EE"/>
            </a:solidFill>
            <a:prstDash val="solid"/>
          </a:ln>
        </p:spPr>
      </p:sp>
      <p:sp>
        <p:nvSpPr>
          <p:cNvPr id="29" name="Text 27"/>
          <p:cNvSpPr/>
          <p:nvPr/>
        </p:nvSpPr>
        <p:spPr>
          <a:xfrm>
            <a:off x="10698480" y="4992624"/>
            <a:ext cx="932688" cy="347472"/>
          </a:xfrm>
          <a:prstGeom prst="rect">
            <a:avLst/>
          </a:prstGeom>
          <a:noFill/>
          <a:ln/>
        </p:spPr>
        <p:txBody>
          <a:bodyPr wrap="square" lIns="0" tIns="0" rIns="0" bIns="0" rtlCol="0" anchor="ctr"/>
          <a:lstStyle/>
          <a:p>
            <a:pPr algn="ctr" indent="0" marL="0">
              <a:buNone/>
            </a:pPr>
            <a:r>
              <a:rPr lang="en-US" sz="1100" dirty="0">
                <a:solidFill>
                  <a:srgbClr val="12202E"/>
                </a:solidFill>
                <a:latin typeface="Calibri" pitchFamily="34" charset="0"/>
                <a:ea typeface="Calibri" pitchFamily="34" charset="-122"/>
                <a:cs typeface="Calibri" pitchFamily="34" charset="-120"/>
              </a:rPr>
              <a:t>I</a:t>
            </a:r>
            <a:endParaRPr lang="en-US" sz="1100" dirty="0"/>
          </a:p>
        </p:txBody>
      </p:sp>
      <p:sp>
        <p:nvSpPr>
          <p:cNvPr id="30" name="Text 28"/>
          <p:cNvSpPr/>
          <p:nvPr/>
        </p:nvSpPr>
        <p:spPr>
          <a:xfrm>
            <a:off x="7790688" y="5376672"/>
            <a:ext cx="932688" cy="347472"/>
          </a:xfrm>
          <a:prstGeom prst="rect">
            <a:avLst/>
          </a:prstGeom>
          <a:noFill/>
          <a:ln/>
        </p:spPr>
        <p:txBody>
          <a:bodyPr wrap="square" lIns="0" tIns="0" rIns="0" bIns="0" rtlCol="0" anchor="ctr"/>
          <a:lstStyle/>
          <a:p>
            <a:pPr algn="l" indent="0" marL="0">
              <a:buNone/>
            </a:pPr>
            <a:r>
              <a:rPr lang="en-US" sz="950" b="1" dirty="0">
                <a:solidFill>
                  <a:srgbClr val="5D7186"/>
                </a:solidFill>
                <a:latin typeface="Calibri" pitchFamily="34" charset="0"/>
                <a:ea typeface="Calibri" pitchFamily="34" charset="-122"/>
                <a:cs typeface="Calibri" pitchFamily="34" charset="-120"/>
              </a:rPr>
              <a:t>Non-serious</a:t>
            </a:r>
            <a:endParaRPr lang="en-US" sz="950" dirty="0"/>
          </a:p>
        </p:txBody>
      </p:sp>
      <p:sp>
        <p:nvSpPr>
          <p:cNvPr id="31" name="Shape 29"/>
          <p:cNvSpPr/>
          <p:nvPr/>
        </p:nvSpPr>
        <p:spPr>
          <a:xfrm>
            <a:off x="8759952" y="5376672"/>
            <a:ext cx="932688" cy="347472"/>
          </a:xfrm>
          <a:prstGeom prst="rect">
            <a:avLst/>
          </a:prstGeom>
          <a:solidFill>
            <a:srgbClr val="F5F7FA"/>
          </a:solidFill>
          <a:ln w="12700">
            <a:solidFill>
              <a:srgbClr val="DDE5EE"/>
            </a:solidFill>
            <a:prstDash val="solid"/>
          </a:ln>
        </p:spPr>
      </p:sp>
      <p:sp>
        <p:nvSpPr>
          <p:cNvPr id="32" name="Text 30"/>
          <p:cNvSpPr/>
          <p:nvPr/>
        </p:nvSpPr>
        <p:spPr>
          <a:xfrm>
            <a:off x="8759952" y="5376672"/>
            <a:ext cx="932688" cy="347472"/>
          </a:xfrm>
          <a:prstGeom prst="rect">
            <a:avLst/>
          </a:prstGeom>
          <a:noFill/>
          <a:ln/>
        </p:spPr>
        <p:txBody>
          <a:bodyPr wrap="square" lIns="0" tIns="0" rIns="0" bIns="0" rtlCol="0" anchor="ctr"/>
          <a:lstStyle/>
          <a:p>
            <a:pPr algn="ctr" indent="0" marL="0">
              <a:buNone/>
            </a:pPr>
            <a:r>
              <a:rPr lang="en-US" sz="1100" dirty="0">
                <a:solidFill>
                  <a:srgbClr val="12202E"/>
                </a:solidFill>
                <a:latin typeface="Calibri" pitchFamily="34" charset="0"/>
                <a:ea typeface="Calibri" pitchFamily="34" charset="-122"/>
                <a:cs typeface="Calibri" pitchFamily="34" charset="-120"/>
              </a:rPr>
              <a:t>II</a:t>
            </a:r>
            <a:endParaRPr lang="en-US" sz="1100" dirty="0"/>
          </a:p>
        </p:txBody>
      </p:sp>
      <p:sp>
        <p:nvSpPr>
          <p:cNvPr id="33" name="Shape 31"/>
          <p:cNvSpPr/>
          <p:nvPr/>
        </p:nvSpPr>
        <p:spPr>
          <a:xfrm>
            <a:off x="9729216" y="5376672"/>
            <a:ext cx="932688" cy="347472"/>
          </a:xfrm>
          <a:prstGeom prst="rect">
            <a:avLst/>
          </a:prstGeom>
          <a:solidFill>
            <a:srgbClr val="F5F7FA"/>
          </a:solidFill>
          <a:ln w="12700">
            <a:solidFill>
              <a:srgbClr val="DDE5EE"/>
            </a:solidFill>
            <a:prstDash val="solid"/>
          </a:ln>
        </p:spPr>
      </p:sp>
      <p:sp>
        <p:nvSpPr>
          <p:cNvPr id="34" name="Text 32"/>
          <p:cNvSpPr/>
          <p:nvPr/>
        </p:nvSpPr>
        <p:spPr>
          <a:xfrm>
            <a:off x="9729216" y="5376672"/>
            <a:ext cx="932688" cy="347472"/>
          </a:xfrm>
          <a:prstGeom prst="rect">
            <a:avLst/>
          </a:prstGeom>
          <a:noFill/>
          <a:ln/>
        </p:spPr>
        <p:txBody>
          <a:bodyPr wrap="square" lIns="0" tIns="0" rIns="0" bIns="0" rtlCol="0" anchor="ctr"/>
          <a:lstStyle/>
          <a:p>
            <a:pPr algn="ctr" indent="0" marL="0">
              <a:buNone/>
            </a:pPr>
            <a:r>
              <a:rPr lang="en-US" sz="1100" dirty="0">
                <a:solidFill>
                  <a:srgbClr val="12202E"/>
                </a:solidFill>
                <a:latin typeface="Calibri" pitchFamily="34" charset="0"/>
                <a:ea typeface="Calibri" pitchFamily="34" charset="-122"/>
                <a:cs typeface="Calibri" pitchFamily="34" charset="-120"/>
              </a:rPr>
              <a:t>I</a:t>
            </a:r>
            <a:endParaRPr lang="en-US" sz="1100" dirty="0"/>
          </a:p>
        </p:txBody>
      </p:sp>
      <p:sp>
        <p:nvSpPr>
          <p:cNvPr id="35" name="Shape 33"/>
          <p:cNvSpPr/>
          <p:nvPr/>
        </p:nvSpPr>
        <p:spPr>
          <a:xfrm>
            <a:off x="10698480" y="5376672"/>
            <a:ext cx="932688" cy="347472"/>
          </a:xfrm>
          <a:prstGeom prst="rect">
            <a:avLst/>
          </a:prstGeom>
          <a:solidFill>
            <a:srgbClr val="F5F7FA"/>
          </a:solidFill>
          <a:ln w="12700">
            <a:solidFill>
              <a:srgbClr val="DDE5EE"/>
            </a:solidFill>
            <a:prstDash val="solid"/>
          </a:ln>
        </p:spPr>
      </p:sp>
      <p:sp>
        <p:nvSpPr>
          <p:cNvPr id="36" name="Text 34"/>
          <p:cNvSpPr/>
          <p:nvPr/>
        </p:nvSpPr>
        <p:spPr>
          <a:xfrm>
            <a:off x="10698480" y="5376672"/>
            <a:ext cx="932688" cy="347472"/>
          </a:xfrm>
          <a:prstGeom prst="rect">
            <a:avLst/>
          </a:prstGeom>
          <a:noFill/>
          <a:ln/>
        </p:spPr>
        <p:txBody>
          <a:bodyPr wrap="square" lIns="0" tIns="0" rIns="0" bIns="0" rtlCol="0" anchor="ctr"/>
          <a:lstStyle/>
          <a:p>
            <a:pPr algn="ctr" indent="0" marL="0">
              <a:buNone/>
            </a:pPr>
            <a:r>
              <a:rPr lang="en-US" sz="1100" dirty="0">
                <a:solidFill>
                  <a:srgbClr val="12202E"/>
                </a:solidFill>
                <a:latin typeface="Calibri" pitchFamily="34" charset="0"/>
                <a:ea typeface="Calibri" pitchFamily="34" charset="-122"/>
                <a:cs typeface="Calibri" pitchFamily="34" charset="-120"/>
              </a:rPr>
              <a:t>I</a:t>
            </a:r>
            <a:endParaRPr lang="en-US" sz="1100" dirty="0"/>
          </a:p>
        </p:txBody>
      </p:sp>
      <p:sp>
        <p:nvSpPr>
          <p:cNvPr id="37" name="Text 35"/>
          <p:cNvSpPr/>
          <p:nvPr/>
        </p:nvSpPr>
        <p:spPr>
          <a:xfrm>
            <a:off x="7790688" y="5760720"/>
            <a:ext cx="3840480" cy="237744"/>
          </a:xfrm>
          <a:prstGeom prst="rect">
            <a:avLst/>
          </a:prstGeom>
          <a:noFill/>
          <a:ln/>
        </p:spPr>
        <p:txBody>
          <a:bodyPr wrap="square" lIns="0" tIns="0" rIns="0" bIns="0" rtlCol="0" anchor="ctr"/>
          <a:lstStyle/>
          <a:p>
            <a:pPr indent="0" marL="0">
              <a:buNone/>
            </a:pPr>
            <a:r>
              <a:rPr lang="en-US" sz="1000" i="1" dirty="0">
                <a:solidFill>
                  <a:srgbClr val="5D7186"/>
                </a:solidFill>
                <a:latin typeface="Calibri" pitchFamily="34" charset="0"/>
                <a:ea typeface="Calibri" pitchFamily="34" charset="-122"/>
                <a:cs typeface="Calibri" pitchFamily="34" charset="-120"/>
              </a:rPr>
              <a:t>IMDRF risk categorisation</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2202E"/>
        </a:solidFill>
      </p:bgPr>
    </p:bg>
    <p:spTree>
      <p:nvGrpSpPr>
        <p:cNvPr id="1" name=""/>
        <p:cNvGrpSpPr/>
        <p:nvPr/>
      </p:nvGrpSpPr>
      <p:grpSpPr>
        <a:xfrm>
          <a:off x="0" y="0"/>
          <a:ext cx="0" cy="0"/>
          <a:chOff x="0" y="0"/>
          <a:chExt cx="0" cy="0"/>
        </a:xfrm>
      </p:grpSpPr>
      <p:sp>
        <p:nvSpPr>
          <p:cNvPr id="2" name="Text 0"/>
          <p:cNvSpPr/>
          <p:nvPr/>
        </p:nvSpPr>
        <p:spPr>
          <a:xfrm>
            <a:off x="566928" y="658368"/>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Individual contributions</a:t>
            </a:r>
            <a:endParaRPr lang="en-US" sz="3000" dirty="0"/>
          </a:p>
        </p:txBody>
      </p:sp>
      <p:sp>
        <p:nvSpPr>
          <p:cNvPr id="3" name="Shape 1"/>
          <p:cNvSpPr/>
          <p:nvPr/>
        </p:nvSpPr>
        <p:spPr>
          <a:xfrm>
            <a:off x="566928" y="1481328"/>
            <a:ext cx="11064240" cy="1938528"/>
          </a:xfrm>
          <a:prstGeom prst="roundRect">
            <a:avLst>
              <a:gd name="adj" fmla="val 4245"/>
            </a:avLst>
          </a:prstGeom>
          <a:solidFill>
            <a:srgbClr val="1D3148"/>
          </a:solidFill>
          <a:ln w="12700">
            <a:solidFill>
              <a:srgbClr val="1D3148"/>
            </a:solidFill>
            <a:prstDash val="solid"/>
          </a:ln>
        </p:spPr>
      </p:sp>
      <p:sp>
        <p:nvSpPr>
          <p:cNvPr id="4" name="Text 2"/>
          <p:cNvSpPr/>
          <p:nvPr/>
        </p:nvSpPr>
        <p:spPr>
          <a:xfrm>
            <a:off x="877824" y="1645920"/>
            <a:ext cx="329184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Feline Weger</a:t>
            </a:r>
            <a:endParaRPr lang="en-US" sz="1500" dirty="0"/>
          </a:p>
        </p:txBody>
      </p:sp>
      <p:sp>
        <p:nvSpPr>
          <p:cNvPr id="5" name="Text 3"/>
          <p:cNvSpPr/>
          <p:nvPr/>
        </p:nvSpPr>
        <p:spPr>
          <a:xfrm>
            <a:off x="877824" y="1993392"/>
            <a:ext cx="3291840" cy="457200"/>
          </a:xfrm>
          <a:prstGeom prst="rect">
            <a:avLst/>
          </a:prstGeom>
          <a:noFill/>
          <a:ln/>
        </p:spPr>
        <p:txBody>
          <a:bodyPr wrap="square" lIns="0" tIns="0" rIns="0" bIns="0" rtlCol="0" anchor="ctr"/>
          <a:lstStyle/>
          <a:p>
            <a:pPr indent="0" marL="0">
              <a:lnSpc>
                <a:spcPts val="1400"/>
              </a:lnSpc>
              <a:buNone/>
            </a:pPr>
            <a:r>
              <a:rPr lang="en-US" sz="1050" dirty="0">
                <a:solidFill>
                  <a:srgbClr val="8FA3B8"/>
                </a:solidFill>
                <a:latin typeface="Calibri" pitchFamily="34" charset="0"/>
                <a:ea typeface="Calibri" pitchFamily="34" charset="-122"/>
                <a:cs typeface="Calibri" pitchFamily="34" charset="-120"/>
              </a:rPr>
              <a:t>Biomedical Engineer · clinical lead &amp; L2</a:t>
            </a:r>
            <a:endParaRPr lang="en-US" sz="1050" dirty="0"/>
          </a:p>
        </p:txBody>
      </p:sp>
      <p:sp>
        <p:nvSpPr>
          <p:cNvPr id="6" name="Text 4"/>
          <p:cNvSpPr/>
          <p:nvPr/>
        </p:nvSpPr>
        <p:spPr>
          <a:xfrm>
            <a:off x="877824" y="2852928"/>
            <a:ext cx="3291840" cy="274320"/>
          </a:xfrm>
          <a:prstGeom prst="rect">
            <a:avLst/>
          </a:prstGeom>
          <a:noFill/>
          <a:ln/>
        </p:spPr>
        <p:txBody>
          <a:bodyPr wrap="square" lIns="0" tIns="0" rIns="0" bIns="0" rtlCol="0" anchor="ctr"/>
          <a:lstStyle/>
          <a:p>
            <a:pPr indent="0" marL="0">
              <a:buNone/>
            </a:pPr>
            <a:r>
              <a:rPr lang="en-US" sz="1100" b="1" dirty="0">
                <a:solidFill>
                  <a:srgbClr val="AFC2D6"/>
                </a:solidFill>
                <a:latin typeface="Calibri" pitchFamily="34" charset="0"/>
                <a:ea typeface="Calibri" pitchFamily="34" charset="-122"/>
                <a:cs typeface="Calibri" pitchFamily="34" charset="-120"/>
              </a:rPr>
              <a:t>Slides 2 – 9</a:t>
            </a:r>
            <a:endParaRPr lang="en-US" sz="1100" dirty="0"/>
          </a:p>
        </p:txBody>
      </p:sp>
      <p:sp>
        <p:nvSpPr>
          <p:cNvPr id="7" name="Text 5"/>
          <p:cNvSpPr/>
          <p:nvPr/>
        </p:nvSpPr>
        <p:spPr>
          <a:xfrm>
            <a:off x="4407408" y="1664208"/>
            <a:ext cx="6949440" cy="1600200"/>
          </a:xfrm>
          <a:prstGeom prst="rect">
            <a:avLst/>
          </a:prstGeom>
          <a:noFill/>
          <a:ln/>
        </p:spPr>
        <p:txBody>
          <a:bodyPr wrap="square" lIns="0" tIns="0" rIns="0" bIns="0" rtlCol="0" anchor="t"/>
          <a:lstStyle/>
          <a:p>
            <a:pPr marL="165100" indent="-165100">
              <a:lnSpc>
                <a:spcPts val="1500"/>
              </a:lnSpc>
              <a:spcAft>
                <a:spcPts val="500"/>
              </a:spcAft>
              <a:buSzPct val="100000"/>
              <a:buChar char="•"/>
            </a:pPr>
            <a:r>
              <a:rPr lang="en-US" sz="1100" dirty="0">
                <a:solidFill>
                  <a:srgbClr val="D6E2EE"/>
                </a:solidFill>
                <a:latin typeface="Calibri" pitchFamily="34" charset="0"/>
                <a:ea typeface="Calibri" pitchFamily="34" charset="-122"/>
                <a:cs typeface="Calibri" pitchFamily="34" charset="-120"/>
              </a:rPr>
              <a:t>L1 source research and evidence appraisal — CDC, NICE NG125, Southampton, Campwala et al.</a:t>
            </a:r>
            <a:endParaRPr lang="en-US" sz="1100" dirty="0"/>
          </a:p>
          <a:p>
            <a:pPr marL="165100" indent="-165100">
              <a:lnSpc>
                <a:spcPts val="1500"/>
              </a:lnSpc>
              <a:spcAft>
                <a:spcPts val="500"/>
              </a:spcAft>
              <a:buSzPct val="100000"/>
              <a:buChar char="•"/>
            </a:pPr>
            <a:r>
              <a:rPr lang="en-US" sz="1100" dirty="0">
                <a:solidFill>
                  <a:srgbClr val="D6E2EE"/>
                </a:solidFill>
                <a:latin typeface="Calibri" pitchFamily="34" charset="0"/>
                <a:ea typeface="Calibri" pitchFamily="34" charset="-122"/>
                <a:cs typeface="Calibri" pitchFamily="34" charset="-120"/>
              </a:rPr>
              <a:t>Health system need, scope decision, three personas and the scenarios</a:t>
            </a:r>
            <a:endParaRPr lang="en-US" sz="1100" dirty="0"/>
          </a:p>
          <a:p>
            <a:pPr marL="165100" indent="-165100">
              <a:lnSpc>
                <a:spcPts val="1500"/>
              </a:lnSpc>
              <a:spcAft>
                <a:spcPts val="500"/>
              </a:spcAft>
              <a:buSzPct val="100000"/>
              <a:buChar char="•"/>
            </a:pPr>
            <a:r>
              <a:rPr lang="en-US" sz="1100" dirty="0">
                <a:solidFill>
                  <a:srgbClr val="D6E2EE"/>
                </a:solidFill>
                <a:latin typeface="Calibri" pitchFamily="34" charset="0"/>
                <a:ea typeface="Calibri" pitchFamily="34" charset="-122"/>
                <a:cs typeface="Calibri" pitchFamily="34" charset="-120"/>
              </a:rPr>
              <a:t>Southampton → image-card mapping; the nine documented L1 → L2 translation decisions</a:t>
            </a:r>
            <a:endParaRPr lang="en-US" sz="1100" dirty="0"/>
          </a:p>
          <a:p>
            <a:pPr marL="165100" indent="-165100">
              <a:lnSpc>
                <a:spcPts val="1500"/>
              </a:lnSpc>
              <a:spcAft>
                <a:spcPts val="500"/>
              </a:spcAft>
              <a:buSzPct val="100000"/>
              <a:buChar char="•"/>
            </a:pPr>
            <a:r>
              <a:rPr lang="en-US" sz="1100" dirty="0">
                <a:solidFill>
                  <a:srgbClr val="D6E2EE"/>
                </a:solidFill>
                <a:latin typeface="Calibri" pitchFamily="34" charset="0"/>
                <a:ea typeface="Calibri" pitchFamily="34" charset="-122"/>
                <a:cs typeface="Calibri" pitchFamily="34" charset="-120"/>
              </a:rPr>
              <a:t>BPMN high-level and detail process · data dictionary (48 elements) · decision table (18 rules)</a:t>
            </a:r>
            <a:endParaRPr lang="en-US" sz="1100" dirty="0"/>
          </a:p>
        </p:txBody>
      </p:sp>
      <p:sp>
        <p:nvSpPr>
          <p:cNvPr id="8" name="Shape 6"/>
          <p:cNvSpPr/>
          <p:nvPr/>
        </p:nvSpPr>
        <p:spPr>
          <a:xfrm>
            <a:off x="566928" y="3602736"/>
            <a:ext cx="11064240" cy="1938528"/>
          </a:xfrm>
          <a:prstGeom prst="roundRect">
            <a:avLst>
              <a:gd name="adj" fmla="val 4245"/>
            </a:avLst>
          </a:prstGeom>
          <a:solidFill>
            <a:srgbClr val="1D3148"/>
          </a:solidFill>
          <a:ln w="12700">
            <a:solidFill>
              <a:srgbClr val="1D3148"/>
            </a:solidFill>
            <a:prstDash val="solid"/>
          </a:ln>
        </p:spPr>
      </p:sp>
      <p:sp>
        <p:nvSpPr>
          <p:cNvPr id="9" name="Text 7"/>
          <p:cNvSpPr/>
          <p:nvPr/>
        </p:nvSpPr>
        <p:spPr>
          <a:xfrm>
            <a:off x="877824" y="3767328"/>
            <a:ext cx="329184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Sivanajani Sivakumar</a:t>
            </a:r>
            <a:endParaRPr lang="en-US" sz="1500" dirty="0"/>
          </a:p>
        </p:txBody>
      </p:sp>
      <p:sp>
        <p:nvSpPr>
          <p:cNvPr id="10" name="Text 8"/>
          <p:cNvSpPr/>
          <p:nvPr/>
        </p:nvSpPr>
        <p:spPr>
          <a:xfrm>
            <a:off x="877824" y="4114800"/>
            <a:ext cx="3291840" cy="457200"/>
          </a:xfrm>
          <a:prstGeom prst="rect">
            <a:avLst/>
          </a:prstGeom>
          <a:noFill/>
          <a:ln/>
        </p:spPr>
        <p:txBody>
          <a:bodyPr wrap="square" lIns="0" tIns="0" rIns="0" bIns="0" rtlCol="0" anchor="ctr"/>
          <a:lstStyle/>
          <a:p>
            <a:pPr indent="0" marL="0">
              <a:lnSpc>
                <a:spcPts val="1400"/>
              </a:lnSpc>
              <a:buNone/>
            </a:pPr>
            <a:r>
              <a:rPr lang="en-US" sz="1050" dirty="0">
                <a:solidFill>
                  <a:srgbClr val="8FA3B8"/>
                </a:solidFill>
                <a:latin typeface="Calibri" pitchFamily="34" charset="0"/>
                <a:ea typeface="Calibri" pitchFamily="34" charset="-122"/>
                <a:cs typeface="Calibri" pitchFamily="34" charset="-120"/>
              </a:rPr>
              <a:t>MSc Medical Informatics · technical lead &amp; QA</a:t>
            </a:r>
            <a:endParaRPr lang="en-US" sz="1050" dirty="0"/>
          </a:p>
        </p:txBody>
      </p:sp>
      <p:sp>
        <p:nvSpPr>
          <p:cNvPr id="11" name="Text 9"/>
          <p:cNvSpPr/>
          <p:nvPr/>
        </p:nvSpPr>
        <p:spPr>
          <a:xfrm>
            <a:off x="877824" y="4974336"/>
            <a:ext cx="3291840" cy="274320"/>
          </a:xfrm>
          <a:prstGeom prst="rect">
            <a:avLst/>
          </a:prstGeom>
          <a:noFill/>
          <a:ln/>
        </p:spPr>
        <p:txBody>
          <a:bodyPr wrap="square" lIns="0" tIns="0" rIns="0" bIns="0" rtlCol="0" anchor="ctr"/>
          <a:lstStyle/>
          <a:p>
            <a:pPr indent="0" marL="0">
              <a:buNone/>
            </a:pPr>
            <a:r>
              <a:rPr lang="en-US" sz="1100" b="1" dirty="0">
                <a:solidFill>
                  <a:srgbClr val="AFC2D6"/>
                </a:solidFill>
                <a:latin typeface="Calibri" pitchFamily="34" charset="0"/>
                <a:ea typeface="Calibri" pitchFamily="34" charset="-122"/>
                <a:cs typeface="Calibri" pitchFamily="34" charset="-120"/>
              </a:rPr>
              <a:t>Slides 10 – 16</a:t>
            </a:r>
            <a:endParaRPr lang="en-US" sz="1100" dirty="0"/>
          </a:p>
        </p:txBody>
      </p:sp>
      <p:sp>
        <p:nvSpPr>
          <p:cNvPr id="12" name="Text 10"/>
          <p:cNvSpPr/>
          <p:nvPr/>
        </p:nvSpPr>
        <p:spPr>
          <a:xfrm>
            <a:off x="4407408" y="3785616"/>
            <a:ext cx="6949440" cy="1600200"/>
          </a:xfrm>
          <a:prstGeom prst="rect">
            <a:avLst/>
          </a:prstGeom>
          <a:noFill/>
          <a:ln/>
        </p:spPr>
        <p:txBody>
          <a:bodyPr wrap="square" lIns="0" tIns="0" rIns="0" bIns="0" rtlCol="0" anchor="t"/>
          <a:lstStyle/>
          <a:p>
            <a:pPr marL="165100" indent="-165100">
              <a:lnSpc>
                <a:spcPts val="1500"/>
              </a:lnSpc>
              <a:spcAft>
                <a:spcPts val="500"/>
              </a:spcAft>
              <a:buSzPct val="100000"/>
              <a:buChar char="•"/>
            </a:pPr>
            <a:r>
              <a:rPr lang="en-US" sz="1100" dirty="0">
                <a:solidFill>
                  <a:srgbClr val="D6E2EE"/>
                </a:solidFill>
                <a:latin typeface="Calibri" pitchFamily="34" charset="0"/>
                <a:ea typeface="Calibri" pitchFamily="34" charset="-122"/>
                <a:cs typeface="Calibri" pitchFamily="34" charset="-120"/>
              </a:rPr>
              <a:t>L3 schema and authoring — thresholds, terminology bindings, FHIR mappings, versioning</a:t>
            </a:r>
            <a:endParaRPr lang="en-US" sz="1100" dirty="0"/>
          </a:p>
          <a:p>
            <a:pPr marL="165100" indent="-165100">
              <a:lnSpc>
                <a:spcPts val="1500"/>
              </a:lnSpc>
              <a:spcAft>
                <a:spcPts val="500"/>
              </a:spcAft>
              <a:buSzPct val="100000"/>
              <a:buChar char="•"/>
            </a:pPr>
            <a:r>
              <a:rPr lang="en-US" sz="1100" dirty="0">
                <a:solidFill>
                  <a:srgbClr val="D6E2EE"/>
                </a:solidFill>
                <a:latin typeface="Calibri" pitchFamily="34" charset="0"/>
                <a:ea typeface="Calibri" pitchFamily="34" charset="-122"/>
                <a:cs typeface="Calibri" pitchFamily="34" charset="-120"/>
              </a:rPr>
              <a:t>L4 application, expression engine, bilingual rendering, FHIR R4 transaction interface</a:t>
            </a:r>
            <a:endParaRPr lang="en-US" sz="1100" dirty="0"/>
          </a:p>
          <a:p>
            <a:pPr marL="165100" indent="-165100">
              <a:lnSpc>
                <a:spcPts val="1500"/>
              </a:lnSpc>
              <a:spcAft>
                <a:spcPts val="500"/>
              </a:spcAft>
              <a:buSzPct val="100000"/>
              <a:buChar char="•"/>
            </a:pPr>
            <a:r>
              <a:rPr lang="en-US" sz="1100" dirty="0">
                <a:solidFill>
                  <a:srgbClr val="D6E2EE"/>
                </a:solidFill>
                <a:latin typeface="Calibri" pitchFamily="34" charset="0"/>
                <a:ea typeface="Calibri" pitchFamily="34" charset="-122"/>
                <a:cs typeface="Calibri" pitchFamily="34" charset="-120"/>
              </a:rPr>
              <a:t>Hazard analysis, 19 decision-logic tests, 20 FHIR checks, the no-hardcoding check, bug log</a:t>
            </a:r>
            <a:endParaRPr lang="en-US" sz="1100" dirty="0"/>
          </a:p>
          <a:p>
            <a:pPr marL="165100" indent="-165100">
              <a:lnSpc>
                <a:spcPts val="1500"/>
              </a:lnSpc>
              <a:spcAft>
                <a:spcPts val="500"/>
              </a:spcAft>
              <a:buSzPct val="100000"/>
              <a:buChar char="•"/>
            </a:pPr>
            <a:r>
              <a:rPr lang="en-US" sz="1100" dirty="0">
                <a:solidFill>
                  <a:srgbClr val="D6E2EE"/>
                </a:solidFill>
                <a:latin typeface="Calibri" pitchFamily="34" charset="0"/>
                <a:ea typeface="Calibri" pitchFamily="34" charset="-122"/>
                <a:cs typeface="Calibri" pitchFamily="34" charset="-120"/>
              </a:rPr>
              <a:t>Implementation and M&amp;E strategy · expected impact · SaMD classification</a:t>
            </a:r>
            <a:endParaRPr lang="en-US" sz="1100" dirty="0"/>
          </a:p>
        </p:txBody>
      </p:sp>
      <p:sp>
        <p:nvSpPr>
          <p:cNvPr id="13" name="Text 11"/>
          <p:cNvSpPr/>
          <p:nvPr/>
        </p:nvSpPr>
        <p:spPr>
          <a:xfrm>
            <a:off x="566928" y="5870448"/>
            <a:ext cx="11064240" cy="274320"/>
          </a:xfrm>
          <a:prstGeom prst="rect">
            <a:avLst/>
          </a:prstGeom>
          <a:noFill/>
          <a:ln/>
        </p:spPr>
        <p:txBody>
          <a:bodyPr wrap="square" lIns="0" tIns="0" rIns="0" bIns="0" rtlCol="0" anchor="ctr"/>
          <a:lstStyle/>
          <a:p>
            <a:pPr indent="0" marL="0">
              <a:buNone/>
            </a:pPr>
            <a:r>
              <a:rPr lang="en-US" sz="1150" i="1" dirty="0">
                <a:solidFill>
                  <a:srgbClr val="8FA3B8"/>
                </a:solidFill>
                <a:latin typeface="Calibri" pitchFamily="34" charset="0"/>
                <a:ea typeface="Calibri" pitchFamily="34" charset="-122"/>
                <a:cs typeface="Calibri" pitchFamily="34" charset="-120"/>
              </a:rPr>
              <a:t>Both of us can answer questions on the whole project, not only on our own part. The QA of each other's layer was deliberately cross-assigned.</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2202E"/>
        </a:solidFill>
      </p:bgPr>
    </p:bg>
    <p:spTree>
      <p:nvGrpSpPr>
        <p:cNvPr id="1" name=""/>
        <p:cNvGrpSpPr/>
        <p:nvPr/>
      </p:nvGrpSpPr>
      <p:grpSpPr>
        <a:xfrm>
          <a:off x="0" y="0"/>
          <a:ext cx="0" cy="0"/>
          <a:chOff x="0" y="0"/>
          <a:chExt cx="0" cy="0"/>
        </a:xfrm>
      </p:grpSpPr>
      <p:sp>
        <p:nvSpPr>
          <p:cNvPr id="2" name="Text 0"/>
          <p:cNvSpPr/>
          <p:nvPr/>
        </p:nvSpPr>
        <p:spPr>
          <a:xfrm>
            <a:off x="566928" y="1417320"/>
            <a:ext cx="6766560" cy="5486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Everything is in the repository</a:t>
            </a:r>
            <a:endParaRPr lang="en-US" sz="3000" dirty="0"/>
          </a:p>
        </p:txBody>
      </p:sp>
      <p:sp>
        <p:nvSpPr>
          <p:cNvPr id="3" name="Text 1"/>
          <p:cNvSpPr/>
          <p:nvPr/>
        </p:nvSpPr>
        <p:spPr>
          <a:xfrm>
            <a:off x="566928" y="2029968"/>
            <a:ext cx="6400800" cy="640080"/>
          </a:xfrm>
          <a:prstGeom prst="rect">
            <a:avLst/>
          </a:prstGeom>
          <a:noFill/>
          <a:ln/>
        </p:spPr>
        <p:txBody>
          <a:bodyPr wrap="square" lIns="0" tIns="0" rIns="0" bIns="0" rtlCol="0" anchor="ctr"/>
          <a:lstStyle/>
          <a:p>
            <a:pPr indent="0" marL="0">
              <a:lnSpc>
                <a:spcPts val="1900"/>
              </a:lnSpc>
              <a:buNone/>
            </a:pPr>
            <a:r>
              <a:rPr lang="en-US" sz="1350" dirty="0">
                <a:solidFill>
                  <a:srgbClr val="C9D6E4"/>
                </a:solidFill>
                <a:latin typeface="Calibri" pitchFamily="34" charset="0"/>
                <a:ea typeface="Calibri" pitchFamily="34" charset="-122"/>
                <a:cs typeface="Calibri" pitchFamily="34" charset="-120"/>
              </a:rPr>
              <a:t>Documents, BPMN sources, the L3, the running L4, the test and conformance scripts — all of it, reproducible.</a:t>
            </a:r>
            <a:endParaRPr lang="en-US" sz="1350" dirty="0"/>
          </a:p>
        </p:txBody>
      </p:sp>
      <p:sp>
        <p:nvSpPr>
          <p:cNvPr id="4" name="Text 2"/>
          <p:cNvSpPr/>
          <p:nvPr/>
        </p:nvSpPr>
        <p:spPr>
          <a:xfrm>
            <a:off x="566928" y="2798064"/>
            <a:ext cx="640080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github.com/Sivanajani/smart-wound-guideline-app</a:t>
            </a:r>
            <a:endParaRPr lang="en-US" sz="1500" dirty="0"/>
          </a:p>
        </p:txBody>
      </p:sp>
      <p:sp>
        <p:nvSpPr>
          <p:cNvPr id="5" name="Text 3"/>
          <p:cNvSpPr/>
          <p:nvPr/>
        </p:nvSpPr>
        <p:spPr>
          <a:xfrm>
            <a:off x="566928" y="3401568"/>
            <a:ext cx="2651760" cy="274320"/>
          </a:xfrm>
          <a:prstGeom prst="rect">
            <a:avLst/>
          </a:prstGeom>
          <a:noFill/>
          <a:ln/>
        </p:spPr>
        <p:txBody>
          <a:bodyPr wrap="square" lIns="0" tIns="0" rIns="0" bIns="0" rtlCol="0" anchor="ctr"/>
          <a:lstStyle/>
          <a:p>
            <a:pPr indent="0" marL="0">
              <a:buNone/>
            </a:pPr>
            <a:r>
              <a:rPr lang="en-US" sz="1150" b="1" dirty="0">
                <a:solidFill>
                  <a:srgbClr val="AFC2D6"/>
                </a:solidFill>
                <a:latin typeface="Calibri" pitchFamily="34" charset="0"/>
                <a:ea typeface="Calibri" pitchFamily="34" charset="-122"/>
                <a:cs typeface="Calibri" pitchFamily="34" charset="-120"/>
              </a:rPr>
              <a:t>docs/ 01–14</a:t>
            </a:r>
            <a:endParaRPr lang="en-US" sz="1150" dirty="0"/>
          </a:p>
        </p:txBody>
      </p:sp>
      <p:sp>
        <p:nvSpPr>
          <p:cNvPr id="6" name="Text 4"/>
          <p:cNvSpPr/>
          <p:nvPr/>
        </p:nvSpPr>
        <p:spPr>
          <a:xfrm>
            <a:off x="3310128" y="3401568"/>
            <a:ext cx="4206240" cy="274320"/>
          </a:xfrm>
          <a:prstGeom prst="rect">
            <a:avLst/>
          </a:prstGeom>
          <a:noFill/>
          <a:ln/>
        </p:spPr>
        <p:txBody>
          <a:bodyPr wrap="square" lIns="0" tIns="0" rIns="0" bIns="0" rtlCol="0" anchor="ctr"/>
          <a:lstStyle/>
          <a:p>
            <a:pPr indent="0" marL="0">
              <a:buNone/>
            </a:pPr>
            <a:r>
              <a:rPr lang="en-US" sz="1100" dirty="0">
                <a:solidFill>
                  <a:srgbClr val="8FA3B8"/>
                </a:solidFill>
                <a:latin typeface="Calibri" pitchFamily="34" charset="0"/>
                <a:ea typeface="Calibri" pitchFamily="34" charset="-122"/>
                <a:cs typeface="Calibri" pitchFamily="34" charset="-120"/>
              </a:rPr>
              <a:t>every assignment item as its own document</a:t>
            </a:r>
            <a:endParaRPr lang="en-US" sz="1100" dirty="0"/>
          </a:p>
        </p:txBody>
      </p:sp>
      <p:sp>
        <p:nvSpPr>
          <p:cNvPr id="7" name="Text 5"/>
          <p:cNvSpPr/>
          <p:nvPr/>
        </p:nvSpPr>
        <p:spPr>
          <a:xfrm>
            <a:off x="566928" y="3968496"/>
            <a:ext cx="2651760" cy="274320"/>
          </a:xfrm>
          <a:prstGeom prst="rect">
            <a:avLst/>
          </a:prstGeom>
          <a:noFill/>
          <a:ln/>
        </p:spPr>
        <p:txBody>
          <a:bodyPr wrap="square" lIns="0" tIns="0" rIns="0" bIns="0" rtlCol="0" anchor="ctr"/>
          <a:lstStyle/>
          <a:p>
            <a:pPr indent="0" marL="0">
              <a:buNone/>
            </a:pPr>
            <a:r>
              <a:rPr lang="en-US" sz="1150" b="1" dirty="0">
                <a:solidFill>
                  <a:srgbClr val="AFC2D6"/>
                </a:solidFill>
                <a:latin typeface="Calibri" pitchFamily="34" charset="0"/>
                <a:ea typeface="Calibri" pitchFamily="34" charset="-122"/>
                <a:cs typeface="Calibri" pitchFamily="34" charset="-120"/>
              </a:rPr>
              <a:t>l3/wundcheck-l3.json</a:t>
            </a:r>
            <a:endParaRPr lang="en-US" sz="1150" dirty="0"/>
          </a:p>
        </p:txBody>
      </p:sp>
      <p:sp>
        <p:nvSpPr>
          <p:cNvPr id="8" name="Text 6"/>
          <p:cNvSpPr/>
          <p:nvPr/>
        </p:nvSpPr>
        <p:spPr>
          <a:xfrm>
            <a:off x="3310128" y="3968496"/>
            <a:ext cx="4206240" cy="274320"/>
          </a:xfrm>
          <a:prstGeom prst="rect">
            <a:avLst/>
          </a:prstGeom>
          <a:noFill/>
          <a:ln/>
        </p:spPr>
        <p:txBody>
          <a:bodyPr wrap="square" lIns="0" tIns="0" rIns="0" bIns="0" rtlCol="0" anchor="ctr"/>
          <a:lstStyle/>
          <a:p>
            <a:pPr indent="0" marL="0">
              <a:buNone/>
            </a:pPr>
            <a:r>
              <a:rPr lang="en-US" sz="1100" dirty="0">
                <a:solidFill>
                  <a:srgbClr val="8FA3B8"/>
                </a:solidFill>
                <a:latin typeface="Calibri" pitchFamily="34" charset="0"/>
                <a:ea typeface="Calibri" pitchFamily="34" charset="-122"/>
                <a:cs typeface="Calibri" pitchFamily="34" charset="-120"/>
              </a:rPr>
              <a:t>the machine-readable CDSS — 48 elements, 18 rules</a:t>
            </a:r>
            <a:endParaRPr lang="en-US" sz="1100" dirty="0"/>
          </a:p>
        </p:txBody>
      </p:sp>
      <p:sp>
        <p:nvSpPr>
          <p:cNvPr id="9" name="Text 7"/>
          <p:cNvSpPr/>
          <p:nvPr/>
        </p:nvSpPr>
        <p:spPr>
          <a:xfrm>
            <a:off x="566928" y="4535424"/>
            <a:ext cx="2651760" cy="274320"/>
          </a:xfrm>
          <a:prstGeom prst="rect">
            <a:avLst/>
          </a:prstGeom>
          <a:noFill/>
          <a:ln/>
        </p:spPr>
        <p:txBody>
          <a:bodyPr wrap="square" lIns="0" tIns="0" rIns="0" bIns="0" rtlCol="0" anchor="ctr"/>
          <a:lstStyle/>
          <a:p>
            <a:pPr indent="0" marL="0">
              <a:buNone/>
            </a:pPr>
            <a:r>
              <a:rPr lang="en-US" sz="1150" b="1" dirty="0">
                <a:solidFill>
                  <a:srgbClr val="AFC2D6"/>
                </a:solidFill>
                <a:latin typeface="Calibri" pitchFamily="34" charset="0"/>
                <a:ea typeface="Calibri" pitchFamily="34" charset="-122"/>
                <a:cs typeface="Calibri" pitchFamily="34" charset="-120"/>
              </a:rPr>
              <a:t>l4/wundcheck-app.html</a:t>
            </a:r>
            <a:endParaRPr lang="en-US" sz="1150" dirty="0"/>
          </a:p>
        </p:txBody>
      </p:sp>
      <p:sp>
        <p:nvSpPr>
          <p:cNvPr id="10" name="Text 8"/>
          <p:cNvSpPr/>
          <p:nvPr/>
        </p:nvSpPr>
        <p:spPr>
          <a:xfrm>
            <a:off x="3310128" y="4535424"/>
            <a:ext cx="4206240" cy="274320"/>
          </a:xfrm>
          <a:prstGeom prst="rect">
            <a:avLst/>
          </a:prstGeom>
          <a:noFill/>
          <a:ln/>
        </p:spPr>
        <p:txBody>
          <a:bodyPr wrap="square" lIns="0" tIns="0" rIns="0" bIns="0" rtlCol="0" anchor="ctr"/>
          <a:lstStyle/>
          <a:p>
            <a:pPr indent="0" marL="0">
              <a:buNone/>
            </a:pPr>
            <a:r>
              <a:rPr lang="en-US" sz="1100" dirty="0">
                <a:solidFill>
                  <a:srgbClr val="8FA3B8"/>
                </a:solidFill>
                <a:latin typeface="Calibri" pitchFamily="34" charset="0"/>
                <a:ea typeface="Calibri" pitchFamily="34" charset="-122"/>
                <a:cs typeface="Calibri" pitchFamily="34" charset="-120"/>
              </a:rPr>
              <a:t>one file, opens offline in any browser</a:t>
            </a:r>
            <a:endParaRPr lang="en-US" sz="1100" dirty="0"/>
          </a:p>
        </p:txBody>
      </p:sp>
      <p:sp>
        <p:nvSpPr>
          <p:cNvPr id="11" name="Text 9"/>
          <p:cNvSpPr/>
          <p:nvPr/>
        </p:nvSpPr>
        <p:spPr>
          <a:xfrm>
            <a:off x="566928" y="5102352"/>
            <a:ext cx="2651760" cy="274320"/>
          </a:xfrm>
          <a:prstGeom prst="rect">
            <a:avLst/>
          </a:prstGeom>
          <a:noFill/>
          <a:ln/>
        </p:spPr>
        <p:txBody>
          <a:bodyPr wrap="square" lIns="0" tIns="0" rIns="0" bIns="0" rtlCol="0" anchor="ctr"/>
          <a:lstStyle/>
          <a:p>
            <a:pPr indent="0" marL="0">
              <a:buNone/>
            </a:pPr>
            <a:r>
              <a:rPr lang="en-US" sz="1150" b="1" dirty="0">
                <a:solidFill>
                  <a:srgbClr val="AFC2D6"/>
                </a:solidFill>
                <a:latin typeface="Calibri" pitchFamily="34" charset="0"/>
                <a:ea typeface="Calibri" pitchFamily="34" charset="-122"/>
                <a:cs typeface="Calibri" pitchFamily="34" charset="-120"/>
              </a:rPr>
              <a:t>tools/</a:t>
            </a:r>
            <a:endParaRPr lang="en-US" sz="1150" dirty="0"/>
          </a:p>
        </p:txBody>
      </p:sp>
      <p:sp>
        <p:nvSpPr>
          <p:cNvPr id="12" name="Text 10"/>
          <p:cNvSpPr/>
          <p:nvPr/>
        </p:nvSpPr>
        <p:spPr>
          <a:xfrm>
            <a:off x="3310128" y="5102352"/>
            <a:ext cx="4206240" cy="274320"/>
          </a:xfrm>
          <a:prstGeom prst="rect">
            <a:avLst/>
          </a:prstGeom>
          <a:noFill/>
          <a:ln/>
        </p:spPr>
        <p:txBody>
          <a:bodyPr wrap="square" lIns="0" tIns="0" rIns="0" bIns="0" rtlCol="0" anchor="ctr"/>
          <a:lstStyle/>
          <a:p>
            <a:pPr indent="0" marL="0">
              <a:buNone/>
            </a:pPr>
            <a:r>
              <a:rPr lang="en-US" sz="1100" dirty="0">
                <a:solidFill>
                  <a:srgbClr val="8FA3B8"/>
                </a:solidFill>
                <a:latin typeface="Calibri" pitchFamily="34" charset="0"/>
                <a:ea typeface="Calibri" pitchFamily="34" charset="-122"/>
                <a:cs typeface="Calibri" pitchFamily="34" charset="-120"/>
              </a:rPr>
              <a:t>19 logic tests · 20 FHIR checks · the no-hardcoding check</a:t>
            </a:r>
            <a:endParaRPr lang="en-US" sz="1100" dirty="0"/>
          </a:p>
        </p:txBody>
      </p:sp>
      <p:sp>
        <p:nvSpPr>
          <p:cNvPr id="13" name="Shape 11"/>
          <p:cNvSpPr/>
          <p:nvPr/>
        </p:nvSpPr>
        <p:spPr>
          <a:xfrm>
            <a:off x="7882128" y="1371600"/>
            <a:ext cx="3749040" cy="4206240"/>
          </a:xfrm>
          <a:prstGeom prst="roundRect">
            <a:avLst>
              <a:gd name="adj" fmla="val 2927"/>
            </a:avLst>
          </a:prstGeom>
          <a:solidFill>
            <a:srgbClr val="FFFFFF"/>
          </a:solidFill>
          <a:ln w="12700">
            <a:solidFill>
              <a:srgbClr val="FFFFFF"/>
            </a:solidFill>
            <a:prstDash val="solid"/>
          </a:ln>
        </p:spPr>
      </p:sp>
      <p:pic>
        <p:nvPicPr>
          <p:cNvPr id="14" name="Image 0" descr="repo-qr.png">    </p:cNvPr>
          <p:cNvPicPr>
            <a:picLocks noChangeAspect="1"/>
          </p:cNvPicPr>
          <p:nvPr/>
        </p:nvPicPr>
        <p:blipFill>
          <a:blip r:embed="rId1"/>
          <a:stretch>
            <a:fillRect/>
          </a:stretch>
        </p:blipFill>
        <p:spPr>
          <a:xfrm>
            <a:off x="8293608" y="1783080"/>
            <a:ext cx="2926080" cy="2926080"/>
          </a:xfrm>
          <a:prstGeom prst="rect">
            <a:avLst/>
          </a:prstGeom>
        </p:spPr>
      </p:pic>
      <p:sp>
        <p:nvSpPr>
          <p:cNvPr id="15" name="Text 12"/>
          <p:cNvSpPr/>
          <p:nvPr/>
        </p:nvSpPr>
        <p:spPr>
          <a:xfrm>
            <a:off x="7882128" y="4828032"/>
            <a:ext cx="3749040" cy="274320"/>
          </a:xfrm>
          <a:prstGeom prst="rect">
            <a:avLst/>
          </a:prstGeom>
          <a:noFill/>
          <a:ln/>
        </p:spPr>
        <p:txBody>
          <a:bodyPr wrap="square" lIns="0" tIns="0" rIns="0" bIns="0" rtlCol="0" anchor="ctr"/>
          <a:lstStyle/>
          <a:p>
            <a:pPr algn="ctr" indent="0" marL="0">
              <a:buNone/>
            </a:pPr>
            <a:r>
              <a:rPr lang="en-US" sz="1150" b="1" dirty="0">
                <a:solidFill>
                  <a:srgbClr val="12202E"/>
                </a:solidFill>
                <a:latin typeface="Calibri" pitchFamily="34" charset="0"/>
                <a:ea typeface="Calibri" pitchFamily="34" charset="-122"/>
                <a:cs typeface="Calibri" pitchFamily="34" charset="-120"/>
              </a:rPr>
              <a:t>Scan for the full project</a:t>
            </a:r>
            <a:endParaRPr lang="en-US" sz="1150" dirty="0"/>
          </a:p>
        </p:txBody>
      </p:sp>
      <p:sp>
        <p:nvSpPr>
          <p:cNvPr id="16" name="Text 13"/>
          <p:cNvSpPr/>
          <p:nvPr/>
        </p:nvSpPr>
        <p:spPr>
          <a:xfrm>
            <a:off x="7882128" y="5102352"/>
            <a:ext cx="3749040" cy="274320"/>
          </a:xfrm>
          <a:prstGeom prst="rect">
            <a:avLst/>
          </a:prstGeom>
          <a:noFill/>
          <a:ln/>
        </p:spPr>
        <p:txBody>
          <a:bodyPr wrap="square" lIns="0" tIns="0" rIns="0" bIns="0" rtlCol="0" anchor="ctr"/>
          <a:lstStyle/>
          <a:p>
            <a:pPr algn="ctr" indent="0" marL="0">
              <a:buNone/>
            </a:pPr>
            <a:r>
              <a:rPr lang="en-US" sz="1000" i="1" dirty="0">
                <a:solidFill>
                  <a:srgbClr val="5D7186"/>
                </a:solidFill>
                <a:latin typeface="Calibri" pitchFamily="34" charset="0"/>
                <a:ea typeface="Calibri" pitchFamily="34" charset="-122"/>
                <a:cs typeface="Calibri" pitchFamily="34" charset="-120"/>
              </a:rPr>
              <a:t>Study prototype — not for clinical use.</a:t>
            </a:r>
            <a:endParaRPr lang="en-US" sz="1000" dirty="0"/>
          </a:p>
        </p:txBody>
      </p:sp>
      <p:sp>
        <p:nvSpPr>
          <p:cNvPr id="17" name="Text 14"/>
          <p:cNvSpPr/>
          <p:nvPr/>
        </p:nvSpPr>
        <p:spPr>
          <a:xfrm>
            <a:off x="566928" y="5797296"/>
            <a:ext cx="6766560" cy="402336"/>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Thank you — questions?</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indent="0" marL="0">
              <a:buNone/>
            </a:pPr>
            <a:r>
              <a:rPr lang="en-US" sz="1050" b="1" spc="160" kern="0" dirty="0">
                <a:solidFill>
                  <a:srgbClr val="5D7186"/>
                </a:solidFill>
                <a:latin typeface="Calibri" pitchFamily="34" charset="0"/>
                <a:ea typeface="Calibri" pitchFamily="34" charset="-122"/>
                <a:cs typeface="Calibri" pitchFamily="34" charset="-120"/>
              </a:rPr>
              <a:t>BACKUP · L2</a:t>
            </a:r>
            <a:endParaRPr lang="en-US" sz="1050" dirty="0"/>
          </a:p>
        </p:txBody>
      </p:sp>
      <p:sp>
        <p:nvSpPr>
          <p:cNvPr id="3" name="Text 1"/>
          <p:cNvSpPr/>
          <p:nvPr/>
        </p:nvSpPr>
        <p:spPr>
          <a:xfrm>
            <a:off x="566928" y="640080"/>
            <a:ext cx="10607040" cy="658368"/>
          </a:xfrm>
          <a:prstGeom prst="rect">
            <a:avLst/>
          </a:prstGeom>
          <a:noFill/>
          <a:ln/>
        </p:spPr>
        <p:txBody>
          <a:bodyPr wrap="square" lIns="0" tIns="0" rIns="0" bIns="0" rtlCol="0" anchor="t"/>
          <a:lstStyle/>
          <a:p>
            <a:pPr indent="0" marL="0">
              <a:buNone/>
            </a:pPr>
            <a:r>
              <a:rPr lang="en-US" sz="2700" b="1" dirty="0">
                <a:solidFill>
                  <a:srgbClr val="12202E"/>
                </a:solidFill>
                <a:latin typeface="Cambria" pitchFamily="34" charset="0"/>
                <a:ea typeface="Cambria" pitchFamily="34" charset="-122"/>
                <a:cs typeface="Cambria" pitchFamily="34" charset="-120"/>
              </a:rPr>
              <a:t>Decision table — all 18 rules</a:t>
            </a:r>
            <a:endParaRPr lang="en-US" sz="2700" dirty="0"/>
          </a:p>
        </p:txBody>
      </p:sp>
      <p:sp>
        <p:nvSpPr>
          <p:cNvPr id="4" name="Shape 2"/>
          <p:cNvSpPr/>
          <p:nvPr/>
        </p:nvSpPr>
        <p:spPr>
          <a:xfrm>
            <a:off x="566928" y="1572768"/>
            <a:ext cx="73152" cy="292608"/>
          </a:xfrm>
          <a:prstGeom prst="rect">
            <a:avLst/>
          </a:prstGeom>
          <a:solidFill>
            <a:srgbClr val="C0281C"/>
          </a:solidFill>
          <a:ln w="12700">
            <a:solidFill>
              <a:srgbClr val="C0281C"/>
            </a:solidFill>
            <a:prstDash val="solid"/>
          </a:ln>
        </p:spPr>
      </p:sp>
      <p:sp>
        <p:nvSpPr>
          <p:cNvPr id="5" name="Text 3"/>
          <p:cNvSpPr/>
          <p:nvPr/>
        </p:nvSpPr>
        <p:spPr>
          <a:xfrm>
            <a:off x="768096" y="1572768"/>
            <a:ext cx="731520" cy="292608"/>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R1</a:t>
            </a:r>
            <a:endParaRPr lang="en-US" sz="1000" dirty="0"/>
          </a:p>
        </p:txBody>
      </p:sp>
      <p:sp>
        <p:nvSpPr>
          <p:cNvPr id="6" name="Text 4"/>
          <p:cNvSpPr/>
          <p:nvPr/>
        </p:nvSpPr>
        <p:spPr>
          <a:xfrm>
            <a:off x="1527048" y="1572768"/>
            <a:ext cx="7132320" cy="292608"/>
          </a:xfrm>
          <a:prstGeom prst="rect">
            <a:avLst/>
          </a:prstGeom>
          <a:noFill/>
          <a:ln/>
        </p:spPr>
        <p:txBody>
          <a:bodyPr wrap="square" lIns="0" tIns="0" rIns="0" bIns="0" rtlCol="0" anchor="ctr"/>
          <a:lstStyle/>
          <a:p>
            <a:pPr indent="0" marL="0">
              <a:buNone/>
            </a:pPr>
            <a:r>
              <a:rPr lang="en-US" sz="1000" dirty="0">
                <a:solidFill>
                  <a:srgbClr val="12202E"/>
                </a:solidFill>
                <a:latin typeface="Calibri" pitchFamily="34" charset="0"/>
                <a:ea typeface="Calibri" pitchFamily="34" charset="-122"/>
                <a:cs typeface="Calibri" pitchFamily="34" charset="-120"/>
              </a:rPr>
              <a:t>temp ≥ 39 OR chills = 1</a:t>
            </a:r>
            <a:endParaRPr lang="en-US" sz="1000" dirty="0"/>
          </a:p>
        </p:txBody>
      </p:sp>
      <p:sp>
        <p:nvSpPr>
          <p:cNvPr id="7" name="Text 5"/>
          <p:cNvSpPr/>
          <p:nvPr/>
        </p:nvSpPr>
        <p:spPr>
          <a:xfrm>
            <a:off x="8796528" y="1572768"/>
            <a:ext cx="2788920" cy="292608"/>
          </a:xfrm>
          <a:prstGeom prst="rect">
            <a:avLst/>
          </a:prstGeom>
          <a:noFill/>
          <a:ln/>
        </p:spPr>
        <p:txBody>
          <a:bodyPr wrap="square" lIns="0" tIns="0" rIns="0" bIns="0" rtlCol="0" anchor="ctr"/>
          <a:lstStyle/>
          <a:p>
            <a:pPr indent="0" marL="0">
              <a:buNone/>
            </a:pPr>
            <a:r>
              <a:rPr lang="en-US" sz="950" dirty="0">
                <a:solidFill>
                  <a:srgbClr val="5D7186"/>
                </a:solidFill>
                <a:latin typeface="Calibri" pitchFamily="34" charset="0"/>
                <a:ea typeface="Calibri" pitchFamily="34" charset="-122"/>
                <a:cs typeface="Calibri" pitchFamily="34" charset="-120"/>
              </a:rPr>
              <a:t>CDC · sepsis red flags</a:t>
            </a:r>
            <a:endParaRPr lang="en-US" sz="950" dirty="0"/>
          </a:p>
        </p:txBody>
      </p:sp>
      <p:sp>
        <p:nvSpPr>
          <p:cNvPr id="8" name="Shape 6"/>
          <p:cNvSpPr/>
          <p:nvPr/>
        </p:nvSpPr>
        <p:spPr>
          <a:xfrm>
            <a:off x="566928" y="1911096"/>
            <a:ext cx="73152" cy="292608"/>
          </a:xfrm>
          <a:prstGeom prst="rect">
            <a:avLst/>
          </a:prstGeom>
          <a:solidFill>
            <a:srgbClr val="C0281C"/>
          </a:solidFill>
          <a:ln w="12700">
            <a:solidFill>
              <a:srgbClr val="C0281C"/>
            </a:solidFill>
            <a:prstDash val="solid"/>
          </a:ln>
        </p:spPr>
      </p:sp>
      <p:sp>
        <p:nvSpPr>
          <p:cNvPr id="9" name="Text 7"/>
          <p:cNvSpPr/>
          <p:nvPr/>
        </p:nvSpPr>
        <p:spPr>
          <a:xfrm>
            <a:off x="768096" y="1911096"/>
            <a:ext cx="731520" cy="292608"/>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R2</a:t>
            </a:r>
            <a:endParaRPr lang="en-US" sz="1000" dirty="0"/>
          </a:p>
        </p:txBody>
      </p:sp>
      <p:sp>
        <p:nvSpPr>
          <p:cNvPr id="10" name="Text 8"/>
          <p:cNvSpPr/>
          <p:nvPr/>
        </p:nvSpPr>
        <p:spPr>
          <a:xfrm>
            <a:off x="1527048" y="1911096"/>
            <a:ext cx="7132320" cy="292608"/>
          </a:xfrm>
          <a:prstGeom prst="rect">
            <a:avLst/>
          </a:prstGeom>
          <a:noFill/>
          <a:ln/>
        </p:spPr>
        <p:txBody>
          <a:bodyPr wrap="square" lIns="0" tIns="0" rIns="0" bIns="0" rtlCol="0" anchor="ctr"/>
          <a:lstStyle/>
          <a:p>
            <a:pPr indent="0" marL="0">
              <a:buNone/>
            </a:pPr>
            <a:r>
              <a:rPr lang="en-US" sz="1000" dirty="0">
                <a:solidFill>
                  <a:srgbClr val="12202E"/>
                </a:solidFill>
                <a:latin typeface="Calibri" pitchFamily="34" charset="0"/>
                <a:ea typeface="Calibri" pitchFamily="34" charset="-122"/>
                <a:cs typeface="Calibri" pitchFamily="34" charset="-120"/>
              </a:rPr>
              <a:t>red_streak = 1 OR redness_extent = 4</a:t>
            </a:r>
            <a:endParaRPr lang="en-US" sz="1000" dirty="0"/>
          </a:p>
        </p:txBody>
      </p:sp>
      <p:sp>
        <p:nvSpPr>
          <p:cNvPr id="11" name="Text 9"/>
          <p:cNvSpPr/>
          <p:nvPr/>
        </p:nvSpPr>
        <p:spPr>
          <a:xfrm>
            <a:off x="8796528" y="1911096"/>
            <a:ext cx="2788920" cy="292608"/>
          </a:xfrm>
          <a:prstGeom prst="rect">
            <a:avLst/>
          </a:prstGeom>
          <a:noFill/>
          <a:ln/>
        </p:spPr>
        <p:txBody>
          <a:bodyPr wrap="square" lIns="0" tIns="0" rIns="0" bIns="0" rtlCol="0" anchor="ctr"/>
          <a:lstStyle/>
          <a:p>
            <a:pPr indent="0" marL="0">
              <a:buNone/>
            </a:pPr>
            <a:r>
              <a:rPr lang="en-US" sz="950" dirty="0">
                <a:solidFill>
                  <a:srgbClr val="5D7186"/>
                </a:solidFill>
                <a:latin typeface="Calibri" pitchFamily="34" charset="0"/>
                <a:ea typeface="Calibri" pitchFamily="34" charset="-122"/>
                <a:cs typeface="Calibri" pitchFamily="34" charset="-120"/>
              </a:rPr>
              <a:t>NICE NG125 §1.4.9</a:t>
            </a:r>
            <a:endParaRPr lang="en-US" sz="950" dirty="0"/>
          </a:p>
        </p:txBody>
      </p:sp>
      <p:sp>
        <p:nvSpPr>
          <p:cNvPr id="12" name="Shape 10"/>
          <p:cNvSpPr/>
          <p:nvPr/>
        </p:nvSpPr>
        <p:spPr>
          <a:xfrm>
            <a:off x="566928" y="2249424"/>
            <a:ext cx="73152" cy="292608"/>
          </a:xfrm>
          <a:prstGeom prst="rect">
            <a:avLst/>
          </a:prstGeom>
          <a:solidFill>
            <a:srgbClr val="C0281C"/>
          </a:solidFill>
          <a:ln w="12700">
            <a:solidFill>
              <a:srgbClr val="C0281C"/>
            </a:solidFill>
            <a:prstDash val="solid"/>
          </a:ln>
        </p:spPr>
      </p:sp>
      <p:sp>
        <p:nvSpPr>
          <p:cNvPr id="13" name="Text 11"/>
          <p:cNvSpPr/>
          <p:nvPr/>
        </p:nvSpPr>
        <p:spPr>
          <a:xfrm>
            <a:off x="768096" y="2249424"/>
            <a:ext cx="731520" cy="292608"/>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R3</a:t>
            </a:r>
            <a:endParaRPr lang="en-US" sz="1000" dirty="0"/>
          </a:p>
        </p:txBody>
      </p:sp>
      <p:sp>
        <p:nvSpPr>
          <p:cNvPr id="14" name="Text 12"/>
          <p:cNvSpPr/>
          <p:nvPr/>
        </p:nvSpPr>
        <p:spPr>
          <a:xfrm>
            <a:off x="1527048" y="2249424"/>
            <a:ext cx="7132320" cy="292608"/>
          </a:xfrm>
          <a:prstGeom prst="rect">
            <a:avLst/>
          </a:prstGeom>
          <a:noFill/>
          <a:ln/>
        </p:spPr>
        <p:txBody>
          <a:bodyPr wrap="square" lIns="0" tIns="0" rIns="0" bIns="0" rtlCol="0" anchor="ctr"/>
          <a:lstStyle/>
          <a:p>
            <a:pPr indent="0" marL="0">
              <a:buNone/>
            </a:pPr>
            <a:r>
              <a:rPr lang="en-US" sz="1000" dirty="0">
                <a:solidFill>
                  <a:srgbClr val="12202E"/>
                </a:solidFill>
                <a:latin typeface="Calibri" pitchFamily="34" charset="0"/>
                <a:ea typeface="Calibri" pitchFamily="34" charset="-122"/>
                <a:cs typeface="Calibri" pitchFamily="34" charset="-120"/>
              </a:rPr>
              <a:t>wound_open = 2 OR bleeding = 2 OR wound_state = 4</a:t>
            </a:r>
            <a:endParaRPr lang="en-US" sz="1000" dirty="0"/>
          </a:p>
        </p:txBody>
      </p:sp>
      <p:sp>
        <p:nvSpPr>
          <p:cNvPr id="15" name="Text 13"/>
          <p:cNvSpPr/>
          <p:nvPr/>
        </p:nvSpPr>
        <p:spPr>
          <a:xfrm>
            <a:off x="8796528" y="2249424"/>
            <a:ext cx="2788920" cy="292608"/>
          </a:xfrm>
          <a:prstGeom prst="rect">
            <a:avLst/>
          </a:prstGeom>
          <a:noFill/>
          <a:ln/>
        </p:spPr>
        <p:txBody>
          <a:bodyPr wrap="square" lIns="0" tIns="0" rIns="0" bIns="0" rtlCol="0" anchor="ctr"/>
          <a:lstStyle/>
          <a:p>
            <a:pPr indent="0" marL="0">
              <a:buNone/>
            </a:pPr>
            <a:r>
              <a:rPr lang="en-US" sz="950" dirty="0">
                <a:solidFill>
                  <a:srgbClr val="5D7186"/>
                </a:solidFill>
                <a:latin typeface="Calibri" pitchFamily="34" charset="0"/>
                <a:ea typeface="Calibri" pitchFamily="34" charset="-122"/>
                <a:cs typeface="Calibri" pitchFamily="34" charset="-120"/>
              </a:rPr>
              <a:t>CDC deep incisional</a:t>
            </a:r>
            <a:endParaRPr lang="en-US" sz="950" dirty="0"/>
          </a:p>
        </p:txBody>
      </p:sp>
      <p:sp>
        <p:nvSpPr>
          <p:cNvPr id="16" name="Shape 14"/>
          <p:cNvSpPr/>
          <p:nvPr/>
        </p:nvSpPr>
        <p:spPr>
          <a:xfrm>
            <a:off x="566928" y="2587752"/>
            <a:ext cx="73152" cy="292608"/>
          </a:xfrm>
          <a:prstGeom prst="rect">
            <a:avLst/>
          </a:prstGeom>
          <a:solidFill>
            <a:srgbClr val="C25C07"/>
          </a:solidFill>
          <a:ln w="12700">
            <a:solidFill>
              <a:srgbClr val="C25C07"/>
            </a:solidFill>
            <a:prstDash val="solid"/>
          </a:ln>
        </p:spPr>
      </p:sp>
      <p:sp>
        <p:nvSpPr>
          <p:cNvPr id="17" name="Text 15"/>
          <p:cNvSpPr/>
          <p:nvPr/>
        </p:nvSpPr>
        <p:spPr>
          <a:xfrm>
            <a:off x="768096" y="2587752"/>
            <a:ext cx="731520" cy="292608"/>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R9</a:t>
            </a:r>
            <a:endParaRPr lang="en-US" sz="1000" dirty="0"/>
          </a:p>
        </p:txBody>
      </p:sp>
      <p:sp>
        <p:nvSpPr>
          <p:cNvPr id="18" name="Text 16"/>
          <p:cNvSpPr/>
          <p:nvPr/>
        </p:nvSpPr>
        <p:spPr>
          <a:xfrm>
            <a:off x="1527048" y="2587752"/>
            <a:ext cx="7132320" cy="292608"/>
          </a:xfrm>
          <a:prstGeom prst="rect">
            <a:avLst/>
          </a:prstGeom>
          <a:noFill/>
          <a:ln/>
        </p:spPr>
        <p:txBody>
          <a:bodyPr wrap="square" lIns="0" tIns="0" rIns="0" bIns="0" rtlCol="0" anchor="ctr"/>
          <a:lstStyle/>
          <a:p>
            <a:pPr indent="0" marL="0">
              <a:buNone/>
            </a:pPr>
            <a:r>
              <a:rPr lang="en-US" sz="1000" dirty="0">
                <a:solidFill>
                  <a:srgbClr val="12202E"/>
                </a:solidFill>
                <a:latin typeface="Calibri" pitchFamily="34" charset="0"/>
                <a:ea typeface="Calibri" pitchFamily="34" charset="-122"/>
                <a:cs typeface="Calibri" pitchFamily="34" charset="-120"/>
              </a:rPr>
              <a:t>wellbeing = 2 OR nausea_vomiting = 2</a:t>
            </a:r>
            <a:endParaRPr lang="en-US" sz="1000" dirty="0"/>
          </a:p>
        </p:txBody>
      </p:sp>
      <p:sp>
        <p:nvSpPr>
          <p:cNvPr id="19" name="Text 17"/>
          <p:cNvSpPr/>
          <p:nvPr/>
        </p:nvSpPr>
        <p:spPr>
          <a:xfrm>
            <a:off x="8796528" y="2587752"/>
            <a:ext cx="2788920" cy="292608"/>
          </a:xfrm>
          <a:prstGeom prst="rect">
            <a:avLst/>
          </a:prstGeom>
          <a:noFill/>
          <a:ln/>
        </p:spPr>
        <p:txBody>
          <a:bodyPr wrap="square" lIns="0" tIns="0" rIns="0" bIns="0" rtlCol="0" anchor="ctr"/>
          <a:lstStyle/>
          <a:p>
            <a:pPr indent="0" marL="0">
              <a:buNone/>
            </a:pPr>
            <a:r>
              <a:rPr lang="en-US" sz="950" dirty="0">
                <a:solidFill>
                  <a:srgbClr val="5D7186"/>
                </a:solidFill>
                <a:latin typeface="Calibri" pitchFamily="34" charset="0"/>
                <a:ea typeface="Calibri" pitchFamily="34" charset="-122"/>
                <a:cs typeface="Calibri" pitchFamily="34" charset="-120"/>
              </a:rPr>
              <a:t>systemic signs</a:t>
            </a:r>
            <a:endParaRPr lang="en-US" sz="950" dirty="0"/>
          </a:p>
        </p:txBody>
      </p:sp>
      <p:sp>
        <p:nvSpPr>
          <p:cNvPr id="20" name="Shape 18"/>
          <p:cNvSpPr/>
          <p:nvPr/>
        </p:nvSpPr>
        <p:spPr>
          <a:xfrm>
            <a:off x="566928" y="2926080"/>
            <a:ext cx="73152" cy="292608"/>
          </a:xfrm>
          <a:prstGeom prst="rect">
            <a:avLst/>
          </a:prstGeom>
          <a:solidFill>
            <a:srgbClr val="C25C07"/>
          </a:solidFill>
          <a:ln w="12700">
            <a:solidFill>
              <a:srgbClr val="C25C07"/>
            </a:solidFill>
            <a:prstDash val="solid"/>
          </a:ln>
        </p:spPr>
      </p:sp>
      <p:sp>
        <p:nvSpPr>
          <p:cNvPr id="21" name="Text 19"/>
          <p:cNvSpPr/>
          <p:nvPr/>
        </p:nvSpPr>
        <p:spPr>
          <a:xfrm>
            <a:off x="768096" y="2926080"/>
            <a:ext cx="731520" cy="292608"/>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R4</a:t>
            </a:r>
            <a:endParaRPr lang="en-US" sz="1000" dirty="0"/>
          </a:p>
        </p:txBody>
      </p:sp>
      <p:sp>
        <p:nvSpPr>
          <p:cNvPr id="22" name="Text 20"/>
          <p:cNvSpPr/>
          <p:nvPr/>
        </p:nvSpPr>
        <p:spPr>
          <a:xfrm>
            <a:off x="1527048" y="2926080"/>
            <a:ext cx="7132320" cy="292608"/>
          </a:xfrm>
          <a:prstGeom prst="rect">
            <a:avLst/>
          </a:prstGeom>
          <a:noFill/>
          <a:ln/>
        </p:spPr>
        <p:txBody>
          <a:bodyPr wrap="square" lIns="0" tIns="0" rIns="0" bIns="0" rtlCol="0" anchor="ctr"/>
          <a:lstStyle/>
          <a:p>
            <a:pPr indent="0" marL="0">
              <a:buNone/>
            </a:pPr>
            <a:r>
              <a:rPr lang="en-US" sz="1000" dirty="0">
                <a:solidFill>
                  <a:srgbClr val="12202E"/>
                </a:solidFill>
                <a:latin typeface="Calibri" pitchFamily="34" charset="0"/>
                <a:ea typeface="Calibri" pitchFamily="34" charset="-122"/>
                <a:cs typeface="Calibri" pitchFamily="34" charset="-120"/>
              </a:rPr>
              <a:t>secretion = 3 OR secretion_smell = 1</a:t>
            </a:r>
            <a:endParaRPr lang="en-US" sz="1000" dirty="0"/>
          </a:p>
        </p:txBody>
      </p:sp>
      <p:sp>
        <p:nvSpPr>
          <p:cNvPr id="23" name="Text 21"/>
          <p:cNvSpPr/>
          <p:nvPr/>
        </p:nvSpPr>
        <p:spPr>
          <a:xfrm>
            <a:off x="8796528" y="2926080"/>
            <a:ext cx="2788920" cy="292608"/>
          </a:xfrm>
          <a:prstGeom prst="rect">
            <a:avLst/>
          </a:prstGeom>
          <a:noFill/>
          <a:ln/>
        </p:spPr>
        <p:txBody>
          <a:bodyPr wrap="square" lIns="0" tIns="0" rIns="0" bIns="0" rtlCol="0" anchor="ctr"/>
          <a:lstStyle/>
          <a:p>
            <a:pPr indent="0" marL="0">
              <a:buNone/>
            </a:pPr>
            <a:r>
              <a:rPr lang="en-US" sz="950" dirty="0">
                <a:solidFill>
                  <a:srgbClr val="5D7186"/>
                </a:solidFill>
                <a:latin typeface="Calibri" pitchFamily="34" charset="0"/>
                <a:ea typeface="Calibri" pitchFamily="34" charset="-122"/>
                <a:cs typeface="Calibri" pitchFamily="34" charset="-120"/>
              </a:rPr>
              <a:t>CDC superficial incisional</a:t>
            </a:r>
            <a:endParaRPr lang="en-US" sz="950" dirty="0"/>
          </a:p>
        </p:txBody>
      </p:sp>
      <p:sp>
        <p:nvSpPr>
          <p:cNvPr id="24" name="Shape 22"/>
          <p:cNvSpPr/>
          <p:nvPr/>
        </p:nvSpPr>
        <p:spPr>
          <a:xfrm>
            <a:off x="566928" y="3264408"/>
            <a:ext cx="73152" cy="292608"/>
          </a:xfrm>
          <a:prstGeom prst="rect">
            <a:avLst/>
          </a:prstGeom>
          <a:solidFill>
            <a:srgbClr val="C25C07"/>
          </a:solidFill>
          <a:ln w="12700">
            <a:solidFill>
              <a:srgbClr val="C25C07"/>
            </a:solidFill>
            <a:prstDash val="solid"/>
          </a:ln>
        </p:spPr>
      </p:sp>
      <p:sp>
        <p:nvSpPr>
          <p:cNvPr id="25" name="Text 23"/>
          <p:cNvSpPr/>
          <p:nvPr/>
        </p:nvSpPr>
        <p:spPr>
          <a:xfrm>
            <a:off x="768096" y="3264408"/>
            <a:ext cx="731520" cy="292608"/>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R5</a:t>
            </a:r>
            <a:endParaRPr lang="en-US" sz="1000" dirty="0"/>
          </a:p>
        </p:txBody>
      </p:sp>
      <p:sp>
        <p:nvSpPr>
          <p:cNvPr id="26" name="Text 24"/>
          <p:cNvSpPr/>
          <p:nvPr/>
        </p:nvSpPr>
        <p:spPr>
          <a:xfrm>
            <a:off x="1527048" y="3264408"/>
            <a:ext cx="7132320" cy="292608"/>
          </a:xfrm>
          <a:prstGeom prst="rect">
            <a:avLst/>
          </a:prstGeom>
          <a:noFill/>
          <a:ln/>
        </p:spPr>
        <p:txBody>
          <a:bodyPr wrap="square" lIns="0" tIns="0" rIns="0" bIns="0" rtlCol="0" anchor="ctr"/>
          <a:lstStyle/>
          <a:p>
            <a:pPr indent="0" marL="0">
              <a:buNone/>
            </a:pPr>
            <a:r>
              <a:rPr lang="en-US" sz="1000" dirty="0">
                <a:solidFill>
                  <a:srgbClr val="12202E"/>
                </a:solidFill>
                <a:latin typeface="Calibri" pitchFamily="34" charset="0"/>
                <a:ea typeface="Calibri" pitchFamily="34" charset="-122"/>
                <a:cs typeface="Calibri" pitchFamily="34" charset="-120"/>
              </a:rPr>
              <a:t>fever OR (pain ≥ 7 AND worsening AND day ≥ 3)</a:t>
            </a:r>
            <a:endParaRPr lang="en-US" sz="1000" dirty="0"/>
          </a:p>
        </p:txBody>
      </p:sp>
      <p:sp>
        <p:nvSpPr>
          <p:cNvPr id="27" name="Text 25"/>
          <p:cNvSpPr/>
          <p:nvPr/>
        </p:nvSpPr>
        <p:spPr>
          <a:xfrm>
            <a:off x="8796528" y="3264408"/>
            <a:ext cx="2788920" cy="292608"/>
          </a:xfrm>
          <a:prstGeom prst="rect">
            <a:avLst/>
          </a:prstGeom>
          <a:noFill/>
          <a:ln/>
        </p:spPr>
        <p:txBody>
          <a:bodyPr wrap="square" lIns="0" tIns="0" rIns="0" bIns="0" rtlCol="0" anchor="ctr"/>
          <a:lstStyle/>
          <a:p>
            <a:pPr indent="0" marL="0">
              <a:buNone/>
            </a:pPr>
            <a:r>
              <a:rPr lang="en-US" sz="950" dirty="0">
                <a:solidFill>
                  <a:srgbClr val="5D7186"/>
                </a:solidFill>
                <a:latin typeface="Calibri" pitchFamily="34" charset="0"/>
                <a:ea typeface="Calibri" pitchFamily="34" charset="-122"/>
                <a:cs typeface="Calibri" pitchFamily="34" charset="-120"/>
              </a:rPr>
              <a:t>CDC · NICE</a:t>
            </a:r>
            <a:endParaRPr lang="en-US" sz="950" dirty="0"/>
          </a:p>
        </p:txBody>
      </p:sp>
      <p:sp>
        <p:nvSpPr>
          <p:cNvPr id="28" name="Shape 26"/>
          <p:cNvSpPr/>
          <p:nvPr/>
        </p:nvSpPr>
        <p:spPr>
          <a:xfrm>
            <a:off x="566928" y="3602736"/>
            <a:ext cx="73152" cy="292608"/>
          </a:xfrm>
          <a:prstGeom prst="rect">
            <a:avLst/>
          </a:prstGeom>
          <a:solidFill>
            <a:srgbClr val="C25C07"/>
          </a:solidFill>
          <a:ln w="12700">
            <a:solidFill>
              <a:srgbClr val="C25C07"/>
            </a:solidFill>
            <a:prstDash val="solid"/>
          </a:ln>
        </p:spPr>
      </p:sp>
      <p:sp>
        <p:nvSpPr>
          <p:cNvPr id="29" name="Text 27"/>
          <p:cNvSpPr/>
          <p:nvPr/>
        </p:nvSpPr>
        <p:spPr>
          <a:xfrm>
            <a:off x="768096" y="3602736"/>
            <a:ext cx="731520" cy="292608"/>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R11</a:t>
            </a:r>
            <a:endParaRPr lang="en-US" sz="1000" dirty="0"/>
          </a:p>
        </p:txBody>
      </p:sp>
      <p:sp>
        <p:nvSpPr>
          <p:cNvPr id="30" name="Text 28"/>
          <p:cNvSpPr/>
          <p:nvPr/>
        </p:nvSpPr>
        <p:spPr>
          <a:xfrm>
            <a:off x="1527048" y="3602736"/>
            <a:ext cx="7132320" cy="292608"/>
          </a:xfrm>
          <a:prstGeom prst="rect">
            <a:avLst/>
          </a:prstGeom>
          <a:noFill/>
          <a:ln/>
        </p:spPr>
        <p:txBody>
          <a:bodyPr wrap="square" lIns="0" tIns="0" rIns="0" bIns="0" rtlCol="0" anchor="ctr"/>
          <a:lstStyle/>
          <a:p>
            <a:pPr indent="0" marL="0">
              <a:buNone/>
            </a:pPr>
            <a:r>
              <a:rPr lang="en-US" sz="1000" dirty="0">
                <a:solidFill>
                  <a:srgbClr val="12202E"/>
                </a:solidFill>
                <a:latin typeface="Calibri" pitchFamily="34" charset="0"/>
                <a:ea typeface="Calibri" pitchFamily="34" charset="-122"/>
                <a:cs typeface="Calibri" pitchFamily="34" charset="-120"/>
              </a:rPr>
              <a:t>secretion ≥ 1 AND discharge ≥ 3 days</a:t>
            </a:r>
            <a:endParaRPr lang="en-US" sz="1000" dirty="0"/>
          </a:p>
        </p:txBody>
      </p:sp>
      <p:sp>
        <p:nvSpPr>
          <p:cNvPr id="31" name="Text 29"/>
          <p:cNvSpPr/>
          <p:nvPr/>
        </p:nvSpPr>
        <p:spPr>
          <a:xfrm>
            <a:off x="8796528" y="3602736"/>
            <a:ext cx="2788920" cy="292608"/>
          </a:xfrm>
          <a:prstGeom prst="rect">
            <a:avLst/>
          </a:prstGeom>
          <a:noFill/>
          <a:ln/>
        </p:spPr>
        <p:txBody>
          <a:bodyPr wrap="square" lIns="0" tIns="0" rIns="0" bIns="0" rtlCol="0" anchor="ctr"/>
          <a:lstStyle/>
          <a:p>
            <a:pPr indent="0" marL="0">
              <a:buNone/>
            </a:pPr>
            <a:r>
              <a:rPr lang="en-US" sz="950" dirty="0">
                <a:solidFill>
                  <a:srgbClr val="5D7186"/>
                </a:solidFill>
                <a:latin typeface="Calibri" pitchFamily="34" charset="0"/>
                <a:ea typeface="Calibri" pitchFamily="34" charset="-122"/>
                <a:cs typeface="Calibri" pitchFamily="34" charset="-120"/>
              </a:rPr>
              <a:t>Southampton IIId</a:t>
            </a:r>
            <a:endParaRPr lang="en-US" sz="950" dirty="0"/>
          </a:p>
        </p:txBody>
      </p:sp>
      <p:sp>
        <p:nvSpPr>
          <p:cNvPr id="32" name="Shape 30"/>
          <p:cNvSpPr/>
          <p:nvPr/>
        </p:nvSpPr>
        <p:spPr>
          <a:xfrm>
            <a:off x="566928" y="3941064"/>
            <a:ext cx="73152" cy="292608"/>
          </a:xfrm>
          <a:prstGeom prst="rect">
            <a:avLst/>
          </a:prstGeom>
          <a:solidFill>
            <a:srgbClr val="C25C07"/>
          </a:solidFill>
          <a:ln w="12700">
            <a:solidFill>
              <a:srgbClr val="C25C07"/>
            </a:solidFill>
            <a:prstDash val="solid"/>
          </a:ln>
        </p:spPr>
      </p:sp>
      <p:sp>
        <p:nvSpPr>
          <p:cNvPr id="33" name="Text 31"/>
          <p:cNvSpPr/>
          <p:nvPr/>
        </p:nvSpPr>
        <p:spPr>
          <a:xfrm>
            <a:off x="768096" y="3941064"/>
            <a:ext cx="731520" cy="292608"/>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R12</a:t>
            </a:r>
            <a:endParaRPr lang="en-US" sz="1000" dirty="0"/>
          </a:p>
        </p:txBody>
      </p:sp>
      <p:sp>
        <p:nvSpPr>
          <p:cNvPr id="34" name="Text 32"/>
          <p:cNvSpPr/>
          <p:nvPr/>
        </p:nvSpPr>
        <p:spPr>
          <a:xfrm>
            <a:off x="1527048" y="3941064"/>
            <a:ext cx="7132320" cy="292608"/>
          </a:xfrm>
          <a:prstGeom prst="rect">
            <a:avLst/>
          </a:prstGeom>
          <a:noFill/>
          <a:ln/>
        </p:spPr>
        <p:txBody>
          <a:bodyPr wrap="square" lIns="0" tIns="0" rIns="0" bIns="0" rtlCol="0" anchor="ctr"/>
          <a:lstStyle/>
          <a:p>
            <a:pPr indent="0" marL="0">
              <a:buNone/>
            </a:pPr>
            <a:r>
              <a:rPr lang="en-US" sz="1000" dirty="0">
                <a:solidFill>
                  <a:srgbClr val="12202E"/>
                </a:solidFill>
                <a:latin typeface="Calibri" pitchFamily="34" charset="0"/>
                <a:ea typeface="Calibri" pitchFamily="34" charset="-122"/>
                <a:cs typeface="Calibri" pitchFamily="34" charset="-120"/>
              </a:rPr>
              <a:t>classification = yellow AND yesterday = yellow</a:t>
            </a:r>
            <a:endParaRPr lang="en-US" sz="1000" dirty="0"/>
          </a:p>
        </p:txBody>
      </p:sp>
      <p:sp>
        <p:nvSpPr>
          <p:cNvPr id="35" name="Text 33"/>
          <p:cNvSpPr/>
          <p:nvPr/>
        </p:nvSpPr>
        <p:spPr>
          <a:xfrm>
            <a:off x="8796528" y="3941064"/>
            <a:ext cx="2788920" cy="292608"/>
          </a:xfrm>
          <a:prstGeom prst="rect">
            <a:avLst/>
          </a:prstGeom>
          <a:noFill/>
          <a:ln/>
        </p:spPr>
        <p:txBody>
          <a:bodyPr wrap="square" lIns="0" tIns="0" rIns="0" bIns="0" rtlCol="0" anchor="ctr"/>
          <a:lstStyle/>
          <a:p>
            <a:pPr indent="0" marL="0">
              <a:buNone/>
            </a:pPr>
            <a:r>
              <a:rPr lang="en-US" sz="950" dirty="0">
                <a:solidFill>
                  <a:srgbClr val="5D7186"/>
                </a:solidFill>
                <a:latin typeface="Calibri" pitchFamily="34" charset="0"/>
                <a:ea typeface="Calibri" pitchFamily="34" charset="-122"/>
                <a:cs typeface="Calibri" pitchFamily="34" charset="-120"/>
              </a:rPr>
              <a:t>persistence</a:t>
            </a:r>
            <a:endParaRPr lang="en-US" sz="950" dirty="0"/>
          </a:p>
        </p:txBody>
      </p:sp>
      <p:sp>
        <p:nvSpPr>
          <p:cNvPr id="36" name="Shape 34"/>
          <p:cNvSpPr/>
          <p:nvPr/>
        </p:nvSpPr>
        <p:spPr>
          <a:xfrm>
            <a:off x="566928" y="4279392"/>
            <a:ext cx="73152" cy="292608"/>
          </a:xfrm>
          <a:prstGeom prst="rect">
            <a:avLst/>
          </a:prstGeom>
          <a:solidFill>
            <a:srgbClr val="9C6D00"/>
          </a:solidFill>
          <a:ln w="12700">
            <a:solidFill>
              <a:srgbClr val="9C6D00"/>
            </a:solidFill>
            <a:prstDash val="solid"/>
          </a:ln>
        </p:spPr>
      </p:sp>
      <p:sp>
        <p:nvSpPr>
          <p:cNvPr id="37" name="Text 35"/>
          <p:cNvSpPr/>
          <p:nvPr/>
        </p:nvSpPr>
        <p:spPr>
          <a:xfrm>
            <a:off x="768096" y="4279392"/>
            <a:ext cx="731520" cy="292608"/>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R6b</a:t>
            </a:r>
            <a:endParaRPr lang="en-US" sz="1000" dirty="0"/>
          </a:p>
        </p:txBody>
      </p:sp>
      <p:sp>
        <p:nvSpPr>
          <p:cNvPr id="38" name="Text 36"/>
          <p:cNvSpPr/>
          <p:nvPr/>
        </p:nvSpPr>
        <p:spPr>
          <a:xfrm>
            <a:off x="1527048" y="4279392"/>
            <a:ext cx="7132320" cy="292608"/>
          </a:xfrm>
          <a:prstGeom prst="rect">
            <a:avLst/>
          </a:prstGeom>
          <a:noFill/>
          <a:ln/>
        </p:spPr>
        <p:txBody>
          <a:bodyPr wrap="square" lIns="0" tIns="0" rIns="0" bIns="0" rtlCol="0" anchor="ctr"/>
          <a:lstStyle/>
          <a:p>
            <a:pPr indent="0" marL="0">
              <a:buNone/>
            </a:pPr>
            <a:r>
              <a:rPr lang="en-US" sz="1000" dirty="0">
                <a:solidFill>
                  <a:srgbClr val="12202E"/>
                </a:solidFill>
                <a:latin typeface="Calibri" pitchFamily="34" charset="0"/>
                <a:ea typeface="Calibri" pitchFamily="34" charset="-122"/>
                <a:cs typeface="Calibri" pitchFamily="34" charset="-120"/>
              </a:rPr>
              <a:t>Southampton II OR swelling = 3 (from day 1)</a:t>
            </a:r>
            <a:endParaRPr lang="en-US" sz="1000" dirty="0"/>
          </a:p>
        </p:txBody>
      </p:sp>
      <p:sp>
        <p:nvSpPr>
          <p:cNvPr id="39" name="Text 37"/>
          <p:cNvSpPr/>
          <p:nvPr/>
        </p:nvSpPr>
        <p:spPr>
          <a:xfrm>
            <a:off x="8796528" y="4279392"/>
            <a:ext cx="2788920" cy="292608"/>
          </a:xfrm>
          <a:prstGeom prst="rect">
            <a:avLst/>
          </a:prstGeom>
          <a:noFill/>
          <a:ln/>
        </p:spPr>
        <p:txBody>
          <a:bodyPr wrap="square" lIns="0" tIns="0" rIns="0" bIns="0" rtlCol="0" anchor="ctr"/>
          <a:lstStyle/>
          <a:p>
            <a:pPr indent="0" marL="0">
              <a:buNone/>
            </a:pPr>
            <a:r>
              <a:rPr lang="en-US" sz="950" dirty="0">
                <a:solidFill>
                  <a:srgbClr val="5D7186"/>
                </a:solidFill>
                <a:latin typeface="Calibri" pitchFamily="34" charset="0"/>
                <a:ea typeface="Calibri" pitchFamily="34" charset="-122"/>
                <a:cs typeface="Calibri" pitchFamily="34" charset="-120"/>
              </a:rPr>
              <a:t>Southampton II</a:t>
            </a:r>
            <a:endParaRPr lang="en-US" sz="950" dirty="0"/>
          </a:p>
        </p:txBody>
      </p:sp>
      <p:sp>
        <p:nvSpPr>
          <p:cNvPr id="40" name="Shape 38"/>
          <p:cNvSpPr/>
          <p:nvPr/>
        </p:nvSpPr>
        <p:spPr>
          <a:xfrm>
            <a:off x="566928" y="4617720"/>
            <a:ext cx="73152" cy="292608"/>
          </a:xfrm>
          <a:prstGeom prst="rect">
            <a:avLst/>
          </a:prstGeom>
          <a:solidFill>
            <a:srgbClr val="9C6D00"/>
          </a:solidFill>
          <a:ln w="12700">
            <a:solidFill>
              <a:srgbClr val="9C6D00"/>
            </a:solidFill>
            <a:prstDash val="solid"/>
          </a:ln>
        </p:spPr>
      </p:sp>
      <p:sp>
        <p:nvSpPr>
          <p:cNvPr id="41" name="Text 39"/>
          <p:cNvSpPr/>
          <p:nvPr/>
        </p:nvSpPr>
        <p:spPr>
          <a:xfrm>
            <a:off x="768096" y="4617720"/>
            <a:ext cx="731520" cy="292608"/>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R6a</a:t>
            </a:r>
            <a:endParaRPr lang="en-US" sz="1000" dirty="0"/>
          </a:p>
        </p:txBody>
      </p:sp>
      <p:sp>
        <p:nvSpPr>
          <p:cNvPr id="42" name="Text 40"/>
          <p:cNvSpPr/>
          <p:nvPr/>
        </p:nvSpPr>
        <p:spPr>
          <a:xfrm>
            <a:off x="1527048" y="4617720"/>
            <a:ext cx="7132320" cy="292608"/>
          </a:xfrm>
          <a:prstGeom prst="rect">
            <a:avLst/>
          </a:prstGeom>
          <a:noFill/>
          <a:ln/>
        </p:spPr>
        <p:txBody>
          <a:bodyPr wrap="square" lIns="0" tIns="0" rIns="0" bIns="0" rtlCol="0" anchor="ctr"/>
          <a:lstStyle/>
          <a:p>
            <a:pPr indent="0" marL="0">
              <a:buNone/>
            </a:pPr>
            <a:r>
              <a:rPr lang="en-US" sz="1000" dirty="0">
                <a:solidFill>
                  <a:srgbClr val="12202E"/>
                </a:solidFill>
                <a:latin typeface="Calibri" pitchFamily="34" charset="0"/>
                <a:ea typeface="Calibri" pitchFamily="34" charset="-122"/>
                <a:cs typeface="Calibri" pitchFamily="34" charset="-120"/>
              </a:rPr>
              <a:t>Southampton I AND day ≥ 3</a:t>
            </a:r>
            <a:endParaRPr lang="en-US" sz="1000" dirty="0"/>
          </a:p>
        </p:txBody>
      </p:sp>
      <p:sp>
        <p:nvSpPr>
          <p:cNvPr id="43" name="Text 41"/>
          <p:cNvSpPr/>
          <p:nvPr/>
        </p:nvSpPr>
        <p:spPr>
          <a:xfrm>
            <a:off x="8796528" y="4617720"/>
            <a:ext cx="2788920" cy="292608"/>
          </a:xfrm>
          <a:prstGeom prst="rect">
            <a:avLst/>
          </a:prstGeom>
          <a:noFill/>
          <a:ln/>
        </p:spPr>
        <p:txBody>
          <a:bodyPr wrap="square" lIns="0" tIns="0" rIns="0" bIns="0" rtlCol="0" anchor="ctr"/>
          <a:lstStyle/>
          <a:p>
            <a:pPr indent="0" marL="0">
              <a:buNone/>
            </a:pPr>
            <a:r>
              <a:rPr lang="en-US" sz="950" dirty="0">
                <a:solidFill>
                  <a:srgbClr val="5D7186"/>
                </a:solidFill>
                <a:latin typeface="Calibri" pitchFamily="34" charset="0"/>
                <a:ea typeface="Calibri" pitchFamily="34" charset="-122"/>
                <a:cs typeface="Calibri" pitchFamily="34" charset="-120"/>
              </a:rPr>
              <a:t>wound healing phases</a:t>
            </a:r>
            <a:endParaRPr lang="en-US" sz="950" dirty="0"/>
          </a:p>
        </p:txBody>
      </p:sp>
      <p:sp>
        <p:nvSpPr>
          <p:cNvPr id="44" name="Shape 42"/>
          <p:cNvSpPr/>
          <p:nvPr/>
        </p:nvSpPr>
        <p:spPr>
          <a:xfrm>
            <a:off x="566928" y="4956048"/>
            <a:ext cx="73152" cy="292608"/>
          </a:xfrm>
          <a:prstGeom prst="rect">
            <a:avLst/>
          </a:prstGeom>
          <a:solidFill>
            <a:srgbClr val="9C6D00"/>
          </a:solidFill>
          <a:ln w="12700">
            <a:solidFill>
              <a:srgbClr val="9C6D00"/>
            </a:solidFill>
            <a:prstDash val="solid"/>
          </a:ln>
        </p:spPr>
      </p:sp>
      <p:sp>
        <p:nvSpPr>
          <p:cNvPr id="45" name="Text 43"/>
          <p:cNvSpPr/>
          <p:nvPr/>
        </p:nvSpPr>
        <p:spPr>
          <a:xfrm>
            <a:off x="768096" y="4956048"/>
            <a:ext cx="731520" cy="292608"/>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R7</a:t>
            </a:r>
            <a:endParaRPr lang="en-US" sz="1000" dirty="0"/>
          </a:p>
        </p:txBody>
      </p:sp>
      <p:sp>
        <p:nvSpPr>
          <p:cNvPr id="46" name="Text 44"/>
          <p:cNvSpPr/>
          <p:nvPr/>
        </p:nvSpPr>
        <p:spPr>
          <a:xfrm>
            <a:off x="1527048" y="4956048"/>
            <a:ext cx="7132320" cy="292608"/>
          </a:xfrm>
          <a:prstGeom prst="rect">
            <a:avLst/>
          </a:prstGeom>
          <a:noFill/>
          <a:ln/>
        </p:spPr>
        <p:txBody>
          <a:bodyPr wrap="square" lIns="0" tIns="0" rIns="0" bIns="0" rtlCol="0" anchor="ctr"/>
          <a:lstStyle/>
          <a:p>
            <a:pPr indent="0" marL="0">
              <a:buNone/>
            </a:pPr>
            <a:r>
              <a:rPr lang="en-US" sz="1000" dirty="0">
                <a:solidFill>
                  <a:srgbClr val="12202E"/>
                </a:solidFill>
                <a:latin typeface="Calibri" pitchFamily="34" charset="0"/>
                <a:ea typeface="Calibri" pitchFamily="34" charset="-122"/>
                <a:cs typeface="Calibri" pitchFamily="34" charset="-120"/>
              </a:rPr>
              <a:t>wound_open = 1 OR numbness OR mobility change</a:t>
            </a:r>
            <a:endParaRPr lang="en-US" sz="1000" dirty="0"/>
          </a:p>
        </p:txBody>
      </p:sp>
      <p:sp>
        <p:nvSpPr>
          <p:cNvPr id="47" name="Text 45"/>
          <p:cNvSpPr/>
          <p:nvPr/>
        </p:nvSpPr>
        <p:spPr>
          <a:xfrm>
            <a:off x="8796528" y="4956048"/>
            <a:ext cx="2788920" cy="292608"/>
          </a:xfrm>
          <a:prstGeom prst="rect">
            <a:avLst/>
          </a:prstGeom>
          <a:noFill/>
          <a:ln/>
        </p:spPr>
        <p:txBody>
          <a:bodyPr wrap="square" lIns="0" tIns="0" rIns="0" bIns="0" rtlCol="0" anchor="ctr"/>
          <a:lstStyle/>
          <a:p>
            <a:pPr indent="0" marL="0">
              <a:buNone/>
            </a:pPr>
            <a:r>
              <a:rPr lang="en-US" sz="950" dirty="0">
                <a:solidFill>
                  <a:srgbClr val="5D7186"/>
                </a:solidFill>
                <a:latin typeface="Calibri" pitchFamily="34" charset="0"/>
                <a:ea typeface="Calibri" pitchFamily="34" charset="-122"/>
                <a:cs typeface="Calibri" pitchFamily="34" charset="-120"/>
              </a:rPr>
              <a:t>follow-up standards</a:t>
            </a:r>
            <a:endParaRPr lang="en-US" sz="950" dirty="0"/>
          </a:p>
        </p:txBody>
      </p:sp>
      <p:sp>
        <p:nvSpPr>
          <p:cNvPr id="48" name="Shape 46"/>
          <p:cNvSpPr/>
          <p:nvPr/>
        </p:nvSpPr>
        <p:spPr>
          <a:xfrm>
            <a:off x="566928" y="5294376"/>
            <a:ext cx="73152" cy="292608"/>
          </a:xfrm>
          <a:prstGeom prst="rect">
            <a:avLst/>
          </a:prstGeom>
          <a:solidFill>
            <a:srgbClr val="9C6D00"/>
          </a:solidFill>
          <a:ln w="12700">
            <a:solidFill>
              <a:srgbClr val="9C6D00"/>
            </a:solidFill>
            <a:prstDash val="solid"/>
          </a:ln>
        </p:spPr>
      </p:sp>
      <p:sp>
        <p:nvSpPr>
          <p:cNvPr id="49" name="Text 47"/>
          <p:cNvSpPr/>
          <p:nvPr/>
        </p:nvSpPr>
        <p:spPr>
          <a:xfrm>
            <a:off x="768096" y="5294376"/>
            <a:ext cx="731520" cy="292608"/>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R10</a:t>
            </a:r>
            <a:endParaRPr lang="en-US" sz="1000" dirty="0"/>
          </a:p>
        </p:txBody>
      </p:sp>
      <p:sp>
        <p:nvSpPr>
          <p:cNvPr id="50" name="Text 48"/>
          <p:cNvSpPr/>
          <p:nvPr/>
        </p:nvSpPr>
        <p:spPr>
          <a:xfrm>
            <a:off x="1527048" y="5294376"/>
            <a:ext cx="7132320" cy="292608"/>
          </a:xfrm>
          <a:prstGeom prst="rect">
            <a:avLst/>
          </a:prstGeom>
          <a:noFill/>
          <a:ln/>
        </p:spPr>
        <p:txBody>
          <a:bodyPr wrap="square" lIns="0" tIns="0" rIns="0" bIns="0" rtlCol="0" anchor="ctr"/>
          <a:lstStyle/>
          <a:p>
            <a:pPr indent="0" marL="0">
              <a:buNone/>
            </a:pPr>
            <a:r>
              <a:rPr lang="en-US" sz="1000" dirty="0">
                <a:solidFill>
                  <a:srgbClr val="12202E"/>
                </a:solidFill>
                <a:latin typeface="Calibri" pitchFamily="34" charset="0"/>
                <a:ea typeface="Calibri" pitchFamily="34" charset="-122"/>
                <a:cs typeface="Calibri" pitchFamily="34" charset="-120"/>
              </a:rPr>
              <a:t>bleeding ≥ 1 AND anticoagulants</a:t>
            </a:r>
            <a:endParaRPr lang="en-US" sz="1000" dirty="0"/>
          </a:p>
        </p:txBody>
      </p:sp>
      <p:sp>
        <p:nvSpPr>
          <p:cNvPr id="51" name="Text 49"/>
          <p:cNvSpPr/>
          <p:nvPr/>
        </p:nvSpPr>
        <p:spPr>
          <a:xfrm>
            <a:off x="8796528" y="5294376"/>
            <a:ext cx="2788920" cy="292608"/>
          </a:xfrm>
          <a:prstGeom prst="rect">
            <a:avLst/>
          </a:prstGeom>
          <a:noFill/>
          <a:ln/>
        </p:spPr>
        <p:txBody>
          <a:bodyPr wrap="square" lIns="0" tIns="0" rIns="0" bIns="0" rtlCol="0" anchor="ctr"/>
          <a:lstStyle/>
          <a:p>
            <a:pPr indent="0" marL="0">
              <a:buNone/>
            </a:pPr>
            <a:r>
              <a:rPr lang="en-US" sz="950" dirty="0">
                <a:solidFill>
                  <a:srgbClr val="5D7186"/>
                </a:solidFill>
                <a:latin typeface="Calibri" pitchFamily="34" charset="0"/>
                <a:ea typeface="Calibri" pitchFamily="34" charset="-122"/>
                <a:cs typeface="Calibri" pitchFamily="34" charset="-120"/>
              </a:rPr>
              <a:t>bleeding assessment</a:t>
            </a:r>
            <a:endParaRPr lang="en-US" sz="950" dirty="0"/>
          </a:p>
        </p:txBody>
      </p:sp>
      <p:sp>
        <p:nvSpPr>
          <p:cNvPr id="52" name="Shape 50"/>
          <p:cNvSpPr/>
          <p:nvPr/>
        </p:nvSpPr>
        <p:spPr>
          <a:xfrm>
            <a:off x="566928" y="5632704"/>
            <a:ext cx="73152" cy="292608"/>
          </a:xfrm>
          <a:prstGeom prst="rect">
            <a:avLst/>
          </a:prstGeom>
          <a:solidFill>
            <a:srgbClr val="1A7F4B"/>
          </a:solidFill>
          <a:ln w="12700">
            <a:solidFill>
              <a:srgbClr val="1A7F4B"/>
            </a:solidFill>
            <a:prstDash val="solid"/>
          </a:ln>
        </p:spPr>
      </p:sp>
      <p:sp>
        <p:nvSpPr>
          <p:cNvPr id="53" name="Text 51"/>
          <p:cNvSpPr/>
          <p:nvPr/>
        </p:nvSpPr>
        <p:spPr>
          <a:xfrm>
            <a:off x="768096" y="5632704"/>
            <a:ext cx="731520" cy="292608"/>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R8</a:t>
            </a:r>
            <a:endParaRPr lang="en-US" sz="1000" dirty="0"/>
          </a:p>
        </p:txBody>
      </p:sp>
      <p:sp>
        <p:nvSpPr>
          <p:cNvPr id="54" name="Text 52"/>
          <p:cNvSpPr/>
          <p:nvPr/>
        </p:nvSpPr>
        <p:spPr>
          <a:xfrm>
            <a:off x="1527048" y="5632704"/>
            <a:ext cx="7132320" cy="292608"/>
          </a:xfrm>
          <a:prstGeom prst="rect">
            <a:avLst/>
          </a:prstGeom>
          <a:noFill/>
          <a:ln/>
        </p:spPr>
        <p:txBody>
          <a:bodyPr wrap="square" lIns="0" tIns="0" rIns="0" bIns="0" rtlCol="0" anchor="ctr"/>
          <a:lstStyle/>
          <a:p>
            <a:pPr indent="0" marL="0">
              <a:buNone/>
            </a:pPr>
            <a:r>
              <a:rPr lang="en-US" sz="1000" dirty="0">
                <a:solidFill>
                  <a:srgbClr val="12202E"/>
                </a:solidFill>
                <a:latin typeface="Calibri" pitchFamily="34" charset="0"/>
                <a:ea typeface="Calibri" pitchFamily="34" charset="-122"/>
                <a:cs typeface="Calibri" pitchFamily="34" charset="-120"/>
              </a:rPr>
              <a:t>catch-all</a:t>
            </a:r>
            <a:endParaRPr lang="en-US" sz="1000" dirty="0"/>
          </a:p>
        </p:txBody>
      </p:sp>
      <p:sp>
        <p:nvSpPr>
          <p:cNvPr id="55" name="Text 53"/>
          <p:cNvSpPr/>
          <p:nvPr/>
        </p:nvSpPr>
        <p:spPr>
          <a:xfrm>
            <a:off x="8796528" y="5632704"/>
            <a:ext cx="2788920" cy="292608"/>
          </a:xfrm>
          <a:prstGeom prst="rect">
            <a:avLst/>
          </a:prstGeom>
          <a:noFill/>
          <a:ln/>
        </p:spPr>
        <p:txBody>
          <a:bodyPr wrap="square" lIns="0" tIns="0" rIns="0" bIns="0" rtlCol="0" anchor="ctr"/>
          <a:lstStyle/>
          <a:p>
            <a:pPr indent="0" marL="0">
              <a:buNone/>
            </a:pPr>
            <a:r>
              <a:rPr lang="en-US" sz="950" dirty="0">
                <a:solidFill>
                  <a:srgbClr val="5D7186"/>
                </a:solidFill>
                <a:latin typeface="Calibri" pitchFamily="34" charset="0"/>
                <a:ea typeface="Calibri" pitchFamily="34" charset="-122"/>
                <a:cs typeface="Calibri" pitchFamily="34" charset="-120"/>
              </a:rPr>
              <a:t>—</a:t>
            </a:r>
            <a:endParaRPr lang="en-US" sz="950" dirty="0"/>
          </a:p>
        </p:txBody>
      </p:sp>
      <p:sp>
        <p:nvSpPr>
          <p:cNvPr id="56" name="Shape 54"/>
          <p:cNvSpPr/>
          <p:nvPr/>
        </p:nvSpPr>
        <p:spPr>
          <a:xfrm>
            <a:off x="566928" y="5971032"/>
            <a:ext cx="73152" cy="292608"/>
          </a:xfrm>
          <a:prstGeom prst="rect">
            <a:avLst/>
          </a:prstGeom>
          <a:solidFill>
            <a:srgbClr val="5D7186"/>
          </a:solidFill>
          <a:ln w="12700">
            <a:solidFill>
              <a:srgbClr val="5D7186"/>
            </a:solidFill>
            <a:prstDash val="solid"/>
          </a:ln>
        </p:spPr>
      </p:sp>
      <p:sp>
        <p:nvSpPr>
          <p:cNvPr id="57" name="Text 55"/>
          <p:cNvSpPr/>
          <p:nvPr/>
        </p:nvSpPr>
        <p:spPr>
          <a:xfrm>
            <a:off x="768096" y="5971032"/>
            <a:ext cx="731520" cy="292608"/>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I1–I5</a:t>
            </a:r>
            <a:endParaRPr lang="en-US" sz="1000" dirty="0"/>
          </a:p>
        </p:txBody>
      </p:sp>
      <p:sp>
        <p:nvSpPr>
          <p:cNvPr id="58" name="Text 56"/>
          <p:cNvSpPr/>
          <p:nvPr/>
        </p:nvSpPr>
        <p:spPr>
          <a:xfrm>
            <a:off x="1527048" y="5971032"/>
            <a:ext cx="7132320" cy="292608"/>
          </a:xfrm>
          <a:prstGeom prst="rect">
            <a:avLst/>
          </a:prstGeom>
          <a:noFill/>
          <a:ln/>
        </p:spPr>
        <p:txBody>
          <a:bodyPr wrap="square" lIns="0" tIns="0" rIns="0" bIns="0" rtlCol="0" anchor="ctr"/>
          <a:lstStyle/>
          <a:p>
            <a:pPr indent="0" marL="0">
              <a:buNone/>
            </a:pPr>
            <a:r>
              <a:rPr lang="en-US" sz="1000" dirty="0">
                <a:solidFill>
                  <a:srgbClr val="12202E"/>
                </a:solidFill>
                <a:latin typeface="Calibri" pitchFamily="34" charset="0"/>
                <a:ea typeface="Calibri" pitchFamily="34" charset="-122"/>
                <a:cs typeface="Calibri" pitchFamily="34" charset="-120"/>
              </a:rPr>
              <a:t>risk factors · medication · smoking · scab · high-risk procedure</a:t>
            </a:r>
            <a:endParaRPr lang="en-US" sz="1000" dirty="0"/>
          </a:p>
        </p:txBody>
      </p:sp>
      <p:sp>
        <p:nvSpPr>
          <p:cNvPr id="59" name="Text 57"/>
          <p:cNvSpPr/>
          <p:nvPr/>
        </p:nvSpPr>
        <p:spPr>
          <a:xfrm>
            <a:off x="8796528" y="5971032"/>
            <a:ext cx="2788920" cy="292608"/>
          </a:xfrm>
          <a:prstGeom prst="rect">
            <a:avLst/>
          </a:prstGeom>
          <a:noFill/>
          <a:ln/>
        </p:spPr>
        <p:txBody>
          <a:bodyPr wrap="square" lIns="0" tIns="0" rIns="0" bIns="0" rtlCol="0" anchor="ctr"/>
          <a:lstStyle/>
          <a:p>
            <a:pPr indent="0" marL="0">
              <a:buNone/>
            </a:pPr>
            <a:r>
              <a:rPr lang="en-US" sz="950" dirty="0">
                <a:solidFill>
                  <a:srgbClr val="5D7186"/>
                </a:solidFill>
                <a:latin typeface="Calibri" pitchFamily="34" charset="0"/>
                <a:ea typeface="Calibri" pitchFamily="34" charset="-122"/>
                <a:cs typeface="Calibri" pitchFamily="34" charset="-120"/>
              </a:rPr>
              <a:t>non-exclusive</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indent="0" marL="0">
              <a:buNone/>
            </a:pPr>
            <a:r>
              <a:rPr lang="en-US" sz="1050" b="1" spc="160" kern="0" dirty="0">
                <a:solidFill>
                  <a:srgbClr val="5D7186"/>
                </a:solidFill>
                <a:latin typeface="Calibri" pitchFamily="34" charset="0"/>
                <a:ea typeface="Calibri" pitchFamily="34" charset="-122"/>
                <a:cs typeface="Calibri" pitchFamily="34" charset="-120"/>
              </a:rPr>
              <a:t>BACKUP · QA</a:t>
            </a:r>
            <a:endParaRPr lang="en-US" sz="1050" dirty="0"/>
          </a:p>
        </p:txBody>
      </p:sp>
      <p:sp>
        <p:nvSpPr>
          <p:cNvPr id="3" name="Text 1"/>
          <p:cNvSpPr/>
          <p:nvPr/>
        </p:nvSpPr>
        <p:spPr>
          <a:xfrm>
            <a:off x="566928" y="640080"/>
            <a:ext cx="10607040" cy="658368"/>
          </a:xfrm>
          <a:prstGeom prst="rect">
            <a:avLst/>
          </a:prstGeom>
          <a:noFill/>
          <a:ln/>
        </p:spPr>
        <p:txBody>
          <a:bodyPr wrap="square" lIns="0" tIns="0" rIns="0" bIns="0" rtlCol="0" anchor="t"/>
          <a:lstStyle/>
          <a:p>
            <a:pPr indent="0" marL="0">
              <a:buNone/>
            </a:pPr>
            <a:r>
              <a:rPr lang="en-US" sz="2700" b="1" dirty="0">
                <a:solidFill>
                  <a:srgbClr val="12202E"/>
                </a:solidFill>
                <a:latin typeface="Cambria" pitchFamily="34" charset="0"/>
                <a:ea typeface="Cambria" pitchFamily="34" charset="-122"/>
                <a:cs typeface="Cambria" pitchFamily="34" charset="-120"/>
              </a:rPr>
              <a:t>Test protocol — 19 decision-logic cases, all passing</a:t>
            </a:r>
            <a:endParaRPr lang="en-US" sz="2700" dirty="0"/>
          </a:p>
        </p:txBody>
      </p:sp>
      <p:sp>
        <p:nvSpPr>
          <p:cNvPr id="4" name="Shape 2"/>
          <p:cNvSpPr/>
          <p:nvPr/>
        </p:nvSpPr>
        <p:spPr>
          <a:xfrm>
            <a:off x="566928" y="1572768"/>
            <a:ext cx="5440680" cy="365760"/>
          </a:xfrm>
          <a:prstGeom prst="roundRect">
            <a:avLst>
              <a:gd name="adj" fmla="val 15000"/>
            </a:avLst>
          </a:prstGeom>
          <a:solidFill>
            <a:srgbClr val="F5F7FA"/>
          </a:solidFill>
          <a:ln w="12700">
            <a:solidFill>
              <a:srgbClr val="DDE5EE"/>
            </a:solidFill>
            <a:prstDash val="solid"/>
          </a:ln>
        </p:spPr>
      </p:sp>
      <p:sp>
        <p:nvSpPr>
          <p:cNvPr id="5" name="Text 3"/>
          <p:cNvSpPr/>
          <p:nvPr/>
        </p:nvSpPr>
        <p:spPr>
          <a:xfrm>
            <a:off x="713232" y="1572768"/>
            <a:ext cx="548640" cy="365760"/>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T1</a:t>
            </a:r>
            <a:endParaRPr lang="en-US" sz="1000" dirty="0"/>
          </a:p>
        </p:txBody>
      </p:sp>
      <p:sp>
        <p:nvSpPr>
          <p:cNvPr id="6" name="Text 4"/>
          <p:cNvSpPr/>
          <p:nvPr/>
        </p:nvSpPr>
        <p:spPr>
          <a:xfrm>
            <a:off x="1280160" y="1572768"/>
            <a:ext cx="2743200" cy="365760"/>
          </a:xfrm>
          <a:prstGeom prst="rect">
            <a:avLst/>
          </a:prstGeom>
          <a:noFill/>
          <a:ln/>
        </p:spPr>
        <p:txBody>
          <a:bodyPr wrap="square" lIns="0" tIns="0" rIns="0" bIns="0" rtlCol="0" anchor="ctr"/>
          <a:lstStyle/>
          <a:p>
            <a:pPr indent="0" marL="0">
              <a:buNone/>
            </a:pPr>
            <a:r>
              <a:rPr lang="en-US" sz="950" dirty="0">
                <a:solidFill>
                  <a:srgbClr val="12202E"/>
                </a:solidFill>
                <a:latin typeface="Calibri" pitchFamily="34" charset="0"/>
                <a:ea typeface="Calibri" pitchFamily="34" charset="-122"/>
                <a:cs typeface="Calibri" pitchFamily="34" charset="-120"/>
              </a:rPr>
              <a:t>R1 fever · temp 39.2</a:t>
            </a:r>
            <a:endParaRPr lang="en-US" sz="950" dirty="0"/>
          </a:p>
        </p:txBody>
      </p:sp>
      <p:sp>
        <p:nvSpPr>
          <p:cNvPr id="7" name="Text 5"/>
          <p:cNvSpPr/>
          <p:nvPr/>
        </p:nvSpPr>
        <p:spPr>
          <a:xfrm>
            <a:off x="4059936" y="1572768"/>
            <a:ext cx="1645920" cy="365760"/>
          </a:xfrm>
          <a:prstGeom prst="rect">
            <a:avLst/>
          </a:prstGeom>
          <a:noFill/>
          <a:ln/>
        </p:spPr>
        <p:txBody>
          <a:bodyPr wrap="square" lIns="0" tIns="0" rIns="0" bIns="0" rtlCol="0" anchor="ctr"/>
          <a:lstStyle/>
          <a:p>
            <a:pPr indent="0" marL="0">
              <a:buNone/>
            </a:pPr>
            <a:r>
              <a:rPr lang="en-US" sz="950" dirty="0">
                <a:solidFill>
                  <a:srgbClr val="5D7186"/>
                </a:solidFill>
                <a:latin typeface="Calibri" pitchFamily="34" charset="0"/>
                <a:ea typeface="Calibri" pitchFamily="34" charset="-122"/>
                <a:cs typeface="Calibri" pitchFamily="34" charset="-120"/>
              </a:rPr>
              <a:t>RED (R1)</a:t>
            </a:r>
            <a:endParaRPr lang="en-US" sz="950" dirty="0"/>
          </a:p>
        </p:txBody>
      </p:sp>
      <p:sp>
        <p:nvSpPr>
          <p:cNvPr id="8" name="Text 6"/>
          <p:cNvSpPr/>
          <p:nvPr/>
        </p:nvSpPr>
        <p:spPr>
          <a:xfrm>
            <a:off x="5687568" y="1572768"/>
            <a:ext cx="274320" cy="365760"/>
          </a:xfrm>
          <a:prstGeom prst="rect">
            <a:avLst/>
          </a:prstGeom>
          <a:noFill/>
          <a:ln/>
        </p:spPr>
        <p:txBody>
          <a:bodyPr wrap="square" lIns="0" tIns="0" rIns="0" bIns="0" rtlCol="0" anchor="ctr"/>
          <a:lstStyle/>
          <a:p>
            <a:pPr algn="ctr" indent="0" marL="0">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9" name="Shape 7"/>
          <p:cNvSpPr/>
          <p:nvPr/>
        </p:nvSpPr>
        <p:spPr>
          <a:xfrm>
            <a:off x="566928" y="2011680"/>
            <a:ext cx="5440680" cy="365760"/>
          </a:xfrm>
          <a:prstGeom prst="roundRect">
            <a:avLst>
              <a:gd name="adj" fmla="val 15000"/>
            </a:avLst>
          </a:prstGeom>
          <a:solidFill>
            <a:srgbClr val="FFFFFF"/>
          </a:solidFill>
          <a:ln w="12700">
            <a:solidFill>
              <a:srgbClr val="DDE5EE"/>
            </a:solidFill>
            <a:prstDash val="solid"/>
          </a:ln>
        </p:spPr>
      </p:sp>
      <p:sp>
        <p:nvSpPr>
          <p:cNvPr id="10" name="Text 8"/>
          <p:cNvSpPr/>
          <p:nvPr/>
        </p:nvSpPr>
        <p:spPr>
          <a:xfrm>
            <a:off x="713232" y="2011680"/>
            <a:ext cx="548640" cy="365760"/>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T2</a:t>
            </a:r>
            <a:endParaRPr lang="en-US" sz="1000" dirty="0"/>
          </a:p>
        </p:txBody>
      </p:sp>
      <p:sp>
        <p:nvSpPr>
          <p:cNvPr id="11" name="Text 9"/>
          <p:cNvSpPr/>
          <p:nvPr/>
        </p:nvSpPr>
        <p:spPr>
          <a:xfrm>
            <a:off x="1280160" y="2011680"/>
            <a:ext cx="2743200" cy="365760"/>
          </a:xfrm>
          <a:prstGeom prst="rect">
            <a:avLst/>
          </a:prstGeom>
          <a:noFill/>
          <a:ln/>
        </p:spPr>
        <p:txBody>
          <a:bodyPr wrap="square" lIns="0" tIns="0" rIns="0" bIns="0" rtlCol="0" anchor="ctr"/>
          <a:lstStyle/>
          <a:p>
            <a:pPr indent="0" marL="0">
              <a:buNone/>
            </a:pPr>
            <a:r>
              <a:rPr lang="en-US" sz="950" dirty="0">
                <a:solidFill>
                  <a:srgbClr val="12202E"/>
                </a:solidFill>
                <a:latin typeface="Calibri" pitchFamily="34" charset="0"/>
                <a:ea typeface="Calibri" pitchFamily="34" charset="-122"/>
                <a:cs typeface="Calibri" pitchFamily="34" charset="-120"/>
              </a:rPr>
              <a:t>R1 boundary · temp 39.0</a:t>
            </a:r>
            <a:endParaRPr lang="en-US" sz="950" dirty="0"/>
          </a:p>
        </p:txBody>
      </p:sp>
      <p:sp>
        <p:nvSpPr>
          <p:cNvPr id="12" name="Text 10"/>
          <p:cNvSpPr/>
          <p:nvPr/>
        </p:nvSpPr>
        <p:spPr>
          <a:xfrm>
            <a:off x="4059936" y="2011680"/>
            <a:ext cx="1645920" cy="365760"/>
          </a:xfrm>
          <a:prstGeom prst="rect">
            <a:avLst/>
          </a:prstGeom>
          <a:noFill/>
          <a:ln/>
        </p:spPr>
        <p:txBody>
          <a:bodyPr wrap="square" lIns="0" tIns="0" rIns="0" bIns="0" rtlCol="0" anchor="ctr"/>
          <a:lstStyle/>
          <a:p>
            <a:pPr indent="0" marL="0">
              <a:buNone/>
            </a:pPr>
            <a:r>
              <a:rPr lang="en-US" sz="950" dirty="0">
                <a:solidFill>
                  <a:srgbClr val="5D7186"/>
                </a:solidFill>
                <a:latin typeface="Calibri" pitchFamily="34" charset="0"/>
                <a:ea typeface="Calibri" pitchFamily="34" charset="-122"/>
                <a:cs typeface="Calibri" pitchFamily="34" charset="-120"/>
              </a:rPr>
              <a:t>RED — inclusive</a:t>
            </a:r>
            <a:endParaRPr lang="en-US" sz="950" dirty="0"/>
          </a:p>
        </p:txBody>
      </p:sp>
      <p:sp>
        <p:nvSpPr>
          <p:cNvPr id="13" name="Text 11"/>
          <p:cNvSpPr/>
          <p:nvPr/>
        </p:nvSpPr>
        <p:spPr>
          <a:xfrm>
            <a:off x="5687568" y="2011680"/>
            <a:ext cx="274320" cy="365760"/>
          </a:xfrm>
          <a:prstGeom prst="rect">
            <a:avLst/>
          </a:prstGeom>
          <a:noFill/>
          <a:ln/>
        </p:spPr>
        <p:txBody>
          <a:bodyPr wrap="square" lIns="0" tIns="0" rIns="0" bIns="0" rtlCol="0" anchor="ctr"/>
          <a:lstStyle/>
          <a:p>
            <a:pPr algn="ctr" indent="0" marL="0">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14" name="Shape 12"/>
          <p:cNvSpPr/>
          <p:nvPr/>
        </p:nvSpPr>
        <p:spPr>
          <a:xfrm>
            <a:off x="566928" y="2450592"/>
            <a:ext cx="5440680" cy="365760"/>
          </a:xfrm>
          <a:prstGeom prst="roundRect">
            <a:avLst>
              <a:gd name="adj" fmla="val 15000"/>
            </a:avLst>
          </a:prstGeom>
          <a:solidFill>
            <a:srgbClr val="F5F7FA"/>
          </a:solidFill>
          <a:ln w="12700">
            <a:solidFill>
              <a:srgbClr val="DDE5EE"/>
            </a:solidFill>
            <a:prstDash val="solid"/>
          </a:ln>
        </p:spPr>
      </p:sp>
      <p:sp>
        <p:nvSpPr>
          <p:cNvPr id="15" name="Text 13"/>
          <p:cNvSpPr/>
          <p:nvPr/>
        </p:nvSpPr>
        <p:spPr>
          <a:xfrm>
            <a:off x="713232" y="2450592"/>
            <a:ext cx="548640" cy="365760"/>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T3</a:t>
            </a:r>
            <a:endParaRPr lang="en-US" sz="1000" dirty="0"/>
          </a:p>
        </p:txBody>
      </p:sp>
      <p:sp>
        <p:nvSpPr>
          <p:cNvPr id="16" name="Text 14"/>
          <p:cNvSpPr/>
          <p:nvPr/>
        </p:nvSpPr>
        <p:spPr>
          <a:xfrm>
            <a:off x="1280160" y="2450592"/>
            <a:ext cx="2743200" cy="365760"/>
          </a:xfrm>
          <a:prstGeom prst="rect">
            <a:avLst/>
          </a:prstGeom>
          <a:noFill/>
          <a:ln/>
        </p:spPr>
        <p:txBody>
          <a:bodyPr wrap="square" lIns="0" tIns="0" rIns="0" bIns="0" rtlCol="0" anchor="ctr"/>
          <a:lstStyle/>
          <a:p>
            <a:pPr indent="0" marL="0">
              <a:buNone/>
            </a:pPr>
            <a:r>
              <a:rPr lang="en-US" sz="950" dirty="0">
                <a:solidFill>
                  <a:srgbClr val="12202E"/>
                </a:solidFill>
                <a:latin typeface="Calibri" pitchFamily="34" charset="0"/>
                <a:ea typeface="Calibri" pitchFamily="34" charset="-122"/>
                <a:cs typeface="Calibri" pitchFamily="34" charset="-120"/>
              </a:rPr>
              <a:t>R3 safety · image “open/pus” alone</a:t>
            </a:r>
            <a:endParaRPr lang="en-US" sz="950" dirty="0"/>
          </a:p>
        </p:txBody>
      </p:sp>
      <p:sp>
        <p:nvSpPr>
          <p:cNvPr id="17" name="Text 15"/>
          <p:cNvSpPr/>
          <p:nvPr/>
        </p:nvSpPr>
        <p:spPr>
          <a:xfrm>
            <a:off x="4059936" y="2450592"/>
            <a:ext cx="1645920" cy="365760"/>
          </a:xfrm>
          <a:prstGeom prst="rect">
            <a:avLst/>
          </a:prstGeom>
          <a:noFill/>
          <a:ln/>
        </p:spPr>
        <p:txBody>
          <a:bodyPr wrap="square" lIns="0" tIns="0" rIns="0" bIns="0" rtlCol="0" anchor="ctr"/>
          <a:lstStyle/>
          <a:p>
            <a:pPr indent="0" marL="0">
              <a:buNone/>
            </a:pPr>
            <a:r>
              <a:rPr lang="en-US" sz="950" dirty="0">
                <a:solidFill>
                  <a:srgbClr val="5D7186"/>
                </a:solidFill>
                <a:latin typeface="Calibri" pitchFamily="34" charset="0"/>
                <a:ea typeface="Calibri" pitchFamily="34" charset="-122"/>
                <a:cs typeface="Calibri" pitchFamily="34" charset="-120"/>
              </a:rPr>
              <a:t>RED (R3)</a:t>
            </a:r>
            <a:endParaRPr lang="en-US" sz="950" dirty="0"/>
          </a:p>
        </p:txBody>
      </p:sp>
      <p:sp>
        <p:nvSpPr>
          <p:cNvPr id="18" name="Text 16"/>
          <p:cNvSpPr/>
          <p:nvPr/>
        </p:nvSpPr>
        <p:spPr>
          <a:xfrm>
            <a:off x="5687568" y="2450592"/>
            <a:ext cx="274320" cy="365760"/>
          </a:xfrm>
          <a:prstGeom prst="rect">
            <a:avLst/>
          </a:prstGeom>
          <a:noFill/>
          <a:ln/>
        </p:spPr>
        <p:txBody>
          <a:bodyPr wrap="square" lIns="0" tIns="0" rIns="0" bIns="0" rtlCol="0" anchor="ctr"/>
          <a:lstStyle/>
          <a:p>
            <a:pPr algn="ctr" indent="0" marL="0">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19" name="Shape 17"/>
          <p:cNvSpPr/>
          <p:nvPr/>
        </p:nvSpPr>
        <p:spPr>
          <a:xfrm>
            <a:off x="566928" y="2889504"/>
            <a:ext cx="5440680" cy="365760"/>
          </a:xfrm>
          <a:prstGeom prst="roundRect">
            <a:avLst>
              <a:gd name="adj" fmla="val 15000"/>
            </a:avLst>
          </a:prstGeom>
          <a:solidFill>
            <a:srgbClr val="FFFFFF"/>
          </a:solidFill>
          <a:ln w="12700">
            <a:solidFill>
              <a:srgbClr val="DDE5EE"/>
            </a:solidFill>
            <a:prstDash val="solid"/>
          </a:ln>
        </p:spPr>
      </p:sp>
      <p:sp>
        <p:nvSpPr>
          <p:cNvPr id="20" name="Text 18"/>
          <p:cNvSpPr/>
          <p:nvPr/>
        </p:nvSpPr>
        <p:spPr>
          <a:xfrm>
            <a:off x="713232" y="2889504"/>
            <a:ext cx="548640" cy="365760"/>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T4</a:t>
            </a:r>
            <a:endParaRPr lang="en-US" sz="1000" dirty="0"/>
          </a:p>
        </p:txBody>
      </p:sp>
      <p:sp>
        <p:nvSpPr>
          <p:cNvPr id="21" name="Text 19"/>
          <p:cNvSpPr/>
          <p:nvPr/>
        </p:nvSpPr>
        <p:spPr>
          <a:xfrm>
            <a:off x="1280160" y="2889504"/>
            <a:ext cx="2743200" cy="365760"/>
          </a:xfrm>
          <a:prstGeom prst="rect">
            <a:avLst/>
          </a:prstGeom>
          <a:noFill/>
          <a:ln/>
        </p:spPr>
        <p:txBody>
          <a:bodyPr wrap="square" lIns="0" tIns="0" rIns="0" bIns="0" rtlCol="0" anchor="ctr"/>
          <a:lstStyle/>
          <a:p>
            <a:pPr indent="0" marL="0">
              <a:buNone/>
            </a:pPr>
            <a:r>
              <a:rPr lang="en-US" sz="950" dirty="0">
                <a:solidFill>
                  <a:srgbClr val="12202E"/>
                </a:solidFill>
                <a:latin typeface="Calibri" pitchFamily="34" charset="0"/>
                <a:ea typeface="Calibri" pitchFamily="34" charset="-122"/>
                <a:cs typeface="Calibri" pitchFamily="34" charset="-120"/>
              </a:rPr>
              <a:t>R5 before R6</a:t>
            </a:r>
            <a:endParaRPr lang="en-US" sz="950" dirty="0"/>
          </a:p>
        </p:txBody>
      </p:sp>
      <p:sp>
        <p:nvSpPr>
          <p:cNvPr id="22" name="Text 20"/>
          <p:cNvSpPr/>
          <p:nvPr/>
        </p:nvSpPr>
        <p:spPr>
          <a:xfrm>
            <a:off x="4059936" y="2889504"/>
            <a:ext cx="1645920" cy="365760"/>
          </a:xfrm>
          <a:prstGeom prst="rect">
            <a:avLst/>
          </a:prstGeom>
          <a:noFill/>
          <a:ln/>
        </p:spPr>
        <p:txBody>
          <a:bodyPr wrap="square" lIns="0" tIns="0" rIns="0" bIns="0" rtlCol="0" anchor="ctr"/>
          <a:lstStyle/>
          <a:p>
            <a:pPr indent="0" marL="0">
              <a:buNone/>
            </a:pPr>
            <a:r>
              <a:rPr lang="en-US" sz="950" dirty="0">
                <a:solidFill>
                  <a:srgbClr val="5D7186"/>
                </a:solidFill>
                <a:latin typeface="Calibri" pitchFamily="34" charset="0"/>
                <a:ea typeface="Calibri" pitchFamily="34" charset="-122"/>
                <a:cs typeface="Calibri" pitchFamily="34" charset="-120"/>
              </a:rPr>
              <a:t>ORANGE (R5)</a:t>
            </a:r>
            <a:endParaRPr lang="en-US" sz="950" dirty="0"/>
          </a:p>
        </p:txBody>
      </p:sp>
      <p:sp>
        <p:nvSpPr>
          <p:cNvPr id="23" name="Text 21"/>
          <p:cNvSpPr/>
          <p:nvPr/>
        </p:nvSpPr>
        <p:spPr>
          <a:xfrm>
            <a:off x="5687568" y="2889504"/>
            <a:ext cx="274320" cy="365760"/>
          </a:xfrm>
          <a:prstGeom prst="rect">
            <a:avLst/>
          </a:prstGeom>
          <a:noFill/>
          <a:ln/>
        </p:spPr>
        <p:txBody>
          <a:bodyPr wrap="square" lIns="0" tIns="0" rIns="0" bIns="0" rtlCol="0" anchor="ctr"/>
          <a:lstStyle/>
          <a:p>
            <a:pPr algn="ctr" indent="0" marL="0">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24" name="Shape 22"/>
          <p:cNvSpPr/>
          <p:nvPr/>
        </p:nvSpPr>
        <p:spPr>
          <a:xfrm>
            <a:off x="566928" y="3328416"/>
            <a:ext cx="5440680" cy="365760"/>
          </a:xfrm>
          <a:prstGeom prst="roundRect">
            <a:avLst>
              <a:gd name="adj" fmla="val 15000"/>
            </a:avLst>
          </a:prstGeom>
          <a:solidFill>
            <a:srgbClr val="F5F7FA"/>
          </a:solidFill>
          <a:ln w="12700">
            <a:solidFill>
              <a:srgbClr val="DDE5EE"/>
            </a:solidFill>
            <a:prstDash val="solid"/>
          </a:ln>
        </p:spPr>
      </p:sp>
      <p:sp>
        <p:nvSpPr>
          <p:cNvPr id="25" name="Text 23"/>
          <p:cNvSpPr/>
          <p:nvPr/>
        </p:nvSpPr>
        <p:spPr>
          <a:xfrm>
            <a:off x="713232" y="3328416"/>
            <a:ext cx="548640" cy="365760"/>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T5</a:t>
            </a:r>
            <a:endParaRPr lang="en-US" sz="1000" dirty="0"/>
          </a:p>
        </p:txBody>
      </p:sp>
      <p:sp>
        <p:nvSpPr>
          <p:cNvPr id="26" name="Text 24"/>
          <p:cNvSpPr/>
          <p:nvPr/>
        </p:nvSpPr>
        <p:spPr>
          <a:xfrm>
            <a:off x="1280160" y="3328416"/>
            <a:ext cx="2743200" cy="365760"/>
          </a:xfrm>
          <a:prstGeom prst="rect">
            <a:avLst/>
          </a:prstGeom>
          <a:noFill/>
          <a:ln/>
        </p:spPr>
        <p:txBody>
          <a:bodyPr wrap="square" lIns="0" tIns="0" rIns="0" bIns="0" rtlCol="0" anchor="ctr"/>
          <a:lstStyle/>
          <a:p>
            <a:pPr indent="0" marL="0">
              <a:buNone/>
            </a:pPr>
            <a:r>
              <a:rPr lang="en-US" sz="950" dirty="0">
                <a:solidFill>
                  <a:srgbClr val="12202E"/>
                </a:solidFill>
                <a:latin typeface="Calibri" pitchFamily="34" charset="0"/>
                <a:ea typeface="Calibri" pitchFamily="34" charset="-122"/>
                <a:cs typeface="Calibri" pitchFamily="34" charset="-120"/>
              </a:rPr>
              <a:t>mild signs on day 2</a:t>
            </a:r>
            <a:endParaRPr lang="en-US" sz="950" dirty="0"/>
          </a:p>
        </p:txBody>
      </p:sp>
      <p:sp>
        <p:nvSpPr>
          <p:cNvPr id="27" name="Text 25"/>
          <p:cNvSpPr/>
          <p:nvPr/>
        </p:nvSpPr>
        <p:spPr>
          <a:xfrm>
            <a:off x="4059936" y="3328416"/>
            <a:ext cx="1645920" cy="365760"/>
          </a:xfrm>
          <a:prstGeom prst="rect">
            <a:avLst/>
          </a:prstGeom>
          <a:noFill/>
          <a:ln/>
        </p:spPr>
        <p:txBody>
          <a:bodyPr wrap="square" lIns="0" tIns="0" rIns="0" bIns="0" rtlCol="0" anchor="ctr"/>
          <a:lstStyle/>
          <a:p>
            <a:pPr indent="0" marL="0">
              <a:buNone/>
            </a:pPr>
            <a:r>
              <a:rPr lang="en-US" sz="950" dirty="0">
                <a:solidFill>
                  <a:srgbClr val="5D7186"/>
                </a:solidFill>
                <a:latin typeface="Calibri" pitchFamily="34" charset="0"/>
                <a:ea typeface="Calibri" pitchFamily="34" charset="-122"/>
                <a:cs typeface="Calibri" pitchFamily="34" charset="-120"/>
              </a:rPr>
              <a:t>GREEN</a:t>
            </a:r>
            <a:endParaRPr lang="en-US" sz="950" dirty="0"/>
          </a:p>
        </p:txBody>
      </p:sp>
      <p:sp>
        <p:nvSpPr>
          <p:cNvPr id="28" name="Text 26"/>
          <p:cNvSpPr/>
          <p:nvPr/>
        </p:nvSpPr>
        <p:spPr>
          <a:xfrm>
            <a:off x="5687568" y="3328416"/>
            <a:ext cx="274320" cy="365760"/>
          </a:xfrm>
          <a:prstGeom prst="rect">
            <a:avLst/>
          </a:prstGeom>
          <a:noFill/>
          <a:ln/>
        </p:spPr>
        <p:txBody>
          <a:bodyPr wrap="square" lIns="0" tIns="0" rIns="0" bIns="0" rtlCol="0" anchor="ctr"/>
          <a:lstStyle/>
          <a:p>
            <a:pPr algn="ctr" indent="0" marL="0">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29" name="Shape 27"/>
          <p:cNvSpPr/>
          <p:nvPr/>
        </p:nvSpPr>
        <p:spPr>
          <a:xfrm>
            <a:off x="566928" y="3767328"/>
            <a:ext cx="5440680" cy="365760"/>
          </a:xfrm>
          <a:prstGeom prst="roundRect">
            <a:avLst>
              <a:gd name="adj" fmla="val 15000"/>
            </a:avLst>
          </a:prstGeom>
          <a:solidFill>
            <a:srgbClr val="FFFFFF"/>
          </a:solidFill>
          <a:ln w="12700">
            <a:solidFill>
              <a:srgbClr val="DDE5EE"/>
            </a:solidFill>
            <a:prstDash val="solid"/>
          </a:ln>
        </p:spPr>
      </p:sp>
      <p:sp>
        <p:nvSpPr>
          <p:cNvPr id="30" name="Text 28"/>
          <p:cNvSpPr/>
          <p:nvPr/>
        </p:nvSpPr>
        <p:spPr>
          <a:xfrm>
            <a:off x="713232" y="3767328"/>
            <a:ext cx="548640" cy="365760"/>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T6</a:t>
            </a:r>
            <a:endParaRPr lang="en-US" sz="1000" dirty="0"/>
          </a:p>
        </p:txBody>
      </p:sp>
      <p:sp>
        <p:nvSpPr>
          <p:cNvPr id="31" name="Text 29"/>
          <p:cNvSpPr/>
          <p:nvPr/>
        </p:nvSpPr>
        <p:spPr>
          <a:xfrm>
            <a:off x="1280160" y="3767328"/>
            <a:ext cx="2743200" cy="365760"/>
          </a:xfrm>
          <a:prstGeom prst="rect">
            <a:avLst/>
          </a:prstGeom>
          <a:noFill/>
          <a:ln/>
        </p:spPr>
        <p:txBody>
          <a:bodyPr wrap="square" lIns="0" tIns="0" rIns="0" bIns="0" rtlCol="0" anchor="ctr"/>
          <a:lstStyle/>
          <a:p>
            <a:pPr indent="0" marL="0">
              <a:buNone/>
            </a:pPr>
            <a:r>
              <a:rPr lang="en-US" sz="950" dirty="0">
                <a:solidFill>
                  <a:srgbClr val="12202E"/>
                </a:solidFill>
                <a:latin typeface="Calibri" pitchFamily="34" charset="0"/>
                <a:ea typeface="Calibri" pitchFamily="34" charset="-122"/>
                <a:cs typeface="Calibri" pitchFamily="34" charset="-120"/>
              </a:rPr>
              <a:t>conditional logic</a:t>
            </a:r>
            <a:endParaRPr lang="en-US" sz="950" dirty="0"/>
          </a:p>
        </p:txBody>
      </p:sp>
      <p:sp>
        <p:nvSpPr>
          <p:cNvPr id="32" name="Text 30"/>
          <p:cNvSpPr/>
          <p:nvPr/>
        </p:nvSpPr>
        <p:spPr>
          <a:xfrm>
            <a:off x="4059936" y="3767328"/>
            <a:ext cx="1645920" cy="365760"/>
          </a:xfrm>
          <a:prstGeom prst="rect">
            <a:avLst/>
          </a:prstGeom>
          <a:noFill/>
          <a:ln/>
        </p:spPr>
        <p:txBody>
          <a:bodyPr wrap="square" lIns="0" tIns="0" rIns="0" bIns="0" rtlCol="0" anchor="ctr"/>
          <a:lstStyle/>
          <a:p>
            <a:pPr indent="0" marL="0">
              <a:buNone/>
            </a:pPr>
            <a:r>
              <a:rPr lang="en-US" sz="950" dirty="0">
                <a:solidFill>
                  <a:srgbClr val="5D7186"/>
                </a:solidFill>
                <a:latin typeface="Calibri" pitchFamily="34" charset="0"/>
                <a:ea typeface="Calibri" pitchFamily="34" charset="-122"/>
                <a:cs typeface="Calibri" pitchFamily="34" charset="-120"/>
              </a:rPr>
              <a:t>3 follow-ups hidden</a:t>
            </a:r>
            <a:endParaRPr lang="en-US" sz="950" dirty="0"/>
          </a:p>
        </p:txBody>
      </p:sp>
      <p:sp>
        <p:nvSpPr>
          <p:cNvPr id="33" name="Text 31"/>
          <p:cNvSpPr/>
          <p:nvPr/>
        </p:nvSpPr>
        <p:spPr>
          <a:xfrm>
            <a:off x="5687568" y="3767328"/>
            <a:ext cx="274320" cy="365760"/>
          </a:xfrm>
          <a:prstGeom prst="rect">
            <a:avLst/>
          </a:prstGeom>
          <a:noFill/>
          <a:ln/>
        </p:spPr>
        <p:txBody>
          <a:bodyPr wrap="square" lIns="0" tIns="0" rIns="0" bIns="0" rtlCol="0" anchor="ctr"/>
          <a:lstStyle/>
          <a:p>
            <a:pPr algn="ctr" indent="0" marL="0">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34" name="Shape 32"/>
          <p:cNvSpPr/>
          <p:nvPr/>
        </p:nvSpPr>
        <p:spPr>
          <a:xfrm>
            <a:off x="566928" y="4206240"/>
            <a:ext cx="5440680" cy="365760"/>
          </a:xfrm>
          <a:prstGeom prst="roundRect">
            <a:avLst>
              <a:gd name="adj" fmla="val 15000"/>
            </a:avLst>
          </a:prstGeom>
          <a:solidFill>
            <a:srgbClr val="F5F7FA"/>
          </a:solidFill>
          <a:ln w="12700">
            <a:solidFill>
              <a:srgbClr val="DDE5EE"/>
            </a:solidFill>
            <a:prstDash val="solid"/>
          </a:ln>
        </p:spPr>
      </p:sp>
      <p:sp>
        <p:nvSpPr>
          <p:cNvPr id="35" name="Text 33"/>
          <p:cNvSpPr/>
          <p:nvPr/>
        </p:nvSpPr>
        <p:spPr>
          <a:xfrm>
            <a:off x="713232" y="4206240"/>
            <a:ext cx="548640" cy="365760"/>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T7</a:t>
            </a:r>
            <a:endParaRPr lang="en-US" sz="1000" dirty="0"/>
          </a:p>
        </p:txBody>
      </p:sp>
      <p:sp>
        <p:nvSpPr>
          <p:cNvPr id="36" name="Text 34"/>
          <p:cNvSpPr/>
          <p:nvPr/>
        </p:nvSpPr>
        <p:spPr>
          <a:xfrm>
            <a:off x="1280160" y="4206240"/>
            <a:ext cx="2743200" cy="365760"/>
          </a:xfrm>
          <a:prstGeom prst="rect">
            <a:avLst/>
          </a:prstGeom>
          <a:noFill/>
          <a:ln/>
        </p:spPr>
        <p:txBody>
          <a:bodyPr wrap="square" lIns="0" tIns="0" rIns="0" bIns="0" rtlCol="0" anchor="ctr"/>
          <a:lstStyle/>
          <a:p>
            <a:pPr indent="0" marL="0">
              <a:buNone/>
            </a:pPr>
            <a:r>
              <a:rPr lang="en-US" sz="950" dirty="0">
                <a:solidFill>
                  <a:srgbClr val="12202E"/>
                </a:solidFill>
                <a:latin typeface="Calibri" pitchFamily="34" charset="0"/>
                <a:ea typeface="Calibri" pitchFamily="34" charset="-122"/>
                <a:cs typeface="Calibri" pitchFamily="34" charset="-120"/>
              </a:rPr>
              <a:t>constraint · temp 45</a:t>
            </a:r>
            <a:endParaRPr lang="en-US" sz="950" dirty="0"/>
          </a:p>
        </p:txBody>
      </p:sp>
      <p:sp>
        <p:nvSpPr>
          <p:cNvPr id="37" name="Text 35"/>
          <p:cNvSpPr/>
          <p:nvPr/>
        </p:nvSpPr>
        <p:spPr>
          <a:xfrm>
            <a:off x="4059936" y="4206240"/>
            <a:ext cx="1645920" cy="365760"/>
          </a:xfrm>
          <a:prstGeom prst="rect">
            <a:avLst/>
          </a:prstGeom>
          <a:noFill/>
          <a:ln/>
        </p:spPr>
        <p:txBody>
          <a:bodyPr wrap="square" lIns="0" tIns="0" rIns="0" bIns="0" rtlCol="0" anchor="ctr"/>
          <a:lstStyle/>
          <a:p>
            <a:pPr indent="0" marL="0">
              <a:buNone/>
            </a:pPr>
            <a:r>
              <a:rPr lang="en-US" sz="950" dirty="0">
                <a:solidFill>
                  <a:srgbClr val="5D7186"/>
                </a:solidFill>
                <a:latin typeface="Calibri" pitchFamily="34" charset="0"/>
                <a:ea typeface="Calibri" pitchFamily="34" charset="-122"/>
                <a:cs typeface="Calibri" pitchFamily="34" charset="-120"/>
              </a:rPr>
              <a:t>input rejected</a:t>
            </a:r>
            <a:endParaRPr lang="en-US" sz="950" dirty="0"/>
          </a:p>
        </p:txBody>
      </p:sp>
      <p:sp>
        <p:nvSpPr>
          <p:cNvPr id="38" name="Text 36"/>
          <p:cNvSpPr/>
          <p:nvPr/>
        </p:nvSpPr>
        <p:spPr>
          <a:xfrm>
            <a:off x="5687568" y="4206240"/>
            <a:ext cx="274320" cy="365760"/>
          </a:xfrm>
          <a:prstGeom prst="rect">
            <a:avLst/>
          </a:prstGeom>
          <a:noFill/>
          <a:ln/>
        </p:spPr>
        <p:txBody>
          <a:bodyPr wrap="square" lIns="0" tIns="0" rIns="0" bIns="0" rtlCol="0" anchor="ctr"/>
          <a:lstStyle/>
          <a:p>
            <a:pPr algn="ctr" indent="0" marL="0">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39" name="Shape 37"/>
          <p:cNvSpPr/>
          <p:nvPr/>
        </p:nvSpPr>
        <p:spPr>
          <a:xfrm>
            <a:off x="566928" y="4645152"/>
            <a:ext cx="5440680" cy="365760"/>
          </a:xfrm>
          <a:prstGeom prst="roundRect">
            <a:avLst>
              <a:gd name="adj" fmla="val 15000"/>
            </a:avLst>
          </a:prstGeom>
          <a:solidFill>
            <a:srgbClr val="FFFFFF"/>
          </a:solidFill>
          <a:ln w="12700">
            <a:solidFill>
              <a:srgbClr val="DDE5EE"/>
            </a:solidFill>
            <a:prstDash val="solid"/>
          </a:ln>
        </p:spPr>
      </p:sp>
      <p:sp>
        <p:nvSpPr>
          <p:cNvPr id="40" name="Text 38"/>
          <p:cNvSpPr/>
          <p:nvPr/>
        </p:nvSpPr>
        <p:spPr>
          <a:xfrm>
            <a:off x="713232" y="4645152"/>
            <a:ext cx="548640" cy="365760"/>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T8</a:t>
            </a:r>
            <a:endParaRPr lang="en-US" sz="1000" dirty="0"/>
          </a:p>
        </p:txBody>
      </p:sp>
      <p:sp>
        <p:nvSpPr>
          <p:cNvPr id="41" name="Text 39"/>
          <p:cNvSpPr/>
          <p:nvPr/>
        </p:nvSpPr>
        <p:spPr>
          <a:xfrm>
            <a:off x="1280160" y="4645152"/>
            <a:ext cx="2743200" cy="365760"/>
          </a:xfrm>
          <a:prstGeom prst="rect">
            <a:avLst/>
          </a:prstGeom>
          <a:noFill/>
          <a:ln/>
        </p:spPr>
        <p:txBody>
          <a:bodyPr wrap="square" lIns="0" tIns="0" rIns="0" bIns="0" rtlCol="0" anchor="ctr"/>
          <a:lstStyle/>
          <a:p>
            <a:pPr indent="0" marL="0">
              <a:buNone/>
            </a:pPr>
            <a:r>
              <a:rPr lang="en-US" sz="950" dirty="0">
                <a:solidFill>
                  <a:srgbClr val="12202E"/>
                </a:solidFill>
                <a:latin typeface="Calibri" pitchFamily="34" charset="0"/>
                <a:ea typeface="Calibri" pitchFamily="34" charset="-122"/>
                <a:cs typeface="Calibri" pitchFamily="34" charset="-120"/>
              </a:rPr>
              <a:t>info rules non-exclusive</a:t>
            </a:r>
            <a:endParaRPr lang="en-US" sz="950" dirty="0"/>
          </a:p>
        </p:txBody>
      </p:sp>
      <p:sp>
        <p:nvSpPr>
          <p:cNvPr id="42" name="Text 40"/>
          <p:cNvSpPr/>
          <p:nvPr/>
        </p:nvSpPr>
        <p:spPr>
          <a:xfrm>
            <a:off x="4059936" y="4645152"/>
            <a:ext cx="1645920" cy="365760"/>
          </a:xfrm>
          <a:prstGeom prst="rect">
            <a:avLst/>
          </a:prstGeom>
          <a:noFill/>
          <a:ln/>
        </p:spPr>
        <p:txBody>
          <a:bodyPr wrap="square" lIns="0" tIns="0" rIns="0" bIns="0" rtlCol="0" anchor="ctr"/>
          <a:lstStyle/>
          <a:p>
            <a:pPr indent="0" marL="0">
              <a:buNone/>
            </a:pPr>
            <a:r>
              <a:rPr lang="en-US" sz="950" dirty="0">
                <a:solidFill>
                  <a:srgbClr val="5D7186"/>
                </a:solidFill>
                <a:latin typeface="Calibri" pitchFamily="34" charset="0"/>
                <a:ea typeface="Calibri" pitchFamily="34" charset="-122"/>
                <a:cs typeface="Calibri" pitchFamily="34" charset="-120"/>
              </a:rPr>
              <a:t>GREEN + I1 + I2 + I3</a:t>
            </a:r>
            <a:endParaRPr lang="en-US" sz="950" dirty="0"/>
          </a:p>
        </p:txBody>
      </p:sp>
      <p:sp>
        <p:nvSpPr>
          <p:cNvPr id="43" name="Text 41"/>
          <p:cNvSpPr/>
          <p:nvPr/>
        </p:nvSpPr>
        <p:spPr>
          <a:xfrm>
            <a:off x="5687568" y="4645152"/>
            <a:ext cx="274320" cy="365760"/>
          </a:xfrm>
          <a:prstGeom prst="rect">
            <a:avLst/>
          </a:prstGeom>
          <a:noFill/>
          <a:ln/>
        </p:spPr>
        <p:txBody>
          <a:bodyPr wrap="square" lIns="0" tIns="0" rIns="0" bIns="0" rtlCol="0" anchor="ctr"/>
          <a:lstStyle/>
          <a:p>
            <a:pPr algn="ctr" indent="0" marL="0">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44" name="Shape 42"/>
          <p:cNvSpPr/>
          <p:nvPr/>
        </p:nvSpPr>
        <p:spPr>
          <a:xfrm>
            <a:off x="566928" y="5084064"/>
            <a:ext cx="5440680" cy="365760"/>
          </a:xfrm>
          <a:prstGeom prst="roundRect">
            <a:avLst>
              <a:gd name="adj" fmla="val 15000"/>
            </a:avLst>
          </a:prstGeom>
          <a:solidFill>
            <a:srgbClr val="F5F7FA"/>
          </a:solidFill>
          <a:ln w="12700">
            <a:solidFill>
              <a:srgbClr val="DDE5EE"/>
            </a:solidFill>
            <a:prstDash val="solid"/>
          </a:ln>
        </p:spPr>
      </p:sp>
      <p:sp>
        <p:nvSpPr>
          <p:cNvPr id="45" name="Text 43"/>
          <p:cNvSpPr/>
          <p:nvPr/>
        </p:nvSpPr>
        <p:spPr>
          <a:xfrm>
            <a:off x="713232" y="5084064"/>
            <a:ext cx="548640" cy="365760"/>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T9</a:t>
            </a:r>
            <a:endParaRPr lang="en-US" sz="1000" dirty="0"/>
          </a:p>
        </p:txBody>
      </p:sp>
      <p:sp>
        <p:nvSpPr>
          <p:cNvPr id="46" name="Text 44"/>
          <p:cNvSpPr/>
          <p:nvPr/>
        </p:nvSpPr>
        <p:spPr>
          <a:xfrm>
            <a:off x="1280160" y="5084064"/>
            <a:ext cx="2743200" cy="365760"/>
          </a:xfrm>
          <a:prstGeom prst="rect">
            <a:avLst/>
          </a:prstGeom>
          <a:noFill/>
          <a:ln/>
        </p:spPr>
        <p:txBody>
          <a:bodyPr wrap="square" lIns="0" tIns="0" rIns="0" bIns="0" rtlCol="0" anchor="ctr"/>
          <a:lstStyle/>
          <a:p>
            <a:pPr indent="0" marL="0">
              <a:buNone/>
            </a:pPr>
            <a:r>
              <a:rPr lang="en-US" sz="950" dirty="0">
                <a:solidFill>
                  <a:srgbClr val="12202E"/>
                </a:solidFill>
                <a:latin typeface="Calibri" pitchFamily="34" charset="0"/>
                <a:ea typeface="Calibri" pitchFamily="34" charset="-122"/>
                <a:cs typeface="Calibri" pitchFamily="34" charset="-120"/>
              </a:rPr>
              <a:t>scab reassures</a:t>
            </a:r>
            <a:endParaRPr lang="en-US" sz="950" dirty="0"/>
          </a:p>
        </p:txBody>
      </p:sp>
      <p:sp>
        <p:nvSpPr>
          <p:cNvPr id="47" name="Text 45"/>
          <p:cNvSpPr/>
          <p:nvPr/>
        </p:nvSpPr>
        <p:spPr>
          <a:xfrm>
            <a:off x="4059936" y="5084064"/>
            <a:ext cx="1645920" cy="365760"/>
          </a:xfrm>
          <a:prstGeom prst="rect">
            <a:avLst/>
          </a:prstGeom>
          <a:noFill/>
          <a:ln/>
        </p:spPr>
        <p:txBody>
          <a:bodyPr wrap="square" lIns="0" tIns="0" rIns="0" bIns="0" rtlCol="0" anchor="ctr"/>
          <a:lstStyle/>
          <a:p>
            <a:pPr indent="0" marL="0">
              <a:buNone/>
            </a:pPr>
            <a:r>
              <a:rPr lang="en-US" sz="950" dirty="0">
                <a:solidFill>
                  <a:srgbClr val="5D7186"/>
                </a:solidFill>
                <a:latin typeface="Calibri" pitchFamily="34" charset="0"/>
                <a:ea typeface="Calibri" pitchFamily="34" charset="-122"/>
                <a:cs typeface="Calibri" pitchFamily="34" charset="-120"/>
              </a:rPr>
              <a:t>GREEN + I4</a:t>
            </a:r>
            <a:endParaRPr lang="en-US" sz="950" dirty="0"/>
          </a:p>
        </p:txBody>
      </p:sp>
      <p:sp>
        <p:nvSpPr>
          <p:cNvPr id="48" name="Text 46"/>
          <p:cNvSpPr/>
          <p:nvPr/>
        </p:nvSpPr>
        <p:spPr>
          <a:xfrm>
            <a:off x="5687568" y="5084064"/>
            <a:ext cx="274320" cy="365760"/>
          </a:xfrm>
          <a:prstGeom prst="rect">
            <a:avLst/>
          </a:prstGeom>
          <a:noFill/>
          <a:ln/>
        </p:spPr>
        <p:txBody>
          <a:bodyPr wrap="square" lIns="0" tIns="0" rIns="0" bIns="0" rtlCol="0" anchor="ctr"/>
          <a:lstStyle/>
          <a:p>
            <a:pPr algn="ctr" indent="0" marL="0">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49" name="Shape 47"/>
          <p:cNvSpPr/>
          <p:nvPr/>
        </p:nvSpPr>
        <p:spPr>
          <a:xfrm>
            <a:off x="566928" y="5522976"/>
            <a:ext cx="5440680" cy="365760"/>
          </a:xfrm>
          <a:prstGeom prst="roundRect">
            <a:avLst>
              <a:gd name="adj" fmla="val 15000"/>
            </a:avLst>
          </a:prstGeom>
          <a:solidFill>
            <a:srgbClr val="FFFFFF"/>
          </a:solidFill>
          <a:ln w="12700">
            <a:solidFill>
              <a:srgbClr val="DDE5EE"/>
            </a:solidFill>
            <a:prstDash val="solid"/>
          </a:ln>
        </p:spPr>
      </p:sp>
      <p:sp>
        <p:nvSpPr>
          <p:cNvPr id="50" name="Text 48"/>
          <p:cNvSpPr/>
          <p:nvPr/>
        </p:nvSpPr>
        <p:spPr>
          <a:xfrm>
            <a:off x="713232" y="5522976"/>
            <a:ext cx="548640" cy="365760"/>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T10</a:t>
            </a:r>
            <a:endParaRPr lang="en-US" sz="1000" dirty="0"/>
          </a:p>
        </p:txBody>
      </p:sp>
      <p:sp>
        <p:nvSpPr>
          <p:cNvPr id="51" name="Text 49"/>
          <p:cNvSpPr/>
          <p:nvPr/>
        </p:nvSpPr>
        <p:spPr>
          <a:xfrm>
            <a:off x="1280160" y="5522976"/>
            <a:ext cx="2743200" cy="365760"/>
          </a:xfrm>
          <a:prstGeom prst="rect">
            <a:avLst/>
          </a:prstGeom>
          <a:noFill/>
          <a:ln/>
        </p:spPr>
        <p:txBody>
          <a:bodyPr wrap="square" lIns="0" tIns="0" rIns="0" bIns="0" rtlCol="0" anchor="ctr"/>
          <a:lstStyle/>
          <a:p>
            <a:pPr indent="0" marL="0">
              <a:buNone/>
            </a:pPr>
            <a:r>
              <a:rPr lang="en-US" sz="950" dirty="0">
                <a:solidFill>
                  <a:srgbClr val="12202E"/>
                </a:solidFill>
                <a:latin typeface="Calibri" pitchFamily="34" charset="0"/>
                <a:ea typeface="Calibri" pitchFamily="34" charset="-122"/>
                <a:cs typeface="Calibri" pitchFamily="34" charset="-120"/>
              </a:rPr>
              <a:t>worst-first vs reassurance</a:t>
            </a:r>
            <a:endParaRPr lang="en-US" sz="950" dirty="0"/>
          </a:p>
        </p:txBody>
      </p:sp>
      <p:sp>
        <p:nvSpPr>
          <p:cNvPr id="52" name="Text 50"/>
          <p:cNvSpPr/>
          <p:nvPr/>
        </p:nvSpPr>
        <p:spPr>
          <a:xfrm>
            <a:off x="4059936" y="5522976"/>
            <a:ext cx="1645920" cy="365760"/>
          </a:xfrm>
          <a:prstGeom prst="rect">
            <a:avLst/>
          </a:prstGeom>
          <a:noFill/>
          <a:ln/>
        </p:spPr>
        <p:txBody>
          <a:bodyPr wrap="square" lIns="0" tIns="0" rIns="0" bIns="0" rtlCol="0" anchor="ctr"/>
          <a:lstStyle/>
          <a:p>
            <a:pPr indent="0" marL="0">
              <a:buNone/>
            </a:pPr>
            <a:r>
              <a:rPr lang="en-US" sz="950" dirty="0">
                <a:solidFill>
                  <a:srgbClr val="5D7186"/>
                </a:solidFill>
                <a:latin typeface="Calibri" pitchFamily="34" charset="0"/>
                <a:ea typeface="Calibri" pitchFamily="34" charset="-122"/>
                <a:cs typeface="Calibri" pitchFamily="34" charset="-120"/>
              </a:rPr>
              <a:t>ORANGE (R4) + I4</a:t>
            </a:r>
            <a:endParaRPr lang="en-US" sz="950" dirty="0"/>
          </a:p>
        </p:txBody>
      </p:sp>
      <p:sp>
        <p:nvSpPr>
          <p:cNvPr id="53" name="Text 51"/>
          <p:cNvSpPr/>
          <p:nvPr/>
        </p:nvSpPr>
        <p:spPr>
          <a:xfrm>
            <a:off x="5687568" y="5522976"/>
            <a:ext cx="274320" cy="365760"/>
          </a:xfrm>
          <a:prstGeom prst="rect">
            <a:avLst/>
          </a:prstGeom>
          <a:noFill/>
          <a:ln/>
        </p:spPr>
        <p:txBody>
          <a:bodyPr wrap="square" lIns="0" tIns="0" rIns="0" bIns="0" rtlCol="0" anchor="ctr"/>
          <a:lstStyle/>
          <a:p>
            <a:pPr algn="ctr" indent="0" marL="0">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54" name="Shape 52"/>
          <p:cNvSpPr/>
          <p:nvPr/>
        </p:nvSpPr>
        <p:spPr>
          <a:xfrm>
            <a:off x="6190488" y="1572768"/>
            <a:ext cx="5440680" cy="365760"/>
          </a:xfrm>
          <a:prstGeom prst="roundRect">
            <a:avLst>
              <a:gd name="adj" fmla="val 15000"/>
            </a:avLst>
          </a:prstGeom>
          <a:solidFill>
            <a:srgbClr val="F5F7FA"/>
          </a:solidFill>
          <a:ln w="12700">
            <a:solidFill>
              <a:srgbClr val="DDE5EE"/>
            </a:solidFill>
            <a:prstDash val="solid"/>
          </a:ln>
        </p:spPr>
      </p:sp>
      <p:sp>
        <p:nvSpPr>
          <p:cNvPr id="55" name="Text 53"/>
          <p:cNvSpPr/>
          <p:nvPr/>
        </p:nvSpPr>
        <p:spPr>
          <a:xfrm>
            <a:off x="6336792" y="1572768"/>
            <a:ext cx="548640" cy="365760"/>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T11</a:t>
            </a:r>
            <a:endParaRPr lang="en-US" sz="1000" dirty="0"/>
          </a:p>
        </p:txBody>
      </p:sp>
      <p:sp>
        <p:nvSpPr>
          <p:cNvPr id="56" name="Text 54"/>
          <p:cNvSpPr/>
          <p:nvPr/>
        </p:nvSpPr>
        <p:spPr>
          <a:xfrm>
            <a:off x="6903720" y="1572768"/>
            <a:ext cx="2743200" cy="365760"/>
          </a:xfrm>
          <a:prstGeom prst="rect">
            <a:avLst/>
          </a:prstGeom>
          <a:noFill/>
          <a:ln/>
        </p:spPr>
        <p:txBody>
          <a:bodyPr wrap="square" lIns="0" tIns="0" rIns="0" bIns="0" rtlCol="0" anchor="ctr"/>
          <a:lstStyle/>
          <a:p>
            <a:pPr indent="0" marL="0">
              <a:buNone/>
            </a:pPr>
            <a:r>
              <a:rPr lang="en-US" sz="950" dirty="0">
                <a:solidFill>
                  <a:srgbClr val="12202E"/>
                </a:solidFill>
                <a:latin typeface="Calibri" pitchFamily="34" charset="0"/>
                <a:ea typeface="Calibri" pitchFamily="34" charset="-122"/>
                <a:cs typeface="Calibri" pitchFamily="34" charset="-120"/>
              </a:rPr>
              <a:t>B-02 fixed · feeling unwell</a:t>
            </a:r>
            <a:endParaRPr lang="en-US" sz="950" dirty="0"/>
          </a:p>
        </p:txBody>
      </p:sp>
      <p:sp>
        <p:nvSpPr>
          <p:cNvPr id="57" name="Text 55"/>
          <p:cNvSpPr/>
          <p:nvPr/>
        </p:nvSpPr>
        <p:spPr>
          <a:xfrm>
            <a:off x="9683496" y="1572768"/>
            <a:ext cx="1645920" cy="365760"/>
          </a:xfrm>
          <a:prstGeom prst="rect">
            <a:avLst/>
          </a:prstGeom>
          <a:noFill/>
          <a:ln/>
        </p:spPr>
        <p:txBody>
          <a:bodyPr wrap="square" lIns="0" tIns="0" rIns="0" bIns="0" rtlCol="0" anchor="ctr"/>
          <a:lstStyle/>
          <a:p>
            <a:pPr indent="0" marL="0">
              <a:buNone/>
            </a:pPr>
            <a:r>
              <a:rPr lang="en-US" sz="950" dirty="0">
                <a:solidFill>
                  <a:srgbClr val="5D7186"/>
                </a:solidFill>
                <a:latin typeface="Calibri" pitchFamily="34" charset="0"/>
                <a:ea typeface="Calibri" pitchFamily="34" charset="-122"/>
                <a:cs typeface="Calibri" pitchFamily="34" charset="-120"/>
              </a:rPr>
              <a:t>ORANGE (R9)</a:t>
            </a:r>
            <a:endParaRPr lang="en-US" sz="950" dirty="0"/>
          </a:p>
        </p:txBody>
      </p:sp>
      <p:sp>
        <p:nvSpPr>
          <p:cNvPr id="58" name="Text 56"/>
          <p:cNvSpPr/>
          <p:nvPr/>
        </p:nvSpPr>
        <p:spPr>
          <a:xfrm>
            <a:off x="11311128" y="1572768"/>
            <a:ext cx="274320" cy="365760"/>
          </a:xfrm>
          <a:prstGeom prst="rect">
            <a:avLst/>
          </a:prstGeom>
          <a:noFill/>
          <a:ln/>
        </p:spPr>
        <p:txBody>
          <a:bodyPr wrap="square" lIns="0" tIns="0" rIns="0" bIns="0" rtlCol="0" anchor="ctr"/>
          <a:lstStyle/>
          <a:p>
            <a:pPr algn="ctr" indent="0" marL="0">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59" name="Shape 57"/>
          <p:cNvSpPr/>
          <p:nvPr/>
        </p:nvSpPr>
        <p:spPr>
          <a:xfrm>
            <a:off x="6190488" y="2011680"/>
            <a:ext cx="5440680" cy="365760"/>
          </a:xfrm>
          <a:prstGeom prst="roundRect">
            <a:avLst>
              <a:gd name="adj" fmla="val 15000"/>
            </a:avLst>
          </a:prstGeom>
          <a:solidFill>
            <a:srgbClr val="FFFFFF"/>
          </a:solidFill>
          <a:ln w="12700">
            <a:solidFill>
              <a:srgbClr val="DDE5EE"/>
            </a:solidFill>
            <a:prstDash val="solid"/>
          </a:ln>
        </p:spPr>
      </p:sp>
      <p:sp>
        <p:nvSpPr>
          <p:cNvPr id="60" name="Text 58"/>
          <p:cNvSpPr/>
          <p:nvPr/>
        </p:nvSpPr>
        <p:spPr>
          <a:xfrm>
            <a:off x="6336792" y="2011680"/>
            <a:ext cx="548640" cy="365760"/>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T12</a:t>
            </a:r>
            <a:endParaRPr lang="en-US" sz="1000" dirty="0"/>
          </a:p>
        </p:txBody>
      </p:sp>
      <p:sp>
        <p:nvSpPr>
          <p:cNvPr id="61" name="Text 59"/>
          <p:cNvSpPr/>
          <p:nvPr/>
        </p:nvSpPr>
        <p:spPr>
          <a:xfrm>
            <a:off x="6903720" y="2011680"/>
            <a:ext cx="2743200" cy="365760"/>
          </a:xfrm>
          <a:prstGeom prst="rect">
            <a:avLst/>
          </a:prstGeom>
          <a:noFill/>
          <a:ln/>
        </p:spPr>
        <p:txBody>
          <a:bodyPr wrap="square" lIns="0" tIns="0" rIns="0" bIns="0" rtlCol="0" anchor="ctr"/>
          <a:lstStyle/>
          <a:p>
            <a:pPr indent="0" marL="0">
              <a:buNone/>
            </a:pPr>
            <a:r>
              <a:rPr lang="en-US" sz="950" dirty="0">
                <a:solidFill>
                  <a:srgbClr val="12202E"/>
                </a:solidFill>
                <a:latin typeface="Calibri" pitchFamily="34" charset="0"/>
                <a:ea typeface="Calibri" pitchFamily="34" charset="-122"/>
                <a:cs typeface="Calibri" pitchFamily="34" charset="-120"/>
              </a:rPr>
              <a:t>B-03 fixed · red streak</a:t>
            </a:r>
            <a:endParaRPr lang="en-US" sz="950" dirty="0"/>
          </a:p>
        </p:txBody>
      </p:sp>
      <p:sp>
        <p:nvSpPr>
          <p:cNvPr id="62" name="Text 60"/>
          <p:cNvSpPr/>
          <p:nvPr/>
        </p:nvSpPr>
        <p:spPr>
          <a:xfrm>
            <a:off x="9683496" y="2011680"/>
            <a:ext cx="1645920" cy="365760"/>
          </a:xfrm>
          <a:prstGeom prst="rect">
            <a:avLst/>
          </a:prstGeom>
          <a:noFill/>
          <a:ln/>
        </p:spPr>
        <p:txBody>
          <a:bodyPr wrap="square" lIns="0" tIns="0" rIns="0" bIns="0" rtlCol="0" anchor="ctr"/>
          <a:lstStyle/>
          <a:p>
            <a:pPr indent="0" marL="0">
              <a:buNone/>
            </a:pPr>
            <a:r>
              <a:rPr lang="en-US" sz="950" dirty="0">
                <a:solidFill>
                  <a:srgbClr val="5D7186"/>
                </a:solidFill>
                <a:latin typeface="Calibri" pitchFamily="34" charset="0"/>
                <a:ea typeface="Calibri" pitchFamily="34" charset="-122"/>
                <a:cs typeface="Calibri" pitchFamily="34" charset="-120"/>
              </a:rPr>
              <a:t>RED (R2)</a:t>
            </a:r>
            <a:endParaRPr lang="en-US" sz="950" dirty="0"/>
          </a:p>
        </p:txBody>
      </p:sp>
      <p:sp>
        <p:nvSpPr>
          <p:cNvPr id="63" name="Text 61"/>
          <p:cNvSpPr/>
          <p:nvPr/>
        </p:nvSpPr>
        <p:spPr>
          <a:xfrm>
            <a:off x="11311128" y="2011680"/>
            <a:ext cx="274320" cy="365760"/>
          </a:xfrm>
          <a:prstGeom prst="rect">
            <a:avLst/>
          </a:prstGeom>
          <a:noFill/>
          <a:ln/>
        </p:spPr>
        <p:txBody>
          <a:bodyPr wrap="square" lIns="0" tIns="0" rIns="0" bIns="0" rtlCol="0" anchor="ctr"/>
          <a:lstStyle/>
          <a:p>
            <a:pPr algn="ctr" indent="0" marL="0">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64" name="Shape 62"/>
          <p:cNvSpPr/>
          <p:nvPr/>
        </p:nvSpPr>
        <p:spPr>
          <a:xfrm>
            <a:off x="6190488" y="2450592"/>
            <a:ext cx="5440680" cy="365760"/>
          </a:xfrm>
          <a:prstGeom prst="roundRect">
            <a:avLst>
              <a:gd name="adj" fmla="val 15000"/>
            </a:avLst>
          </a:prstGeom>
          <a:solidFill>
            <a:srgbClr val="F5F7FA"/>
          </a:solidFill>
          <a:ln w="12700">
            <a:solidFill>
              <a:srgbClr val="DDE5EE"/>
            </a:solidFill>
            <a:prstDash val="solid"/>
          </a:ln>
        </p:spPr>
      </p:sp>
      <p:sp>
        <p:nvSpPr>
          <p:cNvPr id="65" name="Text 63"/>
          <p:cNvSpPr/>
          <p:nvPr/>
        </p:nvSpPr>
        <p:spPr>
          <a:xfrm>
            <a:off x="6336792" y="2450592"/>
            <a:ext cx="548640" cy="365760"/>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T13</a:t>
            </a:r>
            <a:endParaRPr lang="en-US" sz="1000" dirty="0"/>
          </a:p>
        </p:txBody>
      </p:sp>
      <p:sp>
        <p:nvSpPr>
          <p:cNvPr id="66" name="Text 64"/>
          <p:cNvSpPr/>
          <p:nvPr/>
        </p:nvSpPr>
        <p:spPr>
          <a:xfrm>
            <a:off x="6903720" y="2450592"/>
            <a:ext cx="2743200" cy="365760"/>
          </a:xfrm>
          <a:prstGeom prst="rect">
            <a:avLst/>
          </a:prstGeom>
          <a:noFill/>
          <a:ln/>
        </p:spPr>
        <p:txBody>
          <a:bodyPr wrap="square" lIns="0" tIns="0" rIns="0" bIns="0" rtlCol="0" anchor="ctr"/>
          <a:lstStyle/>
          <a:p>
            <a:pPr indent="0" marL="0">
              <a:buNone/>
            </a:pPr>
            <a:r>
              <a:rPr lang="en-US" sz="950" dirty="0">
                <a:solidFill>
                  <a:srgbClr val="12202E"/>
                </a:solidFill>
                <a:latin typeface="Calibri" pitchFamily="34" charset="0"/>
                <a:ea typeface="Calibri" pitchFamily="34" charset="-122"/>
                <a:cs typeface="Calibri" pitchFamily="34" charset="-120"/>
              </a:rPr>
              <a:t>B-01 fixed · grade II on day 2</a:t>
            </a:r>
            <a:endParaRPr lang="en-US" sz="950" dirty="0"/>
          </a:p>
        </p:txBody>
      </p:sp>
      <p:sp>
        <p:nvSpPr>
          <p:cNvPr id="67" name="Text 65"/>
          <p:cNvSpPr/>
          <p:nvPr/>
        </p:nvSpPr>
        <p:spPr>
          <a:xfrm>
            <a:off x="9683496" y="2450592"/>
            <a:ext cx="1645920" cy="365760"/>
          </a:xfrm>
          <a:prstGeom prst="rect">
            <a:avLst/>
          </a:prstGeom>
          <a:noFill/>
          <a:ln/>
        </p:spPr>
        <p:txBody>
          <a:bodyPr wrap="square" lIns="0" tIns="0" rIns="0" bIns="0" rtlCol="0" anchor="ctr"/>
          <a:lstStyle/>
          <a:p>
            <a:pPr indent="0" marL="0">
              <a:buNone/>
            </a:pPr>
            <a:r>
              <a:rPr lang="en-US" sz="950" dirty="0">
                <a:solidFill>
                  <a:srgbClr val="5D7186"/>
                </a:solidFill>
                <a:latin typeface="Calibri" pitchFamily="34" charset="0"/>
                <a:ea typeface="Calibri" pitchFamily="34" charset="-122"/>
                <a:cs typeface="Calibri" pitchFamily="34" charset="-120"/>
              </a:rPr>
              <a:t>YELLOW (R6b)</a:t>
            </a:r>
            <a:endParaRPr lang="en-US" sz="950" dirty="0"/>
          </a:p>
        </p:txBody>
      </p:sp>
      <p:sp>
        <p:nvSpPr>
          <p:cNvPr id="68" name="Text 66"/>
          <p:cNvSpPr/>
          <p:nvPr/>
        </p:nvSpPr>
        <p:spPr>
          <a:xfrm>
            <a:off x="11311128" y="2450592"/>
            <a:ext cx="274320" cy="365760"/>
          </a:xfrm>
          <a:prstGeom prst="rect">
            <a:avLst/>
          </a:prstGeom>
          <a:noFill/>
          <a:ln/>
        </p:spPr>
        <p:txBody>
          <a:bodyPr wrap="square" lIns="0" tIns="0" rIns="0" bIns="0" rtlCol="0" anchor="ctr"/>
          <a:lstStyle/>
          <a:p>
            <a:pPr algn="ctr" indent="0" marL="0">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69" name="Shape 67"/>
          <p:cNvSpPr/>
          <p:nvPr/>
        </p:nvSpPr>
        <p:spPr>
          <a:xfrm>
            <a:off x="6190488" y="2889504"/>
            <a:ext cx="5440680" cy="365760"/>
          </a:xfrm>
          <a:prstGeom prst="roundRect">
            <a:avLst>
              <a:gd name="adj" fmla="val 15000"/>
            </a:avLst>
          </a:prstGeom>
          <a:solidFill>
            <a:srgbClr val="FFFFFF"/>
          </a:solidFill>
          <a:ln w="12700">
            <a:solidFill>
              <a:srgbClr val="DDE5EE"/>
            </a:solidFill>
            <a:prstDash val="solid"/>
          </a:ln>
        </p:spPr>
      </p:sp>
      <p:sp>
        <p:nvSpPr>
          <p:cNvPr id="70" name="Text 68"/>
          <p:cNvSpPr/>
          <p:nvPr/>
        </p:nvSpPr>
        <p:spPr>
          <a:xfrm>
            <a:off x="6336792" y="2889504"/>
            <a:ext cx="548640" cy="365760"/>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T14</a:t>
            </a:r>
            <a:endParaRPr lang="en-US" sz="1000" dirty="0"/>
          </a:p>
        </p:txBody>
      </p:sp>
      <p:sp>
        <p:nvSpPr>
          <p:cNvPr id="71" name="Text 69"/>
          <p:cNvSpPr/>
          <p:nvPr/>
        </p:nvSpPr>
        <p:spPr>
          <a:xfrm>
            <a:off x="6903720" y="2889504"/>
            <a:ext cx="2743200" cy="365760"/>
          </a:xfrm>
          <a:prstGeom prst="rect">
            <a:avLst/>
          </a:prstGeom>
          <a:noFill/>
          <a:ln/>
        </p:spPr>
        <p:txBody>
          <a:bodyPr wrap="square" lIns="0" tIns="0" rIns="0" bIns="0" rtlCol="0" anchor="ctr"/>
          <a:lstStyle/>
          <a:p>
            <a:pPr indent="0" marL="0">
              <a:buNone/>
            </a:pPr>
            <a:r>
              <a:rPr lang="en-US" sz="950" dirty="0">
                <a:solidFill>
                  <a:srgbClr val="12202E"/>
                </a:solidFill>
                <a:latin typeface="Calibri" pitchFamily="34" charset="0"/>
                <a:ea typeface="Calibri" pitchFamily="34" charset="-122"/>
                <a:cs typeface="Calibri" pitchFamily="34" charset="-120"/>
              </a:rPr>
              <a:t>B-01 counter-check</a:t>
            </a:r>
            <a:endParaRPr lang="en-US" sz="950" dirty="0"/>
          </a:p>
        </p:txBody>
      </p:sp>
      <p:sp>
        <p:nvSpPr>
          <p:cNvPr id="72" name="Text 70"/>
          <p:cNvSpPr/>
          <p:nvPr/>
        </p:nvSpPr>
        <p:spPr>
          <a:xfrm>
            <a:off x="9683496" y="2889504"/>
            <a:ext cx="1645920" cy="365760"/>
          </a:xfrm>
          <a:prstGeom prst="rect">
            <a:avLst/>
          </a:prstGeom>
          <a:noFill/>
          <a:ln/>
        </p:spPr>
        <p:txBody>
          <a:bodyPr wrap="square" lIns="0" tIns="0" rIns="0" bIns="0" rtlCol="0" anchor="ctr"/>
          <a:lstStyle/>
          <a:p>
            <a:pPr indent="0" marL="0">
              <a:buNone/>
            </a:pPr>
            <a:r>
              <a:rPr lang="en-US" sz="950" dirty="0">
                <a:solidFill>
                  <a:srgbClr val="5D7186"/>
                </a:solidFill>
                <a:latin typeface="Calibri" pitchFamily="34" charset="0"/>
                <a:ea typeface="Calibri" pitchFamily="34" charset="-122"/>
                <a:cs typeface="Calibri" pitchFamily="34" charset="-120"/>
              </a:rPr>
              <a:t>GREEN</a:t>
            </a:r>
            <a:endParaRPr lang="en-US" sz="950" dirty="0"/>
          </a:p>
        </p:txBody>
      </p:sp>
      <p:sp>
        <p:nvSpPr>
          <p:cNvPr id="73" name="Text 71"/>
          <p:cNvSpPr/>
          <p:nvPr/>
        </p:nvSpPr>
        <p:spPr>
          <a:xfrm>
            <a:off x="11311128" y="2889504"/>
            <a:ext cx="274320" cy="365760"/>
          </a:xfrm>
          <a:prstGeom prst="rect">
            <a:avLst/>
          </a:prstGeom>
          <a:noFill/>
          <a:ln/>
        </p:spPr>
        <p:txBody>
          <a:bodyPr wrap="square" lIns="0" tIns="0" rIns="0" bIns="0" rtlCol="0" anchor="ctr"/>
          <a:lstStyle/>
          <a:p>
            <a:pPr algn="ctr" indent="0" marL="0">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74" name="Shape 72"/>
          <p:cNvSpPr/>
          <p:nvPr/>
        </p:nvSpPr>
        <p:spPr>
          <a:xfrm>
            <a:off x="6190488" y="3328416"/>
            <a:ext cx="5440680" cy="365760"/>
          </a:xfrm>
          <a:prstGeom prst="roundRect">
            <a:avLst>
              <a:gd name="adj" fmla="val 15000"/>
            </a:avLst>
          </a:prstGeom>
          <a:solidFill>
            <a:srgbClr val="F5F7FA"/>
          </a:solidFill>
          <a:ln w="12700">
            <a:solidFill>
              <a:srgbClr val="DDE5EE"/>
            </a:solidFill>
            <a:prstDash val="solid"/>
          </a:ln>
        </p:spPr>
      </p:sp>
      <p:sp>
        <p:nvSpPr>
          <p:cNvPr id="75" name="Text 73"/>
          <p:cNvSpPr/>
          <p:nvPr/>
        </p:nvSpPr>
        <p:spPr>
          <a:xfrm>
            <a:off x="6336792" y="3328416"/>
            <a:ext cx="548640" cy="365760"/>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T15</a:t>
            </a:r>
            <a:endParaRPr lang="en-US" sz="1000" dirty="0"/>
          </a:p>
        </p:txBody>
      </p:sp>
      <p:sp>
        <p:nvSpPr>
          <p:cNvPr id="76" name="Text 74"/>
          <p:cNvSpPr/>
          <p:nvPr/>
        </p:nvSpPr>
        <p:spPr>
          <a:xfrm>
            <a:off x="6903720" y="3328416"/>
            <a:ext cx="2743200" cy="365760"/>
          </a:xfrm>
          <a:prstGeom prst="rect">
            <a:avLst/>
          </a:prstGeom>
          <a:noFill/>
          <a:ln/>
        </p:spPr>
        <p:txBody>
          <a:bodyPr wrap="square" lIns="0" tIns="0" rIns="0" bIns="0" rtlCol="0" anchor="ctr"/>
          <a:lstStyle/>
          <a:p>
            <a:pPr indent="0" marL="0">
              <a:buNone/>
            </a:pPr>
            <a:r>
              <a:rPr lang="en-US" sz="950" dirty="0">
                <a:solidFill>
                  <a:srgbClr val="12202E"/>
                </a:solidFill>
                <a:latin typeface="Calibri" pitchFamily="34" charset="0"/>
                <a:ea typeface="Calibri" pitchFamily="34" charset="-122"/>
                <a:cs typeface="Calibri" pitchFamily="34" charset="-120"/>
              </a:rPr>
              <a:t>Southampton derivation</a:t>
            </a:r>
            <a:endParaRPr lang="en-US" sz="950" dirty="0"/>
          </a:p>
        </p:txBody>
      </p:sp>
      <p:sp>
        <p:nvSpPr>
          <p:cNvPr id="77" name="Text 75"/>
          <p:cNvSpPr/>
          <p:nvPr/>
        </p:nvSpPr>
        <p:spPr>
          <a:xfrm>
            <a:off x="9683496" y="3328416"/>
            <a:ext cx="1645920" cy="365760"/>
          </a:xfrm>
          <a:prstGeom prst="rect">
            <a:avLst/>
          </a:prstGeom>
          <a:noFill/>
          <a:ln/>
        </p:spPr>
        <p:txBody>
          <a:bodyPr wrap="square" lIns="0" tIns="0" rIns="0" bIns="0" rtlCol="0" anchor="ctr"/>
          <a:lstStyle/>
          <a:p>
            <a:pPr indent="0" marL="0">
              <a:buNone/>
            </a:pPr>
            <a:r>
              <a:rPr lang="en-US" sz="950" dirty="0">
                <a:solidFill>
                  <a:srgbClr val="5D7186"/>
                </a:solidFill>
                <a:latin typeface="Calibri" pitchFamily="34" charset="0"/>
                <a:ea typeface="Calibri" pitchFamily="34" charset="-122"/>
                <a:cs typeface="Calibri" pitchFamily="34" charset="-120"/>
              </a:rPr>
              <a:t>grade IV → ORANGE</a:t>
            </a:r>
            <a:endParaRPr lang="en-US" sz="950" dirty="0"/>
          </a:p>
        </p:txBody>
      </p:sp>
      <p:sp>
        <p:nvSpPr>
          <p:cNvPr id="78" name="Text 76"/>
          <p:cNvSpPr/>
          <p:nvPr/>
        </p:nvSpPr>
        <p:spPr>
          <a:xfrm>
            <a:off x="11311128" y="3328416"/>
            <a:ext cx="274320" cy="365760"/>
          </a:xfrm>
          <a:prstGeom prst="rect">
            <a:avLst/>
          </a:prstGeom>
          <a:noFill/>
          <a:ln/>
        </p:spPr>
        <p:txBody>
          <a:bodyPr wrap="square" lIns="0" tIns="0" rIns="0" bIns="0" rtlCol="0" anchor="ctr"/>
          <a:lstStyle/>
          <a:p>
            <a:pPr algn="ctr" indent="0" marL="0">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79" name="Shape 77"/>
          <p:cNvSpPr/>
          <p:nvPr/>
        </p:nvSpPr>
        <p:spPr>
          <a:xfrm>
            <a:off x="6190488" y="3767328"/>
            <a:ext cx="5440680" cy="365760"/>
          </a:xfrm>
          <a:prstGeom prst="roundRect">
            <a:avLst>
              <a:gd name="adj" fmla="val 15000"/>
            </a:avLst>
          </a:prstGeom>
          <a:solidFill>
            <a:srgbClr val="FFFFFF"/>
          </a:solidFill>
          <a:ln w="12700">
            <a:solidFill>
              <a:srgbClr val="DDE5EE"/>
            </a:solidFill>
            <a:prstDash val="solid"/>
          </a:ln>
        </p:spPr>
      </p:sp>
      <p:sp>
        <p:nvSpPr>
          <p:cNvPr id="80" name="Text 78"/>
          <p:cNvSpPr/>
          <p:nvPr/>
        </p:nvSpPr>
        <p:spPr>
          <a:xfrm>
            <a:off x="6336792" y="3767328"/>
            <a:ext cx="548640" cy="365760"/>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T16</a:t>
            </a:r>
            <a:endParaRPr lang="en-US" sz="1000" dirty="0"/>
          </a:p>
        </p:txBody>
      </p:sp>
      <p:sp>
        <p:nvSpPr>
          <p:cNvPr id="81" name="Text 79"/>
          <p:cNvSpPr/>
          <p:nvPr/>
        </p:nvSpPr>
        <p:spPr>
          <a:xfrm>
            <a:off x="6903720" y="3767328"/>
            <a:ext cx="2743200" cy="365760"/>
          </a:xfrm>
          <a:prstGeom prst="rect">
            <a:avLst/>
          </a:prstGeom>
          <a:noFill/>
          <a:ln/>
        </p:spPr>
        <p:txBody>
          <a:bodyPr wrap="square" lIns="0" tIns="0" rIns="0" bIns="0" rtlCol="0" anchor="ctr"/>
          <a:lstStyle/>
          <a:p>
            <a:pPr indent="0" marL="0">
              <a:buNone/>
            </a:pPr>
            <a:r>
              <a:rPr lang="en-US" sz="950" dirty="0">
                <a:solidFill>
                  <a:srgbClr val="12202E"/>
                </a:solidFill>
                <a:latin typeface="Calibri" pitchFamily="34" charset="0"/>
                <a:ea typeface="Calibri" pitchFamily="34" charset="-122"/>
                <a:cs typeface="Calibri" pitchFamily="34" charset="-120"/>
              </a:rPr>
              <a:t>B-05 fixed · bleeding + anticoag</a:t>
            </a:r>
            <a:endParaRPr lang="en-US" sz="950" dirty="0"/>
          </a:p>
        </p:txBody>
      </p:sp>
      <p:sp>
        <p:nvSpPr>
          <p:cNvPr id="82" name="Text 80"/>
          <p:cNvSpPr/>
          <p:nvPr/>
        </p:nvSpPr>
        <p:spPr>
          <a:xfrm>
            <a:off x="9683496" y="3767328"/>
            <a:ext cx="1645920" cy="365760"/>
          </a:xfrm>
          <a:prstGeom prst="rect">
            <a:avLst/>
          </a:prstGeom>
          <a:noFill/>
          <a:ln/>
        </p:spPr>
        <p:txBody>
          <a:bodyPr wrap="square" lIns="0" tIns="0" rIns="0" bIns="0" rtlCol="0" anchor="ctr"/>
          <a:lstStyle/>
          <a:p>
            <a:pPr indent="0" marL="0">
              <a:buNone/>
            </a:pPr>
            <a:r>
              <a:rPr lang="en-US" sz="950" dirty="0">
                <a:solidFill>
                  <a:srgbClr val="5D7186"/>
                </a:solidFill>
                <a:latin typeface="Calibri" pitchFamily="34" charset="0"/>
                <a:ea typeface="Calibri" pitchFamily="34" charset="-122"/>
                <a:cs typeface="Calibri" pitchFamily="34" charset="-120"/>
              </a:rPr>
              <a:t>YELLOW (R10)</a:t>
            </a:r>
            <a:endParaRPr lang="en-US" sz="950" dirty="0"/>
          </a:p>
        </p:txBody>
      </p:sp>
      <p:sp>
        <p:nvSpPr>
          <p:cNvPr id="83" name="Text 81"/>
          <p:cNvSpPr/>
          <p:nvPr/>
        </p:nvSpPr>
        <p:spPr>
          <a:xfrm>
            <a:off x="11311128" y="3767328"/>
            <a:ext cx="274320" cy="365760"/>
          </a:xfrm>
          <a:prstGeom prst="rect">
            <a:avLst/>
          </a:prstGeom>
          <a:noFill/>
          <a:ln/>
        </p:spPr>
        <p:txBody>
          <a:bodyPr wrap="square" lIns="0" tIns="0" rIns="0" bIns="0" rtlCol="0" anchor="ctr"/>
          <a:lstStyle/>
          <a:p>
            <a:pPr algn="ctr" indent="0" marL="0">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84" name="Shape 82"/>
          <p:cNvSpPr/>
          <p:nvPr/>
        </p:nvSpPr>
        <p:spPr>
          <a:xfrm>
            <a:off x="6190488" y="4206240"/>
            <a:ext cx="5440680" cy="365760"/>
          </a:xfrm>
          <a:prstGeom prst="roundRect">
            <a:avLst>
              <a:gd name="adj" fmla="val 15000"/>
            </a:avLst>
          </a:prstGeom>
          <a:solidFill>
            <a:srgbClr val="F5F7FA"/>
          </a:solidFill>
          <a:ln w="12700">
            <a:solidFill>
              <a:srgbClr val="DDE5EE"/>
            </a:solidFill>
            <a:prstDash val="solid"/>
          </a:ln>
        </p:spPr>
      </p:sp>
      <p:sp>
        <p:nvSpPr>
          <p:cNvPr id="85" name="Text 83"/>
          <p:cNvSpPr/>
          <p:nvPr/>
        </p:nvSpPr>
        <p:spPr>
          <a:xfrm>
            <a:off x="6336792" y="4206240"/>
            <a:ext cx="548640" cy="365760"/>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T17</a:t>
            </a:r>
            <a:endParaRPr lang="en-US" sz="1000" dirty="0"/>
          </a:p>
        </p:txBody>
      </p:sp>
      <p:sp>
        <p:nvSpPr>
          <p:cNvPr id="86" name="Text 84"/>
          <p:cNvSpPr/>
          <p:nvPr/>
        </p:nvSpPr>
        <p:spPr>
          <a:xfrm>
            <a:off x="6903720" y="4206240"/>
            <a:ext cx="2743200" cy="365760"/>
          </a:xfrm>
          <a:prstGeom prst="rect">
            <a:avLst/>
          </a:prstGeom>
          <a:noFill/>
          <a:ln/>
        </p:spPr>
        <p:txBody>
          <a:bodyPr wrap="square" lIns="0" tIns="0" rIns="0" bIns="0" rtlCol="0" anchor="ctr"/>
          <a:lstStyle/>
          <a:p>
            <a:pPr indent="0" marL="0">
              <a:buNone/>
            </a:pPr>
            <a:r>
              <a:rPr lang="en-US" sz="950" dirty="0">
                <a:solidFill>
                  <a:srgbClr val="12202E"/>
                </a:solidFill>
                <a:latin typeface="Calibri" pitchFamily="34" charset="0"/>
                <a:ea typeface="Calibri" pitchFamily="34" charset="-122"/>
                <a:cs typeface="Calibri" pitchFamily="34" charset="-120"/>
              </a:rPr>
              <a:t>persistence rule</a:t>
            </a:r>
            <a:endParaRPr lang="en-US" sz="950" dirty="0"/>
          </a:p>
        </p:txBody>
      </p:sp>
      <p:sp>
        <p:nvSpPr>
          <p:cNvPr id="87" name="Text 85"/>
          <p:cNvSpPr/>
          <p:nvPr/>
        </p:nvSpPr>
        <p:spPr>
          <a:xfrm>
            <a:off x="9683496" y="4206240"/>
            <a:ext cx="1645920" cy="365760"/>
          </a:xfrm>
          <a:prstGeom prst="rect">
            <a:avLst/>
          </a:prstGeom>
          <a:noFill/>
          <a:ln/>
        </p:spPr>
        <p:txBody>
          <a:bodyPr wrap="square" lIns="0" tIns="0" rIns="0" bIns="0" rtlCol="0" anchor="ctr"/>
          <a:lstStyle/>
          <a:p>
            <a:pPr indent="0" marL="0">
              <a:buNone/>
            </a:pPr>
            <a:r>
              <a:rPr lang="en-US" sz="950" dirty="0">
                <a:solidFill>
                  <a:srgbClr val="5D7186"/>
                </a:solidFill>
                <a:latin typeface="Calibri" pitchFamily="34" charset="0"/>
                <a:ea typeface="Calibri" pitchFamily="34" charset="-122"/>
                <a:cs typeface="Calibri" pitchFamily="34" charset="-120"/>
              </a:rPr>
              <a:t>ORANGE (R12)</a:t>
            </a:r>
            <a:endParaRPr lang="en-US" sz="950" dirty="0"/>
          </a:p>
        </p:txBody>
      </p:sp>
      <p:sp>
        <p:nvSpPr>
          <p:cNvPr id="88" name="Text 86"/>
          <p:cNvSpPr/>
          <p:nvPr/>
        </p:nvSpPr>
        <p:spPr>
          <a:xfrm>
            <a:off x="11311128" y="4206240"/>
            <a:ext cx="274320" cy="365760"/>
          </a:xfrm>
          <a:prstGeom prst="rect">
            <a:avLst/>
          </a:prstGeom>
          <a:noFill/>
          <a:ln/>
        </p:spPr>
        <p:txBody>
          <a:bodyPr wrap="square" lIns="0" tIns="0" rIns="0" bIns="0" rtlCol="0" anchor="ctr"/>
          <a:lstStyle/>
          <a:p>
            <a:pPr algn="ctr" indent="0" marL="0">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89" name="Shape 87"/>
          <p:cNvSpPr/>
          <p:nvPr/>
        </p:nvSpPr>
        <p:spPr>
          <a:xfrm>
            <a:off x="6190488" y="4645152"/>
            <a:ext cx="5440680" cy="365760"/>
          </a:xfrm>
          <a:prstGeom prst="roundRect">
            <a:avLst>
              <a:gd name="adj" fmla="val 15000"/>
            </a:avLst>
          </a:prstGeom>
          <a:solidFill>
            <a:srgbClr val="FFFFFF"/>
          </a:solidFill>
          <a:ln w="12700">
            <a:solidFill>
              <a:srgbClr val="DDE5EE"/>
            </a:solidFill>
            <a:prstDash val="solid"/>
          </a:ln>
        </p:spPr>
      </p:sp>
      <p:sp>
        <p:nvSpPr>
          <p:cNvPr id="90" name="Text 88"/>
          <p:cNvSpPr/>
          <p:nvPr/>
        </p:nvSpPr>
        <p:spPr>
          <a:xfrm>
            <a:off x="6336792" y="4645152"/>
            <a:ext cx="548640" cy="365760"/>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T18</a:t>
            </a:r>
            <a:endParaRPr lang="en-US" sz="1000" dirty="0"/>
          </a:p>
        </p:txBody>
      </p:sp>
      <p:sp>
        <p:nvSpPr>
          <p:cNvPr id="91" name="Text 89"/>
          <p:cNvSpPr/>
          <p:nvPr/>
        </p:nvSpPr>
        <p:spPr>
          <a:xfrm>
            <a:off x="6903720" y="4645152"/>
            <a:ext cx="2743200" cy="365760"/>
          </a:xfrm>
          <a:prstGeom prst="rect">
            <a:avLst/>
          </a:prstGeom>
          <a:noFill/>
          <a:ln/>
        </p:spPr>
        <p:txBody>
          <a:bodyPr wrap="square" lIns="0" tIns="0" rIns="0" bIns="0" rtlCol="0" anchor="ctr"/>
          <a:lstStyle/>
          <a:p>
            <a:pPr indent="0" marL="0">
              <a:buNone/>
            </a:pPr>
            <a:r>
              <a:rPr lang="en-US" sz="950" dirty="0">
                <a:solidFill>
                  <a:srgbClr val="12202E"/>
                </a:solidFill>
                <a:latin typeface="Calibri" pitchFamily="34" charset="0"/>
                <a:ea typeface="Calibri" pitchFamily="34" charset="-122"/>
                <a:cs typeface="Calibri" pitchFamily="34" charset="-120"/>
              </a:rPr>
              <a:t>discharge ≥ 3 days</a:t>
            </a:r>
            <a:endParaRPr lang="en-US" sz="950" dirty="0"/>
          </a:p>
        </p:txBody>
      </p:sp>
      <p:sp>
        <p:nvSpPr>
          <p:cNvPr id="92" name="Text 90"/>
          <p:cNvSpPr/>
          <p:nvPr/>
        </p:nvSpPr>
        <p:spPr>
          <a:xfrm>
            <a:off x="9683496" y="4645152"/>
            <a:ext cx="1645920" cy="365760"/>
          </a:xfrm>
          <a:prstGeom prst="rect">
            <a:avLst/>
          </a:prstGeom>
          <a:noFill/>
          <a:ln/>
        </p:spPr>
        <p:txBody>
          <a:bodyPr wrap="square" lIns="0" tIns="0" rIns="0" bIns="0" rtlCol="0" anchor="ctr"/>
          <a:lstStyle/>
          <a:p>
            <a:pPr indent="0" marL="0">
              <a:buNone/>
            </a:pPr>
            <a:r>
              <a:rPr lang="en-US" sz="950" dirty="0">
                <a:solidFill>
                  <a:srgbClr val="5D7186"/>
                </a:solidFill>
                <a:latin typeface="Calibri" pitchFamily="34" charset="0"/>
                <a:ea typeface="Calibri" pitchFamily="34" charset="-122"/>
                <a:cs typeface="Calibri" pitchFamily="34" charset="-120"/>
              </a:rPr>
              <a:t>ORANGE (R11)</a:t>
            </a:r>
            <a:endParaRPr lang="en-US" sz="950" dirty="0"/>
          </a:p>
        </p:txBody>
      </p:sp>
      <p:sp>
        <p:nvSpPr>
          <p:cNvPr id="93" name="Text 91"/>
          <p:cNvSpPr/>
          <p:nvPr/>
        </p:nvSpPr>
        <p:spPr>
          <a:xfrm>
            <a:off x="11311128" y="4645152"/>
            <a:ext cx="274320" cy="365760"/>
          </a:xfrm>
          <a:prstGeom prst="rect">
            <a:avLst/>
          </a:prstGeom>
          <a:noFill/>
          <a:ln/>
        </p:spPr>
        <p:txBody>
          <a:bodyPr wrap="square" lIns="0" tIns="0" rIns="0" bIns="0" rtlCol="0" anchor="ctr"/>
          <a:lstStyle/>
          <a:p>
            <a:pPr algn="ctr" indent="0" marL="0">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94" name="Shape 92"/>
          <p:cNvSpPr/>
          <p:nvPr/>
        </p:nvSpPr>
        <p:spPr>
          <a:xfrm>
            <a:off x="6190488" y="5084064"/>
            <a:ext cx="5440680" cy="365760"/>
          </a:xfrm>
          <a:prstGeom prst="roundRect">
            <a:avLst>
              <a:gd name="adj" fmla="val 15000"/>
            </a:avLst>
          </a:prstGeom>
          <a:solidFill>
            <a:srgbClr val="F5F7FA"/>
          </a:solidFill>
          <a:ln w="12700">
            <a:solidFill>
              <a:srgbClr val="DDE5EE"/>
            </a:solidFill>
            <a:prstDash val="solid"/>
          </a:ln>
        </p:spPr>
      </p:sp>
      <p:sp>
        <p:nvSpPr>
          <p:cNvPr id="95" name="Text 93"/>
          <p:cNvSpPr/>
          <p:nvPr/>
        </p:nvSpPr>
        <p:spPr>
          <a:xfrm>
            <a:off x="6336792" y="5084064"/>
            <a:ext cx="548640" cy="365760"/>
          </a:xfrm>
          <a:prstGeom prst="rect">
            <a:avLst/>
          </a:prstGeom>
          <a:noFill/>
          <a:ln/>
        </p:spPr>
        <p:txBody>
          <a:bodyPr wrap="square" lIns="0" tIns="0" rIns="0" bIns="0" rtlCol="0" anchor="ctr"/>
          <a:lstStyle/>
          <a:p>
            <a:pPr indent="0" marL="0">
              <a:buNone/>
            </a:pPr>
            <a:r>
              <a:rPr lang="en-US" sz="1000" b="1" dirty="0">
                <a:solidFill>
                  <a:srgbClr val="12202E"/>
                </a:solidFill>
                <a:latin typeface="Calibri" pitchFamily="34" charset="0"/>
                <a:ea typeface="Calibri" pitchFamily="34" charset="-122"/>
                <a:cs typeface="Calibri" pitchFamily="34" charset="-120"/>
              </a:rPr>
              <a:t>T19</a:t>
            </a:r>
            <a:endParaRPr lang="en-US" sz="1000" dirty="0"/>
          </a:p>
        </p:txBody>
      </p:sp>
      <p:sp>
        <p:nvSpPr>
          <p:cNvPr id="96" name="Text 94"/>
          <p:cNvSpPr/>
          <p:nvPr/>
        </p:nvSpPr>
        <p:spPr>
          <a:xfrm>
            <a:off x="6903720" y="5084064"/>
            <a:ext cx="2743200" cy="365760"/>
          </a:xfrm>
          <a:prstGeom prst="rect">
            <a:avLst/>
          </a:prstGeom>
          <a:noFill/>
          <a:ln/>
        </p:spPr>
        <p:txBody>
          <a:bodyPr wrap="square" lIns="0" tIns="0" rIns="0" bIns="0" rtlCol="0" anchor="ctr"/>
          <a:lstStyle/>
          <a:p>
            <a:pPr indent="0" marL="0">
              <a:buNone/>
            </a:pPr>
            <a:r>
              <a:rPr lang="en-US" sz="950" dirty="0">
                <a:solidFill>
                  <a:srgbClr val="12202E"/>
                </a:solidFill>
                <a:latin typeface="Calibri" pitchFamily="34" charset="0"/>
                <a:ea typeface="Calibri" pitchFamily="34" charset="-122"/>
                <a:cs typeface="Calibri" pitchFamily="34" charset="-120"/>
              </a:rPr>
              <a:t>threshold change without rebuild</a:t>
            </a:r>
            <a:endParaRPr lang="en-US" sz="950" dirty="0"/>
          </a:p>
        </p:txBody>
      </p:sp>
      <p:sp>
        <p:nvSpPr>
          <p:cNvPr id="97" name="Text 95"/>
          <p:cNvSpPr/>
          <p:nvPr/>
        </p:nvSpPr>
        <p:spPr>
          <a:xfrm>
            <a:off x="9683496" y="5084064"/>
            <a:ext cx="1645920" cy="365760"/>
          </a:xfrm>
          <a:prstGeom prst="rect">
            <a:avLst/>
          </a:prstGeom>
          <a:noFill/>
          <a:ln/>
        </p:spPr>
        <p:txBody>
          <a:bodyPr wrap="square" lIns="0" tIns="0" rIns="0" bIns="0" rtlCol="0" anchor="ctr"/>
          <a:lstStyle/>
          <a:p>
            <a:pPr indent="0" marL="0">
              <a:buNone/>
            </a:pPr>
            <a:r>
              <a:rPr lang="en-US" sz="950" dirty="0">
                <a:solidFill>
                  <a:srgbClr val="5D7186"/>
                </a:solidFill>
                <a:latin typeface="Calibri" pitchFamily="34" charset="0"/>
                <a:ea typeface="Calibri" pitchFamily="34" charset="-122"/>
                <a:cs typeface="Calibri" pitchFamily="34" charset="-120"/>
              </a:rPr>
              <a:t>GREEN → ORANGE</a:t>
            </a:r>
            <a:endParaRPr lang="en-US" sz="950" dirty="0"/>
          </a:p>
        </p:txBody>
      </p:sp>
      <p:sp>
        <p:nvSpPr>
          <p:cNvPr id="98" name="Text 96"/>
          <p:cNvSpPr/>
          <p:nvPr/>
        </p:nvSpPr>
        <p:spPr>
          <a:xfrm>
            <a:off x="11311128" y="5084064"/>
            <a:ext cx="274320" cy="365760"/>
          </a:xfrm>
          <a:prstGeom prst="rect">
            <a:avLst/>
          </a:prstGeom>
          <a:noFill/>
          <a:ln/>
        </p:spPr>
        <p:txBody>
          <a:bodyPr wrap="square" lIns="0" tIns="0" rIns="0" bIns="0" rtlCol="0" anchor="ctr"/>
          <a:lstStyle/>
          <a:p>
            <a:pPr algn="ctr" indent="0" marL="0">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99" name="Text 97"/>
          <p:cNvSpPr/>
          <p:nvPr/>
        </p:nvSpPr>
        <p:spPr>
          <a:xfrm>
            <a:off x="566928" y="6089904"/>
            <a:ext cx="11064240" cy="274320"/>
          </a:xfrm>
          <a:prstGeom prst="rect">
            <a:avLst/>
          </a:prstGeom>
          <a:noFill/>
          <a:ln/>
        </p:spPr>
        <p:txBody>
          <a:bodyPr wrap="square" lIns="0" tIns="0" rIns="0" bIns="0" rtlCol="0" anchor="ctr"/>
          <a:lstStyle/>
          <a:p>
            <a:pPr indent="0" marL="0">
              <a:buNone/>
            </a:pPr>
            <a:r>
              <a:rPr lang="en-US" sz="1050" i="1" dirty="0">
                <a:solidFill>
                  <a:srgbClr val="5D7186"/>
                </a:solidFill>
                <a:latin typeface="Calibri" pitchFamily="34" charset="0"/>
                <a:ea typeface="Calibri" pitchFamily="34" charset="-122"/>
                <a:cs typeface="Calibri" pitchFamily="34" charset="-120"/>
              </a:rPr>
              <a:t>Reproduce: node tools/run-tests.mjs   ·   node tools/check-fhir.mjs   ·   node tools/check-hardcoding.mjs</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indent="0" marL="0">
              <a:buNone/>
            </a:pPr>
            <a:r>
              <a:rPr lang="en-US" sz="1050" b="1" spc="160" kern="0" dirty="0">
                <a:solidFill>
                  <a:srgbClr val="5D7186"/>
                </a:solidFill>
                <a:latin typeface="Calibri" pitchFamily="34" charset="0"/>
                <a:ea typeface="Calibri" pitchFamily="34" charset="-122"/>
                <a:cs typeface="Calibri" pitchFamily="34" charset="-120"/>
              </a:rPr>
              <a:t>BACKUP · QA</a:t>
            </a:r>
            <a:endParaRPr lang="en-US" sz="1050" dirty="0"/>
          </a:p>
        </p:txBody>
      </p:sp>
      <p:sp>
        <p:nvSpPr>
          <p:cNvPr id="3" name="Text 1"/>
          <p:cNvSpPr/>
          <p:nvPr/>
        </p:nvSpPr>
        <p:spPr>
          <a:xfrm>
            <a:off x="566928" y="640080"/>
            <a:ext cx="10607040" cy="658368"/>
          </a:xfrm>
          <a:prstGeom prst="rect">
            <a:avLst/>
          </a:prstGeom>
          <a:noFill/>
          <a:ln/>
        </p:spPr>
        <p:txBody>
          <a:bodyPr wrap="square" lIns="0" tIns="0" rIns="0" bIns="0" rtlCol="0" anchor="t"/>
          <a:lstStyle/>
          <a:p>
            <a:pPr indent="0" marL="0">
              <a:buNone/>
            </a:pPr>
            <a:r>
              <a:rPr lang="en-US" sz="2700" b="1" dirty="0">
                <a:solidFill>
                  <a:srgbClr val="12202E"/>
                </a:solidFill>
                <a:latin typeface="Cambria" pitchFamily="34" charset="0"/>
                <a:ea typeface="Cambria" pitchFamily="34" charset="-122"/>
                <a:cs typeface="Cambria" pitchFamily="34" charset="-120"/>
              </a:rPr>
              <a:t>Hazard analysis and risk matrix</a:t>
            </a:r>
            <a:endParaRPr lang="en-US" sz="2700" dirty="0"/>
          </a:p>
        </p:txBody>
      </p:sp>
      <p:sp>
        <p:nvSpPr>
          <p:cNvPr id="4" name="Shape 2"/>
          <p:cNvSpPr/>
          <p:nvPr/>
        </p:nvSpPr>
        <p:spPr>
          <a:xfrm>
            <a:off x="566928" y="1737360"/>
            <a:ext cx="6492240" cy="512064"/>
          </a:xfrm>
          <a:prstGeom prst="roundRect">
            <a:avLst>
              <a:gd name="adj" fmla="val 10714"/>
            </a:avLst>
          </a:prstGeom>
          <a:solidFill>
            <a:srgbClr val="F5F7FA"/>
          </a:solidFill>
          <a:ln w="12700">
            <a:solidFill>
              <a:srgbClr val="DDE5EE"/>
            </a:solidFill>
            <a:prstDash val="solid"/>
          </a:ln>
        </p:spPr>
      </p:sp>
      <p:sp>
        <p:nvSpPr>
          <p:cNvPr id="5" name="Text 3"/>
          <p:cNvSpPr/>
          <p:nvPr/>
        </p:nvSpPr>
        <p:spPr>
          <a:xfrm>
            <a:off x="749808" y="1737360"/>
            <a:ext cx="640080" cy="512064"/>
          </a:xfrm>
          <a:prstGeom prst="rect">
            <a:avLst/>
          </a:prstGeom>
          <a:noFill/>
          <a:ln/>
        </p:spPr>
        <p:txBody>
          <a:bodyPr wrap="square" lIns="0" tIns="0" rIns="0" bIns="0" rtlCol="0" anchor="ctr"/>
          <a:lstStyle/>
          <a:p>
            <a:pPr indent="0" marL="0">
              <a:buNone/>
            </a:pPr>
            <a:r>
              <a:rPr lang="en-US" sz="1050" b="1" dirty="0">
                <a:solidFill>
                  <a:srgbClr val="12202E"/>
                </a:solidFill>
                <a:latin typeface="Calibri" pitchFamily="34" charset="0"/>
                <a:ea typeface="Calibri" pitchFamily="34" charset="-122"/>
                <a:cs typeface="Calibri" pitchFamily="34" charset="-120"/>
              </a:rPr>
              <a:t>H-01</a:t>
            </a:r>
            <a:endParaRPr lang="en-US" sz="1050" dirty="0"/>
          </a:p>
        </p:txBody>
      </p:sp>
      <p:sp>
        <p:nvSpPr>
          <p:cNvPr id="6" name="Text 4"/>
          <p:cNvSpPr/>
          <p:nvPr/>
        </p:nvSpPr>
        <p:spPr>
          <a:xfrm>
            <a:off x="1435608" y="1737360"/>
            <a:ext cx="3931920" cy="512064"/>
          </a:xfrm>
          <a:prstGeom prst="rect">
            <a:avLst/>
          </a:prstGeom>
          <a:noFill/>
          <a:ln/>
        </p:spPr>
        <p:txBody>
          <a:bodyPr wrap="square" lIns="0" tIns="0" rIns="0" bIns="0" rtlCol="0" anchor="ctr"/>
          <a:lstStyle/>
          <a:p>
            <a:pPr indent="0" marL="0">
              <a:buNone/>
            </a:pPr>
            <a:r>
              <a:rPr lang="en-US" sz="1100" dirty="0">
                <a:solidFill>
                  <a:srgbClr val="12202E"/>
                </a:solidFill>
                <a:latin typeface="Calibri" pitchFamily="34" charset="0"/>
                <a:ea typeface="Calibri" pitchFamily="34" charset="-122"/>
                <a:cs typeface="Calibri" pitchFamily="34" charset="-120"/>
              </a:rPr>
              <a:t>An infection is classified GREEN</a:t>
            </a:r>
            <a:endParaRPr lang="en-US" sz="1100" dirty="0"/>
          </a:p>
        </p:txBody>
      </p:sp>
      <p:sp>
        <p:nvSpPr>
          <p:cNvPr id="7" name="Text 5"/>
          <p:cNvSpPr/>
          <p:nvPr/>
        </p:nvSpPr>
        <p:spPr>
          <a:xfrm>
            <a:off x="5413248" y="1737360"/>
            <a:ext cx="868680" cy="512064"/>
          </a:xfrm>
          <a:prstGeom prst="rect">
            <a:avLst/>
          </a:prstGeom>
          <a:noFill/>
          <a:ln/>
        </p:spPr>
        <p:txBody>
          <a:bodyPr wrap="square" lIns="0" tIns="0" rIns="0" bIns="0" rtlCol="0" anchor="ctr"/>
          <a:lstStyle/>
          <a:p>
            <a:pPr indent="0" marL="0">
              <a:buNone/>
            </a:pPr>
            <a:r>
              <a:rPr lang="en-US" sz="850" dirty="0">
                <a:solidFill>
                  <a:srgbClr val="5D7186"/>
                </a:solidFill>
                <a:latin typeface="Calibri" pitchFamily="34" charset="0"/>
                <a:ea typeface="Calibri" pitchFamily="34" charset="-122"/>
                <a:cs typeface="Calibri" pitchFamily="34" charset="-120"/>
              </a:rPr>
              <a:t>sev 5 · lik 3</a:t>
            </a:r>
            <a:endParaRPr lang="en-US" sz="850" dirty="0"/>
          </a:p>
        </p:txBody>
      </p:sp>
      <p:sp>
        <p:nvSpPr>
          <p:cNvPr id="8" name="Shape 6"/>
          <p:cNvSpPr/>
          <p:nvPr/>
        </p:nvSpPr>
        <p:spPr>
          <a:xfrm>
            <a:off x="6437376" y="1865376"/>
            <a:ext cx="457200" cy="256032"/>
          </a:xfrm>
          <a:prstGeom prst="roundRect">
            <a:avLst>
              <a:gd name="adj" fmla="val 50000"/>
            </a:avLst>
          </a:prstGeom>
          <a:solidFill>
            <a:srgbClr val="C0281C"/>
          </a:solidFill>
          <a:ln w="12700">
            <a:solidFill>
              <a:srgbClr val="C0281C"/>
            </a:solidFill>
            <a:prstDash val="solid"/>
          </a:ln>
        </p:spPr>
      </p:sp>
      <p:sp>
        <p:nvSpPr>
          <p:cNvPr id="9" name="Text 7"/>
          <p:cNvSpPr/>
          <p:nvPr/>
        </p:nvSpPr>
        <p:spPr>
          <a:xfrm>
            <a:off x="6437376" y="1865376"/>
            <a:ext cx="45720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15</a:t>
            </a:r>
            <a:endParaRPr lang="en-US" sz="950" dirty="0"/>
          </a:p>
        </p:txBody>
      </p:sp>
      <p:sp>
        <p:nvSpPr>
          <p:cNvPr id="10" name="Shape 8"/>
          <p:cNvSpPr/>
          <p:nvPr/>
        </p:nvSpPr>
        <p:spPr>
          <a:xfrm>
            <a:off x="566928" y="2340864"/>
            <a:ext cx="6492240" cy="512064"/>
          </a:xfrm>
          <a:prstGeom prst="roundRect">
            <a:avLst>
              <a:gd name="adj" fmla="val 10714"/>
            </a:avLst>
          </a:prstGeom>
          <a:solidFill>
            <a:srgbClr val="FFFFFF"/>
          </a:solidFill>
          <a:ln w="12700">
            <a:solidFill>
              <a:srgbClr val="DDE5EE"/>
            </a:solidFill>
            <a:prstDash val="solid"/>
          </a:ln>
        </p:spPr>
      </p:sp>
      <p:sp>
        <p:nvSpPr>
          <p:cNvPr id="11" name="Text 9"/>
          <p:cNvSpPr/>
          <p:nvPr/>
        </p:nvSpPr>
        <p:spPr>
          <a:xfrm>
            <a:off x="749808" y="2340864"/>
            <a:ext cx="640080" cy="512064"/>
          </a:xfrm>
          <a:prstGeom prst="rect">
            <a:avLst/>
          </a:prstGeom>
          <a:noFill/>
          <a:ln/>
        </p:spPr>
        <p:txBody>
          <a:bodyPr wrap="square" lIns="0" tIns="0" rIns="0" bIns="0" rtlCol="0" anchor="ctr"/>
          <a:lstStyle/>
          <a:p>
            <a:pPr indent="0" marL="0">
              <a:buNone/>
            </a:pPr>
            <a:r>
              <a:rPr lang="en-US" sz="1050" b="1" dirty="0">
                <a:solidFill>
                  <a:srgbClr val="12202E"/>
                </a:solidFill>
                <a:latin typeface="Calibri" pitchFamily="34" charset="0"/>
                <a:ea typeface="Calibri" pitchFamily="34" charset="-122"/>
                <a:cs typeface="Calibri" pitchFamily="34" charset="-120"/>
              </a:rPr>
              <a:t>H-02</a:t>
            </a:r>
            <a:endParaRPr lang="en-US" sz="1050" dirty="0"/>
          </a:p>
        </p:txBody>
      </p:sp>
      <p:sp>
        <p:nvSpPr>
          <p:cNvPr id="12" name="Text 10"/>
          <p:cNvSpPr/>
          <p:nvPr/>
        </p:nvSpPr>
        <p:spPr>
          <a:xfrm>
            <a:off x="1435608" y="2340864"/>
            <a:ext cx="3931920" cy="512064"/>
          </a:xfrm>
          <a:prstGeom prst="rect">
            <a:avLst/>
          </a:prstGeom>
          <a:noFill/>
          <a:ln/>
        </p:spPr>
        <p:txBody>
          <a:bodyPr wrap="square" lIns="0" tIns="0" rIns="0" bIns="0" rtlCol="0" anchor="ctr"/>
          <a:lstStyle/>
          <a:p>
            <a:pPr indent="0" marL="0">
              <a:buNone/>
            </a:pPr>
            <a:r>
              <a:rPr lang="en-US" sz="1100" dirty="0">
                <a:solidFill>
                  <a:srgbClr val="12202E"/>
                </a:solidFill>
                <a:latin typeface="Calibri" pitchFamily="34" charset="0"/>
                <a:ea typeface="Calibri" pitchFamily="34" charset="-122"/>
                <a:cs typeface="Calibri" pitchFamily="34" charset="-120"/>
              </a:rPr>
              <a:t>An emergency is classified ORANGE</a:t>
            </a:r>
            <a:endParaRPr lang="en-US" sz="1100" dirty="0"/>
          </a:p>
        </p:txBody>
      </p:sp>
      <p:sp>
        <p:nvSpPr>
          <p:cNvPr id="13" name="Text 11"/>
          <p:cNvSpPr/>
          <p:nvPr/>
        </p:nvSpPr>
        <p:spPr>
          <a:xfrm>
            <a:off x="5413248" y="2340864"/>
            <a:ext cx="868680" cy="512064"/>
          </a:xfrm>
          <a:prstGeom prst="rect">
            <a:avLst/>
          </a:prstGeom>
          <a:noFill/>
          <a:ln/>
        </p:spPr>
        <p:txBody>
          <a:bodyPr wrap="square" lIns="0" tIns="0" rIns="0" bIns="0" rtlCol="0" anchor="ctr"/>
          <a:lstStyle/>
          <a:p>
            <a:pPr indent="0" marL="0">
              <a:buNone/>
            </a:pPr>
            <a:r>
              <a:rPr lang="en-US" sz="850" dirty="0">
                <a:solidFill>
                  <a:srgbClr val="5D7186"/>
                </a:solidFill>
                <a:latin typeface="Calibri" pitchFamily="34" charset="0"/>
                <a:ea typeface="Calibri" pitchFamily="34" charset="-122"/>
                <a:cs typeface="Calibri" pitchFamily="34" charset="-120"/>
              </a:rPr>
              <a:t>sev 5 · lik 2</a:t>
            </a:r>
            <a:endParaRPr lang="en-US" sz="850" dirty="0"/>
          </a:p>
        </p:txBody>
      </p:sp>
      <p:sp>
        <p:nvSpPr>
          <p:cNvPr id="14" name="Shape 12"/>
          <p:cNvSpPr/>
          <p:nvPr/>
        </p:nvSpPr>
        <p:spPr>
          <a:xfrm>
            <a:off x="6437376" y="2468880"/>
            <a:ext cx="457200" cy="256032"/>
          </a:xfrm>
          <a:prstGeom prst="roundRect">
            <a:avLst>
              <a:gd name="adj" fmla="val 50000"/>
            </a:avLst>
          </a:prstGeom>
          <a:solidFill>
            <a:srgbClr val="C25C07"/>
          </a:solidFill>
          <a:ln w="12700">
            <a:solidFill>
              <a:srgbClr val="C25C07"/>
            </a:solidFill>
            <a:prstDash val="solid"/>
          </a:ln>
        </p:spPr>
      </p:sp>
      <p:sp>
        <p:nvSpPr>
          <p:cNvPr id="15" name="Text 13"/>
          <p:cNvSpPr/>
          <p:nvPr/>
        </p:nvSpPr>
        <p:spPr>
          <a:xfrm>
            <a:off x="6437376" y="2468880"/>
            <a:ext cx="45720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10</a:t>
            </a:r>
            <a:endParaRPr lang="en-US" sz="950" dirty="0"/>
          </a:p>
        </p:txBody>
      </p:sp>
      <p:sp>
        <p:nvSpPr>
          <p:cNvPr id="16" name="Shape 14"/>
          <p:cNvSpPr/>
          <p:nvPr/>
        </p:nvSpPr>
        <p:spPr>
          <a:xfrm>
            <a:off x="566928" y="2944368"/>
            <a:ext cx="6492240" cy="512064"/>
          </a:xfrm>
          <a:prstGeom prst="roundRect">
            <a:avLst>
              <a:gd name="adj" fmla="val 10714"/>
            </a:avLst>
          </a:prstGeom>
          <a:solidFill>
            <a:srgbClr val="F5F7FA"/>
          </a:solidFill>
          <a:ln w="12700">
            <a:solidFill>
              <a:srgbClr val="DDE5EE"/>
            </a:solidFill>
            <a:prstDash val="solid"/>
          </a:ln>
        </p:spPr>
      </p:sp>
      <p:sp>
        <p:nvSpPr>
          <p:cNvPr id="17" name="Text 15"/>
          <p:cNvSpPr/>
          <p:nvPr/>
        </p:nvSpPr>
        <p:spPr>
          <a:xfrm>
            <a:off x="749808" y="2944368"/>
            <a:ext cx="640080" cy="512064"/>
          </a:xfrm>
          <a:prstGeom prst="rect">
            <a:avLst/>
          </a:prstGeom>
          <a:noFill/>
          <a:ln/>
        </p:spPr>
        <p:txBody>
          <a:bodyPr wrap="square" lIns="0" tIns="0" rIns="0" bIns="0" rtlCol="0" anchor="ctr"/>
          <a:lstStyle/>
          <a:p>
            <a:pPr indent="0" marL="0">
              <a:buNone/>
            </a:pPr>
            <a:r>
              <a:rPr lang="en-US" sz="1050" b="1" dirty="0">
                <a:solidFill>
                  <a:srgbClr val="12202E"/>
                </a:solidFill>
                <a:latin typeface="Calibri" pitchFamily="34" charset="0"/>
                <a:ea typeface="Calibri" pitchFamily="34" charset="-122"/>
                <a:cs typeface="Calibri" pitchFamily="34" charset="-120"/>
              </a:rPr>
              <a:t>H-03</a:t>
            </a:r>
            <a:endParaRPr lang="en-US" sz="1050" dirty="0"/>
          </a:p>
        </p:txBody>
      </p:sp>
      <p:sp>
        <p:nvSpPr>
          <p:cNvPr id="18" name="Text 16"/>
          <p:cNvSpPr/>
          <p:nvPr/>
        </p:nvSpPr>
        <p:spPr>
          <a:xfrm>
            <a:off x="1435608" y="2944368"/>
            <a:ext cx="3931920" cy="512064"/>
          </a:xfrm>
          <a:prstGeom prst="rect">
            <a:avLst/>
          </a:prstGeom>
          <a:noFill/>
          <a:ln/>
        </p:spPr>
        <p:txBody>
          <a:bodyPr wrap="square" lIns="0" tIns="0" rIns="0" bIns="0" rtlCol="0" anchor="ctr"/>
          <a:lstStyle/>
          <a:p>
            <a:pPr indent="0" marL="0">
              <a:buNone/>
            </a:pPr>
            <a:r>
              <a:rPr lang="en-US" sz="1100" dirty="0">
                <a:solidFill>
                  <a:srgbClr val="12202E"/>
                </a:solidFill>
                <a:latin typeface="Calibri" pitchFamily="34" charset="0"/>
                <a:ea typeface="Calibri" pitchFamily="34" charset="-122"/>
                <a:cs typeface="Calibri" pitchFamily="34" charset="-120"/>
              </a:rPr>
              <a:t>The patient abandons the check</a:t>
            </a:r>
            <a:endParaRPr lang="en-US" sz="1100" dirty="0"/>
          </a:p>
        </p:txBody>
      </p:sp>
      <p:sp>
        <p:nvSpPr>
          <p:cNvPr id="19" name="Text 17"/>
          <p:cNvSpPr/>
          <p:nvPr/>
        </p:nvSpPr>
        <p:spPr>
          <a:xfrm>
            <a:off x="5413248" y="2944368"/>
            <a:ext cx="868680" cy="512064"/>
          </a:xfrm>
          <a:prstGeom prst="rect">
            <a:avLst/>
          </a:prstGeom>
          <a:noFill/>
          <a:ln/>
        </p:spPr>
        <p:txBody>
          <a:bodyPr wrap="square" lIns="0" tIns="0" rIns="0" bIns="0" rtlCol="0" anchor="ctr"/>
          <a:lstStyle/>
          <a:p>
            <a:pPr indent="0" marL="0">
              <a:buNone/>
            </a:pPr>
            <a:r>
              <a:rPr lang="en-US" sz="850" dirty="0">
                <a:solidFill>
                  <a:srgbClr val="5D7186"/>
                </a:solidFill>
                <a:latin typeface="Calibri" pitchFamily="34" charset="0"/>
                <a:ea typeface="Calibri" pitchFamily="34" charset="-122"/>
                <a:cs typeface="Calibri" pitchFamily="34" charset="-120"/>
              </a:rPr>
              <a:t>sev 3 · lik 3</a:t>
            </a:r>
            <a:endParaRPr lang="en-US" sz="850" dirty="0"/>
          </a:p>
        </p:txBody>
      </p:sp>
      <p:sp>
        <p:nvSpPr>
          <p:cNvPr id="20" name="Shape 18"/>
          <p:cNvSpPr/>
          <p:nvPr/>
        </p:nvSpPr>
        <p:spPr>
          <a:xfrm>
            <a:off x="6437376" y="3072384"/>
            <a:ext cx="457200" cy="256032"/>
          </a:xfrm>
          <a:prstGeom prst="roundRect">
            <a:avLst>
              <a:gd name="adj" fmla="val 50000"/>
            </a:avLst>
          </a:prstGeom>
          <a:solidFill>
            <a:srgbClr val="9C6D00"/>
          </a:solidFill>
          <a:ln w="12700">
            <a:solidFill>
              <a:srgbClr val="9C6D00"/>
            </a:solidFill>
            <a:prstDash val="solid"/>
          </a:ln>
        </p:spPr>
      </p:sp>
      <p:sp>
        <p:nvSpPr>
          <p:cNvPr id="21" name="Text 19"/>
          <p:cNvSpPr/>
          <p:nvPr/>
        </p:nvSpPr>
        <p:spPr>
          <a:xfrm>
            <a:off x="6437376" y="3072384"/>
            <a:ext cx="45720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9</a:t>
            </a:r>
            <a:endParaRPr lang="en-US" sz="950" dirty="0"/>
          </a:p>
        </p:txBody>
      </p:sp>
      <p:sp>
        <p:nvSpPr>
          <p:cNvPr id="22" name="Shape 20"/>
          <p:cNvSpPr/>
          <p:nvPr/>
        </p:nvSpPr>
        <p:spPr>
          <a:xfrm>
            <a:off x="566928" y="3547872"/>
            <a:ext cx="6492240" cy="512064"/>
          </a:xfrm>
          <a:prstGeom prst="roundRect">
            <a:avLst>
              <a:gd name="adj" fmla="val 10714"/>
            </a:avLst>
          </a:prstGeom>
          <a:solidFill>
            <a:srgbClr val="FFFFFF"/>
          </a:solidFill>
          <a:ln w="12700">
            <a:solidFill>
              <a:srgbClr val="DDE5EE"/>
            </a:solidFill>
            <a:prstDash val="solid"/>
          </a:ln>
        </p:spPr>
      </p:sp>
      <p:sp>
        <p:nvSpPr>
          <p:cNvPr id="23" name="Text 21"/>
          <p:cNvSpPr/>
          <p:nvPr/>
        </p:nvSpPr>
        <p:spPr>
          <a:xfrm>
            <a:off x="749808" y="3547872"/>
            <a:ext cx="640080" cy="512064"/>
          </a:xfrm>
          <a:prstGeom prst="rect">
            <a:avLst/>
          </a:prstGeom>
          <a:noFill/>
          <a:ln/>
        </p:spPr>
        <p:txBody>
          <a:bodyPr wrap="square" lIns="0" tIns="0" rIns="0" bIns="0" rtlCol="0" anchor="ctr"/>
          <a:lstStyle/>
          <a:p>
            <a:pPr indent="0" marL="0">
              <a:buNone/>
            </a:pPr>
            <a:r>
              <a:rPr lang="en-US" sz="1050" b="1" dirty="0">
                <a:solidFill>
                  <a:srgbClr val="12202E"/>
                </a:solidFill>
                <a:latin typeface="Calibri" pitchFamily="34" charset="0"/>
                <a:ea typeface="Calibri" pitchFamily="34" charset="-122"/>
                <a:cs typeface="Calibri" pitchFamily="34" charset="-120"/>
              </a:rPr>
              <a:t>H-04</a:t>
            </a:r>
            <a:endParaRPr lang="en-US" sz="1050" dirty="0"/>
          </a:p>
        </p:txBody>
      </p:sp>
      <p:sp>
        <p:nvSpPr>
          <p:cNvPr id="24" name="Text 22"/>
          <p:cNvSpPr/>
          <p:nvPr/>
        </p:nvSpPr>
        <p:spPr>
          <a:xfrm>
            <a:off x="1435608" y="3547872"/>
            <a:ext cx="3931920" cy="512064"/>
          </a:xfrm>
          <a:prstGeom prst="rect">
            <a:avLst/>
          </a:prstGeom>
          <a:noFill/>
          <a:ln/>
        </p:spPr>
        <p:txBody>
          <a:bodyPr wrap="square" lIns="0" tIns="0" rIns="0" bIns="0" rtlCol="0" anchor="ctr"/>
          <a:lstStyle/>
          <a:p>
            <a:pPr indent="0" marL="0">
              <a:buNone/>
            </a:pPr>
            <a:r>
              <a:rPr lang="en-US" sz="1100" dirty="0">
                <a:solidFill>
                  <a:srgbClr val="12202E"/>
                </a:solidFill>
                <a:latin typeface="Calibri" pitchFamily="34" charset="0"/>
                <a:ea typeface="Calibri" pitchFamily="34" charset="-122"/>
                <a:cs typeface="Calibri" pitchFamily="34" charset="-120"/>
              </a:rPr>
              <a:t>False alarm during normal healing</a:t>
            </a:r>
            <a:endParaRPr lang="en-US" sz="1100" dirty="0"/>
          </a:p>
        </p:txBody>
      </p:sp>
      <p:sp>
        <p:nvSpPr>
          <p:cNvPr id="25" name="Text 23"/>
          <p:cNvSpPr/>
          <p:nvPr/>
        </p:nvSpPr>
        <p:spPr>
          <a:xfrm>
            <a:off x="5413248" y="3547872"/>
            <a:ext cx="868680" cy="512064"/>
          </a:xfrm>
          <a:prstGeom prst="rect">
            <a:avLst/>
          </a:prstGeom>
          <a:noFill/>
          <a:ln/>
        </p:spPr>
        <p:txBody>
          <a:bodyPr wrap="square" lIns="0" tIns="0" rIns="0" bIns="0" rtlCol="0" anchor="ctr"/>
          <a:lstStyle/>
          <a:p>
            <a:pPr indent="0" marL="0">
              <a:buNone/>
            </a:pPr>
            <a:r>
              <a:rPr lang="en-US" sz="850" dirty="0">
                <a:solidFill>
                  <a:srgbClr val="5D7186"/>
                </a:solidFill>
                <a:latin typeface="Calibri" pitchFamily="34" charset="0"/>
                <a:ea typeface="Calibri" pitchFamily="34" charset="-122"/>
                <a:cs typeface="Calibri" pitchFamily="34" charset="-120"/>
              </a:rPr>
              <a:t>sev 2 · lik 4</a:t>
            </a:r>
            <a:endParaRPr lang="en-US" sz="850" dirty="0"/>
          </a:p>
        </p:txBody>
      </p:sp>
      <p:sp>
        <p:nvSpPr>
          <p:cNvPr id="26" name="Shape 24"/>
          <p:cNvSpPr/>
          <p:nvPr/>
        </p:nvSpPr>
        <p:spPr>
          <a:xfrm>
            <a:off x="6437376" y="3675888"/>
            <a:ext cx="457200" cy="256032"/>
          </a:xfrm>
          <a:prstGeom prst="roundRect">
            <a:avLst>
              <a:gd name="adj" fmla="val 50000"/>
            </a:avLst>
          </a:prstGeom>
          <a:solidFill>
            <a:srgbClr val="9C6D00"/>
          </a:solidFill>
          <a:ln w="12700">
            <a:solidFill>
              <a:srgbClr val="9C6D00"/>
            </a:solidFill>
            <a:prstDash val="solid"/>
          </a:ln>
        </p:spPr>
      </p:sp>
      <p:sp>
        <p:nvSpPr>
          <p:cNvPr id="27" name="Text 25"/>
          <p:cNvSpPr/>
          <p:nvPr/>
        </p:nvSpPr>
        <p:spPr>
          <a:xfrm>
            <a:off x="6437376" y="3675888"/>
            <a:ext cx="45720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8</a:t>
            </a:r>
            <a:endParaRPr lang="en-US" sz="950" dirty="0"/>
          </a:p>
        </p:txBody>
      </p:sp>
      <p:sp>
        <p:nvSpPr>
          <p:cNvPr id="28" name="Shape 26"/>
          <p:cNvSpPr/>
          <p:nvPr/>
        </p:nvSpPr>
        <p:spPr>
          <a:xfrm>
            <a:off x="566928" y="4151376"/>
            <a:ext cx="6492240" cy="512064"/>
          </a:xfrm>
          <a:prstGeom prst="roundRect">
            <a:avLst>
              <a:gd name="adj" fmla="val 10714"/>
            </a:avLst>
          </a:prstGeom>
          <a:solidFill>
            <a:srgbClr val="F5F7FA"/>
          </a:solidFill>
          <a:ln w="12700">
            <a:solidFill>
              <a:srgbClr val="DDE5EE"/>
            </a:solidFill>
            <a:prstDash val="solid"/>
          </a:ln>
        </p:spPr>
      </p:sp>
      <p:sp>
        <p:nvSpPr>
          <p:cNvPr id="29" name="Text 27"/>
          <p:cNvSpPr/>
          <p:nvPr/>
        </p:nvSpPr>
        <p:spPr>
          <a:xfrm>
            <a:off x="749808" y="4151376"/>
            <a:ext cx="640080" cy="512064"/>
          </a:xfrm>
          <a:prstGeom prst="rect">
            <a:avLst/>
          </a:prstGeom>
          <a:noFill/>
          <a:ln/>
        </p:spPr>
        <p:txBody>
          <a:bodyPr wrap="square" lIns="0" tIns="0" rIns="0" bIns="0" rtlCol="0" anchor="ctr"/>
          <a:lstStyle/>
          <a:p>
            <a:pPr indent="0" marL="0">
              <a:buNone/>
            </a:pPr>
            <a:r>
              <a:rPr lang="en-US" sz="1050" b="1" dirty="0">
                <a:solidFill>
                  <a:srgbClr val="12202E"/>
                </a:solidFill>
                <a:latin typeface="Calibri" pitchFamily="34" charset="0"/>
                <a:ea typeface="Calibri" pitchFamily="34" charset="-122"/>
                <a:cs typeface="Calibri" pitchFamily="34" charset="-120"/>
              </a:rPr>
              <a:t>H-06</a:t>
            </a:r>
            <a:endParaRPr lang="en-US" sz="1050" dirty="0"/>
          </a:p>
        </p:txBody>
      </p:sp>
      <p:sp>
        <p:nvSpPr>
          <p:cNvPr id="30" name="Text 28"/>
          <p:cNvSpPr/>
          <p:nvPr/>
        </p:nvSpPr>
        <p:spPr>
          <a:xfrm>
            <a:off x="1435608" y="4151376"/>
            <a:ext cx="3931920" cy="512064"/>
          </a:xfrm>
          <a:prstGeom prst="rect">
            <a:avLst/>
          </a:prstGeom>
          <a:noFill/>
          <a:ln/>
        </p:spPr>
        <p:txBody>
          <a:bodyPr wrap="square" lIns="0" tIns="0" rIns="0" bIns="0" rtlCol="0" anchor="ctr"/>
          <a:lstStyle/>
          <a:p>
            <a:pPr indent="0" marL="0">
              <a:buNone/>
            </a:pPr>
            <a:r>
              <a:rPr lang="en-US" sz="1100" dirty="0">
                <a:solidFill>
                  <a:srgbClr val="12202E"/>
                </a:solidFill>
                <a:latin typeface="Calibri" pitchFamily="34" charset="0"/>
                <a:ea typeface="Calibri" pitchFamily="34" charset="-122"/>
                <a:cs typeface="Calibri" pitchFamily="34" charset="-120"/>
              </a:rPr>
              <a:t>The practice overlooks an alert</a:t>
            </a:r>
            <a:endParaRPr lang="en-US" sz="1100" dirty="0"/>
          </a:p>
        </p:txBody>
      </p:sp>
      <p:sp>
        <p:nvSpPr>
          <p:cNvPr id="31" name="Text 29"/>
          <p:cNvSpPr/>
          <p:nvPr/>
        </p:nvSpPr>
        <p:spPr>
          <a:xfrm>
            <a:off x="5413248" y="4151376"/>
            <a:ext cx="868680" cy="512064"/>
          </a:xfrm>
          <a:prstGeom prst="rect">
            <a:avLst/>
          </a:prstGeom>
          <a:noFill/>
          <a:ln/>
        </p:spPr>
        <p:txBody>
          <a:bodyPr wrap="square" lIns="0" tIns="0" rIns="0" bIns="0" rtlCol="0" anchor="ctr"/>
          <a:lstStyle/>
          <a:p>
            <a:pPr indent="0" marL="0">
              <a:buNone/>
            </a:pPr>
            <a:r>
              <a:rPr lang="en-US" sz="850" dirty="0">
                <a:solidFill>
                  <a:srgbClr val="5D7186"/>
                </a:solidFill>
                <a:latin typeface="Calibri" pitchFamily="34" charset="0"/>
                <a:ea typeface="Calibri" pitchFamily="34" charset="-122"/>
                <a:cs typeface="Calibri" pitchFamily="34" charset="-120"/>
              </a:rPr>
              <a:t>sev 4 · lik 2</a:t>
            </a:r>
            <a:endParaRPr lang="en-US" sz="850" dirty="0"/>
          </a:p>
        </p:txBody>
      </p:sp>
      <p:sp>
        <p:nvSpPr>
          <p:cNvPr id="32" name="Shape 30"/>
          <p:cNvSpPr/>
          <p:nvPr/>
        </p:nvSpPr>
        <p:spPr>
          <a:xfrm>
            <a:off x="6437376" y="4279392"/>
            <a:ext cx="457200" cy="256032"/>
          </a:xfrm>
          <a:prstGeom prst="roundRect">
            <a:avLst>
              <a:gd name="adj" fmla="val 50000"/>
            </a:avLst>
          </a:prstGeom>
          <a:solidFill>
            <a:srgbClr val="9C6D00"/>
          </a:solidFill>
          <a:ln w="12700">
            <a:solidFill>
              <a:srgbClr val="9C6D00"/>
            </a:solidFill>
            <a:prstDash val="solid"/>
          </a:ln>
        </p:spPr>
      </p:sp>
      <p:sp>
        <p:nvSpPr>
          <p:cNvPr id="33" name="Text 31"/>
          <p:cNvSpPr/>
          <p:nvPr/>
        </p:nvSpPr>
        <p:spPr>
          <a:xfrm>
            <a:off x="6437376" y="4279392"/>
            <a:ext cx="45720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8</a:t>
            </a:r>
            <a:endParaRPr lang="en-US" sz="950" dirty="0"/>
          </a:p>
        </p:txBody>
      </p:sp>
      <p:sp>
        <p:nvSpPr>
          <p:cNvPr id="34" name="Shape 32"/>
          <p:cNvSpPr/>
          <p:nvPr/>
        </p:nvSpPr>
        <p:spPr>
          <a:xfrm>
            <a:off x="566928" y="4754880"/>
            <a:ext cx="6492240" cy="512064"/>
          </a:xfrm>
          <a:prstGeom prst="roundRect">
            <a:avLst>
              <a:gd name="adj" fmla="val 10714"/>
            </a:avLst>
          </a:prstGeom>
          <a:solidFill>
            <a:srgbClr val="FFFFFF"/>
          </a:solidFill>
          <a:ln w="12700">
            <a:solidFill>
              <a:srgbClr val="DDE5EE"/>
            </a:solidFill>
            <a:prstDash val="solid"/>
          </a:ln>
        </p:spPr>
      </p:sp>
      <p:sp>
        <p:nvSpPr>
          <p:cNvPr id="35" name="Text 33"/>
          <p:cNvSpPr/>
          <p:nvPr/>
        </p:nvSpPr>
        <p:spPr>
          <a:xfrm>
            <a:off x="749808" y="4754880"/>
            <a:ext cx="640080" cy="512064"/>
          </a:xfrm>
          <a:prstGeom prst="rect">
            <a:avLst/>
          </a:prstGeom>
          <a:noFill/>
          <a:ln/>
        </p:spPr>
        <p:txBody>
          <a:bodyPr wrap="square" lIns="0" tIns="0" rIns="0" bIns="0" rtlCol="0" anchor="ctr"/>
          <a:lstStyle/>
          <a:p>
            <a:pPr indent="0" marL="0">
              <a:buNone/>
            </a:pPr>
            <a:r>
              <a:rPr lang="en-US" sz="1050" b="1" dirty="0">
                <a:solidFill>
                  <a:srgbClr val="12202E"/>
                </a:solidFill>
                <a:latin typeface="Calibri" pitchFamily="34" charset="0"/>
                <a:ea typeface="Calibri" pitchFamily="34" charset="-122"/>
                <a:cs typeface="Calibri" pitchFamily="34" charset="-120"/>
              </a:rPr>
              <a:t>H-05</a:t>
            </a:r>
            <a:endParaRPr lang="en-US" sz="1050" dirty="0"/>
          </a:p>
        </p:txBody>
      </p:sp>
      <p:sp>
        <p:nvSpPr>
          <p:cNvPr id="36" name="Text 34"/>
          <p:cNvSpPr/>
          <p:nvPr/>
        </p:nvSpPr>
        <p:spPr>
          <a:xfrm>
            <a:off x="1435608" y="4754880"/>
            <a:ext cx="3931920" cy="512064"/>
          </a:xfrm>
          <a:prstGeom prst="rect">
            <a:avLst/>
          </a:prstGeom>
          <a:noFill/>
          <a:ln/>
        </p:spPr>
        <p:txBody>
          <a:bodyPr wrap="square" lIns="0" tIns="0" rIns="0" bIns="0" rtlCol="0" anchor="ctr"/>
          <a:lstStyle/>
          <a:p>
            <a:pPr indent="0" marL="0">
              <a:buNone/>
            </a:pPr>
            <a:r>
              <a:rPr lang="en-US" sz="1100" dirty="0">
                <a:solidFill>
                  <a:srgbClr val="12202E"/>
                </a:solidFill>
                <a:latin typeface="Calibri" pitchFamily="34" charset="0"/>
                <a:ea typeface="Calibri" pitchFamily="34" charset="-122"/>
                <a:cs typeface="Calibri" pitchFamily="34" charset="-120"/>
              </a:rPr>
              <a:t>An implausible input is processed</a:t>
            </a:r>
            <a:endParaRPr lang="en-US" sz="1100" dirty="0"/>
          </a:p>
        </p:txBody>
      </p:sp>
      <p:sp>
        <p:nvSpPr>
          <p:cNvPr id="37" name="Text 35"/>
          <p:cNvSpPr/>
          <p:nvPr/>
        </p:nvSpPr>
        <p:spPr>
          <a:xfrm>
            <a:off x="5413248" y="4754880"/>
            <a:ext cx="868680" cy="512064"/>
          </a:xfrm>
          <a:prstGeom prst="rect">
            <a:avLst/>
          </a:prstGeom>
          <a:noFill/>
          <a:ln/>
        </p:spPr>
        <p:txBody>
          <a:bodyPr wrap="square" lIns="0" tIns="0" rIns="0" bIns="0" rtlCol="0" anchor="ctr"/>
          <a:lstStyle/>
          <a:p>
            <a:pPr indent="0" marL="0">
              <a:buNone/>
            </a:pPr>
            <a:r>
              <a:rPr lang="en-US" sz="850" dirty="0">
                <a:solidFill>
                  <a:srgbClr val="5D7186"/>
                </a:solidFill>
                <a:latin typeface="Calibri" pitchFamily="34" charset="0"/>
                <a:ea typeface="Calibri" pitchFamily="34" charset="-122"/>
                <a:cs typeface="Calibri" pitchFamily="34" charset="-120"/>
              </a:rPr>
              <a:t>sev 3 · lik 2</a:t>
            </a:r>
            <a:endParaRPr lang="en-US" sz="850" dirty="0"/>
          </a:p>
        </p:txBody>
      </p:sp>
      <p:sp>
        <p:nvSpPr>
          <p:cNvPr id="38" name="Shape 36"/>
          <p:cNvSpPr/>
          <p:nvPr/>
        </p:nvSpPr>
        <p:spPr>
          <a:xfrm>
            <a:off x="6437376" y="4882896"/>
            <a:ext cx="457200" cy="256032"/>
          </a:xfrm>
          <a:prstGeom prst="roundRect">
            <a:avLst>
              <a:gd name="adj" fmla="val 50000"/>
            </a:avLst>
          </a:prstGeom>
          <a:solidFill>
            <a:srgbClr val="1A7F4B"/>
          </a:solidFill>
          <a:ln w="12700">
            <a:solidFill>
              <a:srgbClr val="1A7F4B"/>
            </a:solidFill>
            <a:prstDash val="solid"/>
          </a:ln>
        </p:spPr>
      </p:sp>
      <p:sp>
        <p:nvSpPr>
          <p:cNvPr id="39" name="Text 37"/>
          <p:cNvSpPr/>
          <p:nvPr/>
        </p:nvSpPr>
        <p:spPr>
          <a:xfrm>
            <a:off x="6437376" y="4882896"/>
            <a:ext cx="45720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6</a:t>
            </a:r>
            <a:endParaRPr lang="en-US" sz="950" dirty="0"/>
          </a:p>
        </p:txBody>
      </p:sp>
      <p:sp>
        <p:nvSpPr>
          <p:cNvPr id="40" name="Text 38"/>
          <p:cNvSpPr/>
          <p:nvPr/>
        </p:nvSpPr>
        <p:spPr>
          <a:xfrm rot="16200000">
            <a:off x="6903720" y="2834640"/>
            <a:ext cx="1097280" cy="274320"/>
          </a:xfrm>
          <a:prstGeom prst="rect">
            <a:avLst/>
          </a:prstGeom>
          <a:noFill/>
          <a:ln/>
        </p:spPr>
        <p:txBody>
          <a:bodyPr wrap="square" lIns="0" tIns="0" rIns="0" bIns="0" rtlCol="0" anchor="ctr"/>
          <a:lstStyle/>
          <a:p>
            <a:pPr algn="r" indent="0" marL="0">
              <a:buNone/>
            </a:pPr>
            <a:r>
              <a:rPr lang="en-US" sz="1000" b="1" dirty="0">
                <a:solidFill>
                  <a:srgbClr val="5D7186"/>
                </a:solidFill>
                <a:latin typeface="Calibri" pitchFamily="34" charset="0"/>
                <a:ea typeface="Calibri" pitchFamily="34" charset="-122"/>
                <a:cs typeface="Calibri" pitchFamily="34" charset="-120"/>
              </a:rPr>
              <a:t>Severity</a:t>
            </a:r>
            <a:endParaRPr lang="en-US" sz="1000" dirty="0"/>
          </a:p>
        </p:txBody>
      </p:sp>
      <p:sp>
        <p:nvSpPr>
          <p:cNvPr id="41" name="Text 39"/>
          <p:cNvSpPr/>
          <p:nvPr/>
        </p:nvSpPr>
        <p:spPr>
          <a:xfrm>
            <a:off x="7818120" y="1737360"/>
            <a:ext cx="292608" cy="566928"/>
          </a:xfrm>
          <a:prstGeom prst="rect">
            <a:avLst/>
          </a:prstGeom>
          <a:noFill/>
          <a:ln/>
        </p:spPr>
        <p:txBody>
          <a:bodyPr wrap="square" lIns="0" tIns="0" rIns="0" bIns="0" rtlCol="0" anchor="ctr"/>
          <a:lstStyle/>
          <a:p>
            <a:pPr algn="r" indent="0" marL="0">
              <a:buNone/>
            </a:pPr>
            <a:r>
              <a:rPr lang="en-US" sz="950" b="1" dirty="0">
                <a:solidFill>
                  <a:srgbClr val="5D7186"/>
                </a:solidFill>
                <a:latin typeface="Calibri" pitchFamily="34" charset="0"/>
                <a:ea typeface="Calibri" pitchFamily="34" charset="-122"/>
                <a:cs typeface="Calibri" pitchFamily="34" charset="-120"/>
              </a:rPr>
              <a:t>5</a:t>
            </a:r>
            <a:endParaRPr lang="en-US" sz="950" dirty="0"/>
          </a:p>
        </p:txBody>
      </p:sp>
      <p:sp>
        <p:nvSpPr>
          <p:cNvPr id="42" name="Shape 40"/>
          <p:cNvSpPr/>
          <p:nvPr/>
        </p:nvSpPr>
        <p:spPr>
          <a:xfrm>
            <a:off x="8202168" y="1737360"/>
            <a:ext cx="566928" cy="530352"/>
          </a:xfrm>
          <a:prstGeom prst="rect">
            <a:avLst/>
          </a:prstGeom>
          <a:solidFill>
            <a:srgbClr val="FBF2DC"/>
          </a:solidFill>
          <a:ln w="25400">
            <a:solidFill>
              <a:srgbClr val="FFFFFF"/>
            </a:solidFill>
            <a:prstDash val="solid"/>
          </a:ln>
        </p:spPr>
      </p:sp>
      <p:sp>
        <p:nvSpPr>
          <p:cNvPr id="43" name="Text 41"/>
          <p:cNvSpPr/>
          <p:nvPr/>
        </p:nvSpPr>
        <p:spPr>
          <a:xfrm>
            <a:off x="8202168" y="1737360"/>
            <a:ext cx="566928" cy="530352"/>
          </a:xfrm>
          <a:prstGeom prst="rect">
            <a:avLst/>
          </a:prstGeom>
          <a:noFill/>
          <a:ln/>
        </p:spPr>
        <p:txBody>
          <a:bodyPr wrap="square" lIns="0" tIns="0" rIns="0" bIns="0" rtlCol="0" anchor="ctr"/>
          <a:lstStyle/>
          <a:p>
            <a:pPr algn="ctr" indent="0" marL="0">
              <a:buNone/>
            </a:pPr>
            <a:r>
              <a:rPr lang="en-US" sz="850" dirty="0">
                <a:solidFill>
                  <a:srgbClr val="667788"/>
                </a:solidFill>
                <a:latin typeface="Calibri" pitchFamily="34" charset="0"/>
                <a:ea typeface="Calibri" pitchFamily="34" charset="-122"/>
                <a:cs typeface="Calibri" pitchFamily="34" charset="-120"/>
              </a:rPr>
              <a:t>5</a:t>
            </a:r>
            <a:endParaRPr lang="en-US" sz="850" dirty="0"/>
          </a:p>
        </p:txBody>
      </p:sp>
      <p:sp>
        <p:nvSpPr>
          <p:cNvPr id="44" name="Shape 42"/>
          <p:cNvSpPr/>
          <p:nvPr/>
        </p:nvSpPr>
        <p:spPr>
          <a:xfrm>
            <a:off x="8805672" y="1737360"/>
            <a:ext cx="566928" cy="530352"/>
          </a:xfrm>
          <a:prstGeom prst="rect">
            <a:avLst/>
          </a:prstGeom>
          <a:solidFill>
            <a:srgbClr val="FCEADB"/>
          </a:solidFill>
          <a:ln w="25400">
            <a:solidFill>
              <a:srgbClr val="FFFFFF"/>
            </a:solidFill>
            <a:prstDash val="solid"/>
          </a:ln>
        </p:spPr>
      </p:sp>
      <p:sp>
        <p:nvSpPr>
          <p:cNvPr id="45" name="Text 43"/>
          <p:cNvSpPr/>
          <p:nvPr/>
        </p:nvSpPr>
        <p:spPr>
          <a:xfrm>
            <a:off x="8805672" y="1737360"/>
            <a:ext cx="566928" cy="530352"/>
          </a:xfrm>
          <a:prstGeom prst="rect">
            <a:avLst/>
          </a:prstGeom>
          <a:noFill/>
          <a:ln/>
        </p:spPr>
        <p:txBody>
          <a:bodyPr wrap="square" lIns="0" tIns="0" rIns="0" bIns="0" rtlCol="0" anchor="ctr"/>
          <a:lstStyle/>
          <a:p>
            <a:pPr algn="ctr" indent="0" marL="0">
              <a:buNone/>
            </a:pPr>
            <a:r>
              <a:rPr lang="en-US" sz="900" b="1" dirty="0">
                <a:solidFill>
                  <a:srgbClr val="12202E"/>
                </a:solidFill>
                <a:latin typeface="Calibri" pitchFamily="34" charset="0"/>
                <a:ea typeface="Calibri" pitchFamily="34" charset="-122"/>
                <a:cs typeface="Calibri" pitchFamily="34" charset="-120"/>
              </a:rPr>
              <a:t>H-02</a:t>
            </a:r>
            <a:endParaRPr lang="en-US" sz="900" dirty="0"/>
          </a:p>
        </p:txBody>
      </p:sp>
      <p:sp>
        <p:nvSpPr>
          <p:cNvPr id="46" name="Shape 44"/>
          <p:cNvSpPr/>
          <p:nvPr/>
        </p:nvSpPr>
        <p:spPr>
          <a:xfrm>
            <a:off x="9409176" y="1737360"/>
            <a:ext cx="566928" cy="530352"/>
          </a:xfrm>
          <a:prstGeom prst="rect">
            <a:avLst/>
          </a:prstGeom>
          <a:solidFill>
            <a:srgbClr val="FBE7E5"/>
          </a:solidFill>
          <a:ln w="25400">
            <a:solidFill>
              <a:srgbClr val="FFFFFF"/>
            </a:solidFill>
            <a:prstDash val="solid"/>
          </a:ln>
        </p:spPr>
      </p:sp>
      <p:sp>
        <p:nvSpPr>
          <p:cNvPr id="47" name="Text 45"/>
          <p:cNvSpPr/>
          <p:nvPr/>
        </p:nvSpPr>
        <p:spPr>
          <a:xfrm>
            <a:off x="9409176" y="1737360"/>
            <a:ext cx="566928" cy="530352"/>
          </a:xfrm>
          <a:prstGeom prst="rect">
            <a:avLst/>
          </a:prstGeom>
          <a:noFill/>
          <a:ln/>
        </p:spPr>
        <p:txBody>
          <a:bodyPr wrap="square" lIns="0" tIns="0" rIns="0" bIns="0" rtlCol="0" anchor="ctr"/>
          <a:lstStyle/>
          <a:p>
            <a:pPr algn="ctr" indent="0" marL="0">
              <a:buNone/>
            </a:pPr>
            <a:r>
              <a:rPr lang="en-US" sz="900" b="1" dirty="0">
                <a:solidFill>
                  <a:srgbClr val="12202E"/>
                </a:solidFill>
                <a:latin typeface="Calibri" pitchFamily="34" charset="0"/>
                <a:ea typeface="Calibri" pitchFamily="34" charset="-122"/>
                <a:cs typeface="Calibri" pitchFamily="34" charset="-120"/>
              </a:rPr>
              <a:t>H-01</a:t>
            </a:r>
            <a:endParaRPr lang="en-US" sz="900" dirty="0"/>
          </a:p>
        </p:txBody>
      </p:sp>
      <p:sp>
        <p:nvSpPr>
          <p:cNvPr id="48" name="Shape 46"/>
          <p:cNvSpPr/>
          <p:nvPr/>
        </p:nvSpPr>
        <p:spPr>
          <a:xfrm>
            <a:off x="10012680" y="1737360"/>
            <a:ext cx="566928" cy="530352"/>
          </a:xfrm>
          <a:prstGeom prst="rect">
            <a:avLst/>
          </a:prstGeom>
          <a:solidFill>
            <a:srgbClr val="FBE7E5"/>
          </a:solidFill>
          <a:ln w="25400">
            <a:solidFill>
              <a:srgbClr val="FFFFFF"/>
            </a:solidFill>
            <a:prstDash val="solid"/>
          </a:ln>
        </p:spPr>
      </p:sp>
      <p:sp>
        <p:nvSpPr>
          <p:cNvPr id="49" name="Text 47"/>
          <p:cNvSpPr/>
          <p:nvPr/>
        </p:nvSpPr>
        <p:spPr>
          <a:xfrm>
            <a:off x="10012680" y="1737360"/>
            <a:ext cx="566928" cy="530352"/>
          </a:xfrm>
          <a:prstGeom prst="rect">
            <a:avLst/>
          </a:prstGeom>
          <a:noFill/>
          <a:ln/>
        </p:spPr>
        <p:txBody>
          <a:bodyPr wrap="square" lIns="0" tIns="0" rIns="0" bIns="0" rtlCol="0" anchor="ctr"/>
          <a:lstStyle/>
          <a:p>
            <a:pPr algn="ctr" indent="0" marL="0">
              <a:buNone/>
            </a:pPr>
            <a:r>
              <a:rPr lang="en-US" sz="850" dirty="0">
                <a:solidFill>
                  <a:srgbClr val="667788"/>
                </a:solidFill>
                <a:latin typeface="Calibri" pitchFamily="34" charset="0"/>
                <a:ea typeface="Calibri" pitchFamily="34" charset="-122"/>
                <a:cs typeface="Calibri" pitchFamily="34" charset="-120"/>
              </a:rPr>
              <a:t>20</a:t>
            </a:r>
            <a:endParaRPr lang="en-US" sz="850" dirty="0"/>
          </a:p>
        </p:txBody>
      </p:sp>
      <p:sp>
        <p:nvSpPr>
          <p:cNvPr id="50" name="Shape 48"/>
          <p:cNvSpPr/>
          <p:nvPr/>
        </p:nvSpPr>
        <p:spPr>
          <a:xfrm>
            <a:off x="10616184" y="1737360"/>
            <a:ext cx="566928" cy="530352"/>
          </a:xfrm>
          <a:prstGeom prst="rect">
            <a:avLst/>
          </a:prstGeom>
          <a:solidFill>
            <a:srgbClr val="FBE7E5"/>
          </a:solidFill>
          <a:ln w="25400">
            <a:solidFill>
              <a:srgbClr val="FFFFFF"/>
            </a:solidFill>
            <a:prstDash val="solid"/>
          </a:ln>
        </p:spPr>
      </p:sp>
      <p:sp>
        <p:nvSpPr>
          <p:cNvPr id="51" name="Text 49"/>
          <p:cNvSpPr/>
          <p:nvPr/>
        </p:nvSpPr>
        <p:spPr>
          <a:xfrm>
            <a:off x="10616184" y="1737360"/>
            <a:ext cx="566928" cy="530352"/>
          </a:xfrm>
          <a:prstGeom prst="rect">
            <a:avLst/>
          </a:prstGeom>
          <a:noFill/>
          <a:ln/>
        </p:spPr>
        <p:txBody>
          <a:bodyPr wrap="square" lIns="0" tIns="0" rIns="0" bIns="0" rtlCol="0" anchor="ctr"/>
          <a:lstStyle/>
          <a:p>
            <a:pPr algn="ctr" indent="0" marL="0">
              <a:buNone/>
            </a:pPr>
            <a:r>
              <a:rPr lang="en-US" sz="850" dirty="0">
                <a:solidFill>
                  <a:srgbClr val="667788"/>
                </a:solidFill>
                <a:latin typeface="Calibri" pitchFamily="34" charset="0"/>
                <a:ea typeface="Calibri" pitchFamily="34" charset="-122"/>
                <a:cs typeface="Calibri" pitchFamily="34" charset="-120"/>
              </a:rPr>
              <a:t>25</a:t>
            </a:r>
            <a:endParaRPr lang="en-US" sz="850" dirty="0"/>
          </a:p>
        </p:txBody>
      </p:sp>
      <p:sp>
        <p:nvSpPr>
          <p:cNvPr id="52" name="Text 50"/>
          <p:cNvSpPr/>
          <p:nvPr/>
        </p:nvSpPr>
        <p:spPr>
          <a:xfrm>
            <a:off x="7818120" y="2304288"/>
            <a:ext cx="292608" cy="566928"/>
          </a:xfrm>
          <a:prstGeom prst="rect">
            <a:avLst/>
          </a:prstGeom>
          <a:noFill/>
          <a:ln/>
        </p:spPr>
        <p:txBody>
          <a:bodyPr wrap="square" lIns="0" tIns="0" rIns="0" bIns="0" rtlCol="0" anchor="ctr"/>
          <a:lstStyle/>
          <a:p>
            <a:pPr algn="r" indent="0" marL="0">
              <a:buNone/>
            </a:pPr>
            <a:r>
              <a:rPr lang="en-US" sz="950" b="1" dirty="0">
                <a:solidFill>
                  <a:srgbClr val="5D7186"/>
                </a:solidFill>
                <a:latin typeface="Calibri" pitchFamily="34" charset="0"/>
                <a:ea typeface="Calibri" pitchFamily="34" charset="-122"/>
                <a:cs typeface="Calibri" pitchFamily="34" charset="-120"/>
              </a:rPr>
              <a:t>4</a:t>
            </a:r>
            <a:endParaRPr lang="en-US" sz="950" dirty="0"/>
          </a:p>
        </p:txBody>
      </p:sp>
      <p:sp>
        <p:nvSpPr>
          <p:cNvPr id="53" name="Shape 51"/>
          <p:cNvSpPr/>
          <p:nvPr/>
        </p:nvSpPr>
        <p:spPr>
          <a:xfrm>
            <a:off x="8202168" y="2304288"/>
            <a:ext cx="566928" cy="530352"/>
          </a:xfrm>
          <a:prstGeom prst="rect">
            <a:avLst/>
          </a:prstGeom>
          <a:solidFill>
            <a:srgbClr val="E8F6EE"/>
          </a:solidFill>
          <a:ln w="25400">
            <a:solidFill>
              <a:srgbClr val="FFFFFF"/>
            </a:solidFill>
            <a:prstDash val="solid"/>
          </a:ln>
        </p:spPr>
      </p:sp>
      <p:sp>
        <p:nvSpPr>
          <p:cNvPr id="54" name="Text 52"/>
          <p:cNvSpPr/>
          <p:nvPr/>
        </p:nvSpPr>
        <p:spPr>
          <a:xfrm>
            <a:off x="8202168" y="2304288"/>
            <a:ext cx="566928" cy="530352"/>
          </a:xfrm>
          <a:prstGeom prst="rect">
            <a:avLst/>
          </a:prstGeom>
          <a:noFill/>
          <a:ln/>
        </p:spPr>
        <p:txBody>
          <a:bodyPr wrap="square" lIns="0" tIns="0" rIns="0" bIns="0" rtlCol="0" anchor="ctr"/>
          <a:lstStyle/>
          <a:p>
            <a:pPr algn="ctr" indent="0" marL="0">
              <a:buNone/>
            </a:pPr>
            <a:r>
              <a:rPr lang="en-US" sz="850" dirty="0">
                <a:solidFill>
                  <a:srgbClr val="667788"/>
                </a:solidFill>
                <a:latin typeface="Calibri" pitchFamily="34" charset="0"/>
                <a:ea typeface="Calibri" pitchFamily="34" charset="-122"/>
                <a:cs typeface="Calibri" pitchFamily="34" charset="-120"/>
              </a:rPr>
              <a:t>4</a:t>
            </a:r>
            <a:endParaRPr lang="en-US" sz="850" dirty="0"/>
          </a:p>
        </p:txBody>
      </p:sp>
      <p:sp>
        <p:nvSpPr>
          <p:cNvPr id="55" name="Shape 53"/>
          <p:cNvSpPr/>
          <p:nvPr/>
        </p:nvSpPr>
        <p:spPr>
          <a:xfrm>
            <a:off x="8805672" y="2304288"/>
            <a:ext cx="566928" cy="530352"/>
          </a:xfrm>
          <a:prstGeom prst="rect">
            <a:avLst/>
          </a:prstGeom>
          <a:solidFill>
            <a:srgbClr val="FBF2DC"/>
          </a:solidFill>
          <a:ln w="25400">
            <a:solidFill>
              <a:srgbClr val="FFFFFF"/>
            </a:solidFill>
            <a:prstDash val="solid"/>
          </a:ln>
        </p:spPr>
      </p:sp>
      <p:sp>
        <p:nvSpPr>
          <p:cNvPr id="56" name="Text 54"/>
          <p:cNvSpPr/>
          <p:nvPr/>
        </p:nvSpPr>
        <p:spPr>
          <a:xfrm>
            <a:off x="8805672" y="2304288"/>
            <a:ext cx="566928" cy="530352"/>
          </a:xfrm>
          <a:prstGeom prst="rect">
            <a:avLst/>
          </a:prstGeom>
          <a:noFill/>
          <a:ln/>
        </p:spPr>
        <p:txBody>
          <a:bodyPr wrap="square" lIns="0" tIns="0" rIns="0" bIns="0" rtlCol="0" anchor="ctr"/>
          <a:lstStyle/>
          <a:p>
            <a:pPr algn="ctr" indent="0" marL="0">
              <a:buNone/>
            </a:pPr>
            <a:r>
              <a:rPr lang="en-US" sz="900" b="1" dirty="0">
                <a:solidFill>
                  <a:srgbClr val="12202E"/>
                </a:solidFill>
                <a:latin typeface="Calibri" pitchFamily="34" charset="0"/>
                <a:ea typeface="Calibri" pitchFamily="34" charset="-122"/>
                <a:cs typeface="Calibri" pitchFamily="34" charset="-120"/>
              </a:rPr>
              <a:t>H-06</a:t>
            </a:r>
            <a:endParaRPr lang="en-US" sz="900" dirty="0"/>
          </a:p>
        </p:txBody>
      </p:sp>
      <p:sp>
        <p:nvSpPr>
          <p:cNvPr id="57" name="Shape 55"/>
          <p:cNvSpPr/>
          <p:nvPr/>
        </p:nvSpPr>
        <p:spPr>
          <a:xfrm>
            <a:off x="9409176" y="2304288"/>
            <a:ext cx="566928" cy="530352"/>
          </a:xfrm>
          <a:prstGeom prst="rect">
            <a:avLst/>
          </a:prstGeom>
          <a:solidFill>
            <a:srgbClr val="FCEADB"/>
          </a:solidFill>
          <a:ln w="25400">
            <a:solidFill>
              <a:srgbClr val="FFFFFF"/>
            </a:solidFill>
            <a:prstDash val="solid"/>
          </a:ln>
        </p:spPr>
      </p:sp>
      <p:sp>
        <p:nvSpPr>
          <p:cNvPr id="58" name="Text 56"/>
          <p:cNvSpPr/>
          <p:nvPr/>
        </p:nvSpPr>
        <p:spPr>
          <a:xfrm>
            <a:off x="9409176" y="2304288"/>
            <a:ext cx="566928" cy="530352"/>
          </a:xfrm>
          <a:prstGeom prst="rect">
            <a:avLst/>
          </a:prstGeom>
          <a:noFill/>
          <a:ln/>
        </p:spPr>
        <p:txBody>
          <a:bodyPr wrap="square" lIns="0" tIns="0" rIns="0" bIns="0" rtlCol="0" anchor="ctr"/>
          <a:lstStyle/>
          <a:p>
            <a:pPr algn="ctr" indent="0" marL="0">
              <a:buNone/>
            </a:pPr>
            <a:r>
              <a:rPr lang="en-US" sz="850" dirty="0">
                <a:solidFill>
                  <a:srgbClr val="667788"/>
                </a:solidFill>
                <a:latin typeface="Calibri" pitchFamily="34" charset="0"/>
                <a:ea typeface="Calibri" pitchFamily="34" charset="-122"/>
                <a:cs typeface="Calibri" pitchFamily="34" charset="-120"/>
              </a:rPr>
              <a:t>12</a:t>
            </a:r>
            <a:endParaRPr lang="en-US" sz="850" dirty="0"/>
          </a:p>
        </p:txBody>
      </p:sp>
      <p:sp>
        <p:nvSpPr>
          <p:cNvPr id="59" name="Shape 57"/>
          <p:cNvSpPr/>
          <p:nvPr/>
        </p:nvSpPr>
        <p:spPr>
          <a:xfrm>
            <a:off x="10012680" y="2304288"/>
            <a:ext cx="566928" cy="530352"/>
          </a:xfrm>
          <a:prstGeom prst="rect">
            <a:avLst/>
          </a:prstGeom>
          <a:solidFill>
            <a:srgbClr val="FBE7E5"/>
          </a:solidFill>
          <a:ln w="25400">
            <a:solidFill>
              <a:srgbClr val="FFFFFF"/>
            </a:solidFill>
            <a:prstDash val="solid"/>
          </a:ln>
        </p:spPr>
      </p:sp>
      <p:sp>
        <p:nvSpPr>
          <p:cNvPr id="60" name="Text 58"/>
          <p:cNvSpPr/>
          <p:nvPr/>
        </p:nvSpPr>
        <p:spPr>
          <a:xfrm>
            <a:off x="10012680" y="2304288"/>
            <a:ext cx="566928" cy="530352"/>
          </a:xfrm>
          <a:prstGeom prst="rect">
            <a:avLst/>
          </a:prstGeom>
          <a:noFill/>
          <a:ln/>
        </p:spPr>
        <p:txBody>
          <a:bodyPr wrap="square" lIns="0" tIns="0" rIns="0" bIns="0" rtlCol="0" anchor="ctr"/>
          <a:lstStyle/>
          <a:p>
            <a:pPr algn="ctr" indent="0" marL="0">
              <a:buNone/>
            </a:pPr>
            <a:r>
              <a:rPr lang="en-US" sz="850" dirty="0">
                <a:solidFill>
                  <a:srgbClr val="667788"/>
                </a:solidFill>
                <a:latin typeface="Calibri" pitchFamily="34" charset="0"/>
                <a:ea typeface="Calibri" pitchFamily="34" charset="-122"/>
                <a:cs typeface="Calibri" pitchFamily="34" charset="-120"/>
              </a:rPr>
              <a:t>16</a:t>
            </a:r>
            <a:endParaRPr lang="en-US" sz="850" dirty="0"/>
          </a:p>
        </p:txBody>
      </p:sp>
      <p:sp>
        <p:nvSpPr>
          <p:cNvPr id="61" name="Shape 59"/>
          <p:cNvSpPr/>
          <p:nvPr/>
        </p:nvSpPr>
        <p:spPr>
          <a:xfrm>
            <a:off x="10616184" y="2304288"/>
            <a:ext cx="566928" cy="530352"/>
          </a:xfrm>
          <a:prstGeom prst="rect">
            <a:avLst/>
          </a:prstGeom>
          <a:solidFill>
            <a:srgbClr val="FBE7E5"/>
          </a:solidFill>
          <a:ln w="25400">
            <a:solidFill>
              <a:srgbClr val="FFFFFF"/>
            </a:solidFill>
            <a:prstDash val="solid"/>
          </a:ln>
        </p:spPr>
      </p:sp>
      <p:sp>
        <p:nvSpPr>
          <p:cNvPr id="62" name="Text 60"/>
          <p:cNvSpPr/>
          <p:nvPr/>
        </p:nvSpPr>
        <p:spPr>
          <a:xfrm>
            <a:off x="10616184" y="2304288"/>
            <a:ext cx="566928" cy="530352"/>
          </a:xfrm>
          <a:prstGeom prst="rect">
            <a:avLst/>
          </a:prstGeom>
          <a:noFill/>
          <a:ln/>
        </p:spPr>
        <p:txBody>
          <a:bodyPr wrap="square" lIns="0" tIns="0" rIns="0" bIns="0" rtlCol="0" anchor="ctr"/>
          <a:lstStyle/>
          <a:p>
            <a:pPr algn="ctr" indent="0" marL="0">
              <a:buNone/>
            </a:pPr>
            <a:r>
              <a:rPr lang="en-US" sz="850" dirty="0">
                <a:solidFill>
                  <a:srgbClr val="667788"/>
                </a:solidFill>
                <a:latin typeface="Calibri" pitchFamily="34" charset="0"/>
                <a:ea typeface="Calibri" pitchFamily="34" charset="-122"/>
                <a:cs typeface="Calibri" pitchFamily="34" charset="-120"/>
              </a:rPr>
              <a:t>20</a:t>
            </a:r>
            <a:endParaRPr lang="en-US" sz="850" dirty="0"/>
          </a:p>
        </p:txBody>
      </p:sp>
      <p:sp>
        <p:nvSpPr>
          <p:cNvPr id="63" name="Text 61"/>
          <p:cNvSpPr/>
          <p:nvPr/>
        </p:nvSpPr>
        <p:spPr>
          <a:xfrm>
            <a:off x="7818120" y="2871216"/>
            <a:ext cx="292608" cy="566928"/>
          </a:xfrm>
          <a:prstGeom prst="rect">
            <a:avLst/>
          </a:prstGeom>
          <a:noFill/>
          <a:ln/>
        </p:spPr>
        <p:txBody>
          <a:bodyPr wrap="square" lIns="0" tIns="0" rIns="0" bIns="0" rtlCol="0" anchor="ctr"/>
          <a:lstStyle/>
          <a:p>
            <a:pPr algn="r" indent="0" marL="0">
              <a:buNone/>
            </a:pPr>
            <a:r>
              <a:rPr lang="en-US" sz="950" b="1" dirty="0">
                <a:solidFill>
                  <a:srgbClr val="5D7186"/>
                </a:solidFill>
                <a:latin typeface="Calibri" pitchFamily="34" charset="0"/>
                <a:ea typeface="Calibri" pitchFamily="34" charset="-122"/>
                <a:cs typeface="Calibri" pitchFamily="34" charset="-120"/>
              </a:rPr>
              <a:t>3</a:t>
            </a:r>
            <a:endParaRPr lang="en-US" sz="950" dirty="0"/>
          </a:p>
        </p:txBody>
      </p:sp>
      <p:sp>
        <p:nvSpPr>
          <p:cNvPr id="64" name="Shape 62"/>
          <p:cNvSpPr/>
          <p:nvPr/>
        </p:nvSpPr>
        <p:spPr>
          <a:xfrm>
            <a:off x="8202168" y="2871216"/>
            <a:ext cx="566928" cy="530352"/>
          </a:xfrm>
          <a:prstGeom prst="rect">
            <a:avLst/>
          </a:prstGeom>
          <a:solidFill>
            <a:srgbClr val="E8F6EE"/>
          </a:solidFill>
          <a:ln w="25400">
            <a:solidFill>
              <a:srgbClr val="FFFFFF"/>
            </a:solidFill>
            <a:prstDash val="solid"/>
          </a:ln>
        </p:spPr>
      </p:sp>
      <p:sp>
        <p:nvSpPr>
          <p:cNvPr id="65" name="Text 63"/>
          <p:cNvSpPr/>
          <p:nvPr/>
        </p:nvSpPr>
        <p:spPr>
          <a:xfrm>
            <a:off x="8202168" y="2871216"/>
            <a:ext cx="566928" cy="530352"/>
          </a:xfrm>
          <a:prstGeom prst="rect">
            <a:avLst/>
          </a:prstGeom>
          <a:noFill/>
          <a:ln/>
        </p:spPr>
        <p:txBody>
          <a:bodyPr wrap="square" lIns="0" tIns="0" rIns="0" bIns="0" rtlCol="0" anchor="ctr"/>
          <a:lstStyle/>
          <a:p>
            <a:pPr algn="ctr" indent="0" marL="0">
              <a:buNone/>
            </a:pPr>
            <a:r>
              <a:rPr lang="en-US" sz="850" dirty="0">
                <a:solidFill>
                  <a:srgbClr val="667788"/>
                </a:solidFill>
                <a:latin typeface="Calibri" pitchFamily="34" charset="0"/>
                <a:ea typeface="Calibri" pitchFamily="34" charset="-122"/>
                <a:cs typeface="Calibri" pitchFamily="34" charset="-120"/>
              </a:rPr>
              <a:t>3</a:t>
            </a:r>
            <a:endParaRPr lang="en-US" sz="850" dirty="0"/>
          </a:p>
        </p:txBody>
      </p:sp>
      <p:sp>
        <p:nvSpPr>
          <p:cNvPr id="66" name="Shape 64"/>
          <p:cNvSpPr/>
          <p:nvPr/>
        </p:nvSpPr>
        <p:spPr>
          <a:xfrm>
            <a:off x="8805672" y="2871216"/>
            <a:ext cx="566928" cy="530352"/>
          </a:xfrm>
          <a:prstGeom prst="rect">
            <a:avLst/>
          </a:prstGeom>
          <a:solidFill>
            <a:srgbClr val="FBF2DC"/>
          </a:solidFill>
          <a:ln w="25400">
            <a:solidFill>
              <a:srgbClr val="FFFFFF"/>
            </a:solidFill>
            <a:prstDash val="solid"/>
          </a:ln>
        </p:spPr>
      </p:sp>
      <p:sp>
        <p:nvSpPr>
          <p:cNvPr id="67" name="Text 65"/>
          <p:cNvSpPr/>
          <p:nvPr/>
        </p:nvSpPr>
        <p:spPr>
          <a:xfrm>
            <a:off x="8805672" y="2871216"/>
            <a:ext cx="566928" cy="530352"/>
          </a:xfrm>
          <a:prstGeom prst="rect">
            <a:avLst/>
          </a:prstGeom>
          <a:noFill/>
          <a:ln/>
        </p:spPr>
        <p:txBody>
          <a:bodyPr wrap="square" lIns="0" tIns="0" rIns="0" bIns="0" rtlCol="0" anchor="ctr"/>
          <a:lstStyle/>
          <a:p>
            <a:pPr algn="ctr" indent="0" marL="0">
              <a:buNone/>
            </a:pPr>
            <a:r>
              <a:rPr lang="en-US" sz="900" b="1" dirty="0">
                <a:solidFill>
                  <a:srgbClr val="12202E"/>
                </a:solidFill>
                <a:latin typeface="Calibri" pitchFamily="34" charset="0"/>
                <a:ea typeface="Calibri" pitchFamily="34" charset="-122"/>
                <a:cs typeface="Calibri" pitchFamily="34" charset="-120"/>
              </a:rPr>
              <a:t>H-05</a:t>
            </a:r>
            <a:endParaRPr lang="en-US" sz="900" dirty="0"/>
          </a:p>
        </p:txBody>
      </p:sp>
      <p:sp>
        <p:nvSpPr>
          <p:cNvPr id="68" name="Shape 66"/>
          <p:cNvSpPr/>
          <p:nvPr/>
        </p:nvSpPr>
        <p:spPr>
          <a:xfrm>
            <a:off x="9409176" y="2871216"/>
            <a:ext cx="566928" cy="530352"/>
          </a:xfrm>
          <a:prstGeom prst="rect">
            <a:avLst/>
          </a:prstGeom>
          <a:solidFill>
            <a:srgbClr val="FCEADB"/>
          </a:solidFill>
          <a:ln w="25400">
            <a:solidFill>
              <a:srgbClr val="FFFFFF"/>
            </a:solidFill>
            <a:prstDash val="solid"/>
          </a:ln>
        </p:spPr>
      </p:sp>
      <p:sp>
        <p:nvSpPr>
          <p:cNvPr id="69" name="Text 67"/>
          <p:cNvSpPr/>
          <p:nvPr/>
        </p:nvSpPr>
        <p:spPr>
          <a:xfrm>
            <a:off x="9409176" y="2871216"/>
            <a:ext cx="566928" cy="530352"/>
          </a:xfrm>
          <a:prstGeom prst="rect">
            <a:avLst/>
          </a:prstGeom>
          <a:noFill/>
          <a:ln/>
        </p:spPr>
        <p:txBody>
          <a:bodyPr wrap="square" lIns="0" tIns="0" rIns="0" bIns="0" rtlCol="0" anchor="ctr"/>
          <a:lstStyle/>
          <a:p>
            <a:pPr algn="ctr" indent="0" marL="0">
              <a:buNone/>
            </a:pPr>
            <a:r>
              <a:rPr lang="en-US" sz="900" b="1" dirty="0">
                <a:solidFill>
                  <a:srgbClr val="12202E"/>
                </a:solidFill>
                <a:latin typeface="Calibri" pitchFamily="34" charset="0"/>
                <a:ea typeface="Calibri" pitchFamily="34" charset="-122"/>
                <a:cs typeface="Calibri" pitchFamily="34" charset="-120"/>
              </a:rPr>
              <a:t>H-03</a:t>
            </a:r>
            <a:endParaRPr lang="en-US" sz="900" dirty="0"/>
          </a:p>
        </p:txBody>
      </p:sp>
      <p:sp>
        <p:nvSpPr>
          <p:cNvPr id="70" name="Shape 68"/>
          <p:cNvSpPr/>
          <p:nvPr/>
        </p:nvSpPr>
        <p:spPr>
          <a:xfrm>
            <a:off x="10012680" y="2871216"/>
            <a:ext cx="566928" cy="530352"/>
          </a:xfrm>
          <a:prstGeom prst="rect">
            <a:avLst/>
          </a:prstGeom>
          <a:solidFill>
            <a:srgbClr val="FCEADB"/>
          </a:solidFill>
          <a:ln w="25400">
            <a:solidFill>
              <a:srgbClr val="FFFFFF"/>
            </a:solidFill>
            <a:prstDash val="solid"/>
          </a:ln>
        </p:spPr>
      </p:sp>
      <p:sp>
        <p:nvSpPr>
          <p:cNvPr id="71" name="Text 69"/>
          <p:cNvSpPr/>
          <p:nvPr/>
        </p:nvSpPr>
        <p:spPr>
          <a:xfrm>
            <a:off x="10012680" y="2871216"/>
            <a:ext cx="566928" cy="530352"/>
          </a:xfrm>
          <a:prstGeom prst="rect">
            <a:avLst/>
          </a:prstGeom>
          <a:noFill/>
          <a:ln/>
        </p:spPr>
        <p:txBody>
          <a:bodyPr wrap="square" lIns="0" tIns="0" rIns="0" bIns="0" rtlCol="0" anchor="ctr"/>
          <a:lstStyle/>
          <a:p>
            <a:pPr algn="ctr" indent="0" marL="0">
              <a:buNone/>
            </a:pPr>
            <a:r>
              <a:rPr lang="en-US" sz="850" dirty="0">
                <a:solidFill>
                  <a:srgbClr val="667788"/>
                </a:solidFill>
                <a:latin typeface="Calibri" pitchFamily="34" charset="0"/>
                <a:ea typeface="Calibri" pitchFamily="34" charset="-122"/>
                <a:cs typeface="Calibri" pitchFamily="34" charset="-120"/>
              </a:rPr>
              <a:t>12</a:t>
            </a:r>
            <a:endParaRPr lang="en-US" sz="850" dirty="0"/>
          </a:p>
        </p:txBody>
      </p:sp>
      <p:sp>
        <p:nvSpPr>
          <p:cNvPr id="72" name="Shape 70"/>
          <p:cNvSpPr/>
          <p:nvPr/>
        </p:nvSpPr>
        <p:spPr>
          <a:xfrm>
            <a:off x="10616184" y="2871216"/>
            <a:ext cx="566928" cy="530352"/>
          </a:xfrm>
          <a:prstGeom prst="rect">
            <a:avLst/>
          </a:prstGeom>
          <a:solidFill>
            <a:srgbClr val="FBE7E5"/>
          </a:solidFill>
          <a:ln w="25400">
            <a:solidFill>
              <a:srgbClr val="FFFFFF"/>
            </a:solidFill>
            <a:prstDash val="solid"/>
          </a:ln>
        </p:spPr>
      </p:sp>
      <p:sp>
        <p:nvSpPr>
          <p:cNvPr id="73" name="Text 71"/>
          <p:cNvSpPr/>
          <p:nvPr/>
        </p:nvSpPr>
        <p:spPr>
          <a:xfrm>
            <a:off x="10616184" y="2871216"/>
            <a:ext cx="566928" cy="530352"/>
          </a:xfrm>
          <a:prstGeom prst="rect">
            <a:avLst/>
          </a:prstGeom>
          <a:noFill/>
          <a:ln/>
        </p:spPr>
        <p:txBody>
          <a:bodyPr wrap="square" lIns="0" tIns="0" rIns="0" bIns="0" rtlCol="0" anchor="ctr"/>
          <a:lstStyle/>
          <a:p>
            <a:pPr algn="ctr" indent="0" marL="0">
              <a:buNone/>
            </a:pPr>
            <a:r>
              <a:rPr lang="en-US" sz="850" dirty="0">
                <a:solidFill>
                  <a:srgbClr val="667788"/>
                </a:solidFill>
                <a:latin typeface="Calibri" pitchFamily="34" charset="0"/>
                <a:ea typeface="Calibri" pitchFamily="34" charset="-122"/>
                <a:cs typeface="Calibri" pitchFamily="34" charset="-120"/>
              </a:rPr>
              <a:t>15</a:t>
            </a:r>
            <a:endParaRPr lang="en-US" sz="850" dirty="0"/>
          </a:p>
        </p:txBody>
      </p:sp>
      <p:sp>
        <p:nvSpPr>
          <p:cNvPr id="74" name="Text 72"/>
          <p:cNvSpPr/>
          <p:nvPr/>
        </p:nvSpPr>
        <p:spPr>
          <a:xfrm>
            <a:off x="7818120" y="3438144"/>
            <a:ext cx="292608" cy="566928"/>
          </a:xfrm>
          <a:prstGeom prst="rect">
            <a:avLst/>
          </a:prstGeom>
          <a:noFill/>
          <a:ln/>
        </p:spPr>
        <p:txBody>
          <a:bodyPr wrap="square" lIns="0" tIns="0" rIns="0" bIns="0" rtlCol="0" anchor="ctr"/>
          <a:lstStyle/>
          <a:p>
            <a:pPr algn="r" indent="0" marL="0">
              <a:buNone/>
            </a:pPr>
            <a:r>
              <a:rPr lang="en-US" sz="950" b="1" dirty="0">
                <a:solidFill>
                  <a:srgbClr val="5D7186"/>
                </a:solidFill>
                <a:latin typeface="Calibri" pitchFamily="34" charset="0"/>
                <a:ea typeface="Calibri" pitchFamily="34" charset="-122"/>
                <a:cs typeface="Calibri" pitchFamily="34" charset="-120"/>
              </a:rPr>
              <a:t>2</a:t>
            </a:r>
            <a:endParaRPr lang="en-US" sz="950" dirty="0"/>
          </a:p>
        </p:txBody>
      </p:sp>
      <p:sp>
        <p:nvSpPr>
          <p:cNvPr id="75" name="Shape 73"/>
          <p:cNvSpPr/>
          <p:nvPr/>
        </p:nvSpPr>
        <p:spPr>
          <a:xfrm>
            <a:off x="8202168" y="3438144"/>
            <a:ext cx="566928" cy="530352"/>
          </a:xfrm>
          <a:prstGeom prst="rect">
            <a:avLst/>
          </a:prstGeom>
          <a:solidFill>
            <a:srgbClr val="E8F6EE"/>
          </a:solidFill>
          <a:ln w="25400">
            <a:solidFill>
              <a:srgbClr val="FFFFFF"/>
            </a:solidFill>
            <a:prstDash val="solid"/>
          </a:ln>
        </p:spPr>
      </p:sp>
      <p:sp>
        <p:nvSpPr>
          <p:cNvPr id="76" name="Text 74"/>
          <p:cNvSpPr/>
          <p:nvPr/>
        </p:nvSpPr>
        <p:spPr>
          <a:xfrm>
            <a:off x="8202168" y="3438144"/>
            <a:ext cx="566928" cy="530352"/>
          </a:xfrm>
          <a:prstGeom prst="rect">
            <a:avLst/>
          </a:prstGeom>
          <a:noFill/>
          <a:ln/>
        </p:spPr>
        <p:txBody>
          <a:bodyPr wrap="square" lIns="0" tIns="0" rIns="0" bIns="0" rtlCol="0" anchor="ctr"/>
          <a:lstStyle/>
          <a:p>
            <a:pPr algn="ctr" indent="0" marL="0">
              <a:buNone/>
            </a:pPr>
            <a:r>
              <a:rPr lang="en-US" sz="850" dirty="0">
                <a:solidFill>
                  <a:srgbClr val="667788"/>
                </a:solidFill>
                <a:latin typeface="Calibri" pitchFamily="34" charset="0"/>
                <a:ea typeface="Calibri" pitchFamily="34" charset="-122"/>
                <a:cs typeface="Calibri" pitchFamily="34" charset="-120"/>
              </a:rPr>
              <a:t>2</a:t>
            </a:r>
            <a:endParaRPr lang="en-US" sz="850" dirty="0"/>
          </a:p>
        </p:txBody>
      </p:sp>
      <p:sp>
        <p:nvSpPr>
          <p:cNvPr id="77" name="Shape 75"/>
          <p:cNvSpPr/>
          <p:nvPr/>
        </p:nvSpPr>
        <p:spPr>
          <a:xfrm>
            <a:off x="8805672" y="3438144"/>
            <a:ext cx="566928" cy="530352"/>
          </a:xfrm>
          <a:prstGeom prst="rect">
            <a:avLst/>
          </a:prstGeom>
          <a:solidFill>
            <a:srgbClr val="E8F6EE"/>
          </a:solidFill>
          <a:ln w="25400">
            <a:solidFill>
              <a:srgbClr val="FFFFFF"/>
            </a:solidFill>
            <a:prstDash val="solid"/>
          </a:ln>
        </p:spPr>
      </p:sp>
      <p:sp>
        <p:nvSpPr>
          <p:cNvPr id="78" name="Text 76"/>
          <p:cNvSpPr/>
          <p:nvPr/>
        </p:nvSpPr>
        <p:spPr>
          <a:xfrm>
            <a:off x="8805672" y="3438144"/>
            <a:ext cx="566928" cy="530352"/>
          </a:xfrm>
          <a:prstGeom prst="rect">
            <a:avLst/>
          </a:prstGeom>
          <a:noFill/>
          <a:ln/>
        </p:spPr>
        <p:txBody>
          <a:bodyPr wrap="square" lIns="0" tIns="0" rIns="0" bIns="0" rtlCol="0" anchor="ctr"/>
          <a:lstStyle/>
          <a:p>
            <a:pPr algn="ctr" indent="0" marL="0">
              <a:buNone/>
            </a:pPr>
            <a:r>
              <a:rPr lang="en-US" sz="850" dirty="0">
                <a:solidFill>
                  <a:srgbClr val="667788"/>
                </a:solidFill>
                <a:latin typeface="Calibri" pitchFamily="34" charset="0"/>
                <a:ea typeface="Calibri" pitchFamily="34" charset="-122"/>
                <a:cs typeface="Calibri" pitchFamily="34" charset="-120"/>
              </a:rPr>
              <a:t>4</a:t>
            </a:r>
            <a:endParaRPr lang="en-US" sz="850" dirty="0"/>
          </a:p>
        </p:txBody>
      </p:sp>
      <p:sp>
        <p:nvSpPr>
          <p:cNvPr id="79" name="Shape 77"/>
          <p:cNvSpPr/>
          <p:nvPr/>
        </p:nvSpPr>
        <p:spPr>
          <a:xfrm>
            <a:off x="9409176" y="3438144"/>
            <a:ext cx="566928" cy="530352"/>
          </a:xfrm>
          <a:prstGeom prst="rect">
            <a:avLst/>
          </a:prstGeom>
          <a:solidFill>
            <a:srgbClr val="FBF2DC"/>
          </a:solidFill>
          <a:ln w="25400">
            <a:solidFill>
              <a:srgbClr val="FFFFFF"/>
            </a:solidFill>
            <a:prstDash val="solid"/>
          </a:ln>
        </p:spPr>
      </p:sp>
      <p:sp>
        <p:nvSpPr>
          <p:cNvPr id="80" name="Text 78"/>
          <p:cNvSpPr/>
          <p:nvPr/>
        </p:nvSpPr>
        <p:spPr>
          <a:xfrm>
            <a:off x="9409176" y="3438144"/>
            <a:ext cx="566928" cy="530352"/>
          </a:xfrm>
          <a:prstGeom prst="rect">
            <a:avLst/>
          </a:prstGeom>
          <a:noFill/>
          <a:ln/>
        </p:spPr>
        <p:txBody>
          <a:bodyPr wrap="square" lIns="0" tIns="0" rIns="0" bIns="0" rtlCol="0" anchor="ctr"/>
          <a:lstStyle/>
          <a:p>
            <a:pPr algn="ctr" indent="0" marL="0">
              <a:buNone/>
            </a:pPr>
            <a:r>
              <a:rPr lang="en-US" sz="850" dirty="0">
                <a:solidFill>
                  <a:srgbClr val="667788"/>
                </a:solidFill>
                <a:latin typeface="Calibri" pitchFamily="34" charset="0"/>
                <a:ea typeface="Calibri" pitchFamily="34" charset="-122"/>
                <a:cs typeface="Calibri" pitchFamily="34" charset="-120"/>
              </a:rPr>
              <a:t>6</a:t>
            </a:r>
            <a:endParaRPr lang="en-US" sz="850" dirty="0"/>
          </a:p>
        </p:txBody>
      </p:sp>
      <p:sp>
        <p:nvSpPr>
          <p:cNvPr id="81" name="Shape 79"/>
          <p:cNvSpPr/>
          <p:nvPr/>
        </p:nvSpPr>
        <p:spPr>
          <a:xfrm>
            <a:off x="10012680" y="3438144"/>
            <a:ext cx="566928" cy="530352"/>
          </a:xfrm>
          <a:prstGeom prst="rect">
            <a:avLst/>
          </a:prstGeom>
          <a:solidFill>
            <a:srgbClr val="FBF2DC"/>
          </a:solidFill>
          <a:ln w="25400">
            <a:solidFill>
              <a:srgbClr val="FFFFFF"/>
            </a:solidFill>
            <a:prstDash val="solid"/>
          </a:ln>
        </p:spPr>
      </p:sp>
      <p:sp>
        <p:nvSpPr>
          <p:cNvPr id="82" name="Text 80"/>
          <p:cNvSpPr/>
          <p:nvPr/>
        </p:nvSpPr>
        <p:spPr>
          <a:xfrm>
            <a:off x="10012680" y="3438144"/>
            <a:ext cx="566928" cy="530352"/>
          </a:xfrm>
          <a:prstGeom prst="rect">
            <a:avLst/>
          </a:prstGeom>
          <a:noFill/>
          <a:ln/>
        </p:spPr>
        <p:txBody>
          <a:bodyPr wrap="square" lIns="0" tIns="0" rIns="0" bIns="0" rtlCol="0" anchor="ctr"/>
          <a:lstStyle/>
          <a:p>
            <a:pPr algn="ctr" indent="0" marL="0">
              <a:buNone/>
            </a:pPr>
            <a:r>
              <a:rPr lang="en-US" sz="900" b="1" dirty="0">
                <a:solidFill>
                  <a:srgbClr val="12202E"/>
                </a:solidFill>
                <a:latin typeface="Calibri" pitchFamily="34" charset="0"/>
                <a:ea typeface="Calibri" pitchFamily="34" charset="-122"/>
                <a:cs typeface="Calibri" pitchFamily="34" charset="-120"/>
              </a:rPr>
              <a:t>H-04</a:t>
            </a:r>
            <a:endParaRPr lang="en-US" sz="900" dirty="0"/>
          </a:p>
        </p:txBody>
      </p:sp>
      <p:sp>
        <p:nvSpPr>
          <p:cNvPr id="83" name="Shape 81"/>
          <p:cNvSpPr/>
          <p:nvPr/>
        </p:nvSpPr>
        <p:spPr>
          <a:xfrm>
            <a:off x="10616184" y="3438144"/>
            <a:ext cx="566928" cy="530352"/>
          </a:xfrm>
          <a:prstGeom prst="rect">
            <a:avLst/>
          </a:prstGeom>
          <a:solidFill>
            <a:srgbClr val="FCEADB"/>
          </a:solidFill>
          <a:ln w="25400">
            <a:solidFill>
              <a:srgbClr val="FFFFFF"/>
            </a:solidFill>
            <a:prstDash val="solid"/>
          </a:ln>
        </p:spPr>
      </p:sp>
      <p:sp>
        <p:nvSpPr>
          <p:cNvPr id="84" name="Text 82"/>
          <p:cNvSpPr/>
          <p:nvPr/>
        </p:nvSpPr>
        <p:spPr>
          <a:xfrm>
            <a:off x="10616184" y="3438144"/>
            <a:ext cx="566928" cy="530352"/>
          </a:xfrm>
          <a:prstGeom prst="rect">
            <a:avLst/>
          </a:prstGeom>
          <a:noFill/>
          <a:ln/>
        </p:spPr>
        <p:txBody>
          <a:bodyPr wrap="square" lIns="0" tIns="0" rIns="0" bIns="0" rtlCol="0" anchor="ctr"/>
          <a:lstStyle/>
          <a:p>
            <a:pPr algn="ctr" indent="0" marL="0">
              <a:buNone/>
            </a:pPr>
            <a:r>
              <a:rPr lang="en-US" sz="850" dirty="0">
                <a:solidFill>
                  <a:srgbClr val="667788"/>
                </a:solidFill>
                <a:latin typeface="Calibri" pitchFamily="34" charset="0"/>
                <a:ea typeface="Calibri" pitchFamily="34" charset="-122"/>
                <a:cs typeface="Calibri" pitchFamily="34" charset="-120"/>
              </a:rPr>
              <a:t>10</a:t>
            </a:r>
            <a:endParaRPr lang="en-US" sz="850" dirty="0"/>
          </a:p>
        </p:txBody>
      </p:sp>
      <p:sp>
        <p:nvSpPr>
          <p:cNvPr id="85" name="Text 83"/>
          <p:cNvSpPr/>
          <p:nvPr/>
        </p:nvSpPr>
        <p:spPr>
          <a:xfrm>
            <a:off x="7818120" y="4005072"/>
            <a:ext cx="292608" cy="566928"/>
          </a:xfrm>
          <a:prstGeom prst="rect">
            <a:avLst/>
          </a:prstGeom>
          <a:noFill/>
          <a:ln/>
        </p:spPr>
        <p:txBody>
          <a:bodyPr wrap="square" lIns="0" tIns="0" rIns="0" bIns="0" rtlCol="0" anchor="ctr"/>
          <a:lstStyle/>
          <a:p>
            <a:pPr algn="r" indent="0" marL="0">
              <a:buNone/>
            </a:pPr>
            <a:r>
              <a:rPr lang="en-US" sz="950" b="1" dirty="0">
                <a:solidFill>
                  <a:srgbClr val="5D7186"/>
                </a:solidFill>
                <a:latin typeface="Calibri" pitchFamily="34" charset="0"/>
                <a:ea typeface="Calibri" pitchFamily="34" charset="-122"/>
                <a:cs typeface="Calibri" pitchFamily="34" charset="-120"/>
              </a:rPr>
              <a:t>1</a:t>
            </a:r>
            <a:endParaRPr lang="en-US" sz="950" dirty="0"/>
          </a:p>
        </p:txBody>
      </p:sp>
      <p:sp>
        <p:nvSpPr>
          <p:cNvPr id="86" name="Shape 84"/>
          <p:cNvSpPr/>
          <p:nvPr/>
        </p:nvSpPr>
        <p:spPr>
          <a:xfrm>
            <a:off x="8202168" y="4005072"/>
            <a:ext cx="566928" cy="530352"/>
          </a:xfrm>
          <a:prstGeom prst="rect">
            <a:avLst/>
          </a:prstGeom>
          <a:solidFill>
            <a:srgbClr val="E8F6EE"/>
          </a:solidFill>
          <a:ln w="25400">
            <a:solidFill>
              <a:srgbClr val="FFFFFF"/>
            </a:solidFill>
            <a:prstDash val="solid"/>
          </a:ln>
        </p:spPr>
      </p:sp>
      <p:sp>
        <p:nvSpPr>
          <p:cNvPr id="87" name="Text 85"/>
          <p:cNvSpPr/>
          <p:nvPr/>
        </p:nvSpPr>
        <p:spPr>
          <a:xfrm>
            <a:off x="8202168" y="4005072"/>
            <a:ext cx="566928" cy="530352"/>
          </a:xfrm>
          <a:prstGeom prst="rect">
            <a:avLst/>
          </a:prstGeom>
          <a:noFill/>
          <a:ln/>
        </p:spPr>
        <p:txBody>
          <a:bodyPr wrap="square" lIns="0" tIns="0" rIns="0" bIns="0" rtlCol="0" anchor="ctr"/>
          <a:lstStyle/>
          <a:p>
            <a:pPr algn="ctr" indent="0" marL="0">
              <a:buNone/>
            </a:pPr>
            <a:r>
              <a:rPr lang="en-US" sz="850" dirty="0">
                <a:solidFill>
                  <a:srgbClr val="667788"/>
                </a:solidFill>
                <a:latin typeface="Calibri" pitchFamily="34" charset="0"/>
                <a:ea typeface="Calibri" pitchFamily="34" charset="-122"/>
                <a:cs typeface="Calibri" pitchFamily="34" charset="-120"/>
              </a:rPr>
              <a:t>1</a:t>
            </a:r>
            <a:endParaRPr lang="en-US" sz="850" dirty="0"/>
          </a:p>
        </p:txBody>
      </p:sp>
      <p:sp>
        <p:nvSpPr>
          <p:cNvPr id="88" name="Shape 86"/>
          <p:cNvSpPr/>
          <p:nvPr/>
        </p:nvSpPr>
        <p:spPr>
          <a:xfrm>
            <a:off x="8805672" y="4005072"/>
            <a:ext cx="566928" cy="530352"/>
          </a:xfrm>
          <a:prstGeom prst="rect">
            <a:avLst/>
          </a:prstGeom>
          <a:solidFill>
            <a:srgbClr val="E8F6EE"/>
          </a:solidFill>
          <a:ln w="25400">
            <a:solidFill>
              <a:srgbClr val="FFFFFF"/>
            </a:solidFill>
            <a:prstDash val="solid"/>
          </a:ln>
        </p:spPr>
      </p:sp>
      <p:sp>
        <p:nvSpPr>
          <p:cNvPr id="89" name="Text 87"/>
          <p:cNvSpPr/>
          <p:nvPr/>
        </p:nvSpPr>
        <p:spPr>
          <a:xfrm>
            <a:off x="8805672" y="4005072"/>
            <a:ext cx="566928" cy="530352"/>
          </a:xfrm>
          <a:prstGeom prst="rect">
            <a:avLst/>
          </a:prstGeom>
          <a:noFill/>
          <a:ln/>
        </p:spPr>
        <p:txBody>
          <a:bodyPr wrap="square" lIns="0" tIns="0" rIns="0" bIns="0" rtlCol="0" anchor="ctr"/>
          <a:lstStyle/>
          <a:p>
            <a:pPr algn="ctr" indent="0" marL="0">
              <a:buNone/>
            </a:pPr>
            <a:r>
              <a:rPr lang="en-US" sz="850" dirty="0">
                <a:solidFill>
                  <a:srgbClr val="667788"/>
                </a:solidFill>
                <a:latin typeface="Calibri" pitchFamily="34" charset="0"/>
                <a:ea typeface="Calibri" pitchFamily="34" charset="-122"/>
                <a:cs typeface="Calibri" pitchFamily="34" charset="-120"/>
              </a:rPr>
              <a:t>2</a:t>
            </a:r>
            <a:endParaRPr lang="en-US" sz="850" dirty="0"/>
          </a:p>
        </p:txBody>
      </p:sp>
      <p:sp>
        <p:nvSpPr>
          <p:cNvPr id="90" name="Shape 88"/>
          <p:cNvSpPr/>
          <p:nvPr/>
        </p:nvSpPr>
        <p:spPr>
          <a:xfrm>
            <a:off x="9409176" y="4005072"/>
            <a:ext cx="566928" cy="530352"/>
          </a:xfrm>
          <a:prstGeom prst="rect">
            <a:avLst/>
          </a:prstGeom>
          <a:solidFill>
            <a:srgbClr val="E8F6EE"/>
          </a:solidFill>
          <a:ln w="25400">
            <a:solidFill>
              <a:srgbClr val="FFFFFF"/>
            </a:solidFill>
            <a:prstDash val="solid"/>
          </a:ln>
        </p:spPr>
      </p:sp>
      <p:sp>
        <p:nvSpPr>
          <p:cNvPr id="91" name="Text 89"/>
          <p:cNvSpPr/>
          <p:nvPr/>
        </p:nvSpPr>
        <p:spPr>
          <a:xfrm>
            <a:off x="9409176" y="4005072"/>
            <a:ext cx="566928" cy="530352"/>
          </a:xfrm>
          <a:prstGeom prst="rect">
            <a:avLst/>
          </a:prstGeom>
          <a:noFill/>
          <a:ln/>
        </p:spPr>
        <p:txBody>
          <a:bodyPr wrap="square" lIns="0" tIns="0" rIns="0" bIns="0" rtlCol="0" anchor="ctr"/>
          <a:lstStyle/>
          <a:p>
            <a:pPr algn="ctr" indent="0" marL="0">
              <a:buNone/>
            </a:pPr>
            <a:r>
              <a:rPr lang="en-US" sz="850" dirty="0">
                <a:solidFill>
                  <a:srgbClr val="667788"/>
                </a:solidFill>
                <a:latin typeface="Calibri" pitchFamily="34" charset="0"/>
                <a:ea typeface="Calibri" pitchFamily="34" charset="-122"/>
                <a:cs typeface="Calibri" pitchFamily="34" charset="-120"/>
              </a:rPr>
              <a:t>3</a:t>
            </a:r>
            <a:endParaRPr lang="en-US" sz="850" dirty="0"/>
          </a:p>
        </p:txBody>
      </p:sp>
      <p:sp>
        <p:nvSpPr>
          <p:cNvPr id="92" name="Shape 90"/>
          <p:cNvSpPr/>
          <p:nvPr/>
        </p:nvSpPr>
        <p:spPr>
          <a:xfrm>
            <a:off x="10012680" y="4005072"/>
            <a:ext cx="566928" cy="530352"/>
          </a:xfrm>
          <a:prstGeom prst="rect">
            <a:avLst/>
          </a:prstGeom>
          <a:solidFill>
            <a:srgbClr val="E8F6EE"/>
          </a:solidFill>
          <a:ln w="25400">
            <a:solidFill>
              <a:srgbClr val="FFFFFF"/>
            </a:solidFill>
            <a:prstDash val="solid"/>
          </a:ln>
        </p:spPr>
      </p:sp>
      <p:sp>
        <p:nvSpPr>
          <p:cNvPr id="93" name="Text 91"/>
          <p:cNvSpPr/>
          <p:nvPr/>
        </p:nvSpPr>
        <p:spPr>
          <a:xfrm>
            <a:off x="10012680" y="4005072"/>
            <a:ext cx="566928" cy="530352"/>
          </a:xfrm>
          <a:prstGeom prst="rect">
            <a:avLst/>
          </a:prstGeom>
          <a:noFill/>
          <a:ln/>
        </p:spPr>
        <p:txBody>
          <a:bodyPr wrap="square" lIns="0" tIns="0" rIns="0" bIns="0" rtlCol="0" anchor="ctr"/>
          <a:lstStyle/>
          <a:p>
            <a:pPr algn="ctr" indent="0" marL="0">
              <a:buNone/>
            </a:pPr>
            <a:r>
              <a:rPr lang="en-US" sz="850" dirty="0">
                <a:solidFill>
                  <a:srgbClr val="667788"/>
                </a:solidFill>
                <a:latin typeface="Calibri" pitchFamily="34" charset="0"/>
                <a:ea typeface="Calibri" pitchFamily="34" charset="-122"/>
                <a:cs typeface="Calibri" pitchFamily="34" charset="-120"/>
              </a:rPr>
              <a:t>4</a:t>
            </a:r>
            <a:endParaRPr lang="en-US" sz="850" dirty="0"/>
          </a:p>
        </p:txBody>
      </p:sp>
      <p:sp>
        <p:nvSpPr>
          <p:cNvPr id="94" name="Shape 92"/>
          <p:cNvSpPr/>
          <p:nvPr/>
        </p:nvSpPr>
        <p:spPr>
          <a:xfrm>
            <a:off x="10616184" y="4005072"/>
            <a:ext cx="566928" cy="530352"/>
          </a:xfrm>
          <a:prstGeom prst="rect">
            <a:avLst/>
          </a:prstGeom>
          <a:solidFill>
            <a:srgbClr val="FBF2DC"/>
          </a:solidFill>
          <a:ln w="25400">
            <a:solidFill>
              <a:srgbClr val="FFFFFF"/>
            </a:solidFill>
            <a:prstDash val="solid"/>
          </a:ln>
        </p:spPr>
      </p:sp>
      <p:sp>
        <p:nvSpPr>
          <p:cNvPr id="95" name="Text 93"/>
          <p:cNvSpPr/>
          <p:nvPr/>
        </p:nvSpPr>
        <p:spPr>
          <a:xfrm>
            <a:off x="10616184" y="4005072"/>
            <a:ext cx="566928" cy="530352"/>
          </a:xfrm>
          <a:prstGeom prst="rect">
            <a:avLst/>
          </a:prstGeom>
          <a:noFill/>
          <a:ln/>
        </p:spPr>
        <p:txBody>
          <a:bodyPr wrap="square" lIns="0" tIns="0" rIns="0" bIns="0" rtlCol="0" anchor="ctr"/>
          <a:lstStyle/>
          <a:p>
            <a:pPr algn="ctr" indent="0" marL="0">
              <a:buNone/>
            </a:pPr>
            <a:r>
              <a:rPr lang="en-US" sz="850" dirty="0">
                <a:solidFill>
                  <a:srgbClr val="667788"/>
                </a:solidFill>
                <a:latin typeface="Calibri" pitchFamily="34" charset="0"/>
                <a:ea typeface="Calibri" pitchFamily="34" charset="-122"/>
                <a:cs typeface="Calibri" pitchFamily="34" charset="-120"/>
              </a:rPr>
              <a:t>5</a:t>
            </a:r>
            <a:endParaRPr lang="en-US" sz="850" dirty="0"/>
          </a:p>
        </p:txBody>
      </p:sp>
      <p:sp>
        <p:nvSpPr>
          <p:cNvPr id="96" name="Text 94"/>
          <p:cNvSpPr/>
          <p:nvPr/>
        </p:nvSpPr>
        <p:spPr>
          <a:xfrm>
            <a:off x="8202168" y="4572000"/>
            <a:ext cx="566928" cy="237744"/>
          </a:xfrm>
          <a:prstGeom prst="rect">
            <a:avLst/>
          </a:prstGeom>
          <a:noFill/>
          <a:ln/>
        </p:spPr>
        <p:txBody>
          <a:bodyPr wrap="square" lIns="0" tIns="0" rIns="0" bIns="0" rtlCol="0" anchor="ctr"/>
          <a:lstStyle/>
          <a:p>
            <a:pPr algn="ctr" indent="0" marL="0">
              <a:buNone/>
            </a:pPr>
            <a:r>
              <a:rPr lang="en-US" sz="950" b="1" dirty="0">
                <a:solidFill>
                  <a:srgbClr val="5D7186"/>
                </a:solidFill>
                <a:latin typeface="Calibri" pitchFamily="34" charset="0"/>
                <a:ea typeface="Calibri" pitchFamily="34" charset="-122"/>
                <a:cs typeface="Calibri" pitchFamily="34" charset="-120"/>
              </a:rPr>
              <a:t>1</a:t>
            </a:r>
            <a:endParaRPr lang="en-US" sz="950" dirty="0"/>
          </a:p>
        </p:txBody>
      </p:sp>
      <p:sp>
        <p:nvSpPr>
          <p:cNvPr id="97" name="Text 95"/>
          <p:cNvSpPr/>
          <p:nvPr/>
        </p:nvSpPr>
        <p:spPr>
          <a:xfrm>
            <a:off x="8805672" y="4572000"/>
            <a:ext cx="566928" cy="237744"/>
          </a:xfrm>
          <a:prstGeom prst="rect">
            <a:avLst/>
          </a:prstGeom>
          <a:noFill/>
          <a:ln/>
        </p:spPr>
        <p:txBody>
          <a:bodyPr wrap="square" lIns="0" tIns="0" rIns="0" bIns="0" rtlCol="0" anchor="ctr"/>
          <a:lstStyle/>
          <a:p>
            <a:pPr algn="ctr" indent="0" marL="0">
              <a:buNone/>
            </a:pPr>
            <a:r>
              <a:rPr lang="en-US" sz="950" b="1" dirty="0">
                <a:solidFill>
                  <a:srgbClr val="5D7186"/>
                </a:solidFill>
                <a:latin typeface="Calibri" pitchFamily="34" charset="0"/>
                <a:ea typeface="Calibri" pitchFamily="34" charset="-122"/>
                <a:cs typeface="Calibri" pitchFamily="34" charset="-120"/>
              </a:rPr>
              <a:t>2</a:t>
            </a:r>
            <a:endParaRPr lang="en-US" sz="950" dirty="0"/>
          </a:p>
        </p:txBody>
      </p:sp>
      <p:sp>
        <p:nvSpPr>
          <p:cNvPr id="98" name="Text 96"/>
          <p:cNvSpPr/>
          <p:nvPr/>
        </p:nvSpPr>
        <p:spPr>
          <a:xfrm>
            <a:off x="9409176" y="4572000"/>
            <a:ext cx="566928" cy="237744"/>
          </a:xfrm>
          <a:prstGeom prst="rect">
            <a:avLst/>
          </a:prstGeom>
          <a:noFill/>
          <a:ln/>
        </p:spPr>
        <p:txBody>
          <a:bodyPr wrap="square" lIns="0" tIns="0" rIns="0" bIns="0" rtlCol="0" anchor="ctr"/>
          <a:lstStyle/>
          <a:p>
            <a:pPr algn="ctr" indent="0" marL="0">
              <a:buNone/>
            </a:pPr>
            <a:r>
              <a:rPr lang="en-US" sz="950" b="1" dirty="0">
                <a:solidFill>
                  <a:srgbClr val="5D7186"/>
                </a:solidFill>
                <a:latin typeface="Calibri" pitchFamily="34" charset="0"/>
                <a:ea typeface="Calibri" pitchFamily="34" charset="-122"/>
                <a:cs typeface="Calibri" pitchFamily="34" charset="-120"/>
              </a:rPr>
              <a:t>3</a:t>
            </a:r>
            <a:endParaRPr lang="en-US" sz="950" dirty="0"/>
          </a:p>
        </p:txBody>
      </p:sp>
      <p:sp>
        <p:nvSpPr>
          <p:cNvPr id="99" name="Text 97"/>
          <p:cNvSpPr/>
          <p:nvPr/>
        </p:nvSpPr>
        <p:spPr>
          <a:xfrm>
            <a:off x="10012680" y="4572000"/>
            <a:ext cx="566928" cy="237744"/>
          </a:xfrm>
          <a:prstGeom prst="rect">
            <a:avLst/>
          </a:prstGeom>
          <a:noFill/>
          <a:ln/>
        </p:spPr>
        <p:txBody>
          <a:bodyPr wrap="square" lIns="0" tIns="0" rIns="0" bIns="0" rtlCol="0" anchor="ctr"/>
          <a:lstStyle/>
          <a:p>
            <a:pPr algn="ctr" indent="0" marL="0">
              <a:buNone/>
            </a:pPr>
            <a:r>
              <a:rPr lang="en-US" sz="950" b="1" dirty="0">
                <a:solidFill>
                  <a:srgbClr val="5D7186"/>
                </a:solidFill>
                <a:latin typeface="Calibri" pitchFamily="34" charset="0"/>
                <a:ea typeface="Calibri" pitchFamily="34" charset="-122"/>
                <a:cs typeface="Calibri" pitchFamily="34" charset="-120"/>
              </a:rPr>
              <a:t>4</a:t>
            </a:r>
            <a:endParaRPr lang="en-US" sz="950" dirty="0"/>
          </a:p>
        </p:txBody>
      </p:sp>
      <p:sp>
        <p:nvSpPr>
          <p:cNvPr id="100" name="Text 98"/>
          <p:cNvSpPr/>
          <p:nvPr/>
        </p:nvSpPr>
        <p:spPr>
          <a:xfrm>
            <a:off x="10616184" y="4572000"/>
            <a:ext cx="566928" cy="237744"/>
          </a:xfrm>
          <a:prstGeom prst="rect">
            <a:avLst/>
          </a:prstGeom>
          <a:noFill/>
          <a:ln/>
        </p:spPr>
        <p:txBody>
          <a:bodyPr wrap="square" lIns="0" tIns="0" rIns="0" bIns="0" rtlCol="0" anchor="ctr"/>
          <a:lstStyle/>
          <a:p>
            <a:pPr algn="ctr" indent="0" marL="0">
              <a:buNone/>
            </a:pPr>
            <a:r>
              <a:rPr lang="en-US" sz="950" b="1" dirty="0">
                <a:solidFill>
                  <a:srgbClr val="5D7186"/>
                </a:solidFill>
                <a:latin typeface="Calibri" pitchFamily="34" charset="0"/>
                <a:ea typeface="Calibri" pitchFamily="34" charset="-122"/>
                <a:cs typeface="Calibri" pitchFamily="34" charset="-120"/>
              </a:rPr>
              <a:t>5</a:t>
            </a:r>
            <a:endParaRPr lang="en-US" sz="950" dirty="0"/>
          </a:p>
        </p:txBody>
      </p:sp>
      <p:sp>
        <p:nvSpPr>
          <p:cNvPr id="101" name="Text 99"/>
          <p:cNvSpPr/>
          <p:nvPr/>
        </p:nvSpPr>
        <p:spPr>
          <a:xfrm>
            <a:off x="8202168" y="4828032"/>
            <a:ext cx="3017520" cy="256032"/>
          </a:xfrm>
          <a:prstGeom prst="rect">
            <a:avLst/>
          </a:prstGeom>
          <a:noFill/>
          <a:ln/>
        </p:spPr>
        <p:txBody>
          <a:bodyPr wrap="square" lIns="0" tIns="0" rIns="0" bIns="0" rtlCol="0" anchor="ctr"/>
          <a:lstStyle/>
          <a:p>
            <a:pPr algn="ctr" indent="0" marL="0">
              <a:buNone/>
            </a:pPr>
            <a:r>
              <a:rPr lang="en-US" sz="1000" b="1" dirty="0">
                <a:solidFill>
                  <a:srgbClr val="5D7186"/>
                </a:solidFill>
                <a:latin typeface="Calibri" pitchFamily="34" charset="0"/>
                <a:ea typeface="Calibri" pitchFamily="34" charset="-122"/>
                <a:cs typeface="Calibri" pitchFamily="34" charset="-120"/>
              </a:rPr>
              <a:t>Likelihood</a:t>
            </a:r>
            <a:endParaRPr lang="en-US" sz="1000" dirty="0"/>
          </a:p>
        </p:txBody>
      </p:sp>
      <p:sp>
        <p:nvSpPr>
          <p:cNvPr id="102" name="Text 100"/>
          <p:cNvSpPr/>
          <p:nvPr/>
        </p:nvSpPr>
        <p:spPr>
          <a:xfrm>
            <a:off x="566928" y="5797296"/>
            <a:ext cx="11064240" cy="274320"/>
          </a:xfrm>
          <a:prstGeom prst="rect">
            <a:avLst/>
          </a:prstGeom>
          <a:noFill/>
          <a:ln/>
        </p:spPr>
        <p:txBody>
          <a:bodyPr wrap="square" lIns="0" tIns="0" rIns="0" bIns="0" rtlCol="0" anchor="ctr"/>
          <a:lstStyle/>
          <a:p>
            <a:pPr indent="0" marL="0">
              <a:buNone/>
            </a:pPr>
            <a:r>
              <a:rPr lang="en-US" sz="1100" i="1" dirty="0">
                <a:solidFill>
                  <a:srgbClr val="5D7186"/>
                </a:solidFill>
                <a:latin typeface="Calibri" pitchFamily="34" charset="0"/>
                <a:ea typeface="Calibri" pitchFamily="34" charset="-122"/>
                <a:cs typeface="Calibri" pitchFamily="34" charset="-120"/>
              </a:rPr>
              <a:t>Score ≥ 10 → full test coverage.  Score 6–9 → sample-based coverage.</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indent="0" marL="0">
              <a:buNone/>
            </a:pPr>
            <a:r>
              <a:rPr lang="en-US" sz="1050" b="1" spc="160" kern="0" dirty="0">
                <a:solidFill>
                  <a:srgbClr val="5D7186"/>
                </a:solidFill>
                <a:latin typeface="Calibri" pitchFamily="34" charset="0"/>
                <a:ea typeface="Calibri" pitchFamily="34" charset="-122"/>
                <a:cs typeface="Calibri" pitchFamily="34" charset="-120"/>
              </a:rPr>
              <a:t>BACKUP · L2 · VALIDATION LOOP AND WORST-FIRST CASCADE</a:t>
            </a:r>
            <a:endParaRPr lang="en-US" sz="1050" dirty="0"/>
          </a:p>
        </p:txBody>
      </p:sp>
      <p:sp>
        <p:nvSpPr>
          <p:cNvPr id="3" name="Text 1"/>
          <p:cNvSpPr/>
          <p:nvPr/>
        </p:nvSpPr>
        <p:spPr>
          <a:xfrm>
            <a:off x="566928" y="640080"/>
            <a:ext cx="10607040" cy="658368"/>
          </a:xfrm>
          <a:prstGeom prst="rect">
            <a:avLst/>
          </a:prstGeom>
          <a:noFill/>
          <a:ln/>
        </p:spPr>
        <p:txBody>
          <a:bodyPr wrap="square" lIns="0" tIns="0" rIns="0" bIns="0" rtlCol="0" anchor="t"/>
          <a:lstStyle/>
          <a:p>
            <a:pPr indent="0" marL="0">
              <a:buNone/>
            </a:pPr>
            <a:r>
              <a:rPr lang="en-US" sz="2700" b="1" dirty="0">
                <a:solidFill>
                  <a:srgbClr val="12202E"/>
                </a:solidFill>
                <a:latin typeface="Cambria" pitchFamily="34" charset="0"/>
                <a:ea typeface="Cambria" pitchFamily="34" charset="-122"/>
                <a:cs typeface="Cambria" pitchFamily="34" charset="-120"/>
              </a:rPr>
              <a:t>Detailed process inside the app</a:t>
            </a:r>
            <a:endParaRPr lang="en-US" sz="2700" dirty="0"/>
          </a:p>
        </p:txBody>
      </p:sp>
      <p:pic>
        <p:nvPicPr>
          <p:cNvPr id="4" name="Image 0" descr="workflow-app-detail.png">    </p:cNvPr>
          <p:cNvPicPr>
            <a:picLocks noChangeAspect="1"/>
          </p:cNvPicPr>
          <p:nvPr/>
        </p:nvPicPr>
        <p:blipFill>
          <a:blip r:embed="rId1"/>
          <a:stretch>
            <a:fillRect/>
          </a:stretch>
        </p:blipFill>
        <p:spPr>
          <a:xfrm>
            <a:off x="836676" y="1536192"/>
            <a:ext cx="10515600" cy="4875104"/>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indent="0" marL="0">
              <a:buNone/>
            </a:pPr>
            <a:r>
              <a:rPr lang="en-US" sz="1050" b="1" spc="160" kern="0" dirty="0">
                <a:solidFill>
                  <a:srgbClr val="5D7186"/>
                </a:solidFill>
                <a:latin typeface="Calibri" pitchFamily="34" charset="0"/>
                <a:ea typeface="Calibri" pitchFamily="34" charset="-122"/>
                <a:cs typeface="Calibri" pitchFamily="34" charset="-120"/>
              </a:rPr>
              <a:t>BACKUP · L3 / L4</a:t>
            </a:r>
            <a:endParaRPr lang="en-US" sz="1050" dirty="0"/>
          </a:p>
        </p:txBody>
      </p:sp>
      <p:sp>
        <p:nvSpPr>
          <p:cNvPr id="3" name="Text 1"/>
          <p:cNvSpPr/>
          <p:nvPr/>
        </p:nvSpPr>
        <p:spPr>
          <a:xfrm>
            <a:off x="566928" y="640080"/>
            <a:ext cx="10607040" cy="658368"/>
          </a:xfrm>
          <a:prstGeom prst="rect">
            <a:avLst/>
          </a:prstGeom>
          <a:noFill/>
          <a:ln/>
        </p:spPr>
        <p:txBody>
          <a:bodyPr wrap="square" lIns="0" tIns="0" rIns="0" bIns="0" rtlCol="0" anchor="t"/>
          <a:lstStyle/>
          <a:p>
            <a:pPr indent="0" marL="0">
              <a:buNone/>
            </a:pPr>
            <a:r>
              <a:rPr lang="en-US" sz="2700" b="1" dirty="0">
                <a:solidFill>
                  <a:srgbClr val="12202E"/>
                </a:solidFill>
                <a:latin typeface="Cambria" pitchFamily="34" charset="0"/>
                <a:ea typeface="Cambria" pitchFamily="34" charset="-122"/>
                <a:cs typeface="Cambria" pitchFamily="34" charset="-120"/>
              </a:rPr>
              <a:t>The FHIR interface — a real transaction bundle, not a download</a:t>
            </a:r>
            <a:endParaRPr lang="en-US" sz="2700" dirty="0"/>
          </a:p>
        </p:txBody>
      </p:sp>
      <p:sp>
        <p:nvSpPr>
          <p:cNvPr id="4" name="Shape 2"/>
          <p:cNvSpPr/>
          <p:nvPr/>
        </p:nvSpPr>
        <p:spPr>
          <a:xfrm>
            <a:off x="566928" y="1627632"/>
            <a:ext cx="11064240" cy="749808"/>
          </a:xfrm>
          <a:prstGeom prst="roundRect">
            <a:avLst>
              <a:gd name="adj" fmla="val 10976"/>
            </a:avLst>
          </a:prstGeom>
          <a:solidFill>
            <a:srgbClr val="FFFFFF"/>
          </a:solidFill>
          <a:ln w="12700">
            <a:solidFill>
              <a:srgbClr val="DDE5EE"/>
            </a:solidFill>
            <a:prstDash val="solid"/>
          </a:ln>
        </p:spPr>
      </p:sp>
      <p:sp>
        <p:nvSpPr>
          <p:cNvPr id="5" name="Text 3"/>
          <p:cNvSpPr/>
          <p:nvPr/>
        </p:nvSpPr>
        <p:spPr>
          <a:xfrm>
            <a:off x="822960" y="1627632"/>
            <a:ext cx="2834640" cy="749808"/>
          </a:xfrm>
          <a:prstGeom prst="rect">
            <a:avLst/>
          </a:prstGeom>
          <a:noFill/>
          <a:ln/>
        </p:spPr>
        <p:txBody>
          <a:bodyPr wrap="square" lIns="0" tIns="0" rIns="0" bIns="0" rtlCol="0" anchor="ctr"/>
          <a:lstStyle/>
          <a:p>
            <a:pPr indent="0" marL="0">
              <a:buNone/>
            </a:pPr>
            <a:r>
              <a:rPr lang="en-US" sz="1250" b="1" dirty="0">
                <a:solidFill>
                  <a:srgbClr val="12202E"/>
                </a:solidFill>
                <a:latin typeface="Calibri" pitchFamily="34" charset="0"/>
                <a:ea typeface="Calibri" pitchFamily="34" charset="-122"/>
                <a:cs typeface="Calibri" pitchFamily="34" charset="-120"/>
              </a:rPr>
              <a:t>QuestionnaireResponse</a:t>
            </a:r>
            <a:endParaRPr lang="en-US" sz="1250" dirty="0"/>
          </a:p>
        </p:txBody>
      </p:sp>
      <p:sp>
        <p:nvSpPr>
          <p:cNvPr id="6" name="Text 4"/>
          <p:cNvSpPr/>
          <p:nvPr/>
        </p:nvSpPr>
        <p:spPr>
          <a:xfrm>
            <a:off x="3767328" y="1627632"/>
            <a:ext cx="5943600" cy="749808"/>
          </a:xfrm>
          <a:prstGeom prst="rect">
            <a:avLst/>
          </a:prstGeom>
          <a:noFill/>
          <a:ln/>
        </p:spPr>
        <p:txBody>
          <a:bodyPr wrap="square" lIns="0" tIns="0" rIns="0" bIns="0" rtlCol="0" anchor="ctr"/>
          <a:lstStyle/>
          <a:p>
            <a:pPr indent="0" marL="0">
              <a:buNone/>
            </a:pPr>
            <a:r>
              <a:rPr lang="en-US" sz="1100" dirty="0">
                <a:solidFill>
                  <a:srgbClr val="5D7186"/>
                </a:solidFill>
                <a:latin typeface="Calibri" pitchFamily="34" charset="0"/>
                <a:ea typeface="Calibri" pitchFamily="34" charset="-122"/>
                <a:cs typeface="Calibri" pitchFamily="34" charset="-120"/>
              </a:rPr>
              <a:t>every answer, typed and terminology-coded; canonical carries the L3 version</a:t>
            </a:r>
            <a:endParaRPr lang="en-US" sz="1100" dirty="0"/>
          </a:p>
        </p:txBody>
      </p:sp>
      <p:sp>
        <p:nvSpPr>
          <p:cNvPr id="7" name="Text 5"/>
          <p:cNvSpPr/>
          <p:nvPr/>
        </p:nvSpPr>
        <p:spPr>
          <a:xfrm>
            <a:off x="9665208" y="1627632"/>
            <a:ext cx="1691640" cy="749808"/>
          </a:xfrm>
          <a:prstGeom prst="rect">
            <a:avLst/>
          </a:prstGeom>
          <a:noFill/>
          <a:ln/>
        </p:spPr>
        <p:txBody>
          <a:bodyPr wrap="square" lIns="0" tIns="0" rIns="0" bIns="0" rtlCol="0" anchor="ctr"/>
          <a:lstStyle/>
          <a:p>
            <a:pPr algn="r" indent="0" marL="0">
              <a:buNone/>
            </a:pPr>
            <a:r>
              <a:rPr lang="en-US" sz="1000" i="1" dirty="0">
                <a:solidFill>
                  <a:srgbClr val="5D7186"/>
                </a:solidFill>
                <a:latin typeface="Calibri" pitchFamily="34" charset="0"/>
                <a:ea typeface="Calibri" pitchFamily="34" charset="-122"/>
                <a:cs typeface="Calibri" pitchFamily="34" charset="-120"/>
              </a:rPr>
              <a:t>every run</a:t>
            </a:r>
            <a:endParaRPr lang="en-US" sz="1000" dirty="0"/>
          </a:p>
        </p:txBody>
      </p:sp>
      <p:sp>
        <p:nvSpPr>
          <p:cNvPr id="8" name="Shape 6"/>
          <p:cNvSpPr/>
          <p:nvPr/>
        </p:nvSpPr>
        <p:spPr>
          <a:xfrm>
            <a:off x="566928" y="2487168"/>
            <a:ext cx="11064240" cy="749808"/>
          </a:xfrm>
          <a:prstGeom prst="roundRect">
            <a:avLst>
              <a:gd name="adj" fmla="val 10976"/>
            </a:avLst>
          </a:prstGeom>
          <a:solidFill>
            <a:srgbClr val="FFFFFF"/>
          </a:solidFill>
          <a:ln w="12700">
            <a:solidFill>
              <a:srgbClr val="DDE5EE"/>
            </a:solidFill>
            <a:prstDash val="solid"/>
          </a:ln>
        </p:spPr>
      </p:sp>
      <p:sp>
        <p:nvSpPr>
          <p:cNvPr id="9" name="Text 7"/>
          <p:cNvSpPr/>
          <p:nvPr/>
        </p:nvSpPr>
        <p:spPr>
          <a:xfrm>
            <a:off x="822960" y="2487168"/>
            <a:ext cx="2834640" cy="749808"/>
          </a:xfrm>
          <a:prstGeom prst="rect">
            <a:avLst/>
          </a:prstGeom>
          <a:noFill/>
          <a:ln/>
        </p:spPr>
        <p:txBody>
          <a:bodyPr wrap="square" lIns="0" tIns="0" rIns="0" bIns="0" rtlCol="0" anchor="ctr"/>
          <a:lstStyle/>
          <a:p>
            <a:pPr indent="0" marL="0">
              <a:buNone/>
            </a:pPr>
            <a:r>
              <a:rPr lang="en-US" sz="1250" b="1" dirty="0">
                <a:solidFill>
                  <a:srgbClr val="12202E"/>
                </a:solidFill>
                <a:latin typeface="Calibri" pitchFamily="34" charset="0"/>
                <a:ea typeface="Calibri" pitchFamily="34" charset="-122"/>
                <a:cs typeface="Calibri" pitchFamily="34" charset="-120"/>
              </a:rPr>
              <a:t>Observation</a:t>
            </a:r>
            <a:endParaRPr lang="en-US" sz="1250" dirty="0"/>
          </a:p>
        </p:txBody>
      </p:sp>
      <p:sp>
        <p:nvSpPr>
          <p:cNvPr id="10" name="Text 8"/>
          <p:cNvSpPr/>
          <p:nvPr/>
        </p:nvSpPr>
        <p:spPr>
          <a:xfrm>
            <a:off x="3767328" y="2487168"/>
            <a:ext cx="5943600" cy="749808"/>
          </a:xfrm>
          <a:prstGeom prst="rect">
            <a:avLst/>
          </a:prstGeom>
          <a:noFill/>
          <a:ln/>
        </p:spPr>
        <p:txBody>
          <a:bodyPr wrap="square" lIns="0" tIns="0" rIns="0" bIns="0" rtlCol="0" anchor="ctr"/>
          <a:lstStyle/>
          <a:p>
            <a:pPr indent="0" marL="0">
              <a:buNone/>
            </a:pPr>
            <a:r>
              <a:rPr lang="en-US" sz="1100" dirty="0">
                <a:solidFill>
                  <a:srgbClr val="5D7186"/>
                </a:solidFill>
                <a:latin typeface="Calibri" pitchFamily="34" charset="0"/>
                <a:ea typeface="Calibri" pitchFamily="34" charset="-122"/>
                <a:cs typeface="Calibri" pitchFamily="34" charset="-120"/>
              </a:rPr>
              <a:t>traffic light, Southampton grade, triggering rule, L3 version, days post-op</a:t>
            </a:r>
            <a:endParaRPr lang="en-US" sz="1100" dirty="0"/>
          </a:p>
        </p:txBody>
      </p:sp>
      <p:sp>
        <p:nvSpPr>
          <p:cNvPr id="11" name="Text 9"/>
          <p:cNvSpPr/>
          <p:nvPr/>
        </p:nvSpPr>
        <p:spPr>
          <a:xfrm>
            <a:off x="9665208" y="2487168"/>
            <a:ext cx="1691640" cy="749808"/>
          </a:xfrm>
          <a:prstGeom prst="rect">
            <a:avLst/>
          </a:prstGeom>
          <a:noFill/>
          <a:ln/>
        </p:spPr>
        <p:txBody>
          <a:bodyPr wrap="square" lIns="0" tIns="0" rIns="0" bIns="0" rtlCol="0" anchor="ctr"/>
          <a:lstStyle/>
          <a:p>
            <a:pPr algn="r" indent="0" marL="0">
              <a:buNone/>
            </a:pPr>
            <a:r>
              <a:rPr lang="en-US" sz="1000" i="1" dirty="0">
                <a:solidFill>
                  <a:srgbClr val="5D7186"/>
                </a:solidFill>
                <a:latin typeface="Calibri" pitchFamily="34" charset="0"/>
                <a:ea typeface="Calibri" pitchFamily="34" charset="-122"/>
                <a:cs typeface="Calibri" pitchFamily="34" charset="-120"/>
              </a:rPr>
              <a:t>every run</a:t>
            </a:r>
            <a:endParaRPr lang="en-US" sz="1000" dirty="0"/>
          </a:p>
        </p:txBody>
      </p:sp>
      <p:sp>
        <p:nvSpPr>
          <p:cNvPr id="12" name="Shape 10"/>
          <p:cNvSpPr/>
          <p:nvPr/>
        </p:nvSpPr>
        <p:spPr>
          <a:xfrm>
            <a:off x="566928" y="3346704"/>
            <a:ext cx="11064240" cy="749808"/>
          </a:xfrm>
          <a:prstGeom prst="roundRect">
            <a:avLst>
              <a:gd name="adj" fmla="val 10976"/>
            </a:avLst>
          </a:prstGeom>
          <a:solidFill>
            <a:srgbClr val="FCEADB"/>
          </a:solidFill>
          <a:ln w="12700">
            <a:solidFill>
              <a:srgbClr val="F0C19A"/>
            </a:solidFill>
            <a:prstDash val="solid"/>
          </a:ln>
        </p:spPr>
      </p:sp>
      <p:sp>
        <p:nvSpPr>
          <p:cNvPr id="13" name="Text 11"/>
          <p:cNvSpPr/>
          <p:nvPr/>
        </p:nvSpPr>
        <p:spPr>
          <a:xfrm>
            <a:off x="822960" y="3346704"/>
            <a:ext cx="2834640" cy="749808"/>
          </a:xfrm>
          <a:prstGeom prst="rect">
            <a:avLst/>
          </a:prstGeom>
          <a:noFill/>
          <a:ln/>
        </p:spPr>
        <p:txBody>
          <a:bodyPr wrap="square" lIns="0" tIns="0" rIns="0" bIns="0" rtlCol="0" anchor="ctr"/>
          <a:lstStyle/>
          <a:p>
            <a:pPr indent="0" marL="0">
              <a:buNone/>
            </a:pPr>
            <a:r>
              <a:rPr lang="en-US" sz="1250" b="1" dirty="0">
                <a:solidFill>
                  <a:srgbClr val="C25C07"/>
                </a:solidFill>
                <a:latin typeface="Calibri" pitchFamily="34" charset="0"/>
                <a:ea typeface="Calibri" pitchFamily="34" charset="-122"/>
                <a:cs typeface="Calibri" pitchFamily="34" charset="-120"/>
              </a:rPr>
              <a:t>Communication</a:t>
            </a:r>
            <a:endParaRPr lang="en-US" sz="1250" dirty="0"/>
          </a:p>
        </p:txBody>
      </p:sp>
      <p:sp>
        <p:nvSpPr>
          <p:cNvPr id="14" name="Text 12"/>
          <p:cNvSpPr/>
          <p:nvPr/>
        </p:nvSpPr>
        <p:spPr>
          <a:xfrm>
            <a:off x="3767328" y="3346704"/>
            <a:ext cx="5943600" cy="749808"/>
          </a:xfrm>
          <a:prstGeom prst="rect">
            <a:avLst/>
          </a:prstGeom>
          <a:noFill/>
          <a:ln/>
        </p:spPr>
        <p:txBody>
          <a:bodyPr wrap="square" lIns="0" tIns="0" rIns="0" bIns="0" rtlCol="0" anchor="ctr"/>
          <a:lstStyle/>
          <a:p>
            <a:pPr indent="0" marL="0">
              <a:buNone/>
            </a:pPr>
            <a:r>
              <a:rPr lang="en-US" sz="1100" dirty="0">
                <a:solidFill>
                  <a:srgbClr val="5D7186"/>
                </a:solidFill>
                <a:latin typeface="Calibri" pitchFamily="34" charset="0"/>
                <a:ea typeface="Calibri" pitchFamily="34" charset="-122"/>
                <a:cs typeface="Calibri" pitchFamily="34" charset="-120"/>
              </a:rPr>
              <a:t>structured alert, priority urgent (ORANGE) or stat (RED)</a:t>
            </a:r>
            <a:endParaRPr lang="en-US" sz="1100" dirty="0"/>
          </a:p>
        </p:txBody>
      </p:sp>
      <p:sp>
        <p:nvSpPr>
          <p:cNvPr id="15" name="Text 13"/>
          <p:cNvSpPr/>
          <p:nvPr/>
        </p:nvSpPr>
        <p:spPr>
          <a:xfrm>
            <a:off x="9665208" y="3346704"/>
            <a:ext cx="1691640" cy="749808"/>
          </a:xfrm>
          <a:prstGeom prst="rect">
            <a:avLst/>
          </a:prstGeom>
          <a:noFill/>
          <a:ln/>
        </p:spPr>
        <p:txBody>
          <a:bodyPr wrap="square" lIns="0" tIns="0" rIns="0" bIns="0" rtlCol="0" anchor="ctr"/>
          <a:lstStyle/>
          <a:p>
            <a:pPr algn="r" indent="0" marL="0">
              <a:buNone/>
            </a:pPr>
            <a:r>
              <a:rPr lang="en-US" sz="1000" i="1" dirty="0">
                <a:solidFill>
                  <a:srgbClr val="5D7186"/>
                </a:solidFill>
                <a:latin typeface="Calibri" pitchFamily="34" charset="0"/>
                <a:ea typeface="Calibri" pitchFamily="34" charset="-122"/>
                <a:cs typeface="Calibri" pitchFamily="34" charset="-120"/>
              </a:rPr>
              <a:t>ORANGE / RED only</a:t>
            </a:r>
            <a:endParaRPr lang="en-US" sz="1000" dirty="0"/>
          </a:p>
        </p:txBody>
      </p:sp>
      <p:sp>
        <p:nvSpPr>
          <p:cNvPr id="16" name="Shape 14"/>
          <p:cNvSpPr/>
          <p:nvPr/>
        </p:nvSpPr>
        <p:spPr>
          <a:xfrm>
            <a:off x="566928" y="4279392"/>
            <a:ext cx="11064240" cy="1737360"/>
          </a:xfrm>
          <a:prstGeom prst="roundRect">
            <a:avLst>
              <a:gd name="adj" fmla="val 4737"/>
            </a:avLst>
          </a:prstGeom>
          <a:solidFill>
            <a:srgbClr val="12202E"/>
          </a:solidFill>
          <a:ln w="12700">
            <a:solidFill>
              <a:srgbClr val="12202E"/>
            </a:solidFill>
            <a:prstDash val="solid"/>
          </a:ln>
        </p:spPr>
      </p:sp>
      <p:sp>
        <p:nvSpPr>
          <p:cNvPr id="17" name="Text 15"/>
          <p:cNvSpPr/>
          <p:nvPr/>
        </p:nvSpPr>
        <p:spPr>
          <a:xfrm>
            <a:off x="859536" y="4462272"/>
            <a:ext cx="1042416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The endpoint is configuration, not code</a:t>
            </a:r>
            <a:endParaRPr lang="en-US" sz="1300" dirty="0"/>
          </a:p>
        </p:txBody>
      </p:sp>
      <p:sp>
        <p:nvSpPr>
          <p:cNvPr id="18" name="Text 16"/>
          <p:cNvSpPr/>
          <p:nvPr/>
        </p:nvSpPr>
        <p:spPr>
          <a:xfrm>
            <a:off x="859536" y="4791456"/>
            <a:ext cx="10424160" cy="640080"/>
          </a:xfrm>
          <a:prstGeom prst="rect">
            <a:avLst/>
          </a:prstGeom>
          <a:noFill/>
          <a:ln/>
        </p:spPr>
        <p:txBody>
          <a:bodyPr wrap="square" lIns="0" tIns="0" rIns="0" bIns="0" rtlCol="0" anchor="ctr"/>
          <a:lstStyle/>
          <a:p>
            <a:pPr indent="0" marL="0">
              <a:lnSpc>
                <a:spcPts val="1600"/>
              </a:lnSpc>
              <a:buNone/>
            </a:pPr>
            <a:r>
              <a:rPr lang="en-US" sz="1100" dirty="0">
                <a:solidFill>
                  <a:srgbClr val="C9D6E4"/>
                </a:solidFill>
                <a:latin typeface="Courier New" pitchFamily="34" charset="0"/>
                <a:ea typeface="Courier New" pitchFamily="34" charset="-122"/>
                <a:cs typeface="Courier New" pitchFamily="34" charset="-120"/>
              </a:rPr>
              <a:t>"fhir": { "endpoint": "https://…/baseR4", "patient_reference": "Patient/example",</a:t>
            </a:r>
            <a:endParaRPr lang="en-US" sz="1100" dirty="0"/>
          </a:p>
          <a:p>
            <a:pPr indent="0" marL="0">
              <a:lnSpc>
                <a:spcPts val="1600"/>
              </a:lnSpc>
              <a:buNone/>
            </a:pPr>
            <a:r>
              <a:rPr lang="en-US" sz="1100" dirty="0">
                <a:solidFill>
                  <a:srgbClr val="C9D6E4"/>
                </a:solidFill>
                <a:latin typeface="Courier New" pitchFamily="34" charset="0"/>
                <a:ea typeface="Courier New" pitchFamily="34" charset="-122"/>
                <a:cs typeface="Courier New" pitchFamily="34" charset="-120"/>
              </a:rPr>
              <a:t>          "alert_recipient": "Organization/practice", "send_mode": "transaction" }</a:t>
            </a:r>
            <a:endParaRPr lang="en-US" sz="1100" dirty="0"/>
          </a:p>
        </p:txBody>
      </p:sp>
      <p:sp>
        <p:nvSpPr>
          <p:cNvPr id="19" name="Text 17"/>
          <p:cNvSpPr/>
          <p:nvPr/>
        </p:nvSpPr>
        <p:spPr>
          <a:xfrm>
            <a:off x="859536" y="5486400"/>
            <a:ext cx="10424160" cy="411480"/>
          </a:xfrm>
          <a:prstGeom prst="rect">
            <a:avLst/>
          </a:prstGeom>
          <a:noFill/>
          <a:ln/>
        </p:spPr>
        <p:txBody>
          <a:bodyPr wrap="square" lIns="0" tIns="0" rIns="0" bIns="0" rtlCol="0" anchor="ctr"/>
          <a:lstStyle/>
          <a:p>
            <a:pPr indent="0" marL="0">
              <a:lnSpc>
                <a:spcPts val="1500"/>
              </a:lnSpc>
              <a:buNone/>
            </a:pPr>
            <a:r>
              <a:rPr lang="en-US" sz="1100" dirty="0">
                <a:solidFill>
                  <a:srgbClr val="8FA3B8"/>
                </a:solidFill>
                <a:latin typeface="Calibri" pitchFamily="34" charset="0"/>
                <a:ea typeface="Calibri" pitchFamily="34" charset="-122"/>
                <a:cs typeface="Calibri" pitchFamily="34" charset="-120"/>
              </a:rPr>
              <a:t>Redirecting to a hospital FHIR server or the Swiss EPD gateway is one line of JSON. If the endpoint is unreachable the bundle queues — the patient still gets the recommendation.</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indent="0" marL="0">
              <a:buNone/>
            </a:pPr>
            <a:r>
              <a:rPr lang="en-US" sz="1050" b="1" spc="160" kern="0" dirty="0">
                <a:solidFill>
                  <a:srgbClr val="5D7186"/>
                </a:solidFill>
                <a:latin typeface="Calibri" pitchFamily="34" charset="0"/>
                <a:ea typeface="Calibri" pitchFamily="34" charset="-122"/>
                <a:cs typeface="Calibri" pitchFamily="34" charset="-120"/>
              </a:rPr>
              <a:t>BACKUP · METHOD</a:t>
            </a:r>
            <a:endParaRPr lang="en-US" sz="1050" dirty="0"/>
          </a:p>
        </p:txBody>
      </p:sp>
      <p:sp>
        <p:nvSpPr>
          <p:cNvPr id="3" name="Text 1"/>
          <p:cNvSpPr/>
          <p:nvPr/>
        </p:nvSpPr>
        <p:spPr>
          <a:xfrm>
            <a:off x="566928" y="640080"/>
            <a:ext cx="10607040" cy="658368"/>
          </a:xfrm>
          <a:prstGeom prst="rect">
            <a:avLst/>
          </a:prstGeom>
          <a:noFill/>
          <a:ln/>
        </p:spPr>
        <p:txBody>
          <a:bodyPr wrap="square" lIns="0" tIns="0" rIns="0" bIns="0" rtlCol="0" anchor="t"/>
          <a:lstStyle/>
          <a:p>
            <a:pPr indent="0" marL="0">
              <a:buNone/>
            </a:pPr>
            <a:r>
              <a:rPr lang="en-US" sz="2700" b="1" dirty="0">
                <a:solidFill>
                  <a:srgbClr val="12202E"/>
                </a:solidFill>
                <a:latin typeface="Cambria" pitchFamily="34" charset="0"/>
                <a:ea typeface="Cambria" pitchFamily="34" charset="-122"/>
                <a:cs typeface="Cambria" pitchFamily="34" charset="-120"/>
              </a:rPr>
              <a:t>Traceability — one finding, all the way through</a:t>
            </a:r>
            <a:endParaRPr lang="en-US" sz="2700" dirty="0"/>
          </a:p>
        </p:txBody>
      </p:sp>
      <p:sp>
        <p:nvSpPr>
          <p:cNvPr id="4" name="Shape 2"/>
          <p:cNvSpPr/>
          <p:nvPr/>
        </p:nvSpPr>
        <p:spPr>
          <a:xfrm>
            <a:off x="566928" y="1645920"/>
            <a:ext cx="822960" cy="548640"/>
          </a:xfrm>
          <a:prstGeom prst="roundRect">
            <a:avLst>
              <a:gd name="adj" fmla="val 13333"/>
            </a:avLst>
          </a:prstGeom>
          <a:solidFill>
            <a:srgbClr val="F5F7FA"/>
          </a:solidFill>
          <a:ln w="12700">
            <a:solidFill>
              <a:srgbClr val="DDE5EE"/>
            </a:solidFill>
            <a:prstDash val="solid"/>
          </a:ln>
        </p:spPr>
      </p:sp>
      <p:sp>
        <p:nvSpPr>
          <p:cNvPr id="5" name="Text 3"/>
          <p:cNvSpPr/>
          <p:nvPr/>
        </p:nvSpPr>
        <p:spPr>
          <a:xfrm>
            <a:off x="566928" y="1645920"/>
            <a:ext cx="822960" cy="548640"/>
          </a:xfrm>
          <a:prstGeom prst="rect">
            <a:avLst/>
          </a:prstGeom>
          <a:noFill/>
          <a:ln/>
        </p:spPr>
        <p:txBody>
          <a:bodyPr wrap="square" lIns="0" tIns="0" rIns="0" bIns="0" rtlCol="0" anchor="ctr"/>
          <a:lstStyle/>
          <a:p>
            <a:pPr algn="ctr" indent="0" marL="0">
              <a:buNone/>
            </a:pPr>
            <a:r>
              <a:rPr lang="en-US" sz="1200" b="1" dirty="0">
                <a:solidFill>
                  <a:srgbClr val="5D7186"/>
                </a:solidFill>
                <a:latin typeface="Calibri" pitchFamily="34" charset="0"/>
                <a:ea typeface="Calibri" pitchFamily="34" charset="-122"/>
                <a:cs typeface="Calibri" pitchFamily="34" charset="-120"/>
              </a:rPr>
              <a:t>L1</a:t>
            </a:r>
            <a:endParaRPr lang="en-US" sz="1200" dirty="0"/>
          </a:p>
        </p:txBody>
      </p:sp>
      <p:sp>
        <p:nvSpPr>
          <p:cNvPr id="6" name="Text 4"/>
          <p:cNvSpPr/>
          <p:nvPr/>
        </p:nvSpPr>
        <p:spPr>
          <a:xfrm>
            <a:off x="1618488" y="1645920"/>
            <a:ext cx="9966960" cy="548640"/>
          </a:xfrm>
          <a:prstGeom prst="rect">
            <a:avLst/>
          </a:prstGeom>
          <a:noFill/>
          <a:ln/>
        </p:spPr>
        <p:txBody>
          <a:bodyPr wrap="square" lIns="0" tIns="0" rIns="0" bIns="0" rtlCol="0" anchor="ctr"/>
          <a:lstStyle/>
          <a:p>
            <a:pPr indent="0" marL="0">
              <a:buNone/>
            </a:pPr>
            <a:r>
              <a:rPr lang="en-US" sz="1350" dirty="0">
                <a:solidFill>
                  <a:srgbClr val="12202E"/>
                </a:solidFill>
                <a:latin typeface="Calibri" pitchFamily="34" charset="0"/>
                <a:ea typeface="Calibri" pitchFamily="34" charset="-122"/>
                <a:cs typeface="Calibri" pitchFamily="34" charset="-120"/>
              </a:rPr>
              <a:t>CDC/NHSN — “purulent drainage from the superficial incision”</a:t>
            </a:r>
            <a:endParaRPr lang="en-US" sz="1350" dirty="0"/>
          </a:p>
        </p:txBody>
      </p:sp>
      <p:sp>
        <p:nvSpPr>
          <p:cNvPr id="7" name="Text 5"/>
          <p:cNvSpPr/>
          <p:nvPr/>
        </p:nvSpPr>
        <p:spPr>
          <a:xfrm>
            <a:off x="886968" y="2194560"/>
            <a:ext cx="182880" cy="164592"/>
          </a:xfrm>
          <a:prstGeom prst="rect">
            <a:avLst/>
          </a:prstGeom>
          <a:noFill/>
          <a:ln/>
        </p:spPr>
        <p:txBody>
          <a:bodyPr wrap="square" lIns="0" tIns="0" rIns="0" bIns="0" rtlCol="0" anchor="ctr"/>
          <a:lstStyle/>
          <a:p>
            <a:pPr algn="ctr" indent="0" marL="0">
              <a:buNone/>
            </a:pPr>
            <a:r>
              <a:rPr lang="en-US" sz="800" dirty="0">
                <a:solidFill>
                  <a:srgbClr val="5D7186"/>
                </a:solidFill>
                <a:latin typeface="Calibri" pitchFamily="34" charset="0"/>
                <a:ea typeface="Calibri" pitchFamily="34" charset="-122"/>
                <a:cs typeface="Calibri" pitchFamily="34" charset="-120"/>
              </a:rPr>
              <a:t>▼</a:t>
            </a:r>
            <a:endParaRPr lang="en-US" sz="800" dirty="0"/>
          </a:p>
        </p:txBody>
      </p:sp>
      <p:sp>
        <p:nvSpPr>
          <p:cNvPr id="8" name="Shape 6"/>
          <p:cNvSpPr/>
          <p:nvPr/>
        </p:nvSpPr>
        <p:spPr>
          <a:xfrm>
            <a:off x="566928" y="2359152"/>
            <a:ext cx="822960" cy="548640"/>
          </a:xfrm>
          <a:prstGeom prst="roundRect">
            <a:avLst>
              <a:gd name="adj" fmla="val 13333"/>
            </a:avLst>
          </a:prstGeom>
          <a:solidFill>
            <a:srgbClr val="F5F7FA"/>
          </a:solidFill>
          <a:ln w="12700">
            <a:solidFill>
              <a:srgbClr val="DDE5EE"/>
            </a:solidFill>
            <a:prstDash val="solid"/>
          </a:ln>
        </p:spPr>
      </p:sp>
      <p:sp>
        <p:nvSpPr>
          <p:cNvPr id="9" name="Text 7"/>
          <p:cNvSpPr/>
          <p:nvPr/>
        </p:nvSpPr>
        <p:spPr>
          <a:xfrm>
            <a:off x="566928" y="2359152"/>
            <a:ext cx="822960" cy="548640"/>
          </a:xfrm>
          <a:prstGeom prst="rect">
            <a:avLst/>
          </a:prstGeom>
          <a:noFill/>
          <a:ln/>
        </p:spPr>
        <p:txBody>
          <a:bodyPr wrap="square" lIns="0" tIns="0" rIns="0" bIns="0" rtlCol="0" anchor="ctr"/>
          <a:lstStyle/>
          <a:p>
            <a:pPr algn="ctr" indent="0" marL="0">
              <a:buNone/>
            </a:pPr>
            <a:r>
              <a:rPr lang="en-US" sz="1200" b="1" dirty="0">
                <a:solidFill>
                  <a:srgbClr val="5D7186"/>
                </a:solidFill>
                <a:latin typeface="Calibri" pitchFamily="34" charset="0"/>
                <a:ea typeface="Calibri" pitchFamily="34" charset="-122"/>
                <a:cs typeface="Calibri" pitchFamily="34" charset="-120"/>
              </a:rPr>
              <a:t>L2</a:t>
            </a:r>
            <a:endParaRPr lang="en-US" sz="1200" dirty="0"/>
          </a:p>
        </p:txBody>
      </p:sp>
      <p:sp>
        <p:nvSpPr>
          <p:cNvPr id="10" name="Text 8"/>
          <p:cNvSpPr/>
          <p:nvPr/>
        </p:nvSpPr>
        <p:spPr>
          <a:xfrm>
            <a:off x="1618488" y="2359152"/>
            <a:ext cx="9966960" cy="548640"/>
          </a:xfrm>
          <a:prstGeom prst="rect">
            <a:avLst/>
          </a:prstGeom>
          <a:noFill/>
          <a:ln/>
        </p:spPr>
        <p:txBody>
          <a:bodyPr wrap="square" lIns="0" tIns="0" rIns="0" bIns="0" rtlCol="0" anchor="ctr"/>
          <a:lstStyle/>
          <a:p>
            <a:pPr indent="0" marL="0">
              <a:buNone/>
            </a:pPr>
            <a:r>
              <a:rPr lang="en-US" sz="1350" dirty="0">
                <a:solidFill>
                  <a:srgbClr val="12202E"/>
                </a:solidFill>
                <a:latin typeface="Calibri" pitchFamily="34" charset="0"/>
                <a:ea typeface="Calibri" pitchFamily="34" charset="-122"/>
                <a:cs typeface="Calibri" pitchFamily="34" charset="-120"/>
              </a:rPr>
              <a:t>DE-035 discharge · SNOMED 449736006 · rule R4 → ORANGE</a:t>
            </a:r>
            <a:endParaRPr lang="en-US" sz="1350" dirty="0"/>
          </a:p>
        </p:txBody>
      </p:sp>
      <p:sp>
        <p:nvSpPr>
          <p:cNvPr id="11" name="Text 9"/>
          <p:cNvSpPr/>
          <p:nvPr/>
        </p:nvSpPr>
        <p:spPr>
          <a:xfrm>
            <a:off x="886968" y="2907792"/>
            <a:ext cx="182880" cy="164592"/>
          </a:xfrm>
          <a:prstGeom prst="rect">
            <a:avLst/>
          </a:prstGeom>
          <a:noFill/>
          <a:ln/>
        </p:spPr>
        <p:txBody>
          <a:bodyPr wrap="square" lIns="0" tIns="0" rIns="0" bIns="0" rtlCol="0" anchor="ctr"/>
          <a:lstStyle/>
          <a:p>
            <a:pPr algn="ctr" indent="0" marL="0">
              <a:buNone/>
            </a:pPr>
            <a:r>
              <a:rPr lang="en-US" sz="800" dirty="0">
                <a:solidFill>
                  <a:srgbClr val="5D7186"/>
                </a:solidFill>
                <a:latin typeface="Calibri" pitchFamily="34" charset="0"/>
                <a:ea typeface="Calibri" pitchFamily="34" charset="-122"/>
                <a:cs typeface="Calibri" pitchFamily="34" charset="-120"/>
              </a:rPr>
              <a:t>▼</a:t>
            </a:r>
            <a:endParaRPr lang="en-US" sz="800" dirty="0"/>
          </a:p>
        </p:txBody>
      </p:sp>
      <p:sp>
        <p:nvSpPr>
          <p:cNvPr id="12" name="Shape 10"/>
          <p:cNvSpPr/>
          <p:nvPr/>
        </p:nvSpPr>
        <p:spPr>
          <a:xfrm>
            <a:off x="566928" y="3072384"/>
            <a:ext cx="822960" cy="548640"/>
          </a:xfrm>
          <a:prstGeom prst="roundRect">
            <a:avLst>
              <a:gd name="adj" fmla="val 13333"/>
            </a:avLst>
          </a:prstGeom>
          <a:solidFill>
            <a:srgbClr val="F5F7FA"/>
          </a:solidFill>
          <a:ln w="12700">
            <a:solidFill>
              <a:srgbClr val="DDE5EE"/>
            </a:solidFill>
            <a:prstDash val="solid"/>
          </a:ln>
        </p:spPr>
      </p:sp>
      <p:sp>
        <p:nvSpPr>
          <p:cNvPr id="13" name="Text 11"/>
          <p:cNvSpPr/>
          <p:nvPr/>
        </p:nvSpPr>
        <p:spPr>
          <a:xfrm>
            <a:off x="566928" y="3072384"/>
            <a:ext cx="822960" cy="548640"/>
          </a:xfrm>
          <a:prstGeom prst="rect">
            <a:avLst/>
          </a:prstGeom>
          <a:noFill/>
          <a:ln/>
        </p:spPr>
        <p:txBody>
          <a:bodyPr wrap="square" lIns="0" tIns="0" rIns="0" bIns="0" rtlCol="0" anchor="ctr"/>
          <a:lstStyle/>
          <a:p>
            <a:pPr algn="ctr" indent="0" marL="0">
              <a:buNone/>
            </a:pPr>
            <a:r>
              <a:rPr lang="en-US" sz="1200" b="1" dirty="0">
                <a:solidFill>
                  <a:srgbClr val="5D7186"/>
                </a:solidFill>
                <a:latin typeface="Calibri" pitchFamily="34" charset="0"/>
                <a:ea typeface="Calibri" pitchFamily="34" charset="-122"/>
                <a:cs typeface="Calibri" pitchFamily="34" charset="-120"/>
              </a:rPr>
              <a:t>L3</a:t>
            </a:r>
            <a:endParaRPr lang="en-US" sz="1200" dirty="0"/>
          </a:p>
        </p:txBody>
      </p:sp>
      <p:sp>
        <p:nvSpPr>
          <p:cNvPr id="14" name="Text 12"/>
          <p:cNvSpPr/>
          <p:nvPr/>
        </p:nvSpPr>
        <p:spPr>
          <a:xfrm>
            <a:off x="1618488" y="3072384"/>
            <a:ext cx="9966960" cy="548640"/>
          </a:xfrm>
          <a:prstGeom prst="rect">
            <a:avLst/>
          </a:prstGeom>
          <a:noFill/>
          <a:ln/>
        </p:spPr>
        <p:txBody>
          <a:bodyPr wrap="square" lIns="0" tIns="0" rIns="0" bIns="0" rtlCol="0" anchor="ctr"/>
          <a:lstStyle/>
          <a:p>
            <a:pPr indent="0" marL="0">
              <a:buNone/>
            </a:pPr>
            <a:r>
              <a:rPr lang="en-US" sz="1350" dirty="0">
                <a:solidFill>
                  <a:srgbClr val="12202E"/>
                </a:solidFill>
                <a:latin typeface="Calibri" pitchFamily="34" charset="0"/>
                <a:ea typeface="Calibri" pitchFamily="34" charset="-122"/>
                <a:cs typeface="Calibri" pitchFamily="34" charset="-120"/>
              </a:rPr>
              <a:t>"when": "secretion = 3 or secretion_smell = 1"</a:t>
            </a:r>
            <a:endParaRPr lang="en-US" sz="1350" dirty="0"/>
          </a:p>
        </p:txBody>
      </p:sp>
      <p:sp>
        <p:nvSpPr>
          <p:cNvPr id="15" name="Text 13"/>
          <p:cNvSpPr/>
          <p:nvPr/>
        </p:nvSpPr>
        <p:spPr>
          <a:xfrm>
            <a:off x="886968" y="3621024"/>
            <a:ext cx="182880" cy="164592"/>
          </a:xfrm>
          <a:prstGeom prst="rect">
            <a:avLst/>
          </a:prstGeom>
          <a:noFill/>
          <a:ln/>
        </p:spPr>
        <p:txBody>
          <a:bodyPr wrap="square" lIns="0" tIns="0" rIns="0" bIns="0" rtlCol="0" anchor="ctr"/>
          <a:lstStyle/>
          <a:p>
            <a:pPr algn="ctr" indent="0" marL="0">
              <a:buNone/>
            </a:pPr>
            <a:r>
              <a:rPr lang="en-US" sz="800" dirty="0">
                <a:solidFill>
                  <a:srgbClr val="5D7186"/>
                </a:solidFill>
                <a:latin typeface="Calibri" pitchFamily="34" charset="0"/>
                <a:ea typeface="Calibri" pitchFamily="34" charset="-122"/>
                <a:cs typeface="Calibri" pitchFamily="34" charset="-120"/>
              </a:rPr>
              <a:t>▼</a:t>
            </a:r>
            <a:endParaRPr lang="en-US" sz="800" dirty="0"/>
          </a:p>
        </p:txBody>
      </p:sp>
      <p:sp>
        <p:nvSpPr>
          <p:cNvPr id="16" name="Shape 14"/>
          <p:cNvSpPr/>
          <p:nvPr/>
        </p:nvSpPr>
        <p:spPr>
          <a:xfrm>
            <a:off x="566928" y="3785616"/>
            <a:ext cx="822960" cy="548640"/>
          </a:xfrm>
          <a:prstGeom prst="roundRect">
            <a:avLst>
              <a:gd name="adj" fmla="val 13333"/>
            </a:avLst>
          </a:prstGeom>
          <a:solidFill>
            <a:srgbClr val="C25C07"/>
          </a:solidFill>
          <a:ln w="12700">
            <a:solidFill>
              <a:srgbClr val="C25C07"/>
            </a:solidFill>
            <a:prstDash val="solid"/>
          </a:ln>
        </p:spPr>
      </p:sp>
      <p:sp>
        <p:nvSpPr>
          <p:cNvPr id="17" name="Text 15"/>
          <p:cNvSpPr/>
          <p:nvPr/>
        </p:nvSpPr>
        <p:spPr>
          <a:xfrm>
            <a:off x="566928" y="3785616"/>
            <a:ext cx="82296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L4</a:t>
            </a:r>
            <a:endParaRPr lang="en-US" sz="1200" dirty="0"/>
          </a:p>
        </p:txBody>
      </p:sp>
      <p:sp>
        <p:nvSpPr>
          <p:cNvPr id="18" name="Text 16"/>
          <p:cNvSpPr/>
          <p:nvPr/>
        </p:nvSpPr>
        <p:spPr>
          <a:xfrm>
            <a:off x="1618488" y="3785616"/>
            <a:ext cx="9966960" cy="548640"/>
          </a:xfrm>
          <a:prstGeom prst="rect">
            <a:avLst/>
          </a:prstGeom>
          <a:noFill/>
          <a:ln/>
        </p:spPr>
        <p:txBody>
          <a:bodyPr wrap="square" lIns="0" tIns="0" rIns="0" bIns="0" rtlCol="0" anchor="ctr"/>
          <a:lstStyle/>
          <a:p>
            <a:pPr indent="0" marL="0">
              <a:buNone/>
            </a:pPr>
            <a:r>
              <a:rPr lang="en-US" sz="1350" dirty="0">
                <a:solidFill>
                  <a:srgbClr val="12202E"/>
                </a:solidFill>
                <a:latin typeface="Calibri" pitchFamily="34" charset="0"/>
                <a:ea typeface="Calibri" pitchFamily="34" charset="-122"/>
                <a:cs typeface="Calibri" pitchFamily="34" charset="-120"/>
              </a:rPr>
              <a:t>image selection “cloudy / purulent” → SUSPECTED INFECTION</a:t>
            </a:r>
            <a:endParaRPr lang="en-US" sz="1350" dirty="0"/>
          </a:p>
        </p:txBody>
      </p:sp>
      <p:sp>
        <p:nvSpPr>
          <p:cNvPr id="19" name="Text 17"/>
          <p:cNvSpPr/>
          <p:nvPr/>
        </p:nvSpPr>
        <p:spPr>
          <a:xfrm>
            <a:off x="886968" y="4334256"/>
            <a:ext cx="182880" cy="164592"/>
          </a:xfrm>
          <a:prstGeom prst="rect">
            <a:avLst/>
          </a:prstGeom>
          <a:noFill/>
          <a:ln/>
        </p:spPr>
        <p:txBody>
          <a:bodyPr wrap="square" lIns="0" tIns="0" rIns="0" bIns="0" rtlCol="0" anchor="ctr"/>
          <a:lstStyle/>
          <a:p>
            <a:pPr algn="ctr" indent="0" marL="0">
              <a:buNone/>
            </a:pPr>
            <a:r>
              <a:rPr lang="en-US" sz="800" dirty="0">
                <a:solidFill>
                  <a:srgbClr val="5D7186"/>
                </a:solidFill>
                <a:latin typeface="Calibri" pitchFamily="34" charset="0"/>
                <a:ea typeface="Calibri" pitchFamily="34" charset="-122"/>
                <a:cs typeface="Calibri" pitchFamily="34" charset="-120"/>
              </a:rPr>
              <a:t>▼</a:t>
            </a:r>
            <a:endParaRPr lang="en-US" sz="800" dirty="0"/>
          </a:p>
        </p:txBody>
      </p:sp>
      <p:sp>
        <p:nvSpPr>
          <p:cNvPr id="20" name="Shape 18"/>
          <p:cNvSpPr/>
          <p:nvPr/>
        </p:nvSpPr>
        <p:spPr>
          <a:xfrm>
            <a:off x="566928" y="4498848"/>
            <a:ext cx="822960" cy="548640"/>
          </a:xfrm>
          <a:prstGeom prst="roundRect">
            <a:avLst>
              <a:gd name="adj" fmla="val 13333"/>
            </a:avLst>
          </a:prstGeom>
          <a:solidFill>
            <a:srgbClr val="1A7F4B"/>
          </a:solidFill>
          <a:ln w="12700">
            <a:solidFill>
              <a:srgbClr val="1A7F4B"/>
            </a:solidFill>
            <a:prstDash val="solid"/>
          </a:ln>
        </p:spPr>
      </p:sp>
      <p:sp>
        <p:nvSpPr>
          <p:cNvPr id="21" name="Text 19"/>
          <p:cNvSpPr/>
          <p:nvPr/>
        </p:nvSpPr>
        <p:spPr>
          <a:xfrm>
            <a:off x="566928" y="4498848"/>
            <a:ext cx="82296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QA</a:t>
            </a:r>
            <a:endParaRPr lang="en-US" sz="1200" dirty="0"/>
          </a:p>
        </p:txBody>
      </p:sp>
      <p:sp>
        <p:nvSpPr>
          <p:cNvPr id="22" name="Text 20"/>
          <p:cNvSpPr/>
          <p:nvPr/>
        </p:nvSpPr>
        <p:spPr>
          <a:xfrm>
            <a:off x="1618488" y="4498848"/>
            <a:ext cx="9966960" cy="548640"/>
          </a:xfrm>
          <a:prstGeom prst="rect">
            <a:avLst/>
          </a:prstGeom>
          <a:noFill/>
          <a:ln/>
        </p:spPr>
        <p:txBody>
          <a:bodyPr wrap="square" lIns="0" tIns="0" rIns="0" bIns="0" rtlCol="0" anchor="ctr"/>
          <a:lstStyle/>
          <a:p>
            <a:pPr indent="0" marL="0">
              <a:buNone/>
            </a:pPr>
            <a:r>
              <a:rPr lang="en-US" sz="1350" dirty="0">
                <a:solidFill>
                  <a:srgbClr val="12202E"/>
                </a:solidFill>
                <a:latin typeface="Calibri" pitchFamily="34" charset="0"/>
                <a:ea typeface="Calibri" pitchFamily="34" charset="-122"/>
                <a:cs typeface="Calibri" pitchFamily="34" charset="-120"/>
              </a:rPr>
              <a:t>T10, T15 — passed · challenge C-09 documents the severity/urgency split</a:t>
            </a:r>
            <a:endParaRPr lang="en-US" sz="1350" dirty="0"/>
          </a:p>
        </p:txBody>
      </p:sp>
      <p:sp>
        <p:nvSpPr>
          <p:cNvPr id="23" name="Text 21"/>
          <p:cNvSpPr/>
          <p:nvPr/>
        </p:nvSpPr>
        <p:spPr>
          <a:xfrm>
            <a:off x="886968" y="5047488"/>
            <a:ext cx="182880" cy="164592"/>
          </a:xfrm>
          <a:prstGeom prst="rect">
            <a:avLst/>
          </a:prstGeom>
          <a:noFill/>
          <a:ln/>
        </p:spPr>
        <p:txBody>
          <a:bodyPr wrap="square" lIns="0" tIns="0" rIns="0" bIns="0" rtlCol="0" anchor="ctr"/>
          <a:lstStyle/>
          <a:p>
            <a:pPr algn="ctr" indent="0" marL="0">
              <a:buNone/>
            </a:pPr>
            <a:r>
              <a:rPr lang="en-US" sz="800" dirty="0">
                <a:solidFill>
                  <a:srgbClr val="5D7186"/>
                </a:solidFill>
                <a:latin typeface="Calibri" pitchFamily="34" charset="0"/>
                <a:ea typeface="Calibri" pitchFamily="34" charset="-122"/>
                <a:cs typeface="Calibri" pitchFamily="34" charset="-120"/>
              </a:rPr>
              <a:t>▼</a:t>
            </a:r>
            <a:endParaRPr lang="en-US" sz="800" dirty="0"/>
          </a:p>
        </p:txBody>
      </p:sp>
      <p:sp>
        <p:nvSpPr>
          <p:cNvPr id="24" name="Shape 22"/>
          <p:cNvSpPr/>
          <p:nvPr/>
        </p:nvSpPr>
        <p:spPr>
          <a:xfrm>
            <a:off x="566928" y="5212080"/>
            <a:ext cx="822960" cy="548640"/>
          </a:xfrm>
          <a:prstGeom prst="roundRect">
            <a:avLst>
              <a:gd name="adj" fmla="val 13333"/>
            </a:avLst>
          </a:prstGeom>
          <a:solidFill>
            <a:srgbClr val="F5F7FA"/>
          </a:solidFill>
          <a:ln w="12700">
            <a:solidFill>
              <a:srgbClr val="DDE5EE"/>
            </a:solidFill>
            <a:prstDash val="solid"/>
          </a:ln>
        </p:spPr>
      </p:sp>
      <p:sp>
        <p:nvSpPr>
          <p:cNvPr id="25" name="Text 23"/>
          <p:cNvSpPr/>
          <p:nvPr/>
        </p:nvSpPr>
        <p:spPr>
          <a:xfrm>
            <a:off x="566928" y="5212080"/>
            <a:ext cx="822960" cy="548640"/>
          </a:xfrm>
          <a:prstGeom prst="rect">
            <a:avLst/>
          </a:prstGeom>
          <a:noFill/>
          <a:ln/>
        </p:spPr>
        <p:txBody>
          <a:bodyPr wrap="square" lIns="0" tIns="0" rIns="0" bIns="0" rtlCol="0" anchor="ctr"/>
          <a:lstStyle/>
          <a:p>
            <a:pPr algn="ctr" indent="0" marL="0">
              <a:buNone/>
            </a:pPr>
            <a:r>
              <a:rPr lang="en-US" sz="1200" b="1" dirty="0">
                <a:solidFill>
                  <a:srgbClr val="5D7186"/>
                </a:solidFill>
                <a:latin typeface="Calibri" pitchFamily="34" charset="0"/>
                <a:ea typeface="Calibri" pitchFamily="34" charset="-122"/>
                <a:cs typeface="Calibri" pitchFamily="34" charset="-120"/>
              </a:rPr>
              <a:t>FHIR</a:t>
            </a:r>
            <a:endParaRPr lang="en-US" sz="1200" dirty="0"/>
          </a:p>
        </p:txBody>
      </p:sp>
      <p:sp>
        <p:nvSpPr>
          <p:cNvPr id="26" name="Text 24"/>
          <p:cNvSpPr/>
          <p:nvPr/>
        </p:nvSpPr>
        <p:spPr>
          <a:xfrm>
            <a:off x="1618488" y="5212080"/>
            <a:ext cx="9966960" cy="548640"/>
          </a:xfrm>
          <a:prstGeom prst="rect">
            <a:avLst/>
          </a:prstGeom>
          <a:noFill/>
          <a:ln/>
        </p:spPr>
        <p:txBody>
          <a:bodyPr wrap="square" lIns="0" tIns="0" rIns="0" bIns="0" rtlCol="0" anchor="ctr"/>
          <a:lstStyle/>
          <a:p>
            <a:pPr indent="0" marL="0">
              <a:buNone/>
            </a:pPr>
            <a:r>
              <a:rPr lang="en-US" sz="1350" dirty="0">
                <a:solidFill>
                  <a:srgbClr val="12202E"/>
                </a:solidFill>
                <a:latin typeface="Calibri" pitchFamily="34" charset="0"/>
                <a:ea typeface="Calibri" pitchFamily="34" charset="-122"/>
                <a:cs typeface="Calibri" pitchFamily="34" charset="-120"/>
              </a:rPr>
              <a:t>QuestionnaireResponse.item[secretion] + Observation.component</a:t>
            </a:r>
            <a:endParaRPr lang="en-US" sz="1350" dirty="0"/>
          </a:p>
        </p:txBody>
      </p:sp>
      <p:sp>
        <p:nvSpPr>
          <p:cNvPr id="27" name="Text 25"/>
          <p:cNvSpPr/>
          <p:nvPr/>
        </p:nvSpPr>
        <p:spPr>
          <a:xfrm>
            <a:off x="566928" y="5943600"/>
            <a:ext cx="11064240" cy="274320"/>
          </a:xfrm>
          <a:prstGeom prst="rect">
            <a:avLst/>
          </a:prstGeom>
          <a:noFill/>
          <a:ln/>
        </p:spPr>
        <p:txBody>
          <a:bodyPr wrap="square" lIns="0" tIns="0" rIns="0" bIns="0" rtlCol="0" anchor="ctr"/>
          <a:lstStyle/>
          <a:p>
            <a:pPr indent="0" marL="0">
              <a:buNone/>
            </a:pPr>
            <a:r>
              <a:rPr lang="en-US" sz="1150" i="1" dirty="0">
                <a:solidFill>
                  <a:srgbClr val="5D7186"/>
                </a:solidFill>
                <a:latin typeface="Calibri" pitchFamily="34" charset="0"/>
                <a:ea typeface="Calibri" pitchFamily="34" charset="-122"/>
                <a:cs typeface="Calibri" pitchFamily="34" charset="-120"/>
              </a:rPr>
              <a:t>Every element, rule, challenge, hazard, test and defect carries an ID that is identical in all artefacts.</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indent="0" marL="0">
              <a:buNone/>
            </a:pPr>
            <a:r>
              <a:rPr lang="en-US" sz="1050" b="1" spc="160" kern="0" dirty="0">
                <a:solidFill>
                  <a:srgbClr val="5D7186"/>
                </a:solidFill>
                <a:latin typeface="Calibri" pitchFamily="34" charset="0"/>
                <a:ea typeface="Calibri" pitchFamily="34" charset="-122"/>
                <a:cs typeface="Calibri" pitchFamily="34" charset="-120"/>
              </a:rPr>
              <a:t>BACKUP · L3 · WUNDCHECK-L3.JSON V0.3.4</a:t>
            </a:r>
            <a:endParaRPr lang="en-US" sz="1050" dirty="0"/>
          </a:p>
        </p:txBody>
      </p:sp>
      <p:sp>
        <p:nvSpPr>
          <p:cNvPr id="3" name="Text 1"/>
          <p:cNvSpPr/>
          <p:nvPr/>
        </p:nvSpPr>
        <p:spPr>
          <a:xfrm>
            <a:off x="566928" y="640080"/>
            <a:ext cx="10607040" cy="658368"/>
          </a:xfrm>
          <a:prstGeom prst="rect">
            <a:avLst/>
          </a:prstGeom>
          <a:noFill/>
          <a:ln/>
        </p:spPr>
        <p:txBody>
          <a:bodyPr wrap="square" lIns="0" tIns="0" rIns="0" bIns="0" rtlCol="0" anchor="t"/>
          <a:lstStyle/>
          <a:p>
            <a:pPr indent="0" marL="0">
              <a:buNone/>
            </a:pPr>
            <a:r>
              <a:rPr lang="en-US" sz="2700" b="1" dirty="0">
                <a:solidFill>
                  <a:srgbClr val="12202E"/>
                </a:solidFill>
                <a:latin typeface="Cambria" pitchFamily="34" charset="0"/>
                <a:ea typeface="Cambria" pitchFamily="34" charset="-122"/>
                <a:cs typeface="Cambria" pitchFamily="34" charset="-120"/>
              </a:rPr>
              <a:t>The L3 in one screen — this file is the CDSS</a:t>
            </a:r>
            <a:endParaRPr lang="en-US" sz="2700" dirty="0"/>
          </a:p>
        </p:txBody>
      </p:sp>
      <p:sp>
        <p:nvSpPr>
          <p:cNvPr id="4" name="Shape 2"/>
          <p:cNvSpPr/>
          <p:nvPr/>
        </p:nvSpPr>
        <p:spPr>
          <a:xfrm>
            <a:off x="566928" y="1554480"/>
            <a:ext cx="7818120" cy="4617720"/>
          </a:xfrm>
          <a:prstGeom prst="roundRect">
            <a:avLst>
              <a:gd name="adj" fmla="val 1782"/>
            </a:avLst>
          </a:prstGeom>
          <a:solidFill>
            <a:srgbClr val="F5F7FA"/>
          </a:solidFill>
          <a:ln w="12700">
            <a:solidFill>
              <a:srgbClr val="DDE5EE"/>
            </a:solidFill>
            <a:prstDash val="solid"/>
          </a:ln>
        </p:spPr>
      </p:sp>
      <p:sp>
        <p:nvSpPr>
          <p:cNvPr id="5" name="Text 3"/>
          <p:cNvSpPr/>
          <p:nvPr/>
        </p:nvSpPr>
        <p:spPr>
          <a:xfrm>
            <a:off x="804672" y="1682496"/>
            <a:ext cx="7406640" cy="182880"/>
          </a:xfrm>
          <a:prstGeom prst="rect">
            <a:avLst/>
          </a:prstGeom>
          <a:noFill/>
          <a:ln/>
        </p:spPr>
        <p:txBody>
          <a:bodyPr wrap="square" lIns="0" tIns="0" rIns="0" bIns="0" rtlCol="0" anchor="ctr"/>
          <a:lstStyle/>
          <a:p>
            <a:pPr indent="0" marL="0">
              <a:buNone/>
            </a:pPr>
            <a:r>
              <a:rPr lang="en-US" sz="900" dirty="0">
                <a:solidFill>
                  <a:srgbClr val="5D7186"/>
                </a:solidFill>
                <a:latin typeface="Consolas" pitchFamily="34" charset="0"/>
                <a:ea typeface="Consolas" pitchFamily="34" charset="-122"/>
                <a:cs typeface="Consolas" pitchFamily="34" charset="-120"/>
              </a:rPr>
              <a:t>{ "meta": {</a:t>
            </a:r>
            <a:endParaRPr lang="en-US" sz="900" dirty="0"/>
          </a:p>
        </p:txBody>
      </p:sp>
      <p:sp>
        <p:nvSpPr>
          <p:cNvPr id="6" name="Text 4"/>
          <p:cNvSpPr/>
          <p:nvPr/>
        </p:nvSpPr>
        <p:spPr>
          <a:xfrm>
            <a:off x="804672" y="1872691"/>
            <a:ext cx="7406640" cy="182880"/>
          </a:xfrm>
          <a:prstGeom prst="rect">
            <a:avLst/>
          </a:prstGeom>
          <a:noFill/>
          <a:ln/>
        </p:spPr>
        <p:txBody>
          <a:bodyPr wrap="square" lIns="0" tIns="0" rIns="0" bIns="0" rtlCol="0" anchor="ctr"/>
          <a:lstStyle/>
          <a:p>
            <a:pPr indent="0" marL="0">
              <a:buNone/>
            </a:pPr>
            <a:r>
              <a:rPr lang="en-US" sz="900" dirty="0">
                <a:solidFill>
                  <a:srgbClr val="12202E"/>
                </a:solidFill>
                <a:latin typeface="Consolas" pitchFamily="34" charset="0"/>
                <a:ea typeface="Consolas" pitchFamily="34" charset="-122"/>
                <a:cs typeface="Consolas" pitchFamily="34" charset="-120"/>
              </a:rPr>
              <a:t>    "version": "0.3.3",  "languages": ["en","de"],  "default_language": "en",</a:t>
            </a:r>
            <a:endParaRPr lang="en-US" sz="900" dirty="0"/>
          </a:p>
        </p:txBody>
      </p:sp>
      <p:sp>
        <p:nvSpPr>
          <p:cNvPr id="7" name="Text 5"/>
          <p:cNvSpPr/>
          <p:nvPr/>
        </p:nvSpPr>
        <p:spPr>
          <a:xfrm>
            <a:off x="804672" y="2062886"/>
            <a:ext cx="7406640" cy="182880"/>
          </a:xfrm>
          <a:prstGeom prst="rect">
            <a:avLst/>
          </a:prstGeom>
          <a:noFill/>
          <a:ln/>
        </p:spPr>
        <p:txBody>
          <a:bodyPr wrap="square" lIns="0" tIns="0" rIns="0" bIns="0" rtlCol="0" anchor="ctr"/>
          <a:lstStyle/>
          <a:p>
            <a:pPr indent="0" marL="0">
              <a:buNone/>
            </a:pPr>
            <a:r>
              <a:rPr lang="en-US" sz="900" dirty="0">
                <a:solidFill>
                  <a:srgbClr val="12202E"/>
                </a:solidFill>
                <a:latin typeface="Consolas" pitchFamily="34" charset="0"/>
                <a:ea typeface="Consolas" pitchFamily="34" charset="-122"/>
                <a:cs typeface="Consolas" pitchFamily="34" charset="-120"/>
              </a:rPr>
              <a:t>    "l1_sources": [ CDC/NHSN · NICE NG125 · Southampton · Campwala 2019 ],</a:t>
            </a:r>
            <a:endParaRPr lang="en-US" sz="900" dirty="0"/>
          </a:p>
        </p:txBody>
      </p:sp>
      <p:sp>
        <p:nvSpPr>
          <p:cNvPr id="8" name="Text 6"/>
          <p:cNvSpPr/>
          <p:nvPr/>
        </p:nvSpPr>
        <p:spPr>
          <a:xfrm>
            <a:off x="804672" y="2253082"/>
            <a:ext cx="7406640" cy="182880"/>
          </a:xfrm>
          <a:prstGeom prst="rect">
            <a:avLst/>
          </a:prstGeom>
          <a:noFill/>
          <a:ln/>
        </p:spPr>
        <p:txBody>
          <a:bodyPr wrap="square" lIns="0" tIns="0" rIns="0" bIns="0" rtlCol="0" anchor="ctr"/>
          <a:lstStyle/>
          <a:p>
            <a:pPr indent="0" marL="0">
              <a:buNone/>
            </a:pPr>
            <a:r>
              <a:rPr lang="en-US" sz="900" dirty="0">
                <a:solidFill>
                  <a:srgbClr val="1A7F4B"/>
                </a:solidFill>
                <a:latin typeface="Consolas" pitchFamily="34" charset="0"/>
                <a:ea typeface="Consolas" pitchFamily="34" charset="-122"/>
                <a:cs typeface="Consolas" pitchFamily="34" charset="-120"/>
              </a:rPr>
              <a:t>    "thresholds": { "fever_orange": 38.0,   // CDC — deep incisional SSI</a:t>
            </a:r>
            <a:endParaRPr lang="en-US" sz="900" dirty="0"/>
          </a:p>
        </p:txBody>
      </p:sp>
      <p:sp>
        <p:nvSpPr>
          <p:cNvPr id="9" name="Text 7"/>
          <p:cNvSpPr/>
          <p:nvPr/>
        </p:nvSpPr>
        <p:spPr>
          <a:xfrm>
            <a:off x="804672" y="2443277"/>
            <a:ext cx="7406640" cy="182880"/>
          </a:xfrm>
          <a:prstGeom prst="rect">
            <a:avLst/>
          </a:prstGeom>
          <a:noFill/>
          <a:ln/>
        </p:spPr>
        <p:txBody>
          <a:bodyPr wrap="square" lIns="0" tIns="0" rIns="0" bIns="0" rtlCol="0" anchor="ctr"/>
          <a:lstStyle/>
          <a:p>
            <a:pPr indent="0" marL="0">
              <a:buNone/>
            </a:pPr>
            <a:r>
              <a:rPr lang="en-US" sz="900" dirty="0">
                <a:solidFill>
                  <a:srgbClr val="1A7F4B"/>
                </a:solidFill>
                <a:latin typeface="Consolas" pitchFamily="34" charset="0"/>
                <a:ea typeface="Consolas" pitchFamily="34" charset="-122"/>
                <a:cs typeface="Consolas" pitchFamily="34" charset="-120"/>
              </a:rPr>
              <a:t>                    "fever_red":    39.0,   // group decision — challenge C-07</a:t>
            </a:r>
            <a:endParaRPr lang="en-US" sz="900" dirty="0"/>
          </a:p>
        </p:txBody>
      </p:sp>
      <p:sp>
        <p:nvSpPr>
          <p:cNvPr id="10" name="Text 8"/>
          <p:cNvSpPr/>
          <p:nvPr/>
        </p:nvSpPr>
        <p:spPr>
          <a:xfrm>
            <a:off x="804672" y="2633472"/>
            <a:ext cx="7406640" cy="182880"/>
          </a:xfrm>
          <a:prstGeom prst="rect">
            <a:avLst/>
          </a:prstGeom>
          <a:noFill/>
          <a:ln/>
        </p:spPr>
        <p:txBody>
          <a:bodyPr wrap="square" lIns="0" tIns="0" rIns="0" bIns="0" rtlCol="0" anchor="ctr"/>
          <a:lstStyle/>
          <a:p>
            <a:pPr indent="0" marL="0">
              <a:buNone/>
            </a:pPr>
            <a:r>
              <a:rPr lang="en-US" sz="900" dirty="0">
                <a:solidFill>
                  <a:srgbClr val="1A7F4B"/>
                </a:solidFill>
                <a:latin typeface="Consolas" pitchFamily="34" charset="0"/>
                <a:ea typeface="Consolas" pitchFamily="34" charset="-122"/>
                <a:cs typeface="Consolas" pitchFamily="34" charset="-120"/>
              </a:rPr>
              <a:t>                    "normal_healing_days": 3 },  // group decision — C-03</a:t>
            </a:r>
            <a:endParaRPr lang="en-US" sz="900" dirty="0"/>
          </a:p>
        </p:txBody>
      </p:sp>
      <p:sp>
        <p:nvSpPr>
          <p:cNvPr id="11" name="Text 9"/>
          <p:cNvSpPr/>
          <p:nvPr/>
        </p:nvSpPr>
        <p:spPr>
          <a:xfrm>
            <a:off x="804672" y="2823667"/>
            <a:ext cx="7406640" cy="182880"/>
          </a:xfrm>
          <a:prstGeom prst="rect">
            <a:avLst/>
          </a:prstGeom>
          <a:noFill/>
          <a:ln/>
        </p:spPr>
        <p:txBody>
          <a:bodyPr wrap="square" lIns="0" tIns="0" rIns="0" bIns="0" rtlCol="0" anchor="ctr"/>
          <a:lstStyle/>
          <a:p>
            <a:pPr indent="0" marL="0">
              <a:buNone/>
            </a:pPr>
            <a:r>
              <a:rPr lang="en-US" sz="900" dirty="0">
                <a:solidFill>
                  <a:srgbClr val="C25C07"/>
                </a:solidFill>
                <a:latin typeface="Consolas" pitchFamily="34" charset="0"/>
                <a:ea typeface="Consolas" pitchFamily="34" charset="-122"/>
                <a:cs typeface="Consolas" pitchFamily="34" charset="-120"/>
              </a:rPr>
              <a:t>    "fhir": { "endpoint": "…/baseR4", "send_mode": "transaction" } },</a:t>
            </a:r>
            <a:endParaRPr lang="en-US" sz="900" dirty="0"/>
          </a:p>
        </p:txBody>
      </p:sp>
      <p:sp>
        <p:nvSpPr>
          <p:cNvPr id="12" name="Text 10"/>
          <p:cNvSpPr/>
          <p:nvPr/>
        </p:nvSpPr>
        <p:spPr>
          <a:xfrm>
            <a:off x="804672" y="3013862"/>
            <a:ext cx="7406640" cy="182880"/>
          </a:xfrm>
          <a:prstGeom prst="rect">
            <a:avLst/>
          </a:prstGeom>
          <a:noFill/>
          <a:ln/>
        </p:spPr>
        <p:txBody>
          <a:bodyPr wrap="square" lIns="0" tIns="0" rIns="0" bIns="0" rtlCol="0" anchor="ctr"/>
          <a:lstStyle/>
          <a:p>
            <a:pPr indent="0" marL="0">
              <a:buNone/>
            </a:pPr>
            <a:endParaRPr lang="en-US" sz="900" dirty="0"/>
          </a:p>
        </p:txBody>
      </p:sp>
      <p:sp>
        <p:nvSpPr>
          <p:cNvPr id="13" name="Text 11"/>
          <p:cNvSpPr/>
          <p:nvPr/>
        </p:nvSpPr>
        <p:spPr>
          <a:xfrm>
            <a:off x="804672" y="3204058"/>
            <a:ext cx="7406640" cy="182880"/>
          </a:xfrm>
          <a:prstGeom prst="rect">
            <a:avLst/>
          </a:prstGeom>
          <a:noFill/>
          <a:ln/>
        </p:spPr>
        <p:txBody>
          <a:bodyPr wrap="square" lIns="0" tIns="0" rIns="0" bIns="0" rtlCol="0" anchor="ctr"/>
          <a:lstStyle/>
          <a:p>
            <a:pPr indent="0" marL="0">
              <a:buNone/>
            </a:pPr>
            <a:r>
              <a:rPr lang="en-US" sz="900" dirty="0">
                <a:solidFill>
                  <a:srgbClr val="5D7186"/>
                </a:solidFill>
                <a:latin typeface="Consolas" pitchFamily="34" charset="0"/>
                <a:ea typeface="Consolas" pitchFamily="34" charset="-122"/>
                <a:cs typeface="Consolas" pitchFamily="34" charset="-120"/>
              </a:rPr>
              <a:t>  "elements": [ {</a:t>
            </a:r>
            <a:endParaRPr lang="en-US" sz="900" dirty="0"/>
          </a:p>
        </p:txBody>
      </p:sp>
      <p:sp>
        <p:nvSpPr>
          <p:cNvPr id="14" name="Text 12"/>
          <p:cNvSpPr/>
          <p:nvPr/>
        </p:nvSpPr>
        <p:spPr>
          <a:xfrm>
            <a:off x="804672" y="3394253"/>
            <a:ext cx="7406640" cy="182880"/>
          </a:xfrm>
          <a:prstGeom prst="rect">
            <a:avLst/>
          </a:prstGeom>
          <a:noFill/>
          <a:ln/>
        </p:spPr>
        <p:txBody>
          <a:bodyPr wrap="square" lIns="0" tIns="0" rIns="0" bIns="0" rtlCol="0" anchor="ctr"/>
          <a:lstStyle/>
          <a:p>
            <a:pPr indent="0" marL="0">
              <a:buNone/>
            </a:pPr>
            <a:r>
              <a:rPr lang="en-US" sz="900" dirty="0">
                <a:solidFill>
                  <a:srgbClr val="12202E"/>
                </a:solidFill>
                <a:latin typeface="Consolas" pitchFamily="34" charset="0"/>
                <a:ea typeface="Consolas" pitchFamily="34" charset="-122"/>
                <a:cs typeface="Consolas" pitchFamily="34" charset="-120"/>
              </a:rPr>
              <a:t>      "id": "secretion",  "de_id": "DE-035",  "type": "select_one",</a:t>
            </a:r>
            <a:endParaRPr lang="en-US" sz="900" dirty="0"/>
          </a:p>
        </p:txBody>
      </p:sp>
      <p:sp>
        <p:nvSpPr>
          <p:cNvPr id="15" name="Text 13"/>
          <p:cNvSpPr/>
          <p:nvPr/>
        </p:nvSpPr>
        <p:spPr>
          <a:xfrm>
            <a:off x="804672" y="3584448"/>
            <a:ext cx="7406640" cy="182880"/>
          </a:xfrm>
          <a:prstGeom prst="rect">
            <a:avLst/>
          </a:prstGeom>
          <a:noFill/>
          <a:ln/>
        </p:spPr>
        <p:txBody>
          <a:bodyPr wrap="square" lIns="0" tIns="0" rIns="0" bIns="0" rtlCol="0" anchor="ctr"/>
          <a:lstStyle/>
          <a:p>
            <a:pPr indent="0" marL="0">
              <a:buNone/>
            </a:pPr>
            <a:r>
              <a:rPr lang="en-US" sz="900" dirty="0">
                <a:solidFill>
                  <a:srgbClr val="12202E"/>
                </a:solidFill>
                <a:latin typeface="Consolas" pitchFamily="34" charset="0"/>
                <a:ea typeface="Consolas" pitchFamily="34" charset="-122"/>
                <a:cs typeface="Consolas" pitchFamily="34" charset="-120"/>
              </a:rPr>
              <a:t>      "label":   { "en": "Is fluid coming out of the wound?",</a:t>
            </a:r>
            <a:endParaRPr lang="en-US" sz="900" dirty="0"/>
          </a:p>
        </p:txBody>
      </p:sp>
      <p:sp>
        <p:nvSpPr>
          <p:cNvPr id="16" name="Text 14"/>
          <p:cNvSpPr/>
          <p:nvPr/>
        </p:nvSpPr>
        <p:spPr>
          <a:xfrm>
            <a:off x="804672" y="3774643"/>
            <a:ext cx="7406640" cy="182880"/>
          </a:xfrm>
          <a:prstGeom prst="rect">
            <a:avLst/>
          </a:prstGeom>
          <a:noFill/>
          <a:ln/>
        </p:spPr>
        <p:txBody>
          <a:bodyPr wrap="square" lIns="0" tIns="0" rIns="0" bIns="0" rtlCol="0" anchor="ctr"/>
          <a:lstStyle/>
          <a:p>
            <a:pPr indent="0" marL="0">
              <a:buNone/>
            </a:pPr>
            <a:r>
              <a:rPr lang="en-US" sz="900" dirty="0">
                <a:solidFill>
                  <a:srgbClr val="12202E"/>
                </a:solidFill>
                <a:latin typeface="Consolas" pitchFamily="34" charset="0"/>
                <a:ea typeface="Consolas" pitchFamily="34" charset="-122"/>
                <a:cs typeface="Consolas" pitchFamily="34" charset="-120"/>
              </a:rPr>
              <a:t>                   "de": "Kommt Flüssigkeit aus der Wunde?" },</a:t>
            </a:r>
            <a:endParaRPr lang="en-US" sz="900" dirty="0"/>
          </a:p>
        </p:txBody>
      </p:sp>
      <p:sp>
        <p:nvSpPr>
          <p:cNvPr id="17" name="Text 15"/>
          <p:cNvSpPr/>
          <p:nvPr/>
        </p:nvSpPr>
        <p:spPr>
          <a:xfrm>
            <a:off x="804672" y="3964838"/>
            <a:ext cx="7406640" cy="182880"/>
          </a:xfrm>
          <a:prstGeom prst="rect">
            <a:avLst/>
          </a:prstGeom>
          <a:noFill/>
          <a:ln/>
        </p:spPr>
        <p:txBody>
          <a:bodyPr wrap="square" lIns="0" tIns="0" rIns="0" bIns="0" rtlCol="0" anchor="ctr"/>
          <a:lstStyle/>
          <a:p>
            <a:pPr indent="0" marL="0">
              <a:buNone/>
            </a:pPr>
            <a:r>
              <a:rPr lang="en-US" sz="900" dirty="0">
                <a:solidFill>
                  <a:srgbClr val="12202E"/>
                </a:solidFill>
                <a:latin typeface="Consolas" pitchFamily="34" charset="0"/>
                <a:ea typeface="Consolas" pitchFamily="34" charset="-122"/>
                <a:cs typeface="Consolas" pitchFamily="34" charset="-120"/>
              </a:rPr>
              <a:t>      "options": [ 0 = none · 1 = clear · 2 = bloody · 3 = purulent, each with an image ],</a:t>
            </a:r>
            <a:endParaRPr lang="en-US" sz="900" dirty="0"/>
          </a:p>
        </p:txBody>
      </p:sp>
      <p:sp>
        <p:nvSpPr>
          <p:cNvPr id="18" name="Text 16"/>
          <p:cNvSpPr/>
          <p:nvPr/>
        </p:nvSpPr>
        <p:spPr>
          <a:xfrm>
            <a:off x="804672" y="4155034"/>
            <a:ext cx="7406640" cy="182880"/>
          </a:xfrm>
          <a:prstGeom prst="rect">
            <a:avLst/>
          </a:prstGeom>
          <a:noFill/>
          <a:ln/>
        </p:spPr>
        <p:txBody>
          <a:bodyPr wrap="square" lIns="0" tIns="0" rIns="0" bIns="0" rtlCol="0" anchor="ctr"/>
          <a:lstStyle/>
          <a:p>
            <a:pPr indent="0" marL="0">
              <a:buNone/>
            </a:pPr>
            <a:r>
              <a:rPr lang="en-US" sz="900" dirty="0">
                <a:solidFill>
                  <a:srgbClr val="12202E"/>
                </a:solidFill>
                <a:latin typeface="Consolas" pitchFamily="34" charset="0"/>
                <a:ea typeface="Consolas" pitchFamily="34" charset="-122"/>
                <a:cs typeface="Consolas" pitchFamily="34" charset="-120"/>
              </a:rPr>
              <a:t>      "terminology": { "snomed": "449736006" },</a:t>
            </a:r>
            <a:endParaRPr lang="en-US" sz="900" dirty="0"/>
          </a:p>
        </p:txBody>
      </p:sp>
      <p:sp>
        <p:nvSpPr>
          <p:cNvPr id="19" name="Text 17"/>
          <p:cNvSpPr/>
          <p:nvPr/>
        </p:nvSpPr>
        <p:spPr>
          <a:xfrm>
            <a:off x="804672" y="4345229"/>
            <a:ext cx="7406640" cy="182880"/>
          </a:xfrm>
          <a:prstGeom prst="rect">
            <a:avLst/>
          </a:prstGeom>
          <a:noFill/>
          <a:ln/>
        </p:spPr>
        <p:txBody>
          <a:bodyPr wrap="square" lIns="0" tIns="0" rIns="0" bIns="0" rtlCol="0" anchor="ctr"/>
          <a:lstStyle/>
          <a:p>
            <a:pPr indent="0" marL="0">
              <a:buNone/>
            </a:pPr>
            <a:r>
              <a:rPr lang="en-US" sz="900" dirty="0">
                <a:solidFill>
                  <a:srgbClr val="12202E"/>
                </a:solidFill>
                <a:latin typeface="Consolas" pitchFamily="34" charset="0"/>
                <a:ea typeface="Consolas" pitchFamily="34" charset="-122"/>
                <a:cs typeface="Consolas" pitchFamily="34" charset="-120"/>
              </a:rPr>
              <a:t>      "fhir": "Observation.valueCodeableConcept",</a:t>
            </a:r>
            <a:endParaRPr lang="en-US" sz="900" dirty="0"/>
          </a:p>
        </p:txBody>
      </p:sp>
      <p:sp>
        <p:nvSpPr>
          <p:cNvPr id="20" name="Text 18"/>
          <p:cNvSpPr/>
          <p:nvPr/>
        </p:nvSpPr>
        <p:spPr>
          <a:xfrm>
            <a:off x="804672" y="4535424"/>
            <a:ext cx="7406640" cy="182880"/>
          </a:xfrm>
          <a:prstGeom prst="rect">
            <a:avLst/>
          </a:prstGeom>
          <a:noFill/>
          <a:ln/>
        </p:spPr>
        <p:txBody>
          <a:bodyPr wrap="square" lIns="0" tIns="0" rIns="0" bIns="0" rtlCol="0" anchor="ctr"/>
          <a:lstStyle/>
          <a:p>
            <a:pPr indent="0" marL="0">
              <a:buNone/>
            </a:pPr>
            <a:r>
              <a:rPr lang="en-US" sz="900" dirty="0">
                <a:solidFill>
                  <a:srgbClr val="12202E"/>
                </a:solidFill>
                <a:latin typeface="Consolas" pitchFamily="34" charset="0"/>
                <a:ea typeface="Consolas" pitchFamily="34" charset="-122"/>
                <a:cs typeface="Consolas" pitchFamily="34" charset="-120"/>
              </a:rPr>
              <a:t>      "l1_source": "CDC/NHSN — purulent drainage · Southampton III–IV" } ],</a:t>
            </a:r>
            <a:endParaRPr lang="en-US" sz="900" dirty="0"/>
          </a:p>
        </p:txBody>
      </p:sp>
      <p:sp>
        <p:nvSpPr>
          <p:cNvPr id="21" name="Text 19"/>
          <p:cNvSpPr/>
          <p:nvPr/>
        </p:nvSpPr>
        <p:spPr>
          <a:xfrm>
            <a:off x="804672" y="4725619"/>
            <a:ext cx="7406640" cy="182880"/>
          </a:xfrm>
          <a:prstGeom prst="rect">
            <a:avLst/>
          </a:prstGeom>
          <a:noFill/>
          <a:ln/>
        </p:spPr>
        <p:txBody>
          <a:bodyPr wrap="square" lIns="0" tIns="0" rIns="0" bIns="0" rtlCol="0" anchor="ctr"/>
          <a:lstStyle/>
          <a:p>
            <a:pPr indent="0" marL="0">
              <a:buNone/>
            </a:pPr>
            <a:endParaRPr lang="en-US" sz="900" dirty="0"/>
          </a:p>
        </p:txBody>
      </p:sp>
      <p:sp>
        <p:nvSpPr>
          <p:cNvPr id="22" name="Text 20"/>
          <p:cNvSpPr/>
          <p:nvPr/>
        </p:nvSpPr>
        <p:spPr>
          <a:xfrm>
            <a:off x="804672" y="4915814"/>
            <a:ext cx="7406640" cy="182880"/>
          </a:xfrm>
          <a:prstGeom prst="rect">
            <a:avLst/>
          </a:prstGeom>
          <a:noFill/>
          <a:ln/>
        </p:spPr>
        <p:txBody>
          <a:bodyPr wrap="square" lIns="0" tIns="0" rIns="0" bIns="0" rtlCol="0" anchor="ctr"/>
          <a:lstStyle/>
          <a:p>
            <a:pPr indent="0" marL="0">
              <a:buNone/>
            </a:pPr>
            <a:r>
              <a:rPr lang="en-US" sz="900" dirty="0">
                <a:solidFill>
                  <a:srgbClr val="5D7186"/>
                </a:solidFill>
                <a:latin typeface="Consolas" pitchFamily="34" charset="0"/>
                <a:ea typeface="Consolas" pitchFamily="34" charset="-122"/>
                <a:cs typeface="Consolas" pitchFamily="34" charset="-120"/>
              </a:rPr>
              <a:t>  "decision_rules": [ {</a:t>
            </a:r>
            <a:endParaRPr lang="en-US" sz="900" dirty="0"/>
          </a:p>
        </p:txBody>
      </p:sp>
      <p:sp>
        <p:nvSpPr>
          <p:cNvPr id="23" name="Text 21"/>
          <p:cNvSpPr/>
          <p:nvPr/>
        </p:nvSpPr>
        <p:spPr>
          <a:xfrm>
            <a:off x="804672" y="5106010"/>
            <a:ext cx="7406640" cy="182880"/>
          </a:xfrm>
          <a:prstGeom prst="rect">
            <a:avLst/>
          </a:prstGeom>
          <a:noFill/>
          <a:ln/>
        </p:spPr>
        <p:txBody>
          <a:bodyPr wrap="square" lIns="0" tIns="0" rIns="0" bIns="0" rtlCol="0" anchor="ctr"/>
          <a:lstStyle/>
          <a:p>
            <a:pPr indent="0" marL="0">
              <a:buNone/>
            </a:pPr>
            <a:r>
              <a:rPr lang="en-US" sz="900" dirty="0">
                <a:solidFill>
                  <a:srgbClr val="12202E"/>
                </a:solidFill>
                <a:latin typeface="Consolas" pitchFamily="34" charset="0"/>
                <a:ea typeface="Consolas" pitchFamily="34" charset="-122"/>
                <a:cs typeface="Consolas" pitchFamily="34" charset="-120"/>
              </a:rPr>
              <a:t>      "id": "R4",  "priority": "orange",  "exclusive": true,</a:t>
            </a:r>
            <a:endParaRPr lang="en-US" sz="900" dirty="0"/>
          </a:p>
        </p:txBody>
      </p:sp>
      <p:sp>
        <p:nvSpPr>
          <p:cNvPr id="24" name="Text 22"/>
          <p:cNvSpPr/>
          <p:nvPr/>
        </p:nvSpPr>
        <p:spPr>
          <a:xfrm>
            <a:off x="804672" y="5296205"/>
            <a:ext cx="7406640" cy="182880"/>
          </a:xfrm>
          <a:prstGeom prst="rect">
            <a:avLst/>
          </a:prstGeom>
          <a:noFill/>
          <a:ln/>
        </p:spPr>
        <p:txBody>
          <a:bodyPr wrap="square" lIns="0" tIns="0" rIns="0" bIns="0" rtlCol="0" anchor="ctr"/>
          <a:lstStyle/>
          <a:p>
            <a:pPr indent="0" marL="0">
              <a:buNone/>
            </a:pPr>
            <a:r>
              <a:rPr lang="en-US" sz="900" dirty="0">
                <a:solidFill>
                  <a:srgbClr val="C0281C"/>
                </a:solidFill>
                <a:latin typeface="Consolas" pitchFamily="34" charset="0"/>
                <a:ea typeface="Consolas" pitchFamily="34" charset="-122"/>
                <a:cs typeface="Consolas" pitchFamily="34" charset="-120"/>
              </a:rPr>
              <a:t>      "when":   "secretion = 3 or secretion_smell = 1",</a:t>
            </a:r>
            <a:endParaRPr lang="en-US" sz="900" dirty="0"/>
          </a:p>
        </p:txBody>
      </p:sp>
      <p:sp>
        <p:nvSpPr>
          <p:cNvPr id="25" name="Text 23"/>
          <p:cNvSpPr/>
          <p:nvPr/>
        </p:nvSpPr>
        <p:spPr>
          <a:xfrm>
            <a:off x="804672" y="5486400"/>
            <a:ext cx="7406640" cy="182880"/>
          </a:xfrm>
          <a:prstGeom prst="rect">
            <a:avLst/>
          </a:prstGeom>
          <a:noFill/>
          <a:ln/>
        </p:spPr>
        <p:txBody>
          <a:bodyPr wrap="square" lIns="0" tIns="0" rIns="0" bIns="0" rtlCol="0" anchor="ctr"/>
          <a:lstStyle/>
          <a:p>
            <a:pPr indent="0" marL="0">
              <a:buNone/>
            </a:pPr>
            <a:r>
              <a:rPr lang="en-US" sz="900" dirty="0">
                <a:solidFill>
                  <a:srgbClr val="12202E"/>
                </a:solidFill>
                <a:latin typeface="Consolas" pitchFamily="34" charset="0"/>
                <a:ea typeface="Consolas" pitchFamily="34" charset="-122"/>
                <a:cs typeface="Consolas" pitchFamily="34" charset="-120"/>
              </a:rPr>
              <a:t>      "output": { "en": "SUSPECTED INFECTION — contact your practice today…" },</a:t>
            </a:r>
            <a:endParaRPr lang="en-US" sz="900" dirty="0"/>
          </a:p>
        </p:txBody>
      </p:sp>
      <p:sp>
        <p:nvSpPr>
          <p:cNvPr id="26" name="Text 24"/>
          <p:cNvSpPr/>
          <p:nvPr/>
        </p:nvSpPr>
        <p:spPr>
          <a:xfrm>
            <a:off x="804672" y="5676595"/>
            <a:ext cx="7406640" cy="182880"/>
          </a:xfrm>
          <a:prstGeom prst="rect">
            <a:avLst/>
          </a:prstGeom>
          <a:noFill/>
          <a:ln/>
        </p:spPr>
        <p:txBody>
          <a:bodyPr wrap="square" lIns="0" tIns="0" rIns="0" bIns="0" rtlCol="0" anchor="ctr"/>
          <a:lstStyle/>
          <a:p>
            <a:pPr indent="0" marL="0">
              <a:buNone/>
            </a:pPr>
            <a:r>
              <a:rPr lang="en-US" sz="900" dirty="0">
                <a:solidFill>
                  <a:srgbClr val="12202E"/>
                </a:solidFill>
                <a:latin typeface="Consolas" pitchFamily="34" charset="0"/>
                <a:ea typeface="Consolas" pitchFamily="34" charset="-122"/>
                <a:cs typeface="Consolas" pitchFamily="34" charset="-120"/>
              </a:rPr>
              <a:t>      "annotation": "Purulent drainage is a primary criterion of superficial SSI.",</a:t>
            </a:r>
            <a:endParaRPr lang="en-US" sz="900" dirty="0"/>
          </a:p>
        </p:txBody>
      </p:sp>
      <p:sp>
        <p:nvSpPr>
          <p:cNvPr id="27" name="Text 25"/>
          <p:cNvSpPr/>
          <p:nvPr/>
        </p:nvSpPr>
        <p:spPr>
          <a:xfrm>
            <a:off x="804672" y="5866790"/>
            <a:ext cx="7406640" cy="182880"/>
          </a:xfrm>
          <a:prstGeom prst="rect">
            <a:avLst/>
          </a:prstGeom>
          <a:noFill/>
          <a:ln/>
        </p:spPr>
        <p:txBody>
          <a:bodyPr wrap="square" lIns="0" tIns="0" rIns="0" bIns="0" rtlCol="0" anchor="ctr"/>
          <a:lstStyle/>
          <a:p>
            <a:pPr indent="0" marL="0">
              <a:buNone/>
            </a:pPr>
            <a:r>
              <a:rPr lang="en-US" sz="900" dirty="0">
                <a:solidFill>
                  <a:srgbClr val="12202E"/>
                </a:solidFill>
                <a:latin typeface="Consolas" pitchFamily="34" charset="0"/>
                <a:ea typeface="Consolas" pitchFamily="34" charset="-122"/>
                <a:cs typeface="Consolas" pitchFamily="34" charset="-120"/>
              </a:rPr>
              <a:t>      "reference":  "CDC/NHSN superficial incisional SSI · Southampton IV" } ] }</a:t>
            </a:r>
            <a:endParaRPr lang="en-US" sz="900" dirty="0"/>
          </a:p>
        </p:txBody>
      </p:sp>
      <p:sp>
        <p:nvSpPr>
          <p:cNvPr id="28" name="Shape 26"/>
          <p:cNvSpPr/>
          <p:nvPr/>
        </p:nvSpPr>
        <p:spPr>
          <a:xfrm>
            <a:off x="8659368" y="1554480"/>
            <a:ext cx="2971800" cy="1060704"/>
          </a:xfrm>
          <a:prstGeom prst="roundRect">
            <a:avLst>
              <a:gd name="adj" fmla="val 7759"/>
            </a:avLst>
          </a:prstGeom>
          <a:solidFill>
            <a:srgbClr val="FFFFFF"/>
          </a:solidFill>
          <a:ln w="12700">
            <a:solidFill>
              <a:srgbClr val="DDE5EE"/>
            </a:solidFill>
            <a:prstDash val="solid"/>
          </a:ln>
        </p:spPr>
      </p:sp>
      <p:sp>
        <p:nvSpPr>
          <p:cNvPr id="29" name="Text 27"/>
          <p:cNvSpPr/>
          <p:nvPr/>
        </p:nvSpPr>
        <p:spPr>
          <a:xfrm>
            <a:off x="8869680" y="1664208"/>
            <a:ext cx="2560320" cy="237744"/>
          </a:xfrm>
          <a:prstGeom prst="rect">
            <a:avLst/>
          </a:prstGeom>
          <a:noFill/>
          <a:ln/>
        </p:spPr>
        <p:txBody>
          <a:bodyPr wrap="square" lIns="0" tIns="0" rIns="0" bIns="0" rtlCol="0" anchor="ctr"/>
          <a:lstStyle/>
          <a:p>
            <a:pPr indent="0" marL="0">
              <a:buNone/>
            </a:pPr>
            <a:r>
              <a:rPr lang="en-US" sz="1050" b="1" dirty="0">
                <a:solidFill>
                  <a:srgbClr val="12202E"/>
                </a:solidFill>
                <a:latin typeface="Calibri" pitchFamily="34" charset="0"/>
                <a:ea typeface="Calibri" pitchFamily="34" charset="-122"/>
                <a:cs typeface="Calibri" pitchFamily="34" charset="-120"/>
              </a:rPr>
              <a:t>Bilingual by construction</a:t>
            </a:r>
            <a:endParaRPr lang="en-US" sz="1050" dirty="0"/>
          </a:p>
        </p:txBody>
      </p:sp>
      <p:sp>
        <p:nvSpPr>
          <p:cNvPr id="30" name="Text 28"/>
          <p:cNvSpPr/>
          <p:nvPr/>
        </p:nvSpPr>
        <p:spPr>
          <a:xfrm>
            <a:off x="8869680" y="1920240"/>
            <a:ext cx="2560320" cy="621792"/>
          </a:xfrm>
          <a:prstGeom prst="rect">
            <a:avLst/>
          </a:prstGeom>
          <a:noFill/>
          <a:ln/>
        </p:spPr>
        <p:txBody>
          <a:bodyPr wrap="square" lIns="0" tIns="0" rIns="0" bIns="0" rtlCol="0" anchor="ctr"/>
          <a:lstStyle/>
          <a:p>
            <a:pPr indent="0" marL="0">
              <a:lnSpc>
                <a:spcPts val="1100"/>
              </a:lnSpc>
              <a:buNone/>
            </a:pPr>
            <a:r>
              <a:rPr lang="en-US" sz="900" dirty="0">
                <a:solidFill>
                  <a:srgbClr val="5D7186"/>
                </a:solidFill>
                <a:latin typeface="Calibri" pitchFamily="34" charset="0"/>
                <a:ea typeface="Calibri" pitchFamily="34" charset="-122"/>
                <a:cs typeface="Calibri" pitchFamily="34" charset="-120"/>
              </a:rPr>
              <a:t>Every user-facing string is a language-keyed object. A further language is a content change, not a code change.</a:t>
            </a:r>
            <a:endParaRPr lang="en-US" sz="900" dirty="0"/>
          </a:p>
        </p:txBody>
      </p:sp>
      <p:sp>
        <p:nvSpPr>
          <p:cNvPr id="31" name="Shape 29"/>
          <p:cNvSpPr/>
          <p:nvPr/>
        </p:nvSpPr>
        <p:spPr>
          <a:xfrm>
            <a:off x="8659368" y="2734056"/>
            <a:ext cx="2971800" cy="1060704"/>
          </a:xfrm>
          <a:prstGeom prst="roundRect">
            <a:avLst>
              <a:gd name="adj" fmla="val 7759"/>
            </a:avLst>
          </a:prstGeom>
          <a:solidFill>
            <a:srgbClr val="FFFFFF"/>
          </a:solidFill>
          <a:ln w="12700">
            <a:solidFill>
              <a:srgbClr val="DDE5EE"/>
            </a:solidFill>
            <a:prstDash val="solid"/>
          </a:ln>
        </p:spPr>
      </p:sp>
      <p:sp>
        <p:nvSpPr>
          <p:cNvPr id="32" name="Text 30"/>
          <p:cNvSpPr/>
          <p:nvPr/>
        </p:nvSpPr>
        <p:spPr>
          <a:xfrm>
            <a:off x="8869680" y="2843784"/>
            <a:ext cx="2560320" cy="237744"/>
          </a:xfrm>
          <a:prstGeom prst="rect">
            <a:avLst/>
          </a:prstGeom>
          <a:noFill/>
          <a:ln/>
        </p:spPr>
        <p:txBody>
          <a:bodyPr wrap="square" lIns="0" tIns="0" rIns="0" bIns="0" rtlCol="0" anchor="ctr"/>
          <a:lstStyle/>
          <a:p>
            <a:pPr indent="0" marL="0">
              <a:buNone/>
            </a:pPr>
            <a:r>
              <a:rPr lang="en-US" sz="1050" b="1" dirty="0">
                <a:solidFill>
                  <a:srgbClr val="12202E"/>
                </a:solidFill>
                <a:latin typeface="Calibri" pitchFamily="34" charset="0"/>
                <a:ea typeface="Calibri" pitchFamily="34" charset="-122"/>
                <a:cs typeface="Calibri" pitchFamily="34" charset="-120"/>
              </a:rPr>
              <a:t>Thresholds carry their source</a:t>
            </a:r>
            <a:endParaRPr lang="en-US" sz="1050" dirty="0"/>
          </a:p>
        </p:txBody>
      </p:sp>
      <p:sp>
        <p:nvSpPr>
          <p:cNvPr id="33" name="Text 31"/>
          <p:cNvSpPr/>
          <p:nvPr/>
        </p:nvSpPr>
        <p:spPr>
          <a:xfrm>
            <a:off x="8869680" y="3099816"/>
            <a:ext cx="2560320" cy="621792"/>
          </a:xfrm>
          <a:prstGeom prst="rect">
            <a:avLst/>
          </a:prstGeom>
          <a:noFill/>
          <a:ln/>
        </p:spPr>
        <p:txBody>
          <a:bodyPr wrap="square" lIns="0" tIns="0" rIns="0" bIns="0" rtlCol="0" anchor="ctr"/>
          <a:lstStyle/>
          <a:p>
            <a:pPr indent="0" marL="0">
              <a:lnSpc>
                <a:spcPts val="1100"/>
              </a:lnSpc>
              <a:buNone/>
            </a:pPr>
            <a:r>
              <a:rPr lang="en-US" sz="900" dirty="0">
                <a:solidFill>
                  <a:srgbClr val="5D7186"/>
                </a:solidFill>
                <a:latin typeface="Calibri" pitchFamily="34" charset="0"/>
                <a:ea typeface="Calibri" pitchFamily="34" charset="-122"/>
                <a:cs typeface="Calibri" pitchFamily="34" charset="-120"/>
              </a:rPr>
              <a:t>Each constant names where it comes from — a guideline value or a documented group decision.</a:t>
            </a:r>
            <a:endParaRPr lang="en-US" sz="900" dirty="0"/>
          </a:p>
        </p:txBody>
      </p:sp>
      <p:sp>
        <p:nvSpPr>
          <p:cNvPr id="34" name="Shape 32"/>
          <p:cNvSpPr/>
          <p:nvPr/>
        </p:nvSpPr>
        <p:spPr>
          <a:xfrm>
            <a:off x="8659368" y="3913632"/>
            <a:ext cx="2971800" cy="1060704"/>
          </a:xfrm>
          <a:prstGeom prst="roundRect">
            <a:avLst>
              <a:gd name="adj" fmla="val 7759"/>
            </a:avLst>
          </a:prstGeom>
          <a:solidFill>
            <a:srgbClr val="FFFFFF"/>
          </a:solidFill>
          <a:ln w="12700">
            <a:solidFill>
              <a:srgbClr val="DDE5EE"/>
            </a:solidFill>
            <a:prstDash val="solid"/>
          </a:ln>
        </p:spPr>
      </p:sp>
      <p:sp>
        <p:nvSpPr>
          <p:cNvPr id="35" name="Text 33"/>
          <p:cNvSpPr/>
          <p:nvPr/>
        </p:nvSpPr>
        <p:spPr>
          <a:xfrm>
            <a:off x="8869680" y="4023360"/>
            <a:ext cx="2560320" cy="237744"/>
          </a:xfrm>
          <a:prstGeom prst="rect">
            <a:avLst/>
          </a:prstGeom>
          <a:noFill/>
          <a:ln/>
        </p:spPr>
        <p:txBody>
          <a:bodyPr wrap="square" lIns="0" tIns="0" rIns="0" bIns="0" rtlCol="0" anchor="ctr"/>
          <a:lstStyle/>
          <a:p>
            <a:pPr indent="0" marL="0">
              <a:buNone/>
            </a:pPr>
            <a:r>
              <a:rPr lang="en-US" sz="1050" b="1" dirty="0">
                <a:solidFill>
                  <a:srgbClr val="12202E"/>
                </a:solidFill>
                <a:latin typeface="Calibri" pitchFamily="34" charset="0"/>
                <a:ea typeface="Calibri" pitchFamily="34" charset="-122"/>
                <a:cs typeface="Calibri" pitchFamily="34" charset="-120"/>
              </a:rPr>
              <a:t>Rules carry their reference</a:t>
            </a:r>
            <a:endParaRPr lang="en-US" sz="1050" dirty="0"/>
          </a:p>
        </p:txBody>
      </p:sp>
      <p:sp>
        <p:nvSpPr>
          <p:cNvPr id="36" name="Text 34"/>
          <p:cNvSpPr/>
          <p:nvPr/>
        </p:nvSpPr>
        <p:spPr>
          <a:xfrm>
            <a:off x="8869680" y="4279392"/>
            <a:ext cx="2560320" cy="621792"/>
          </a:xfrm>
          <a:prstGeom prst="rect">
            <a:avLst/>
          </a:prstGeom>
          <a:noFill/>
          <a:ln/>
        </p:spPr>
        <p:txBody>
          <a:bodyPr wrap="square" lIns="0" tIns="0" rIns="0" bIns="0" rtlCol="0" anchor="ctr"/>
          <a:lstStyle/>
          <a:p>
            <a:pPr indent="0" marL="0">
              <a:lnSpc>
                <a:spcPts val="1100"/>
              </a:lnSpc>
              <a:buNone/>
            </a:pPr>
            <a:r>
              <a:rPr lang="en-US" sz="900" dirty="0">
                <a:solidFill>
                  <a:srgbClr val="5D7186"/>
                </a:solidFill>
                <a:latin typeface="Calibri" pitchFamily="34" charset="0"/>
                <a:ea typeface="Calibri" pitchFamily="34" charset="-122"/>
                <a:cs typeface="Calibri" pitchFamily="34" charset="-120"/>
              </a:rPr>
              <a:t>Every rule states its L1 source and an annotation, so a clinician can review it without reading code.</a:t>
            </a:r>
            <a:endParaRPr lang="en-US" sz="900" dirty="0"/>
          </a:p>
        </p:txBody>
      </p:sp>
      <p:sp>
        <p:nvSpPr>
          <p:cNvPr id="37" name="Shape 35"/>
          <p:cNvSpPr/>
          <p:nvPr/>
        </p:nvSpPr>
        <p:spPr>
          <a:xfrm>
            <a:off x="8659368" y="5093208"/>
            <a:ext cx="2971800" cy="1060704"/>
          </a:xfrm>
          <a:prstGeom prst="roundRect">
            <a:avLst>
              <a:gd name="adj" fmla="val 7759"/>
            </a:avLst>
          </a:prstGeom>
          <a:solidFill>
            <a:srgbClr val="FFFFFF"/>
          </a:solidFill>
          <a:ln w="12700">
            <a:solidFill>
              <a:srgbClr val="DDE5EE"/>
            </a:solidFill>
            <a:prstDash val="solid"/>
          </a:ln>
        </p:spPr>
      </p:sp>
      <p:sp>
        <p:nvSpPr>
          <p:cNvPr id="38" name="Text 36"/>
          <p:cNvSpPr/>
          <p:nvPr/>
        </p:nvSpPr>
        <p:spPr>
          <a:xfrm>
            <a:off x="8869680" y="5202936"/>
            <a:ext cx="2560320" cy="237744"/>
          </a:xfrm>
          <a:prstGeom prst="rect">
            <a:avLst/>
          </a:prstGeom>
          <a:noFill/>
          <a:ln/>
        </p:spPr>
        <p:txBody>
          <a:bodyPr wrap="square" lIns="0" tIns="0" rIns="0" bIns="0" rtlCol="0" anchor="ctr"/>
          <a:lstStyle/>
          <a:p>
            <a:pPr indent="0" marL="0">
              <a:buNone/>
            </a:pPr>
            <a:r>
              <a:rPr lang="en-US" sz="1050" b="1" dirty="0">
                <a:solidFill>
                  <a:srgbClr val="12202E"/>
                </a:solidFill>
                <a:latin typeface="Calibri" pitchFamily="34" charset="0"/>
                <a:ea typeface="Calibri" pitchFamily="34" charset="-122"/>
                <a:cs typeface="Calibri" pitchFamily="34" charset="-120"/>
              </a:rPr>
              <a:t>The endpoint is configuration</a:t>
            </a:r>
            <a:endParaRPr lang="en-US" sz="1050" dirty="0"/>
          </a:p>
        </p:txBody>
      </p:sp>
      <p:sp>
        <p:nvSpPr>
          <p:cNvPr id="39" name="Text 37"/>
          <p:cNvSpPr/>
          <p:nvPr/>
        </p:nvSpPr>
        <p:spPr>
          <a:xfrm>
            <a:off x="8869680" y="5458968"/>
            <a:ext cx="2560320" cy="621792"/>
          </a:xfrm>
          <a:prstGeom prst="rect">
            <a:avLst/>
          </a:prstGeom>
          <a:noFill/>
          <a:ln/>
        </p:spPr>
        <p:txBody>
          <a:bodyPr wrap="square" lIns="0" tIns="0" rIns="0" bIns="0" rtlCol="0" anchor="ctr"/>
          <a:lstStyle/>
          <a:p>
            <a:pPr indent="0" marL="0">
              <a:lnSpc>
                <a:spcPts val="1100"/>
              </a:lnSpc>
              <a:buNone/>
            </a:pPr>
            <a:r>
              <a:rPr lang="en-US" sz="900" dirty="0">
                <a:solidFill>
                  <a:srgbClr val="5D7186"/>
                </a:solidFill>
                <a:latin typeface="Calibri" pitchFamily="34" charset="0"/>
                <a:ea typeface="Calibri" pitchFamily="34" charset="-122"/>
                <a:cs typeface="Calibri" pitchFamily="34" charset="-120"/>
              </a:rPr>
              <a:t>Redirecting to a hospital FHIR server is one line — no code change, no rebuild.</a:t>
            </a:r>
            <a:endParaRPr lang="en-US" sz="900" dirty="0"/>
          </a:p>
        </p:txBody>
      </p:sp>
      <p:sp>
        <p:nvSpPr>
          <p:cNvPr id="40" name="Text 38"/>
          <p:cNvSpPr/>
          <p:nvPr/>
        </p:nvSpPr>
        <p:spPr>
          <a:xfrm>
            <a:off x="566928" y="6309360"/>
            <a:ext cx="11064240" cy="274320"/>
          </a:xfrm>
          <a:prstGeom prst="rect">
            <a:avLst/>
          </a:prstGeom>
          <a:noFill/>
          <a:ln/>
        </p:spPr>
        <p:txBody>
          <a:bodyPr wrap="square" lIns="0" tIns="0" rIns="0" bIns="0" rtlCol="0" anchor="ctr"/>
          <a:lstStyle/>
          <a:p>
            <a:pPr indent="0" marL="0">
              <a:buNone/>
            </a:pPr>
            <a:r>
              <a:rPr lang="en-US" sz="1000" i="1" dirty="0">
                <a:solidFill>
                  <a:srgbClr val="5D7186"/>
                </a:solidFill>
                <a:latin typeface="Calibri" pitchFamily="34" charset="0"/>
                <a:ea typeface="Calibri" pitchFamily="34" charset="-122"/>
                <a:cs typeface="Calibri" pitchFamily="34" charset="-120"/>
              </a:rPr>
              <a:t>48 elements · 18 rules · 54 KB · read by the L4 at runtime — swap this file and the app becomes a different CDSS.</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indent="0" marL="0">
              <a:buNone/>
            </a:pPr>
            <a:r>
              <a:rPr lang="en-US" sz="1050" b="1" spc="160" kern="0" dirty="0">
                <a:solidFill>
                  <a:srgbClr val="5D7186"/>
                </a:solidFill>
                <a:latin typeface="Calibri" pitchFamily="34" charset="0"/>
                <a:ea typeface="Calibri" pitchFamily="34" charset="-122"/>
                <a:cs typeface="Calibri" pitchFamily="34" charset="-120"/>
              </a:rPr>
              <a:t>BACKUP · L2 · EXCERPT OF 48 ELEMENTS</a:t>
            </a:r>
            <a:endParaRPr lang="en-US" sz="1050" dirty="0"/>
          </a:p>
        </p:txBody>
      </p:sp>
      <p:sp>
        <p:nvSpPr>
          <p:cNvPr id="3" name="Text 1"/>
          <p:cNvSpPr/>
          <p:nvPr/>
        </p:nvSpPr>
        <p:spPr>
          <a:xfrm>
            <a:off x="566928" y="640080"/>
            <a:ext cx="10607040" cy="658368"/>
          </a:xfrm>
          <a:prstGeom prst="rect">
            <a:avLst/>
          </a:prstGeom>
          <a:noFill/>
          <a:ln/>
        </p:spPr>
        <p:txBody>
          <a:bodyPr wrap="square" lIns="0" tIns="0" rIns="0" bIns="0" rtlCol="0" anchor="t"/>
          <a:lstStyle/>
          <a:p>
            <a:pPr indent="0" marL="0">
              <a:buNone/>
            </a:pPr>
            <a:r>
              <a:rPr lang="en-US" sz="2700" b="1" dirty="0">
                <a:solidFill>
                  <a:srgbClr val="12202E"/>
                </a:solidFill>
                <a:latin typeface="Cambria" pitchFamily="34" charset="0"/>
                <a:ea typeface="Cambria" pitchFamily="34" charset="-122"/>
                <a:cs typeface="Cambria" pitchFamily="34" charset="-120"/>
              </a:rPr>
              <a:t>Data dictionary — the four required columns</a:t>
            </a:r>
            <a:endParaRPr lang="en-US" sz="2700" dirty="0"/>
          </a:p>
        </p:txBody>
      </p:sp>
      <p:sp>
        <p:nvSpPr>
          <p:cNvPr id="4" name="Text 2"/>
          <p:cNvSpPr/>
          <p:nvPr/>
        </p:nvSpPr>
        <p:spPr>
          <a:xfrm>
            <a:off x="566928" y="1572768"/>
            <a:ext cx="713232" cy="219456"/>
          </a:xfrm>
          <a:prstGeom prst="rect">
            <a:avLst/>
          </a:prstGeom>
          <a:noFill/>
          <a:ln/>
        </p:spPr>
        <p:txBody>
          <a:bodyPr wrap="square" lIns="0" tIns="0" rIns="0" bIns="0" rtlCol="0" anchor="ctr"/>
          <a:lstStyle/>
          <a:p>
            <a:pPr indent="0" marL="0">
              <a:buNone/>
            </a:pPr>
            <a:r>
              <a:rPr lang="en-US" sz="850" b="1" spc="80" kern="0" dirty="0">
                <a:solidFill>
                  <a:srgbClr val="5D7186"/>
                </a:solidFill>
                <a:latin typeface="Calibri" pitchFamily="34" charset="0"/>
                <a:ea typeface="Calibri" pitchFamily="34" charset="-122"/>
                <a:cs typeface="Calibri" pitchFamily="34" charset="-120"/>
              </a:rPr>
              <a:t>ID</a:t>
            </a:r>
            <a:endParaRPr lang="en-US" sz="850" dirty="0"/>
          </a:p>
        </p:txBody>
      </p:sp>
      <p:sp>
        <p:nvSpPr>
          <p:cNvPr id="5" name="Text 3"/>
          <p:cNvSpPr/>
          <p:nvPr/>
        </p:nvSpPr>
        <p:spPr>
          <a:xfrm>
            <a:off x="1325880" y="1572768"/>
            <a:ext cx="2148840" cy="219456"/>
          </a:xfrm>
          <a:prstGeom prst="rect">
            <a:avLst/>
          </a:prstGeom>
          <a:noFill/>
          <a:ln/>
        </p:spPr>
        <p:txBody>
          <a:bodyPr wrap="square" lIns="0" tIns="0" rIns="0" bIns="0" rtlCol="0" anchor="ctr"/>
          <a:lstStyle/>
          <a:p>
            <a:pPr indent="0" marL="0">
              <a:buNone/>
            </a:pPr>
            <a:r>
              <a:rPr lang="en-US" sz="850" b="1" spc="80" kern="0" dirty="0">
                <a:solidFill>
                  <a:srgbClr val="5D7186"/>
                </a:solidFill>
                <a:latin typeface="Calibri" pitchFamily="34" charset="0"/>
                <a:ea typeface="Calibri" pitchFamily="34" charset="-122"/>
                <a:cs typeface="Calibri" pitchFamily="34" charset="-120"/>
              </a:rPr>
              <a:t>LABEL</a:t>
            </a:r>
            <a:endParaRPr lang="en-US" sz="850" dirty="0"/>
          </a:p>
        </p:txBody>
      </p:sp>
      <p:sp>
        <p:nvSpPr>
          <p:cNvPr id="6" name="Text 4"/>
          <p:cNvSpPr/>
          <p:nvPr/>
        </p:nvSpPr>
        <p:spPr>
          <a:xfrm>
            <a:off x="3520440" y="1572768"/>
            <a:ext cx="960120" cy="219456"/>
          </a:xfrm>
          <a:prstGeom prst="rect">
            <a:avLst/>
          </a:prstGeom>
          <a:noFill/>
          <a:ln/>
        </p:spPr>
        <p:txBody>
          <a:bodyPr wrap="square" lIns="0" tIns="0" rIns="0" bIns="0" rtlCol="0" anchor="ctr"/>
          <a:lstStyle/>
          <a:p>
            <a:pPr indent="0" marL="0">
              <a:buNone/>
            </a:pPr>
            <a:r>
              <a:rPr lang="en-US" sz="850" b="1" spc="80" kern="0" dirty="0">
                <a:solidFill>
                  <a:srgbClr val="5D7186"/>
                </a:solidFill>
                <a:latin typeface="Calibri" pitchFamily="34" charset="0"/>
                <a:ea typeface="Calibri" pitchFamily="34" charset="-122"/>
                <a:cs typeface="Calibri" pitchFamily="34" charset="-120"/>
              </a:rPr>
              <a:t>TYPE</a:t>
            </a:r>
            <a:endParaRPr lang="en-US" sz="850" dirty="0"/>
          </a:p>
        </p:txBody>
      </p:sp>
      <p:sp>
        <p:nvSpPr>
          <p:cNvPr id="7" name="Text 5"/>
          <p:cNvSpPr/>
          <p:nvPr/>
        </p:nvSpPr>
        <p:spPr>
          <a:xfrm>
            <a:off x="4526280" y="1572768"/>
            <a:ext cx="2880360" cy="219456"/>
          </a:xfrm>
          <a:prstGeom prst="rect">
            <a:avLst/>
          </a:prstGeom>
          <a:noFill/>
          <a:ln/>
        </p:spPr>
        <p:txBody>
          <a:bodyPr wrap="square" lIns="0" tIns="0" rIns="0" bIns="0" rtlCol="0" anchor="ctr"/>
          <a:lstStyle/>
          <a:p>
            <a:pPr indent="0" marL="0">
              <a:buNone/>
            </a:pPr>
            <a:r>
              <a:rPr lang="en-US" sz="850" b="1" spc="80" kern="0" dirty="0">
                <a:solidFill>
                  <a:srgbClr val="5D7186"/>
                </a:solidFill>
                <a:latin typeface="Calibri" pitchFamily="34" charset="0"/>
                <a:ea typeface="Calibri" pitchFamily="34" charset="-122"/>
                <a:cs typeface="Calibri" pitchFamily="34" charset="-120"/>
              </a:rPr>
              <a:t>RESPONSE OPTIONS</a:t>
            </a:r>
            <a:endParaRPr lang="en-US" sz="850" dirty="0"/>
          </a:p>
        </p:txBody>
      </p:sp>
      <p:sp>
        <p:nvSpPr>
          <p:cNvPr id="8" name="Text 6"/>
          <p:cNvSpPr/>
          <p:nvPr/>
        </p:nvSpPr>
        <p:spPr>
          <a:xfrm>
            <a:off x="7452360" y="1572768"/>
            <a:ext cx="1600200" cy="219456"/>
          </a:xfrm>
          <a:prstGeom prst="rect">
            <a:avLst/>
          </a:prstGeom>
          <a:noFill/>
          <a:ln/>
        </p:spPr>
        <p:txBody>
          <a:bodyPr wrap="square" lIns="0" tIns="0" rIns="0" bIns="0" rtlCol="0" anchor="ctr"/>
          <a:lstStyle/>
          <a:p>
            <a:pPr indent="0" marL="0">
              <a:buNone/>
            </a:pPr>
            <a:r>
              <a:rPr lang="en-US" sz="850" b="1" spc="80" kern="0" dirty="0">
                <a:solidFill>
                  <a:srgbClr val="5D7186"/>
                </a:solidFill>
                <a:latin typeface="Calibri" pitchFamily="34" charset="0"/>
                <a:ea typeface="Calibri" pitchFamily="34" charset="-122"/>
                <a:cs typeface="Calibri" pitchFamily="34" charset="-120"/>
              </a:rPr>
              <a:t>CONDITIONAL LOGIC</a:t>
            </a:r>
            <a:endParaRPr lang="en-US" sz="850" dirty="0"/>
          </a:p>
        </p:txBody>
      </p:sp>
      <p:sp>
        <p:nvSpPr>
          <p:cNvPr id="9" name="Text 7"/>
          <p:cNvSpPr/>
          <p:nvPr/>
        </p:nvSpPr>
        <p:spPr>
          <a:xfrm>
            <a:off x="9098280" y="1572768"/>
            <a:ext cx="1417320" cy="219456"/>
          </a:xfrm>
          <a:prstGeom prst="rect">
            <a:avLst/>
          </a:prstGeom>
          <a:noFill/>
          <a:ln/>
        </p:spPr>
        <p:txBody>
          <a:bodyPr wrap="square" lIns="0" tIns="0" rIns="0" bIns="0" rtlCol="0" anchor="ctr"/>
          <a:lstStyle/>
          <a:p>
            <a:pPr indent="0" marL="0">
              <a:buNone/>
            </a:pPr>
            <a:r>
              <a:rPr lang="en-US" sz="850" b="1" spc="80" kern="0" dirty="0">
                <a:solidFill>
                  <a:srgbClr val="5D7186"/>
                </a:solidFill>
                <a:latin typeface="Calibri" pitchFamily="34" charset="0"/>
                <a:ea typeface="Calibri" pitchFamily="34" charset="-122"/>
                <a:cs typeface="Calibri" pitchFamily="34" charset="-120"/>
              </a:rPr>
              <a:t>CONSTRAINT</a:t>
            </a:r>
            <a:endParaRPr lang="en-US" sz="850" dirty="0"/>
          </a:p>
        </p:txBody>
      </p:sp>
      <p:sp>
        <p:nvSpPr>
          <p:cNvPr id="10" name="Text 8"/>
          <p:cNvSpPr/>
          <p:nvPr/>
        </p:nvSpPr>
        <p:spPr>
          <a:xfrm>
            <a:off x="10561320" y="1572768"/>
            <a:ext cx="1344168" cy="219456"/>
          </a:xfrm>
          <a:prstGeom prst="rect">
            <a:avLst/>
          </a:prstGeom>
          <a:noFill/>
          <a:ln/>
        </p:spPr>
        <p:txBody>
          <a:bodyPr wrap="square" lIns="0" tIns="0" rIns="0" bIns="0" rtlCol="0" anchor="ctr"/>
          <a:lstStyle/>
          <a:p>
            <a:pPr indent="0" marL="0">
              <a:buNone/>
            </a:pPr>
            <a:r>
              <a:rPr lang="en-US" sz="850" b="1" spc="80" kern="0" dirty="0">
                <a:solidFill>
                  <a:srgbClr val="5D7186"/>
                </a:solidFill>
                <a:latin typeface="Calibri" pitchFamily="34" charset="0"/>
                <a:ea typeface="Calibri" pitchFamily="34" charset="-122"/>
                <a:cs typeface="Calibri" pitchFamily="34" charset="-120"/>
              </a:rPr>
              <a:t>TERMINOLOGY</a:t>
            </a:r>
            <a:endParaRPr lang="en-US" sz="850" dirty="0"/>
          </a:p>
        </p:txBody>
      </p:sp>
      <p:sp>
        <p:nvSpPr>
          <p:cNvPr id="11" name="Shape 9"/>
          <p:cNvSpPr/>
          <p:nvPr/>
        </p:nvSpPr>
        <p:spPr>
          <a:xfrm>
            <a:off x="566928" y="1847088"/>
            <a:ext cx="11064240" cy="347472"/>
          </a:xfrm>
          <a:prstGeom prst="roundRect">
            <a:avLst>
              <a:gd name="adj" fmla="val 23684"/>
            </a:avLst>
          </a:prstGeom>
          <a:solidFill>
            <a:srgbClr val="F5F7FA"/>
          </a:solidFill>
          <a:ln w="12700">
            <a:solidFill>
              <a:srgbClr val="DDE5EE"/>
            </a:solidFill>
            <a:prstDash val="solid"/>
          </a:ln>
        </p:spPr>
      </p:sp>
      <p:sp>
        <p:nvSpPr>
          <p:cNvPr id="12" name="Text 10"/>
          <p:cNvSpPr/>
          <p:nvPr/>
        </p:nvSpPr>
        <p:spPr>
          <a:xfrm>
            <a:off x="585216" y="1847088"/>
            <a:ext cx="713232" cy="347472"/>
          </a:xfrm>
          <a:prstGeom prst="rect">
            <a:avLst/>
          </a:prstGeom>
          <a:noFill/>
          <a:ln/>
        </p:spPr>
        <p:txBody>
          <a:bodyPr wrap="square" lIns="0" tIns="0" rIns="0" bIns="0" rtlCol="0" anchor="ctr"/>
          <a:lstStyle/>
          <a:p>
            <a:pPr indent="0" marL="0">
              <a:buNone/>
            </a:pPr>
            <a:r>
              <a:rPr lang="en-US" sz="800" b="1" dirty="0">
                <a:solidFill>
                  <a:srgbClr val="12202E"/>
                </a:solidFill>
                <a:latin typeface="Calibri" pitchFamily="34" charset="0"/>
                <a:ea typeface="Calibri" pitchFamily="34" charset="-122"/>
                <a:cs typeface="Calibri" pitchFamily="34" charset="-120"/>
              </a:rPr>
              <a:t>DE-020</a:t>
            </a:r>
            <a:endParaRPr lang="en-US" sz="800" dirty="0"/>
          </a:p>
        </p:txBody>
      </p:sp>
      <p:sp>
        <p:nvSpPr>
          <p:cNvPr id="13" name="Text 11"/>
          <p:cNvSpPr/>
          <p:nvPr/>
        </p:nvSpPr>
        <p:spPr>
          <a:xfrm>
            <a:off x="1344168" y="1847088"/>
            <a:ext cx="214884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Body temperature today</a:t>
            </a:r>
            <a:endParaRPr lang="en-US" sz="800" dirty="0"/>
          </a:p>
        </p:txBody>
      </p:sp>
      <p:sp>
        <p:nvSpPr>
          <p:cNvPr id="14" name="Text 12"/>
          <p:cNvSpPr/>
          <p:nvPr/>
        </p:nvSpPr>
        <p:spPr>
          <a:xfrm>
            <a:off x="3538728" y="1847088"/>
            <a:ext cx="96012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decimal</a:t>
            </a:r>
            <a:endParaRPr lang="en-US" sz="800" dirty="0"/>
          </a:p>
        </p:txBody>
      </p:sp>
      <p:sp>
        <p:nvSpPr>
          <p:cNvPr id="15" name="Text 13"/>
          <p:cNvSpPr/>
          <p:nvPr/>
        </p:nvSpPr>
        <p:spPr>
          <a:xfrm>
            <a:off x="4544568" y="1847088"/>
            <a:ext cx="288036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free numeric input, °C</a:t>
            </a:r>
            <a:endParaRPr lang="en-US" sz="800" dirty="0"/>
          </a:p>
        </p:txBody>
      </p:sp>
      <p:sp>
        <p:nvSpPr>
          <p:cNvPr id="16" name="Text 14"/>
          <p:cNvSpPr/>
          <p:nvPr/>
        </p:nvSpPr>
        <p:spPr>
          <a:xfrm>
            <a:off x="7470648" y="1847088"/>
            <a:ext cx="160020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a:t>
            </a:r>
            <a:endParaRPr lang="en-US" sz="800" dirty="0"/>
          </a:p>
        </p:txBody>
      </p:sp>
      <p:sp>
        <p:nvSpPr>
          <p:cNvPr id="17" name="Text 15"/>
          <p:cNvSpPr/>
          <p:nvPr/>
        </p:nvSpPr>
        <p:spPr>
          <a:xfrm>
            <a:off x="9116568" y="1847088"/>
            <a:ext cx="1417320" cy="347472"/>
          </a:xfrm>
          <a:prstGeom prst="rect">
            <a:avLst/>
          </a:prstGeom>
          <a:noFill/>
          <a:ln/>
        </p:spPr>
        <p:txBody>
          <a:bodyPr wrap="square" lIns="0" tIns="0" rIns="0" bIns="0" rtlCol="0" anchor="ctr"/>
          <a:lstStyle/>
          <a:p>
            <a:pPr indent="0" marL="0">
              <a:buNone/>
            </a:pPr>
            <a:r>
              <a:rPr lang="en-US" sz="800" dirty="0">
                <a:solidFill>
                  <a:srgbClr val="5D7186"/>
                </a:solidFill>
                <a:latin typeface="Calibri" pitchFamily="34" charset="0"/>
                <a:ea typeface="Calibri" pitchFamily="34" charset="-122"/>
                <a:cs typeface="Calibri" pitchFamily="34" charset="-120"/>
              </a:rPr>
              <a:t>34–43 °C</a:t>
            </a:r>
            <a:endParaRPr lang="en-US" sz="800" dirty="0"/>
          </a:p>
        </p:txBody>
      </p:sp>
      <p:sp>
        <p:nvSpPr>
          <p:cNvPr id="18" name="Text 16"/>
          <p:cNvSpPr/>
          <p:nvPr/>
        </p:nvSpPr>
        <p:spPr>
          <a:xfrm>
            <a:off x="10579608" y="1847088"/>
            <a:ext cx="1344168" cy="347472"/>
          </a:xfrm>
          <a:prstGeom prst="rect">
            <a:avLst/>
          </a:prstGeom>
          <a:noFill/>
          <a:ln/>
        </p:spPr>
        <p:txBody>
          <a:bodyPr wrap="square" lIns="0" tIns="0" rIns="0" bIns="0" rtlCol="0" anchor="ctr"/>
          <a:lstStyle/>
          <a:p>
            <a:pPr indent="0" marL="0">
              <a:buNone/>
            </a:pPr>
            <a:r>
              <a:rPr lang="en-US" sz="800" dirty="0">
                <a:solidFill>
                  <a:srgbClr val="5D7186"/>
                </a:solidFill>
                <a:latin typeface="Calibri" pitchFamily="34" charset="0"/>
                <a:ea typeface="Calibri" pitchFamily="34" charset="-122"/>
                <a:cs typeface="Calibri" pitchFamily="34" charset="-120"/>
              </a:rPr>
              <a:t>LOINC 8310-5</a:t>
            </a:r>
            <a:endParaRPr lang="en-US" sz="800" dirty="0"/>
          </a:p>
        </p:txBody>
      </p:sp>
      <p:sp>
        <p:nvSpPr>
          <p:cNvPr id="19" name="Shape 17"/>
          <p:cNvSpPr/>
          <p:nvPr/>
        </p:nvSpPr>
        <p:spPr>
          <a:xfrm>
            <a:off x="566928" y="2249424"/>
            <a:ext cx="11064240" cy="347472"/>
          </a:xfrm>
          <a:prstGeom prst="roundRect">
            <a:avLst>
              <a:gd name="adj" fmla="val 23684"/>
            </a:avLst>
          </a:prstGeom>
          <a:solidFill>
            <a:srgbClr val="FFFFFF"/>
          </a:solidFill>
          <a:ln w="12700">
            <a:solidFill>
              <a:srgbClr val="FFFFFF"/>
            </a:solidFill>
            <a:prstDash val="solid"/>
          </a:ln>
        </p:spPr>
      </p:sp>
      <p:sp>
        <p:nvSpPr>
          <p:cNvPr id="20" name="Text 18"/>
          <p:cNvSpPr/>
          <p:nvPr/>
        </p:nvSpPr>
        <p:spPr>
          <a:xfrm>
            <a:off x="585216" y="2249424"/>
            <a:ext cx="713232" cy="347472"/>
          </a:xfrm>
          <a:prstGeom prst="rect">
            <a:avLst/>
          </a:prstGeom>
          <a:noFill/>
          <a:ln/>
        </p:spPr>
        <p:txBody>
          <a:bodyPr wrap="square" lIns="0" tIns="0" rIns="0" bIns="0" rtlCol="0" anchor="ctr"/>
          <a:lstStyle/>
          <a:p>
            <a:pPr indent="0" marL="0">
              <a:buNone/>
            </a:pPr>
            <a:r>
              <a:rPr lang="en-US" sz="800" b="1" dirty="0">
                <a:solidFill>
                  <a:srgbClr val="12202E"/>
                </a:solidFill>
                <a:latin typeface="Calibri" pitchFamily="34" charset="0"/>
                <a:ea typeface="Calibri" pitchFamily="34" charset="-122"/>
                <a:cs typeface="Calibri" pitchFamily="34" charset="-120"/>
              </a:rPr>
              <a:t>DE-023</a:t>
            </a:r>
            <a:endParaRPr lang="en-US" sz="800" dirty="0"/>
          </a:p>
        </p:txBody>
      </p:sp>
      <p:sp>
        <p:nvSpPr>
          <p:cNvPr id="21" name="Text 19"/>
          <p:cNvSpPr/>
          <p:nvPr/>
        </p:nvSpPr>
        <p:spPr>
          <a:xfrm>
            <a:off x="1344168" y="2249424"/>
            <a:ext cx="214884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Pain 0–10</a:t>
            </a:r>
            <a:endParaRPr lang="en-US" sz="800" dirty="0"/>
          </a:p>
        </p:txBody>
      </p:sp>
      <p:sp>
        <p:nvSpPr>
          <p:cNvPr id="22" name="Text 20"/>
          <p:cNvSpPr/>
          <p:nvPr/>
        </p:nvSpPr>
        <p:spPr>
          <a:xfrm>
            <a:off x="3538728" y="2249424"/>
            <a:ext cx="96012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integer</a:t>
            </a:r>
            <a:endParaRPr lang="en-US" sz="800" dirty="0"/>
          </a:p>
        </p:txBody>
      </p:sp>
      <p:sp>
        <p:nvSpPr>
          <p:cNvPr id="23" name="Text 21"/>
          <p:cNvSpPr/>
          <p:nvPr/>
        </p:nvSpPr>
        <p:spPr>
          <a:xfrm>
            <a:off x="4544568" y="2249424"/>
            <a:ext cx="288036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NRS 0–10</a:t>
            </a:r>
            <a:endParaRPr lang="en-US" sz="800" dirty="0"/>
          </a:p>
        </p:txBody>
      </p:sp>
      <p:sp>
        <p:nvSpPr>
          <p:cNvPr id="24" name="Text 22"/>
          <p:cNvSpPr/>
          <p:nvPr/>
        </p:nvSpPr>
        <p:spPr>
          <a:xfrm>
            <a:off x="7470648" y="2249424"/>
            <a:ext cx="160020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a:t>
            </a:r>
            <a:endParaRPr lang="en-US" sz="800" dirty="0"/>
          </a:p>
        </p:txBody>
      </p:sp>
      <p:sp>
        <p:nvSpPr>
          <p:cNvPr id="25" name="Text 23"/>
          <p:cNvSpPr/>
          <p:nvPr/>
        </p:nvSpPr>
        <p:spPr>
          <a:xfrm>
            <a:off x="9116568" y="2249424"/>
            <a:ext cx="1417320" cy="347472"/>
          </a:xfrm>
          <a:prstGeom prst="rect">
            <a:avLst/>
          </a:prstGeom>
          <a:noFill/>
          <a:ln/>
        </p:spPr>
        <p:txBody>
          <a:bodyPr wrap="square" lIns="0" tIns="0" rIns="0" bIns="0" rtlCol="0" anchor="ctr"/>
          <a:lstStyle/>
          <a:p>
            <a:pPr indent="0" marL="0">
              <a:buNone/>
            </a:pPr>
            <a:r>
              <a:rPr lang="en-US" sz="800" dirty="0">
                <a:solidFill>
                  <a:srgbClr val="5D7186"/>
                </a:solidFill>
                <a:latin typeface="Calibri" pitchFamily="34" charset="0"/>
                <a:ea typeface="Calibri" pitchFamily="34" charset="-122"/>
                <a:cs typeface="Calibri" pitchFamily="34" charset="-120"/>
              </a:rPr>
              <a:t>0–10</a:t>
            </a:r>
            <a:endParaRPr lang="en-US" sz="800" dirty="0"/>
          </a:p>
        </p:txBody>
      </p:sp>
      <p:sp>
        <p:nvSpPr>
          <p:cNvPr id="26" name="Text 24"/>
          <p:cNvSpPr/>
          <p:nvPr/>
        </p:nvSpPr>
        <p:spPr>
          <a:xfrm>
            <a:off x="10579608" y="2249424"/>
            <a:ext cx="1344168" cy="347472"/>
          </a:xfrm>
          <a:prstGeom prst="rect">
            <a:avLst/>
          </a:prstGeom>
          <a:noFill/>
          <a:ln/>
        </p:spPr>
        <p:txBody>
          <a:bodyPr wrap="square" lIns="0" tIns="0" rIns="0" bIns="0" rtlCol="0" anchor="ctr"/>
          <a:lstStyle/>
          <a:p>
            <a:pPr indent="0" marL="0">
              <a:buNone/>
            </a:pPr>
            <a:r>
              <a:rPr lang="en-US" sz="800" dirty="0">
                <a:solidFill>
                  <a:srgbClr val="5D7186"/>
                </a:solidFill>
                <a:latin typeface="Calibri" pitchFamily="34" charset="0"/>
                <a:ea typeface="Calibri" pitchFamily="34" charset="-122"/>
                <a:cs typeface="Calibri" pitchFamily="34" charset="-120"/>
              </a:rPr>
              <a:t>LOINC 72514-3</a:t>
            </a:r>
            <a:endParaRPr lang="en-US" sz="800" dirty="0"/>
          </a:p>
        </p:txBody>
      </p:sp>
      <p:sp>
        <p:nvSpPr>
          <p:cNvPr id="27" name="Shape 25"/>
          <p:cNvSpPr/>
          <p:nvPr/>
        </p:nvSpPr>
        <p:spPr>
          <a:xfrm>
            <a:off x="566928" y="2651760"/>
            <a:ext cx="11064240" cy="347472"/>
          </a:xfrm>
          <a:prstGeom prst="roundRect">
            <a:avLst>
              <a:gd name="adj" fmla="val 23684"/>
            </a:avLst>
          </a:prstGeom>
          <a:solidFill>
            <a:srgbClr val="F5F7FA"/>
          </a:solidFill>
          <a:ln w="12700">
            <a:solidFill>
              <a:srgbClr val="DDE5EE"/>
            </a:solidFill>
            <a:prstDash val="solid"/>
          </a:ln>
        </p:spPr>
      </p:sp>
      <p:sp>
        <p:nvSpPr>
          <p:cNvPr id="28" name="Text 26"/>
          <p:cNvSpPr/>
          <p:nvPr/>
        </p:nvSpPr>
        <p:spPr>
          <a:xfrm>
            <a:off x="585216" y="2651760"/>
            <a:ext cx="713232" cy="347472"/>
          </a:xfrm>
          <a:prstGeom prst="rect">
            <a:avLst/>
          </a:prstGeom>
          <a:noFill/>
          <a:ln/>
        </p:spPr>
        <p:txBody>
          <a:bodyPr wrap="square" lIns="0" tIns="0" rIns="0" bIns="0" rtlCol="0" anchor="ctr"/>
          <a:lstStyle/>
          <a:p>
            <a:pPr indent="0" marL="0">
              <a:buNone/>
            </a:pPr>
            <a:r>
              <a:rPr lang="en-US" sz="800" b="1" dirty="0">
                <a:solidFill>
                  <a:srgbClr val="12202E"/>
                </a:solidFill>
                <a:latin typeface="Calibri" pitchFamily="34" charset="0"/>
                <a:ea typeface="Calibri" pitchFamily="34" charset="-122"/>
                <a:cs typeface="Calibri" pitchFamily="34" charset="-120"/>
              </a:rPr>
              <a:t>DE-026</a:t>
            </a:r>
            <a:endParaRPr lang="en-US" sz="800" dirty="0"/>
          </a:p>
        </p:txBody>
      </p:sp>
      <p:sp>
        <p:nvSpPr>
          <p:cNvPr id="29" name="Text 27"/>
          <p:cNvSpPr/>
          <p:nvPr/>
        </p:nvSpPr>
        <p:spPr>
          <a:xfrm>
            <a:off x="1344168" y="2651760"/>
            <a:ext cx="214884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How do you feel overall?</a:t>
            </a:r>
            <a:endParaRPr lang="en-US" sz="800" dirty="0"/>
          </a:p>
        </p:txBody>
      </p:sp>
      <p:sp>
        <p:nvSpPr>
          <p:cNvPr id="30" name="Text 28"/>
          <p:cNvSpPr/>
          <p:nvPr/>
        </p:nvSpPr>
        <p:spPr>
          <a:xfrm>
            <a:off x="3538728" y="2651760"/>
            <a:ext cx="96012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select_one</a:t>
            </a:r>
            <a:endParaRPr lang="en-US" sz="800" dirty="0"/>
          </a:p>
        </p:txBody>
      </p:sp>
      <p:sp>
        <p:nvSpPr>
          <p:cNvPr id="31" name="Text 29"/>
          <p:cNvSpPr/>
          <p:nvPr/>
        </p:nvSpPr>
        <p:spPr>
          <a:xfrm>
            <a:off x="4544568" y="2651760"/>
            <a:ext cx="288036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0 = well · 1 = tired · 2 = really unwell</a:t>
            </a:r>
            <a:endParaRPr lang="en-US" sz="800" dirty="0"/>
          </a:p>
        </p:txBody>
      </p:sp>
      <p:sp>
        <p:nvSpPr>
          <p:cNvPr id="32" name="Text 30"/>
          <p:cNvSpPr/>
          <p:nvPr/>
        </p:nvSpPr>
        <p:spPr>
          <a:xfrm>
            <a:off x="7470648" y="2651760"/>
            <a:ext cx="160020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a:t>
            </a:r>
            <a:endParaRPr lang="en-US" sz="800" dirty="0"/>
          </a:p>
        </p:txBody>
      </p:sp>
      <p:sp>
        <p:nvSpPr>
          <p:cNvPr id="33" name="Text 31"/>
          <p:cNvSpPr/>
          <p:nvPr/>
        </p:nvSpPr>
        <p:spPr>
          <a:xfrm>
            <a:off x="9116568" y="2651760"/>
            <a:ext cx="1417320" cy="347472"/>
          </a:xfrm>
          <a:prstGeom prst="rect">
            <a:avLst/>
          </a:prstGeom>
          <a:noFill/>
          <a:ln/>
        </p:spPr>
        <p:txBody>
          <a:bodyPr wrap="square" lIns="0" tIns="0" rIns="0" bIns="0" rtlCol="0" anchor="ctr"/>
          <a:lstStyle/>
          <a:p>
            <a:pPr indent="0" marL="0">
              <a:buNone/>
            </a:pPr>
            <a:r>
              <a:rPr lang="en-US" sz="800" dirty="0">
                <a:solidFill>
                  <a:srgbClr val="5D7186"/>
                </a:solidFill>
                <a:latin typeface="Calibri" pitchFamily="34" charset="0"/>
                <a:ea typeface="Calibri" pitchFamily="34" charset="-122"/>
                <a:cs typeface="Calibri" pitchFamily="34" charset="-120"/>
              </a:rPr>
              <a:t>—</a:t>
            </a:r>
            <a:endParaRPr lang="en-US" sz="800" dirty="0"/>
          </a:p>
        </p:txBody>
      </p:sp>
      <p:sp>
        <p:nvSpPr>
          <p:cNvPr id="34" name="Text 32"/>
          <p:cNvSpPr/>
          <p:nvPr/>
        </p:nvSpPr>
        <p:spPr>
          <a:xfrm>
            <a:off x="10579608" y="2651760"/>
            <a:ext cx="1344168" cy="347472"/>
          </a:xfrm>
          <a:prstGeom prst="rect">
            <a:avLst/>
          </a:prstGeom>
          <a:noFill/>
          <a:ln/>
        </p:spPr>
        <p:txBody>
          <a:bodyPr wrap="square" lIns="0" tIns="0" rIns="0" bIns="0" rtlCol="0" anchor="ctr"/>
          <a:lstStyle/>
          <a:p>
            <a:pPr indent="0" marL="0">
              <a:buNone/>
            </a:pPr>
            <a:r>
              <a:rPr lang="en-US" sz="800" dirty="0">
                <a:solidFill>
                  <a:srgbClr val="5D7186"/>
                </a:solidFill>
                <a:latin typeface="Calibri" pitchFamily="34" charset="0"/>
                <a:ea typeface="Calibri" pitchFamily="34" charset="-122"/>
                <a:cs typeface="Calibri" pitchFamily="34" charset="-120"/>
              </a:rPr>
              <a:t>SNOMED 386661006</a:t>
            </a:r>
            <a:endParaRPr lang="en-US" sz="800" dirty="0"/>
          </a:p>
        </p:txBody>
      </p:sp>
      <p:sp>
        <p:nvSpPr>
          <p:cNvPr id="35" name="Shape 33"/>
          <p:cNvSpPr/>
          <p:nvPr/>
        </p:nvSpPr>
        <p:spPr>
          <a:xfrm>
            <a:off x="566928" y="3054096"/>
            <a:ext cx="11064240" cy="347472"/>
          </a:xfrm>
          <a:prstGeom prst="roundRect">
            <a:avLst>
              <a:gd name="adj" fmla="val 23684"/>
            </a:avLst>
          </a:prstGeom>
          <a:solidFill>
            <a:srgbClr val="FFFFFF"/>
          </a:solidFill>
          <a:ln w="12700">
            <a:solidFill>
              <a:srgbClr val="FFFFFF"/>
            </a:solidFill>
            <a:prstDash val="solid"/>
          </a:ln>
        </p:spPr>
      </p:sp>
      <p:sp>
        <p:nvSpPr>
          <p:cNvPr id="36" name="Text 34"/>
          <p:cNvSpPr/>
          <p:nvPr/>
        </p:nvSpPr>
        <p:spPr>
          <a:xfrm>
            <a:off x="585216" y="3054096"/>
            <a:ext cx="713232" cy="347472"/>
          </a:xfrm>
          <a:prstGeom prst="rect">
            <a:avLst/>
          </a:prstGeom>
          <a:noFill/>
          <a:ln/>
        </p:spPr>
        <p:txBody>
          <a:bodyPr wrap="square" lIns="0" tIns="0" rIns="0" bIns="0" rtlCol="0" anchor="ctr"/>
          <a:lstStyle/>
          <a:p>
            <a:pPr indent="0" marL="0">
              <a:buNone/>
            </a:pPr>
            <a:r>
              <a:rPr lang="en-US" sz="800" b="1" dirty="0">
                <a:solidFill>
                  <a:srgbClr val="12202E"/>
                </a:solidFill>
                <a:latin typeface="Calibri" pitchFamily="34" charset="0"/>
                <a:ea typeface="Calibri" pitchFamily="34" charset="-122"/>
                <a:cs typeface="Calibri" pitchFamily="34" charset="-120"/>
              </a:rPr>
              <a:t>DE-030</a:t>
            </a:r>
            <a:endParaRPr lang="en-US" sz="800" dirty="0"/>
          </a:p>
        </p:txBody>
      </p:sp>
      <p:sp>
        <p:nvSpPr>
          <p:cNvPr id="37" name="Text 35"/>
          <p:cNvSpPr/>
          <p:nvPr/>
        </p:nvSpPr>
        <p:spPr>
          <a:xfrm>
            <a:off x="1344168" y="3054096"/>
            <a:ext cx="214884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Which picture matches your wound?</a:t>
            </a:r>
            <a:endParaRPr lang="en-US" sz="800" dirty="0"/>
          </a:p>
        </p:txBody>
      </p:sp>
      <p:sp>
        <p:nvSpPr>
          <p:cNvPr id="38" name="Text 36"/>
          <p:cNvSpPr/>
          <p:nvPr/>
        </p:nvSpPr>
        <p:spPr>
          <a:xfrm>
            <a:off x="3538728" y="3054096"/>
            <a:ext cx="96012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select_one</a:t>
            </a:r>
            <a:endParaRPr lang="en-US" sz="800" dirty="0"/>
          </a:p>
        </p:txBody>
      </p:sp>
      <p:sp>
        <p:nvSpPr>
          <p:cNvPr id="39" name="Text 37"/>
          <p:cNvSpPr/>
          <p:nvPr/>
        </p:nvSpPr>
        <p:spPr>
          <a:xfrm>
            <a:off x="4544568" y="3054096"/>
            <a:ext cx="288036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1 = calm &amp; dry · 2 = slightly red · 3 = markedly red &amp; swollen · 4 = open / pus</a:t>
            </a:r>
            <a:endParaRPr lang="en-US" sz="800" dirty="0"/>
          </a:p>
        </p:txBody>
      </p:sp>
      <p:sp>
        <p:nvSpPr>
          <p:cNvPr id="40" name="Text 38"/>
          <p:cNvSpPr/>
          <p:nvPr/>
        </p:nvSpPr>
        <p:spPr>
          <a:xfrm>
            <a:off x="7470648" y="3054096"/>
            <a:ext cx="160020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a:t>
            </a:r>
            <a:endParaRPr lang="en-US" sz="800" dirty="0"/>
          </a:p>
        </p:txBody>
      </p:sp>
      <p:sp>
        <p:nvSpPr>
          <p:cNvPr id="41" name="Text 39"/>
          <p:cNvSpPr/>
          <p:nvPr/>
        </p:nvSpPr>
        <p:spPr>
          <a:xfrm>
            <a:off x="9116568" y="3054096"/>
            <a:ext cx="1417320" cy="347472"/>
          </a:xfrm>
          <a:prstGeom prst="rect">
            <a:avLst/>
          </a:prstGeom>
          <a:noFill/>
          <a:ln/>
        </p:spPr>
        <p:txBody>
          <a:bodyPr wrap="square" lIns="0" tIns="0" rIns="0" bIns="0" rtlCol="0" anchor="ctr"/>
          <a:lstStyle/>
          <a:p>
            <a:pPr indent="0" marL="0">
              <a:buNone/>
            </a:pPr>
            <a:r>
              <a:rPr lang="en-US" sz="800" dirty="0">
                <a:solidFill>
                  <a:srgbClr val="5D7186"/>
                </a:solidFill>
                <a:latin typeface="Calibri" pitchFamily="34" charset="0"/>
                <a:ea typeface="Calibri" pitchFamily="34" charset="-122"/>
                <a:cs typeface="Calibri" pitchFamily="34" charset="-120"/>
              </a:rPr>
              <a:t>—</a:t>
            </a:r>
            <a:endParaRPr lang="en-US" sz="800" dirty="0"/>
          </a:p>
        </p:txBody>
      </p:sp>
      <p:sp>
        <p:nvSpPr>
          <p:cNvPr id="42" name="Text 40"/>
          <p:cNvSpPr/>
          <p:nvPr/>
        </p:nvSpPr>
        <p:spPr>
          <a:xfrm>
            <a:off x="10579608" y="3054096"/>
            <a:ext cx="1344168" cy="347472"/>
          </a:xfrm>
          <a:prstGeom prst="rect">
            <a:avLst/>
          </a:prstGeom>
          <a:noFill/>
          <a:ln/>
        </p:spPr>
        <p:txBody>
          <a:bodyPr wrap="square" lIns="0" tIns="0" rIns="0" bIns="0" rtlCol="0" anchor="ctr"/>
          <a:lstStyle/>
          <a:p>
            <a:pPr indent="0" marL="0">
              <a:buNone/>
            </a:pPr>
            <a:r>
              <a:rPr lang="en-US" sz="800" dirty="0">
                <a:solidFill>
                  <a:srgbClr val="5D7186"/>
                </a:solidFill>
                <a:latin typeface="Calibri" pitchFamily="34" charset="0"/>
                <a:ea typeface="Calibri" pitchFamily="34" charset="-122"/>
                <a:cs typeface="Calibri" pitchFamily="34" charset="-120"/>
              </a:rPr>
              <a:t>SNOMED 225552003</a:t>
            </a:r>
            <a:endParaRPr lang="en-US" sz="800" dirty="0"/>
          </a:p>
        </p:txBody>
      </p:sp>
      <p:sp>
        <p:nvSpPr>
          <p:cNvPr id="43" name="Shape 41"/>
          <p:cNvSpPr/>
          <p:nvPr/>
        </p:nvSpPr>
        <p:spPr>
          <a:xfrm>
            <a:off x="566928" y="3456432"/>
            <a:ext cx="11064240" cy="347472"/>
          </a:xfrm>
          <a:prstGeom prst="roundRect">
            <a:avLst>
              <a:gd name="adj" fmla="val 23684"/>
            </a:avLst>
          </a:prstGeom>
          <a:solidFill>
            <a:srgbClr val="F5F7FA"/>
          </a:solidFill>
          <a:ln w="12700">
            <a:solidFill>
              <a:srgbClr val="DDE5EE"/>
            </a:solidFill>
            <a:prstDash val="solid"/>
          </a:ln>
        </p:spPr>
      </p:sp>
      <p:sp>
        <p:nvSpPr>
          <p:cNvPr id="44" name="Text 42"/>
          <p:cNvSpPr/>
          <p:nvPr/>
        </p:nvSpPr>
        <p:spPr>
          <a:xfrm>
            <a:off x="585216" y="3456432"/>
            <a:ext cx="713232" cy="347472"/>
          </a:xfrm>
          <a:prstGeom prst="rect">
            <a:avLst/>
          </a:prstGeom>
          <a:noFill/>
          <a:ln/>
        </p:spPr>
        <p:txBody>
          <a:bodyPr wrap="square" lIns="0" tIns="0" rIns="0" bIns="0" rtlCol="0" anchor="ctr"/>
          <a:lstStyle/>
          <a:p>
            <a:pPr indent="0" marL="0">
              <a:buNone/>
            </a:pPr>
            <a:r>
              <a:rPr lang="en-US" sz="800" b="1" dirty="0">
                <a:solidFill>
                  <a:srgbClr val="12202E"/>
                </a:solidFill>
                <a:latin typeface="Calibri" pitchFamily="34" charset="0"/>
                <a:ea typeface="Calibri" pitchFamily="34" charset="-122"/>
                <a:cs typeface="Calibri" pitchFamily="34" charset="-120"/>
              </a:rPr>
              <a:t>DE-032</a:t>
            </a:r>
            <a:endParaRPr lang="en-US" sz="800" dirty="0"/>
          </a:p>
        </p:txBody>
      </p:sp>
      <p:sp>
        <p:nvSpPr>
          <p:cNvPr id="45" name="Text 43"/>
          <p:cNvSpPr/>
          <p:nvPr/>
        </p:nvSpPr>
        <p:spPr>
          <a:xfrm>
            <a:off x="1344168" y="3456432"/>
            <a:ext cx="214884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Does a red streak run away?</a:t>
            </a:r>
            <a:endParaRPr lang="en-US" sz="800" dirty="0"/>
          </a:p>
        </p:txBody>
      </p:sp>
      <p:sp>
        <p:nvSpPr>
          <p:cNvPr id="46" name="Text 44"/>
          <p:cNvSpPr/>
          <p:nvPr/>
        </p:nvSpPr>
        <p:spPr>
          <a:xfrm>
            <a:off x="3538728" y="3456432"/>
            <a:ext cx="96012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select_one</a:t>
            </a:r>
            <a:endParaRPr lang="en-US" sz="800" dirty="0"/>
          </a:p>
        </p:txBody>
      </p:sp>
      <p:sp>
        <p:nvSpPr>
          <p:cNvPr id="47" name="Text 45"/>
          <p:cNvSpPr/>
          <p:nvPr/>
        </p:nvSpPr>
        <p:spPr>
          <a:xfrm>
            <a:off x="4544568" y="3456432"/>
            <a:ext cx="288036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1 = yes · 0 = no</a:t>
            </a:r>
            <a:endParaRPr lang="en-US" sz="800" dirty="0"/>
          </a:p>
        </p:txBody>
      </p:sp>
      <p:sp>
        <p:nvSpPr>
          <p:cNvPr id="48" name="Text 46"/>
          <p:cNvSpPr/>
          <p:nvPr/>
        </p:nvSpPr>
        <p:spPr>
          <a:xfrm>
            <a:off x="7470648" y="3456432"/>
            <a:ext cx="160020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none — deliberately ungated (B-03)</a:t>
            </a:r>
            <a:endParaRPr lang="en-US" sz="800" dirty="0"/>
          </a:p>
        </p:txBody>
      </p:sp>
      <p:sp>
        <p:nvSpPr>
          <p:cNvPr id="49" name="Text 47"/>
          <p:cNvSpPr/>
          <p:nvPr/>
        </p:nvSpPr>
        <p:spPr>
          <a:xfrm>
            <a:off x="9116568" y="3456432"/>
            <a:ext cx="1417320" cy="347472"/>
          </a:xfrm>
          <a:prstGeom prst="rect">
            <a:avLst/>
          </a:prstGeom>
          <a:noFill/>
          <a:ln/>
        </p:spPr>
        <p:txBody>
          <a:bodyPr wrap="square" lIns="0" tIns="0" rIns="0" bIns="0" rtlCol="0" anchor="ctr"/>
          <a:lstStyle/>
          <a:p>
            <a:pPr indent="0" marL="0">
              <a:buNone/>
            </a:pPr>
            <a:r>
              <a:rPr lang="en-US" sz="800" dirty="0">
                <a:solidFill>
                  <a:srgbClr val="5D7186"/>
                </a:solidFill>
                <a:latin typeface="Calibri" pitchFamily="34" charset="0"/>
                <a:ea typeface="Calibri" pitchFamily="34" charset="-122"/>
                <a:cs typeface="Calibri" pitchFamily="34" charset="-120"/>
              </a:rPr>
              <a:t>—</a:t>
            </a:r>
            <a:endParaRPr lang="en-US" sz="800" dirty="0"/>
          </a:p>
        </p:txBody>
      </p:sp>
      <p:sp>
        <p:nvSpPr>
          <p:cNvPr id="50" name="Text 48"/>
          <p:cNvSpPr/>
          <p:nvPr/>
        </p:nvSpPr>
        <p:spPr>
          <a:xfrm>
            <a:off x="10579608" y="3456432"/>
            <a:ext cx="1344168" cy="347472"/>
          </a:xfrm>
          <a:prstGeom prst="rect">
            <a:avLst/>
          </a:prstGeom>
          <a:noFill/>
          <a:ln/>
        </p:spPr>
        <p:txBody>
          <a:bodyPr wrap="square" lIns="0" tIns="0" rIns="0" bIns="0" rtlCol="0" anchor="ctr"/>
          <a:lstStyle/>
          <a:p>
            <a:pPr indent="0" marL="0">
              <a:buNone/>
            </a:pPr>
            <a:r>
              <a:rPr lang="en-US" sz="800" dirty="0">
                <a:solidFill>
                  <a:srgbClr val="5D7186"/>
                </a:solidFill>
                <a:latin typeface="Calibri" pitchFamily="34" charset="0"/>
                <a:ea typeface="Calibri" pitchFamily="34" charset="-122"/>
                <a:cs typeface="Calibri" pitchFamily="34" charset="-120"/>
              </a:rPr>
              <a:t>SNOMED 46117009</a:t>
            </a:r>
            <a:endParaRPr lang="en-US" sz="800" dirty="0"/>
          </a:p>
        </p:txBody>
      </p:sp>
      <p:sp>
        <p:nvSpPr>
          <p:cNvPr id="51" name="Shape 49"/>
          <p:cNvSpPr/>
          <p:nvPr/>
        </p:nvSpPr>
        <p:spPr>
          <a:xfrm>
            <a:off x="566928" y="3858768"/>
            <a:ext cx="11064240" cy="347472"/>
          </a:xfrm>
          <a:prstGeom prst="roundRect">
            <a:avLst>
              <a:gd name="adj" fmla="val 23684"/>
            </a:avLst>
          </a:prstGeom>
          <a:solidFill>
            <a:srgbClr val="FFFFFF"/>
          </a:solidFill>
          <a:ln w="12700">
            <a:solidFill>
              <a:srgbClr val="FFFFFF"/>
            </a:solidFill>
            <a:prstDash val="solid"/>
          </a:ln>
        </p:spPr>
      </p:sp>
      <p:sp>
        <p:nvSpPr>
          <p:cNvPr id="52" name="Text 50"/>
          <p:cNvSpPr/>
          <p:nvPr/>
        </p:nvSpPr>
        <p:spPr>
          <a:xfrm>
            <a:off x="585216" y="3858768"/>
            <a:ext cx="713232" cy="347472"/>
          </a:xfrm>
          <a:prstGeom prst="rect">
            <a:avLst/>
          </a:prstGeom>
          <a:noFill/>
          <a:ln/>
        </p:spPr>
        <p:txBody>
          <a:bodyPr wrap="square" lIns="0" tIns="0" rIns="0" bIns="0" rtlCol="0" anchor="ctr"/>
          <a:lstStyle/>
          <a:p>
            <a:pPr indent="0" marL="0">
              <a:buNone/>
            </a:pPr>
            <a:r>
              <a:rPr lang="en-US" sz="800" b="1" dirty="0">
                <a:solidFill>
                  <a:srgbClr val="12202E"/>
                </a:solidFill>
                <a:latin typeface="Calibri" pitchFamily="34" charset="0"/>
                <a:ea typeface="Calibri" pitchFamily="34" charset="-122"/>
                <a:cs typeface="Calibri" pitchFamily="34" charset="-120"/>
              </a:rPr>
              <a:t>DE-035</a:t>
            </a:r>
            <a:endParaRPr lang="en-US" sz="800" dirty="0"/>
          </a:p>
        </p:txBody>
      </p:sp>
      <p:sp>
        <p:nvSpPr>
          <p:cNvPr id="53" name="Text 51"/>
          <p:cNvSpPr/>
          <p:nvPr/>
        </p:nvSpPr>
        <p:spPr>
          <a:xfrm>
            <a:off x="1344168" y="3858768"/>
            <a:ext cx="214884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Is fluid coming out?</a:t>
            </a:r>
            <a:endParaRPr lang="en-US" sz="800" dirty="0"/>
          </a:p>
        </p:txBody>
      </p:sp>
      <p:sp>
        <p:nvSpPr>
          <p:cNvPr id="54" name="Text 52"/>
          <p:cNvSpPr/>
          <p:nvPr/>
        </p:nvSpPr>
        <p:spPr>
          <a:xfrm>
            <a:off x="3538728" y="3858768"/>
            <a:ext cx="96012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select_one</a:t>
            </a:r>
            <a:endParaRPr lang="en-US" sz="800" dirty="0"/>
          </a:p>
        </p:txBody>
      </p:sp>
      <p:sp>
        <p:nvSpPr>
          <p:cNvPr id="55" name="Text 53"/>
          <p:cNvSpPr/>
          <p:nvPr/>
        </p:nvSpPr>
        <p:spPr>
          <a:xfrm>
            <a:off x="4544568" y="3858768"/>
            <a:ext cx="288036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0 = none · 1 = clear · 2 = bloody · 3 = cloudy / purulent</a:t>
            </a:r>
            <a:endParaRPr lang="en-US" sz="800" dirty="0"/>
          </a:p>
        </p:txBody>
      </p:sp>
      <p:sp>
        <p:nvSpPr>
          <p:cNvPr id="56" name="Text 54"/>
          <p:cNvSpPr/>
          <p:nvPr/>
        </p:nvSpPr>
        <p:spPr>
          <a:xfrm>
            <a:off x="7470648" y="3858768"/>
            <a:ext cx="160020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a:t>
            </a:r>
            <a:endParaRPr lang="en-US" sz="800" dirty="0"/>
          </a:p>
        </p:txBody>
      </p:sp>
      <p:sp>
        <p:nvSpPr>
          <p:cNvPr id="57" name="Text 55"/>
          <p:cNvSpPr/>
          <p:nvPr/>
        </p:nvSpPr>
        <p:spPr>
          <a:xfrm>
            <a:off x="9116568" y="3858768"/>
            <a:ext cx="1417320" cy="347472"/>
          </a:xfrm>
          <a:prstGeom prst="rect">
            <a:avLst/>
          </a:prstGeom>
          <a:noFill/>
          <a:ln/>
        </p:spPr>
        <p:txBody>
          <a:bodyPr wrap="square" lIns="0" tIns="0" rIns="0" bIns="0" rtlCol="0" anchor="ctr"/>
          <a:lstStyle/>
          <a:p>
            <a:pPr indent="0" marL="0">
              <a:buNone/>
            </a:pPr>
            <a:r>
              <a:rPr lang="en-US" sz="800" dirty="0">
                <a:solidFill>
                  <a:srgbClr val="5D7186"/>
                </a:solidFill>
                <a:latin typeface="Calibri" pitchFamily="34" charset="0"/>
                <a:ea typeface="Calibri" pitchFamily="34" charset="-122"/>
                <a:cs typeface="Calibri" pitchFamily="34" charset="-120"/>
              </a:rPr>
              <a:t>—</a:t>
            </a:r>
            <a:endParaRPr lang="en-US" sz="800" dirty="0"/>
          </a:p>
        </p:txBody>
      </p:sp>
      <p:sp>
        <p:nvSpPr>
          <p:cNvPr id="58" name="Text 56"/>
          <p:cNvSpPr/>
          <p:nvPr/>
        </p:nvSpPr>
        <p:spPr>
          <a:xfrm>
            <a:off x="10579608" y="3858768"/>
            <a:ext cx="1344168" cy="347472"/>
          </a:xfrm>
          <a:prstGeom prst="rect">
            <a:avLst/>
          </a:prstGeom>
          <a:noFill/>
          <a:ln/>
        </p:spPr>
        <p:txBody>
          <a:bodyPr wrap="square" lIns="0" tIns="0" rIns="0" bIns="0" rtlCol="0" anchor="ctr"/>
          <a:lstStyle/>
          <a:p>
            <a:pPr indent="0" marL="0">
              <a:buNone/>
            </a:pPr>
            <a:r>
              <a:rPr lang="en-US" sz="800" dirty="0">
                <a:solidFill>
                  <a:srgbClr val="5D7186"/>
                </a:solidFill>
                <a:latin typeface="Calibri" pitchFamily="34" charset="0"/>
                <a:ea typeface="Calibri" pitchFamily="34" charset="-122"/>
                <a:cs typeface="Calibri" pitchFamily="34" charset="-120"/>
              </a:rPr>
              <a:t>SNOMED 449736006</a:t>
            </a:r>
            <a:endParaRPr lang="en-US" sz="800" dirty="0"/>
          </a:p>
        </p:txBody>
      </p:sp>
      <p:sp>
        <p:nvSpPr>
          <p:cNvPr id="59" name="Shape 57"/>
          <p:cNvSpPr/>
          <p:nvPr/>
        </p:nvSpPr>
        <p:spPr>
          <a:xfrm>
            <a:off x="566928" y="4261104"/>
            <a:ext cx="11064240" cy="347472"/>
          </a:xfrm>
          <a:prstGeom prst="roundRect">
            <a:avLst>
              <a:gd name="adj" fmla="val 23684"/>
            </a:avLst>
          </a:prstGeom>
          <a:solidFill>
            <a:srgbClr val="F5F7FA"/>
          </a:solidFill>
          <a:ln w="12700">
            <a:solidFill>
              <a:srgbClr val="DDE5EE"/>
            </a:solidFill>
            <a:prstDash val="solid"/>
          </a:ln>
        </p:spPr>
      </p:sp>
      <p:sp>
        <p:nvSpPr>
          <p:cNvPr id="60" name="Text 58"/>
          <p:cNvSpPr/>
          <p:nvPr/>
        </p:nvSpPr>
        <p:spPr>
          <a:xfrm>
            <a:off x="585216" y="4261104"/>
            <a:ext cx="713232" cy="347472"/>
          </a:xfrm>
          <a:prstGeom prst="rect">
            <a:avLst/>
          </a:prstGeom>
          <a:noFill/>
          <a:ln/>
        </p:spPr>
        <p:txBody>
          <a:bodyPr wrap="square" lIns="0" tIns="0" rIns="0" bIns="0" rtlCol="0" anchor="ctr"/>
          <a:lstStyle/>
          <a:p>
            <a:pPr indent="0" marL="0">
              <a:buNone/>
            </a:pPr>
            <a:r>
              <a:rPr lang="en-US" sz="800" b="1" dirty="0">
                <a:solidFill>
                  <a:srgbClr val="12202E"/>
                </a:solidFill>
                <a:latin typeface="Calibri" pitchFamily="34" charset="0"/>
                <a:ea typeface="Calibri" pitchFamily="34" charset="-122"/>
                <a:cs typeface="Calibri" pitchFamily="34" charset="-120"/>
              </a:rPr>
              <a:t>DE-036</a:t>
            </a:r>
            <a:endParaRPr lang="en-US" sz="800" dirty="0"/>
          </a:p>
        </p:txBody>
      </p:sp>
      <p:sp>
        <p:nvSpPr>
          <p:cNvPr id="61" name="Text 59"/>
          <p:cNvSpPr/>
          <p:nvPr/>
        </p:nvSpPr>
        <p:spPr>
          <a:xfrm>
            <a:off x="1344168" y="4261104"/>
            <a:ext cx="214884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Does the discharge smell?</a:t>
            </a:r>
            <a:endParaRPr lang="en-US" sz="800" dirty="0"/>
          </a:p>
        </p:txBody>
      </p:sp>
      <p:sp>
        <p:nvSpPr>
          <p:cNvPr id="62" name="Text 60"/>
          <p:cNvSpPr/>
          <p:nvPr/>
        </p:nvSpPr>
        <p:spPr>
          <a:xfrm>
            <a:off x="3538728" y="4261104"/>
            <a:ext cx="96012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select_one</a:t>
            </a:r>
            <a:endParaRPr lang="en-US" sz="800" dirty="0"/>
          </a:p>
        </p:txBody>
      </p:sp>
      <p:sp>
        <p:nvSpPr>
          <p:cNvPr id="63" name="Text 61"/>
          <p:cNvSpPr/>
          <p:nvPr/>
        </p:nvSpPr>
        <p:spPr>
          <a:xfrm>
            <a:off x="4544568" y="4261104"/>
            <a:ext cx="288036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1 = yes · 0 = no</a:t>
            </a:r>
            <a:endParaRPr lang="en-US" sz="800" dirty="0"/>
          </a:p>
        </p:txBody>
      </p:sp>
      <p:sp>
        <p:nvSpPr>
          <p:cNvPr id="64" name="Text 62"/>
          <p:cNvSpPr/>
          <p:nvPr/>
        </p:nvSpPr>
        <p:spPr>
          <a:xfrm>
            <a:off x="7470648" y="4261104"/>
            <a:ext cx="160020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secretion ≥ 1</a:t>
            </a:r>
            <a:endParaRPr lang="en-US" sz="800" dirty="0"/>
          </a:p>
        </p:txBody>
      </p:sp>
      <p:sp>
        <p:nvSpPr>
          <p:cNvPr id="65" name="Text 63"/>
          <p:cNvSpPr/>
          <p:nvPr/>
        </p:nvSpPr>
        <p:spPr>
          <a:xfrm>
            <a:off x="9116568" y="4261104"/>
            <a:ext cx="1417320" cy="347472"/>
          </a:xfrm>
          <a:prstGeom prst="rect">
            <a:avLst/>
          </a:prstGeom>
          <a:noFill/>
          <a:ln/>
        </p:spPr>
        <p:txBody>
          <a:bodyPr wrap="square" lIns="0" tIns="0" rIns="0" bIns="0" rtlCol="0" anchor="ctr"/>
          <a:lstStyle/>
          <a:p>
            <a:pPr indent="0" marL="0">
              <a:buNone/>
            </a:pPr>
            <a:r>
              <a:rPr lang="en-US" sz="800" dirty="0">
                <a:solidFill>
                  <a:srgbClr val="5D7186"/>
                </a:solidFill>
                <a:latin typeface="Calibri" pitchFamily="34" charset="0"/>
                <a:ea typeface="Calibri" pitchFamily="34" charset="-122"/>
                <a:cs typeface="Calibri" pitchFamily="34" charset="-120"/>
              </a:rPr>
              <a:t>—</a:t>
            </a:r>
            <a:endParaRPr lang="en-US" sz="800" dirty="0"/>
          </a:p>
        </p:txBody>
      </p:sp>
      <p:sp>
        <p:nvSpPr>
          <p:cNvPr id="66" name="Text 64"/>
          <p:cNvSpPr/>
          <p:nvPr/>
        </p:nvSpPr>
        <p:spPr>
          <a:xfrm>
            <a:off x="10579608" y="4261104"/>
            <a:ext cx="1344168" cy="347472"/>
          </a:xfrm>
          <a:prstGeom prst="rect">
            <a:avLst/>
          </a:prstGeom>
          <a:noFill/>
          <a:ln/>
        </p:spPr>
        <p:txBody>
          <a:bodyPr wrap="square" lIns="0" tIns="0" rIns="0" bIns="0" rtlCol="0" anchor="ctr"/>
          <a:lstStyle/>
          <a:p>
            <a:pPr indent="0" marL="0">
              <a:buNone/>
            </a:pPr>
            <a:r>
              <a:rPr lang="en-US" sz="800" dirty="0">
                <a:solidFill>
                  <a:srgbClr val="5D7186"/>
                </a:solidFill>
                <a:latin typeface="Calibri" pitchFamily="34" charset="0"/>
                <a:ea typeface="Calibri" pitchFamily="34" charset="-122"/>
                <a:cs typeface="Calibri" pitchFamily="34" charset="-120"/>
              </a:rPr>
              <a:t>SNOMED 288227007</a:t>
            </a:r>
            <a:endParaRPr lang="en-US" sz="800" dirty="0"/>
          </a:p>
        </p:txBody>
      </p:sp>
      <p:sp>
        <p:nvSpPr>
          <p:cNvPr id="67" name="Shape 65"/>
          <p:cNvSpPr/>
          <p:nvPr/>
        </p:nvSpPr>
        <p:spPr>
          <a:xfrm>
            <a:off x="566928" y="4663440"/>
            <a:ext cx="11064240" cy="347472"/>
          </a:xfrm>
          <a:prstGeom prst="roundRect">
            <a:avLst>
              <a:gd name="adj" fmla="val 23684"/>
            </a:avLst>
          </a:prstGeom>
          <a:solidFill>
            <a:srgbClr val="FFFFFF"/>
          </a:solidFill>
          <a:ln w="12700">
            <a:solidFill>
              <a:srgbClr val="FFFFFF"/>
            </a:solidFill>
            <a:prstDash val="solid"/>
          </a:ln>
        </p:spPr>
      </p:sp>
      <p:sp>
        <p:nvSpPr>
          <p:cNvPr id="68" name="Text 66"/>
          <p:cNvSpPr/>
          <p:nvPr/>
        </p:nvSpPr>
        <p:spPr>
          <a:xfrm>
            <a:off x="585216" y="4663440"/>
            <a:ext cx="713232" cy="347472"/>
          </a:xfrm>
          <a:prstGeom prst="rect">
            <a:avLst/>
          </a:prstGeom>
          <a:noFill/>
          <a:ln/>
        </p:spPr>
        <p:txBody>
          <a:bodyPr wrap="square" lIns="0" tIns="0" rIns="0" bIns="0" rtlCol="0" anchor="ctr"/>
          <a:lstStyle/>
          <a:p>
            <a:pPr indent="0" marL="0">
              <a:buNone/>
            </a:pPr>
            <a:r>
              <a:rPr lang="en-US" sz="800" b="1" dirty="0">
                <a:solidFill>
                  <a:srgbClr val="12202E"/>
                </a:solidFill>
                <a:latin typeface="Calibri" pitchFamily="34" charset="0"/>
                <a:ea typeface="Calibri" pitchFamily="34" charset="-122"/>
                <a:cs typeface="Calibri" pitchFamily="34" charset="-120"/>
              </a:rPr>
              <a:t>DE-037</a:t>
            </a:r>
            <a:endParaRPr lang="en-US" sz="800" dirty="0"/>
          </a:p>
        </p:txBody>
      </p:sp>
      <p:sp>
        <p:nvSpPr>
          <p:cNvPr id="69" name="Text 67"/>
          <p:cNvSpPr/>
          <p:nvPr/>
        </p:nvSpPr>
        <p:spPr>
          <a:xfrm>
            <a:off x="1344168" y="4663440"/>
            <a:ext cx="214884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One spot or the whole wound?</a:t>
            </a:r>
            <a:endParaRPr lang="en-US" sz="800" dirty="0"/>
          </a:p>
        </p:txBody>
      </p:sp>
      <p:sp>
        <p:nvSpPr>
          <p:cNvPr id="70" name="Text 68"/>
          <p:cNvSpPr/>
          <p:nvPr/>
        </p:nvSpPr>
        <p:spPr>
          <a:xfrm>
            <a:off x="3538728" y="4663440"/>
            <a:ext cx="96012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select_one</a:t>
            </a:r>
            <a:endParaRPr lang="en-US" sz="800" dirty="0"/>
          </a:p>
        </p:txBody>
      </p:sp>
      <p:sp>
        <p:nvSpPr>
          <p:cNvPr id="71" name="Text 69"/>
          <p:cNvSpPr/>
          <p:nvPr/>
        </p:nvSpPr>
        <p:spPr>
          <a:xfrm>
            <a:off x="4544568" y="4663440"/>
            <a:ext cx="288036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1 = small spot · 2 = along the wound</a:t>
            </a:r>
            <a:endParaRPr lang="en-US" sz="800" dirty="0"/>
          </a:p>
        </p:txBody>
      </p:sp>
      <p:sp>
        <p:nvSpPr>
          <p:cNvPr id="72" name="Text 70"/>
          <p:cNvSpPr/>
          <p:nvPr/>
        </p:nvSpPr>
        <p:spPr>
          <a:xfrm>
            <a:off x="7470648" y="4663440"/>
            <a:ext cx="160020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secretion ≥ 1</a:t>
            </a:r>
            <a:endParaRPr lang="en-US" sz="800" dirty="0"/>
          </a:p>
        </p:txBody>
      </p:sp>
      <p:sp>
        <p:nvSpPr>
          <p:cNvPr id="73" name="Text 71"/>
          <p:cNvSpPr/>
          <p:nvPr/>
        </p:nvSpPr>
        <p:spPr>
          <a:xfrm>
            <a:off x="9116568" y="4663440"/>
            <a:ext cx="1417320" cy="347472"/>
          </a:xfrm>
          <a:prstGeom prst="rect">
            <a:avLst/>
          </a:prstGeom>
          <a:noFill/>
          <a:ln/>
        </p:spPr>
        <p:txBody>
          <a:bodyPr wrap="square" lIns="0" tIns="0" rIns="0" bIns="0" rtlCol="0" anchor="ctr"/>
          <a:lstStyle/>
          <a:p>
            <a:pPr indent="0" marL="0">
              <a:buNone/>
            </a:pPr>
            <a:r>
              <a:rPr lang="en-US" sz="800" dirty="0">
                <a:solidFill>
                  <a:srgbClr val="5D7186"/>
                </a:solidFill>
                <a:latin typeface="Calibri" pitchFamily="34" charset="0"/>
                <a:ea typeface="Calibri" pitchFamily="34" charset="-122"/>
                <a:cs typeface="Calibri" pitchFamily="34" charset="-120"/>
              </a:rPr>
              <a:t>—</a:t>
            </a:r>
            <a:endParaRPr lang="en-US" sz="800" dirty="0"/>
          </a:p>
        </p:txBody>
      </p:sp>
      <p:sp>
        <p:nvSpPr>
          <p:cNvPr id="74" name="Text 72"/>
          <p:cNvSpPr/>
          <p:nvPr/>
        </p:nvSpPr>
        <p:spPr>
          <a:xfrm>
            <a:off x="10579608" y="4663440"/>
            <a:ext cx="1344168" cy="347472"/>
          </a:xfrm>
          <a:prstGeom prst="rect">
            <a:avLst/>
          </a:prstGeom>
          <a:noFill/>
          <a:ln/>
        </p:spPr>
        <p:txBody>
          <a:bodyPr wrap="square" lIns="0" tIns="0" rIns="0" bIns="0" rtlCol="0" anchor="ctr"/>
          <a:lstStyle/>
          <a:p>
            <a:pPr indent="0" marL="0">
              <a:buNone/>
            </a:pPr>
            <a:r>
              <a:rPr lang="en-US" sz="800" dirty="0">
                <a:solidFill>
                  <a:srgbClr val="5D7186"/>
                </a:solidFill>
                <a:latin typeface="Calibri" pitchFamily="34" charset="0"/>
                <a:ea typeface="Calibri" pitchFamily="34" charset="-122"/>
                <a:cs typeface="Calibri" pitchFamily="34" charset="-120"/>
              </a:rPr>
              <a:t>—</a:t>
            </a:r>
            <a:endParaRPr lang="en-US" sz="800" dirty="0"/>
          </a:p>
        </p:txBody>
      </p:sp>
      <p:sp>
        <p:nvSpPr>
          <p:cNvPr id="75" name="Shape 73"/>
          <p:cNvSpPr/>
          <p:nvPr/>
        </p:nvSpPr>
        <p:spPr>
          <a:xfrm>
            <a:off x="566928" y="5065776"/>
            <a:ext cx="11064240" cy="347472"/>
          </a:xfrm>
          <a:prstGeom prst="roundRect">
            <a:avLst>
              <a:gd name="adj" fmla="val 23684"/>
            </a:avLst>
          </a:prstGeom>
          <a:solidFill>
            <a:srgbClr val="F5F7FA"/>
          </a:solidFill>
          <a:ln w="12700">
            <a:solidFill>
              <a:srgbClr val="DDE5EE"/>
            </a:solidFill>
            <a:prstDash val="solid"/>
          </a:ln>
        </p:spPr>
      </p:sp>
      <p:sp>
        <p:nvSpPr>
          <p:cNvPr id="76" name="Text 74"/>
          <p:cNvSpPr/>
          <p:nvPr/>
        </p:nvSpPr>
        <p:spPr>
          <a:xfrm>
            <a:off x="585216" y="5065776"/>
            <a:ext cx="713232" cy="347472"/>
          </a:xfrm>
          <a:prstGeom prst="rect">
            <a:avLst/>
          </a:prstGeom>
          <a:noFill/>
          <a:ln/>
        </p:spPr>
        <p:txBody>
          <a:bodyPr wrap="square" lIns="0" tIns="0" rIns="0" bIns="0" rtlCol="0" anchor="ctr"/>
          <a:lstStyle/>
          <a:p>
            <a:pPr indent="0" marL="0">
              <a:buNone/>
            </a:pPr>
            <a:r>
              <a:rPr lang="en-US" sz="800" b="1" dirty="0">
                <a:solidFill>
                  <a:srgbClr val="12202E"/>
                </a:solidFill>
                <a:latin typeface="Calibri" pitchFamily="34" charset="0"/>
                <a:ea typeface="Calibri" pitchFamily="34" charset="-122"/>
                <a:cs typeface="Calibri" pitchFamily="34" charset="-120"/>
              </a:rPr>
              <a:t>DE-038</a:t>
            </a:r>
            <a:endParaRPr lang="en-US" sz="800" dirty="0"/>
          </a:p>
        </p:txBody>
      </p:sp>
      <p:sp>
        <p:nvSpPr>
          <p:cNvPr id="77" name="Text 75"/>
          <p:cNvSpPr/>
          <p:nvPr/>
        </p:nvSpPr>
        <p:spPr>
          <a:xfrm>
            <a:off x="1344168" y="5065776"/>
            <a:ext cx="214884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For how many days?</a:t>
            </a:r>
            <a:endParaRPr lang="en-US" sz="800" dirty="0"/>
          </a:p>
        </p:txBody>
      </p:sp>
      <p:sp>
        <p:nvSpPr>
          <p:cNvPr id="78" name="Text 76"/>
          <p:cNvSpPr/>
          <p:nvPr/>
        </p:nvSpPr>
        <p:spPr>
          <a:xfrm>
            <a:off x="3538728" y="5065776"/>
            <a:ext cx="96012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integer</a:t>
            </a:r>
            <a:endParaRPr lang="en-US" sz="800" dirty="0"/>
          </a:p>
        </p:txBody>
      </p:sp>
      <p:sp>
        <p:nvSpPr>
          <p:cNvPr id="79" name="Text 77"/>
          <p:cNvSpPr/>
          <p:nvPr/>
        </p:nvSpPr>
        <p:spPr>
          <a:xfrm>
            <a:off x="4544568" y="5065776"/>
            <a:ext cx="288036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free numeric input, days</a:t>
            </a:r>
            <a:endParaRPr lang="en-US" sz="800" dirty="0"/>
          </a:p>
        </p:txBody>
      </p:sp>
      <p:sp>
        <p:nvSpPr>
          <p:cNvPr id="80" name="Text 78"/>
          <p:cNvSpPr/>
          <p:nvPr/>
        </p:nvSpPr>
        <p:spPr>
          <a:xfrm>
            <a:off x="7470648" y="5065776"/>
            <a:ext cx="160020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secretion ≥ 1</a:t>
            </a:r>
            <a:endParaRPr lang="en-US" sz="800" dirty="0"/>
          </a:p>
        </p:txBody>
      </p:sp>
      <p:sp>
        <p:nvSpPr>
          <p:cNvPr id="81" name="Text 79"/>
          <p:cNvSpPr/>
          <p:nvPr/>
        </p:nvSpPr>
        <p:spPr>
          <a:xfrm>
            <a:off x="9116568" y="5065776"/>
            <a:ext cx="1417320" cy="347472"/>
          </a:xfrm>
          <a:prstGeom prst="rect">
            <a:avLst/>
          </a:prstGeom>
          <a:noFill/>
          <a:ln/>
        </p:spPr>
        <p:txBody>
          <a:bodyPr wrap="square" lIns="0" tIns="0" rIns="0" bIns="0" rtlCol="0" anchor="ctr"/>
          <a:lstStyle/>
          <a:p>
            <a:pPr indent="0" marL="0">
              <a:buNone/>
            </a:pPr>
            <a:r>
              <a:rPr lang="en-US" sz="800" dirty="0">
                <a:solidFill>
                  <a:srgbClr val="5D7186"/>
                </a:solidFill>
                <a:latin typeface="Calibri" pitchFamily="34" charset="0"/>
                <a:ea typeface="Calibri" pitchFamily="34" charset="-122"/>
                <a:cs typeface="Calibri" pitchFamily="34" charset="-120"/>
              </a:rPr>
              <a:t>0–60</a:t>
            </a:r>
            <a:endParaRPr lang="en-US" sz="800" dirty="0"/>
          </a:p>
        </p:txBody>
      </p:sp>
      <p:sp>
        <p:nvSpPr>
          <p:cNvPr id="82" name="Text 80"/>
          <p:cNvSpPr/>
          <p:nvPr/>
        </p:nvSpPr>
        <p:spPr>
          <a:xfrm>
            <a:off x="10579608" y="5065776"/>
            <a:ext cx="1344168" cy="347472"/>
          </a:xfrm>
          <a:prstGeom prst="rect">
            <a:avLst/>
          </a:prstGeom>
          <a:noFill/>
          <a:ln/>
        </p:spPr>
        <p:txBody>
          <a:bodyPr wrap="square" lIns="0" tIns="0" rIns="0" bIns="0" rtlCol="0" anchor="ctr"/>
          <a:lstStyle/>
          <a:p>
            <a:pPr indent="0" marL="0">
              <a:buNone/>
            </a:pPr>
            <a:r>
              <a:rPr lang="en-US" sz="800" dirty="0">
                <a:solidFill>
                  <a:srgbClr val="5D7186"/>
                </a:solidFill>
                <a:latin typeface="Calibri" pitchFamily="34" charset="0"/>
                <a:ea typeface="Calibri" pitchFamily="34" charset="-122"/>
                <a:cs typeface="Calibri" pitchFamily="34" charset="-120"/>
              </a:rPr>
              <a:t>—</a:t>
            </a:r>
            <a:endParaRPr lang="en-US" sz="800" dirty="0"/>
          </a:p>
        </p:txBody>
      </p:sp>
      <p:sp>
        <p:nvSpPr>
          <p:cNvPr id="83" name="Shape 81"/>
          <p:cNvSpPr/>
          <p:nvPr/>
        </p:nvSpPr>
        <p:spPr>
          <a:xfrm>
            <a:off x="566928" y="5468112"/>
            <a:ext cx="11064240" cy="347472"/>
          </a:xfrm>
          <a:prstGeom prst="roundRect">
            <a:avLst>
              <a:gd name="adj" fmla="val 23684"/>
            </a:avLst>
          </a:prstGeom>
          <a:solidFill>
            <a:srgbClr val="FFFFFF"/>
          </a:solidFill>
          <a:ln w="12700">
            <a:solidFill>
              <a:srgbClr val="FFFFFF"/>
            </a:solidFill>
            <a:prstDash val="solid"/>
          </a:ln>
        </p:spPr>
      </p:sp>
      <p:sp>
        <p:nvSpPr>
          <p:cNvPr id="84" name="Text 82"/>
          <p:cNvSpPr/>
          <p:nvPr/>
        </p:nvSpPr>
        <p:spPr>
          <a:xfrm>
            <a:off x="585216" y="5468112"/>
            <a:ext cx="713232" cy="347472"/>
          </a:xfrm>
          <a:prstGeom prst="rect">
            <a:avLst/>
          </a:prstGeom>
          <a:noFill/>
          <a:ln/>
        </p:spPr>
        <p:txBody>
          <a:bodyPr wrap="square" lIns="0" tIns="0" rIns="0" bIns="0" rtlCol="0" anchor="ctr"/>
          <a:lstStyle/>
          <a:p>
            <a:pPr indent="0" marL="0">
              <a:buNone/>
            </a:pPr>
            <a:r>
              <a:rPr lang="en-US" sz="800" b="1" dirty="0">
                <a:solidFill>
                  <a:srgbClr val="12202E"/>
                </a:solidFill>
                <a:latin typeface="Calibri" pitchFamily="34" charset="0"/>
                <a:ea typeface="Calibri" pitchFamily="34" charset="-122"/>
                <a:cs typeface="Calibri" pitchFamily="34" charset="-120"/>
              </a:rPr>
              <a:t>DE-025</a:t>
            </a:r>
            <a:endParaRPr lang="en-US" sz="800" dirty="0"/>
          </a:p>
        </p:txBody>
      </p:sp>
      <p:sp>
        <p:nvSpPr>
          <p:cNvPr id="85" name="Text 83"/>
          <p:cNvSpPr/>
          <p:nvPr/>
        </p:nvSpPr>
        <p:spPr>
          <a:xfrm>
            <a:off x="1344168" y="5468112"/>
            <a:ext cx="214884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Did pain disturb your sleep?</a:t>
            </a:r>
            <a:endParaRPr lang="en-US" sz="800" dirty="0"/>
          </a:p>
        </p:txBody>
      </p:sp>
      <p:sp>
        <p:nvSpPr>
          <p:cNvPr id="86" name="Text 84"/>
          <p:cNvSpPr/>
          <p:nvPr/>
        </p:nvSpPr>
        <p:spPr>
          <a:xfrm>
            <a:off x="3538728" y="5468112"/>
            <a:ext cx="96012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select_one</a:t>
            </a:r>
            <a:endParaRPr lang="en-US" sz="800" dirty="0"/>
          </a:p>
        </p:txBody>
      </p:sp>
      <p:sp>
        <p:nvSpPr>
          <p:cNvPr id="87" name="Text 85"/>
          <p:cNvSpPr/>
          <p:nvPr/>
        </p:nvSpPr>
        <p:spPr>
          <a:xfrm>
            <a:off x="4544568" y="5468112"/>
            <a:ext cx="288036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1 = yes · 0 = no</a:t>
            </a:r>
            <a:endParaRPr lang="en-US" sz="800" dirty="0"/>
          </a:p>
        </p:txBody>
      </p:sp>
      <p:sp>
        <p:nvSpPr>
          <p:cNvPr id="88" name="Text 86"/>
          <p:cNvSpPr/>
          <p:nvPr/>
        </p:nvSpPr>
        <p:spPr>
          <a:xfrm>
            <a:off x="7470648" y="5468112"/>
            <a:ext cx="160020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pain ≥ 4</a:t>
            </a:r>
            <a:endParaRPr lang="en-US" sz="800" dirty="0"/>
          </a:p>
        </p:txBody>
      </p:sp>
      <p:sp>
        <p:nvSpPr>
          <p:cNvPr id="89" name="Text 87"/>
          <p:cNvSpPr/>
          <p:nvPr/>
        </p:nvSpPr>
        <p:spPr>
          <a:xfrm>
            <a:off x="9116568" y="5468112"/>
            <a:ext cx="1417320" cy="347472"/>
          </a:xfrm>
          <a:prstGeom prst="rect">
            <a:avLst/>
          </a:prstGeom>
          <a:noFill/>
          <a:ln/>
        </p:spPr>
        <p:txBody>
          <a:bodyPr wrap="square" lIns="0" tIns="0" rIns="0" bIns="0" rtlCol="0" anchor="ctr"/>
          <a:lstStyle/>
          <a:p>
            <a:pPr indent="0" marL="0">
              <a:buNone/>
            </a:pPr>
            <a:r>
              <a:rPr lang="en-US" sz="800" dirty="0">
                <a:solidFill>
                  <a:srgbClr val="5D7186"/>
                </a:solidFill>
                <a:latin typeface="Calibri" pitchFamily="34" charset="0"/>
                <a:ea typeface="Calibri" pitchFamily="34" charset="-122"/>
                <a:cs typeface="Calibri" pitchFamily="34" charset="-120"/>
              </a:rPr>
              <a:t>—</a:t>
            </a:r>
            <a:endParaRPr lang="en-US" sz="800" dirty="0"/>
          </a:p>
        </p:txBody>
      </p:sp>
      <p:sp>
        <p:nvSpPr>
          <p:cNvPr id="90" name="Text 88"/>
          <p:cNvSpPr/>
          <p:nvPr/>
        </p:nvSpPr>
        <p:spPr>
          <a:xfrm>
            <a:off x="10579608" y="5468112"/>
            <a:ext cx="1344168" cy="347472"/>
          </a:xfrm>
          <a:prstGeom prst="rect">
            <a:avLst/>
          </a:prstGeom>
          <a:noFill/>
          <a:ln/>
        </p:spPr>
        <p:txBody>
          <a:bodyPr wrap="square" lIns="0" tIns="0" rIns="0" bIns="0" rtlCol="0" anchor="ctr"/>
          <a:lstStyle/>
          <a:p>
            <a:pPr indent="0" marL="0">
              <a:buNone/>
            </a:pPr>
            <a:r>
              <a:rPr lang="en-US" sz="800" dirty="0">
                <a:solidFill>
                  <a:srgbClr val="5D7186"/>
                </a:solidFill>
                <a:latin typeface="Calibri" pitchFamily="34" charset="0"/>
                <a:ea typeface="Calibri" pitchFamily="34" charset="-122"/>
                <a:cs typeface="Calibri" pitchFamily="34" charset="-120"/>
              </a:rPr>
              <a:t>SNOMED 301345002</a:t>
            </a:r>
            <a:endParaRPr lang="en-US" sz="800" dirty="0"/>
          </a:p>
        </p:txBody>
      </p:sp>
      <p:sp>
        <p:nvSpPr>
          <p:cNvPr id="91" name="Shape 89"/>
          <p:cNvSpPr/>
          <p:nvPr/>
        </p:nvSpPr>
        <p:spPr>
          <a:xfrm>
            <a:off x="566928" y="5870448"/>
            <a:ext cx="11064240" cy="347472"/>
          </a:xfrm>
          <a:prstGeom prst="roundRect">
            <a:avLst>
              <a:gd name="adj" fmla="val 23684"/>
            </a:avLst>
          </a:prstGeom>
          <a:solidFill>
            <a:srgbClr val="F5F7FA"/>
          </a:solidFill>
          <a:ln w="12700">
            <a:solidFill>
              <a:srgbClr val="DDE5EE"/>
            </a:solidFill>
            <a:prstDash val="solid"/>
          </a:ln>
        </p:spPr>
      </p:sp>
      <p:sp>
        <p:nvSpPr>
          <p:cNvPr id="92" name="Text 90"/>
          <p:cNvSpPr/>
          <p:nvPr/>
        </p:nvSpPr>
        <p:spPr>
          <a:xfrm>
            <a:off x="585216" y="5870448"/>
            <a:ext cx="713232" cy="347472"/>
          </a:xfrm>
          <a:prstGeom prst="rect">
            <a:avLst/>
          </a:prstGeom>
          <a:noFill/>
          <a:ln/>
        </p:spPr>
        <p:txBody>
          <a:bodyPr wrap="square" lIns="0" tIns="0" rIns="0" bIns="0" rtlCol="0" anchor="ctr"/>
          <a:lstStyle/>
          <a:p>
            <a:pPr indent="0" marL="0">
              <a:buNone/>
            </a:pPr>
            <a:r>
              <a:rPr lang="en-US" sz="800" b="1" dirty="0">
                <a:solidFill>
                  <a:srgbClr val="12202E"/>
                </a:solidFill>
                <a:latin typeface="Calibri" pitchFamily="34" charset="0"/>
                <a:ea typeface="Calibri" pitchFamily="34" charset="-122"/>
                <a:cs typeface="Calibri" pitchFamily="34" charset="-120"/>
              </a:rPr>
              <a:t>DE-045</a:t>
            </a:r>
            <a:endParaRPr lang="en-US" sz="800" dirty="0"/>
          </a:p>
        </p:txBody>
      </p:sp>
      <p:sp>
        <p:nvSpPr>
          <p:cNvPr id="93" name="Text 91"/>
          <p:cNvSpPr/>
          <p:nvPr/>
        </p:nvSpPr>
        <p:spPr>
          <a:xfrm>
            <a:off x="1344168" y="5870448"/>
            <a:ext cx="214884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Southampton grade</a:t>
            </a:r>
            <a:endParaRPr lang="en-US" sz="800" dirty="0"/>
          </a:p>
        </p:txBody>
      </p:sp>
      <p:sp>
        <p:nvSpPr>
          <p:cNvPr id="94" name="Text 92"/>
          <p:cNvSpPr/>
          <p:nvPr/>
        </p:nvSpPr>
        <p:spPr>
          <a:xfrm>
            <a:off x="3538728" y="5870448"/>
            <a:ext cx="96012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calculated</a:t>
            </a:r>
            <a:endParaRPr lang="en-US" sz="800" dirty="0"/>
          </a:p>
        </p:txBody>
      </p:sp>
      <p:sp>
        <p:nvSpPr>
          <p:cNvPr id="95" name="Text 93"/>
          <p:cNvSpPr/>
          <p:nvPr/>
        </p:nvSpPr>
        <p:spPr>
          <a:xfrm>
            <a:off x="4544568" y="5870448"/>
            <a:ext cx="288036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0 · I · II · III · IV · V</a:t>
            </a:r>
            <a:endParaRPr lang="en-US" sz="800" dirty="0"/>
          </a:p>
        </p:txBody>
      </p:sp>
      <p:sp>
        <p:nvSpPr>
          <p:cNvPr id="96" name="Text 94"/>
          <p:cNvSpPr/>
          <p:nvPr/>
        </p:nvSpPr>
        <p:spPr>
          <a:xfrm>
            <a:off x="7470648" y="5870448"/>
            <a:ext cx="1600200" cy="347472"/>
          </a:xfrm>
          <a:prstGeom prst="rect">
            <a:avLst/>
          </a:prstGeom>
          <a:noFill/>
          <a:ln/>
        </p:spPr>
        <p:txBody>
          <a:bodyPr wrap="square" lIns="0" tIns="0" rIns="0" bIns="0" rtlCol="0" anchor="ctr"/>
          <a:lstStyle/>
          <a:p>
            <a:pPr indent="0" marL="0">
              <a:buNone/>
            </a:pPr>
            <a:r>
              <a:rPr lang="en-US" sz="800" dirty="0">
                <a:solidFill>
                  <a:srgbClr val="12202E"/>
                </a:solidFill>
                <a:latin typeface="Calibri" pitchFamily="34" charset="0"/>
                <a:ea typeface="Calibri" pitchFamily="34" charset="-122"/>
                <a:cs typeface="Calibri" pitchFamily="34" charset="-120"/>
              </a:rPr>
              <a:t>derived from 5 elements</a:t>
            </a:r>
            <a:endParaRPr lang="en-US" sz="800" dirty="0"/>
          </a:p>
        </p:txBody>
      </p:sp>
      <p:sp>
        <p:nvSpPr>
          <p:cNvPr id="97" name="Text 95"/>
          <p:cNvSpPr/>
          <p:nvPr/>
        </p:nvSpPr>
        <p:spPr>
          <a:xfrm>
            <a:off x="9116568" y="5870448"/>
            <a:ext cx="1417320" cy="347472"/>
          </a:xfrm>
          <a:prstGeom prst="rect">
            <a:avLst/>
          </a:prstGeom>
          <a:noFill/>
          <a:ln/>
        </p:spPr>
        <p:txBody>
          <a:bodyPr wrap="square" lIns="0" tIns="0" rIns="0" bIns="0" rtlCol="0" anchor="ctr"/>
          <a:lstStyle/>
          <a:p>
            <a:pPr indent="0" marL="0">
              <a:buNone/>
            </a:pPr>
            <a:r>
              <a:rPr lang="en-US" sz="800" dirty="0">
                <a:solidFill>
                  <a:srgbClr val="5D7186"/>
                </a:solidFill>
                <a:latin typeface="Calibri" pitchFamily="34" charset="0"/>
                <a:ea typeface="Calibri" pitchFamily="34" charset="-122"/>
                <a:cs typeface="Calibri" pitchFamily="34" charset="-120"/>
              </a:rPr>
              <a:t>—</a:t>
            </a:r>
            <a:endParaRPr lang="en-US" sz="800" dirty="0"/>
          </a:p>
        </p:txBody>
      </p:sp>
      <p:sp>
        <p:nvSpPr>
          <p:cNvPr id="98" name="Text 96"/>
          <p:cNvSpPr/>
          <p:nvPr/>
        </p:nvSpPr>
        <p:spPr>
          <a:xfrm>
            <a:off x="10579608" y="5870448"/>
            <a:ext cx="1344168" cy="347472"/>
          </a:xfrm>
          <a:prstGeom prst="rect">
            <a:avLst/>
          </a:prstGeom>
          <a:noFill/>
          <a:ln/>
        </p:spPr>
        <p:txBody>
          <a:bodyPr wrap="square" lIns="0" tIns="0" rIns="0" bIns="0" rtlCol="0" anchor="ctr"/>
          <a:lstStyle/>
          <a:p>
            <a:pPr indent="0" marL="0">
              <a:buNone/>
            </a:pPr>
            <a:r>
              <a:rPr lang="en-US" sz="800" dirty="0">
                <a:solidFill>
                  <a:srgbClr val="5D7186"/>
                </a:solidFill>
                <a:latin typeface="Calibri" pitchFamily="34" charset="0"/>
                <a:ea typeface="Calibri" pitchFamily="34" charset="-122"/>
                <a:cs typeface="Calibri" pitchFamily="34" charset="-120"/>
              </a:rPr>
              <a:t>SNOMED 225552003</a:t>
            </a:r>
            <a:endParaRPr lang="en-US" sz="800" dirty="0"/>
          </a:p>
        </p:txBody>
      </p:sp>
      <p:sp>
        <p:nvSpPr>
          <p:cNvPr id="99" name="Text 97"/>
          <p:cNvSpPr/>
          <p:nvPr/>
        </p:nvSpPr>
        <p:spPr>
          <a:xfrm>
            <a:off x="566928" y="6345936"/>
            <a:ext cx="11064240" cy="274320"/>
          </a:xfrm>
          <a:prstGeom prst="rect">
            <a:avLst/>
          </a:prstGeom>
          <a:noFill/>
          <a:ln/>
        </p:spPr>
        <p:txBody>
          <a:bodyPr wrap="square" lIns="0" tIns="0" rIns="0" bIns="0" rtlCol="0" anchor="ctr"/>
          <a:lstStyle/>
          <a:p>
            <a:pPr indent="0" marL="0">
              <a:buNone/>
            </a:pPr>
            <a:r>
              <a:rPr lang="en-US" sz="1000" i="1" dirty="0">
                <a:solidFill>
                  <a:srgbClr val="5D7186"/>
                </a:solidFill>
                <a:latin typeface="Calibri" pitchFamily="34" charset="0"/>
                <a:ea typeface="Calibri" pitchFamily="34" charset="-122"/>
                <a:cs typeface="Calibri" pitchFamily="34" charset="-120"/>
              </a:rPr>
              <a:t>48 elements in total · 9 derived · 4 with conditional logic · 8 with constraints · 38 with a terminology binding · 47 with a FHIR mapping.  Full table: docs/05.</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indent="0" marL="0">
              <a:buNone/>
            </a:pPr>
            <a:r>
              <a:rPr lang="en-US" sz="1050" b="1" spc="160" kern="0" dirty="0">
                <a:solidFill>
                  <a:srgbClr val="5D7186"/>
                </a:solidFill>
                <a:latin typeface="Calibri" pitchFamily="34" charset="0"/>
                <a:ea typeface="Calibri" pitchFamily="34" charset="-122"/>
                <a:cs typeface="Calibri" pitchFamily="34" charset="-120"/>
              </a:rPr>
              <a:t>BACKUP · DOCUMENTATION</a:t>
            </a:r>
            <a:endParaRPr lang="en-US" sz="1050" dirty="0"/>
          </a:p>
        </p:txBody>
      </p:sp>
      <p:sp>
        <p:nvSpPr>
          <p:cNvPr id="3" name="Text 1"/>
          <p:cNvSpPr/>
          <p:nvPr/>
        </p:nvSpPr>
        <p:spPr>
          <a:xfrm>
            <a:off x="566928" y="640080"/>
            <a:ext cx="10607040" cy="658368"/>
          </a:xfrm>
          <a:prstGeom prst="rect">
            <a:avLst/>
          </a:prstGeom>
          <a:noFill/>
          <a:ln/>
        </p:spPr>
        <p:txBody>
          <a:bodyPr wrap="square" lIns="0" tIns="0" rIns="0" bIns="0" rtlCol="0" anchor="t"/>
          <a:lstStyle/>
          <a:p>
            <a:pPr indent="0" marL="0">
              <a:buNone/>
            </a:pPr>
            <a:r>
              <a:rPr lang="en-US" sz="2700" b="1" dirty="0">
                <a:solidFill>
                  <a:srgbClr val="12202E"/>
                </a:solidFill>
                <a:latin typeface="Cambria" pitchFamily="34" charset="0"/>
                <a:ea typeface="Cambria" pitchFamily="34" charset="-122"/>
                <a:cs typeface="Cambria" pitchFamily="34" charset="-120"/>
              </a:rPr>
              <a:t>Depth that did not fit into ten minutes</a:t>
            </a:r>
            <a:endParaRPr lang="en-US" sz="2700" dirty="0"/>
          </a:p>
        </p:txBody>
      </p:sp>
      <p:sp>
        <p:nvSpPr>
          <p:cNvPr id="4" name="Shape 2"/>
          <p:cNvSpPr/>
          <p:nvPr/>
        </p:nvSpPr>
        <p:spPr>
          <a:xfrm>
            <a:off x="566928" y="1591056"/>
            <a:ext cx="5440680" cy="2139696"/>
          </a:xfrm>
          <a:prstGeom prst="roundRect">
            <a:avLst>
              <a:gd name="adj" fmla="val 3846"/>
            </a:avLst>
          </a:prstGeom>
          <a:solidFill>
            <a:srgbClr val="F5F7FA"/>
          </a:solidFill>
          <a:ln w="12700">
            <a:solidFill>
              <a:srgbClr val="DDE5EE"/>
            </a:solidFill>
            <a:prstDash val="solid"/>
          </a:ln>
        </p:spPr>
      </p:sp>
      <p:sp>
        <p:nvSpPr>
          <p:cNvPr id="5" name="Text 3"/>
          <p:cNvSpPr/>
          <p:nvPr/>
        </p:nvSpPr>
        <p:spPr>
          <a:xfrm>
            <a:off x="804672" y="1737360"/>
            <a:ext cx="4937760" cy="274320"/>
          </a:xfrm>
          <a:prstGeom prst="rect">
            <a:avLst/>
          </a:prstGeom>
          <a:noFill/>
          <a:ln/>
        </p:spPr>
        <p:txBody>
          <a:bodyPr wrap="square" lIns="0" tIns="0" rIns="0" bIns="0" rtlCol="0" anchor="ctr"/>
          <a:lstStyle/>
          <a:p>
            <a:pPr indent="0" marL="0">
              <a:buNone/>
            </a:pPr>
            <a:r>
              <a:rPr lang="en-US" sz="1250" b="1" dirty="0">
                <a:solidFill>
                  <a:srgbClr val="12202E"/>
                </a:solidFill>
                <a:latin typeface="Calibri" pitchFamily="34" charset="0"/>
                <a:ea typeface="Calibri" pitchFamily="34" charset="-122"/>
                <a:cs typeface="Calibri" pitchFamily="34" charset="-120"/>
              </a:rPr>
              <a:t>Testing types applied (Day 5 vocabulary)</a:t>
            </a:r>
            <a:endParaRPr lang="en-US" sz="1250" dirty="0"/>
          </a:p>
        </p:txBody>
      </p:sp>
      <p:sp>
        <p:nvSpPr>
          <p:cNvPr id="6" name="Text 4"/>
          <p:cNvSpPr/>
          <p:nvPr/>
        </p:nvSpPr>
        <p:spPr>
          <a:xfrm>
            <a:off x="804672" y="2066544"/>
            <a:ext cx="4937760" cy="1554480"/>
          </a:xfrm>
          <a:prstGeom prst="rect">
            <a:avLst/>
          </a:prstGeom>
          <a:noFill/>
          <a:ln/>
        </p:spPr>
        <p:txBody>
          <a:bodyPr wrap="square" lIns="0" tIns="0" rIns="0" bIns="0" rtlCol="0" anchor="ctr"/>
          <a:lstStyle/>
          <a:p>
            <a:pPr marL="177800" indent="-177800">
              <a:lnSpc>
                <a:spcPts val="1300"/>
              </a:lnSpc>
              <a:spcAft>
                <a:spcPts val="500"/>
              </a:spcAft>
              <a:buSzPct val="100000"/>
              <a:buChar char="•"/>
            </a:pPr>
            <a:r>
              <a:rPr lang="en-US" sz="1000" dirty="0">
                <a:solidFill>
                  <a:srgbClr val="5D7186"/>
                </a:solidFill>
                <a:latin typeface="Calibri" pitchFamily="34" charset="0"/>
                <a:ea typeface="Calibri" pitchFamily="34" charset="-122"/>
                <a:cs typeface="Calibri" pitchFamily="34" charset="-120"/>
              </a:rPr>
              <a:t>L2 verification — decision table ↔ BPMN cascade ↔ L3 rules reconciled</a:t>
            </a:r>
            <a:endParaRPr lang="en-US" sz="1000" dirty="0"/>
          </a:p>
          <a:p>
            <a:pPr marL="177800" indent="-177800">
              <a:lnSpc>
                <a:spcPts val="1300"/>
              </a:lnSpc>
              <a:spcAft>
                <a:spcPts val="500"/>
              </a:spcAft>
              <a:buSzPct val="100000"/>
              <a:buChar char="•"/>
            </a:pPr>
            <a:r>
              <a:rPr lang="en-US" sz="1000" dirty="0">
                <a:solidFill>
                  <a:srgbClr val="5D7186"/>
                </a:solidFill>
                <a:latin typeface="Calibri" pitchFamily="34" charset="0"/>
                <a:ea typeface="Calibri" pitchFamily="34" charset="-122"/>
                <a:cs typeface="Calibri" pitchFamily="34" charset="-120"/>
              </a:rPr>
              <a:t>Functional testing — individual rules, exclusions, severity order, boundary values</a:t>
            </a:r>
            <a:endParaRPr lang="en-US" sz="1000" dirty="0"/>
          </a:p>
          <a:p>
            <a:pPr marL="177800" indent="-177800">
              <a:lnSpc>
                <a:spcPts val="1300"/>
              </a:lnSpc>
              <a:spcAft>
                <a:spcPts val="500"/>
              </a:spcAft>
              <a:buSzPct val="100000"/>
              <a:buChar char="•"/>
            </a:pPr>
            <a:r>
              <a:rPr lang="en-US" sz="1000" dirty="0">
                <a:solidFill>
                  <a:srgbClr val="5D7186"/>
                </a:solidFill>
                <a:latin typeface="Calibri" pitchFamily="34" charset="0"/>
                <a:ea typeface="Calibri" pitchFamily="34" charset="-122"/>
                <a:cs typeface="Calibri" pitchFamily="34" charset="-120"/>
              </a:rPr>
              <a:t>Integration testing — derived elements → rules → output; conditional logic → rule reachability</a:t>
            </a:r>
            <a:endParaRPr lang="en-US" sz="1000" dirty="0"/>
          </a:p>
          <a:p>
            <a:pPr marL="177800" indent="-177800">
              <a:lnSpc>
                <a:spcPts val="1300"/>
              </a:lnSpc>
              <a:spcAft>
                <a:spcPts val="500"/>
              </a:spcAft>
              <a:buSzPct val="100000"/>
              <a:buChar char="•"/>
            </a:pPr>
            <a:r>
              <a:rPr lang="en-US" sz="1000" dirty="0">
                <a:solidFill>
                  <a:srgbClr val="5D7186"/>
                </a:solidFill>
                <a:latin typeface="Calibri" pitchFamily="34" charset="0"/>
                <a:ea typeface="Calibri" pitchFamily="34" charset="-122"/>
                <a:cs typeface="Calibri" pitchFamily="34" charset="-120"/>
              </a:rPr>
              <a:t>Usability testing — image assignment by lay people: NOT carried out, our largest residual risk</a:t>
            </a:r>
            <a:endParaRPr lang="en-US" sz="1000" dirty="0"/>
          </a:p>
        </p:txBody>
      </p:sp>
      <p:sp>
        <p:nvSpPr>
          <p:cNvPr id="7" name="Shape 5"/>
          <p:cNvSpPr/>
          <p:nvPr/>
        </p:nvSpPr>
        <p:spPr>
          <a:xfrm>
            <a:off x="6190488" y="1591056"/>
            <a:ext cx="5440680" cy="2139696"/>
          </a:xfrm>
          <a:prstGeom prst="roundRect">
            <a:avLst>
              <a:gd name="adj" fmla="val 3846"/>
            </a:avLst>
          </a:prstGeom>
          <a:solidFill>
            <a:srgbClr val="FFFFFF"/>
          </a:solidFill>
          <a:ln w="12700">
            <a:solidFill>
              <a:srgbClr val="DDE5EE"/>
            </a:solidFill>
            <a:prstDash val="solid"/>
          </a:ln>
        </p:spPr>
      </p:sp>
      <p:sp>
        <p:nvSpPr>
          <p:cNvPr id="8" name="Text 6"/>
          <p:cNvSpPr/>
          <p:nvPr/>
        </p:nvSpPr>
        <p:spPr>
          <a:xfrm>
            <a:off x="6428232" y="1737360"/>
            <a:ext cx="4937760" cy="274320"/>
          </a:xfrm>
          <a:prstGeom prst="rect">
            <a:avLst/>
          </a:prstGeom>
          <a:noFill/>
          <a:ln/>
        </p:spPr>
        <p:txBody>
          <a:bodyPr wrap="square" lIns="0" tIns="0" rIns="0" bIns="0" rtlCol="0" anchor="ctr"/>
          <a:lstStyle/>
          <a:p>
            <a:pPr indent="0" marL="0">
              <a:buNone/>
            </a:pPr>
            <a:r>
              <a:rPr lang="en-US" sz="1250" b="1" dirty="0">
                <a:solidFill>
                  <a:srgbClr val="12202E"/>
                </a:solidFill>
                <a:latin typeface="Calibri" pitchFamily="34" charset="0"/>
                <a:ea typeface="Calibri" pitchFamily="34" charset="-122"/>
                <a:cs typeface="Calibri" pitchFamily="34" charset="-120"/>
              </a:rPr>
              <a:t>The L3 implementation package (Day 3)</a:t>
            </a:r>
            <a:endParaRPr lang="en-US" sz="1250" dirty="0"/>
          </a:p>
        </p:txBody>
      </p:sp>
      <p:sp>
        <p:nvSpPr>
          <p:cNvPr id="9" name="Text 7"/>
          <p:cNvSpPr/>
          <p:nvPr/>
        </p:nvSpPr>
        <p:spPr>
          <a:xfrm>
            <a:off x="6428232" y="2066544"/>
            <a:ext cx="4937760" cy="1554480"/>
          </a:xfrm>
          <a:prstGeom prst="rect">
            <a:avLst/>
          </a:prstGeom>
          <a:noFill/>
          <a:ln/>
        </p:spPr>
        <p:txBody>
          <a:bodyPr wrap="square" lIns="0" tIns="0" rIns="0" bIns="0" rtlCol="0" anchor="ctr"/>
          <a:lstStyle/>
          <a:p>
            <a:pPr marL="177800" indent="-177800">
              <a:lnSpc>
                <a:spcPts val="1300"/>
              </a:lnSpc>
              <a:spcAft>
                <a:spcPts val="500"/>
              </a:spcAft>
              <a:buSzPct val="100000"/>
              <a:buChar char="•"/>
            </a:pPr>
            <a:r>
              <a:rPr lang="en-US" sz="1000" dirty="0">
                <a:solidFill>
                  <a:srgbClr val="5D7186"/>
                </a:solidFill>
                <a:latin typeface="Calibri" pitchFamily="34" charset="0"/>
                <a:ea typeface="Calibri" pitchFamily="34" charset="-122"/>
                <a:cs typeface="Calibri" pitchFamily="34" charset="-120"/>
              </a:rPr>
              <a:t>Documentation — health need, personas, BPMN</a:t>
            </a:r>
            <a:endParaRPr lang="en-US" sz="1000" dirty="0"/>
          </a:p>
          <a:p>
            <a:pPr marL="177800" indent="-177800">
              <a:lnSpc>
                <a:spcPts val="1300"/>
              </a:lnSpc>
              <a:spcAft>
                <a:spcPts val="500"/>
              </a:spcAft>
              <a:buSzPct val="100000"/>
              <a:buChar char="•"/>
            </a:pPr>
            <a:r>
              <a:rPr lang="en-US" sz="1000" dirty="0">
                <a:solidFill>
                  <a:srgbClr val="5D7186"/>
                </a:solidFill>
                <a:latin typeface="Calibri" pitchFamily="34" charset="0"/>
                <a:ea typeface="Calibri" pitchFamily="34" charset="-122"/>
                <a:cs typeface="Calibri" pitchFamily="34" charset="-120"/>
              </a:rPr>
              <a:t>Content / workflow — sections, relevant, decision rules</a:t>
            </a:r>
            <a:endParaRPr lang="en-US" sz="1000" dirty="0"/>
          </a:p>
          <a:p>
            <a:pPr marL="177800" indent="-177800">
              <a:lnSpc>
                <a:spcPts val="1300"/>
              </a:lnSpc>
              <a:spcAft>
                <a:spcPts val="500"/>
              </a:spcAft>
              <a:buSzPct val="100000"/>
              <a:buChar char="•"/>
            </a:pPr>
            <a:r>
              <a:rPr lang="en-US" sz="1000" dirty="0">
                <a:solidFill>
                  <a:srgbClr val="5D7186"/>
                </a:solidFill>
                <a:latin typeface="Calibri" pitchFamily="34" charset="0"/>
                <a:ea typeface="Calibri" pitchFamily="34" charset="-122"/>
                <a:cs typeface="Calibri" pitchFamily="34" charset="-120"/>
              </a:rPr>
              <a:t>Terminology — SNOMED CT / LOINC / ICD-10 bindings</a:t>
            </a:r>
            <a:endParaRPr lang="en-US" sz="1000" dirty="0"/>
          </a:p>
          <a:p>
            <a:pPr marL="177800" indent="-177800">
              <a:lnSpc>
                <a:spcPts val="1300"/>
              </a:lnSpc>
              <a:spcAft>
                <a:spcPts val="500"/>
              </a:spcAft>
              <a:buSzPct val="100000"/>
              <a:buChar char="•"/>
            </a:pPr>
            <a:r>
              <a:rPr lang="en-US" sz="1000" dirty="0">
                <a:solidFill>
                  <a:srgbClr val="5D7186"/>
                </a:solidFill>
                <a:latin typeface="Calibri" pitchFamily="34" charset="0"/>
                <a:ea typeface="Calibri" pitchFamily="34" charset="-122"/>
                <a:cs typeface="Calibri" pitchFamily="34" charset="-120"/>
              </a:rPr>
              <a:t>Validation — 19 test cases, test data, conformance checks</a:t>
            </a:r>
            <a:endParaRPr lang="en-US" sz="1000" dirty="0"/>
          </a:p>
          <a:p>
            <a:pPr marL="177800" indent="-177800">
              <a:lnSpc>
                <a:spcPts val="1300"/>
              </a:lnSpc>
              <a:spcAft>
                <a:spcPts val="500"/>
              </a:spcAft>
              <a:buSzPct val="100000"/>
              <a:buChar char="•"/>
            </a:pPr>
            <a:r>
              <a:rPr lang="en-US" sz="1000" dirty="0">
                <a:solidFill>
                  <a:srgbClr val="5D7186"/>
                </a:solidFill>
                <a:latin typeface="Calibri" pitchFamily="34" charset="0"/>
                <a:ea typeface="Calibri" pitchFamily="34" charset="-122"/>
                <a:cs typeface="Calibri" pitchFamily="34" charset="-120"/>
              </a:rPr>
              <a:t>Interfaces — FHIR export · UI/UX — image options, traffic light</a:t>
            </a:r>
            <a:endParaRPr lang="en-US" sz="1000" dirty="0"/>
          </a:p>
        </p:txBody>
      </p:sp>
      <p:sp>
        <p:nvSpPr>
          <p:cNvPr id="10" name="Shape 8"/>
          <p:cNvSpPr/>
          <p:nvPr/>
        </p:nvSpPr>
        <p:spPr>
          <a:xfrm>
            <a:off x="566928" y="3931920"/>
            <a:ext cx="5440680" cy="2139696"/>
          </a:xfrm>
          <a:prstGeom prst="roundRect">
            <a:avLst>
              <a:gd name="adj" fmla="val 3846"/>
            </a:avLst>
          </a:prstGeom>
          <a:solidFill>
            <a:srgbClr val="FFFFFF"/>
          </a:solidFill>
          <a:ln w="12700">
            <a:solidFill>
              <a:srgbClr val="DDE5EE"/>
            </a:solidFill>
            <a:prstDash val="solid"/>
          </a:ln>
        </p:spPr>
      </p:sp>
      <p:sp>
        <p:nvSpPr>
          <p:cNvPr id="11" name="Text 9"/>
          <p:cNvSpPr/>
          <p:nvPr/>
        </p:nvSpPr>
        <p:spPr>
          <a:xfrm>
            <a:off x="804672" y="4078224"/>
            <a:ext cx="4937760" cy="274320"/>
          </a:xfrm>
          <a:prstGeom prst="rect">
            <a:avLst/>
          </a:prstGeom>
          <a:noFill/>
          <a:ln/>
        </p:spPr>
        <p:txBody>
          <a:bodyPr wrap="square" lIns="0" tIns="0" rIns="0" bIns="0" rtlCol="0" anchor="ctr"/>
          <a:lstStyle/>
          <a:p>
            <a:pPr indent="0" marL="0">
              <a:buNone/>
            </a:pPr>
            <a:r>
              <a:rPr lang="en-US" sz="1250" b="1" dirty="0">
                <a:solidFill>
                  <a:srgbClr val="12202E"/>
                </a:solidFill>
                <a:latin typeface="Calibri" pitchFamily="34" charset="0"/>
                <a:ea typeface="Calibri" pitchFamily="34" charset="-122"/>
                <a:cs typeface="Calibri" pitchFamily="34" charset="-120"/>
              </a:rPr>
              <a:t>Stakeholders and where it could fail</a:t>
            </a:r>
            <a:endParaRPr lang="en-US" sz="1250" dirty="0"/>
          </a:p>
        </p:txBody>
      </p:sp>
      <p:sp>
        <p:nvSpPr>
          <p:cNvPr id="12" name="Text 10"/>
          <p:cNvSpPr/>
          <p:nvPr/>
        </p:nvSpPr>
        <p:spPr>
          <a:xfrm>
            <a:off x="804672" y="4407408"/>
            <a:ext cx="4937760" cy="1554480"/>
          </a:xfrm>
          <a:prstGeom prst="rect">
            <a:avLst/>
          </a:prstGeom>
          <a:noFill/>
          <a:ln/>
        </p:spPr>
        <p:txBody>
          <a:bodyPr wrap="square" lIns="0" tIns="0" rIns="0" bIns="0" rtlCol="0" anchor="ctr"/>
          <a:lstStyle/>
          <a:p>
            <a:pPr marL="177800" indent="-177800">
              <a:lnSpc>
                <a:spcPts val="1300"/>
              </a:lnSpc>
              <a:spcAft>
                <a:spcPts val="500"/>
              </a:spcAft>
              <a:buSzPct val="100000"/>
              <a:buChar char="•"/>
            </a:pPr>
            <a:r>
              <a:rPr lang="en-US" sz="1000" dirty="0">
                <a:solidFill>
                  <a:srgbClr val="5D7186"/>
                </a:solidFill>
                <a:latin typeface="Calibri" pitchFamily="34" charset="0"/>
                <a:ea typeface="Calibri" pitchFamily="34" charset="-122"/>
                <a:cs typeface="Calibri" pitchFamily="34" charset="-120"/>
              </a:rPr>
              <a:t>The critical group is the practice, not the patient</a:t>
            </a:r>
            <a:endParaRPr lang="en-US" sz="1000" dirty="0"/>
          </a:p>
          <a:p>
            <a:pPr marL="177800" indent="-177800">
              <a:lnSpc>
                <a:spcPts val="1300"/>
              </a:lnSpc>
              <a:spcAft>
                <a:spcPts val="500"/>
              </a:spcAft>
              <a:buSzPct val="100000"/>
              <a:buChar char="•"/>
            </a:pPr>
            <a:r>
              <a:rPr lang="en-US" sz="1000" dirty="0">
                <a:solidFill>
                  <a:srgbClr val="5D7186"/>
                </a:solidFill>
                <a:latin typeface="Calibri" pitchFamily="34" charset="0"/>
                <a:ea typeface="Calibri" pitchFamily="34" charset="-122"/>
                <a:cs typeface="Calibri" pitchFamily="34" charset="-120"/>
              </a:rPr>
              <a:t>If Sandra experiences the alerts as a burden, the rollout fails — however good the classification is</a:t>
            </a:r>
            <a:endParaRPr lang="en-US" sz="1000" dirty="0"/>
          </a:p>
          <a:p>
            <a:pPr marL="177800" indent="-177800">
              <a:lnSpc>
                <a:spcPts val="1300"/>
              </a:lnSpc>
              <a:spcAft>
                <a:spcPts val="500"/>
              </a:spcAft>
              <a:buSzPct val="100000"/>
              <a:buChar char="•"/>
            </a:pPr>
            <a:r>
              <a:rPr lang="en-US" sz="1000" dirty="0">
                <a:solidFill>
                  <a:srgbClr val="5D7186"/>
                </a:solidFill>
                <a:latin typeface="Calibri" pitchFamily="34" charset="0"/>
                <a:ea typeface="Calibri" pitchFamily="34" charset="-122"/>
                <a:cs typeface="Calibri" pitchFamily="34" charset="-120"/>
              </a:rPr>
              <a:t>Hence: alerts only from ORANGE upwards, structured instead of free text, alert load measured explicitly</a:t>
            </a:r>
            <a:endParaRPr lang="en-US" sz="1000" dirty="0"/>
          </a:p>
        </p:txBody>
      </p:sp>
      <p:sp>
        <p:nvSpPr>
          <p:cNvPr id="13" name="Shape 11"/>
          <p:cNvSpPr/>
          <p:nvPr/>
        </p:nvSpPr>
        <p:spPr>
          <a:xfrm>
            <a:off x="6190488" y="3931920"/>
            <a:ext cx="5440680" cy="2139696"/>
          </a:xfrm>
          <a:prstGeom prst="roundRect">
            <a:avLst>
              <a:gd name="adj" fmla="val 3846"/>
            </a:avLst>
          </a:prstGeom>
          <a:solidFill>
            <a:srgbClr val="F5F7FA"/>
          </a:solidFill>
          <a:ln w="12700">
            <a:solidFill>
              <a:srgbClr val="DDE5EE"/>
            </a:solidFill>
            <a:prstDash val="solid"/>
          </a:ln>
        </p:spPr>
      </p:sp>
      <p:sp>
        <p:nvSpPr>
          <p:cNvPr id="14" name="Text 12"/>
          <p:cNvSpPr/>
          <p:nvPr/>
        </p:nvSpPr>
        <p:spPr>
          <a:xfrm>
            <a:off x="6428232" y="4078224"/>
            <a:ext cx="4937760" cy="274320"/>
          </a:xfrm>
          <a:prstGeom prst="rect">
            <a:avLst/>
          </a:prstGeom>
          <a:noFill/>
          <a:ln/>
        </p:spPr>
        <p:txBody>
          <a:bodyPr wrap="square" lIns="0" tIns="0" rIns="0" bIns="0" rtlCol="0" anchor="ctr"/>
          <a:lstStyle/>
          <a:p>
            <a:pPr indent="0" marL="0">
              <a:buNone/>
            </a:pPr>
            <a:r>
              <a:rPr lang="en-US" sz="1250" b="1" dirty="0">
                <a:solidFill>
                  <a:srgbClr val="12202E"/>
                </a:solidFill>
                <a:latin typeface="Calibri" pitchFamily="34" charset="0"/>
                <a:ea typeface="Calibri" pitchFamily="34" charset="-122"/>
                <a:cs typeface="Calibri" pitchFamily="34" charset="-120"/>
              </a:rPr>
              <a:t>What we would do with three more months</a:t>
            </a:r>
            <a:endParaRPr lang="en-US" sz="1250" dirty="0"/>
          </a:p>
        </p:txBody>
      </p:sp>
      <p:sp>
        <p:nvSpPr>
          <p:cNvPr id="15" name="Text 13"/>
          <p:cNvSpPr/>
          <p:nvPr/>
        </p:nvSpPr>
        <p:spPr>
          <a:xfrm>
            <a:off x="6428232" y="4407408"/>
            <a:ext cx="4937760" cy="1554480"/>
          </a:xfrm>
          <a:prstGeom prst="rect">
            <a:avLst/>
          </a:prstGeom>
          <a:noFill/>
          <a:ln/>
        </p:spPr>
        <p:txBody>
          <a:bodyPr wrap="square" lIns="0" tIns="0" rIns="0" bIns="0" rtlCol="0" anchor="ctr"/>
          <a:lstStyle/>
          <a:p>
            <a:pPr marL="177800" indent="-177800">
              <a:lnSpc>
                <a:spcPts val="1300"/>
              </a:lnSpc>
              <a:spcAft>
                <a:spcPts val="500"/>
              </a:spcAft>
              <a:buSzPct val="100000"/>
              <a:buChar char="•"/>
            </a:pPr>
            <a:r>
              <a:rPr lang="en-US" sz="1000" dirty="0">
                <a:solidFill>
                  <a:srgbClr val="5D7186"/>
                </a:solidFill>
                <a:latin typeface="Calibri" pitchFamily="34" charset="0"/>
                <a:ea typeface="Calibri" pitchFamily="34" charset="-122"/>
                <a:cs typeface="Calibri" pitchFamily="34" charset="-120"/>
              </a:rPr>
              <a:t>1 · Clinical sign-off on every threshold and rule — it settles all nine L1→L2 decisions at once</a:t>
            </a:r>
            <a:endParaRPr lang="en-US" sz="1000" dirty="0"/>
          </a:p>
          <a:p>
            <a:pPr marL="177800" indent="-177800">
              <a:lnSpc>
                <a:spcPts val="1300"/>
              </a:lnSpc>
              <a:spcAft>
                <a:spcPts val="500"/>
              </a:spcAft>
              <a:buSzPct val="100000"/>
              <a:buChar char="•"/>
            </a:pPr>
            <a:r>
              <a:rPr lang="en-US" sz="1000" dirty="0">
                <a:solidFill>
                  <a:srgbClr val="5D7186"/>
                </a:solidFill>
                <a:latin typeface="Calibri" pitchFamily="34" charset="0"/>
                <a:ea typeface="Calibri" pitchFamily="34" charset="-122"/>
                <a:cs typeface="Calibri" pitchFamily="34" charset="-120"/>
              </a:rPr>
              <a:t>2 · Usability study on the image assignment — validates the central design idea</a:t>
            </a:r>
            <a:endParaRPr lang="en-US" sz="1000" dirty="0"/>
          </a:p>
          <a:p>
            <a:pPr marL="177800" indent="-177800">
              <a:lnSpc>
                <a:spcPts val="1300"/>
              </a:lnSpc>
              <a:spcAft>
                <a:spcPts val="500"/>
              </a:spcAft>
              <a:buSzPct val="100000"/>
              <a:buChar char="•"/>
            </a:pPr>
            <a:r>
              <a:rPr lang="en-US" sz="1000" dirty="0">
                <a:solidFill>
                  <a:srgbClr val="5D7186"/>
                </a:solidFill>
                <a:latin typeface="Calibri" pitchFamily="34" charset="0"/>
                <a:ea typeface="Calibri" pitchFamily="34" charset="-122"/>
                <a:cs typeface="Calibri" pitchFamily="34" charset="-120"/>
              </a:rPr>
              <a:t>3 · Graphics for several skin tones and body regions</a:t>
            </a:r>
            <a:endParaRPr lang="en-US" sz="1000" dirty="0"/>
          </a:p>
          <a:p>
            <a:pPr marL="177800" indent="-177800">
              <a:lnSpc>
                <a:spcPts val="1300"/>
              </a:lnSpc>
              <a:spcAft>
                <a:spcPts val="500"/>
              </a:spcAft>
              <a:buSzPct val="100000"/>
              <a:buChar char="•"/>
            </a:pPr>
            <a:r>
              <a:rPr lang="en-US" sz="1000" dirty="0">
                <a:solidFill>
                  <a:srgbClr val="5D7186"/>
                </a:solidFill>
                <a:latin typeface="Calibri" pitchFamily="34" charset="0"/>
                <a:ea typeface="Calibri" pitchFamily="34" charset="-122"/>
                <a:cs typeface="Calibri" pitchFamily="34" charset="-120"/>
              </a:rPr>
              <a:t>4 · Convert the L3 to a FHIR Questionnaire — the software neutrality we consciously gave up</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indent="0" marL="0">
              <a:buNone/>
            </a:pPr>
            <a:r>
              <a:rPr lang="en-US" sz="1050" b="1" spc="160" kern="0" dirty="0">
                <a:solidFill>
                  <a:srgbClr val="5D7186"/>
                </a:solidFill>
                <a:latin typeface="Calibri" pitchFamily="34" charset="0"/>
                <a:ea typeface="Calibri" pitchFamily="34" charset="-122"/>
                <a:cs typeface="Calibri" pitchFamily="34" charset="-120"/>
              </a:rPr>
              <a:t>BACKUP · REFERENCES</a:t>
            </a:r>
            <a:endParaRPr lang="en-US" sz="1050" dirty="0"/>
          </a:p>
        </p:txBody>
      </p:sp>
      <p:sp>
        <p:nvSpPr>
          <p:cNvPr id="3" name="Text 1"/>
          <p:cNvSpPr/>
          <p:nvPr/>
        </p:nvSpPr>
        <p:spPr>
          <a:xfrm>
            <a:off x="566928" y="640080"/>
            <a:ext cx="10607040" cy="658368"/>
          </a:xfrm>
          <a:prstGeom prst="rect">
            <a:avLst/>
          </a:prstGeom>
          <a:noFill/>
          <a:ln/>
        </p:spPr>
        <p:txBody>
          <a:bodyPr wrap="square" lIns="0" tIns="0" rIns="0" bIns="0" rtlCol="0" anchor="t"/>
          <a:lstStyle/>
          <a:p>
            <a:pPr indent="0" marL="0">
              <a:buNone/>
            </a:pPr>
            <a:r>
              <a:rPr lang="en-US" sz="2700" b="1" dirty="0">
                <a:solidFill>
                  <a:srgbClr val="12202E"/>
                </a:solidFill>
                <a:latin typeface="Cambria" pitchFamily="34" charset="0"/>
                <a:ea typeface="Cambria" pitchFamily="34" charset="-122"/>
                <a:cs typeface="Cambria" pitchFamily="34" charset="-120"/>
              </a:rPr>
              <a:t>Sources</a:t>
            </a:r>
            <a:endParaRPr lang="en-US" sz="2700" dirty="0"/>
          </a:p>
        </p:txBody>
      </p:sp>
      <p:sp>
        <p:nvSpPr>
          <p:cNvPr id="4" name="Shape 2"/>
          <p:cNvSpPr/>
          <p:nvPr/>
        </p:nvSpPr>
        <p:spPr>
          <a:xfrm>
            <a:off x="566928" y="1554480"/>
            <a:ext cx="11064240" cy="420624"/>
          </a:xfrm>
          <a:prstGeom prst="roundRect">
            <a:avLst>
              <a:gd name="adj" fmla="val 13043"/>
            </a:avLst>
          </a:prstGeom>
          <a:solidFill>
            <a:srgbClr val="F5F7FA"/>
          </a:solidFill>
          <a:ln w="12700">
            <a:solidFill>
              <a:srgbClr val="DDE5EE"/>
            </a:solidFill>
            <a:prstDash val="solid"/>
          </a:ln>
        </p:spPr>
      </p:sp>
      <p:sp>
        <p:nvSpPr>
          <p:cNvPr id="5" name="Text 3"/>
          <p:cNvSpPr/>
          <p:nvPr/>
        </p:nvSpPr>
        <p:spPr>
          <a:xfrm>
            <a:off x="786384" y="1554480"/>
            <a:ext cx="2377440" cy="420624"/>
          </a:xfrm>
          <a:prstGeom prst="rect">
            <a:avLst/>
          </a:prstGeom>
          <a:noFill/>
          <a:ln/>
        </p:spPr>
        <p:txBody>
          <a:bodyPr wrap="square" lIns="0" tIns="0" rIns="0" bIns="0" rtlCol="0" anchor="ctr"/>
          <a:lstStyle/>
          <a:p>
            <a:pPr indent="0" marL="0">
              <a:buNone/>
            </a:pPr>
            <a:r>
              <a:rPr lang="en-US" sz="1100" b="1" dirty="0">
                <a:solidFill>
                  <a:srgbClr val="12202E"/>
                </a:solidFill>
                <a:latin typeface="Calibri" pitchFamily="34" charset="0"/>
                <a:ea typeface="Calibri" pitchFamily="34" charset="-122"/>
                <a:cs typeface="Calibri" pitchFamily="34" charset="-120"/>
              </a:rPr>
              <a:t>Woelber E et al.</a:t>
            </a:r>
            <a:endParaRPr lang="en-US" sz="1100" dirty="0"/>
          </a:p>
        </p:txBody>
      </p:sp>
      <p:sp>
        <p:nvSpPr>
          <p:cNvPr id="6" name="Text 4"/>
          <p:cNvSpPr/>
          <p:nvPr/>
        </p:nvSpPr>
        <p:spPr>
          <a:xfrm>
            <a:off x="3264408" y="1554480"/>
            <a:ext cx="6400800" cy="420624"/>
          </a:xfrm>
          <a:prstGeom prst="rect">
            <a:avLst/>
          </a:prstGeom>
          <a:noFill/>
          <a:ln/>
        </p:spPr>
        <p:txBody>
          <a:bodyPr wrap="square" lIns="0" tIns="0" rIns="0" bIns="0" rtlCol="0" anchor="ctr"/>
          <a:lstStyle/>
          <a:p>
            <a:pPr indent="0" marL="0">
              <a:buNone/>
            </a:pPr>
            <a:r>
              <a:rPr lang="en-US" sz="1000" dirty="0">
                <a:solidFill>
                  <a:srgbClr val="5D7186"/>
                </a:solidFill>
                <a:latin typeface="Calibri" pitchFamily="34" charset="0"/>
                <a:ea typeface="Calibri" pitchFamily="34" charset="-122"/>
                <a:cs typeface="Calibri" pitchFamily="34" charset="-120"/>
              </a:rPr>
              <a:t>Proportion of Surgical Site Infections Occurring after Hospital Discharge: A Systematic Review. Surg Infect 2016;17(5):510–19.</a:t>
            </a:r>
            <a:endParaRPr lang="en-US" sz="1000" dirty="0"/>
          </a:p>
        </p:txBody>
      </p:sp>
      <p:sp>
        <p:nvSpPr>
          <p:cNvPr id="7" name="Text 5"/>
          <p:cNvSpPr/>
          <p:nvPr/>
        </p:nvSpPr>
        <p:spPr>
          <a:xfrm>
            <a:off x="9802368" y="1554480"/>
            <a:ext cx="1691640" cy="420624"/>
          </a:xfrm>
          <a:prstGeom prst="rect">
            <a:avLst/>
          </a:prstGeom>
          <a:noFill/>
          <a:ln/>
        </p:spPr>
        <p:txBody>
          <a:bodyPr wrap="square" lIns="0" tIns="0" rIns="0" bIns="0" rtlCol="0" anchor="ctr"/>
          <a:lstStyle/>
          <a:p>
            <a:pPr algn="r" indent="0" marL="0">
              <a:buNone/>
            </a:pPr>
            <a:r>
              <a:rPr lang="en-US" sz="950" i="1" dirty="0">
                <a:solidFill>
                  <a:srgbClr val="5D7186"/>
                </a:solidFill>
                <a:latin typeface="Calibri" pitchFamily="34" charset="0"/>
                <a:ea typeface="Calibri" pitchFamily="34" charset="-122"/>
                <a:cs typeface="Calibri" pitchFamily="34" charset="-120"/>
              </a:rPr>
              <a:t>60.1 % post-discharge</a:t>
            </a:r>
            <a:endParaRPr lang="en-US" sz="950" dirty="0"/>
          </a:p>
        </p:txBody>
      </p:sp>
      <p:sp>
        <p:nvSpPr>
          <p:cNvPr id="8" name="Shape 6"/>
          <p:cNvSpPr/>
          <p:nvPr/>
        </p:nvSpPr>
        <p:spPr>
          <a:xfrm>
            <a:off x="566928" y="2029968"/>
            <a:ext cx="11064240" cy="420624"/>
          </a:xfrm>
          <a:prstGeom prst="roundRect">
            <a:avLst>
              <a:gd name="adj" fmla="val 13043"/>
            </a:avLst>
          </a:prstGeom>
          <a:solidFill>
            <a:srgbClr val="FFFFFF"/>
          </a:solidFill>
          <a:ln w="12700">
            <a:solidFill>
              <a:srgbClr val="DDE5EE"/>
            </a:solidFill>
            <a:prstDash val="solid"/>
          </a:ln>
        </p:spPr>
      </p:sp>
      <p:sp>
        <p:nvSpPr>
          <p:cNvPr id="9" name="Text 7"/>
          <p:cNvSpPr/>
          <p:nvPr/>
        </p:nvSpPr>
        <p:spPr>
          <a:xfrm>
            <a:off x="786384" y="2029968"/>
            <a:ext cx="2377440" cy="420624"/>
          </a:xfrm>
          <a:prstGeom prst="rect">
            <a:avLst/>
          </a:prstGeom>
          <a:noFill/>
          <a:ln/>
        </p:spPr>
        <p:txBody>
          <a:bodyPr wrap="square" lIns="0" tIns="0" rIns="0" bIns="0" rtlCol="0" anchor="ctr"/>
          <a:lstStyle/>
          <a:p>
            <a:pPr indent="0" marL="0">
              <a:buNone/>
            </a:pPr>
            <a:r>
              <a:rPr lang="en-US" sz="1100" b="1" dirty="0">
                <a:solidFill>
                  <a:srgbClr val="12202E"/>
                </a:solidFill>
                <a:latin typeface="Calibri" pitchFamily="34" charset="0"/>
                <a:ea typeface="Calibri" pitchFamily="34" charset="-122"/>
                <a:cs typeface="Calibri" pitchFamily="34" charset="-120"/>
              </a:rPr>
              <a:t>ECDC</a:t>
            </a:r>
            <a:endParaRPr lang="en-US" sz="1100" dirty="0"/>
          </a:p>
        </p:txBody>
      </p:sp>
      <p:sp>
        <p:nvSpPr>
          <p:cNvPr id="10" name="Text 8"/>
          <p:cNvSpPr/>
          <p:nvPr/>
        </p:nvSpPr>
        <p:spPr>
          <a:xfrm>
            <a:off x="3264408" y="2029968"/>
            <a:ext cx="6400800" cy="420624"/>
          </a:xfrm>
          <a:prstGeom prst="rect">
            <a:avLst/>
          </a:prstGeom>
          <a:noFill/>
          <a:ln/>
        </p:spPr>
        <p:txBody>
          <a:bodyPr wrap="square" lIns="0" tIns="0" rIns="0" bIns="0" rtlCol="0" anchor="ctr"/>
          <a:lstStyle/>
          <a:p>
            <a:pPr indent="0" marL="0">
              <a:buNone/>
            </a:pPr>
            <a:r>
              <a:rPr lang="en-US" sz="1000" dirty="0">
                <a:solidFill>
                  <a:srgbClr val="5D7186"/>
                </a:solidFill>
                <a:latin typeface="Calibri" pitchFamily="34" charset="0"/>
                <a:ea typeface="Calibri" pitchFamily="34" charset="-122"/>
                <a:cs typeface="Calibri" pitchFamily="34" charset="-120"/>
              </a:rPr>
              <a:t>Healthcare-associated infections: surgical site infections — Annual Epidemiological Report 2017.</a:t>
            </a:r>
            <a:endParaRPr lang="en-US" sz="1000" dirty="0"/>
          </a:p>
        </p:txBody>
      </p:sp>
      <p:sp>
        <p:nvSpPr>
          <p:cNvPr id="11" name="Text 9"/>
          <p:cNvSpPr/>
          <p:nvPr/>
        </p:nvSpPr>
        <p:spPr>
          <a:xfrm>
            <a:off x="9802368" y="2029968"/>
            <a:ext cx="1691640" cy="420624"/>
          </a:xfrm>
          <a:prstGeom prst="rect">
            <a:avLst/>
          </a:prstGeom>
          <a:noFill/>
          <a:ln/>
        </p:spPr>
        <p:txBody>
          <a:bodyPr wrap="square" lIns="0" tIns="0" rIns="0" bIns="0" rtlCol="0" anchor="ctr"/>
          <a:lstStyle/>
          <a:p>
            <a:pPr algn="r" indent="0" marL="0">
              <a:buNone/>
            </a:pPr>
            <a:r>
              <a:rPr lang="en-US" sz="950" i="1" dirty="0">
                <a:solidFill>
                  <a:srgbClr val="5D7186"/>
                </a:solidFill>
                <a:latin typeface="Calibri" pitchFamily="34" charset="0"/>
                <a:ea typeface="Calibri" pitchFamily="34" charset="-122"/>
                <a:cs typeface="Calibri" pitchFamily="34" charset="-120"/>
              </a:rPr>
              <a:t>0.5–10.1 % by procedure</a:t>
            </a:r>
            <a:endParaRPr lang="en-US" sz="950" dirty="0"/>
          </a:p>
        </p:txBody>
      </p:sp>
      <p:sp>
        <p:nvSpPr>
          <p:cNvPr id="12" name="Shape 10"/>
          <p:cNvSpPr/>
          <p:nvPr/>
        </p:nvSpPr>
        <p:spPr>
          <a:xfrm>
            <a:off x="566928" y="2505456"/>
            <a:ext cx="11064240" cy="420624"/>
          </a:xfrm>
          <a:prstGeom prst="roundRect">
            <a:avLst>
              <a:gd name="adj" fmla="val 13043"/>
            </a:avLst>
          </a:prstGeom>
          <a:solidFill>
            <a:srgbClr val="F5F7FA"/>
          </a:solidFill>
          <a:ln w="12700">
            <a:solidFill>
              <a:srgbClr val="DDE5EE"/>
            </a:solidFill>
            <a:prstDash val="solid"/>
          </a:ln>
        </p:spPr>
      </p:sp>
      <p:sp>
        <p:nvSpPr>
          <p:cNvPr id="13" name="Text 11"/>
          <p:cNvSpPr/>
          <p:nvPr/>
        </p:nvSpPr>
        <p:spPr>
          <a:xfrm>
            <a:off x="786384" y="2505456"/>
            <a:ext cx="2377440" cy="420624"/>
          </a:xfrm>
          <a:prstGeom prst="rect">
            <a:avLst/>
          </a:prstGeom>
          <a:noFill/>
          <a:ln/>
        </p:spPr>
        <p:txBody>
          <a:bodyPr wrap="square" lIns="0" tIns="0" rIns="0" bIns="0" rtlCol="0" anchor="ctr"/>
          <a:lstStyle/>
          <a:p>
            <a:pPr indent="0" marL="0">
              <a:buNone/>
            </a:pPr>
            <a:r>
              <a:rPr lang="en-US" sz="1100" b="1" dirty="0">
                <a:solidFill>
                  <a:srgbClr val="12202E"/>
                </a:solidFill>
                <a:latin typeface="Calibri" pitchFamily="34" charset="0"/>
                <a:ea typeface="Calibri" pitchFamily="34" charset="-122"/>
                <a:cs typeface="Calibri" pitchFamily="34" charset="-120"/>
              </a:rPr>
              <a:t>CDC / NHSN</a:t>
            </a:r>
            <a:endParaRPr lang="en-US" sz="1100" dirty="0"/>
          </a:p>
        </p:txBody>
      </p:sp>
      <p:sp>
        <p:nvSpPr>
          <p:cNvPr id="14" name="Text 12"/>
          <p:cNvSpPr/>
          <p:nvPr/>
        </p:nvSpPr>
        <p:spPr>
          <a:xfrm>
            <a:off x="3264408" y="2505456"/>
            <a:ext cx="6400800" cy="420624"/>
          </a:xfrm>
          <a:prstGeom prst="rect">
            <a:avLst/>
          </a:prstGeom>
          <a:noFill/>
          <a:ln/>
        </p:spPr>
        <p:txBody>
          <a:bodyPr wrap="square" lIns="0" tIns="0" rIns="0" bIns="0" rtlCol="0" anchor="ctr"/>
          <a:lstStyle/>
          <a:p>
            <a:pPr indent="0" marL="0">
              <a:buNone/>
            </a:pPr>
            <a:r>
              <a:rPr lang="en-US" sz="1000" dirty="0">
                <a:solidFill>
                  <a:srgbClr val="5D7186"/>
                </a:solidFill>
                <a:latin typeface="Calibri" pitchFamily="34" charset="0"/>
                <a:ea typeface="Calibri" pitchFamily="34" charset="-122"/>
                <a:cs typeface="Calibri" pitchFamily="34" charset="-120"/>
              </a:rPr>
              <a:t>Surgical Site Infection Event (SSI). Patient Safety Component Manual.</a:t>
            </a:r>
            <a:endParaRPr lang="en-US" sz="1000" dirty="0"/>
          </a:p>
        </p:txBody>
      </p:sp>
      <p:sp>
        <p:nvSpPr>
          <p:cNvPr id="15" name="Text 13"/>
          <p:cNvSpPr/>
          <p:nvPr/>
        </p:nvSpPr>
        <p:spPr>
          <a:xfrm>
            <a:off x="9802368" y="2505456"/>
            <a:ext cx="1691640" cy="420624"/>
          </a:xfrm>
          <a:prstGeom prst="rect">
            <a:avLst/>
          </a:prstGeom>
          <a:noFill/>
          <a:ln/>
        </p:spPr>
        <p:txBody>
          <a:bodyPr wrap="square" lIns="0" tIns="0" rIns="0" bIns="0" rtlCol="0" anchor="ctr"/>
          <a:lstStyle/>
          <a:p>
            <a:pPr algn="r" indent="0" marL="0">
              <a:buNone/>
            </a:pPr>
            <a:r>
              <a:rPr lang="en-US" sz="950" i="1" dirty="0">
                <a:solidFill>
                  <a:srgbClr val="5D7186"/>
                </a:solidFill>
                <a:latin typeface="Calibri" pitchFamily="34" charset="0"/>
                <a:ea typeface="Calibri" pitchFamily="34" charset="-122"/>
                <a:cs typeface="Calibri" pitchFamily="34" charset="-120"/>
              </a:rPr>
              <a:t>30 / 90-day window</a:t>
            </a:r>
            <a:endParaRPr lang="en-US" sz="950" dirty="0"/>
          </a:p>
        </p:txBody>
      </p:sp>
      <p:sp>
        <p:nvSpPr>
          <p:cNvPr id="16" name="Shape 14"/>
          <p:cNvSpPr/>
          <p:nvPr/>
        </p:nvSpPr>
        <p:spPr>
          <a:xfrm>
            <a:off x="566928" y="2980944"/>
            <a:ext cx="11064240" cy="420624"/>
          </a:xfrm>
          <a:prstGeom prst="roundRect">
            <a:avLst>
              <a:gd name="adj" fmla="val 13043"/>
            </a:avLst>
          </a:prstGeom>
          <a:solidFill>
            <a:srgbClr val="FFFFFF"/>
          </a:solidFill>
          <a:ln w="12700">
            <a:solidFill>
              <a:srgbClr val="DDE5EE"/>
            </a:solidFill>
            <a:prstDash val="solid"/>
          </a:ln>
        </p:spPr>
      </p:sp>
      <p:sp>
        <p:nvSpPr>
          <p:cNvPr id="17" name="Text 15"/>
          <p:cNvSpPr/>
          <p:nvPr/>
        </p:nvSpPr>
        <p:spPr>
          <a:xfrm>
            <a:off x="786384" y="2980944"/>
            <a:ext cx="2377440" cy="420624"/>
          </a:xfrm>
          <a:prstGeom prst="rect">
            <a:avLst/>
          </a:prstGeom>
          <a:noFill/>
          <a:ln/>
        </p:spPr>
        <p:txBody>
          <a:bodyPr wrap="square" lIns="0" tIns="0" rIns="0" bIns="0" rtlCol="0" anchor="ctr"/>
          <a:lstStyle/>
          <a:p>
            <a:pPr indent="0" marL="0">
              <a:buNone/>
            </a:pPr>
            <a:r>
              <a:rPr lang="en-US" sz="1100" b="1" dirty="0">
                <a:solidFill>
                  <a:srgbClr val="12202E"/>
                </a:solidFill>
                <a:latin typeface="Calibri" pitchFamily="34" charset="0"/>
                <a:ea typeface="Calibri" pitchFamily="34" charset="-122"/>
                <a:cs typeface="Calibri" pitchFamily="34" charset="-120"/>
              </a:rPr>
              <a:t>NICE</a:t>
            </a:r>
            <a:endParaRPr lang="en-US" sz="1100" dirty="0"/>
          </a:p>
        </p:txBody>
      </p:sp>
      <p:sp>
        <p:nvSpPr>
          <p:cNvPr id="18" name="Text 16"/>
          <p:cNvSpPr/>
          <p:nvPr/>
        </p:nvSpPr>
        <p:spPr>
          <a:xfrm>
            <a:off x="3264408" y="2980944"/>
            <a:ext cx="6400800" cy="420624"/>
          </a:xfrm>
          <a:prstGeom prst="rect">
            <a:avLst/>
          </a:prstGeom>
          <a:noFill/>
          <a:ln/>
        </p:spPr>
        <p:txBody>
          <a:bodyPr wrap="square" lIns="0" tIns="0" rIns="0" bIns="0" rtlCol="0" anchor="ctr"/>
          <a:lstStyle/>
          <a:p>
            <a:pPr indent="0" marL="0">
              <a:buNone/>
            </a:pPr>
            <a:r>
              <a:rPr lang="en-US" sz="1000" dirty="0">
                <a:solidFill>
                  <a:srgbClr val="5D7186"/>
                </a:solidFill>
                <a:latin typeface="Calibri" pitchFamily="34" charset="0"/>
                <a:ea typeface="Calibri" pitchFamily="34" charset="-122"/>
                <a:cs typeface="Calibri" pitchFamily="34" charset="-120"/>
              </a:rPr>
              <a:t>Surgical site infections: prevention and treatment. NG125, 11 Apr 2019, upd. 19 Aug 2020.</a:t>
            </a:r>
            <a:endParaRPr lang="en-US" sz="1000" dirty="0"/>
          </a:p>
        </p:txBody>
      </p:sp>
      <p:sp>
        <p:nvSpPr>
          <p:cNvPr id="19" name="Text 17"/>
          <p:cNvSpPr/>
          <p:nvPr/>
        </p:nvSpPr>
        <p:spPr>
          <a:xfrm>
            <a:off x="9802368" y="2980944"/>
            <a:ext cx="1691640" cy="420624"/>
          </a:xfrm>
          <a:prstGeom prst="rect">
            <a:avLst/>
          </a:prstGeom>
          <a:noFill/>
          <a:ln/>
        </p:spPr>
        <p:txBody>
          <a:bodyPr wrap="square" lIns="0" tIns="0" rIns="0" bIns="0" rtlCol="0" anchor="ctr"/>
          <a:lstStyle/>
          <a:p>
            <a:pPr algn="r" indent="0" marL="0">
              <a:buNone/>
            </a:pPr>
            <a:r>
              <a:rPr lang="en-US" sz="950" i="1" dirty="0">
                <a:solidFill>
                  <a:srgbClr val="5D7186"/>
                </a:solidFill>
                <a:latin typeface="Calibri" pitchFamily="34" charset="0"/>
                <a:ea typeface="Calibri" pitchFamily="34" charset="-122"/>
                <a:cs typeface="Calibri" pitchFamily="34" charset="-120"/>
              </a:rPr>
              <a:t>nice.org.uk/guidance/ng125</a:t>
            </a:r>
            <a:endParaRPr lang="en-US" sz="950" dirty="0"/>
          </a:p>
        </p:txBody>
      </p:sp>
      <p:sp>
        <p:nvSpPr>
          <p:cNvPr id="20" name="Shape 18"/>
          <p:cNvSpPr/>
          <p:nvPr/>
        </p:nvSpPr>
        <p:spPr>
          <a:xfrm>
            <a:off x="566928" y="3456432"/>
            <a:ext cx="11064240" cy="420624"/>
          </a:xfrm>
          <a:prstGeom prst="roundRect">
            <a:avLst>
              <a:gd name="adj" fmla="val 13043"/>
            </a:avLst>
          </a:prstGeom>
          <a:solidFill>
            <a:srgbClr val="F5F7FA"/>
          </a:solidFill>
          <a:ln w="12700">
            <a:solidFill>
              <a:srgbClr val="DDE5EE"/>
            </a:solidFill>
            <a:prstDash val="solid"/>
          </a:ln>
        </p:spPr>
      </p:sp>
      <p:sp>
        <p:nvSpPr>
          <p:cNvPr id="21" name="Text 19"/>
          <p:cNvSpPr/>
          <p:nvPr/>
        </p:nvSpPr>
        <p:spPr>
          <a:xfrm>
            <a:off x="786384" y="3456432"/>
            <a:ext cx="2377440" cy="420624"/>
          </a:xfrm>
          <a:prstGeom prst="rect">
            <a:avLst/>
          </a:prstGeom>
          <a:noFill/>
          <a:ln/>
        </p:spPr>
        <p:txBody>
          <a:bodyPr wrap="square" lIns="0" tIns="0" rIns="0" bIns="0" rtlCol="0" anchor="ctr"/>
          <a:lstStyle/>
          <a:p>
            <a:pPr indent="0" marL="0">
              <a:buNone/>
            </a:pPr>
            <a:r>
              <a:rPr lang="en-US" sz="1100" b="1" dirty="0">
                <a:solidFill>
                  <a:srgbClr val="12202E"/>
                </a:solidFill>
                <a:latin typeface="Calibri" pitchFamily="34" charset="0"/>
                <a:ea typeface="Calibri" pitchFamily="34" charset="-122"/>
                <a:cs typeface="Calibri" pitchFamily="34" charset="-120"/>
              </a:rPr>
              <a:t>Bailey IS et al.</a:t>
            </a:r>
            <a:endParaRPr lang="en-US" sz="1100" dirty="0"/>
          </a:p>
        </p:txBody>
      </p:sp>
      <p:sp>
        <p:nvSpPr>
          <p:cNvPr id="22" name="Text 20"/>
          <p:cNvSpPr/>
          <p:nvPr/>
        </p:nvSpPr>
        <p:spPr>
          <a:xfrm>
            <a:off x="3264408" y="3456432"/>
            <a:ext cx="6400800" cy="420624"/>
          </a:xfrm>
          <a:prstGeom prst="rect">
            <a:avLst/>
          </a:prstGeom>
          <a:noFill/>
          <a:ln/>
        </p:spPr>
        <p:txBody>
          <a:bodyPr wrap="square" lIns="0" tIns="0" rIns="0" bIns="0" rtlCol="0" anchor="ctr"/>
          <a:lstStyle/>
          <a:p>
            <a:pPr indent="0" marL="0">
              <a:buNone/>
            </a:pPr>
            <a:r>
              <a:rPr lang="en-US" sz="1000" dirty="0">
                <a:solidFill>
                  <a:srgbClr val="5D7186"/>
                </a:solidFill>
                <a:latin typeface="Calibri" pitchFamily="34" charset="0"/>
                <a:ea typeface="Calibri" pitchFamily="34" charset="-122"/>
                <a:cs typeface="Calibri" pitchFamily="34" charset="-120"/>
              </a:rPr>
              <a:t>Southampton Wound Scoring System.</a:t>
            </a:r>
            <a:endParaRPr lang="en-US" sz="1000" dirty="0"/>
          </a:p>
        </p:txBody>
      </p:sp>
      <p:sp>
        <p:nvSpPr>
          <p:cNvPr id="23" name="Text 21"/>
          <p:cNvSpPr/>
          <p:nvPr/>
        </p:nvSpPr>
        <p:spPr>
          <a:xfrm>
            <a:off x="9802368" y="3456432"/>
            <a:ext cx="1691640" cy="420624"/>
          </a:xfrm>
          <a:prstGeom prst="rect">
            <a:avLst/>
          </a:prstGeom>
          <a:noFill/>
          <a:ln/>
        </p:spPr>
        <p:txBody>
          <a:bodyPr wrap="square" lIns="0" tIns="0" rIns="0" bIns="0" rtlCol="0" anchor="ctr"/>
          <a:lstStyle/>
          <a:p>
            <a:pPr algn="r" indent="0" marL="0">
              <a:buNone/>
            </a:pPr>
            <a:r>
              <a:rPr lang="en-US" sz="950" i="1" dirty="0">
                <a:solidFill>
                  <a:srgbClr val="5D7186"/>
                </a:solidFill>
                <a:latin typeface="Calibri" pitchFamily="34" charset="0"/>
                <a:ea typeface="Calibri" pitchFamily="34" charset="-122"/>
                <a:cs typeface="Calibri" pitchFamily="34" charset="-120"/>
              </a:rPr>
              <a:t>grades 0–V</a:t>
            </a:r>
            <a:endParaRPr lang="en-US" sz="950" dirty="0"/>
          </a:p>
        </p:txBody>
      </p:sp>
      <p:sp>
        <p:nvSpPr>
          <p:cNvPr id="24" name="Shape 22"/>
          <p:cNvSpPr/>
          <p:nvPr/>
        </p:nvSpPr>
        <p:spPr>
          <a:xfrm>
            <a:off x="566928" y="3931920"/>
            <a:ext cx="11064240" cy="420624"/>
          </a:xfrm>
          <a:prstGeom prst="roundRect">
            <a:avLst>
              <a:gd name="adj" fmla="val 13043"/>
            </a:avLst>
          </a:prstGeom>
          <a:solidFill>
            <a:srgbClr val="FFFFFF"/>
          </a:solidFill>
          <a:ln w="12700">
            <a:solidFill>
              <a:srgbClr val="DDE5EE"/>
            </a:solidFill>
            <a:prstDash val="solid"/>
          </a:ln>
        </p:spPr>
      </p:sp>
      <p:sp>
        <p:nvSpPr>
          <p:cNvPr id="25" name="Text 23"/>
          <p:cNvSpPr/>
          <p:nvPr/>
        </p:nvSpPr>
        <p:spPr>
          <a:xfrm>
            <a:off x="786384" y="3931920"/>
            <a:ext cx="2377440" cy="420624"/>
          </a:xfrm>
          <a:prstGeom prst="rect">
            <a:avLst/>
          </a:prstGeom>
          <a:noFill/>
          <a:ln/>
        </p:spPr>
        <p:txBody>
          <a:bodyPr wrap="square" lIns="0" tIns="0" rIns="0" bIns="0" rtlCol="0" anchor="ctr"/>
          <a:lstStyle/>
          <a:p>
            <a:pPr indent="0" marL="0">
              <a:buNone/>
            </a:pPr>
            <a:r>
              <a:rPr lang="en-US" sz="1100" b="1" dirty="0">
                <a:solidFill>
                  <a:srgbClr val="12202E"/>
                </a:solidFill>
                <a:latin typeface="Calibri" pitchFamily="34" charset="0"/>
                <a:ea typeface="Calibri" pitchFamily="34" charset="-122"/>
                <a:cs typeface="Calibri" pitchFamily="34" charset="-120"/>
              </a:rPr>
              <a:t>Campwala I, Unsell K, Gupta S</a:t>
            </a:r>
            <a:endParaRPr lang="en-US" sz="1100" dirty="0"/>
          </a:p>
        </p:txBody>
      </p:sp>
      <p:sp>
        <p:nvSpPr>
          <p:cNvPr id="26" name="Text 24"/>
          <p:cNvSpPr/>
          <p:nvPr/>
        </p:nvSpPr>
        <p:spPr>
          <a:xfrm>
            <a:off x="3264408" y="3931920"/>
            <a:ext cx="6400800" cy="420624"/>
          </a:xfrm>
          <a:prstGeom prst="rect">
            <a:avLst/>
          </a:prstGeom>
          <a:noFill/>
          <a:ln/>
        </p:spPr>
        <p:txBody>
          <a:bodyPr wrap="square" lIns="0" tIns="0" rIns="0" bIns="0" rtlCol="0" anchor="ctr"/>
          <a:lstStyle/>
          <a:p>
            <a:pPr indent="0" marL="0">
              <a:buNone/>
            </a:pPr>
            <a:r>
              <a:rPr lang="en-US" sz="1000" dirty="0">
                <a:solidFill>
                  <a:srgbClr val="5D7186"/>
                </a:solidFill>
                <a:latin typeface="Calibri" pitchFamily="34" charset="0"/>
                <a:ea typeface="Calibri" pitchFamily="34" charset="-122"/>
                <a:cs typeface="Calibri" pitchFamily="34" charset="-120"/>
              </a:rPr>
              <a:t>A Comparative Analysis of Surgical Wound Infection Methods: CDC, ASEPSIS and Southampton in breast reconstruction SSI. Plastic Surgery, 2019.</a:t>
            </a:r>
            <a:endParaRPr lang="en-US" sz="1000" dirty="0"/>
          </a:p>
        </p:txBody>
      </p:sp>
      <p:sp>
        <p:nvSpPr>
          <p:cNvPr id="27" name="Text 25"/>
          <p:cNvSpPr/>
          <p:nvPr/>
        </p:nvSpPr>
        <p:spPr>
          <a:xfrm>
            <a:off x="9802368" y="3931920"/>
            <a:ext cx="1691640" cy="420624"/>
          </a:xfrm>
          <a:prstGeom prst="rect">
            <a:avLst/>
          </a:prstGeom>
          <a:noFill/>
          <a:ln/>
        </p:spPr>
        <p:txBody>
          <a:bodyPr wrap="square" lIns="0" tIns="0" rIns="0" bIns="0" rtlCol="0" anchor="ctr"/>
          <a:lstStyle/>
          <a:p>
            <a:pPr algn="r" indent="0" marL="0">
              <a:buNone/>
            </a:pPr>
            <a:r>
              <a:rPr lang="en-US" sz="950" i="1" dirty="0">
                <a:solidFill>
                  <a:srgbClr val="5D7186"/>
                </a:solidFill>
                <a:latin typeface="Calibri" pitchFamily="34" charset="0"/>
                <a:ea typeface="Calibri" pitchFamily="34" charset="-122"/>
                <a:cs typeface="Calibri" pitchFamily="34" charset="-120"/>
              </a:rPr>
              <a:t>PMID 31106164</a:t>
            </a:r>
            <a:endParaRPr lang="en-US" sz="950" dirty="0"/>
          </a:p>
        </p:txBody>
      </p:sp>
      <p:sp>
        <p:nvSpPr>
          <p:cNvPr id="28" name="Shape 26"/>
          <p:cNvSpPr/>
          <p:nvPr/>
        </p:nvSpPr>
        <p:spPr>
          <a:xfrm>
            <a:off x="566928" y="4407408"/>
            <a:ext cx="11064240" cy="420624"/>
          </a:xfrm>
          <a:prstGeom prst="roundRect">
            <a:avLst>
              <a:gd name="adj" fmla="val 13043"/>
            </a:avLst>
          </a:prstGeom>
          <a:solidFill>
            <a:srgbClr val="F5F7FA"/>
          </a:solidFill>
          <a:ln w="12700">
            <a:solidFill>
              <a:srgbClr val="DDE5EE"/>
            </a:solidFill>
            <a:prstDash val="solid"/>
          </a:ln>
        </p:spPr>
      </p:sp>
      <p:sp>
        <p:nvSpPr>
          <p:cNvPr id="29" name="Text 27"/>
          <p:cNvSpPr/>
          <p:nvPr/>
        </p:nvSpPr>
        <p:spPr>
          <a:xfrm>
            <a:off x="786384" y="4407408"/>
            <a:ext cx="2377440" cy="420624"/>
          </a:xfrm>
          <a:prstGeom prst="rect">
            <a:avLst/>
          </a:prstGeom>
          <a:noFill/>
          <a:ln/>
        </p:spPr>
        <p:txBody>
          <a:bodyPr wrap="square" lIns="0" tIns="0" rIns="0" bIns="0" rtlCol="0" anchor="ctr"/>
          <a:lstStyle/>
          <a:p>
            <a:pPr indent="0" marL="0">
              <a:buNone/>
            </a:pPr>
            <a:r>
              <a:rPr lang="en-US" sz="1100" b="1" dirty="0">
                <a:solidFill>
                  <a:srgbClr val="12202E"/>
                </a:solidFill>
                <a:latin typeface="Calibri" pitchFamily="34" charset="0"/>
                <a:ea typeface="Calibri" pitchFamily="34" charset="-122"/>
                <a:cs typeface="Calibri" pitchFamily="34" charset="-120"/>
              </a:rPr>
              <a:t>WHO</a:t>
            </a:r>
            <a:endParaRPr lang="en-US" sz="1100" dirty="0"/>
          </a:p>
        </p:txBody>
      </p:sp>
      <p:sp>
        <p:nvSpPr>
          <p:cNvPr id="30" name="Text 28"/>
          <p:cNvSpPr/>
          <p:nvPr/>
        </p:nvSpPr>
        <p:spPr>
          <a:xfrm>
            <a:off x="3264408" y="4407408"/>
            <a:ext cx="6400800" cy="420624"/>
          </a:xfrm>
          <a:prstGeom prst="rect">
            <a:avLst/>
          </a:prstGeom>
          <a:noFill/>
          <a:ln/>
        </p:spPr>
        <p:txBody>
          <a:bodyPr wrap="square" lIns="0" tIns="0" rIns="0" bIns="0" rtlCol="0" anchor="ctr"/>
          <a:lstStyle/>
          <a:p>
            <a:pPr indent="0" marL="0">
              <a:buNone/>
            </a:pPr>
            <a:r>
              <a:rPr lang="en-US" sz="1000" dirty="0">
                <a:solidFill>
                  <a:srgbClr val="5D7186"/>
                </a:solidFill>
                <a:latin typeface="Calibri" pitchFamily="34" charset="0"/>
                <a:ea typeface="Calibri" pitchFamily="34" charset="-122"/>
                <a:cs typeface="Calibri" pitchFamily="34" charset="-120"/>
              </a:rPr>
              <a:t>Monitoring and Evaluating Digital Health Interventions: a practical guide. 2016.</a:t>
            </a:r>
            <a:endParaRPr lang="en-US" sz="1000" dirty="0"/>
          </a:p>
        </p:txBody>
      </p:sp>
      <p:sp>
        <p:nvSpPr>
          <p:cNvPr id="31" name="Text 29"/>
          <p:cNvSpPr/>
          <p:nvPr/>
        </p:nvSpPr>
        <p:spPr>
          <a:xfrm>
            <a:off x="9802368" y="4407408"/>
            <a:ext cx="1691640" cy="420624"/>
          </a:xfrm>
          <a:prstGeom prst="rect">
            <a:avLst/>
          </a:prstGeom>
          <a:noFill/>
          <a:ln/>
        </p:spPr>
        <p:txBody>
          <a:bodyPr wrap="square" lIns="0" tIns="0" rIns="0" bIns="0" rtlCol="0" anchor="ctr"/>
          <a:lstStyle/>
          <a:p>
            <a:pPr algn="r" indent="0" marL="0">
              <a:buNone/>
            </a:pPr>
            <a:r>
              <a:rPr lang="en-US" sz="950" i="1" dirty="0">
                <a:solidFill>
                  <a:srgbClr val="5D7186"/>
                </a:solidFill>
                <a:latin typeface="Calibri" pitchFamily="34" charset="0"/>
                <a:ea typeface="Calibri" pitchFamily="34" charset="-122"/>
                <a:cs typeface="Calibri" pitchFamily="34" charset="-120"/>
              </a:rPr>
              <a:t>maturity stages</a:t>
            </a:r>
            <a:endParaRPr lang="en-US" sz="950" dirty="0"/>
          </a:p>
        </p:txBody>
      </p:sp>
      <p:sp>
        <p:nvSpPr>
          <p:cNvPr id="32" name="Shape 30"/>
          <p:cNvSpPr/>
          <p:nvPr/>
        </p:nvSpPr>
        <p:spPr>
          <a:xfrm>
            <a:off x="566928" y="4882896"/>
            <a:ext cx="11064240" cy="420624"/>
          </a:xfrm>
          <a:prstGeom prst="roundRect">
            <a:avLst>
              <a:gd name="adj" fmla="val 13043"/>
            </a:avLst>
          </a:prstGeom>
          <a:solidFill>
            <a:srgbClr val="FFFFFF"/>
          </a:solidFill>
          <a:ln w="12700">
            <a:solidFill>
              <a:srgbClr val="DDE5EE"/>
            </a:solidFill>
            <a:prstDash val="solid"/>
          </a:ln>
        </p:spPr>
      </p:sp>
      <p:sp>
        <p:nvSpPr>
          <p:cNvPr id="33" name="Text 31"/>
          <p:cNvSpPr/>
          <p:nvPr/>
        </p:nvSpPr>
        <p:spPr>
          <a:xfrm>
            <a:off x="786384" y="4882896"/>
            <a:ext cx="2377440" cy="420624"/>
          </a:xfrm>
          <a:prstGeom prst="rect">
            <a:avLst/>
          </a:prstGeom>
          <a:noFill/>
          <a:ln/>
        </p:spPr>
        <p:txBody>
          <a:bodyPr wrap="square" lIns="0" tIns="0" rIns="0" bIns="0" rtlCol="0" anchor="ctr"/>
          <a:lstStyle/>
          <a:p>
            <a:pPr indent="0" marL="0">
              <a:buNone/>
            </a:pPr>
            <a:r>
              <a:rPr lang="en-US" sz="1100" b="1" dirty="0">
                <a:solidFill>
                  <a:srgbClr val="12202E"/>
                </a:solidFill>
                <a:latin typeface="Calibri" pitchFamily="34" charset="0"/>
                <a:ea typeface="Calibri" pitchFamily="34" charset="-122"/>
                <a:cs typeface="Calibri" pitchFamily="34" charset="-120"/>
              </a:rPr>
              <a:t>WHO</a:t>
            </a:r>
            <a:endParaRPr lang="en-US" sz="1100" dirty="0"/>
          </a:p>
        </p:txBody>
      </p:sp>
      <p:sp>
        <p:nvSpPr>
          <p:cNvPr id="34" name="Text 32"/>
          <p:cNvSpPr/>
          <p:nvPr/>
        </p:nvSpPr>
        <p:spPr>
          <a:xfrm>
            <a:off x="3264408" y="4882896"/>
            <a:ext cx="6400800" cy="420624"/>
          </a:xfrm>
          <a:prstGeom prst="rect">
            <a:avLst/>
          </a:prstGeom>
          <a:noFill/>
          <a:ln/>
        </p:spPr>
        <p:txBody>
          <a:bodyPr wrap="square" lIns="0" tIns="0" rIns="0" bIns="0" rtlCol="0" anchor="ctr"/>
          <a:lstStyle/>
          <a:p>
            <a:pPr indent="0" marL="0">
              <a:buNone/>
            </a:pPr>
            <a:r>
              <a:rPr lang="en-US" sz="1000" dirty="0">
                <a:solidFill>
                  <a:srgbClr val="5D7186"/>
                </a:solidFill>
                <a:latin typeface="Calibri" pitchFamily="34" charset="0"/>
                <a:ea typeface="Calibri" pitchFamily="34" charset="-122"/>
                <a:cs typeface="Calibri" pitchFamily="34" charset="-120"/>
              </a:rPr>
              <a:t>SMART Guidelines — the L1–L5 knowledge layers.</a:t>
            </a:r>
            <a:endParaRPr lang="en-US" sz="1000" dirty="0"/>
          </a:p>
        </p:txBody>
      </p:sp>
      <p:sp>
        <p:nvSpPr>
          <p:cNvPr id="35" name="Text 33"/>
          <p:cNvSpPr/>
          <p:nvPr/>
        </p:nvSpPr>
        <p:spPr>
          <a:xfrm>
            <a:off x="9802368" y="4882896"/>
            <a:ext cx="1691640" cy="420624"/>
          </a:xfrm>
          <a:prstGeom prst="rect">
            <a:avLst/>
          </a:prstGeom>
          <a:noFill/>
          <a:ln/>
        </p:spPr>
        <p:txBody>
          <a:bodyPr wrap="square" lIns="0" tIns="0" rIns="0" bIns="0" rtlCol="0" anchor="ctr"/>
          <a:lstStyle/>
          <a:p>
            <a:pPr algn="r" indent="0" marL="0">
              <a:buNone/>
            </a:pPr>
            <a:r>
              <a:rPr lang="en-US" sz="950" i="1" dirty="0">
                <a:solidFill>
                  <a:srgbClr val="5D7186"/>
                </a:solidFill>
                <a:latin typeface="Calibri" pitchFamily="34" charset="0"/>
                <a:ea typeface="Calibri" pitchFamily="34" charset="-122"/>
                <a:cs typeface="Calibri" pitchFamily="34" charset="-120"/>
              </a:rPr>
              <a:t>who.int</a:t>
            </a:r>
            <a:endParaRPr lang="en-US" sz="950" dirty="0"/>
          </a:p>
        </p:txBody>
      </p:sp>
      <p:sp>
        <p:nvSpPr>
          <p:cNvPr id="36" name="Shape 34"/>
          <p:cNvSpPr/>
          <p:nvPr/>
        </p:nvSpPr>
        <p:spPr>
          <a:xfrm>
            <a:off x="566928" y="5358384"/>
            <a:ext cx="11064240" cy="420624"/>
          </a:xfrm>
          <a:prstGeom prst="roundRect">
            <a:avLst>
              <a:gd name="adj" fmla="val 13043"/>
            </a:avLst>
          </a:prstGeom>
          <a:solidFill>
            <a:srgbClr val="F5F7FA"/>
          </a:solidFill>
          <a:ln w="12700">
            <a:solidFill>
              <a:srgbClr val="DDE5EE"/>
            </a:solidFill>
            <a:prstDash val="solid"/>
          </a:ln>
        </p:spPr>
      </p:sp>
      <p:sp>
        <p:nvSpPr>
          <p:cNvPr id="37" name="Text 35"/>
          <p:cNvSpPr/>
          <p:nvPr/>
        </p:nvSpPr>
        <p:spPr>
          <a:xfrm>
            <a:off x="786384" y="5358384"/>
            <a:ext cx="2377440" cy="420624"/>
          </a:xfrm>
          <a:prstGeom prst="rect">
            <a:avLst/>
          </a:prstGeom>
          <a:noFill/>
          <a:ln/>
        </p:spPr>
        <p:txBody>
          <a:bodyPr wrap="square" lIns="0" tIns="0" rIns="0" bIns="0" rtlCol="0" anchor="ctr"/>
          <a:lstStyle/>
          <a:p>
            <a:pPr indent="0" marL="0">
              <a:buNone/>
            </a:pPr>
            <a:r>
              <a:rPr lang="en-US" sz="1100" b="1" dirty="0">
                <a:solidFill>
                  <a:srgbClr val="12202E"/>
                </a:solidFill>
                <a:latin typeface="Calibri" pitchFamily="34" charset="0"/>
                <a:ea typeface="Calibri" pitchFamily="34" charset="-122"/>
                <a:cs typeface="Calibri" pitchFamily="34" charset="-120"/>
              </a:rPr>
              <a:t>IMDRF</a:t>
            </a:r>
            <a:endParaRPr lang="en-US" sz="1100" dirty="0"/>
          </a:p>
        </p:txBody>
      </p:sp>
      <p:sp>
        <p:nvSpPr>
          <p:cNvPr id="38" name="Text 36"/>
          <p:cNvSpPr/>
          <p:nvPr/>
        </p:nvSpPr>
        <p:spPr>
          <a:xfrm>
            <a:off x="3264408" y="5358384"/>
            <a:ext cx="6400800" cy="420624"/>
          </a:xfrm>
          <a:prstGeom prst="rect">
            <a:avLst/>
          </a:prstGeom>
          <a:noFill/>
          <a:ln/>
        </p:spPr>
        <p:txBody>
          <a:bodyPr wrap="square" lIns="0" tIns="0" rIns="0" bIns="0" rtlCol="0" anchor="ctr"/>
          <a:lstStyle/>
          <a:p>
            <a:pPr indent="0" marL="0">
              <a:buNone/>
            </a:pPr>
            <a:r>
              <a:rPr lang="en-US" sz="1000" dirty="0">
                <a:solidFill>
                  <a:srgbClr val="5D7186"/>
                </a:solidFill>
                <a:latin typeface="Calibri" pitchFamily="34" charset="0"/>
                <a:ea typeface="Calibri" pitchFamily="34" charset="-122"/>
                <a:cs typeface="Calibri" pitchFamily="34" charset="-120"/>
              </a:rPr>
              <a:t>Software as a Medical Device: possible framework for risk categorisation.</a:t>
            </a:r>
            <a:endParaRPr lang="en-US" sz="1000" dirty="0"/>
          </a:p>
        </p:txBody>
      </p:sp>
      <p:sp>
        <p:nvSpPr>
          <p:cNvPr id="39" name="Text 37"/>
          <p:cNvSpPr/>
          <p:nvPr/>
        </p:nvSpPr>
        <p:spPr>
          <a:xfrm>
            <a:off x="9802368" y="5358384"/>
            <a:ext cx="1691640" cy="420624"/>
          </a:xfrm>
          <a:prstGeom prst="rect">
            <a:avLst/>
          </a:prstGeom>
          <a:noFill/>
          <a:ln/>
        </p:spPr>
        <p:txBody>
          <a:bodyPr wrap="square" lIns="0" tIns="0" rIns="0" bIns="0" rtlCol="0" anchor="ctr"/>
          <a:lstStyle/>
          <a:p>
            <a:pPr algn="r" indent="0" marL="0">
              <a:buNone/>
            </a:pPr>
            <a:r>
              <a:rPr lang="en-US" sz="950" i="1" dirty="0">
                <a:solidFill>
                  <a:srgbClr val="5D7186"/>
                </a:solidFill>
                <a:latin typeface="Calibri" pitchFamily="34" charset="0"/>
                <a:ea typeface="Calibri" pitchFamily="34" charset="-122"/>
                <a:cs typeface="Calibri" pitchFamily="34" charset="-120"/>
              </a:rPr>
              <a:t>categories I–IV</a:t>
            </a:r>
            <a:endParaRPr lang="en-US" sz="950" dirty="0"/>
          </a:p>
        </p:txBody>
      </p:sp>
      <p:sp>
        <p:nvSpPr>
          <p:cNvPr id="40" name="Shape 38"/>
          <p:cNvSpPr/>
          <p:nvPr/>
        </p:nvSpPr>
        <p:spPr>
          <a:xfrm>
            <a:off x="566928" y="5833872"/>
            <a:ext cx="11064240" cy="420624"/>
          </a:xfrm>
          <a:prstGeom prst="roundRect">
            <a:avLst>
              <a:gd name="adj" fmla="val 13043"/>
            </a:avLst>
          </a:prstGeom>
          <a:solidFill>
            <a:srgbClr val="FFFFFF"/>
          </a:solidFill>
          <a:ln w="12700">
            <a:solidFill>
              <a:srgbClr val="DDE5EE"/>
            </a:solidFill>
            <a:prstDash val="solid"/>
          </a:ln>
        </p:spPr>
      </p:sp>
      <p:sp>
        <p:nvSpPr>
          <p:cNvPr id="41" name="Text 39"/>
          <p:cNvSpPr/>
          <p:nvPr/>
        </p:nvSpPr>
        <p:spPr>
          <a:xfrm>
            <a:off x="786384" y="5833872"/>
            <a:ext cx="2377440" cy="420624"/>
          </a:xfrm>
          <a:prstGeom prst="rect">
            <a:avLst/>
          </a:prstGeom>
          <a:noFill/>
          <a:ln/>
        </p:spPr>
        <p:txBody>
          <a:bodyPr wrap="square" lIns="0" tIns="0" rIns="0" bIns="0" rtlCol="0" anchor="ctr"/>
          <a:lstStyle/>
          <a:p>
            <a:pPr indent="0" marL="0">
              <a:buNone/>
            </a:pPr>
            <a:r>
              <a:rPr lang="en-US" sz="1100" b="1" dirty="0">
                <a:solidFill>
                  <a:srgbClr val="12202E"/>
                </a:solidFill>
                <a:latin typeface="Calibri" pitchFamily="34" charset="0"/>
                <a:ea typeface="Calibri" pitchFamily="34" charset="-122"/>
                <a:cs typeface="Calibri" pitchFamily="34" charset="-120"/>
              </a:rPr>
              <a:t>HL7</a:t>
            </a:r>
            <a:endParaRPr lang="en-US" sz="1100" dirty="0"/>
          </a:p>
        </p:txBody>
      </p:sp>
      <p:sp>
        <p:nvSpPr>
          <p:cNvPr id="42" name="Text 40"/>
          <p:cNvSpPr/>
          <p:nvPr/>
        </p:nvSpPr>
        <p:spPr>
          <a:xfrm>
            <a:off x="3264408" y="5833872"/>
            <a:ext cx="6400800" cy="420624"/>
          </a:xfrm>
          <a:prstGeom prst="rect">
            <a:avLst/>
          </a:prstGeom>
          <a:noFill/>
          <a:ln/>
        </p:spPr>
        <p:txBody>
          <a:bodyPr wrap="square" lIns="0" tIns="0" rIns="0" bIns="0" rtlCol="0" anchor="ctr"/>
          <a:lstStyle/>
          <a:p>
            <a:pPr indent="0" marL="0">
              <a:buNone/>
            </a:pPr>
            <a:r>
              <a:rPr lang="en-US" sz="1000" dirty="0">
                <a:solidFill>
                  <a:srgbClr val="5D7186"/>
                </a:solidFill>
                <a:latin typeface="Calibri" pitchFamily="34" charset="0"/>
                <a:ea typeface="Calibri" pitchFamily="34" charset="-122"/>
                <a:cs typeface="Calibri" pitchFamily="34" charset="-120"/>
              </a:rPr>
              <a:t>FHIR R4 — QuestionnaireResponse, Observation, Communication.</a:t>
            </a:r>
            <a:endParaRPr lang="en-US" sz="1000" dirty="0"/>
          </a:p>
        </p:txBody>
      </p:sp>
      <p:sp>
        <p:nvSpPr>
          <p:cNvPr id="43" name="Text 41"/>
          <p:cNvSpPr/>
          <p:nvPr/>
        </p:nvSpPr>
        <p:spPr>
          <a:xfrm>
            <a:off x="9802368" y="5833872"/>
            <a:ext cx="1691640" cy="420624"/>
          </a:xfrm>
          <a:prstGeom prst="rect">
            <a:avLst/>
          </a:prstGeom>
          <a:noFill/>
          <a:ln/>
        </p:spPr>
        <p:txBody>
          <a:bodyPr wrap="square" lIns="0" tIns="0" rIns="0" bIns="0" rtlCol="0" anchor="ctr"/>
          <a:lstStyle/>
          <a:p>
            <a:pPr algn="r" indent="0" marL="0">
              <a:buNone/>
            </a:pPr>
            <a:r>
              <a:rPr lang="en-US" sz="950" i="1" dirty="0">
                <a:solidFill>
                  <a:srgbClr val="5D7186"/>
                </a:solidFill>
                <a:latin typeface="Calibri" pitchFamily="34" charset="0"/>
                <a:ea typeface="Calibri" pitchFamily="34" charset="-122"/>
                <a:cs typeface="Calibri" pitchFamily="34" charset="-120"/>
              </a:rPr>
              <a:t>hl7.org/fhir/R4</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WundCheck — a mini CDSS for post-operative wound self-checks</dc:title>
  <dc:subject>PptxGenJS Presentation</dc:subject>
  <dc:creator>FHNW MSc Medical Informatics</dc:creator>
  <cp:lastModifiedBy>FHNW MSc Medical Informatics</cp:lastModifiedBy>
  <cp:revision>1</cp:revision>
  <dcterms:created xsi:type="dcterms:W3CDTF">2026-08-04T10:31:51Z</dcterms:created>
  <dcterms:modified xsi:type="dcterms:W3CDTF">2026-08-04T10:31:51Z</dcterms:modified>
</cp:coreProperties>
</file>