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81" r:id="rId16"/>
    <p:sldId id="283" r:id="rId17"/>
    <p:sldId id="280" r:id="rId18"/>
    <p:sldId id="271" r:id="rId19"/>
    <p:sldId id="272" r:id="rId20"/>
    <p:sldId id="273" r:id="rId21"/>
    <p:sldId id="274" r:id="rId22"/>
    <p:sldId id="275" r:id="rId23"/>
    <p:sldId id="276" r:id="rId24"/>
    <p:sldId id="277" r:id="rId25"/>
    <p:sldId id="278" r:id="rId26"/>
    <p:sldId id="279" r:id="rId2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D7186"/>
    <a:srgbClr val="C9D6E4"/>
    <a:srgbClr val="F5F7FA"/>
    <a:srgbClr val="12202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1D1874E-3922-47B9-9685-B0DFA4DED248}" v="4098" dt="2026-08-04T13:52:19.206"/>
    <p1510:client id="{BC43FACE-9B62-4C1A-9F50-C827FC7B671A}" v="1345" dt="2026-08-04T13:50:28.8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70065" autoAdjust="0"/>
  </p:normalViewPr>
  <p:slideViewPr>
    <p:cSldViewPr snapToGrid="0" snapToObjects="1">
      <p:cViewPr>
        <p:scale>
          <a:sx n="50" d="100"/>
          <a:sy n="50" d="100"/>
        </p:scale>
        <p:origin x="1771" y="322"/>
      </p:cViewPr>
      <p:guideLst/>
    </p:cSldViewPr>
  </p:slideViewPr>
  <p:notesTextViewPr>
    <p:cViewPr>
      <p:scale>
        <a:sx n="150" d="100"/>
        <a:sy n="150" d="100"/>
      </p:scale>
      <p:origin x="0" y="-5"/>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line Weger (s)" userId="19e9a1ac-93e0-4af5-b0e1-e47fd34b369d" providerId="ADAL" clId="{824ADC1F-7B52-4AC4-BB01-17A0F43655FE}"/>
    <pc:docChg chg="undo custSel addSld delSld modSld">
      <pc:chgData name="Feline Weger (s)" userId="19e9a1ac-93e0-4af5-b0e1-e47fd34b369d" providerId="ADAL" clId="{824ADC1F-7B52-4AC4-BB01-17A0F43655FE}" dt="2026-08-04T14:07:47.354" v="4073" actId="20577"/>
      <pc:docMkLst>
        <pc:docMk/>
      </pc:docMkLst>
      <pc:sldChg chg="addSp delSp modSp mod modAnim modNotesTx">
        <pc:chgData name="Feline Weger (s)" userId="19e9a1ac-93e0-4af5-b0e1-e47fd34b369d" providerId="ADAL" clId="{824ADC1F-7B52-4AC4-BB01-17A0F43655FE}" dt="2026-08-04T13:31:53.803" v="3883"/>
        <pc:sldMkLst>
          <pc:docMk/>
          <pc:sldMk cId="0" sldId="256"/>
        </pc:sldMkLst>
        <pc:spChg chg="mod">
          <ac:chgData name="Feline Weger (s)" userId="19e9a1ac-93e0-4af5-b0e1-e47fd34b369d" providerId="ADAL" clId="{824ADC1F-7B52-4AC4-BB01-17A0F43655FE}" dt="2026-08-04T10:32:47.993" v="200" actId="20577"/>
          <ac:spMkLst>
            <pc:docMk/>
            <pc:sldMk cId="0" sldId="256"/>
            <ac:spMk id="4" creationId="{00000000-0000-0000-0000-000000000000}"/>
          </ac:spMkLst>
        </pc:spChg>
        <pc:picChg chg="add del mod modCrop">
          <ac:chgData name="Feline Weger (s)" userId="19e9a1ac-93e0-4af5-b0e1-e47fd34b369d" providerId="ADAL" clId="{824ADC1F-7B52-4AC4-BB01-17A0F43655FE}" dt="2026-08-04T09:49:26.919" v="36" actId="478"/>
          <ac:picMkLst>
            <pc:docMk/>
            <pc:sldMk cId="0" sldId="256"/>
            <ac:picMk id="5" creationId="{E60D681D-BF56-CAC0-E714-5DDDF8E05AD3}"/>
          </ac:picMkLst>
        </pc:picChg>
        <pc:picChg chg="add del mod modCrop">
          <ac:chgData name="Feline Weger (s)" userId="19e9a1ac-93e0-4af5-b0e1-e47fd34b369d" providerId="ADAL" clId="{824ADC1F-7B52-4AC4-BB01-17A0F43655FE}" dt="2026-08-04T09:48:58.096" v="26" actId="478"/>
          <ac:picMkLst>
            <pc:docMk/>
            <pc:sldMk cId="0" sldId="256"/>
            <ac:picMk id="7" creationId="{1185D7C3-0C83-80C7-6747-F681682DBD20}"/>
          </ac:picMkLst>
        </pc:picChg>
        <pc:picChg chg="add del mod">
          <ac:chgData name="Feline Weger (s)" userId="19e9a1ac-93e0-4af5-b0e1-e47fd34b369d" providerId="ADAL" clId="{824ADC1F-7B52-4AC4-BB01-17A0F43655FE}" dt="2026-08-04T09:53:12.423" v="53" actId="21"/>
          <ac:picMkLst>
            <pc:docMk/>
            <pc:sldMk cId="0" sldId="256"/>
            <ac:picMk id="8" creationId="{DDC4C6E0-8D64-1365-805A-63049DE55225}"/>
          </ac:picMkLst>
        </pc:picChg>
        <pc:picChg chg="add del mod">
          <ac:chgData name="Feline Weger (s)" userId="19e9a1ac-93e0-4af5-b0e1-e47fd34b369d" providerId="ADAL" clId="{824ADC1F-7B52-4AC4-BB01-17A0F43655FE}" dt="2026-08-04T09:48:58.841" v="27" actId="478"/>
          <ac:picMkLst>
            <pc:docMk/>
            <pc:sldMk cId="0" sldId="256"/>
            <ac:picMk id="9" creationId="{5E7D80E6-C9FC-B71A-7B8E-22D285A80D40}"/>
          </ac:picMkLst>
        </pc:picChg>
        <pc:picChg chg="add mod modCrop">
          <ac:chgData name="Feline Weger (s)" userId="19e9a1ac-93e0-4af5-b0e1-e47fd34b369d" providerId="ADAL" clId="{824ADC1F-7B52-4AC4-BB01-17A0F43655FE}" dt="2026-08-04T12:46:27.248" v="3370" actId="1076"/>
          <ac:picMkLst>
            <pc:docMk/>
            <pc:sldMk cId="0" sldId="256"/>
            <ac:picMk id="11" creationId="{96517A0A-3EC3-160E-4480-233D03A882DF}"/>
          </ac:picMkLst>
        </pc:picChg>
        <pc:picChg chg="add del mod">
          <ac:chgData name="Feline Weger (s)" userId="19e9a1ac-93e0-4af5-b0e1-e47fd34b369d" providerId="ADAL" clId="{824ADC1F-7B52-4AC4-BB01-17A0F43655FE}" dt="2026-08-04T09:53:08.478" v="52" actId="478"/>
          <ac:picMkLst>
            <pc:docMk/>
            <pc:sldMk cId="0" sldId="256"/>
            <ac:picMk id="14" creationId="{8FEA469E-95B6-BE84-EFE7-C8DF944B056B}"/>
          </ac:picMkLst>
        </pc:picChg>
        <pc:picChg chg="add del mod modCrop">
          <ac:chgData name="Feline Weger (s)" userId="19e9a1ac-93e0-4af5-b0e1-e47fd34b369d" providerId="ADAL" clId="{824ADC1F-7B52-4AC4-BB01-17A0F43655FE}" dt="2026-08-04T10:04:33.495" v="75" actId="478"/>
          <ac:picMkLst>
            <pc:docMk/>
            <pc:sldMk cId="0" sldId="256"/>
            <ac:picMk id="17" creationId="{A79CD475-3A70-9521-16CB-F6AC23127181}"/>
          </ac:picMkLst>
        </pc:picChg>
      </pc:sldChg>
      <pc:sldChg chg="addSp delSp modSp mod modNotesTx">
        <pc:chgData name="Feline Weger (s)" userId="19e9a1ac-93e0-4af5-b0e1-e47fd34b369d" providerId="ADAL" clId="{824ADC1F-7B52-4AC4-BB01-17A0F43655FE}" dt="2026-08-04T13:33:37.347" v="3902" actId="14100"/>
        <pc:sldMkLst>
          <pc:docMk/>
          <pc:sldMk cId="0" sldId="257"/>
        </pc:sldMkLst>
        <pc:spChg chg="mod">
          <ac:chgData name="Feline Weger (s)" userId="19e9a1ac-93e0-4af5-b0e1-e47fd34b369d" providerId="ADAL" clId="{824ADC1F-7B52-4AC4-BB01-17A0F43655FE}" dt="2026-08-04T11:54:59.992" v="2680" actId="113"/>
          <ac:spMkLst>
            <pc:docMk/>
            <pc:sldMk cId="0" sldId="257"/>
            <ac:spMk id="3" creationId="{00000000-0000-0000-0000-000000000000}"/>
          </ac:spMkLst>
        </pc:spChg>
        <pc:picChg chg="add del mod">
          <ac:chgData name="Feline Weger (s)" userId="19e9a1ac-93e0-4af5-b0e1-e47fd34b369d" providerId="ADAL" clId="{824ADC1F-7B52-4AC4-BB01-17A0F43655FE}" dt="2026-08-04T13:33:13.852" v="3899" actId="478"/>
          <ac:picMkLst>
            <pc:docMk/>
            <pc:sldMk cId="0" sldId="257"/>
            <ac:picMk id="32" creationId="{2FFF19FC-A722-A5EA-DCA1-FC23B7083725}"/>
          </ac:picMkLst>
        </pc:picChg>
        <pc:picChg chg="add mod">
          <ac:chgData name="Feline Weger (s)" userId="19e9a1ac-93e0-4af5-b0e1-e47fd34b369d" providerId="ADAL" clId="{824ADC1F-7B52-4AC4-BB01-17A0F43655FE}" dt="2026-08-04T13:33:37.347" v="3902" actId="14100"/>
          <ac:picMkLst>
            <pc:docMk/>
            <pc:sldMk cId="0" sldId="257"/>
            <ac:picMk id="35" creationId="{BCACB8F1-A7F3-5C83-0DCF-244BE16BA624}"/>
          </ac:picMkLst>
        </pc:picChg>
      </pc:sldChg>
      <pc:sldChg chg="modSp mod modNotesTx">
        <pc:chgData name="Feline Weger (s)" userId="19e9a1ac-93e0-4af5-b0e1-e47fd34b369d" providerId="ADAL" clId="{824ADC1F-7B52-4AC4-BB01-17A0F43655FE}" dt="2026-08-04T13:27:51.184" v="3866" actId="20577"/>
        <pc:sldMkLst>
          <pc:docMk/>
          <pc:sldMk cId="0" sldId="258"/>
        </pc:sldMkLst>
        <pc:spChg chg="mod">
          <ac:chgData name="Feline Weger (s)" userId="19e9a1ac-93e0-4af5-b0e1-e47fd34b369d" providerId="ADAL" clId="{824ADC1F-7B52-4AC4-BB01-17A0F43655FE}" dt="2026-08-04T11:55:08.495" v="2682" actId="114"/>
          <ac:spMkLst>
            <pc:docMk/>
            <pc:sldMk cId="0" sldId="258"/>
            <ac:spMk id="3" creationId="{00000000-0000-0000-0000-000000000000}"/>
          </ac:spMkLst>
        </pc:spChg>
      </pc:sldChg>
      <pc:sldChg chg="addSp modSp mod modNotesTx">
        <pc:chgData name="Feline Weger (s)" userId="19e9a1ac-93e0-4af5-b0e1-e47fd34b369d" providerId="ADAL" clId="{824ADC1F-7B52-4AC4-BB01-17A0F43655FE}" dt="2026-08-04T13:51:50.801" v="4062" actId="20577"/>
        <pc:sldMkLst>
          <pc:docMk/>
          <pc:sldMk cId="0" sldId="259"/>
        </pc:sldMkLst>
        <pc:spChg chg="mod">
          <ac:chgData name="Feline Weger (s)" userId="19e9a1ac-93e0-4af5-b0e1-e47fd34b369d" providerId="ADAL" clId="{824ADC1F-7B52-4AC4-BB01-17A0F43655FE}" dt="2026-08-04T11:55:12.344" v="2684" actId="114"/>
          <ac:spMkLst>
            <pc:docMk/>
            <pc:sldMk cId="0" sldId="259"/>
            <ac:spMk id="3" creationId="{00000000-0000-0000-0000-000000000000}"/>
          </ac:spMkLst>
        </pc:spChg>
        <pc:spChg chg="mod">
          <ac:chgData name="Feline Weger (s)" userId="19e9a1ac-93e0-4af5-b0e1-e47fd34b369d" providerId="ADAL" clId="{824ADC1F-7B52-4AC4-BB01-17A0F43655FE}" dt="2026-08-04T11:38:53.473" v="2561" actId="164"/>
          <ac:spMkLst>
            <pc:docMk/>
            <pc:sldMk cId="0" sldId="259"/>
            <ac:spMk id="35" creationId="{00000000-0000-0000-0000-000000000000}"/>
          </ac:spMkLst>
        </pc:spChg>
        <pc:spChg chg="mod">
          <ac:chgData name="Feline Weger (s)" userId="19e9a1ac-93e0-4af5-b0e1-e47fd34b369d" providerId="ADAL" clId="{824ADC1F-7B52-4AC4-BB01-17A0F43655FE}" dt="2026-08-04T11:38:53.473" v="2561" actId="164"/>
          <ac:spMkLst>
            <pc:docMk/>
            <pc:sldMk cId="0" sldId="259"/>
            <ac:spMk id="36" creationId="{00000000-0000-0000-0000-000000000000}"/>
          </ac:spMkLst>
        </pc:spChg>
        <pc:spChg chg="mod">
          <ac:chgData name="Feline Weger (s)" userId="19e9a1ac-93e0-4af5-b0e1-e47fd34b369d" providerId="ADAL" clId="{824ADC1F-7B52-4AC4-BB01-17A0F43655FE}" dt="2026-08-04T11:47:27.234" v="2613" actId="207"/>
          <ac:spMkLst>
            <pc:docMk/>
            <pc:sldMk cId="0" sldId="259"/>
            <ac:spMk id="37" creationId="{00000000-0000-0000-0000-000000000000}"/>
          </ac:spMkLst>
        </pc:spChg>
        <pc:spChg chg="mod">
          <ac:chgData name="Feline Weger (s)" userId="19e9a1ac-93e0-4af5-b0e1-e47fd34b369d" providerId="ADAL" clId="{824ADC1F-7B52-4AC4-BB01-17A0F43655FE}" dt="2026-08-04T11:39:06.793" v="2562" actId="164"/>
          <ac:spMkLst>
            <pc:docMk/>
            <pc:sldMk cId="0" sldId="259"/>
            <ac:spMk id="38" creationId="{00000000-0000-0000-0000-000000000000}"/>
          </ac:spMkLst>
        </pc:spChg>
        <pc:spChg chg="mod">
          <ac:chgData name="Feline Weger (s)" userId="19e9a1ac-93e0-4af5-b0e1-e47fd34b369d" providerId="ADAL" clId="{824ADC1F-7B52-4AC4-BB01-17A0F43655FE}" dt="2026-08-04T11:39:06.793" v="2562" actId="164"/>
          <ac:spMkLst>
            <pc:docMk/>
            <pc:sldMk cId="0" sldId="259"/>
            <ac:spMk id="39" creationId="{00000000-0000-0000-0000-000000000000}"/>
          </ac:spMkLst>
        </pc:spChg>
        <pc:spChg chg="mod">
          <ac:chgData name="Feline Weger (s)" userId="19e9a1ac-93e0-4af5-b0e1-e47fd34b369d" providerId="ADAL" clId="{824ADC1F-7B52-4AC4-BB01-17A0F43655FE}" dt="2026-08-04T11:43:38.428" v="2578" actId="20577"/>
          <ac:spMkLst>
            <pc:docMk/>
            <pc:sldMk cId="0" sldId="259"/>
            <ac:spMk id="40" creationId="{00000000-0000-0000-0000-000000000000}"/>
          </ac:spMkLst>
        </pc:spChg>
        <pc:grpChg chg="add mod">
          <ac:chgData name="Feline Weger (s)" userId="19e9a1ac-93e0-4af5-b0e1-e47fd34b369d" providerId="ADAL" clId="{824ADC1F-7B52-4AC4-BB01-17A0F43655FE}" dt="2026-08-04T11:39:15.939" v="2563" actId="1076"/>
          <ac:grpSpMkLst>
            <pc:docMk/>
            <pc:sldMk cId="0" sldId="259"/>
            <ac:grpSpMk id="41" creationId="{E11CDBE4-82D3-B13F-8117-D6E622643B34}"/>
          </ac:grpSpMkLst>
        </pc:grpChg>
        <pc:grpChg chg="add mod">
          <ac:chgData name="Feline Weger (s)" userId="19e9a1ac-93e0-4af5-b0e1-e47fd34b369d" providerId="ADAL" clId="{824ADC1F-7B52-4AC4-BB01-17A0F43655FE}" dt="2026-08-04T11:39:23.034" v="2564" actId="1076"/>
          <ac:grpSpMkLst>
            <pc:docMk/>
            <pc:sldMk cId="0" sldId="259"/>
            <ac:grpSpMk id="43" creationId="{A704DEC5-83A6-6640-8D72-E34B49D5F625}"/>
          </ac:grpSpMkLst>
        </pc:grpChg>
      </pc:sldChg>
      <pc:sldChg chg="addSp delSp modSp mod modNotesTx">
        <pc:chgData name="Feline Weger (s)" userId="19e9a1ac-93e0-4af5-b0e1-e47fd34b369d" providerId="ADAL" clId="{824ADC1F-7B52-4AC4-BB01-17A0F43655FE}" dt="2026-08-04T13:19:56.768" v="3789" actId="20577"/>
        <pc:sldMkLst>
          <pc:docMk/>
          <pc:sldMk cId="0" sldId="260"/>
        </pc:sldMkLst>
        <pc:spChg chg="mod">
          <ac:chgData name="Feline Weger (s)" userId="19e9a1ac-93e0-4af5-b0e1-e47fd34b369d" providerId="ADAL" clId="{824ADC1F-7B52-4AC4-BB01-17A0F43655FE}" dt="2026-08-04T11:56:10.771" v="2732" actId="20577"/>
          <ac:spMkLst>
            <pc:docMk/>
            <pc:sldMk cId="0" sldId="260"/>
            <ac:spMk id="3" creationId="{00000000-0000-0000-0000-000000000000}"/>
          </ac:spMkLst>
        </pc:spChg>
        <pc:spChg chg="add mod">
          <ac:chgData name="Feline Weger (s)" userId="19e9a1ac-93e0-4af5-b0e1-e47fd34b369d" providerId="ADAL" clId="{824ADC1F-7B52-4AC4-BB01-17A0F43655FE}" dt="2026-08-04T12:04:43.113" v="2830" actId="164"/>
          <ac:spMkLst>
            <pc:docMk/>
            <pc:sldMk cId="0" sldId="260"/>
            <ac:spMk id="67" creationId="{BC559889-FBE0-45DA-291F-BF169BB57F2F}"/>
          </ac:spMkLst>
        </pc:spChg>
        <pc:grpChg chg="add mod">
          <ac:chgData name="Feline Weger (s)" userId="19e9a1ac-93e0-4af5-b0e1-e47fd34b369d" providerId="ADAL" clId="{824ADC1F-7B52-4AC4-BB01-17A0F43655FE}" dt="2026-08-04T12:04:43.113" v="2830" actId="164"/>
          <ac:grpSpMkLst>
            <pc:docMk/>
            <pc:sldMk cId="0" sldId="260"/>
            <ac:grpSpMk id="65" creationId="{6C273392-8EE3-2433-700A-E04D8B34768D}"/>
          </ac:grpSpMkLst>
        </pc:grpChg>
        <pc:grpChg chg="add mod">
          <ac:chgData name="Feline Weger (s)" userId="19e9a1ac-93e0-4af5-b0e1-e47fd34b369d" providerId="ADAL" clId="{824ADC1F-7B52-4AC4-BB01-17A0F43655FE}" dt="2026-08-04T12:04:46.246" v="2831" actId="1076"/>
          <ac:grpSpMkLst>
            <pc:docMk/>
            <pc:sldMk cId="0" sldId="260"/>
            <ac:grpSpMk id="68" creationId="{DF9A7AFF-F4D4-3982-0234-DE4187A1D144}"/>
          </ac:grpSpMkLst>
        </pc:grpChg>
        <pc:picChg chg="add del mod modCrop">
          <ac:chgData name="Feline Weger (s)" userId="19e9a1ac-93e0-4af5-b0e1-e47fd34b369d" providerId="ADAL" clId="{824ADC1F-7B52-4AC4-BB01-17A0F43655FE}" dt="2026-08-04T12:02:48.397" v="2799" actId="478"/>
          <ac:picMkLst>
            <pc:docMk/>
            <pc:sldMk cId="0" sldId="260"/>
            <ac:picMk id="53" creationId="{B63F3C45-DA75-9D88-BE76-2862F01068BF}"/>
          </ac:picMkLst>
        </pc:picChg>
        <pc:picChg chg="add del mod modCrop">
          <ac:chgData name="Feline Weger (s)" userId="19e9a1ac-93e0-4af5-b0e1-e47fd34b369d" providerId="ADAL" clId="{824ADC1F-7B52-4AC4-BB01-17A0F43655FE}" dt="2026-08-04T12:02:47.299" v="2798" actId="478"/>
          <ac:picMkLst>
            <pc:docMk/>
            <pc:sldMk cId="0" sldId="260"/>
            <ac:picMk id="56" creationId="{A722203E-00ED-DDB2-494A-263344F0769E}"/>
          </ac:picMkLst>
        </pc:picChg>
        <pc:picChg chg="add del mod modCrop">
          <ac:chgData name="Feline Weger (s)" userId="19e9a1ac-93e0-4af5-b0e1-e47fd34b369d" providerId="ADAL" clId="{824ADC1F-7B52-4AC4-BB01-17A0F43655FE}" dt="2026-08-04T12:02:46.058" v="2797" actId="478"/>
          <ac:picMkLst>
            <pc:docMk/>
            <pc:sldMk cId="0" sldId="260"/>
            <ac:picMk id="58" creationId="{8793440E-6609-EBC0-CDCA-1A6ED0906603}"/>
          </ac:picMkLst>
        </pc:picChg>
        <pc:picChg chg="add mod">
          <ac:chgData name="Feline Weger (s)" userId="19e9a1ac-93e0-4af5-b0e1-e47fd34b369d" providerId="ADAL" clId="{824ADC1F-7B52-4AC4-BB01-17A0F43655FE}" dt="2026-08-04T12:03:33.396" v="2811" actId="1076"/>
          <ac:picMkLst>
            <pc:docMk/>
            <pc:sldMk cId="0" sldId="260"/>
            <ac:picMk id="60" creationId="{E195A340-D22E-9EFB-5243-D99106B31600}"/>
          </ac:picMkLst>
        </pc:picChg>
        <pc:picChg chg="add del mod">
          <ac:chgData name="Feline Weger (s)" userId="19e9a1ac-93e0-4af5-b0e1-e47fd34b369d" providerId="ADAL" clId="{824ADC1F-7B52-4AC4-BB01-17A0F43655FE}" dt="2026-08-04T12:03:05.886" v="2803" actId="478"/>
          <ac:picMkLst>
            <pc:docMk/>
            <pc:sldMk cId="0" sldId="260"/>
            <ac:picMk id="62" creationId="{0F7BC9C5-0740-1973-EC63-529A7448B18A}"/>
          </ac:picMkLst>
        </pc:picChg>
        <pc:picChg chg="add mod">
          <ac:chgData name="Feline Weger (s)" userId="19e9a1ac-93e0-4af5-b0e1-e47fd34b369d" providerId="ADAL" clId="{824ADC1F-7B52-4AC4-BB01-17A0F43655FE}" dt="2026-08-04T12:03:56.056" v="2814" actId="14100"/>
          <ac:picMkLst>
            <pc:docMk/>
            <pc:sldMk cId="0" sldId="260"/>
            <ac:picMk id="64" creationId="{2FACE9FA-0663-D72C-B6B5-CC64E586B88F}"/>
          </ac:picMkLst>
        </pc:picChg>
      </pc:sldChg>
      <pc:sldChg chg="modSp mod modNotesTx">
        <pc:chgData name="Feline Weger (s)" userId="19e9a1ac-93e0-4af5-b0e1-e47fd34b369d" providerId="ADAL" clId="{824ADC1F-7B52-4AC4-BB01-17A0F43655FE}" dt="2026-08-04T13:47:30.642" v="3907" actId="20577"/>
        <pc:sldMkLst>
          <pc:docMk/>
          <pc:sldMk cId="0" sldId="261"/>
        </pc:sldMkLst>
        <pc:spChg chg="mod">
          <ac:chgData name="Feline Weger (s)" userId="19e9a1ac-93e0-4af5-b0e1-e47fd34b369d" providerId="ADAL" clId="{824ADC1F-7B52-4AC4-BB01-17A0F43655FE}" dt="2026-08-04T12:19:48.869" v="3240" actId="404"/>
          <ac:spMkLst>
            <pc:docMk/>
            <pc:sldMk cId="0" sldId="261"/>
            <ac:spMk id="3" creationId="{00000000-0000-0000-0000-000000000000}"/>
          </ac:spMkLst>
        </pc:spChg>
      </pc:sldChg>
      <pc:sldChg chg="delSp modSp mod modNotesTx">
        <pc:chgData name="Feline Weger (s)" userId="19e9a1ac-93e0-4af5-b0e1-e47fd34b369d" providerId="ADAL" clId="{824ADC1F-7B52-4AC4-BB01-17A0F43655FE}" dt="2026-08-04T13:52:19.206" v="4071" actId="20577"/>
        <pc:sldMkLst>
          <pc:docMk/>
          <pc:sldMk cId="0" sldId="262"/>
        </pc:sldMkLst>
        <pc:spChg chg="mod">
          <ac:chgData name="Feline Weger (s)" userId="19e9a1ac-93e0-4af5-b0e1-e47fd34b369d" providerId="ADAL" clId="{824ADC1F-7B52-4AC4-BB01-17A0F43655FE}" dt="2026-08-04T11:56:32.260" v="2746" actId="20577"/>
          <ac:spMkLst>
            <pc:docMk/>
            <pc:sldMk cId="0" sldId="262"/>
            <ac:spMk id="3" creationId="{00000000-0000-0000-0000-000000000000}"/>
          </ac:spMkLst>
        </pc:spChg>
        <pc:spChg chg="del">
          <ac:chgData name="Feline Weger (s)" userId="19e9a1ac-93e0-4af5-b0e1-e47fd34b369d" providerId="ADAL" clId="{824ADC1F-7B52-4AC4-BB01-17A0F43655FE}" dt="2026-08-04T12:26:58.316" v="3245" actId="478"/>
          <ac:spMkLst>
            <pc:docMk/>
            <pc:sldMk cId="0" sldId="262"/>
            <ac:spMk id="68" creationId="{00000000-0000-0000-0000-000000000000}"/>
          </ac:spMkLst>
        </pc:spChg>
        <pc:spChg chg="del mod">
          <ac:chgData name="Feline Weger (s)" userId="19e9a1ac-93e0-4af5-b0e1-e47fd34b369d" providerId="ADAL" clId="{824ADC1F-7B52-4AC4-BB01-17A0F43655FE}" dt="2026-08-04T12:26:56.230" v="3244" actId="478"/>
          <ac:spMkLst>
            <pc:docMk/>
            <pc:sldMk cId="0" sldId="262"/>
            <ac:spMk id="69" creationId="{00000000-0000-0000-0000-000000000000}"/>
          </ac:spMkLst>
        </pc:spChg>
      </pc:sldChg>
      <pc:sldChg chg="modSp mod modNotesTx">
        <pc:chgData name="Feline Weger (s)" userId="19e9a1ac-93e0-4af5-b0e1-e47fd34b369d" providerId="ADAL" clId="{824ADC1F-7B52-4AC4-BB01-17A0F43655FE}" dt="2026-08-04T13:48:31.797" v="3951" actId="20577"/>
        <pc:sldMkLst>
          <pc:docMk/>
          <pc:sldMk cId="0" sldId="263"/>
        </pc:sldMkLst>
        <pc:spChg chg="mod">
          <ac:chgData name="Feline Weger (s)" userId="19e9a1ac-93e0-4af5-b0e1-e47fd34b369d" providerId="ADAL" clId="{824ADC1F-7B52-4AC4-BB01-17A0F43655FE}" dt="2026-08-04T11:56:49.488" v="2750" actId="313"/>
          <ac:spMkLst>
            <pc:docMk/>
            <pc:sldMk cId="0" sldId="263"/>
            <ac:spMk id="3" creationId="{00000000-0000-0000-0000-000000000000}"/>
          </ac:spMkLst>
        </pc:spChg>
        <pc:spChg chg="mod">
          <ac:chgData name="Feline Weger (s)" userId="19e9a1ac-93e0-4af5-b0e1-e47fd34b369d" providerId="ADAL" clId="{824ADC1F-7B52-4AC4-BB01-17A0F43655FE}" dt="2026-08-04T12:31:17.458" v="3305" actId="20577"/>
          <ac:spMkLst>
            <pc:docMk/>
            <pc:sldMk cId="0" sldId="263"/>
            <ac:spMk id="38" creationId="{00000000-0000-0000-0000-000000000000}"/>
          </ac:spMkLst>
        </pc:spChg>
        <pc:spChg chg="mod">
          <ac:chgData name="Feline Weger (s)" userId="19e9a1ac-93e0-4af5-b0e1-e47fd34b369d" providerId="ADAL" clId="{824ADC1F-7B52-4AC4-BB01-17A0F43655FE}" dt="2026-08-04T12:35:46.973" v="3308" actId="207"/>
          <ac:spMkLst>
            <pc:docMk/>
            <pc:sldMk cId="0" sldId="263"/>
            <ac:spMk id="39" creationId="{00000000-0000-0000-0000-000000000000}"/>
          </ac:spMkLst>
        </pc:spChg>
      </pc:sldChg>
      <pc:sldChg chg="modSp mod modNotesTx">
        <pc:chgData name="Feline Weger (s)" userId="19e9a1ac-93e0-4af5-b0e1-e47fd34b369d" providerId="ADAL" clId="{824ADC1F-7B52-4AC4-BB01-17A0F43655FE}" dt="2026-08-04T13:50:02.617" v="4016" actId="20577"/>
        <pc:sldMkLst>
          <pc:docMk/>
          <pc:sldMk cId="0" sldId="264"/>
        </pc:sldMkLst>
        <pc:spChg chg="mod">
          <ac:chgData name="Feline Weger (s)" userId="19e9a1ac-93e0-4af5-b0e1-e47fd34b369d" providerId="ADAL" clId="{824ADC1F-7B52-4AC4-BB01-17A0F43655FE}" dt="2026-08-04T10:35:55.056" v="244" actId="20577"/>
          <ac:spMkLst>
            <pc:docMk/>
            <pc:sldMk cId="0" sldId="264"/>
            <ac:spMk id="44" creationId="{00000000-0000-0000-0000-000000000000}"/>
          </ac:spMkLst>
        </pc:spChg>
      </pc:sldChg>
      <pc:sldChg chg="modNotesTx">
        <pc:chgData name="Feline Weger (s)" userId="19e9a1ac-93e0-4af5-b0e1-e47fd34b369d" providerId="ADAL" clId="{824ADC1F-7B52-4AC4-BB01-17A0F43655FE}" dt="2026-08-04T14:07:47.354" v="4073" actId="20577"/>
        <pc:sldMkLst>
          <pc:docMk/>
          <pc:sldMk cId="0" sldId="265"/>
        </pc:sldMkLst>
      </pc:sldChg>
      <pc:sldChg chg="modSp mod modNotesTx">
        <pc:chgData name="Feline Weger (s)" userId="19e9a1ac-93e0-4af5-b0e1-e47fd34b369d" providerId="ADAL" clId="{824ADC1F-7B52-4AC4-BB01-17A0F43655FE}" dt="2026-08-04T11:57:34.895" v="2756" actId="114"/>
        <pc:sldMkLst>
          <pc:docMk/>
          <pc:sldMk cId="0" sldId="266"/>
        </pc:sldMkLst>
        <pc:spChg chg="mod">
          <ac:chgData name="Feline Weger (s)" userId="19e9a1ac-93e0-4af5-b0e1-e47fd34b369d" providerId="ADAL" clId="{824ADC1F-7B52-4AC4-BB01-17A0F43655FE}" dt="2026-08-04T11:57:34.895" v="2756" actId="114"/>
          <ac:spMkLst>
            <pc:docMk/>
            <pc:sldMk cId="0" sldId="266"/>
            <ac:spMk id="3" creationId="{00000000-0000-0000-0000-000000000000}"/>
          </ac:spMkLst>
        </pc:spChg>
      </pc:sldChg>
      <pc:sldChg chg="modNotesTx">
        <pc:chgData name="Feline Weger (s)" userId="19e9a1ac-93e0-4af5-b0e1-e47fd34b369d" providerId="ADAL" clId="{824ADC1F-7B52-4AC4-BB01-17A0F43655FE}" dt="2026-08-04T10:41:04.483" v="363" actId="20577"/>
        <pc:sldMkLst>
          <pc:docMk/>
          <pc:sldMk cId="0" sldId="267"/>
        </pc:sldMkLst>
      </pc:sldChg>
      <pc:sldChg chg="modSp mod">
        <pc:chgData name="Feline Weger (s)" userId="19e9a1ac-93e0-4af5-b0e1-e47fd34b369d" providerId="ADAL" clId="{824ADC1F-7B52-4AC4-BB01-17A0F43655FE}" dt="2026-08-04T11:58:10.837" v="2761" actId="20577"/>
        <pc:sldMkLst>
          <pc:docMk/>
          <pc:sldMk cId="0" sldId="268"/>
        </pc:sldMkLst>
        <pc:spChg chg="mod">
          <ac:chgData name="Feline Weger (s)" userId="19e9a1ac-93e0-4af5-b0e1-e47fd34b369d" providerId="ADAL" clId="{824ADC1F-7B52-4AC4-BB01-17A0F43655FE}" dt="2026-08-04T11:58:10.837" v="2761" actId="20577"/>
          <ac:spMkLst>
            <pc:docMk/>
            <pc:sldMk cId="0" sldId="268"/>
            <ac:spMk id="3" creationId="{00000000-0000-0000-0000-000000000000}"/>
          </ac:spMkLst>
        </pc:spChg>
      </pc:sldChg>
      <pc:sldChg chg="modNotesTx">
        <pc:chgData name="Feline Weger (s)" userId="19e9a1ac-93e0-4af5-b0e1-e47fd34b369d" providerId="ADAL" clId="{824ADC1F-7B52-4AC4-BB01-17A0F43655FE}" dt="2026-08-04T10:42:01.695" v="371" actId="20577"/>
        <pc:sldMkLst>
          <pc:docMk/>
          <pc:sldMk cId="0" sldId="269"/>
        </pc:sldMkLst>
      </pc:sldChg>
      <pc:sldChg chg="modNotesTx">
        <pc:chgData name="Feline Weger (s)" userId="19e9a1ac-93e0-4af5-b0e1-e47fd34b369d" providerId="ADAL" clId="{824ADC1F-7B52-4AC4-BB01-17A0F43655FE}" dt="2026-08-04T10:40:55.908" v="355" actId="20577"/>
        <pc:sldMkLst>
          <pc:docMk/>
          <pc:sldMk cId="0" sldId="273"/>
        </pc:sldMkLst>
      </pc:sldChg>
      <pc:sldChg chg="addSp delSp mod">
        <pc:chgData name="Feline Weger (s)" userId="19e9a1ac-93e0-4af5-b0e1-e47fd34b369d" providerId="ADAL" clId="{824ADC1F-7B52-4AC4-BB01-17A0F43655FE}" dt="2026-08-04T10:09:54.313" v="194" actId="22"/>
        <pc:sldMkLst>
          <pc:docMk/>
          <pc:sldMk cId="0" sldId="280"/>
        </pc:sldMkLst>
        <pc:spChg chg="add del">
          <ac:chgData name="Feline Weger (s)" userId="19e9a1ac-93e0-4af5-b0e1-e47fd34b369d" providerId="ADAL" clId="{824ADC1F-7B52-4AC4-BB01-17A0F43655FE}" dt="2026-08-04T10:08:58.741" v="181" actId="22"/>
          <ac:spMkLst>
            <pc:docMk/>
            <pc:sldMk cId="0" sldId="280"/>
            <ac:spMk id="46" creationId="{AFA8E158-3F5A-0281-8B7B-1F03175BE3DF}"/>
          </ac:spMkLst>
        </pc:spChg>
        <pc:spChg chg="add del">
          <ac:chgData name="Feline Weger (s)" userId="19e9a1ac-93e0-4af5-b0e1-e47fd34b369d" providerId="ADAL" clId="{824ADC1F-7B52-4AC4-BB01-17A0F43655FE}" dt="2026-08-04T10:09:54.313" v="194" actId="22"/>
          <ac:spMkLst>
            <pc:docMk/>
            <pc:sldMk cId="0" sldId="280"/>
            <ac:spMk id="49" creationId="{7A978DB9-377E-CDC7-D11C-735067BEF4BA}"/>
          </ac:spMkLst>
        </pc:spChg>
      </pc:sldChg>
      <pc:sldChg chg="addSp delSp modSp mod modNotesTx">
        <pc:chgData name="Feline Weger (s)" userId="19e9a1ac-93e0-4af5-b0e1-e47fd34b369d" providerId="ADAL" clId="{824ADC1F-7B52-4AC4-BB01-17A0F43655FE}" dt="2026-08-04T13:07:52.454" v="3402" actId="20577"/>
        <pc:sldMkLst>
          <pc:docMk/>
          <pc:sldMk cId="0" sldId="281"/>
        </pc:sldMkLst>
        <pc:spChg chg="mod">
          <ac:chgData name="Feline Weger (s)" userId="19e9a1ac-93e0-4af5-b0e1-e47fd34b369d" providerId="ADAL" clId="{824ADC1F-7B52-4AC4-BB01-17A0F43655FE}" dt="2026-08-04T10:11:24.539" v="197" actId="20577"/>
          <ac:spMkLst>
            <pc:docMk/>
            <pc:sldMk cId="0" sldId="281"/>
            <ac:spMk id="5" creationId="{00000000-0000-0000-0000-000000000000}"/>
          </ac:spMkLst>
        </pc:spChg>
        <pc:spChg chg="del">
          <ac:chgData name="Feline Weger (s)" userId="19e9a1ac-93e0-4af5-b0e1-e47fd34b369d" providerId="ADAL" clId="{824ADC1F-7B52-4AC4-BB01-17A0F43655FE}" dt="2026-08-04T10:45:05.827" v="388" actId="478"/>
          <ac:spMkLst>
            <pc:docMk/>
            <pc:sldMk cId="0" sldId="281"/>
            <ac:spMk id="6" creationId="{00000000-0000-0000-0000-000000000000}"/>
          </ac:spMkLst>
        </pc:spChg>
        <pc:spChg chg="del mod">
          <ac:chgData name="Feline Weger (s)" userId="19e9a1ac-93e0-4af5-b0e1-e47fd34b369d" providerId="ADAL" clId="{824ADC1F-7B52-4AC4-BB01-17A0F43655FE}" dt="2026-08-04T10:45:03.756" v="387" actId="478"/>
          <ac:spMkLst>
            <pc:docMk/>
            <pc:sldMk cId="0" sldId="281"/>
            <ac:spMk id="11" creationId="{00000000-0000-0000-0000-000000000000}"/>
          </ac:spMkLst>
        </pc:spChg>
        <pc:picChg chg="add mod ord">
          <ac:chgData name="Feline Weger (s)" userId="19e9a1ac-93e0-4af5-b0e1-e47fd34b369d" providerId="ADAL" clId="{824ADC1F-7B52-4AC4-BB01-17A0F43655FE}" dt="2026-08-04T10:55:37.394" v="933" actId="1076"/>
          <ac:picMkLst>
            <pc:docMk/>
            <pc:sldMk cId="0" sldId="281"/>
            <ac:picMk id="16" creationId="{3DDF7258-75DC-CCB4-A8ED-3EA8EA400661}"/>
          </ac:picMkLst>
        </pc:picChg>
        <pc:picChg chg="mod modCrop">
          <ac:chgData name="Feline Weger (s)" userId="19e9a1ac-93e0-4af5-b0e1-e47fd34b369d" providerId="ADAL" clId="{824ADC1F-7B52-4AC4-BB01-17A0F43655FE}" dt="2026-08-04T12:41:59.249" v="3357" actId="1076"/>
          <ac:picMkLst>
            <pc:docMk/>
            <pc:sldMk cId="0" sldId="281"/>
            <ac:picMk id="25" creationId="{D55A6461-DEDE-1C4E-3F44-2FEEEB6A00B9}"/>
          </ac:picMkLst>
        </pc:picChg>
      </pc:sldChg>
      <pc:sldChg chg="addSp delSp modSp new del mod">
        <pc:chgData name="Feline Weger (s)" userId="19e9a1ac-93e0-4af5-b0e1-e47fd34b369d" providerId="ADAL" clId="{824ADC1F-7B52-4AC4-BB01-17A0F43655FE}" dt="2026-08-04T10:10:23.346" v="196" actId="2696"/>
        <pc:sldMkLst>
          <pc:docMk/>
          <pc:sldMk cId="2754616625" sldId="281"/>
        </pc:sldMkLst>
        <pc:spChg chg="add del">
          <ac:chgData name="Feline Weger (s)" userId="19e9a1ac-93e0-4af5-b0e1-e47fd34b369d" providerId="ADAL" clId="{824ADC1F-7B52-4AC4-BB01-17A0F43655FE}" dt="2026-08-04T10:09:13.445" v="184" actId="22"/>
          <ac:spMkLst>
            <pc:docMk/>
            <pc:sldMk cId="2754616625" sldId="281"/>
            <ac:spMk id="3" creationId="{C559ECB0-71CD-1F21-80D0-3E13ABC7597D}"/>
          </ac:spMkLst>
        </pc:spChg>
        <pc:spChg chg="add del">
          <ac:chgData name="Feline Weger (s)" userId="19e9a1ac-93e0-4af5-b0e1-e47fd34b369d" providerId="ADAL" clId="{824ADC1F-7B52-4AC4-BB01-17A0F43655FE}" dt="2026-08-04T10:09:14.895" v="186" actId="22"/>
          <ac:spMkLst>
            <pc:docMk/>
            <pc:sldMk cId="2754616625" sldId="281"/>
            <ac:spMk id="5" creationId="{D1822EC7-AA3A-7F98-B3A1-9C8C455D85E9}"/>
          </ac:spMkLst>
        </pc:spChg>
        <pc:spChg chg="add del">
          <ac:chgData name="Feline Weger (s)" userId="19e9a1ac-93e0-4af5-b0e1-e47fd34b369d" providerId="ADAL" clId="{824ADC1F-7B52-4AC4-BB01-17A0F43655FE}" dt="2026-08-04T10:09:20.698" v="188" actId="478"/>
          <ac:spMkLst>
            <pc:docMk/>
            <pc:sldMk cId="2754616625" sldId="281"/>
            <ac:spMk id="7" creationId="{A7F5251C-4919-AD57-BA65-197B7B594449}"/>
          </ac:spMkLst>
        </pc:spChg>
        <pc:spChg chg="add del mod">
          <ac:chgData name="Feline Weger (s)" userId="19e9a1ac-93e0-4af5-b0e1-e47fd34b369d" providerId="ADAL" clId="{824ADC1F-7B52-4AC4-BB01-17A0F43655FE}" dt="2026-08-04T10:09:40.885" v="192"/>
          <ac:spMkLst>
            <pc:docMk/>
            <pc:sldMk cId="2754616625" sldId="281"/>
            <ac:spMk id="9" creationId="{01D9FE15-05EB-7A1C-1543-C60B7ECA8ED6}"/>
          </ac:spMkLst>
        </pc:spChg>
        <pc:spChg chg="add">
          <ac:chgData name="Feline Weger (s)" userId="19e9a1ac-93e0-4af5-b0e1-e47fd34b369d" providerId="ADAL" clId="{824ADC1F-7B52-4AC4-BB01-17A0F43655FE}" dt="2026-08-04T10:10:02.029" v="195" actId="22"/>
          <ac:spMkLst>
            <pc:docMk/>
            <pc:sldMk cId="2754616625" sldId="281"/>
            <ac:spMk id="11" creationId="{E7ED8013-7351-049D-6768-276FBDB6020F}"/>
          </ac:spMkLst>
        </pc:spChg>
      </pc:sldChg>
      <pc:sldChg chg="addSp modSp mod modNotesTx">
        <pc:chgData name="Feline Weger (s)" userId="19e9a1ac-93e0-4af5-b0e1-e47fd34b369d" providerId="ADAL" clId="{824ADC1F-7B52-4AC4-BB01-17A0F43655FE}" dt="2026-08-04T13:17:31.299" v="3688" actId="20577"/>
        <pc:sldMkLst>
          <pc:docMk/>
          <pc:sldMk cId="0" sldId="283"/>
        </pc:sldMkLst>
        <pc:picChg chg="add mod">
          <ac:chgData name="Feline Weger (s)" userId="19e9a1ac-93e0-4af5-b0e1-e47fd34b369d" providerId="ADAL" clId="{824ADC1F-7B52-4AC4-BB01-17A0F43655FE}" dt="2026-08-04T10:54:12.774" v="920" actId="1076"/>
          <ac:picMkLst>
            <pc:docMk/>
            <pc:sldMk cId="0" sldId="283"/>
            <ac:picMk id="20" creationId="{3EE4F950-90AF-0834-923D-F9740E6572D0}"/>
          </ac:picMkLst>
        </pc:picChg>
      </pc:sldChg>
    </pc:docChg>
  </pc:docChgLst>
  <pc:docChgLst>
    <pc:chgData name="Sivanajani Sivakumar (s)" userId="4776fc03-dc6b-4f1f-87d3-02aad9c7f697" providerId="ADAL" clId="{E8863F7B-69DF-4DAA-A099-521D898155B5}"/>
    <pc:docChg chg="undo redo custSel addSld delSld modSld sldOrd">
      <pc:chgData name="Sivanajani Sivakumar (s)" userId="4776fc03-dc6b-4f1f-87d3-02aad9c7f697" providerId="ADAL" clId="{E8863F7B-69DF-4DAA-A099-521D898155B5}" dt="2026-08-04T13:50:28.832" v="1316" actId="20577"/>
      <pc:docMkLst>
        <pc:docMk/>
      </pc:docMkLst>
      <pc:sldChg chg="addSp modSp mod modTransition addAnim delAnim modNotesTx">
        <pc:chgData name="Sivanajani Sivakumar (s)" userId="4776fc03-dc6b-4f1f-87d3-02aad9c7f697" providerId="ADAL" clId="{E8863F7B-69DF-4DAA-A099-521D898155B5}" dt="2026-08-04T13:19:18.528" v="1249"/>
        <pc:sldMkLst>
          <pc:docMk/>
          <pc:sldMk cId="0" sldId="256"/>
        </pc:sldMkLst>
        <pc:spChg chg="mod">
          <ac:chgData name="Sivanajani Sivakumar (s)" userId="4776fc03-dc6b-4f1f-87d3-02aad9c7f697" providerId="ADAL" clId="{E8863F7B-69DF-4DAA-A099-521D898155B5}" dt="2026-08-04T12:48:16.719" v="1223" actId="1036"/>
          <ac:spMkLst>
            <pc:docMk/>
            <pc:sldMk cId="0" sldId="256"/>
            <ac:spMk id="2" creationId="{00000000-0000-0000-0000-000000000000}"/>
          </ac:spMkLst>
        </pc:spChg>
        <pc:spChg chg="mod">
          <ac:chgData name="Sivanajani Sivakumar (s)" userId="4776fc03-dc6b-4f1f-87d3-02aad9c7f697" providerId="ADAL" clId="{E8863F7B-69DF-4DAA-A099-521D898155B5}" dt="2026-08-04T12:48:16.719" v="1223" actId="1036"/>
          <ac:spMkLst>
            <pc:docMk/>
            <pc:sldMk cId="0" sldId="256"/>
            <ac:spMk id="3" creationId="{00000000-0000-0000-0000-000000000000}"/>
          </ac:spMkLst>
        </pc:spChg>
        <pc:spChg chg="mod">
          <ac:chgData name="Sivanajani Sivakumar (s)" userId="4776fc03-dc6b-4f1f-87d3-02aad9c7f697" providerId="ADAL" clId="{E8863F7B-69DF-4DAA-A099-521D898155B5}" dt="2026-08-04T12:48:16.719" v="1223" actId="1036"/>
          <ac:spMkLst>
            <pc:docMk/>
            <pc:sldMk cId="0" sldId="256"/>
            <ac:spMk id="4" creationId="{00000000-0000-0000-0000-000000000000}"/>
          </ac:spMkLst>
        </pc:spChg>
        <pc:picChg chg="add mod">
          <ac:chgData name="Sivanajani Sivakumar (s)" userId="4776fc03-dc6b-4f1f-87d3-02aad9c7f697" providerId="ADAL" clId="{E8863F7B-69DF-4DAA-A099-521D898155B5}" dt="2026-08-04T12:48:24.327" v="1224" actId="1076"/>
          <ac:picMkLst>
            <pc:docMk/>
            <pc:sldMk cId="0" sldId="256"/>
            <ac:picMk id="6" creationId="{09450D67-C853-36FE-0527-C42DD021904F}"/>
          </ac:picMkLst>
        </pc:picChg>
        <pc:picChg chg="mod modCrop">
          <ac:chgData name="Sivanajani Sivakumar (s)" userId="4776fc03-dc6b-4f1f-87d3-02aad9c7f697" providerId="ADAL" clId="{E8863F7B-69DF-4DAA-A099-521D898155B5}" dt="2026-08-04T09:48:48.310" v="91" actId="1076"/>
          <ac:picMkLst>
            <pc:docMk/>
            <pc:sldMk cId="0" sldId="256"/>
            <ac:picMk id="9" creationId="{5E7D80E6-C9FC-B71A-7B8E-22D285A80D40}"/>
          </ac:picMkLst>
        </pc:picChg>
      </pc:sldChg>
      <pc:sldChg chg="addSp modSp mod modTransition modNotesTx">
        <pc:chgData name="Sivanajani Sivakumar (s)" userId="4776fc03-dc6b-4f1f-87d3-02aad9c7f697" providerId="ADAL" clId="{E8863F7B-69DF-4DAA-A099-521D898155B5}" dt="2026-08-04T13:49:38.546" v="1310" actId="6549"/>
        <pc:sldMkLst>
          <pc:docMk/>
          <pc:sldMk cId="0" sldId="257"/>
        </pc:sldMkLst>
        <pc:spChg chg="add mod">
          <ac:chgData name="Sivanajani Sivakumar (s)" userId="4776fc03-dc6b-4f1f-87d3-02aad9c7f697" providerId="ADAL" clId="{E8863F7B-69DF-4DAA-A099-521D898155B5}" dt="2026-08-04T09:46:35.477" v="68" actId="1076"/>
          <ac:spMkLst>
            <pc:docMk/>
            <pc:sldMk cId="0" sldId="257"/>
            <ac:spMk id="31" creationId="{4D76F95C-2467-DA51-1BA6-D9385CD8807E}"/>
          </ac:spMkLst>
        </pc:spChg>
        <pc:picChg chg="add mod">
          <ac:chgData name="Sivanajani Sivakumar (s)" userId="4776fc03-dc6b-4f1f-87d3-02aad9c7f697" providerId="ADAL" clId="{E8863F7B-69DF-4DAA-A099-521D898155B5}" dt="2026-08-04T09:46:25.378" v="64" actId="1037"/>
          <ac:picMkLst>
            <pc:docMk/>
            <pc:sldMk cId="0" sldId="257"/>
            <ac:picMk id="33" creationId="{325698FF-4697-2504-AF02-6DC3CDF08D3B}"/>
          </ac:picMkLst>
        </pc:picChg>
      </pc:sldChg>
      <pc:sldChg chg="addSp mod modTransition">
        <pc:chgData name="Sivanajani Sivakumar (s)" userId="4776fc03-dc6b-4f1f-87d3-02aad9c7f697" providerId="ADAL" clId="{E8863F7B-69DF-4DAA-A099-521D898155B5}" dt="2026-08-04T12:29:37.618" v="1033"/>
        <pc:sldMkLst>
          <pc:docMk/>
          <pc:sldMk cId="0" sldId="258"/>
        </pc:sldMkLst>
        <pc:spChg chg="add">
          <ac:chgData name="Sivanajani Sivakumar (s)" userId="4776fc03-dc6b-4f1f-87d3-02aad9c7f697" providerId="ADAL" clId="{E8863F7B-69DF-4DAA-A099-521D898155B5}" dt="2026-08-04T09:46:49.775" v="69" actId="22"/>
          <ac:spMkLst>
            <pc:docMk/>
            <pc:sldMk cId="0" sldId="258"/>
            <ac:spMk id="32" creationId="{F08C4DC9-326F-38D3-5C8B-F8DB3E377204}"/>
          </ac:spMkLst>
        </pc:spChg>
        <pc:picChg chg="add">
          <ac:chgData name="Sivanajani Sivakumar (s)" userId="4776fc03-dc6b-4f1f-87d3-02aad9c7f697" providerId="ADAL" clId="{E8863F7B-69DF-4DAA-A099-521D898155B5}" dt="2026-08-04T09:46:49.775" v="69" actId="22"/>
          <ac:picMkLst>
            <pc:docMk/>
            <pc:sldMk cId="0" sldId="258"/>
            <ac:picMk id="34" creationId="{EA3319A9-1934-4BAC-0587-397D09262995}"/>
          </ac:picMkLst>
        </pc:picChg>
      </pc:sldChg>
      <pc:sldChg chg="addSp delSp modSp mod modTransition modNotesTx">
        <pc:chgData name="Sivanajani Sivakumar (s)" userId="4776fc03-dc6b-4f1f-87d3-02aad9c7f697" providerId="ADAL" clId="{E8863F7B-69DF-4DAA-A099-521D898155B5}" dt="2026-08-04T13:37:42.430" v="1266" actId="6549"/>
        <pc:sldMkLst>
          <pc:docMk/>
          <pc:sldMk cId="0" sldId="259"/>
        </pc:sldMkLst>
        <pc:spChg chg="del mod">
          <ac:chgData name="Sivanajani Sivakumar (s)" userId="4776fc03-dc6b-4f1f-87d3-02aad9c7f697" providerId="ADAL" clId="{E8863F7B-69DF-4DAA-A099-521D898155B5}" dt="2026-08-04T12:34:38.862" v="1070" actId="478"/>
          <ac:spMkLst>
            <pc:docMk/>
            <pc:sldMk cId="0" sldId="259"/>
            <ac:spMk id="4" creationId="{00000000-0000-0000-0000-000000000000}"/>
          </ac:spMkLst>
        </pc:spChg>
        <pc:spChg chg="del mod">
          <ac:chgData name="Sivanajani Sivakumar (s)" userId="4776fc03-dc6b-4f1f-87d3-02aad9c7f697" providerId="ADAL" clId="{E8863F7B-69DF-4DAA-A099-521D898155B5}" dt="2026-08-04T12:33:54.374" v="1059" actId="478"/>
          <ac:spMkLst>
            <pc:docMk/>
            <pc:sldMk cId="0" sldId="259"/>
            <ac:spMk id="5" creationId="{00000000-0000-0000-0000-000000000000}"/>
          </ac:spMkLst>
        </pc:spChg>
        <pc:spChg chg="del mod">
          <ac:chgData name="Sivanajani Sivakumar (s)" userId="4776fc03-dc6b-4f1f-87d3-02aad9c7f697" providerId="ADAL" clId="{E8863F7B-69DF-4DAA-A099-521D898155B5}" dt="2026-08-04T12:38:02.226" v="1145" actId="478"/>
          <ac:spMkLst>
            <pc:docMk/>
            <pc:sldMk cId="0" sldId="259"/>
            <ac:spMk id="6" creationId="{00000000-0000-0000-0000-000000000000}"/>
          </ac:spMkLst>
        </pc:spChg>
        <pc:spChg chg="del">
          <ac:chgData name="Sivanajani Sivakumar (s)" userId="4776fc03-dc6b-4f1f-87d3-02aad9c7f697" providerId="ADAL" clId="{E8863F7B-69DF-4DAA-A099-521D898155B5}" dt="2026-08-04T12:38:02.226" v="1145" actId="478"/>
          <ac:spMkLst>
            <pc:docMk/>
            <pc:sldMk cId="0" sldId="259"/>
            <ac:spMk id="7" creationId="{00000000-0000-0000-0000-000000000000}"/>
          </ac:spMkLst>
        </pc:spChg>
        <pc:spChg chg="del mod">
          <ac:chgData name="Sivanajani Sivakumar (s)" userId="4776fc03-dc6b-4f1f-87d3-02aad9c7f697" providerId="ADAL" clId="{E8863F7B-69DF-4DAA-A099-521D898155B5}" dt="2026-08-04T12:36:13.391" v="1100" actId="478"/>
          <ac:spMkLst>
            <pc:docMk/>
            <pc:sldMk cId="0" sldId="259"/>
            <ac:spMk id="8" creationId="{00000000-0000-0000-0000-000000000000}"/>
          </ac:spMkLst>
        </pc:spChg>
        <pc:spChg chg="del mod">
          <ac:chgData name="Sivanajani Sivakumar (s)" userId="4776fc03-dc6b-4f1f-87d3-02aad9c7f697" providerId="ADAL" clId="{E8863F7B-69DF-4DAA-A099-521D898155B5}" dt="2026-08-04T12:38:02.226" v="1145" actId="478"/>
          <ac:spMkLst>
            <pc:docMk/>
            <pc:sldMk cId="0" sldId="259"/>
            <ac:spMk id="9" creationId="{00000000-0000-0000-0000-000000000000}"/>
          </ac:spMkLst>
        </pc:spChg>
        <pc:spChg chg="del mod">
          <ac:chgData name="Sivanajani Sivakumar (s)" userId="4776fc03-dc6b-4f1f-87d3-02aad9c7f697" providerId="ADAL" clId="{E8863F7B-69DF-4DAA-A099-521D898155B5}" dt="2026-08-04T12:38:02.226" v="1145" actId="478"/>
          <ac:spMkLst>
            <pc:docMk/>
            <pc:sldMk cId="0" sldId="259"/>
            <ac:spMk id="10" creationId="{00000000-0000-0000-0000-000000000000}"/>
          </ac:spMkLst>
        </pc:spChg>
        <pc:spChg chg="del mod">
          <ac:chgData name="Sivanajani Sivakumar (s)" userId="4776fc03-dc6b-4f1f-87d3-02aad9c7f697" providerId="ADAL" clId="{E8863F7B-69DF-4DAA-A099-521D898155B5}" dt="2026-08-04T12:36:15.720" v="1101" actId="478"/>
          <ac:spMkLst>
            <pc:docMk/>
            <pc:sldMk cId="0" sldId="259"/>
            <ac:spMk id="11" creationId="{00000000-0000-0000-0000-000000000000}"/>
          </ac:spMkLst>
        </pc:spChg>
        <pc:spChg chg="del mod">
          <ac:chgData name="Sivanajani Sivakumar (s)" userId="4776fc03-dc6b-4f1f-87d3-02aad9c7f697" providerId="ADAL" clId="{E8863F7B-69DF-4DAA-A099-521D898155B5}" dt="2026-08-04T12:38:02.226" v="1145" actId="478"/>
          <ac:spMkLst>
            <pc:docMk/>
            <pc:sldMk cId="0" sldId="259"/>
            <ac:spMk id="12" creationId="{00000000-0000-0000-0000-000000000000}"/>
          </ac:spMkLst>
        </pc:spChg>
        <pc:spChg chg="del mod">
          <ac:chgData name="Sivanajani Sivakumar (s)" userId="4776fc03-dc6b-4f1f-87d3-02aad9c7f697" providerId="ADAL" clId="{E8863F7B-69DF-4DAA-A099-521D898155B5}" dt="2026-08-04T12:38:02.226" v="1145" actId="478"/>
          <ac:spMkLst>
            <pc:docMk/>
            <pc:sldMk cId="0" sldId="259"/>
            <ac:spMk id="13" creationId="{00000000-0000-0000-0000-000000000000}"/>
          </ac:spMkLst>
        </pc:spChg>
        <pc:spChg chg="del mod">
          <ac:chgData name="Sivanajani Sivakumar (s)" userId="4776fc03-dc6b-4f1f-87d3-02aad9c7f697" providerId="ADAL" clId="{E8863F7B-69DF-4DAA-A099-521D898155B5}" dt="2026-08-04T12:36:18.012" v="1102" actId="478"/>
          <ac:spMkLst>
            <pc:docMk/>
            <pc:sldMk cId="0" sldId="259"/>
            <ac:spMk id="14" creationId="{00000000-0000-0000-0000-000000000000}"/>
          </ac:spMkLst>
        </pc:spChg>
        <pc:spChg chg="add">
          <ac:chgData name="Sivanajani Sivakumar (s)" userId="4776fc03-dc6b-4f1f-87d3-02aad9c7f697" providerId="ADAL" clId="{E8863F7B-69DF-4DAA-A099-521D898155B5}" dt="2026-08-04T09:47:00.404" v="70" actId="22"/>
          <ac:spMkLst>
            <pc:docMk/>
            <pc:sldMk cId="0" sldId="259"/>
            <ac:spMk id="42" creationId="{56FEF0EC-F553-D67E-15AE-6C00F5A4F353}"/>
          </ac:spMkLst>
        </pc:spChg>
        <pc:spChg chg="add del mod">
          <ac:chgData name="Sivanajani Sivakumar (s)" userId="4776fc03-dc6b-4f1f-87d3-02aad9c7f697" providerId="ADAL" clId="{E8863F7B-69DF-4DAA-A099-521D898155B5}" dt="2026-08-04T12:38:02.226" v="1145" actId="478"/>
          <ac:spMkLst>
            <pc:docMk/>
            <pc:sldMk cId="0" sldId="259"/>
            <ac:spMk id="46" creationId="{7945DE14-7B00-68C3-4B98-4C72A41A1066}"/>
          </ac:spMkLst>
        </pc:spChg>
        <pc:spChg chg="add del mod">
          <ac:chgData name="Sivanajani Sivakumar (s)" userId="4776fc03-dc6b-4f1f-87d3-02aad9c7f697" providerId="ADAL" clId="{E8863F7B-69DF-4DAA-A099-521D898155B5}" dt="2026-08-04T12:36:11.119" v="1099" actId="478"/>
          <ac:spMkLst>
            <pc:docMk/>
            <pc:sldMk cId="0" sldId="259"/>
            <ac:spMk id="48" creationId="{4C358AEE-9031-402E-3A98-C0C061B70A6E}"/>
          </ac:spMkLst>
        </pc:spChg>
        <pc:spChg chg="add">
          <ac:chgData name="Sivanajani Sivakumar (s)" userId="4776fc03-dc6b-4f1f-87d3-02aad9c7f697" providerId="ADAL" clId="{E8863F7B-69DF-4DAA-A099-521D898155B5}" dt="2026-08-04T12:38:02.516" v="1146" actId="22"/>
          <ac:spMkLst>
            <pc:docMk/>
            <pc:sldMk cId="0" sldId="259"/>
            <ac:spMk id="50" creationId="{8E165294-AB62-F6CB-BD9F-C12BB1E6A99A}"/>
          </ac:spMkLst>
        </pc:spChg>
        <pc:spChg chg="add mod">
          <ac:chgData name="Sivanajani Sivakumar (s)" userId="4776fc03-dc6b-4f1f-87d3-02aad9c7f697" providerId="ADAL" clId="{E8863F7B-69DF-4DAA-A099-521D898155B5}" dt="2026-08-04T12:38:36.426" v="1152" actId="208"/>
          <ac:spMkLst>
            <pc:docMk/>
            <pc:sldMk cId="0" sldId="259"/>
            <ac:spMk id="52" creationId="{C57841DB-5526-397E-940F-60DA00F7C433}"/>
          </ac:spMkLst>
        </pc:spChg>
        <pc:spChg chg="add mod">
          <ac:chgData name="Sivanajani Sivakumar (s)" userId="4776fc03-dc6b-4f1f-87d3-02aad9c7f697" providerId="ADAL" clId="{E8863F7B-69DF-4DAA-A099-521D898155B5}" dt="2026-08-04T12:38:45.926" v="1153" actId="207"/>
          <ac:spMkLst>
            <pc:docMk/>
            <pc:sldMk cId="0" sldId="259"/>
            <ac:spMk id="54" creationId="{51E9EF38-668E-6121-48F4-36398552A7F9}"/>
          </ac:spMkLst>
        </pc:spChg>
        <pc:spChg chg="add">
          <ac:chgData name="Sivanajani Sivakumar (s)" userId="4776fc03-dc6b-4f1f-87d3-02aad9c7f697" providerId="ADAL" clId="{E8863F7B-69DF-4DAA-A099-521D898155B5}" dt="2026-08-04T12:38:02.516" v="1146" actId="22"/>
          <ac:spMkLst>
            <pc:docMk/>
            <pc:sldMk cId="0" sldId="259"/>
            <ac:spMk id="56" creationId="{E77E2877-D3B8-5C14-863D-27EC958CD0DA}"/>
          </ac:spMkLst>
        </pc:spChg>
        <pc:spChg chg="add">
          <ac:chgData name="Sivanajani Sivakumar (s)" userId="4776fc03-dc6b-4f1f-87d3-02aad9c7f697" providerId="ADAL" clId="{E8863F7B-69DF-4DAA-A099-521D898155B5}" dt="2026-08-04T12:38:02.516" v="1146" actId="22"/>
          <ac:spMkLst>
            <pc:docMk/>
            <pc:sldMk cId="0" sldId="259"/>
            <ac:spMk id="58" creationId="{12FC35AE-3254-481D-8AD3-EB215E470A57}"/>
          </ac:spMkLst>
        </pc:spChg>
        <pc:spChg chg="add">
          <ac:chgData name="Sivanajani Sivakumar (s)" userId="4776fc03-dc6b-4f1f-87d3-02aad9c7f697" providerId="ADAL" clId="{E8863F7B-69DF-4DAA-A099-521D898155B5}" dt="2026-08-04T12:38:02.516" v="1146" actId="22"/>
          <ac:spMkLst>
            <pc:docMk/>
            <pc:sldMk cId="0" sldId="259"/>
            <ac:spMk id="60" creationId="{425B6C28-D086-C778-12D6-262844692624}"/>
          </ac:spMkLst>
        </pc:spChg>
        <pc:spChg chg="add">
          <ac:chgData name="Sivanajani Sivakumar (s)" userId="4776fc03-dc6b-4f1f-87d3-02aad9c7f697" providerId="ADAL" clId="{E8863F7B-69DF-4DAA-A099-521D898155B5}" dt="2026-08-04T12:38:02.516" v="1146" actId="22"/>
          <ac:spMkLst>
            <pc:docMk/>
            <pc:sldMk cId="0" sldId="259"/>
            <ac:spMk id="62" creationId="{5615F568-8971-B702-6316-42A53ED634C7}"/>
          </ac:spMkLst>
        </pc:spChg>
        <pc:spChg chg="add">
          <ac:chgData name="Sivanajani Sivakumar (s)" userId="4776fc03-dc6b-4f1f-87d3-02aad9c7f697" providerId="ADAL" clId="{E8863F7B-69DF-4DAA-A099-521D898155B5}" dt="2026-08-04T12:38:02.516" v="1146" actId="22"/>
          <ac:spMkLst>
            <pc:docMk/>
            <pc:sldMk cId="0" sldId="259"/>
            <ac:spMk id="64" creationId="{4C31F587-D6E8-9F7D-57F8-795B316839CF}"/>
          </ac:spMkLst>
        </pc:spChg>
        <pc:spChg chg="add">
          <ac:chgData name="Sivanajani Sivakumar (s)" userId="4776fc03-dc6b-4f1f-87d3-02aad9c7f697" providerId="ADAL" clId="{E8863F7B-69DF-4DAA-A099-521D898155B5}" dt="2026-08-04T12:38:02.516" v="1146" actId="22"/>
          <ac:spMkLst>
            <pc:docMk/>
            <pc:sldMk cId="0" sldId="259"/>
            <ac:spMk id="66" creationId="{E1EA5920-0F84-4ED9-E72F-92D166E9DA5B}"/>
          </ac:spMkLst>
        </pc:spChg>
        <pc:spChg chg="mod">
          <ac:chgData name="Sivanajani Sivakumar (s)" userId="4776fc03-dc6b-4f1f-87d3-02aad9c7f697" providerId="ADAL" clId="{E8863F7B-69DF-4DAA-A099-521D898155B5}" dt="2026-08-04T12:38:20.755" v="1149" actId="208"/>
          <ac:spMkLst>
            <pc:docMk/>
            <pc:sldMk cId="0" sldId="259"/>
            <ac:spMk id="68" creationId="{316A8E7B-C443-EA55-3D29-F6518252D477}"/>
          </ac:spMkLst>
        </pc:spChg>
        <pc:spChg chg="add mod">
          <ac:chgData name="Sivanajani Sivakumar (s)" userId="4776fc03-dc6b-4f1f-87d3-02aad9c7f697" providerId="ADAL" clId="{E8863F7B-69DF-4DAA-A099-521D898155B5}" dt="2026-08-04T12:38:13.004" v="1147" actId="207"/>
          <ac:spMkLst>
            <pc:docMk/>
            <pc:sldMk cId="0" sldId="259"/>
            <ac:spMk id="70" creationId="{7EE4E68B-0531-0425-292B-36F650295EB8}"/>
          </ac:spMkLst>
        </pc:spChg>
        <pc:picChg chg="add">
          <ac:chgData name="Sivanajani Sivakumar (s)" userId="4776fc03-dc6b-4f1f-87d3-02aad9c7f697" providerId="ADAL" clId="{E8863F7B-69DF-4DAA-A099-521D898155B5}" dt="2026-08-04T09:47:00.404" v="70" actId="22"/>
          <ac:picMkLst>
            <pc:docMk/>
            <pc:sldMk cId="0" sldId="259"/>
            <ac:picMk id="44" creationId="{B806A198-97F2-AEF1-3DE7-3744A19DAE62}"/>
          </ac:picMkLst>
        </pc:picChg>
      </pc:sldChg>
      <pc:sldChg chg="addSp delSp modSp mod modTransition">
        <pc:chgData name="Sivanajani Sivakumar (s)" userId="4776fc03-dc6b-4f1f-87d3-02aad9c7f697" providerId="ADAL" clId="{E8863F7B-69DF-4DAA-A099-521D898155B5}" dt="2026-08-04T12:35:52.584" v="1098" actId="171"/>
        <pc:sldMkLst>
          <pc:docMk/>
          <pc:sldMk cId="0" sldId="260"/>
        </pc:sldMkLst>
        <pc:spChg chg="del">
          <ac:chgData name="Sivanajani Sivakumar (s)" userId="4776fc03-dc6b-4f1f-87d3-02aad9c7f697" providerId="ADAL" clId="{E8863F7B-69DF-4DAA-A099-521D898155B5}" dt="2026-08-04T12:31:10.790" v="1034" actId="478"/>
          <ac:spMkLst>
            <pc:docMk/>
            <pc:sldMk cId="0" sldId="260"/>
            <ac:spMk id="4" creationId="{00000000-0000-0000-0000-000000000000}"/>
          </ac:spMkLst>
        </pc:spChg>
        <pc:spChg chg="del">
          <ac:chgData name="Sivanajani Sivakumar (s)" userId="4776fc03-dc6b-4f1f-87d3-02aad9c7f697" providerId="ADAL" clId="{E8863F7B-69DF-4DAA-A099-521D898155B5}" dt="2026-08-04T12:31:10.790" v="1034" actId="478"/>
          <ac:spMkLst>
            <pc:docMk/>
            <pc:sldMk cId="0" sldId="260"/>
            <ac:spMk id="5" creationId="{00000000-0000-0000-0000-000000000000}"/>
          </ac:spMkLst>
        </pc:spChg>
        <pc:spChg chg="del">
          <ac:chgData name="Sivanajani Sivakumar (s)" userId="4776fc03-dc6b-4f1f-87d3-02aad9c7f697" providerId="ADAL" clId="{E8863F7B-69DF-4DAA-A099-521D898155B5}" dt="2026-08-04T12:31:10.790" v="1034" actId="478"/>
          <ac:spMkLst>
            <pc:docMk/>
            <pc:sldMk cId="0" sldId="260"/>
            <ac:spMk id="7" creationId="{00000000-0000-0000-0000-000000000000}"/>
          </ac:spMkLst>
        </pc:spChg>
        <pc:spChg chg="del">
          <ac:chgData name="Sivanajani Sivakumar (s)" userId="4776fc03-dc6b-4f1f-87d3-02aad9c7f697" providerId="ADAL" clId="{E8863F7B-69DF-4DAA-A099-521D898155B5}" dt="2026-08-04T12:31:10.790" v="1034" actId="478"/>
          <ac:spMkLst>
            <pc:docMk/>
            <pc:sldMk cId="0" sldId="260"/>
            <ac:spMk id="8" creationId="{00000000-0000-0000-0000-000000000000}"/>
          </ac:spMkLst>
        </pc:spChg>
        <pc:spChg chg="del">
          <ac:chgData name="Sivanajani Sivakumar (s)" userId="4776fc03-dc6b-4f1f-87d3-02aad9c7f697" providerId="ADAL" clId="{E8863F7B-69DF-4DAA-A099-521D898155B5}" dt="2026-08-04T12:31:10.790" v="1034" actId="478"/>
          <ac:spMkLst>
            <pc:docMk/>
            <pc:sldMk cId="0" sldId="260"/>
            <ac:spMk id="9" creationId="{00000000-0000-0000-0000-000000000000}"/>
          </ac:spMkLst>
        </pc:spChg>
        <pc:spChg chg="del">
          <ac:chgData name="Sivanajani Sivakumar (s)" userId="4776fc03-dc6b-4f1f-87d3-02aad9c7f697" providerId="ADAL" clId="{E8863F7B-69DF-4DAA-A099-521D898155B5}" dt="2026-08-04T12:31:10.790" v="1034" actId="478"/>
          <ac:spMkLst>
            <pc:docMk/>
            <pc:sldMk cId="0" sldId="260"/>
            <ac:spMk id="10" creationId="{00000000-0000-0000-0000-000000000000}"/>
          </ac:spMkLst>
        </pc:spChg>
        <pc:spChg chg="del">
          <ac:chgData name="Sivanajani Sivakumar (s)" userId="4776fc03-dc6b-4f1f-87d3-02aad9c7f697" providerId="ADAL" clId="{E8863F7B-69DF-4DAA-A099-521D898155B5}" dt="2026-08-04T12:31:10.790" v="1034" actId="478"/>
          <ac:spMkLst>
            <pc:docMk/>
            <pc:sldMk cId="0" sldId="260"/>
            <ac:spMk id="11" creationId="{00000000-0000-0000-0000-000000000000}"/>
          </ac:spMkLst>
        </pc:spChg>
        <pc:spChg chg="del">
          <ac:chgData name="Sivanajani Sivakumar (s)" userId="4776fc03-dc6b-4f1f-87d3-02aad9c7f697" providerId="ADAL" clId="{E8863F7B-69DF-4DAA-A099-521D898155B5}" dt="2026-08-04T12:31:10.790" v="1034" actId="478"/>
          <ac:spMkLst>
            <pc:docMk/>
            <pc:sldMk cId="0" sldId="260"/>
            <ac:spMk id="12" creationId="{00000000-0000-0000-0000-000000000000}"/>
          </ac:spMkLst>
        </pc:spChg>
        <pc:spChg chg="del">
          <ac:chgData name="Sivanajani Sivakumar (s)" userId="4776fc03-dc6b-4f1f-87d3-02aad9c7f697" providerId="ADAL" clId="{E8863F7B-69DF-4DAA-A099-521D898155B5}" dt="2026-08-04T12:31:10.790" v="1034" actId="478"/>
          <ac:spMkLst>
            <pc:docMk/>
            <pc:sldMk cId="0" sldId="260"/>
            <ac:spMk id="13" creationId="{00000000-0000-0000-0000-000000000000}"/>
          </ac:spMkLst>
        </pc:spChg>
        <pc:spChg chg="del">
          <ac:chgData name="Sivanajani Sivakumar (s)" userId="4776fc03-dc6b-4f1f-87d3-02aad9c7f697" providerId="ADAL" clId="{E8863F7B-69DF-4DAA-A099-521D898155B5}" dt="2026-08-04T12:31:10.790" v="1034" actId="478"/>
          <ac:spMkLst>
            <pc:docMk/>
            <pc:sldMk cId="0" sldId="260"/>
            <ac:spMk id="14" creationId="{00000000-0000-0000-0000-000000000000}"/>
          </ac:spMkLst>
        </pc:spChg>
        <pc:spChg chg="add">
          <ac:chgData name="Sivanajani Sivakumar (s)" userId="4776fc03-dc6b-4f1f-87d3-02aad9c7f697" providerId="ADAL" clId="{E8863F7B-69DF-4DAA-A099-521D898155B5}" dt="2026-08-04T09:47:02.700" v="71" actId="22"/>
          <ac:spMkLst>
            <pc:docMk/>
            <pc:sldMk cId="0" sldId="260"/>
            <ac:spMk id="52" creationId="{F1313E8D-C158-9D91-DD7D-F0E90ABBD535}"/>
          </ac:spMkLst>
        </pc:spChg>
        <pc:spChg chg="add del mod">
          <ac:chgData name="Sivanajani Sivakumar (s)" userId="4776fc03-dc6b-4f1f-87d3-02aad9c7f697" providerId="ADAL" clId="{E8863F7B-69DF-4DAA-A099-521D898155B5}" dt="2026-08-04T12:35:04.911" v="1076" actId="478"/>
          <ac:spMkLst>
            <pc:docMk/>
            <pc:sldMk cId="0" sldId="260"/>
            <ac:spMk id="53" creationId="{DD38C050-EB40-1F30-747E-1843B827F34A}"/>
          </ac:spMkLst>
        </pc:spChg>
        <pc:spChg chg="add del mod">
          <ac:chgData name="Sivanajani Sivakumar (s)" userId="4776fc03-dc6b-4f1f-87d3-02aad9c7f697" providerId="ADAL" clId="{E8863F7B-69DF-4DAA-A099-521D898155B5}" dt="2026-08-04T12:35:04.911" v="1076" actId="478"/>
          <ac:spMkLst>
            <pc:docMk/>
            <pc:sldMk cId="0" sldId="260"/>
            <ac:spMk id="56" creationId="{5D476AA7-A4F2-EF8B-463E-D304DAE5020C}"/>
          </ac:spMkLst>
        </pc:spChg>
        <pc:spChg chg="add del">
          <ac:chgData name="Sivanajani Sivakumar (s)" userId="4776fc03-dc6b-4f1f-87d3-02aad9c7f697" providerId="ADAL" clId="{E8863F7B-69DF-4DAA-A099-521D898155B5}" dt="2026-08-04T12:35:04.911" v="1076" actId="478"/>
          <ac:spMkLst>
            <pc:docMk/>
            <pc:sldMk cId="0" sldId="260"/>
            <ac:spMk id="58" creationId="{836B7271-0396-1430-FAF4-CD70BD129C27}"/>
          </ac:spMkLst>
        </pc:spChg>
        <pc:spChg chg="add del mod">
          <ac:chgData name="Sivanajani Sivakumar (s)" userId="4776fc03-dc6b-4f1f-87d3-02aad9c7f697" providerId="ADAL" clId="{E8863F7B-69DF-4DAA-A099-521D898155B5}" dt="2026-08-04T12:35:04.911" v="1076" actId="478"/>
          <ac:spMkLst>
            <pc:docMk/>
            <pc:sldMk cId="0" sldId="260"/>
            <ac:spMk id="61" creationId="{43BA348D-8A39-4F46-80F7-38C873672603}"/>
          </ac:spMkLst>
        </pc:spChg>
        <pc:spChg chg="add del mod">
          <ac:chgData name="Sivanajani Sivakumar (s)" userId="4776fc03-dc6b-4f1f-87d3-02aad9c7f697" providerId="ADAL" clId="{E8863F7B-69DF-4DAA-A099-521D898155B5}" dt="2026-08-04T12:35:04.911" v="1076" actId="478"/>
          <ac:spMkLst>
            <pc:docMk/>
            <pc:sldMk cId="0" sldId="260"/>
            <ac:spMk id="63" creationId="{034A244F-2FBF-CD98-E0E3-2CBCFD7A0C26}"/>
          </ac:spMkLst>
        </pc:spChg>
        <pc:spChg chg="add del">
          <ac:chgData name="Sivanajani Sivakumar (s)" userId="4776fc03-dc6b-4f1f-87d3-02aad9c7f697" providerId="ADAL" clId="{E8863F7B-69DF-4DAA-A099-521D898155B5}" dt="2026-08-04T12:35:04.911" v="1076" actId="478"/>
          <ac:spMkLst>
            <pc:docMk/>
            <pc:sldMk cId="0" sldId="260"/>
            <ac:spMk id="69" creationId="{017EF2D9-2F4B-4BFC-0342-15D60758D516}"/>
          </ac:spMkLst>
        </pc:spChg>
        <pc:spChg chg="add del">
          <ac:chgData name="Sivanajani Sivakumar (s)" userId="4776fc03-dc6b-4f1f-87d3-02aad9c7f697" providerId="ADAL" clId="{E8863F7B-69DF-4DAA-A099-521D898155B5}" dt="2026-08-04T12:35:04.911" v="1076" actId="478"/>
          <ac:spMkLst>
            <pc:docMk/>
            <pc:sldMk cId="0" sldId="260"/>
            <ac:spMk id="71" creationId="{41369829-AF83-22A8-E0BE-D68E825C735D}"/>
          </ac:spMkLst>
        </pc:spChg>
        <pc:spChg chg="add del">
          <ac:chgData name="Sivanajani Sivakumar (s)" userId="4776fc03-dc6b-4f1f-87d3-02aad9c7f697" providerId="ADAL" clId="{E8863F7B-69DF-4DAA-A099-521D898155B5}" dt="2026-08-04T12:35:04.911" v="1076" actId="478"/>
          <ac:spMkLst>
            <pc:docMk/>
            <pc:sldMk cId="0" sldId="260"/>
            <ac:spMk id="73" creationId="{4F23B381-D5FF-188A-FD89-7F1FD3F7956E}"/>
          </ac:spMkLst>
        </pc:spChg>
        <pc:spChg chg="add del">
          <ac:chgData name="Sivanajani Sivakumar (s)" userId="4776fc03-dc6b-4f1f-87d3-02aad9c7f697" providerId="ADAL" clId="{E8863F7B-69DF-4DAA-A099-521D898155B5}" dt="2026-08-04T12:35:04.911" v="1076" actId="478"/>
          <ac:spMkLst>
            <pc:docMk/>
            <pc:sldMk cId="0" sldId="260"/>
            <ac:spMk id="77" creationId="{CD21BD82-92F4-D0AB-DDDE-2AB3F2AD6BBE}"/>
          </ac:spMkLst>
        </pc:spChg>
        <pc:spChg chg="add del">
          <ac:chgData name="Sivanajani Sivakumar (s)" userId="4776fc03-dc6b-4f1f-87d3-02aad9c7f697" providerId="ADAL" clId="{E8863F7B-69DF-4DAA-A099-521D898155B5}" dt="2026-08-04T12:35:04.911" v="1076" actId="478"/>
          <ac:spMkLst>
            <pc:docMk/>
            <pc:sldMk cId="0" sldId="260"/>
            <ac:spMk id="79" creationId="{87572130-014A-D8EA-D1B7-389FFC35B414}"/>
          </ac:spMkLst>
        </pc:spChg>
        <pc:spChg chg="add">
          <ac:chgData name="Sivanajani Sivakumar (s)" userId="4776fc03-dc6b-4f1f-87d3-02aad9c7f697" providerId="ADAL" clId="{E8863F7B-69DF-4DAA-A099-521D898155B5}" dt="2026-08-04T12:35:05.246" v="1077" actId="22"/>
          <ac:spMkLst>
            <pc:docMk/>
            <pc:sldMk cId="0" sldId="260"/>
            <ac:spMk id="81" creationId="{605D5C2E-40FB-8E54-80EA-FECE1E7E9653}"/>
          </ac:spMkLst>
        </pc:spChg>
        <pc:spChg chg="add mod">
          <ac:chgData name="Sivanajani Sivakumar (s)" userId="4776fc03-dc6b-4f1f-87d3-02aad9c7f697" providerId="ADAL" clId="{E8863F7B-69DF-4DAA-A099-521D898155B5}" dt="2026-08-04T12:35:09.200" v="1079" actId="208"/>
          <ac:spMkLst>
            <pc:docMk/>
            <pc:sldMk cId="0" sldId="260"/>
            <ac:spMk id="83" creationId="{056E16CA-CD11-C822-5F61-183E2ED2227C}"/>
          </ac:spMkLst>
        </pc:spChg>
        <pc:spChg chg="add mod">
          <ac:chgData name="Sivanajani Sivakumar (s)" userId="4776fc03-dc6b-4f1f-87d3-02aad9c7f697" providerId="ADAL" clId="{E8863F7B-69DF-4DAA-A099-521D898155B5}" dt="2026-08-04T12:35:15.429" v="1080" actId="207"/>
          <ac:spMkLst>
            <pc:docMk/>
            <pc:sldMk cId="0" sldId="260"/>
            <ac:spMk id="85" creationId="{5E9628E2-B3D2-E9CE-EE4F-17106C63F95C}"/>
          </ac:spMkLst>
        </pc:spChg>
        <pc:spChg chg="add">
          <ac:chgData name="Sivanajani Sivakumar (s)" userId="4776fc03-dc6b-4f1f-87d3-02aad9c7f697" providerId="ADAL" clId="{E8863F7B-69DF-4DAA-A099-521D898155B5}" dt="2026-08-04T12:35:05.246" v="1077" actId="22"/>
          <ac:spMkLst>
            <pc:docMk/>
            <pc:sldMk cId="0" sldId="260"/>
            <ac:spMk id="87" creationId="{5DDCAB1D-4546-ECFB-57DE-E002F5F9D42C}"/>
          </ac:spMkLst>
        </pc:spChg>
        <pc:spChg chg="add">
          <ac:chgData name="Sivanajani Sivakumar (s)" userId="4776fc03-dc6b-4f1f-87d3-02aad9c7f697" providerId="ADAL" clId="{E8863F7B-69DF-4DAA-A099-521D898155B5}" dt="2026-08-04T12:35:05.246" v="1077" actId="22"/>
          <ac:spMkLst>
            <pc:docMk/>
            <pc:sldMk cId="0" sldId="260"/>
            <ac:spMk id="91" creationId="{29F889C1-6157-AE68-8ECC-C60CB63CDB87}"/>
          </ac:spMkLst>
        </pc:spChg>
        <pc:spChg chg="add">
          <ac:chgData name="Sivanajani Sivakumar (s)" userId="4776fc03-dc6b-4f1f-87d3-02aad9c7f697" providerId="ADAL" clId="{E8863F7B-69DF-4DAA-A099-521D898155B5}" dt="2026-08-04T12:35:05.246" v="1077" actId="22"/>
          <ac:spMkLst>
            <pc:docMk/>
            <pc:sldMk cId="0" sldId="260"/>
            <ac:spMk id="93" creationId="{4C1D7830-F990-1296-1B20-CF6736D4A8A0}"/>
          </ac:spMkLst>
        </pc:spChg>
        <pc:spChg chg="add">
          <ac:chgData name="Sivanajani Sivakumar (s)" userId="4776fc03-dc6b-4f1f-87d3-02aad9c7f697" providerId="ADAL" clId="{E8863F7B-69DF-4DAA-A099-521D898155B5}" dt="2026-08-04T12:35:05.246" v="1077" actId="22"/>
          <ac:spMkLst>
            <pc:docMk/>
            <pc:sldMk cId="0" sldId="260"/>
            <ac:spMk id="95" creationId="{35D4F1B4-4E21-C885-5C14-7EA8549EEF73}"/>
          </ac:spMkLst>
        </pc:spChg>
        <pc:spChg chg="add">
          <ac:chgData name="Sivanajani Sivakumar (s)" userId="4776fc03-dc6b-4f1f-87d3-02aad9c7f697" providerId="ADAL" clId="{E8863F7B-69DF-4DAA-A099-521D898155B5}" dt="2026-08-04T12:35:05.246" v="1077" actId="22"/>
          <ac:spMkLst>
            <pc:docMk/>
            <pc:sldMk cId="0" sldId="260"/>
            <ac:spMk id="97" creationId="{75FF232B-8F16-9A23-DD8F-3ACA6C960543}"/>
          </ac:spMkLst>
        </pc:spChg>
        <pc:spChg chg="add mod ord">
          <ac:chgData name="Sivanajani Sivakumar (s)" userId="4776fc03-dc6b-4f1f-87d3-02aad9c7f697" providerId="ADAL" clId="{E8863F7B-69DF-4DAA-A099-521D898155B5}" dt="2026-08-04T12:35:52.584" v="1098" actId="171"/>
          <ac:spMkLst>
            <pc:docMk/>
            <pc:sldMk cId="0" sldId="260"/>
            <ac:spMk id="99" creationId="{F37A456F-5D0D-A6F1-32D2-4B509CFBC06C}"/>
          </ac:spMkLst>
        </pc:spChg>
        <pc:spChg chg="add mod ord">
          <ac:chgData name="Sivanajani Sivakumar (s)" userId="4776fc03-dc6b-4f1f-87d3-02aad9c7f697" providerId="ADAL" clId="{E8863F7B-69DF-4DAA-A099-521D898155B5}" dt="2026-08-04T12:35:46.425" v="1095" actId="171"/>
          <ac:spMkLst>
            <pc:docMk/>
            <pc:sldMk cId="0" sldId="260"/>
            <ac:spMk id="101" creationId="{1CC0F9BB-6BD5-E54B-8320-ADAE3610E8BC}"/>
          </ac:spMkLst>
        </pc:spChg>
        <pc:picChg chg="add">
          <ac:chgData name="Sivanajani Sivakumar (s)" userId="4776fc03-dc6b-4f1f-87d3-02aad9c7f697" providerId="ADAL" clId="{E8863F7B-69DF-4DAA-A099-521D898155B5}" dt="2026-08-04T09:47:02.700" v="71" actId="22"/>
          <ac:picMkLst>
            <pc:docMk/>
            <pc:sldMk cId="0" sldId="260"/>
            <ac:picMk id="54" creationId="{2F53C201-614E-33D9-A520-86AE47724283}"/>
          </ac:picMkLst>
        </pc:picChg>
      </pc:sldChg>
      <pc:sldChg chg="addSp mod modTransition">
        <pc:chgData name="Sivanajani Sivakumar (s)" userId="4776fc03-dc6b-4f1f-87d3-02aad9c7f697" providerId="ADAL" clId="{E8863F7B-69DF-4DAA-A099-521D898155B5}" dt="2026-08-04T12:29:37.618" v="1033"/>
        <pc:sldMkLst>
          <pc:docMk/>
          <pc:sldMk cId="0" sldId="261"/>
        </pc:sldMkLst>
        <pc:spChg chg="add">
          <ac:chgData name="Sivanajani Sivakumar (s)" userId="4776fc03-dc6b-4f1f-87d3-02aad9c7f697" providerId="ADAL" clId="{E8863F7B-69DF-4DAA-A099-521D898155B5}" dt="2026-08-04T09:47:04.260" v="72" actId="22"/>
          <ac:spMkLst>
            <pc:docMk/>
            <pc:sldMk cId="0" sldId="261"/>
            <ac:spMk id="17" creationId="{8ED1CECA-5761-B054-1CBD-876832BF1162}"/>
          </ac:spMkLst>
        </pc:spChg>
        <pc:picChg chg="add">
          <ac:chgData name="Sivanajani Sivakumar (s)" userId="4776fc03-dc6b-4f1f-87d3-02aad9c7f697" providerId="ADAL" clId="{E8863F7B-69DF-4DAA-A099-521D898155B5}" dt="2026-08-04T09:47:04.260" v="72" actId="22"/>
          <ac:picMkLst>
            <pc:docMk/>
            <pc:sldMk cId="0" sldId="261"/>
            <ac:picMk id="19" creationId="{709BB3B8-5E39-5260-6B07-03E4381678C9}"/>
          </ac:picMkLst>
        </pc:picChg>
      </pc:sldChg>
      <pc:sldChg chg="addSp delSp modSp mod modTransition">
        <pc:chgData name="Sivanajani Sivakumar (s)" userId="4776fc03-dc6b-4f1f-87d3-02aad9c7f697" providerId="ADAL" clId="{E8863F7B-69DF-4DAA-A099-521D898155B5}" dt="2026-08-04T12:29:37.618" v="1033"/>
        <pc:sldMkLst>
          <pc:docMk/>
          <pc:sldMk cId="0" sldId="262"/>
        </pc:sldMkLst>
        <pc:spChg chg="mod">
          <ac:chgData name="Sivanajani Sivakumar (s)" userId="4776fc03-dc6b-4f1f-87d3-02aad9c7f697" providerId="ADAL" clId="{E8863F7B-69DF-4DAA-A099-521D898155B5}" dt="2026-08-04T12:22:24.459" v="883" actId="20577"/>
          <ac:spMkLst>
            <pc:docMk/>
            <pc:sldMk cId="0" sldId="262"/>
            <ac:spMk id="3" creationId="{00000000-0000-0000-0000-000000000000}"/>
          </ac:spMkLst>
        </pc:spChg>
        <pc:spChg chg="mod">
          <ac:chgData name="Sivanajani Sivakumar (s)" userId="4776fc03-dc6b-4f1f-87d3-02aad9c7f697" providerId="ADAL" clId="{E8863F7B-69DF-4DAA-A099-521D898155B5}" dt="2026-08-04T12:22:28.062" v="885" actId="20577"/>
          <ac:spMkLst>
            <pc:docMk/>
            <pc:sldMk cId="0" sldId="262"/>
            <ac:spMk id="16" creationId="{00000000-0000-0000-0000-000000000000}"/>
          </ac:spMkLst>
        </pc:spChg>
        <pc:spChg chg="mod">
          <ac:chgData name="Sivanajani Sivakumar (s)" userId="4776fc03-dc6b-4f1f-87d3-02aad9c7f697" providerId="ADAL" clId="{E8863F7B-69DF-4DAA-A099-521D898155B5}" dt="2026-08-04T12:22:38.705" v="893" actId="6549"/>
          <ac:spMkLst>
            <pc:docMk/>
            <pc:sldMk cId="0" sldId="262"/>
            <ac:spMk id="19" creationId="{00000000-0000-0000-0000-000000000000}"/>
          </ac:spMkLst>
        </pc:spChg>
        <pc:spChg chg="mod">
          <ac:chgData name="Sivanajani Sivakumar (s)" userId="4776fc03-dc6b-4f1f-87d3-02aad9c7f697" providerId="ADAL" clId="{E8863F7B-69DF-4DAA-A099-521D898155B5}" dt="2026-08-04T12:22:46.057" v="895" actId="6549"/>
          <ac:spMkLst>
            <pc:docMk/>
            <pc:sldMk cId="0" sldId="262"/>
            <ac:spMk id="25" creationId="{00000000-0000-0000-0000-000000000000}"/>
          </ac:spMkLst>
        </pc:spChg>
        <pc:spChg chg="add">
          <ac:chgData name="Sivanajani Sivakumar (s)" userId="4776fc03-dc6b-4f1f-87d3-02aad9c7f697" providerId="ADAL" clId="{E8863F7B-69DF-4DAA-A099-521D898155B5}" dt="2026-08-04T09:47:06.855" v="73" actId="22"/>
          <ac:spMkLst>
            <pc:docMk/>
            <pc:sldMk cId="0" sldId="262"/>
            <ac:spMk id="71" creationId="{C8E62043-959F-85D9-9FB7-3EE89F7EF2C1}"/>
          </ac:spMkLst>
        </pc:spChg>
        <pc:spChg chg="add del">
          <ac:chgData name="Sivanajani Sivakumar (s)" userId="4776fc03-dc6b-4f1f-87d3-02aad9c7f697" providerId="ADAL" clId="{E8863F7B-69DF-4DAA-A099-521D898155B5}" dt="2026-08-04T12:23:28.788" v="897" actId="22"/>
          <ac:spMkLst>
            <pc:docMk/>
            <pc:sldMk cId="0" sldId="262"/>
            <ac:spMk id="72" creationId="{D8592464-D699-D643-098E-F13E2EB63A44}"/>
          </ac:spMkLst>
        </pc:spChg>
        <pc:picChg chg="add">
          <ac:chgData name="Sivanajani Sivakumar (s)" userId="4776fc03-dc6b-4f1f-87d3-02aad9c7f697" providerId="ADAL" clId="{E8863F7B-69DF-4DAA-A099-521D898155B5}" dt="2026-08-04T09:47:06.855" v="73" actId="22"/>
          <ac:picMkLst>
            <pc:docMk/>
            <pc:sldMk cId="0" sldId="262"/>
            <ac:picMk id="73" creationId="{4052E7EF-6C17-3048-580E-BD5DC3DCBF16}"/>
          </ac:picMkLst>
        </pc:picChg>
      </pc:sldChg>
      <pc:sldChg chg="addSp mod modTransition">
        <pc:chgData name="Sivanajani Sivakumar (s)" userId="4776fc03-dc6b-4f1f-87d3-02aad9c7f697" providerId="ADAL" clId="{E8863F7B-69DF-4DAA-A099-521D898155B5}" dt="2026-08-04T12:29:37.618" v="1033"/>
        <pc:sldMkLst>
          <pc:docMk/>
          <pc:sldMk cId="0" sldId="263"/>
        </pc:sldMkLst>
        <pc:spChg chg="add">
          <ac:chgData name="Sivanajani Sivakumar (s)" userId="4776fc03-dc6b-4f1f-87d3-02aad9c7f697" providerId="ADAL" clId="{E8863F7B-69DF-4DAA-A099-521D898155B5}" dt="2026-08-04T09:47:08.954" v="74" actId="22"/>
          <ac:spMkLst>
            <pc:docMk/>
            <pc:sldMk cId="0" sldId="263"/>
            <ac:spMk id="42" creationId="{6A65F156-F433-8659-5012-969E5CD7E5E5}"/>
          </ac:spMkLst>
        </pc:spChg>
        <pc:picChg chg="add">
          <ac:chgData name="Sivanajani Sivakumar (s)" userId="4776fc03-dc6b-4f1f-87d3-02aad9c7f697" providerId="ADAL" clId="{E8863F7B-69DF-4DAA-A099-521D898155B5}" dt="2026-08-04T09:47:08.954" v="74" actId="22"/>
          <ac:picMkLst>
            <pc:docMk/>
            <pc:sldMk cId="0" sldId="263"/>
            <ac:picMk id="44" creationId="{25B63C49-7186-4F54-52FE-63257949D89A}"/>
          </ac:picMkLst>
        </pc:picChg>
      </pc:sldChg>
      <pc:sldChg chg="addSp mod modTransition">
        <pc:chgData name="Sivanajani Sivakumar (s)" userId="4776fc03-dc6b-4f1f-87d3-02aad9c7f697" providerId="ADAL" clId="{E8863F7B-69DF-4DAA-A099-521D898155B5}" dt="2026-08-04T12:29:37.618" v="1033"/>
        <pc:sldMkLst>
          <pc:docMk/>
          <pc:sldMk cId="0" sldId="264"/>
        </pc:sldMkLst>
        <pc:spChg chg="add">
          <ac:chgData name="Sivanajani Sivakumar (s)" userId="4776fc03-dc6b-4f1f-87d3-02aad9c7f697" providerId="ADAL" clId="{E8863F7B-69DF-4DAA-A099-521D898155B5}" dt="2026-08-04T09:47:11.470" v="75" actId="22"/>
          <ac:spMkLst>
            <pc:docMk/>
            <pc:sldMk cId="0" sldId="264"/>
            <ac:spMk id="48" creationId="{81564FAB-9497-B1B6-90DD-BCE1BC45B760}"/>
          </ac:spMkLst>
        </pc:spChg>
        <pc:picChg chg="add">
          <ac:chgData name="Sivanajani Sivakumar (s)" userId="4776fc03-dc6b-4f1f-87d3-02aad9c7f697" providerId="ADAL" clId="{E8863F7B-69DF-4DAA-A099-521D898155B5}" dt="2026-08-04T09:47:11.470" v="75" actId="22"/>
          <ac:picMkLst>
            <pc:docMk/>
            <pc:sldMk cId="0" sldId="264"/>
            <ac:picMk id="50" creationId="{F8A65A0B-BBCB-D930-126A-24EA9E900F5C}"/>
          </ac:picMkLst>
        </pc:picChg>
      </pc:sldChg>
      <pc:sldChg chg="addSp mod modTransition modNotesTx">
        <pc:chgData name="Sivanajani Sivakumar (s)" userId="4776fc03-dc6b-4f1f-87d3-02aad9c7f697" providerId="ADAL" clId="{E8863F7B-69DF-4DAA-A099-521D898155B5}" dt="2026-08-04T13:50:20.899" v="1315" actId="20577"/>
        <pc:sldMkLst>
          <pc:docMk/>
          <pc:sldMk cId="0" sldId="265"/>
        </pc:sldMkLst>
        <pc:spChg chg="add">
          <ac:chgData name="Sivanajani Sivakumar (s)" userId="4776fc03-dc6b-4f1f-87d3-02aad9c7f697" providerId="ADAL" clId="{E8863F7B-69DF-4DAA-A099-521D898155B5}" dt="2026-08-04T09:47:13.270" v="76" actId="22"/>
          <ac:spMkLst>
            <pc:docMk/>
            <pc:sldMk cId="0" sldId="265"/>
            <ac:spMk id="35" creationId="{A19280E5-9680-01C1-136B-E412207F2EF7}"/>
          </ac:spMkLst>
        </pc:spChg>
        <pc:picChg chg="add">
          <ac:chgData name="Sivanajani Sivakumar (s)" userId="4776fc03-dc6b-4f1f-87d3-02aad9c7f697" providerId="ADAL" clId="{E8863F7B-69DF-4DAA-A099-521D898155B5}" dt="2026-08-04T09:47:13.270" v="76" actId="22"/>
          <ac:picMkLst>
            <pc:docMk/>
            <pc:sldMk cId="0" sldId="265"/>
            <ac:picMk id="37" creationId="{BFD29B04-3DF1-77B5-2481-493DA708075F}"/>
          </ac:picMkLst>
        </pc:picChg>
      </pc:sldChg>
      <pc:sldChg chg="addSp delSp modSp mod modTransition modNotesTx">
        <pc:chgData name="Sivanajani Sivakumar (s)" userId="4776fc03-dc6b-4f1f-87d3-02aad9c7f697" providerId="ADAL" clId="{E8863F7B-69DF-4DAA-A099-521D898155B5}" dt="2026-08-04T12:29:37.618" v="1033"/>
        <pc:sldMkLst>
          <pc:docMk/>
          <pc:sldMk cId="0" sldId="266"/>
        </pc:sldMkLst>
        <pc:spChg chg="mod">
          <ac:chgData name="Sivanajani Sivakumar (s)" userId="4776fc03-dc6b-4f1f-87d3-02aad9c7f697" providerId="ADAL" clId="{E8863F7B-69DF-4DAA-A099-521D898155B5}" dt="2026-08-04T12:28:10.255" v="1030" actId="20577"/>
          <ac:spMkLst>
            <pc:docMk/>
            <pc:sldMk cId="0" sldId="266"/>
            <ac:spMk id="3" creationId="{00000000-0000-0000-0000-000000000000}"/>
          </ac:spMkLst>
        </pc:spChg>
        <pc:spChg chg="del">
          <ac:chgData name="Sivanajani Sivakumar (s)" userId="4776fc03-dc6b-4f1f-87d3-02aad9c7f697" providerId="ADAL" clId="{E8863F7B-69DF-4DAA-A099-521D898155B5}" dt="2026-08-04T12:27:17.117" v="924" actId="478"/>
          <ac:spMkLst>
            <pc:docMk/>
            <pc:sldMk cId="0" sldId="266"/>
            <ac:spMk id="6" creationId="{00000000-0000-0000-0000-000000000000}"/>
          </ac:spMkLst>
        </pc:spChg>
        <pc:spChg chg="del">
          <ac:chgData name="Sivanajani Sivakumar (s)" userId="4776fc03-dc6b-4f1f-87d3-02aad9c7f697" providerId="ADAL" clId="{E8863F7B-69DF-4DAA-A099-521D898155B5}" dt="2026-08-04T12:27:17.117" v="924" actId="478"/>
          <ac:spMkLst>
            <pc:docMk/>
            <pc:sldMk cId="0" sldId="266"/>
            <ac:spMk id="7" creationId="{00000000-0000-0000-0000-000000000000}"/>
          </ac:spMkLst>
        </pc:spChg>
        <pc:spChg chg="del">
          <ac:chgData name="Sivanajani Sivakumar (s)" userId="4776fc03-dc6b-4f1f-87d3-02aad9c7f697" providerId="ADAL" clId="{E8863F7B-69DF-4DAA-A099-521D898155B5}" dt="2026-08-04T12:27:17.117" v="924" actId="478"/>
          <ac:spMkLst>
            <pc:docMk/>
            <pc:sldMk cId="0" sldId="266"/>
            <ac:spMk id="8" creationId="{00000000-0000-0000-0000-000000000000}"/>
          </ac:spMkLst>
        </pc:spChg>
        <pc:spChg chg="del">
          <ac:chgData name="Sivanajani Sivakumar (s)" userId="4776fc03-dc6b-4f1f-87d3-02aad9c7f697" providerId="ADAL" clId="{E8863F7B-69DF-4DAA-A099-521D898155B5}" dt="2026-08-04T12:27:17.117" v="924" actId="478"/>
          <ac:spMkLst>
            <pc:docMk/>
            <pc:sldMk cId="0" sldId="266"/>
            <ac:spMk id="9" creationId="{00000000-0000-0000-0000-000000000000}"/>
          </ac:spMkLst>
        </pc:spChg>
        <pc:spChg chg="del">
          <ac:chgData name="Sivanajani Sivakumar (s)" userId="4776fc03-dc6b-4f1f-87d3-02aad9c7f697" providerId="ADAL" clId="{E8863F7B-69DF-4DAA-A099-521D898155B5}" dt="2026-08-04T12:27:17.117" v="924" actId="478"/>
          <ac:spMkLst>
            <pc:docMk/>
            <pc:sldMk cId="0" sldId="266"/>
            <ac:spMk id="11" creationId="{00000000-0000-0000-0000-000000000000}"/>
          </ac:spMkLst>
        </pc:spChg>
        <pc:spChg chg="del">
          <ac:chgData name="Sivanajani Sivakumar (s)" userId="4776fc03-dc6b-4f1f-87d3-02aad9c7f697" providerId="ADAL" clId="{E8863F7B-69DF-4DAA-A099-521D898155B5}" dt="2026-08-04T12:27:17.117" v="924" actId="478"/>
          <ac:spMkLst>
            <pc:docMk/>
            <pc:sldMk cId="0" sldId="266"/>
            <ac:spMk id="12" creationId="{00000000-0000-0000-0000-000000000000}"/>
          </ac:spMkLst>
        </pc:spChg>
        <pc:spChg chg="del">
          <ac:chgData name="Sivanajani Sivakumar (s)" userId="4776fc03-dc6b-4f1f-87d3-02aad9c7f697" providerId="ADAL" clId="{E8863F7B-69DF-4DAA-A099-521D898155B5}" dt="2026-08-04T12:27:17.117" v="924" actId="478"/>
          <ac:spMkLst>
            <pc:docMk/>
            <pc:sldMk cId="0" sldId="266"/>
            <ac:spMk id="13" creationId="{00000000-0000-0000-0000-000000000000}"/>
          </ac:spMkLst>
        </pc:spChg>
        <pc:spChg chg="del">
          <ac:chgData name="Sivanajani Sivakumar (s)" userId="4776fc03-dc6b-4f1f-87d3-02aad9c7f697" providerId="ADAL" clId="{E8863F7B-69DF-4DAA-A099-521D898155B5}" dt="2026-08-04T12:27:17.117" v="924" actId="478"/>
          <ac:spMkLst>
            <pc:docMk/>
            <pc:sldMk cId="0" sldId="266"/>
            <ac:spMk id="15" creationId="{00000000-0000-0000-0000-000000000000}"/>
          </ac:spMkLst>
        </pc:spChg>
        <pc:spChg chg="del">
          <ac:chgData name="Sivanajani Sivakumar (s)" userId="4776fc03-dc6b-4f1f-87d3-02aad9c7f697" providerId="ADAL" clId="{E8863F7B-69DF-4DAA-A099-521D898155B5}" dt="2026-08-04T12:27:17.117" v="924" actId="478"/>
          <ac:spMkLst>
            <pc:docMk/>
            <pc:sldMk cId="0" sldId="266"/>
            <ac:spMk id="16" creationId="{00000000-0000-0000-0000-000000000000}"/>
          </ac:spMkLst>
        </pc:spChg>
        <pc:spChg chg="del">
          <ac:chgData name="Sivanajani Sivakumar (s)" userId="4776fc03-dc6b-4f1f-87d3-02aad9c7f697" providerId="ADAL" clId="{E8863F7B-69DF-4DAA-A099-521D898155B5}" dt="2026-08-04T12:27:17.117" v="924" actId="478"/>
          <ac:spMkLst>
            <pc:docMk/>
            <pc:sldMk cId="0" sldId="266"/>
            <ac:spMk id="17" creationId="{00000000-0000-0000-0000-000000000000}"/>
          </ac:spMkLst>
        </pc:spChg>
        <pc:spChg chg="del mod">
          <ac:chgData name="Sivanajani Sivakumar (s)" userId="4776fc03-dc6b-4f1f-87d3-02aad9c7f697" providerId="ADAL" clId="{E8863F7B-69DF-4DAA-A099-521D898155B5}" dt="2026-08-04T12:27:33.826" v="927" actId="478"/>
          <ac:spMkLst>
            <pc:docMk/>
            <pc:sldMk cId="0" sldId="266"/>
            <ac:spMk id="18" creationId="{00000000-0000-0000-0000-000000000000}"/>
          </ac:spMkLst>
        </pc:spChg>
        <pc:spChg chg="del mod">
          <ac:chgData name="Sivanajani Sivakumar (s)" userId="4776fc03-dc6b-4f1f-87d3-02aad9c7f697" providerId="ADAL" clId="{E8863F7B-69DF-4DAA-A099-521D898155B5}" dt="2026-08-04T12:27:33.826" v="927" actId="478"/>
          <ac:spMkLst>
            <pc:docMk/>
            <pc:sldMk cId="0" sldId="266"/>
            <ac:spMk id="19" creationId="{00000000-0000-0000-0000-000000000000}"/>
          </ac:spMkLst>
        </pc:spChg>
        <pc:spChg chg="del mod">
          <ac:chgData name="Sivanajani Sivakumar (s)" userId="4776fc03-dc6b-4f1f-87d3-02aad9c7f697" providerId="ADAL" clId="{E8863F7B-69DF-4DAA-A099-521D898155B5}" dt="2026-08-04T12:27:33.826" v="927" actId="478"/>
          <ac:spMkLst>
            <pc:docMk/>
            <pc:sldMk cId="0" sldId="266"/>
            <ac:spMk id="20" creationId="{00000000-0000-0000-0000-000000000000}"/>
          </ac:spMkLst>
        </pc:spChg>
        <pc:spChg chg="del mod">
          <ac:chgData name="Sivanajani Sivakumar (s)" userId="4776fc03-dc6b-4f1f-87d3-02aad9c7f697" providerId="ADAL" clId="{E8863F7B-69DF-4DAA-A099-521D898155B5}" dt="2026-08-04T12:26:03.959" v="921" actId="478"/>
          <ac:spMkLst>
            <pc:docMk/>
            <pc:sldMk cId="0" sldId="266"/>
            <ac:spMk id="21" creationId="{00000000-0000-0000-0000-000000000000}"/>
          </ac:spMkLst>
        </pc:spChg>
        <pc:spChg chg="add">
          <ac:chgData name="Sivanajani Sivakumar (s)" userId="4776fc03-dc6b-4f1f-87d3-02aad9c7f697" providerId="ADAL" clId="{E8863F7B-69DF-4DAA-A099-521D898155B5}" dt="2026-08-04T09:47:15.263" v="77" actId="22"/>
          <ac:spMkLst>
            <pc:docMk/>
            <pc:sldMk cId="0" sldId="266"/>
            <ac:spMk id="23" creationId="{D56F5EE8-5BF2-E3F5-F6F1-9901C91A1157}"/>
          </ac:spMkLst>
        </pc:spChg>
        <pc:spChg chg="add mod">
          <ac:chgData name="Sivanajani Sivakumar (s)" userId="4776fc03-dc6b-4f1f-87d3-02aad9c7f697" providerId="ADAL" clId="{E8863F7B-69DF-4DAA-A099-521D898155B5}" dt="2026-08-04T12:28:24.636" v="1032" actId="1076"/>
          <ac:spMkLst>
            <pc:docMk/>
            <pc:sldMk cId="0" sldId="266"/>
            <ac:spMk id="24" creationId="{1B926037-B73B-A66E-064C-0E25EDDF84EB}"/>
          </ac:spMkLst>
        </pc:spChg>
        <pc:spChg chg="add mod">
          <ac:chgData name="Sivanajani Sivakumar (s)" userId="4776fc03-dc6b-4f1f-87d3-02aad9c7f697" providerId="ADAL" clId="{E8863F7B-69DF-4DAA-A099-521D898155B5}" dt="2026-08-04T12:28:24.636" v="1032" actId="1076"/>
          <ac:spMkLst>
            <pc:docMk/>
            <pc:sldMk cId="0" sldId="266"/>
            <ac:spMk id="29" creationId="{53E56DB5-F336-3FFB-80BA-9B702A160CEC}"/>
          </ac:spMkLst>
        </pc:spChg>
        <pc:spChg chg="add mod">
          <ac:chgData name="Sivanajani Sivakumar (s)" userId="4776fc03-dc6b-4f1f-87d3-02aad9c7f697" providerId="ADAL" clId="{E8863F7B-69DF-4DAA-A099-521D898155B5}" dt="2026-08-04T12:28:24.636" v="1032" actId="1076"/>
          <ac:spMkLst>
            <pc:docMk/>
            <pc:sldMk cId="0" sldId="266"/>
            <ac:spMk id="31" creationId="{9AABF297-19F9-E811-8288-17A2604F801E}"/>
          </ac:spMkLst>
        </pc:spChg>
        <pc:picChg chg="del">
          <ac:chgData name="Sivanajani Sivakumar (s)" userId="4776fc03-dc6b-4f1f-87d3-02aad9c7f697" providerId="ADAL" clId="{E8863F7B-69DF-4DAA-A099-521D898155B5}" dt="2026-08-04T12:27:31.920" v="926" actId="478"/>
          <ac:picMkLst>
            <pc:docMk/>
            <pc:sldMk cId="0" sldId="266"/>
            <ac:picMk id="4" creationId="{00000000-0000-0000-0000-000000000000}"/>
          </ac:picMkLst>
        </pc:picChg>
        <pc:picChg chg="del">
          <ac:chgData name="Sivanajani Sivakumar (s)" userId="4776fc03-dc6b-4f1f-87d3-02aad9c7f697" providerId="ADAL" clId="{E8863F7B-69DF-4DAA-A099-521D898155B5}" dt="2026-08-04T12:27:31.920" v="926" actId="478"/>
          <ac:picMkLst>
            <pc:docMk/>
            <pc:sldMk cId="0" sldId="266"/>
            <ac:picMk id="5" creationId="{00000000-0000-0000-0000-000000000000}"/>
          </ac:picMkLst>
        </pc:picChg>
        <pc:picChg chg="add">
          <ac:chgData name="Sivanajani Sivakumar (s)" userId="4776fc03-dc6b-4f1f-87d3-02aad9c7f697" providerId="ADAL" clId="{E8863F7B-69DF-4DAA-A099-521D898155B5}" dt="2026-08-04T09:47:15.263" v="77" actId="22"/>
          <ac:picMkLst>
            <pc:docMk/>
            <pc:sldMk cId="0" sldId="266"/>
            <ac:picMk id="25" creationId="{CE7ECD4E-9FA2-8C27-2577-1351C6E3FBE0}"/>
          </ac:picMkLst>
        </pc:picChg>
        <pc:picChg chg="add mod">
          <ac:chgData name="Sivanajani Sivakumar (s)" userId="4776fc03-dc6b-4f1f-87d3-02aad9c7f697" providerId="ADAL" clId="{E8863F7B-69DF-4DAA-A099-521D898155B5}" dt="2026-08-04T12:28:24.636" v="1032" actId="1076"/>
          <ac:picMkLst>
            <pc:docMk/>
            <pc:sldMk cId="0" sldId="266"/>
            <ac:picMk id="27" creationId="{25C6BF4A-FE0F-F5B5-77A5-0D78B3664995}"/>
          </ac:picMkLst>
        </pc:picChg>
      </pc:sldChg>
      <pc:sldChg chg="addSp mod modTransition modNotesTx">
        <pc:chgData name="Sivanajani Sivakumar (s)" userId="4776fc03-dc6b-4f1f-87d3-02aad9c7f697" providerId="ADAL" clId="{E8863F7B-69DF-4DAA-A099-521D898155B5}" dt="2026-08-04T12:29:37.618" v="1033"/>
        <pc:sldMkLst>
          <pc:docMk/>
          <pc:sldMk cId="0" sldId="267"/>
        </pc:sldMkLst>
        <pc:spChg chg="add">
          <ac:chgData name="Sivanajani Sivakumar (s)" userId="4776fc03-dc6b-4f1f-87d3-02aad9c7f697" providerId="ADAL" clId="{E8863F7B-69DF-4DAA-A099-521D898155B5}" dt="2026-08-04T09:47:18.127" v="78" actId="22"/>
          <ac:spMkLst>
            <pc:docMk/>
            <pc:sldMk cId="0" sldId="267"/>
            <ac:spMk id="58" creationId="{82604AB6-910A-9753-1B24-5B475870379D}"/>
          </ac:spMkLst>
        </pc:spChg>
        <pc:picChg chg="add">
          <ac:chgData name="Sivanajani Sivakumar (s)" userId="4776fc03-dc6b-4f1f-87d3-02aad9c7f697" providerId="ADAL" clId="{E8863F7B-69DF-4DAA-A099-521D898155B5}" dt="2026-08-04T09:47:18.127" v="78" actId="22"/>
          <ac:picMkLst>
            <pc:docMk/>
            <pc:sldMk cId="0" sldId="267"/>
            <ac:picMk id="60" creationId="{924748A3-D1AC-0616-0CC7-1852AA70FEA2}"/>
          </ac:picMkLst>
        </pc:picChg>
      </pc:sldChg>
      <pc:sldChg chg="addSp mod modTransition modNotesTx">
        <pc:chgData name="Sivanajani Sivakumar (s)" userId="4776fc03-dc6b-4f1f-87d3-02aad9c7f697" providerId="ADAL" clId="{E8863F7B-69DF-4DAA-A099-521D898155B5}" dt="2026-08-04T13:50:28.832" v="1316" actId="20577"/>
        <pc:sldMkLst>
          <pc:docMk/>
          <pc:sldMk cId="0" sldId="268"/>
        </pc:sldMkLst>
        <pc:spChg chg="add">
          <ac:chgData name="Sivanajani Sivakumar (s)" userId="4776fc03-dc6b-4f1f-87d3-02aad9c7f697" providerId="ADAL" clId="{E8863F7B-69DF-4DAA-A099-521D898155B5}" dt="2026-08-04T09:47:41.136" v="80" actId="22"/>
          <ac:spMkLst>
            <pc:docMk/>
            <pc:sldMk cId="0" sldId="268"/>
            <ac:spMk id="65" creationId="{AF5085CC-92CE-C189-E7DA-E140391C8FB1}"/>
          </ac:spMkLst>
        </pc:spChg>
        <pc:picChg chg="add">
          <ac:chgData name="Sivanajani Sivakumar (s)" userId="4776fc03-dc6b-4f1f-87d3-02aad9c7f697" providerId="ADAL" clId="{E8863F7B-69DF-4DAA-A099-521D898155B5}" dt="2026-08-04T09:47:41.136" v="80" actId="22"/>
          <ac:picMkLst>
            <pc:docMk/>
            <pc:sldMk cId="0" sldId="268"/>
            <ac:picMk id="67" creationId="{48D5043B-817A-2ABD-7D4F-65C2811D5515}"/>
          </ac:picMkLst>
        </pc:picChg>
      </pc:sldChg>
      <pc:sldChg chg="addSp mod modTransition modNotesTx">
        <pc:chgData name="Sivanajani Sivakumar (s)" userId="4776fc03-dc6b-4f1f-87d3-02aad9c7f697" providerId="ADAL" clId="{E8863F7B-69DF-4DAA-A099-521D898155B5}" dt="2026-08-04T13:48:35.023" v="1268" actId="20577"/>
        <pc:sldMkLst>
          <pc:docMk/>
          <pc:sldMk cId="0" sldId="269"/>
        </pc:sldMkLst>
        <pc:spChg chg="add">
          <ac:chgData name="Sivanajani Sivakumar (s)" userId="4776fc03-dc6b-4f1f-87d3-02aad9c7f697" providerId="ADAL" clId="{E8863F7B-69DF-4DAA-A099-521D898155B5}" dt="2026-08-04T09:47:43.142" v="81" actId="22"/>
          <ac:spMkLst>
            <pc:docMk/>
            <pc:sldMk cId="0" sldId="269"/>
            <ac:spMk id="39" creationId="{C1C766C5-1A26-C0A6-08C7-94F527CECF60}"/>
          </ac:spMkLst>
        </pc:spChg>
        <pc:picChg chg="add">
          <ac:chgData name="Sivanajani Sivakumar (s)" userId="4776fc03-dc6b-4f1f-87d3-02aad9c7f697" providerId="ADAL" clId="{E8863F7B-69DF-4DAA-A099-521D898155B5}" dt="2026-08-04T09:47:43.142" v="81" actId="22"/>
          <ac:picMkLst>
            <pc:docMk/>
            <pc:sldMk cId="0" sldId="269"/>
            <ac:picMk id="41" creationId="{7E88C939-4149-3B51-B274-6076B39C95E8}"/>
          </ac:picMkLst>
        </pc:picChg>
      </pc:sldChg>
      <pc:sldChg chg="add del setBg">
        <pc:chgData name="Sivanajani Sivakumar (s)" userId="4776fc03-dc6b-4f1f-87d3-02aad9c7f697" providerId="ADAL" clId="{E8863F7B-69DF-4DAA-A099-521D898155B5}" dt="2026-08-04T10:10:31.232" v="101" actId="2696"/>
        <pc:sldMkLst>
          <pc:docMk/>
          <pc:sldMk cId="0" sldId="270"/>
        </pc:sldMkLst>
      </pc:sldChg>
      <pc:sldChg chg="addSp mod modTransition">
        <pc:chgData name="Sivanajani Sivakumar (s)" userId="4776fc03-dc6b-4f1f-87d3-02aad9c7f697" providerId="ADAL" clId="{E8863F7B-69DF-4DAA-A099-521D898155B5}" dt="2026-08-04T12:29:37.618" v="1033"/>
        <pc:sldMkLst>
          <pc:docMk/>
          <pc:sldMk cId="0" sldId="271"/>
        </pc:sldMkLst>
        <pc:spChg chg="add">
          <ac:chgData name="Sivanajani Sivakumar (s)" userId="4776fc03-dc6b-4f1f-87d3-02aad9c7f697" providerId="ADAL" clId="{E8863F7B-69DF-4DAA-A099-521D898155B5}" dt="2026-08-04T09:47:45.131" v="82" actId="22"/>
          <ac:spMkLst>
            <pc:docMk/>
            <pc:sldMk cId="0" sldId="271"/>
            <ac:spMk id="61" creationId="{92BFED29-40F2-CF9D-B07E-663FA368432F}"/>
          </ac:spMkLst>
        </pc:spChg>
        <pc:picChg chg="add">
          <ac:chgData name="Sivanajani Sivakumar (s)" userId="4776fc03-dc6b-4f1f-87d3-02aad9c7f697" providerId="ADAL" clId="{E8863F7B-69DF-4DAA-A099-521D898155B5}" dt="2026-08-04T09:47:45.131" v="82" actId="22"/>
          <ac:picMkLst>
            <pc:docMk/>
            <pc:sldMk cId="0" sldId="271"/>
            <ac:picMk id="63" creationId="{8EAB5C64-4040-E6C8-D6EE-C7062626CFF1}"/>
          </ac:picMkLst>
        </pc:picChg>
      </pc:sldChg>
      <pc:sldChg chg="addSp mod modTransition">
        <pc:chgData name="Sivanajani Sivakumar (s)" userId="4776fc03-dc6b-4f1f-87d3-02aad9c7f697" providerId="ADAL" clId="{E8863F7B-69DF-4DAA-A099-521D898155B5}" dt="2026-08-04T12:29:37.618" v="1033"/>
        <pc:sldMkLst>
          <pc:docMk/>
          <pc:sldMk cId="0" sldId="272"/>
        </pc:sldMkLst>
        <pc:spChg chg="add">
          <ac:chgData name="Sivanajani Sivakumar (s)" userId="4776fc03-dc6b-4f1f-87d3-02aad9c7f697" providerId="ADAL" clId="{E8863F7B-69DF-4DAA-A099-521D898155B5}" dt="2026-08-04T09:47:46.926" v="83" actId="22"/>
          <ac:spMkLst>
            <pc:docMk/>
            <pc:sldMk cId="0" sldId="272"/>
            <ac:spMk id="101" creationId="{7A232AC8-F99C-50E3-4BB3-C74BD80460B7}"/>
          </ac:spMkLst>
        </pc:spChg>
        <pc:picChg chg="add">
          <ac:chgData name="Sivanajani Sivakumar (s)" userId="4776fc03-dc6b-4f1f-87d3-02aad9c7f697" providerId="ADAL" clId="{E8863F7B-69DF-4DAA-A099-521D898155B5}" dt="2026-08-04T09:47:46.926" v="83" actId="22"/>
          <ac:picMkLst>
            <pc:docMk/>
            <pc:sldMk cId="0" sldId="272"/>
            <ac:picMk id="103" creationId="{E9465539-116B-86A8-D6DF-7866BF9DEDD0}"/>
          </ac:picMkLst>
        </pc:picChg>
      </pc:sldChg>
      <pc:sldChg chg="addSp mod modTransition">
        <pc:chgData name="Sivanajani Sivakumar (s)" userId="4776fc03-dc6b-4f1f-87d3-02aad9c7f697" providerId="ADAL" clId="{E8863F7B-69DF-4DAA-A099-521D898155B5}" dt="2026-08-04T12:29:37.618" v="1033"/>
        <pc:sldMkLst>
          <pc:docMk/>
          <pc:sldMk cId="0" sldId="273"/>
        </pc:sldMkLst>
        <pc:spChg chg="add">
          <ac:chgData name="Sivanajani Sivakumar (s)" userId="4776fc03-dc6b-4f1f-87d3-02aad9c7f697" providerId="ADAL" clId="{E8863F7B-69DF-4DAA-A099-521D898155B5}" dt="2026-08-04T09:47:49.370" v="84" actId="22"/>
          <ac:spMkLst>
            <pc:docMk/>
            <pc:sldMk cId="0" sldId="273"/>
            <ac:spMk id="104" creationId="{B5443541-0DBC-270F-112A-4ABA492B8E59}"/>
          </ac:spMkLst>
        </pc:spChg>
        <pc:picChg chg="add">
          <ac:chgData name="Sivanajani Sivakumar (s)" userId="4776fc03-dc6b-4f1f-87d3-02aad9c7f697" providerId="ADAL" clId="{E8863F7B-69DF-4DAA-A099-521D898155B5}" dt="2026-08-04T09:47:49.370" v="84" actId="22"/>
          <ac:picMkLst>
            <pc:docMk/>
            <pc:sldMk cId="0" sldId="273"/>
            <ac:picMk id="106" creationId="{65563E78-2D69-B4DB-1DB4-DEAE97033192}"/>
          </ac:picMkLst>
        </pc:picChg>
      </pc:sldChg>
      <pc:sldChg chg="addSp mod modTransition">
        <pc:chgData name="Sivanajani Sivakumar (s)" userId="4776fc03-dc6b-4f1f-87d3-02aad9c7f697" providerId="ADAL" clId="{E8863F7B-69DF-4DAA-A099-521D898155B5}" dt="2026-08-04T12:29:37.618" v="1033"/>
        <pc:sldMkLst>
          <pc:docMk/>
          <pc:sldMk cId="0" sldId="274"/>
        </pc:sldMkLst>
        <pc:spChg chg="add">
          <ac:chgData name="Sivanajani Sivakumar (s)" userId="4776fc03-dc6b-4f1f-87d3-02aad9c7f697" providerId="ADAL" clId="{E8863F7B-69DF-4DAA-A099-521D898155B5}" dt="2026-08-04T09:47:50.964" v="85" actId="22"/>
          <ac:spMkLst>
            <pc:docMk/>
            <pc:sldMk cId="0" sldId="274"/>
            <ac:spMk id="6" creationId="{4D47F548-21A5-CC78-6AFF-FE3657B40872}"/>
          </ac:spMkLst>
        </pc:spChg>
        <pc:picChg chg="add">
          <ac:chgData name="Sivanajani Sivakumar (s)" userId="4776fc03-dc6b-4f1f-87d3-02aad9c7f697" providerId="ADAL" clId="{E8863F7B-69DF-4DAA-A099-521D898155B5}" dt="2026-08-04T09:47:50.964" v="85" actId="22"/>
          <ac:picMkLst>
            <pc:docMk/>
            <pc:sldMk cId="0" sldId="274"/>
            <ac:picMk id="8" creationId="{A4AFBA4A-253E-968F-521C-6698F0BABAF7}"/>
          </ac:picMkLst>
        </pc:picChg>
      </pc:sldChg>
      <pc:sldChg chg="addSp mod modTransition">
        <pc:chgData name="Sivanajani Sivakumar (s)" userId="4776fc03-dc6b-4f1f-87d3-02aad9c7f697" providerId="ADAL" clId="{E8863F7B-69DF-4DAA-A099-521D898155B5}" dt="2026-08-04T12:29:37.618" v="1033"/>
        <pc:sldMkLst>
          <pc:docMk/>
          <pc:sldMk cId="0" sldId="275"/>
        </pc:sldMkLst>
        <pc:spChg chg="add">
          <ac:chgData name="Sivanajani Sivakumar (s)" userId="4776fc03-dc6b-4f1f-87d3-02aad9c7f697" providerId="ADAL" clId="{E8863F7B-69DF-4DAA-A099-521D898155B5}" dt="2026-08-04T09:47:54.144" v="86" actId="22"/>
          <ac:spMkLst>
            <pc:docMk/>
            <pc:sldMk cId="0" sldId="275"/>
            <ac:spMk id="21" creationId="{1DDB4E37-F847-BCF4-E87A-08281DB1463C}"/>
          </ac:spMkLst>
        </pc:spChg>
        <pc:picChg chg="add">
          <ac:chgData name="Sivanajani Sivakumar (s)" userId="4776fc03-dc6b-4f1f-87d3-02aad9c7f697" providerId="ADAL" clId="{E8863F7B-69DF-4DAA-A099-521D898155B5}" dt="2026-08-04T09:47:54.144" v="86" actId="22"/>
          <ac:picMkLst>
            <pc:docMk/>
            <pc:sldMk cId="0" sldId="275"/>
            <ac:picMk id="23" creationId="{76B78D80-3762-F550-0C8D-371B24C8EC96}"/>
          </ac:picMkLst>
        </pc:picChg>
      </pc:sldChg>
      <pc:sldChg chg="addSp mod modTransition">
        <pc:chgData name="Sivanajani Sivakumar (s)" userId="4776fc03-dc6b-4f1f-87d3-02aad9c7f697" providerId="ADAL" clId="{E8863F7B-69DF-4DAA-A099-521D898155B5}" dt="2026-08-04T12:29:37.618" v="1033"/>
        <pc:sldMkLst>
          <pc:docMk/>
          <pc:sldMk cId="0" sldId="276"/>
        </pc:sldMkLst>
        <pc:spChg chg="add">
          <ac:chgData name="Sivanajani Sivakumar (s)" userId="4776fc03-dc6b-4f1f-87d3-02aad9c7f697" providerId="ADAL" clId="{E8863F7B-69DF-4DAA-A099-521D898155B5}" dt="2026-08-04T09:47:55.486" v="87" actId="22"/>
          <ac:spMkLst>
            <pc:docMk/>
            <pc:sldMk cId="0" sldId="276"/>
            <ac:spMk id="29" creationId="{73931C9F-4935-C296-B2BA-1C909F8869FE}"/>
          </ac:spMkLst>
        </pc:spChg>
        <pc:picChg chg="add">
          <ac:chgData name="Sivanajani Sivakumar (s)" userId="4776fc03-dc6b-4f1f-87d3-02aad9c7f697" providerId="ADAL" clId="{E8863F7B-69DF-4DAA-A099-521D898155B5}" dt="2026-08-04T09:47:55.486" v="87" actId="22"/>
          <ac:picMkLst>
            <pc:docMk/>
            <pc:sldMk cId="0" sldId="276"/>
            <ac:picMk id="31" creationId="{63972509-6DF6-A572-A42D-A5AB90DEFFE5}"/>
          </ac:picMkLst>
        </pc:picChg>
      </pc:sldChg>
      <pc:sldChg chg="addSp modSp mod modTransition">
        <pc:chgData name="Sivanajani Sivakumar (s)" userId="4776fc03-dc6b-4f1f-87d3-02aad9c7f697" providerId="ADAL" clId="{E8863F7B-69DF-4DAA-A099-521D898155B5}" dt="2026-08-04T12:29:37.618" v="1033"/>
        <pc:sldMkLst>
          <pc:docMk/>
          <pc:sldMk cId="0" sldId="277"/>
        </pc:sldMkLst>
        <pc:spChg chg="mod">
          <ac:chgData name="Sivanajani Sivakumar (s)" userId="4776fc03-dc6b-4f1f-87d3-02aad9c7f697" providerId="ADAL" clId="{E8863F7B-69DF-4DAA-A099-521D898155B5}" dt="2026-08-04T12:24:40.697" v="903"/>
          <ac:spMkLst>
            <pc:docMk/>
            <pc:sldMk cId="0" sldId="277"/>
            <ac:spMk id="2" creationId="{00000000-0000-0000-0000-000000000000}"/>
          </ac:spMkLst>
        </pc:spChg>
        <pc:spChg chg="mod">
          <ac:chgData name="Sivanajani Sivakumar (s)" userId="4776fc03-dc6b-4f1f-87d3-02aad9c7f697" providerId="ADAL" clId="{E8863F7B-69DF-4DAA-A099-521D898155B5}" dt="2026-08-04T12:25:10.606" v="909" actId="20577"/>
          <ac:spMkLst>
            <pc:docMk/>
            <pc:sldMk cId="0" sldId="277"/>
            <ac:spMk id="40" creationId="{00000000-0000-0000-0000-000000000000}"/>
          </ac:spMkLst>
        </pc:spChg>
        <pc:spChg chg="add">
          <ac:chgData name="Sivanajani Sivakumar (s)" userId="4776fc03-dc6b-4f1f-87d3-02aad9c7f697" providerId="ADAL" clId="{E8863F7B-69DF-4DAA-A099-521D898155B5}" dt="2026-08-04T09:47:56.868" v="88" actId="22"/>
          <ac:spMkLst>
            <pc:docMk/>
            <pc:sldMk cId="0" sldId="277"/>
            <ac:spMk id="42" creationId="{CD503755-C8DC-B659-26A6-56D9BD4D745A}"/>
          </ac:spMkLst>
        </pc:spChg>
        <pc:picChg chg="add">
          <ac:chgData name="Sivanajani Sivakumar (s)" userId="4776fc03-dc6b-4f1f-87d3-02aad9c7f697" providerId="ADAL" clId="{E8863F7B-69DF-4DAA-A099-521D898155B5}" dt="2026-08-04T09:47:56.868" v="88" actId="22"/>
          <ac:picMkLst>
            <pc:docMk/>
            <pc:sldMk cId="0" sldId="277"/>
            <ac:picMk id="44" creationId="{414C3D53-CED3-570F-652D-05A627A94937}"/>
          </ac:picMkLst>
        </pc:picChg>
      </pc:sldChg>
      <pc:sldChg chg="addSp modSp mod modTransition">
        <pc:chgData name="Sivanajani Sivakumar (s)" userId="4776fc03-dc6b-4f1f-87d3-02aad9c7f697" providerId="ADAL" clId="{E8863F7B-69DF-4DAA-A099-521D898155B5}" dt="2026-08-04T12:29:37.618" v="1033"/>
        <pc:sldMkLst>
          <pc:docMk/>
          <pc:sldMk cId="0" sldId="278"/>
        </pc:sldMkLst>
        <pc:spChg chg="mod">
          <ac:chgData name="Sivanajani Sivakumar (s)" userId="4776fc03-dc6b-4f1f-87d3-02aad9c7f697" providerId="ADAL" clId="{E8863F7B-69DF-4DAA-A099-521D898155B5}" dt="2026-08-04T12:25:46.535" v="920" actId="20577"/>
          <ac:spMkLst>
            <pc:docMk/>
            <pc:sldMk cId="0" sldId="278"/>
            <ac:spMk id="2" creationId="{00000000-0000-0000-0000-000000000000}"/>
          </ac:spMkLst>
        </pc:spChg>
        <pc:spChg chg="mod">
          <ac:chgData name="Sivanajani Sivakumar (s)" userId="4776fc03-dc6b-4f1f-87d3-02aad9c7f697" providerId="ADAL" clId="{E8863F7B-69DF-4DAA-A099-521D898155B5}" dt="2026-08-04T12:25:38.533" v="918" actId="6549"/>
          <ac:spMkLst>
            <pc:docMk/>
            <pc:sldMk cId="0" sldId="278"/>
            <ac:spMk id="99" creationId="{00000000-0000-0000-0000-000000000000}"/>
          </ac:spMkLst>
        </pc:spChg>
        <pc:spChg chg="add">
          <ac:chgData name="Sivanajani Sivakumar (s)" userId="4776fc03-dc6b-4f1f-87d3-02aad9c7f697" providerId="ADAL" clId="{E8863F7B-69DF-4DAA-A099-521D898155B5}" dt="2026-08-04T09:47:58.270" v="89" actId="22"/>
          <ac:spMkLst>
            <pc:docMk/>
            <pc:sldMk cId="0" sldId="278"/>
            <ac:spMk id="101" creationId="{2645B061-6312-1C34-C4EE-2C57745004C7}"/>
          </ac:spMkLst>
        </pc:spChg>
        <pc:picChg chg="add">
          <ac:chgData name="Sivanajani Sivakumar (s)" userId="4776fc03-dc6b-4f1f-87d3-02aad9c7f697" providerId="ADAL" clId="{E8863F7B-69DF-4DAA-A099-521D898155B5}" dt="2026-08-04T09:47:58.270" v="89" actId="22"/>
          <ac:picMkLst>
            <pc:docMk/>
            <pc:sldMk cId="0" sldId="278"/>
            <ac:picMk id="103" creationId="{0C98F551-D66B-90D8-F9BA-BF88E0432AC5}"/>
          </ac:picMkLst>
        </pc:picChg>
      </pc:sldChg>
      <pc:sldChg chg="addSp mod modTransition">
        <pc:chgData name="Sivanajani Sivakumar (s)" userId="4776fc03-dc6b-4f1f-87d3-02aad9c7f697" providerId="ADAL" clId="{E8863F7B-69DF-4DAA-A099-521D898155B5}" dt="2026-08-04T12:29:37.618" v="1033"/>
        <pc:sldMkLst>
          <pc:docMk/>
          <pc:sldMk cId="0" sldId="279"/>
        </pc:sldMkLst>
        <pc:spChg chg="add">
          <ac:chgData name="Sivanajani Sivakumar (s)" userId="4776fc03-dc6b-4f1f-87d3-02aad9c7f697" providerId="ADAL" clId="{E8863F7B-69DF-4DAA-A099-521D898155B5}" dt="2026-08-04T09:49:50.006" v="92" actId="22"/>
          <ac:spMkLst>
            <pc:docMk/>
            <pc:sldMk cId="0" sldId="279"/>
            <ac:spMk id="17" creationId="{237A3519-195E-5B6F-FA4D-D33B628CDB09}"/>
          </ac:spMkLst>
        </pc:spChg>
        <pc:picChg chg="add">
          <ac:chgData name="Sivanajani Sivakumar (s)" userId="4776fc03-dc6b-4f1f-87d3-02aad9c7f697" providerId="ADAL" clId="{E8863F7B-69DF-4DAA-A099-521D898155B5}" dt="2026-08-04T09:49:50.006" v="92" actId="22"/>
          <ac:picMkLst>
            <pc:docMk/>
            <pc:sldMk cId="0" sldId="279"/>
            <ac:picMk id="19" creationId="{8FC58595-D5D9-26B2-ECB9-E25314B64558}"/>
          </ac:picMkLst>
        </pc:picChg>
      </pc:sldChg>
      <pc:sldChg chg="addSp mod ord modTransition">
        <pc:chgData name="Sivanajani Sivakumar (s)" userId="4776fc03-dc6b-4f1f-87d3-02aad9c7f697" providerId="ADAL" clId="{E8863F7B-69DF-4DAA-A099-521D898155B5}" dt="2026-08-04T12:29:37.618" v="1033"/>
        <pc:sldMkLst>
          <pc:docMk/>
          <pc:sldMk cId="0" sldId="280"/>
        </pc:sldMkLst>
        <pc:spChg chg="add">
          <ac:chgData name="Sivanajani Sivakumar (s)" userId="4776fc03-dc6b-4f1f-87d3-02aad9c7f697" providerId="ADAL" clId="{E8863F7B-69DF-4DAA-A099-521D898155B5}" dt="2026-08-04T09:49:51.604" v="93" actId="22"/>
          <ac:spMkLst>
            <pc:docMk/>
            <pc:sldMk cId="0" sldId="280"/>
            <ac:spMk id="45" creationId="{8EE83D06-914E-53B5-C07E-46A19A29CB75}"/>
          </ac:spMkLst>
        </pc:spChg>
        <pc:picChg chg="add">
          <ac:chgData name="Sivanajani Sivakumar (s)" userId="4776fc03-dc6b-4f1f-87d3-02aad9c7f697" providerId="ADAL" clId="{E8863F7B-69DF-4DAA-A099-521D898155B5}" dt="2026-08-04T09:49:51.604" v="93" actId="22"/>
          <ac:picMkLst>
            <pc:docMk/>
            <pc:sldMk cId="0" sldId="280"/>
            <ac:picMk id="47" creationId="{F297E458-3E69-E323-E664-3D459043DB89}"/>
          </ac:picMkLst>
        </pc:picChg>
      </pc:sldChg>
      <pc:sldChg chg="addSp delSp modSp add mod ord modTransition modNotesTx">
        <pc:chgData name="Sivanajani Sivakumar (s)" userId="4776fc03-dc6b-4f1f-87d3-02aad9c7f697" providerId="ADAL" clId="{E8863F7B-69DF-4DAA-A099-521D898155B5}" dt="2026-08-04T13:25:02.644" v="1259" actId="20577"/>
        <pc:sldMkLst>
          <pc:docMk/>
          <pc:sldMk cId="0" sldId="281"/>
        </pc:sldMkLst>
        <pc:spChg chg="mod">
          <ac:chgData name="Sivanajani Sivakumar (s)" userId="4776fc03-dc6b-4f1f-87d3-02aad9c7f697" providerId="ADAL" clId="{E8863F7B-69DF-4DAA-A099-521D898155B5}" dt="2026-08-04T12:39:41.507" v="1161" actId="1036"/>
          <ac:spMkLst>
            <pc:docMk/>
            <pc:sldMk cId="0" sldId="281"/>
            <ac:spMk id="4" creationId="{00000000-0000-0000-0000-000000000000}"/>
          </ac:spMkLst>
        </pc:spChg>
        <pc:spChg chg="mod">
          <ac:chgData name="Sivanajani Sivakumar (s)" userId="4776fc03-dc6b-4f1f-87d3-02aad9c7f697" providerId="ADAL" clId="{E8863F7B-69DF-4DAA-A099-521D898155B5}" dt="2026-08-04T12:39:41.507" v="1161" actId="1036"/>
          <ac:spMkLst>
            <pc:docMk/>
            <pc:sldMk cId="0" sldId="281"/>
            <ac:spMk id="5" creationId="{00000000-0000-0000-0000-000000000000}"/>
          </ac:spMkLst>
        </pc:spChg>
        <pc:spChg chg="mod">
          <ac:chgData name="Sivanajani Sivakumar (s)" userId="4776fc03-dc6b-4f1f-87d3-02aad9c7f697" providerId="ADAL" clId="{E8863F7B-69DF-4DAA-A099-521D898155B5}" dt="2026-08-04T10:12:43.852" v="155" actId="1036"/>
          <ac:spMkLst>
            <pc:docMk/>
            <pc:sldMk cId="0" sldId="281"/>
            <ac:spMk id="6" creationId="{00000000-0000-0000-0000-000000000000}"/>
          </ac:spMkLst>
        </pc:spChg>
        <pc:spChg chg="mod">
          <ac:chgData name="Sivanajani Sivakumar (s)" userId="4776fc03-dc6b-4f1f-87d3-02aad9c7f697" providerId="ADAL" clId="{E8863F7B-69DF-4DAA-A099-521D898155B5}" dt="2026-08-04T12:40:00.403" v="1191" actId="1076"/>
          <ac:spMkLst>
            <pc:docMk/>
            <pc:sldMk cId="0" sldId="281"/>
            <ac:spMk id="7" creationId="{00000000-0000-0000-0000-000000000000}"/>
          </ac:spMkLst>
        </pc:spChg>
        <pc:spChg chg="mod">
          <ac:chgData name="Sivanajani Sivakumar (s)" userId="4776fc03-dc6b-4f1f-87d3-02aad9c7f697" providerId="ADAL" clId="{E8863F7B-69DF-4DAA-A099-521D898155B5}" dt="2026-08-04T12:39:48.113" v="1179" actId="1036"/>
          <ac:spMkLst>
            <pc:docMk/>
            <pc:sldMk cId="0" sldId="281"/>
            <ac:spMk id="9" creationId="{00000000-0000-0000-0000-000000000000}"/>
          </ac:spMkLst>
        </pc:spChg>
        <pc:spChg chg="mod">
          <ac:chgData name="Sivanajani Sivakumar (s)" userId="4776fc03-dc6b-4f1f-87d3-02aad9c7f697" providerId="ADAL" clId="{E8863F7B-69DF-4DAA-A099-521D898155B5}" dt="2026-08-04T12:39:48.113" v="1179" actId="1036"/>
          <ac:spMkLst>
            <pc:docMk/>
            <pc:sldMk cId="0" sldId="281"/>
            <ac:spMk id="10" creationId="{00000000-0000-0000-0000-000000000000}"/>
          </ac:spMkLst>
        </pc:spChg>
        <pc:spChg chg="mod">
          <ac:chgData name="Sivanajani Sivakumar (s)" userId="4776fc03-dc6b-4f1f-87d3-02aad9c7f697" providerId="ADAL" clId="{E8863F7B-69DF-4DAA-A099-521D898155B5}" dt="2026-08-04T10:13:20.496" v="248" actId="1035"/>
          <ac:spMkLst>
            <pc:docMk/>
            <pc:sldMk cId="0" sldId="281"/>
            <ac:spMk id="11" creationId="{00000000-0000-0000-0000-000000000000}"/>
          </ac:spMkLst>
        </pc:spChg>
        <pc:spChg chg="mod">
          <ac:chgData name="Sivanajani Sivakumar (s)" userId="4776fc03-dc6b-4f1f-87d3-02aad9c7f697" providerId="ADAL" clId="{E8863F7B-69DF-4DAA-A099-521D898155B5}" dt="2026-08-04T12:40:06.600" v="1193" actId="1076"/>
          <ac:spMkLst>
            <pc:docMk/>
            <pc:sldMk cId="0" sldId="281"/>
            <ac:spMk id="12" creationId="{00000000-0000-0000-0000-000000000000}"/>
          </ac:spMkLst>
        </pc:spChg>
        <pc:spChg chg="del">
          <ac:chgData name="Sivanajani Sivakumar (s)" userId="4776fc03-dc6b-4f1f-87d3-02aad9c7f697" providerId="ADAL" clId="{E8863F7B-69DF-4DAA-A099-521D898155B5}" dt="2026-08-04T10:11:07.575" v="105" actId="478"/>
          <ac:spMkLst>
            <pc:docMk/>
            <pc:sldMk cId="0" sldId="281"/>
            <ac:spMk id="13" creationId="{00000000-0000-0000-0000-000000000000}"/>
          </ac:spMkLst>
        </pc:spChg>
        <pc:spChg chg="add mod">
          <ac:chgData name="Sivanajani Sivakumar (s)" userId="4776fc03-dc6b-4f1f-87d3-02aad9c7f697" providerId="ADAL" clId="{E8863F7B-69DF-4DAA-A099-521D898155B5}" dt="2026-08-04T12:39:54.412" v="1189" actId="1076"/>
          <ac:spMkLst>
            <pc:docMk/>
            <pc:sldMk cId="0" sldId="281"/>
            <ac:spMk id="15" creationId="{C9D83A0D-D096-7D15-257B-1978D239402E}"/>
          </ac:spMkLst>
        </pc:spChg>
        <pc:spChg chg="add del mod">
          <ac:chgData name="Sivanajani Sivakumar (s)" userId="4776fc03-dc6b-4f1f-87d3-02aad9c7f697" providerId="ADAL" clId="{E8863F7B-69DF-4DAA-A099-521D898155B5}" dt="2026-08-04T10:12:22.373" v="118" actId="478"/>
          <ac:spMkLst>
            <pc:docMk/>
            <pc:sldMk cId="0" sldId="281"/>
            <ac:spMk id="19" creationId="{130A70C6-6F7D-02A1-1FE9-780965679141}"/>
          </ac:spMkLst>
        </pc:spChg>
        <pc:spChg chg="add del mod">
          <ac:chgData name="Sivanajani Sivakumar (s)" userId="4776fc03-dc6b-4f1f-87d3-02aad9c7f697" providerId="ADAL" clId="{E8863F7B-69DF-4DAA-A099-521D898155B5}" dt="2026-08-04T10:12:28.241" v="119" actId="478"/>
          <ac:spMkLst>
            <pc:docMk/>
            <pc:sldMk cId="0" sldId="281"/>
            <ac:spMk id="23" creationId="{D1E8CFC4-9652-3615-5B11-71B13BDC0B25}"/>
          </ac:spMkLst>
        </pc:spChg>
        <pc:picChg chg="add">
          <ac:chgData name="Sivanajani Sivakumar (s)" userId="4776fc03-dc6b-4f1f-87d3-02aad9c7f697" providerId="ADAL" clId="{E8863F7B-69DF-4DAA-A099-521D898155B5}" dt="2026-08-04T10:10:39.802" v="102" actId="22"/>
          <ac:picMkLst>
            <pc:docMk/>
            <pc:sldMk cId="0" sldId="281"/>
            <ac:picMk id="17" creationId="{CC467638-FE78-FD10-255D-3F78FD815C76}"/>
          </ac:picMkLst>
        </pc:picChg>
        <pc:picChg chg="add mod">
          <ac:chgData name="Sivanajani Sivakumar (s)" userId="4776fc03-dc6b-4f1f-87d3-02aad9c7f697" providerId="ADAL" clId="{E8863F7B-69DF-4DAA-A099-521D898155B5}" dt="2026-08-04T12:39:48.113" v="1179" actId="1036"/>
          <ac:picMkLst>
            <pc:docMk/>
            <pc:sldMk cId="0" sldId="281"/>
            <ac:picMk id="21" creationId="{EADCF5B5-1CC5-7C50-C766-8D3E81CAC365}"/>
          </ac:picMkLst>
        </pc:picChg>
        <pc:picChg chg="add mod">
          <ac:chgData name="Sivanajani Sivakumar (s)" userId="4776fc03-dc6b-4f1f-87d3-02aad9c7f697" providerId="ADAL" clId="{E8863F7B-69DF-4DAA-A099-521D898155B5}" dt="2026-08-04T12:39:41.507" v="1161" actId="1036"/>
          <ac:picMkLst>
            <pc:docMk/>
            <pc:sldMk cId="0" sldId="281"/>
            <ac:picMk id="25" creationId="{D55A6461-DEDE-1C4E-3F44-2FEEEB6A00B9}"/>
          </ac:picMkLst>
        </pc:picChg>
      </pc:sldChg>
      <pc:sldChg chg="add del setBg">
        <pc:chgData name="Sivanajani Sivakumar (s)" userId="4776fc03-dc6b-4f1f-87d3-02aad9c7f697" providerId="ADAL" clId="{E8863F7B-69DF-4DAA-A099-521D898155B5}" dt="2026-08-04T10:36:00.839" v="276" actId="2696"/>
        <pc:sldMkLst>
          <pc:docMk/>
          <pc:sldMk cId="0" sldId="282"/>
        </pc:sldMkLst>
      </pc:sldChg>
      <pc:sldChg chg="addSp delSp modSp add mod ord modTransition modNotesTx">
        <pc:chgData name="Sivanajani Sivakumar (s)" userId="4776fc03-dc6b-4f1f-87d3-02aad9c7f697" providerId="ADAL" clId="{E8863F7B-69DF-4DAA-A099-521D898155B5}" dt="2026-08-04T12:29:37.618" v="1033"/>
        <pc:sldMkLst>
          <pc:docMk/>
          <pc:sldMk cId="0" sldId="283"/>
        </pc:sldMkLst>
        <pc:spChg chg="mod">
          <ac:chgData name="Sivanajani Sivakumar (s)" userId="4776fc03-dc6b-4f1f-87d3-02aad9c7f697" providerId="ADAL" clId="{E8863F7B-69DF-4DAA-A099-521D898155B5}" dt="2026-08-04T12:24:07.939" v="901" actId="20577"/>
          <ac:spMkLst>
            <pc:docMk/>
            <pc:sldMk cId="0" sldId="283"/>
            <ac:spMk id="8" creationId="{00000000-0000-0000-0000-000000000000}"/>
          </ac:spMkLst>
        </pc:spChg>
        <pc:spChg chg="mod">
          <ac:chgData name="Sivanajani Sivakumar (s)" userId="4776fc03-dc6b-4f1f-87d3-02aad9c7f697" providerId="ADAL" clId="{E8863F7B-69DF-4DAA-A099-521D898155B5}" dt="2026-08-04T10:55:24.451" v="398" actId="12788"/>
          <ac:spMkLst>
            <pc:docMk/>
            <pc:sldMk cId="0" sldId="283"/>
            <ac:spMk id="13" creationId="{00000000-0000-0000-0000-000000000000}"/>
          </ac:spMkLst>
        </pc:spChg>
        <pc:spChg chg="mod">
          <ac:chgData name="Sivanajani Sivakumar (s)" userId="4776fc03-dc6b-4f1f-87d3-02aad9c7f697" providerId="ADAL" clId="{E8863F7B-69DF-4DAA-A099-521D898155B5}" dt="2026-08-04T10:55:24.451" v="398" actId="12788"/>
          <ac:spMkLst>
            <pc:docMk/>
            <pc:sldMk cId="0" sldId="283"/>
            <ac:spMk id="15" creationId="{00000000-0000-0000-0000-000000000000}"/>
          </ac:spMkLst>
        </pc:spChg>
        <pc:spChg chg="mod">
          <ac:chgData name="Sivanajani Sivakumar (s)" userId="4776fc03-dc6b-4f1f-87d3-02aad9c7f697" providerId="ADAL" clId="{E8863F7B-69DF-4DAA-A099-521D898155B5}" dt="2026-08-04T10:55:24.451" v="398" actId="12788"/>
          <ac:spMkLst>
            <pc:docMk/>
            <pc:sldMk cId="0" sldId="283"/>
            <ac:spMk id="16" creationId="{00000000-0000-0000-0000-000000000000}"/>
          </ac:spMkLst>
        </pc:spChg>
        <pc:spChg chg="add del mod">
          <ac:chgData name="Sivanajani Sivakumar (s)" userId="4776fc03-dc6b-4f1f-87d3-02aad9c7f697" providerId="ADAL" clId="{E8863F7B-69DF-4DAA-A099-521D898155B5}" dt="2026-08-04T10:54:26.846" v="373" actId="22"/>
          <ac:spMkLst>
            <pc:docMk/>
            <pc:sldMk cId="0" sldId="283"/>
            <ac:spMk id="21" creationId="{373411BA-20E0-DA68-BF5F-44E8AE00B8BE}"/>
          </ac:spMkLst>
        </pc:spChg>
        <pc:spChg chg="add del mod">
          <ac:chgData name="Sivanajani Sivakumar (s)" userId="4776fc03-dc6b-4f1f-87d3-02aad9c7f697" providerId="ADAL" clId="{E8863F7B-69DF-4DAA-A099-521D898155B5}" dt="2026-08-04T10:54:26.846" v="373" actId="22"/>
          <ac:spMkLst>
            <pc:docMk/>
            <pc:sldMk cId="0" sldId="283"/>
            <ac:spMk id="25" creationId="{6C8B5B6B-0F5C-C97F-B767-8861C78171DA}"/>
          </ac:spMkLst>
        </pc:spChg>
        <pc:spChg chg="add del mod">
          <ac:chgData name="Sivanajani Sivakumar (s)" userId="4776fc03-dc6b-4f1f-87d3-02aad9c7f697" providerId="ADAL" clId="{E8863F7B-69DF-4DAA-A099-521D898155B5}" dt="2026-08-04T10:54:26.846" v="373" actId="22"/>
          <ac:spMkLst>
            <pc:docMk/>
            <pc:sldMk cId="0" sldId="283"/>
            <ac:spMk id="27" creationId="{3F98F36D-1059-9841-6FF5-CF570739BF7D}"/>
          </ac:spMkLst>
        </pc:spChg>
        <pc:spChg chg="add mod">
          <ac:chgData name="Sivanajani Sivakumar (s)" userId="4776fc03-dc6b-4f1f-87d3-02aad9c7f697" providerId="ADAL" clId="{E8863F7B-69DF-4DAA-A099-521D898155B5}" dt="2026-08-04T10:55:24.451" v="398" actId="12788"/>
          <ac:spMkLst>
            <pc:docMk/>
            <pc:sldMk cId="0" sldId="283"/>
            <ac:spMk id="29" creationId="{86E9E10E-C805-6F6E-1114-C5C2B5DB901A}"/>
          </ac:spMkLst>
        </pc:spChg>
        <pc:spChg chg="add mod">
          <ac:chgData name="Sivanajani Sivakumar (s)" userId="4776fc03-dc6b-4f1f-87d3-02aad9c7f697" providerId="ADAL" clId="{E8863F7B-69DF-4DAA-A099-521D898155B5}" dt="2026-08-04T10:55:24.451" v="398" actId="12788"/>
          <ac:spMkLst>
            <pc:docMk/>
            <pc:sldMk cId="0" sldId="283"/>
            <ac:spMk id="33" creationId="{6052C775-EE43-84DD-2B82-7E7D43132E36}"/>
          </ac:spMkLst>
        </pc:spChg>
        <pc:spChg chg="add mod">
          <ac:chgData name="Sivanajani Sivakumar (s)" userId="4776fc03-dc6b-4f1f-87d3-02aad9c7f697" providerId="ADAL" clId="{E8863F7B-69DF-4DAA-A099-521D898155B5}" dt="2026-08-04T10:55:24.451" v="398" actId="12788"/>
          <ac:spMkLst>
            <pc:docMk/>
            <pc:sldMk cId="0" sldId="283"/>
            <ac:spMk id="35" creationId="{A37ACA4F-18CD-6407-34B7-61B0708812A9}"/>
          </ac:spMkLst>
        </pc:spChg>
        <pc:picChg chg="mod">
          <ac:chgData name="Sivanajani Sivakumar (s)" userId="4776fc03-dc6b-4f1f-87d3-02aad9c7f697" providerId="ADAL" clId="{E8863F7B-69DF-4DAA-A099-521D898155B5}" dt="2026-08-04T10:55:24.451" v="398" actId="12788"/>
          <ac:picMkLst>
            <pc:docMk/>
            <pc:sldMk cId="0" sldId="283"/>
            <ac:picMk id="14" creationId="{00000000-0000-0000-0000-000000000000}"/>
          </ac:picMkLst>
        </pc:picChg>
        <pc:picChg chg="add del mod">
          <ac:chgData name="Sivanajani Sivakumar (s)" userId="4776fc03-dc6b-4f1f-87d3-02aad9c7f697" providerId="ADAL" clId="{E8863F7B-69DF-4DAA-A099-521D898155B5}" dt="2026-08-04T10:54:43.100" v="379" actId="21"/>
          <ac:picMkLst>
            <pc:docMk/>
            <pc:sldMk cId="0" sldId="283"/>
            <ac:picMk id="19" creationId="{29323021-7FE0-2B6C-9160-3FB9D11EA30B}"/>
          </ac:picMkLst>
        </pc:picChg>
        <pc:picChg chg="add del mod">
          <ac:chgData name="Sivanajani Sivakumar (s)" userId="4776fc03-dc6b-4f1f-87d3-02aad9c7f697" providerId="ADAL" clId="{E8863F7B-69DF-4DAA-A099-521D898155B5}" dt="2026-08-04T10:54:26.846" v="373" actId="22"/>
          <ac:picMkLst>
            <pc:docMk/>
            <pc:sldMk cId="0" sldId="283"/>
            <ac:picMk id="23" creationId="{AC839B74-0C75-0702-B841-357A651DDCAE}"/>
          </ac:picMkLst>
        </pc:picChg>
        <pc:picChg chg="add mod">
          <ac:chgData name="Sivanajani Sivakumar (s)" userId="4776fc03-dc6b-4f1f-87d3-02aad9c7f697" providerId="ADAL" clId="{E8863F7B-69DF-4DAA-A099-521D898155B5}" dt="2026-08-04T10:55:24.451" v="398" actId="12788"/>
          <ac:picMkLst>
            <pc:docMk/>
            <pc:sldMk cId="0" sldId="283"/>
            <ac:picMk id="31" creationId="{D2F8189F-6F56-29CA-673E-656C9180BDCC}"/>
          </ac:picMkLst>
        </pc:picChg>
      </pc:sldChg>
      <pc:sldChg chg="new del">
        <pc:chgData name="Sivanajani Sivakumar (s)" userId="4776fc03-dc6b-4f1f-87d3-02aad9c7f697" providerId="ADAL" clId="{E8863F7B-69DF-4DAA-A099-521D898155B5}" dt="2026-08-04T13:00:39.151" v="1230" actId="680"/>
        <pc:sldMkLst>
          <pc:docMk/>
          <pc:sldMk cId="1911100279" sldId="284"/>
        </pc:sldMkLst>
      </pc:sldChg>
      <pc:sldChg chg="new del">
        <pc:chgData name="Sivanajani Sivakumar (s)" userId="4776fc03-dc6b-4f1f-87d3-02aad9c7f697" providerId="ADAL" clId="{E8863F7B-69DF-4DAA-A099-521D898155B5}" dt="2026-08-04T13:00:38.550" v="1229" actId="680"/>
        <pc:sldMkLst>
          <pc:docMk/>
          <pc:sldMk cId="8082955" sldId="285"/>
        </pc:sldMkLst>
      </pc:sldChg>
      <pc:sldChg chg="new del">
        <pc:chgData name="Sivanajani Sivakumar (s)" userId="4776fc03-dc6b-4f1f-87d3-02aad9c7f697" providerId="ADAL" clId="{E8863F7B-69DF-4DAA-A099-521D898155B5}" dt="2026-08-04T13:00:38.003" v="1228" actId="680"/>
        <pc:sldMkLst>
          <pc:docMk/>
          <pc:sldMk cId="3703024143" sldId="28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141666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0"/>
              <a:t>For </a:t>
            </a:r>
            <a:r>
              <a:rPr lang="de-DE" b="0" err="1"/>
              <a:t>most</a:t>
            </a:r>
            <a:r>
              <a:rPr lang="de-DE" b="0"/>
              <a:t> </a:t>
            </a:r>
            <a:r>
              <a:rPr lang="de-DE" b="0" err="1"/>
              <a:t>patients</a:t>
            </a:r>
            <a:r>
              <a:rPr lang="de-DE" b="0"/>
              <a:t>, the </a:t>
            </a:r>
            <a:r>
              <a:rPr lang="de-DE" b="0" err="1"/>
              <a:t>most</a:t>
            </a:r>
            <a:r>
              <a:rPr lang="de-DE" b="0"/>
              <a:t> </a:t>
            </a:r>
            <a:r>
              <a:rPr lang="de-DE" b="0" err="1"/>
              <a:t>difficult</a:t>
            </a:r>
            <a:r>
              <a:rPr lang="de-DE" b="0"/>
              <a:t> </a:t>
            </a:r>
            <a:r>
              <a:rPr lang="de-DE" b="0" err="1"/>
              <a:t>part</a:t>
            </a:r>
            <a:r>
              <a:rPr lang="de-DE" b="0"/>
              <a:t> of </a:t>
            </a:r>
            <a:r>
              <a:rPr lang="de-DE" b="0" err="1"/>
              <a:t>surgery</a:t>
            </a:r>
            <a:r>
              <a:rPr lang="de-DE" b="0"/>
              <a:t> </a:t>
            </a:r>
            <a:r>
              <a:rPr lang="de-DE" b="0" err="1"/>
              <a:t>begins</a:t>
            </a:r>
            <a:r>
              <a:rPr lang="de-DE" b="0"/>
              <a:t> after </a:t>
            </a:r>
            <a:r>
              <a:rPr lang="de-DE" b="0" err="1"/>
              <a:t>they</a:t>
            </a:r>
            <a:r>
              <a:rPr lang="de-DE" b="0"/>
              <a:t> </a:t>
            </a:r>
            <a:r>
              <a:rPr lang="de-DE" b="0" err="1"/>
              <a:t>leave</a:t>
            </a:r>
            <a:r>
              <a:rPr lang="de-DE" b="0"/>
              <a:t> the </a:t>
            </a:r>
            <a:r>
              <a:rPr lang="de-DE" b="0" err="1"/>
              <a:t>hospital</a:t>
            </a:r>
            <a:r>
              <a:rPr lang="de-DE" b="0"/>
              <a:t>. Picture </a:t>
            </a:r>
            <a:r>
              <a:rPr lang="de-DE" b="0" err="1"/>
              <a:t>this</a:t>
            </a:r>
            <a:r>
              <a:rPr lang="de-DE" b="0"/>
              <a:t> </a:t>
            </a:r>
            <a:r>
              <a:rPr lang="de-DE" b="0" err="1"/>
              <a:t>scenario</a:t>
            </a:r>
            <a:r>
              <a:rPr lang="de-DE" b="0"/>
              <a:t>: </a:t>
            </a:r>
            <a:r>
              <a:rPr lang="de-DE" b="0" err="1"/>
              <a:t>You</a:t>
            </a:r>
            <a:r>
              <a:rPr lang="de-DE" b="0"/>
              <a:t> </a:t>
            </a:r>
            <a:r>
              <a:rPr lang="de-DE" b="0" err="1"/>
              <a:t>have</a:t>
            </a:r>
            <a:r>
              <a:rPr lang="de-DE" b="0"/>
              <a:t> </a:t>
            </a:r>
            <a:r>
              <a:rPr lang="de-DE" b="0" err="1"/>
              <a:t>returned</a:t>
            </a:r>
            <a:r>
              <a:rPr lang="de-DE" b="0"/>
              <a:t> </a:t>
            </a:r>
            <a:r>
              <a:rPr lang="de-DE" b="0" err="1"/>
              <a:t>home</a:t>
            </a:r>
            <a:r>
              <a:rPr lang="de-DE" b="0"/>
              <a:t> after </a:t>
            </a:r>
            <a:r>
              <a:rPr lang="de-DE" b="0" err="1"/>
              <a:t>surgery</a:t>
            </a:r>
            <a:r>
              <a:rPr lang="de-DE" b="0"/>
              <a:t>. </a:t>
            </a:r>
            <a:r>
              <a:rPr lang="de-DE" b="0" err="1"/>
              <a:t>Your</a:t>
            </a:r>
            <a:r>
              <a:rPr lang="de-DE" b="0"/>
              <a:t> </a:t>
            </a:r>
            <a:r>
              <a:rPr lang="de-DE" b="0" err="1"/>
              <a:t>wound</a:t>
            </a:r>
            <a:r>
              <a:rPr lang="de-DE" b="0"/>
              <a:t> </a:t>
            </a:r>
            <a:r>
              <a:rPr lang="de-DE" b="0" err="1"/>
              <a:t>looks</a:t>
            </a:r>
            <a:r>
              <a:rPr lang="de-DE" b="0"/>
              <a:t> different </a:t>
            </a:r>
            <a:r>
              <a:rPr lang="de-DE" b="0" err="1"/>
              <a:t>today</a:t>
            </a:r>
            <a:r>
              <a:rPr lang="de-DE" b="0"/>
              <a:t>. </a:t>
            </a:r>
            <a:r>
              <a:rPr lang="de-DE" b="0" err="1"/>
              <a:t>Is</a:t>
            </a:r>
            <a:r>
              <a:rPr lang="de-DE" b="0"/>
              <a:t> it normal… </a:t>
            </a:r>
            <a:r>
              <a:rPr lang="de-DE" b="0" err="1"/>
              <a:t>or</a:t>
            </a:r>
            <a:r>
              <a:rPr lang="de-DE" b="0"/>
              <a:t> </a:t>
            </a:r>
            <a:r>
              <a:rPr lang="de-DE" b="0" err="1"/>
              <a:t>should</a:t>
            </a:r>
            <a:r>
              <a:rPr lang="de-DE" b="0"/>
              <a:t> </a:t>
            </a:r>
            <a:r>
              <a:rPr lang="de-DE" b="0" err="1"/>
              <a:t>you</a:t>
            </a:r>
            <a:r>
              <a:rPr lang="de-DE" b="0"/>
              <a:t> </a:t>
            </a:r>
            <a:r>
              <a:rPr lang="de-DE" b="0" err="1"/>
              <a:t>call</a:t>
            </a:r>
            <a:r>
              <a:rPr lang="de-DE" b="0"/>
              <a:t> </a:t>
            </a:r>
            <a:r>
              <a:rPr lang="de-DE" b="0" err="1"/>
              <a:t>your</a:t>
            </a:r>
            <a:r>
              <a:rPr lang="de-DE" b="0"/>
              <a:t> </a:t>
            </a:r>
            <a:r>
              <a:rPr lang="de-DE" b="0" err="1"/>
              <a:t>doctor</a:t>
            </a:r>
            <a:r>
              <a:rPr lang="de-DE" b="0"/>
              <a:t>?"</a:t>
            </a:r>
          </a:p>
          <a:p>
            <a:pPr marL="0" marR="0" lvl="0" indent="0" algn="l" defTabSz="914400" rtl="0" eaLnBrk="1" fontAlgn="auto" latinLnBrk="0" hangingPunct="1">
              <a:lnSpc>
                <a:spcPct val="100000"/>
              </a:lnSpc>
              <a:spcBef>
                <a:spcPts val="0"/>
              </a:spcBef>
              <a:spcAft>
                <a:spcPts val="0"/>
              </a:spcAft>
              <a:buClrTx/>
              <a:buSzTx/>
              <a:buFontTx/>
              <a:buNone/>
              <a:tabLst/>
              <a:defRPr/>
            </a:pPr>
            <a:br>
              <a:rPr lang="de-DE" b="0"/>
            </a:br>
            <a:r>
              <a:rPr lang="de-DE" b="0"/>
              <a:t>This </a:t>
            </a:r>
            <a:r>
              <a:rPr lang="de-DE" b="0" err="1"/>
              <a:t>is</a:t>
            </a:r>
            <a:r>
              <a:rPr lang="de-DE" b="0"/>
              <a:t> </a:t>
            </a:r>
            <a:r>
              <a:rPr lang="de-DE" b="0" err="1"/>
              <a:t>where</a:t>
            </a:r>
            <a:r>
              <a:rPr lang="de-DE" b="0"/>
              <a:t> </a:t>
            </a:r>
            <a:r>
              <a:rPr lang="de-DE" b="0" err="1"/>
              <a:t>WundCheck</a:t>
            </a:r>
            <a:r>
              <a:rPr lang="de-DE" b="0"/>
              <a:t> </a:t>
            </a:r>
            <a:r>
              <a:rPr lang="de-DE" b="0" err="1"/>
              <a:t>steps</a:t>
            </a:r>
            <a:r>
              <a:rPr lang="de-DE" b="0"/>
              <a:t> in:</a:t>
            </a:r>
            <a:br>
              <a:rPr lang="de-DE" b="0"/>
            </a:br>
            <a:r>
              <a:rPr lang="de-DE" b="0" err="1"/>
              <a:t>WundCheck</a:t>
            </a:r>
            <a:r>
              <a:rPr lang="de-DE" b="0"/>
              <a:t> </a:t>
            </a:r>
            <a:r>
              <a:rPr lang="de-DE" b="0" err="1"/>
              <a:t>is</a:t>
            </a:r>
            <a:r>
              <a:rPr lang="de-DE" b="0"/>
              <a:t> a </a:t>
            </a:r>
            <a:r>
              <a:rPr lang="de-DE" b="0" err="1"/>
              <a:t>wound</a:t>
            </a:r>
            <a:r>
              <a:rPr lang="de-DE" b="0"/>
              <a:t> </a:t>
            </a:r>
            <a:r>
              <a:rPr lang="de-CH" b="1" err="1"/>
              <a:t>guideline</a:t>
            </a:r>
            <a:r>
              <a:rPr lang="de-CH" b="1"/>
              <a:t> for </a:t>
            </a:r>
            <a:r>
              <a:rPr lang="de-CH" b="1" err="1"/>
              <a:t>health</a:t>
            </a:r>
            <a:r>
              <a:rPr lang="de-CH" b="1"/>
              <a:t> </a:t>
            </a:r>
            <a:r>
              <a:rPr lang="de-CH" b="1" err="1"/>
              <a:t>professionals</a:t>
            </a:r>
            <a:r>
              <a:rPr lang="de-CH" b="1"/>
              <a:t> -&gt; </a:t>
            </a:r>
            <a:r>
              <a:rPr lang="de-CH" b="1" err="1"/>
              <a:t>translated</a:t>
            </a:r>
            <a:r>
              <a:rPr lang="de-CH" b="1"/>
              <a:t> </a:t>
            </a:r>
            <a:r>
              <a:rPr lang="de-CH" b="1" err="1"/>
              <a:t>into</a:t>
            </a:r>
            <a:r>
              <a:rPr lang="de-CH" b="1"/>
              <a:t> an </a:t>
            </a:r>
            <a:r>
              <a:rPr lang="de-CH" b="1" err="1"/>
              <a:t>instrument</a:t>
            </a:r>
            <a:r>
              <a:rPr lang="de-CH" b="1"/>
              <a:t> for </a:t>
            </a:r>
            <a:r>
              <a:rPr lang="de-CH" b="1" err="1"/>
              <a:t>people</a:t>
            </a:r>
            <a:r>
              <a:rPr lang="de-CH" b="1"/>
              <a:t> </a:t>
            </a:r>
            <a:r>
              <a:rPr lang="de-CH" b="1" err="1"/>
              <a:t>without</a:t>
            </a:r>
            <a:r>
              <a:rPr lang="de-CH" b="1"/>
              <a:t> a </a:t>
            </a:r>
            <a:r>
              <a:rPr lang="de-CH" b="1" err="1"/>
              <a:t>medical</a:t>
            </a:r>
            <a:r>
              <a:rPr lang="de-CH" b="1"/>
              <a:t> </a:t>
            </a:r>
            <a:r>
              <a:rPr lang="de-CH" b="1" err="1"/>
              <a:t>background</a:t>
            </a:r>
            <a:r>
              <a:rPr lang="de-CH" b="1"/>
              <a:t>.</a:t>
            </a:r>
            <a:br>
              <a:rPr lang="de-CH" b="1"/>
            </a:br>
            <a:endParaRPr lang="de-CH"/>
          </a:p>
          <a:p>
            <a:pPr rtl="0"/>
            <a:r>
              <a:rPr lang="de-CH" err="1"/>
              <a:t>We</a:t>
            </a:r>
            <a:r>
              <a:rPr lang="de-CH"/>
              <a:t> </a:t>
            </a:r>
            <a:r>
              <a:rPr lang="de-CH" err="1"/>
              <a:t>are</a:t>
            </a:r>
            <a:br>
              <a:rPr lang="de-CH"/>
            </a:br>
            <a:r>
              <a:rPr lang="de-CH"/>
              <a:t>Feline </a:t>
            </a:r>
          </a:p>
          <a:p>
            <a:pPr rtl="0"/>
            <a:r>
              <a:rPr lang="de-CH"/>
              <a:t>Najani</a:t>
            </a:r>
          </a:p>
          <a:p>
            <a:pPr rtl="0"/>
            <a:endParaRPr lang="de-CH"/>
          </a:p>
          <a:p>
            <a:pPr marL="0" marR="0" lvl="0" indent="0" algn="l" defTabSz="914400" rtl="0" eaLnBrk="1" fontAlgn="auto" latinLnBrk="0" hangingPunct="1">
              <a:lnSpc>
                <a:spcPct val="100000"/>
              </a:lnSpc>
              <a:spcBef>
                <a:spcPts val="0"/>
              </a:spcBef>
              <a:spcAft>
                <a:spcPts val="0"/>
              </a:spcAft>
              <a:buClrTx/>
              <a:buSzTx/>
              <a:buFontTx/>
              <a:buNone/>
              <a:tabLst/>
              <a:defRPr/>
            </a:pPr>
            <a:r>
              <a:rPr lang="de-CH"/>
              <a:t>And </a:t>
            </a:r>
            <a:r>
              <a:rPr lang="de-DE" err="1"/>
              <a:t>Our</a:t>
            </a:r>
            <a:r>
              <a:rPr lang="de-DE"/>
              <a:t> CDSS </a:t>
            </a:r>
            <a:r>
              <a:rPr lang="de-DE" err="1"/>
              <a:t>promotes</a:t>
            </a:r>
            <a:r>
              <a:rPr lang="de-DE"/>
              <a:t> </a:t>
            </a:r>
            <a:r>
              <a:rPr lang="de-DE" err="1"/>
              <a:t>patient</a:t>
            </a:r>
            <a:r>
              <a:rPr lang="de-DE"/>
              <a:t> </a:t>
            </a:r>
            <a:r>
              <a:rPr lang="de-DE" err="1"/>
              <a:t>empowerment</a:t>
            </a:r>
            <a:r>
              <a:rPr lang="de-DE"/>
              <a:t> by </a:t>
            </a:r>
            <a:r>
              <a:rPr lang="de-DE" err="1"/>
              <a:t>helping</a:t>
            </a:r>
            <a:r>
              <a:rPr lang="de-DE"/>
              <a:t> </a:t>
            </a:r>
            <a:r>
              <a:rPr lang="de-DE" err="1"/>
              <a:t>patients</a:t>
            </a:r>
            <a:r>
              <a:rPr lang="de-DE"/>
              <a:t> </a:t>
            </a:r>
            <a:r>
              <a:rPr lang="de-DE" err="1"/>
              <a:t>decide</a:t>
            </a:r>
            <a:r>
              <a:rPr lang="de-DE"/>
              <a:t> </a:t>
            </a:r>
            <a:r>
              <a:rPr lang="de-DE" err="1"/>
              <a:t>whether</a:t>
            </a:r>
            <a:r>
              <a:rPr lang="de-DE"/>
              <a:t> </a:t>
            </a:r>
            <a:r>
              <a:rPr lang="de-DE" err="1"/>
              <a:t>they</a:t>
            </a:r>
            <a:r>
              <a:rPr lang="de-DE"/>
              <a:t> </a:t>
            </a:r>
            <a:r>
              <a:rPr lang="de-DE" err="1"/>
              <a:t>should</a:t>
            </a:r>
            <a:r>
              <a:rPr lang="de-DE"/>
              <a:t> </a:t>
            </a:r>
            <a:r>
              <a:rPr lang="de-DE" err="1"/>
              <a:t>seek</a:t>
            </a:r>
            <a:r>
              <a:rPr lang="de-DE"/>
              <a:t> </a:t>
            </a:r>
            <a:r>
              <a:rPr lang="de-DE" err="1"/>
              <a:t>medical</a:t>
            </a:r>
            <a:r>
              <a:rPr lang="de-DE"/>
              <a:t> </a:t>
            </a:r>
            <a:r>
              <a:rPr lang="de-DE" err="1"/>
              <a:t>attention</a:t>
            </a:r>
            <a:r>
              <a:rPr lang="de-DE"/>
              <a:t> at a </a:t>
            </a:r>
            <a:r>
              <a:rPr lang="de-DE" err="1"/>
              <a:t>doctor</a:t>
            </a:r>
            <a:r>
              <a:rPr lang="de-DE"/>
              <a: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de-CH" dirty="0"/>
              <a:t>Najani</a:t>
            </a:r>
          </a:p>
          <a:p>
            <a:pPr rtl="0"/>
            <a:endParaRPr lang="de-CH" dirty="0"/>
          </a:p>
          <a:p>
            <a:pPr rtl="0"/>
            <a:r>
              <a:rPr lang="de-CH" dirty="0" err="1"/>
              <a:t>Thank</a:t>
            </a:r>
            <a:r>
              <a:rPr lang="de-CH" dirty="0"/>
              <a:t> </a:t>
            </a:r>
            <a:r>
              <a:rPr lang="de-CH" dirty="0" err="1"/>
              <a:t>you</a:t>
            </a:r>
            <a:r>
              <a:rPr lang="de-CH" dirty="0"/>
              <a:t> feline. So the </a:t>
            </a:r>
            <a:r>
              <a:rPr lang="de-CH" dirty="0" err="1"/>
              <a:t>number</a:t>
            </a:r>
            <a:r>
              <a:rPr lang="de-CH" dirty="0"/>
              <a:t> on the </a:t>
            </a:r>
            <a:r>
              <a:rPr lang="de-CH" dirty="0" err="1"/>
              <a:t>left</a:t>
            </a:r>
            <a:r>
              <a:rPr lang="de-CH" dirty="0"/>
              <a:t> </a:t>
            </a:r>
            <a:r>
              <a:rPr lang="de-CH" dirty="0" err="1"/>
              <a:t>is</a:t>
            </a:r>
            <a:r>
              <a:rPr lang="de-CH" dirty="0"/>
              <a:t> the </a:t>
            </a:r>
            <a:r>
              <a:rPr lang="de-CH" dirty="0" err="1"/>
              <a:t>whole</a:t>
            </a:r>
            <a:r>
              <a:rPr lang="de-CH" dirty="0"/>
              <a:t> </a:t>
            </a:r>
            <a:r>
              <a:rPr lang="de-CH" dirty="0" err="1"/>
              <a:t>problem</a:t>
            </a:r>
            <a:r>
              <a:rPr lang="de-CH" dirty="0"/>
              <a:t>. </a:t>
            </a:r>
            <a:r>
              <a:rPr lang="de-CH" b="1" dirty="0"/>
              <a:t>Sixty per </a:t>
            </a:r>
            <a:r>
              <a:rPr lang="de-CH" b="1" dirty="0" err="1"/>
              <a:t>cent</a:t>
            </a:r>
            <a:r>
              <a:rPr lang="de-CH" b="1" dirty="0"/>
              <a:t> of </a:t>
            </a:r>
            <a:r>
              <a:rPr lang="de-CH" b="1" dirty="0" err="1"/>
              <a:t>surgical</a:t>
            </a:r>
            <a:r>
              <a:rPr lang="de-CH" b="1" dirty="0"/>
              <a:t> </a:t>
            </a:r>
            <a:r>
              <a:rPr lang="de-CH" b="1" dirty="0" err="1"/>
              <a:t>site</a:t>
            </a:r>
            <a:r>
              <a:rPr lang="de-CH" b="1" dirty="0"/>
              <a:t> </a:t>
            </a:r>
            <a:r>
              <a:rPr lang="de-CH" b="1" dirty="0" err="1"/>
              <a:t>infections</a:t>
            </a:r>
            <a:r>
              <a:rPr lang="de-CH" b="1" dirty="0"/>
              <a:t> </a:t>
            </a:r>
            <a:r>
              <a:rPr lang="de-CH" b="1" dirty="0" err="1"/>
              <a:t>occur</a:t>
            </a:r>
            <a:r>
              <a:rPr lang="de-CH" b="1" dirty="0"/>
              <a:t> after </a:t>
            </a:r>
            <a:r>
              <a:rPr lang="de-CH" b="1" dirty="0" err="1"/>
              <a:t>discharge</a:t>
            </a:r>
            <a:r>
              <a:rPr lang="de-CH" b="1" dirty="0"/>
              <a:t>,</a:t>
            </a:r>
            <a:r>
              <a:rPr lang="de-CH" dirty="0"/>
              <a:t> </a:t>
            </a:r>
            <a:r>
              <a:rPr lang="de-CH" dirty="0" err="1"/>
              <a:t>that</a:t>
            </a:r>
            <a:r>
              <a:rPr lang="de-CH" dirty="0"/>
              <a:t> </a:t>
            </a:r>
            <a:r>
              <a:rPr lang="de-CH" dirty="0" err="1"/>
              <a:t>is</a:t>
            </a:r>
            <a:r>
              <a:rPr lang="de-CH" dirty="0"/>
              <a:t> a </a:t>
            </a:r>
            <a:r>
              <a:rPr lang="de-CH" dirty="0" err="1"/>
              <a:t>systematic</a:t>
            </a:r>
            <a:r>
              <a:rPr lang="de-CH" dirty="0"/>
              <a:t> review of 1.4 </a:t>
            </a:r>
            <a:r>
              <a:rPr lang="de-CH" dirty="0" err="1"/>
              <a:t>million</a:t>
            </a:r>
            <a:r>
              <a:rPr lang="de-CH" dirty="0"/>
              <a:t> </a:t>
            </a:r>
            <a:r>
              <a:rPr lang="de-CH" dirty="0" err="1"/>
              <a:t>operations</a:t>
            </a:r>
            <a:r>
              <a:rPr lang="de-CH" dirty="0"/>
              <a:t>. The CDC </a:t>
            </a:r>
            <a:r>
              <a:rPr lang="de-CH" dirty="0" err="1"/>
              <a:t>surveillance</a:t>
            </a:r>
            <a:r>
              <a:rPr lang="de-CH" dirty="0"/>
              <a:t> </a:t>
            </a:r>
            <a:r>
              <a:rPr lang="de-CH" dirty="0" err="1"/>
              <a:t>window</a:t>
            </a:r>
            <a:r>
              <a:rPr lang="de-CH" dirty="0"/>
              <a:t> </a:t>
            </a:r>
            <a:r>
              <a:rPr lang="de-CH" dirty="0" err="1"/>
              <a:t>is</a:t>
            </a:r>
            <a:r>
              <a:rPr lang="de-CH" dirty="0"/>
              <a:t> </a:t>
            </a:r>
            <a:r>
              <a:rPr lang="de-CH" dirty="0" err="1"/>
              <a:t>thirty</a:t>
            </a:r>
            <a:r>
              <a:rPr lang="de-CH" dirty="0"/>
              <a:t> </a:t>
            </a:r>
            <a:r>
              <a:rPr lang="de-CH" dirty="0" err="1"/>
              <a:t>days</a:t>
            </a:r>
            <a:r>
              <a:rPr lang="de-CH" dirty="0"/>
              <a:t>, </a:t>
            </a:r>
            <a:r>
              <a:rPr lang="de-CH" dirty="0" err="1"/>
              <a:t>ninety</a:t>
            </a:r>
            <a:r>
              <a:rPr lang="de-CH" dirty="0"/>
              <a:t> for </a:t>
            </a:r>
            <a:r>
              <a:rPr lang="de-CH" dirty="0" err="1"/>
              <a:t>implants</a:t>
            </a:r>
            <a:r>
              <a:rPr lang="de-CH" dirty="0"/>
              <a:t>. </a:t>
            </a:r>
            <a:r>
              <a:rPr lang="de-CH" dirty="0" err="1"/>
              <a:t>Almost</a:t>
            </a:r>
            <a:r>
              <a:rPr lang="de-CH" dirty="0"/>
              <a:t> all of </a:t>
            </a:r>
            <a:r>
              <a:rPr lang="de-CH" dirty="0" err="1"/>
              <a:t>that</a:t>
            </a:r>
            <a:r>
              <a:rPr lang="de-CH" dirty="0"/>
              <a:t> time the </a:t>
            </a:r>
            <a:r>
              <a:rPr lang="de-CH" dirty="0" err="1"/>
              <a:t>patient</a:t>
            </a:r>
            <a:r>
              <a:rPr lang="de-CH" dirty="0"/>
              <a:t> </a:t>
            </a:r>
            <a:r>
              <a:rPr lang="de-CH" dirty="0" err="1"/>
              <a:t>is</a:t>
            </a:r>
            <a:r>
              <a:rPr lang="de-CH" dirty="0"/>
              <a:t> at </a:t>
            </a:r>
            <a:r>
              <a:rPr lang="de-CH" dirty="0" err="1"/>
              <a:t>home</a:t>
            </a:r>
            <a:r>
              <a:rPr lang="de-CH" dirty="0"/>
              <a:t>.</a:t>
            </a:r>
          </a:p>
          <a:p>
            <a:pPr rtl="0"/>
            <a:r>
              <a:rPr lang="de-CH" dirty="0"/>
              <a:t>And the </a:t>
            </a:r>
            <a:r>
              <a:rPr lang="de-CH" dirty="0" err="1"/>
              <a:t>observation</a:t>
            </a:r>
            <a:r>
              <a:rPr lang="de-CH" dirty="0"/>
              <a:t> </a:t>
            </a:r>
            <a:r>
              <a:rPr lang="de-CH" dirty="0" err="1"/>
              <a:t>gap</a:t>
            </a:r>
            <a:r>
              <a:rPr lang="de-CH" dirty="0"/>
              <a:t> </a:t>
            </a:r>
            <a:r>
              <a:rPr lang="de-CH" dirty="0" err="1"/>
              <a:t>cuts</a:t>
            </a:r>
            <a:r>
              <a:rPr lang="de-CH" dirty="0"/>
              <a:t> </a:t>
            </a:r>
            <a:r>
              <a:rPr lang="de-CH" dirty="0" err="1"/>
              <a:t>both</a:t>
            </a:r>
            <a:r>
              <a:rPr lang="de-CH" dirty="0"/>
              <a:t> </a:t>
            </a:r>
            <a:r>
              <a:rPr lang="de-CH" dirty="0" err="1"/>
              <a:t>ways</a:t>
            </a:r>
            <a:r>
              <a:rPr lang="de-CH" dirty="0"/>
              <a:t>. </a:t>
            </a:r>
          </a:p>
          <a:p>
            <a:pPr rtl="0"/>
            <a:endParaRPr lang="de-CH" b="1" dirty="0"/>
          </a:p>
          <a:p>
            <a:pPr rtl="0"/>
            <a:r>
              <a:rPr lang="de-CH" b="1" dirty="0" err="1"/>
              <a:t>Either</a:t>
            </a:r>
            <a:r>
              <a:rPr lang="de-CH" b="1" dirty="0"/>
              <a:t> it </a:t>
            </a:r>
            <a:r>
              <a:rPr lang="de-CH" b="1" dirty="0" err="1"/>
              <a:t>is</a:t>
            </a:r>
            <a:r>
              <a:rPr lang="de-CH" b="1" dirty="0"/>
              <a:t> Too </a:t>
            </a:r>
            <a:r>
              <a:rPr lang="de-CH" b="1" dirty="0" err="1"/>
              <a:t>late</a:t>
            </a:r>
            <a:r>
              <a:rPr lang="de-CH" dirty="0"/>
              <a:t>: a </a:t>
            </a:r>
            <a:r>
              <a:rPr lang="de-CH" dirty="0" err="1"/>
              <a:t>warning</a:t>
            </a:r>
            <a:r>
              <a:rPr lang="de-CH" dirty="0"/>
              <a:t> </a:t>
            </a:r>
            <a:r>
              <a:rPr lang="de-CH" dirty="0" err="1"/>
              <a:t>sign</a:t>
            </a:r>
            <a:r>
              <a:rPr lang="de-CH" dirty="0"/>
              <a:t> </a:t>
            </a:r>
            <a:r>
              <a:rPr lang="de-CH" dirty="0" err="1"/>
              <a:t>gets</a:t>
            </a:r>
            <a:r>
              <a:rPr lang="de-CH" dirty="0"/>
              <a:t> </a:t>
            </a:r>
            <a:r>
              <a:rPr lang="de-CH" dirty="0" err="1"/>
              <a:t>read</a:t>
            </a:r>
            <a:r>
              <a:rPr lang="de-CH" dirty="0"/>
              <a:t> as normal </a:t>
            </a:r>
            <a:r>
              <a:rPr lang="de-CH" dirty="0" err="1"/>
              <a:t>healing</a:t>
            </a:r>
            <a:r>
              <a:rPr lang="de-CH" dirty="0"/>
              <a:t>, and </a:t>
            </a:r>
            <a:r>
              <a:rPr lang="de-CH" dirty="0" err="1"/>
              <a:t>treatment</a:t>
            </a:r>
            <a:r>
              <a:rPr lang="de-CH" dirty="0"/>
              <a:t> </a:t>
            </a:r>
            <a:r>
              <a:rPr lang="de-CH" dirty="0" err="1"/>
              <a:t>starts</a:t>
            </a:r>
            <a:r>
              <a:rPr lang="de-CH" dirty="0"/>
              <a:t> </a:t>
            </a:r>
            <a:r>
              <a:rPr lang="de-CH" dirty="0" err="1"/>
              <a:t>days</a:t>
            </a:r>
            <a:r>
              <a:rPr lang="de-CH" dirty="0"/>
              <a:t> </a:t>
            </a:r>
            <a:r>
              <a:rPr lang="de-CH" dirty="0" err="1"/>
              <a:t>later</a:t>
            </a:r>
            <a:r>
              <a:rPr lang="de-CH" dirty="0"/>
              <a:t> </a:t>
            </a:r>
            <a:r>
              <a:rPr lang="de-CH" dirty="0" err="1"/>
              <a:t>than</a:t>
            </a:r>
            <a:r>
              <a:rPr lang="de-CH" dirty="0"/>
              <a:t> it </a:t>
            </a:r>
            <a:r>
              <a:rPr lang="de-CH" dirty="0" err="1"/>
              <a:t>could</a:t>
            </a:r>
            <a:r>
              <a:rPr lang="de-CH" dirty="0"/>
              <a:t>. </a:t>
            </a:r>
            <a:r>
              <a:rPr lang="de-CH" dirty="0" err="1"/>
              <a:t>Or</a:t>
            </a:r>
            <a:r>
              <a:rPr lang="de-CH" dirty="0"/>
              <a:t> </a:t>
            </a:r>
            <a:r>
              <a:rPr lang="de-CH" b="1" dirty="0"/>
              <a:t>Too </a:t>
            </a:r>
            <a:r>
              <a:rPr lang="de-CH" b="1" dirty="0" err="1"/>
              <a:t>early</a:t>
            </a:r>
            <a:r>
              <a:rPr lang="de-CH" dirty="0"/>
              <a:t>: a </a:t>
            </a:r>
            <a:r>
              <a:rPr lang="de-CH" dirty="0" err="1"/>
              <a:t>scab</a:t>
            </a:r>
            <a:r>
              <a:rPr lang="de-CH" dirty="0"/>
              <a:t> </a:t>
            </a:r>
            <a:r>
              <a:rPr lang="de-CH" dirty="0" err="1"/>
              <a:t>or</a:t>
            </a:r>
            <a:r>
              <a:rPr lang="de-CH" dirty="0"/>
              <a:t> </a:t>
            </a:r>
            <a:r>
              <a:rPr lang="de-CH" dirty="0" err="1"/>
              <a:t>day-two</a:t>
            </a:r>
            <a:r>
              <a:rPr lang="de-CH" dirty="0"/>
              <a:t> </a:t>
            </a:r>
            <a:r>
              <a:rPr lang="de-CH" dirty="0" err="1"/>
              <a:t>redness</a:t>
            </a:r>
            <a:r>
              <a:rPr lang="de-CH" dirty="0"/>
              <a:t> </a:t>
            </a:r>
            <a:r>
              <a:rPr lang="de-CH" dirty="0" err="1"/>
              <a:t>triggers</a:t>
            </a:r>
            <a:r>
              <a:rPr lang="de-CH" dirty="0"/>
              <a:t> a </a:t>
            </a:r>
            <a:r>
              <a:rPr lang="de-CH" dirty="0" err="1"/>
              <a:t>call</a:t>
            </a:r>
            <a:r>
              <a:rPr lang="de-CH" dirty="0"/>
              <a:t> </a:t>
            </a:r>
            <a:r>
              <a:rPr lang="de-CH" dirty="0" err="1"/>
              <a:t>that</a:t>
            </a:r>
            <a:r>
              <a:rPr lang="de-CH" dirty="0"/>
              <a:t> </a:t>
            </a:r>
            <a:r>
              <a:rPr lang="de-CH" dirty="0" err="1"/>
              <a:t>costs</a:t>
            </a:r>
            <a:r>
              <a:rPr lang="de-CH" dirty="0"/>
              <a:t> </a:t>
            </a:r>
            <a:r>
              <a:rPr lang="de-CH" dirty="0" err="1"/>
              <a:t>practice</a:t>
            </a:r>
            <a:r>
              <a:rPr lang="de-CH" dirty="0"/>
              <a:t> time and </a:t>
            </a:r>
            <a:r>
              <a:rPr lang="de-CH" dirty="0" err="1"/>
              <a:t>frightens</a:t>
            </a:r>
            <a:r>
              <a:rPr lang="de-CH" dirty="0"/>
              <a:t> the </a:t>
            </a:r>
            <a:r>
              <a:rPr lang="de-CH" dirty="0" err="1"/>
              <a:t>patient</a:t>
            </a:r>
            <a:r>
              <a:rPr lang="de-CH" dirty="0"/>
              <a:t>.</a:t>
            </a:r>
          </a:p>
          <a:p>
            <a:pPr rtl="0"/>
            <a:endParaRPr lang="de-CH" dirty="0"/>
          </a:p>
          <a:p>
            <a:pPr rtl="0"/>
            <a:r>
              <a:rPr lang="de-CH" dirty="0" err="1"/>
              <a:t>We</a:t>
            </a:r>
            <a:r>
              <a:rPr lang="de-CH" dirty="0"/>
              <a:t> </a:t>
            </a:r>
            <a:r>
              <a:rPr lang="de-CH" dirty="0" err="1"/>
              <a:t>looked</a:t>
            </a:r>
            <a:r>
              <a:rPr lang="de-CH" dirty="0"/>
              <a:t> at the alternatives. A </a:t>
            </a:r>
            <a:r>
              <a:rPr lang="de-CH" dirty="0" err="1"/>
              <a:t>leaflet</a:t>
            </a:r>
            <a:r>
              <a:rPr lang="de-CH" dirty="0"/>
              <a:t> </a:t>
            </a:r>
            <a:r>
              <a:rPr lang="de-CH" dirty="0" err="1"/>
              <a:t>already</a:t>
            </a:r>
            <a:r>
              <a:rPr lang="de-CH" dirty="0"/>
              <a:t> </a:t>
            </a:r>
            <a:r>
              <a:rPr lang="de-CH" dirty="0" err="1"/>
              <a:t>exists</a:t>
            </a:r>
            <a:r>
              <a:rPr lang="de-CH" dirty="0"/>
              <a:t> </a:t>
            </a:r>
            <a:r>
              <a:rPr lang="de-CH" dirty="0" err="1"/>
              <a:t>everywhere</a:t>
            </a:r>
            <a:r>
              <a:rPr lang="de-CH" dirty="0"/>
              <a:t> and </a:t>
            </a:r>
            <a:r>
              <a:rPr lang="de-CH" dirty="0" err="1"/>
              <a:t>gives</a:t>
            </a:r>
            <a:r>
              <a:rPr lang="de-CH" dirty="0"/>
              <a:t> </a:t>
            </a:r>
            <a:r>
              <a:rPr lang="de-CH" dirty="0" err="1"/>
              <a:t>us</a:t>
            </a:r>
            <a:r>
              <a:rPr lang="de-CH" dirty="0"/>
              <a:t> </a:t>
            </a:r>
            <a:r>
              <a:rPr lang="de-CH" dirty="0" err="1"/>
              <a:t>no</a:t>
            </a:r>
            <a:r>
              <a:rPr lang="de-CH" dirty="0"/>
              <a:t> </a:t>
            </a:r>
            <a:r>
              <a:rPr lang="de-CH" dirty="0" err="1"/>
              <a:t>feedback</a:t>
            </a:r>
            <a:r>
              <a:rPr lang="de-CH" dirty="0"/>
              <a:t>. </a:t>
            </a:r>
            <a:r>
              <a:rPr lang="de-CH" b="1" dirty="0"/>
              <a:t>In a </a:t>
            </a:r>
            <a:r>
              <a:rPr lang="de-CH" b="1" dirty="0" err="1"/>
              <a:t>patient-facing</a:t>
            </a:r>
            <a:r>
              <a:rPr lang="de-CH" b="1" dirty="0"/>
              <a:t> </a:t>
            </a:r>
            <a:r>
              <a:rPr lang="de-CH" b="1" dirty="0" err="1"/>
              <a:t>safety</a:t>
            </a:r>
            <a:r>
              <a:rPr lang="de-CH" b="1" dirty="0"/>
              <a:t> </a:t>
            </a:r>
            <a:r>
              <a:rPr lang="de-CH" b="1" dirty="0" err="1"/>
              <a:t>context</a:t>
            </a:r>
            <a:r>
              <a:rPr lang="de-CH" b="1" dirty="0"/>
              <a:t>, </a:t>
            </a:r>
            <a:r>
              <a:rPr lang="de-CH" b="1" dirty="0" err="1"/>
              <a:t>explainability</a:t>
            </a:r>
            <a:r>
              <a:rPr lang="de-CH" b="1" dirty="0"/>
              <a:t> </a:t>
            </a:r>
            <a:r>
              <a:rPr lang="de-CH" b="1" dirty="0" err="1"/>
              <a:t>beats</a:t>
            </a:r>
            <a:r>
              <a:rPr lang="de-CH" b="1" dirty="0"/>
              <a:t> </a:t>
            </a:r>
            <a:r>
              <a:rPr lang="de-CH" b="1" dirty="0" err="1"/>
              <a:t>predictive</a:t>
            </a:r>
            <a:r>
              <a:rPr lang="de-CH" b="1" dirty="0"/>
              <a:t> </a:t>
            </a:r>
            <a:r>
              <a:rPr lang="de-CH" b="1" dirty="0" err="1"/>
              <a:t>accuracy</a:t>
            </a:r>
            <a:r>
              <a:rPr lang="de-CH" b="1" dirty="0"/>
              <a:t>,</a:t>
            </a:r>
            <a:r>
              <a:rPr lang="de-CH" dirty="0"/>
              <a:t> so: a </a:t>
            </a:r>
            <a:r>
              <a:rPr lang="de-CH" dirty="0" err="1"/>
              <a:t>rule-based</a:t>
            </a:r>
            <a:r>
              <a:rPr lang="de-CH" dirty="0"/>
              <a:t> CDSS, </a:t>
            </a:r>
            <a:r>
              <a:rPr lang="de-CH" dirty="0" err="1"/>
              <a:t>traceable</a:t>
            </a:r>
            <a:r>
              <a:rPr lang="de-CH" dirty="0"/>
              <a:t> to a </a:t>
            </a:r>
            <a:r>
              <a:rPr lang="de-CH" dirty="0" err="1"/>
              <a:t>guideline</a:t>
            </a:r>
            <a:r>
              <a:rPr lang="de-CH" dirty="0"/>
              <a:t>, maintainable by </a:t>
            </a:r>
            <a:r>
              <a:rPr lang="de-CH" dirty="0" err="1"/>
              <a:t>clinicians</a:t>
            </a:r>
            <a:r>
              <a:rPr lang="de-CH" dirty="0"/>
              <a:t> (</a:t>
            </a:r>
            <a:r>
              <a:rPr lang="de-CH" dirty="0" err="1"/>
              <a:t>Kli-nischens</a:t>
            </a:r>
            <a:r>
              <a:rPr lang="de-CH" dirty="0"/>
              <a: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dirty="0" err="1"/>
              <a:t>Our</a:t>
            </a:r>
            <a:r>
              <a:rPr lang="de-DE" b="1" dirty="0"/>
              <a:t> </a:t>
            </a:r>
            <a:r>
              <a:rPr lang="de-DE" b="1" dirty="0" err="1"/>
              <a:t>scenario</a:t>
            </a:r>
            <a:r>
              <a:rPr lang="de-DE" b="1" dirty="0"/>
              <a:t> </a:t>
            </a:r>
            <a:r>
              <a:rPr lang="de-DE" b="1" dirty="0" err="1"/>
              <a:t>includes</a:t>
            </a:r>
            <a:r>
              <a:rPr lang="de-DE" b="1" dirty="0"/>
              <a:t> </a:t>
            </a:r>
            <a:r>
              <a:rPr lang="de-DE" b="1" dirty="0" err="1"/>
              <a:t>three</a:t>
            </a:r>
            <a:r>
              <a:rPr lang="de-DE" b="1" dirty="0"/>
              <a:t> </a:t>
            </a:r>
            <a:r>
              <a:rPr lang="de-DE" b="1" dirty="0" err="1"/>
              <a:t>users</a:t>
            </a:r>
            <a:r>
              <a:rPr lang="de-DE" b="1" dirty="0"/>
              <a:t>, but </a:t>
            </a:r>
            <a:r>
              <a:rPr lang="de-DE" b="1" dirty="0" err="1"/>
              <a:t>only</a:t>
            </a:r>
            <a:r>
              <a:rPr lang="de-DE" b="1" dirty="0"/>
              <a:t> </a:t>
            </a:r>
            <a:r>
              <a:rPr lang="de-DE" b="1" dirty="0" err="1"/>
              <a:t>one</a:t>
            </a:r>
            <a:r>
              <a:rPr lang="de-DE" b="1" dirty="0"/>
              <a:t> </a:t>
            </a:r>
            <a:r>
              <a:rPr lang="de-DE" b="1" dirty="0" err="1"/>
              <a:t>interacts</a:t>
            </a:r>
            <a:r>
              <a:rPr lang="de-DE" b="1" dirty="0"/>
              <a:t> </a:t>
            </a:r>
            <a:r>
              <a:rPr lang="de-DE" b="1" dirty="0" err="1"/>
              <a:t>directly</a:t>
            </a:r>
            <a:r>
              <a:rPr lang="de-DE" b="1" dirty="0"/>
              <a:t> </a:t>
            </a:r>
            <a:r>
              <a:rPr lang="de-DE" b="1" dirty="0" err="1"/>
              <a:t>with</a:t>
            </a:r>
            <a:r>
              <a:rPr lang="de-DE" b="1" dirty="0"/>
              <a:t> the </a:t>
            </a:r>
            <a:r>
              <a:rPr lang="de-DE" b="1" dirty="0" err="1"/>
              <a:t>app</a:t>
            </a:r>
            <a:r>
              <a:rPr lang="de-DE" b="1" dirty="0"/>
              <a:t>.</a:t>
            </a:r>
          </a:p>
          <a:p>
            <a:endParaRPr lang="de-DE" dirty="0"/>
          </a:p>
          <a:p>
            <a:r>
              <a:rPr lang="de-DE" b="1" dirty="0"/>
              <a:t>Peter</a:t>
            </a:r>
            <a:r>
              <a:rPr lang="de-DE" dirty="0"/>
              <a:t> </a:t>
            </a:r>
            <a:r>
              <a:rPr lang="de-DE" dirty="0" err="1"/>
              <a:t>is</a:t>
            </a:r>
            <a:r>
              <a:rPr lang="de-DE" dirty="0"/>
              <a:t> the </a:t>
            </a:r>
            <a:r>
              <a:rPr lang="de-DE" dirty="0" err="1"/>
              <a:t>patient</a:t>
            </a:r>
            <a:r>
              <a:rPr lang="de-DE" dirty="0"/>
              <a:t>, </a:t>
            </a:r>
            <a:r>
              <a:rPr lang="de-DE" b="1" dirty="0"/>
              <a:t>Sandra</a:t>
            </a:r>
            <a:r>
              <a:rPr lang="de-DE" dirty="0"/>
              <a:t> </a:t>
            </a:r>
            <a:r>
              <a:rPr lang="de-DE" dirty="0" err="1"/>
              <a:t>is</a:t>
            </a:r>
            <a:r>
              <a:rPr lang="de-DE" dirty="0"/>
              <a:t> the </a:t>
            </a:r>
            <a:r>
              <a:rPr lang="de-DE" dirty="0" err="1"/>
              <a:t>triage</a:t>
            </a:r>
            <a:r>
              <a:rPr lang="de-DE" dirty="0"/>
              <a:t> </a:t>
            </a:r>
            <a:r>
              <a:rPr lang="de-DE" dirty="0" err="1"/>
              <a:t>assistant</a:t>
            </a:r>
            <a:r>
              <a:rPr lang="de-DE" dirty="0"/>
              <a:t>, and </a:t>
            </a:r>
            <a:r>
              <a:rPr lang="de-DE" b="1" dirty="0" err="1"/>
              <a:t>Dr</a:t>
            </a:r>
            <a:r>
              <a:rPr lang="de-DE" b="1" dirty="0"/>
              <a:t> Keller</a:t>
            </a:r>
            <a:r>
              <a:rPr lang="de-DE" dirty="0"/>
              <a:t> </a:t>
            </a:r>
            <a:r>
              <a:rPr lang="de-DE" dirty="0" err="1"/>
              <a:t>is</a:t>
            </a:r>
            <a:r>
              <a:rPr lang="de-DE" dirty="0"/>
              <a:t> the </a:t>
            </a:r>
            <a:r>
              <a:rPr lang="de-DE" dirty="0" err="1"/>
              <a:t>treating</a:t>
            </a:r>
            <a:r>
              <a:rPr lang="de-DE" dirty="0"/>
              <a:t> </a:t>
            </a:r>
            <a:r>
              <a:rPr lang="de-DE" dirty="0" err="1"/>
              <a:t>physician</a:t>
            </a:r>
            <a:r>
              <a:rPr lang="de-DE" dirty="0"/>
              <a:t>. </a:t>
            </a:r>
            <a:r>
              <a:rPr lang="de-DE" dirty="0" err="1"/>
              <a:t>Each</a:t>
            </a:r>
            <a:r>
              <a:rPr lang="de-DE" dirty="0"/>
              <a:t> </a:t>
            </a:r>
            <a:r>
              <a:rPr lang="de-DE" dirty="0" err="1"/>
              <a:t>persona</a:t>
            </a:r>
            <a:r>
              <a:rPr lang="de-DE" dirty="0"/>
              <a:t> </a:t>
            </a:r>
            <a:r>
              <a:rPr lang="de-DE" dirty="0" err="1"/>
              <a:t>represents</a:t>
            </a:r>
            <a:r>
              <a:rPr lang="de-DE" dirty="0"/>
              <a:t> different </a:t>
            </a:r>
            <a:r>
              <a:rPr lang="de-DE" dirty="0" err="1"/>
              <a:t>user</a:t>
            </a:r>
            <a:r>
              <a:rPr lang="de-DE" dirty="0"/>
              <a:t> </a:t>
            </a:r>
            <a:r>
              <a:rPr lang="de-DE" dirty="0" err="1"/>
              <a:t>needs</a:t>
            </a:r>
            <a:r>
              <a:rPr lang="de-DE" dirty="0"/>
              <a:t> </a:t>
            </a:r>
            <a:r>
              <a:rPr lang="de-DE" dirty="0" err="1"/>
              <a:t>that</a:t>
            </a:r>
            <a:r>
              <a:rPr lang="de-DE" dirty="0"/>
              <a:t> </a:t>
            </a:r>
            <a:r>
              <a:rPr lang="de-DE" dirty="0" err="1"/>
              <a:t>shaped</a:t>
            </a:r>
            <a:r>
              <a:rPr lang="de-DE" dirty="0"/>
              <a:t> </a:t>
            </a:r>
            <a:r>
              <a:rPr lang="de-DE" dirty="0" err="1"/>
              <a:t>our</a:t>
            </a:r>
            <a:r>
              <a:rPr lang="de-DE" dirty="0"/>
              <a:t> design.</a:t>
            </a:r>
          </a:p>
          <a:p>
            <a:endParaRPr lang="de-DE" dirty="0"/>
          </a:p>
          <a:p>
            <a:r>
              <a:rPr lang="de-DE" b="1" dirty="0"/>
              <a:t>For Peter</a:t>
            </a:r>
            <a:r>
              <a:rPr lang="de-DE" dirty="0"/>
              <a:t>, </a:t>
            </a:r>
            <a:r>
              <a:rPr lang="de-DE" dirty="0" err="1"/>
              <a:t>we</a:t>
            </a:r>
            <a:r>
              <a:rPr lang="de-DE" dirty="0"/>
              <a:t> </a:t>
            </a:r>
            <a:r>
              <a:rPr lang="de-DE" dirty="0" err="1"/>
              <a:t>use</a:t>
            </a:r>
            <a:r>
              <a:rPr lang="de-DE" dirty="0"/>
              <a:t> image-</a:t>
            </a:r>
            <a:r>
              <a:rPr lang="de-DE" dirty="0" err="1"/>
              <a:t>based</a:t>
            </a:r>
            <a:r>
              <a:rPr lang="de-DE" dirty="0"/>
              <a:t> </a:t>
            </a:r>
            <a:r>
              <a:rPr lang="de-DE" dirty="0" err="1"/>
              <a:t>wound</a:t>
            </a:r>
            <a:r>
              <a:rPr lang="de-DE" dirty="0"/>
              <a:t> </a:t>
            </a:r>
            <a:r>
              <a:rPr lang="de-DE" dirty="0" err="1"/>
              <a:t>assessment</a:t>
            </a:r>
            <a:r>
              <a:rPr lang="de-DE" dirty="0"/>
              <a:t> and </a:t>
            </a:r>
            <a:r>
              <a:rPr lang="de-DE" dirty="0" err="1"/>
              <a:t>plain</a:t>
            </a:r>
            <a:r>
              <a:rPr lang="de-DE" dirty="0"/>
              <a:t> </a:t>
            </a:r>
            <a:r>
              <a:rPr lang="de-DE" dirty="0" err="1"/>
              <a:t>language</a:t>
            </a:r>
            <a:r>
              <a:rPr lang="de-DE" dirty="0"/>
              <a:t> </a:t>
            </a:r>
            <a:r>
              <a:rPr lang="de-DE" dirty="0" err="1"/>
              <a:t>instead</a:t>
            </a:r>
            <a:r>
              <a:rPr lang="de-DE" dirty="0"/>
              <a:t> of </a:t>
            </a:r>
            <a:r>
              <a:rPr lang="de-DE" dirty="0" err="1"/>
              <a:t>medical</a:t>
            </a:r>
            <a:r>
              <a:rPr lang="de-DE" dirty="0"/>
              <a:t> </a:t>
            </a:r>
            <a:r>
              <a:rPr lang="de-DE" dirty="0" err="1"/>
              <a:t>terminology</a:t>
            </a:r>
            <a:r>
              <a:rPr lang="de-DE" dirty="0"/>
              <a:t>.</a:t>
            </a:r>
          </a:p>
          <a:p>
            <a:endParaRPr lang="de-DE" dirty="0"/>
          </a:p>
          <a:p>
            <a:r>
              <a:rPr lang="de-DE" b="1" dirty="0"/>
              <a:t>For Sandra</a:t>
            </a:r>
            <a:r>
              <a:rPr lang="de-DE" dirty="0"/>
              <a:t>, </a:t>
            </a:r>
            <a:r>
              <a:rPr lang="de-DE" dirty="0" err="1"/>
              <a:t>cases</a:t>
            </a:r>
            <a:r>
              <a:rPr lang="de-DE" dirty="0"/>
              <a:t> </a:t>
            </a:r>
            <a:r>
              <a:rPr lang="de-DE" dirty="0" err="1"/>
              <a:t>are</a:t>
            </a:r>
            <a:r>
              <a:rPr lang="de-DE" dirty="0"/>
              <a:t> </a:t>
            </a:r>
            <a:r>
              <a:rPr lang="de-DE" dirty="0" err="1"/>
              <a:t>automatically</a:t>
            </a:r>
            <a:r>
              <a:rPr lang="de-DE" dirty="0"/>
              <a:t> </a:t>
            </a:r>
            <a:r>
              <a:rPr lang="de-DE" dirty="0" err="1"/>
              <a:t>assigned</a:t>
            </a:r>
            <a:r>
              <a:rPr lang="de-DE" dirty="0"/>
              <a:t> a </a:t>
            </a:r>
            <a:r>
              <a:rPr lang="de-DE" dirty="0" err="1"/>
              <a:t>triage</a:t>
            </a:r>
            <a:r>
              <a:rPr lang="de-DE" dirty="0"/>
              <a:t> </a:t>
            </a:r>
            <a:r>
              <a:rPr lang="de-DE" dirty="0" err="1"/>
              <a:t>level</a:t>
            </a:r>
            <a:r>
              <a:rPr lang="de-DE" dirty="0"/>
              <a:t>, and </a:t>
            </a:r>
            <a:r>
              <a:rPr lang="de-DE" dirty="0" err="1"/>
              <a:t>she</a:t>
            </a:r>
            <a:r>
              <a:rPr lang="de-DE" dirty="0"/>
              <a:t> </a:t>
            </a:r>
            <a:r>
              <a:rPr lang="de-DE" dirty="0" err="1"/>
              <a:t>only</a:t>
            </a:r>
            <a:r>
              <a:rPr lang="de-DE" dirty="0"/>
              <a:t> </a:t>
            </a:r>
            <a:r>
              <a:rPr lang="de-DE" dirty="0" err="1"/>
              <a:t>receives</a:t>
            </a:r>
            <a:r>
              <a:rPr lang="de-DE" dirty="0"/>
              <a:t> </a:t>
            </a:r>
            <a:r>
              <a:rPr lang="de-DE" dirty="0" err="1"/>
              <a:t>alerts</a:t>
            </a:r>
            <a:r>
              <a:rPr lang="de-DE" dirty="0"/>
              <a:t> for orange and </a:t>
            </a:r>
            <a:r>
              <a:rPr lang="de-DE" dirty="0" err="1"/>
              <a:t>red</a:t>
            </a:r>
            <a:r>
              <a:rPr lang="de-DE" dirty="0"/>
              <a:t> </a:t>
            </a:r>
            <a:r>
              <a:rPr lang="de-DE" dirty="0" err="1"/>
              <a:t>cases</a:t>
            </a:r>
            <a:r>
              <a:rPr lang="de-DE" dirty="0"/>
              <a:t>.</a:t>
            </a:r>
          </a:p>
          <a:p>
            <a:endParaRPr lang="de-DE" dirty="0"/>
          </a:p>
          <a:p>
            <a:r>
              <a:rPr lang="de-DE" b="1" dirty="0"/>
              <a:t>For </a:t>
            </a:r>
            <a:r>
              <a:rPr lang="de-DE" b="1" dirty="0" err="1"/>
              <a:t>Dr</a:t>
            </a:r>
            <a:r>
              <a:rPr lang="de-DE" b="1" dirty="0"/>
              <a:t> Keller</a:t>
            </a:r>
            <a:r>
              <a:rPr lang="de-DE" dirty="0"/>
              <a:t>, </a:t>
            </a:r>
            <a:r>
              <a:rPr lang="de-DE" dirty="0" err="1"/>
              <a:t>every</a:t>
            </a:r>
            <a:r>
              <a:rPr lang="de-DE" dirty="0"/>
              <a:t> </a:t>
            </a:r>
            <a:r>
              <a:rPr lang="de-DE" dirty="0" err="1"/>
              <a:t>assessment</a:t>
            </a:r>
            <a:r>
              <a:rPr lang="de-DE" dirty="0"/>
              <a:t> </a:t>
            </a:r>
            <a:r>
              <a:rPr lang="de-DE" dirty="0" err="1"/>
              <a:t>is</a:t>
            </a:r>
            <a:r>
              <a:rPr lang="de-DE" dirty="0"/>
              <a:t> </a:t>
            </a:r>
            <a:r>
              <a:rPr lang="de-DE" dirty="0" err="1"/>
              <a:t>automatically</a:t>
            </a:r>
            <a:r>
              <a:rPr lang="de-DE" dirty="0"/>
              <a:t> </a:t>
            </a:r>
            <a:r>
              <a:rPr lang="de-DE" dirty="0" err="1"/>
              <a:t>written</a:t>
            </a:r>
            <a:r>
              <a:rPr lang="de-DE" dirty="0"/>
              <a:t> to the electronic </a:t>
            </a:r>
            <a:r>
              <a:rPr lang="de-DE" dirty="0" err="1"/>
              <a:t>health</a:t>
            </a:r>
            <a:r>
              <a:rPr lang="de-DE" dirty="0"/>
              <a:t> </a:t>
            </a:r>
            <a:r>
              <a:rPr lang="de-DE" dirty="0" err="1"/>
              <a:t>record</a:t>
            </a:r>
            <a:r>
              <a:rPr lang="de-DE" dirty="0"/>
              <a:t>, </a:t>
            </a:r>
            <a:r>
              <a:rPr lang="de-DE" dirty="0" err="1"/>
              <a:t>providing</a:t>
            </a:r>
            <a:r>
              <a:rPr lang="de-DE" dirty="0"/>
              <a:t> a </a:t>
            </a:r>
            <a:r>
              <a:rPr lang="de-DE" dirty="0" err="1"/>
              <a:t>complete</a:t>
            </a:r>
            <a:r>
              <a:rPr lang="de-DE" dirty="0"/>
              <a:t> </a:t>
            </a:r>
            <a:r>
              <a:rPr lang="de-DE" dirty="0" err="1"/>
              <a:t>wound</a:t>
            </a:r>
            <a:r>
              <a:rPr lang="de-DE" dirty="0"/>
              <a:t> </a:t>
            </a:r>
            <a:r>
              <a:rPr lang="de-DE" dirty="0" err="1"/>
              <a:t>trajectory</a:t>
            </a:r>
            <a:r>
              <a:rPr lang="de-DE" dirty="0"/>
              <a:t>.</a:t>
            </a:r>
          </a:p>
          <a:p>
            <a:endParaRPr lang="de-DE" dirty="0"/>
          </a:p>
          <a:p>
            <a:r>
              <a:rPr lang="de-DE" b="1" dirty="0"/>
              <a:t>For </a:t>
            </a:r>
            <a:r>
              <a:rPr lang="de-DE" b="1" dirty="0" err="1"/>
              <a:t>example</a:t>
            </a:r>
            <a:r>
              <a:rPr lang="de-DE" b="1" dirty="0"/>
              <a:t>:</a:t>
            </a:r>
            <a:r>
              <a:rPr lang="de-DE" dirty="0"/>
              <a:t> On </a:t>
            </a:r>
            <a:r>
              <a:rPr lang="de-DE" dirty="0" err="1"/>
              <a:t>day</a:t>
            </a:r>
            <a:r>
              <a:rPr lang="de-DE" dirty="0"/>
              <a:t> </a:t>
            </a:r>
            <a:r>
              <a:rPr lang="de-DE" dirty="0" err="1"/>
              <a:t>six</a:t>
            </a:r>
            <a:r>
              <a:rPr lang="de-DE" dirty="0"/>
              <a:t> after </a:t>
            </a:r>
            <a:r>
              <a:rPr lang="de-DE" dirty="0" err="1"/>
              <a:t>his</a:t>
            </a:r>
            <a:r>
              <a:rPr lang="de-DE" dirty="0"/>
              <a:t> </a:t>
            </a:r>
            <a:r>
              <a:rPr lang="de-DE" dirty="0" err="1"/>
              <a:t>knee-surgery</a:t>
            </a:r>
            <a:r>
              <a:rPr lang="de-DE" dirty="0"/>
              <a:t>, Peter </a:t>
            </a:r>
            <a:r>
              <a:rPr lang="de-DE" dirty="0" err="1"/>
              <a:t>notices</a:t>
            </a:r>
            <a:r>
              <a:rPr lang="de-DE" dirty="0"/>
              <a:t> a </a:t>
            </a:r>
            <a:r>
              <a:rPr lang="de-DE" dirty="0" err="1"/>
              <a:t>scab</a:t>
            </a:r>
            <a:r>
              <a:rPr lang="de-DE" dirty="0"/>
              <a:t> and </a:t>
            </a:r>
            <a:r>
              <a:rPr lang="de-DE" dirty="0" err="1"/>
              <a:t>worries</a:t>
            </a:r>
            <a:r>
              <a:rPr lang="de-DE" dirty="0"/>
              <a:t> </a:t>
            </a:r>
            <a:r>
              <a:rPr lang="de-DE" dirty="0" err="1"/>
              <a:t>about</a:t>
            </a:r>
            <a:r>
              <a:rPr lang="de-DE" dirty="0"/>
              <a:t> an </a:t>
            </a:r>
            <a:r>
              <a:rPr lang="de-DE" dirty="0" err="1"/>
              <a:t>infection</a:t>
            </a:r>
            <a:r>
              <a:rPr lang="de-DE" dirty="0"/>
              <a:t>. </a:t>
            </a:r>
            <a:r>
              <a:rPr lang="de-DE" dirty="0" err="1"/>
              <a:t>WundCheck</a:t>
            </a:r>
            <a:r>
              <a:rPr lang="de-DE" dirty="0"/>
              <a:t> </a:t>
            </a:r>
            <a:r>
              <a:rPr lang="de-DE" dirty="0" err="1"/>
              <a:t>classifies</a:t>
            </a:r>
            <a:r>
              <a:rPr lang="de-DE" dirty="0"/>
              <a:t> the </a:t>
            </a:r>
            <a:r>
              <a:rPr lang="de-DE" dirty="0" err="1"/>
              <a:t>wound</a:t>
            </a:r>
            <a:r>
              <a:rPr lang="de-DE" dirty="0"/>
              <a:t> as </a:t>
            </a:r>
            <a:r>
              <a:rPr lang="de-DE" dirty="0" err="1"/>
              <a:t>green</a:t>
            </a:r>
            <a:r>
              <a:rPr lang="de-DE" dirty="0"/>
              <a:t> and </a:t>
            </a:r>
            <a:r>
              <a:rPr lang="de-DE" dirty="0" err="1"/>
              <a:t>explains</a:t>
            </a:r>
            <a:r>
              <a:rPr lang="de-DE" dirty="0"/>
              <a:t> </a:t>
            </a:r>
            <a:r>
              <a:rPr lang="de-DE" dirty="0" err="1"/>
              <a:t>that</a:t>
            </a:r>
            <a:r>
              <a:rPr lang="de-DE" dirty="0"/>
              <a:t> a </a:t>
            </a:r>
            <a:r>
              <a:rPr lang="de-DE" dirty="0" err="1"/>
              <a:t>scab</a:t>
            </a:r>
            <a:r>
              <a:rPr lang="de-DE" dirty="0"/>
              <a:t> </a:t>
            </a:r>
            <a:r>
              <a:rPr lang="de-DE" dirty="0" err="1"/>
              <a:t>is</a:t>
            </a:r>
            <a:r>
              <a:rPr lang="de-DE" dirty="0"/>
              <a:t> a normal </a:t>
            </a:r>
            <a:r>
              <a:rPr lang="de-DE" dirty="0" err="1"/>
              <a:t>part</a:t>
            </a:r>
            <a:r>
              <a:rPr lang="de-DE" dirty="0"/>
              <a:t> of </a:t>
            </a:r>
            <a:r>
              <a:rPr lang="de-DE" dirty="0" err="1"/>
              <a:t>healing</a:t>
            </a:r>
            <a:r>
              <a:rPr lang="de-DE" dirty="0"/>
              <a:t>. Peter </a:t>
            </a:r>
            <a:r>
              <a:rPr lang="de-DE" dirty="0" err="1"/>
              <a:t>avoids</a:t>
            </a:r>
            <a:r>
              <a:rPr lang="de-DE" dirty="0"/>
              <a:t> an </a:t>
            </a:r>
            <a:r>
              <a:rPr lang="de-DE" dirty="0" err="1"/>
              <a:t>unnecessary</a:t>
            </a:r>
            <a:r>
              <a:rPr lang="de-DE" dirty="0"/>
              <a:t> </a:t>
            </a:r>
            <a:r>
              <a:rPr lang="de-DE" dirty="0" err="1"/>
              <a:t>phone</a:t>
            </a:r>
            <a:r>
              <a:rPr lang="de-DE" dirty="0"/>
              <a:t> </a:t>
            </a:r>
            <a:r>
              <a:rPr lang="de-DE" dirty="0" err="1"/>
              <a:t>call</a:t>
            </a:r>
            <a:r>
              <a:rPr lang="de-DE" dirty="0"/>
              <a:t>, </a:t>
            </a:r>
            <a:r>
              <a:rPr lang="de-DE" dirty="0" err="1"/>
              <a:t>while</a:t>
            </a:r>
            <a:r>
              <a:rPr lang="de-DE" dirty="0"/>
              <a:t> the </a:t>
            </a:r>
            <a:r>
              <a:rPr lang="de-DE" dirty="0" err="1"/>
              <a:t>assessment</a:t>
            </a:r>
            <a:r>
              <a:rPr lang="de-DE" dirty="0"/>
              <a:t> </a:t>
            </a:r>
            <a:r>
              <a:rPr lang="de-DE" dirty="0" err="1"/>
              <a:t>is</a:t>
            </a:r>
            <a:r>
              <a:rPr lang="de-DE" dirty="0"/>
              <a:t> still </a:t>
            </a:r>
            <a:r>
              <a:rPr lang="de-DE" dirty="0" err="1"/>
              <a:t>documented</a:t>
            </a:r>
            <a:r>
              <a:rPr lang="de-DE" dirty="0"/>
              <a:t> for </a:t>
            </a:r>
            <a:r>
              <a:rPr lang="de-DE" dirty="0" err="1"/>
              <a:t>Dr</a:t>
            </a:r>
            <a:r>
              <a:rPr lang="de-DE" dirty="0"/>
              <a:t> </a:t>
            </a:r>
            <a:r>
              <a:rPr lang="de-DE" dirty="0" err="1"/>
              <a:t>Keller's</a:t>
            </a:r>
            <a:r>
              <a:rPr lang="de-DE" dirty="0"/>
              <a:t> follow-</a:t>
            </a:r>
            <a:r>
              <a:rPr lang="de-DE" dirty="0" err="1"/>
              <a:t>up</a:t>
            </a:r>
            <a:r>
              <a:rPr lang="de-DE" dirty="0"/>
              <a:t>.</a:t>
            </a:r>
          </a:p>
          <a:p>
            <a:pPr rtl="0"/>
            <a:endParaRPr lang="de-CH"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dirty="0" err="1"/>
              <a:t>We</a:t>
            </a:r>
            <a:r>
              <a:rPr lang="de-DE" b="1" dirty="0"/>
              <a:t> </a:t>
            </a:r>
            <a:r>
              <a:rPr lang="de-DE" b="1" dirty="0" err="1"/>
              <a:t>based</a:t>
            </a:r>
            <a:r>
              <a:rPr lang="de-DE" b="1" dirty="0"/>
              <a:t> </a:t>
            </a:r>
            <a:r>
              <a:rPr lang="de-DE" b="1" dirty="0" err="1"/>
              <a:t>our</a:t>
            </a:r>
            <a:r>
              <a:rPr lang="de-DE" b="1" dirty="0"/>
              <a:t> CDSS on </a:t>
            </a:r>
            <a:r>
              <a:rPr lang="de-DE" b="1" dirty="0" err="1"/>
              <a:t>four</a:t>
            </a:r>
            <a:r>
              <a:rPr lang="de-DE" b="1" dirty="0"/>
              <a:t> </a:t>
            </a:r>
            <a:r>
              <a:rPr lang="de-DE" b="1" dirty="0" err="1"/>
              <a:t>complementary</a:t>
            </a:r>
            <a:r>
              <a:rPr lang="de-DE" b="1" dirty="0"/>
              <a:t> </a:t>
            </a:r>
            <a:r>
              <a:rPr lang="de-DE" b="1" dirty="0" err="1"/>
              <a:t>sources</a:t>
            </a:r>
            <a:r>
              <a:rPr lang="de-DE" b="1" dirty="0"/>
              <a:t>, </a:t>
            </a:r>
            <a:r>
              <a:rPr lang="de-DE" b="1" dirty="0" err="1"/>
              <a:t>each</a:t>
            </a:r>
            <a:r>
              <a:rPr lang="de-DE" b="1" dirty="0"/>
              <a:t> </a:t>
            </a:r>
            <a:r>
              <a:rPr lang="de-DE" b="1" dirty="0" err="1"/>
              <a:t>serving</a:t>
            </a:r>
            <a:r>
              <a:rPr lang="de-DE" b="1" dirty="0"/>
              <a:t> a different </a:t>
            </a:r>
            <a:r>
              <a:rPr lang="de-DE" b="1" dirty="0" err="1"/>
              <a:t>purpose</a:t>
            </a:r>
            <a:r>
              <a:rPr lang="de-DE" b="1" dirty="0"/>
              <a:t>.</a:t>
            </a:r>
            <a:endParaRPr lang="de-DE" dirty="0"/>
          </a:p>
          <a:p>
            <a:pPr lvl="0"/>
            <a:r>
              <a:rPr lang="de-DE" dirty="0"/>
              <a:t>-The </a:t>
            </a:r>
            <a:r>
              <a:rPr lang="de-DE" b="1" dirty="0"/>
              <a:t>CDC</a:t>
            </a:r>
            <a:r>
              <a:rPr lang="de-DE" dirty="0"/>
              <a:t> </a:t>
            </a:r>
            <a:r>
              <a:rPr lang="de-DE" dirty="0" err="1"/>
              <a:t>provides</a:t>
            </a:r>
            <a:r>
              <a:rPr lang="de-DE" dirty="0"/>
              <a:t> the </a:t>
            </a:r>
            <a:r>
              <a:rPr lang="de-DE" dirty="0" err="1"/>
              <a:t>clinical</a:t>
            </a:r>
            <a:r>
              <a:rPr lang="de-DE" dirty="0"/>
              <a:t> </a:t>
            </a:r>
            <a:r>
              <a:rPr lang="de-DE" dirty="0" err="1"/>
              <a:t>definition</a:t>
            </a:r>
            <a:r>
              <a:rPr lang="de-DE" dirty="0"/>
              <a:t> of a </a:t>
            </a:r>
            <a:r>
              <a:rPr lang="de-DE" dirty="0" err="1"/>
              <a:t>surgical</a:t>
            </a:r>
            <a:r>
              <a:rPr lang="de-DE" dirty="0"/>
              <a:t> </a:t>
            </a:r>
            <a:r>
              <a:rPr lang="de-DE" dirty="0" err="1"/>
              <a:t>site</a:t>
            </a:r>
            <a:r>
              <a:rPr lang="de-DE" dirty="0"/>
              <a:t> </a:t>
            </a:r>
            <a:r>
              <a:rPr lang="de-DE" dirty="0" err="1"/>
              <a:t>infection</a:t>
            </a:r>
            <a:r>
              <a:rPr lang="de-DE" dirty="0"/>
              <a:t>. </a:t>
            </a:r>
          </a:p>
          <a:p>
            <a:pPr lvl="0"/>
            <a:r>
              <a:rPr lang="de-DE" dirty="0"/>
              <a:t>-The </a:t>
            </a:r>
            <a:r>
              <a:rPr lang="de-DE" b="1" dirty="0"/>
              <a:t>NICE </a:t>
            </a:r>
            <a:r>
              <a:rPr lang="de-DE" b="1" dirty="0" err="1"/>
              <a:t>guideline</a:t>
            </a:r>
            <a:r>
              <a:rPr lang="de-DE" dirty="0"/>
              <a:t> </a:t>
            </a:r>
            <a:r>
              <a:rPr lang="de-DE" dirty="0" err="1"/>
              <a:t>defines</a:t>
            </a:r>
            <a:r>
              <a:rPr lang="de-DE" dirty="0"/>
              <a:t> </a:t>
            </a:r>
            <a:r>
              <a:rPr lang="de-DE" dirty="0" err="1"/>
              <a:t>what</a:t>
            </a:r>
            <a:r>
              <a:rPr lang="de-DE" dirty="0"/>
              <a:t> </a:t>
            </a:r>
            <a:r>
              <a:rPr lang="de-DE" dirty="0" err="1"/>
              <a:t>patients</a:t>
            </a:r>
            <a:r>
              <a:rPr lang="de-DE" dirty="0"/>
              <a:t> </a:t>
            </a:r>
            <a:r>
              <a:rPr lang="de-DE" dirty="0" err="1"/>
              <a:t>should</a:t>
            </a:r>
            <a:r>
              <a:rPr lang="de-DE" dirty="0"/>
              <a:t> </a:t>
            </a:r>
            <a:r>
              <a:rPr lang="de-DE" dirty="0" err="1"/>
              <a:t>know</a:t>
            </a:r>
            <a:r>
              <a:rPr lang="de-DE" dirty="0"/>
              <a:t> and </a:t>
            </a:r>
            <a:r>
              <a:rPr lang="de-DE" dirty="0" err="1"/>
              <a:t>when</a:t>
            </a:r>
            <a:r>
              <a:rPr lang="de-DE" dirty="0"/>
              <a:t> </a:t>
            </a:r>
            <a:r>
              <a:rPr lang="de-DE" dirty="0" err="1"/>
              <a:t>they</a:t>
            </a:r>
            <a:r>
              <a:rPr lang="de-DE" dirty="0"/>
              <a:t> </a:t>
            </a:r>
            <a:r>
              <a:rPr lang="de-DE" dirty="0" err="1"/>
              <a:t>should</a:t>
            </a:r>
            <a:r>
              <a:rPr lang="de-DE" dirty="0"/>
              <a:t> </a:t>
            </a:r>
            <a:r>
              <a:rPr lang="de-DE" dirty="0" err="1"/>
              <a:t>seek</a:t>
            </a:r>
            <a:r>
              <a:rPr lang="de-DE" dirty="0"/>
              <a:t> </a:t>
            </a:r>
            <a:r>
              <a:rPr lang="de-DE" dirty="0" err="1"/>
              <a:t>medical</a:t>
            </a:r>
            <a:r>
              <a:rPr lang="de-DE" dirty="0"/>
              <a:t> </a:t>
            </a:r>
            <a:r>
              <a:rPr lang="de-DE" dirty="0" err="1"/>
              <a:t>advice</a:t>
            </a:r>
            <a:r>
              <a:rPr lang="de-DE" dirty="0"/>
              <a:t>. </a:t>
            </a:r>
          </a:p>
          <a:p>
            <a:pPr lvl="0"/>
            <a:r>
              <a:rPr lang="de-DE" dirty="0"/>
              <a:t>-The </a:t>
            </a:r>
            <a:r>
              <a:rPr lang="de-DE" b="1" dirty="0"/>
              <a:t>Southampton </a:t>
            </a:r>
            <a:r>
              <a:rPr lang="de-DE" b="1" dirty="0" err="1"/>
              <a:t>Wound</a:t>
            </a:r>
            <a:r>
              <a:rPr lang="de-DE" b="1" dirty="0"/>
              <a:t> Scale</a:t>
            </a:r>
            <a:r>
              <a:rPr lang="de-DE" dirty="0"/>
              <a:t> </a:t>
            </a:r>
            <a:r>
              <a:rPr lang="de-DE" dirty="0" err="1"/>
              <a:t>provides</a:t>
            </a:r>
            <a:r>
              <a:rPr lang="de-DE" dirty="0"/>
              <a:t> a </a:t>
            </a:r>
            <a:r>
              <a:rPr lang="de-DE" dirty="0" err="1"/>
              <a:t>standardized</a:t>
            </a:r>
            <a:r>
              <a:rPr lang="de-DE" dirty="0"/>
              <a:t> </a:t>
            </a:r>
            <a:r>
              <a:rPr lang="de-DE" dirty="0" err="1"/>
              <a:t>visual</a:t>
            </a:r>
            <a:r>
              <a:rPr lang="de-DE" dirty="0"/>
              <a:t> </a:t>
            </a:r>
            <a:r>
              <a:rPr lang="de-DE" dirty="0" err="1"/>
              <a:t>classification</a:t>
            </a:r>
            <a:r>
              <a:rPr lang="de-DE" dirty="0"/>
              <a:t> of postoperative </a:t>
            </a:r>
            <a:r>
              <a:rPr lang="de-DE" dirty="0" err="1"/>
              <a:t>wounds</a:t>
            </a:r>
            <a:r>
              <a:rPr lang="de-DE" dirty="0"/>
              <a:t>. </a:t>
            </a:r>
          </a:p>
          <a:p>
            <a:endParaRPr lang="de-DE" b="1" dirty="0"/>
          </a:p>
          <a:p>
            <a:r>
              <a:rPr lang="de-DE" b="1" dirty="0" err="1"/>
              <a:t>Our</a:t>
            </a:r>
            <a:r>
              <a:rPr lang="de-DE" b="1" dirty="0"/>
              <a:t> </a:t>
            </a:r>
            <a:r>
              <a:rPr lang="de-DE" b="1" dirty="0" err="1"/>
              <a:t>main</a:t>
            </a:r>
            <a:r>
              <a:rPr lang="de-DE" b="1" dirty="0"/>
              <a:t> </a:t>
            </a:r>
            <a:r>
              <a:rPr lang="de-DE" b="1" dirty="0" err="1"/>
              <a:t>reference</a:t>
            </a:r>
            <a:r>
              <a:rPr lang="de-DE" b="1" dirty="0"/>
              <a:t> was a </a:t>
            </a:r>
            <a:r>
              <a:rPr lang="de-DE" b="1" dirty="0" err="1"/>
              <a:t>study</a:t>
            </a:r>
            <a:r>
              <a:rPr lang="de-DE" b="1" dirty="0"/>
              <a:t> </a:t>
            </a:r>
            <a:r>
              <a:rPr lang="de-DE" dirty="0"/>
              <a:t>on </a:t>
            </a:r>
            <a:r>
              <a:rPr lang="de-DE" dirty="0" err="1"/>
              <a:t>implant</a:t>
            </a:r>
            <a:r>
              <a:rPr lang="de-DE" dirty="0"/>
              <a:t> </a:t>
            </a:r>
            <a:r>
              <a:rPr lang="de-DE" dirty="0" err="1"/>
              <a:t>failure</a:t>
            </a:r>
            <a:r>
              <a:rPr lang="de-DE" dirty="0"/>
              <a:t> and </a:t>
            </a:r>
            <a:r>
              <a:rPr lang="de-DE" dirty="0" err="1"/>
              <a:t>wound</a:t>
            </a:r>
            <a:r>
              <a:rPr lang="de-DE" dirty="0"/>
              <a:t> </a:t>
            </a:r>
            <a:r>
              <a:rPr lang="de-DE" dirty="0" err="1"/>
              <a:t>assessment</a:t>
            </a:r>
            <a:r>
              <a:rPr lang="de-DE" dirty="0"/>
              <a:t>. Rather </a:t>
            </a:r>
            <a:r>
              <a:rPr lang="de-DE" dirty="0" err="1"/>
              <a:t>than</a:t>
            </a:r>
            <a:r>
              <a:rPr lang="de-DE" dirty="0"/>
              <a:t> </a:t>
            </a:r>
            <a:r>
              <a:rPr lang="de-DE" dirty="0" err="1"/>
              <a:t>using</a:t>
            </a:r>
            <a:r>
              <a:rPr lang="de-DE" dirty="0"/>
              <a:t> the Southampton Scale as a </a:t>
            </a:r>
            <a:r>
              <a:rPr lang="de-DE" dirty="0" err="1"/>
              <a:t>prognostic</a:t>
            </a:r>
            <a:r>
              <a:rPr lang="de-DE" dirty="0"/>
              <a:t> score like in the </a:t>
            </a:r>
            <a:r>
              <a:rPr lang="de-DE" dirty="0" err="1"/>
              <a:t>paper</a:t>
            </a:r>
            <a:r>
              <a:rPr lang="de-DE" dirty="0"/>
              <a:t>, </a:t>
            </a:r>
            <a:r>
              <a:rPr lang="de-DE" dirty="0" err="1"/>
              <a:t>we</a:t>
            </a:r>
            <a:r>
              <a:rPr lang="de-DE" dirty="0"/>
              <a:t> </a:t>
            </a:r>
            <a:r>
              <a:rPr lang="de-DE" dirty="0" err="1"/>
              <a:t>used</a:t>
            </a:r>
            <a:r>
              <a:rPr lang="de-DE" dirty="0"/>
              <a:t> it as a </a:t>
            </a:r>
            <a:r>
              <a:rPr lang="de-DE" dirty="0" err="1"/>
              <a:t>standardized</a:t>
            </a:r>
            <a:r>
              <a:rPr lang="de-DE" dirty="0"/>
              <a:t> </a:t>
            </a:r>
            <a:r>
              <a:rPr lang="de-DE" dirty="0" err="1"/>
              <a:t>framework</a:t>
            </a:r>
            <a:r>
              <a:rPr lang="de-DE" dirty="0"/>
              <a:t> for </a:t>
            </a:r>
            <a:r>
              <a:rPr lang="de-DE" dirty="0" err="1"/>
              <a:t>wound</a:t>
            </a:r>
            <a:r>
              <a:rPr lang="de-DE" dirty="0"/>
              <a:t> </a:t>
            </a:r>
            <a:r>
              <a:rPr lang="de-DE" dirty="0" err="1"/>
              <a:t>assessment</a:t>
            </a:r>
            <a:r>
              <a:rPr lang="de-DE" dirty="0"/>
              <a:t> and </a:t>
            </a:r>
            <a:r>
              <a:rPr lang="de-DE" dirty="0" err="1"/>
              <a:t>patient</a:t>
            </a:r>
            <a:r>
              <a:rPr lang="de-DE" dirty="0"/>
              <a:t> </a:t>
            </a:r>
            <a:r>
              <a:rPr lang="de-DE" dirty="0" err="1"/>
              <a:t>triage</a:t>
            </a:r>
            <a:r>
              <a:rPr lang="de-DE" dirty="0"/>
              <a:t>.</a:t>
            </a:r>
            <a:endParaRPr lang="de-DE" b="1" dirty="0"/>
          </a:p>
          <a:p>
            <a:r>
              <a:rPr lang="de-DE" b="1" dirty="0"/>
              <a:t>The ASEPSIS Score </a:t>
            </a:r>
            <a:r>
              <a:rPr lang="de-DE" b="1" dirty="0" err="1"/>
              <a:t>showed</a:t>
            </a:r>
            <a:r>
              <a:rPr lang="de-DE" b="1" dirty="0"/>
              <a:t> </a:t>
            </a:r>
            <a:r>
              <a:rPr lang="de-DE" b="1" dirty="0" err="1"/>
              <a:t>better</a:t>
            </a:r>
            <a:r>
              <a:rPr lang="de-DE" b="1" dirty="0"/>
              <a:t> </a:t>
            </a:r>
            <a:r>
              <a:rPr lang="de-DE" b="1" dirty="0" err="1"/>
              <a:t>predictive</a:t>
            </a:r>
            <a:r>
              <a:rPr lang="de-DE" b="1" dirty="0"/>
              <a:t> </a:t>
            </a:r>
            <a:r>
              <a:rPr lang="de-DE" b="1" dirty="0" err="1"/>
              <a:t>performance</a:t>
            </a:r>
            <a:r>
              <a:rPr lang="de-DE" dirty="0"/>
              <a:t>, but it </a:t>
            </a:r>
            <a:r>
              <a:rPr lang="de-DE" dirty="0" err="1"/>
              <a:t>relies</a:t>
            </a:r>
            <a:r>
              <a:rPr lang="de-DE" dirty="0"/>
              <a:t> on </a:t>
            </a:r>
            <a:r>
              <a:rPr lang="de-DE" dirty="0" err="1"/>
              <a:t>clinical</a:t>
            </a:r>
            <a:r>
              <a:rPr lang="de-DE" dirty="0"/>
              <a:t> </a:t>
            </a:r>
            <a:r>
              <a:rPr lang="de-DE" dirty="0" err="1"/>
              <a:t>data</a:t>
            </a:r>
            <a:r>
              <a:rPr lang="de-DE" dirty="0"/>
              <a:t> </a:t>
            </a:r>
            <a:r>
              <a:rPr lang="de-DE" dirty="0" err="1"/>
              <a:t>that</a:t>
            </a:r>
            <a:r>
              <a:rPr lang="de-DE" dirty="0"/>
              <a:t> </a:t>
            </a:r>
            <a:r>
              <a:rPr lang="de-DE" dirty="0" err="1"/>
              <a:t>patients</a:t>
            </a:r>
            <a:r>
              <a:rPr lang="de-DE" dirty="0"/>
              <a:t> at </a:t>
            </a:r>
            <a:r>
              <a:rPr lang="de-DE" dirty="0" err="1"/>
              <a:t>home</a:t>
            </a:r>
            <a:r>
              <a:rPr lang="de-DE" dirty="0"/>
              <a:t> </a:t>
            </a:r>
            <a:r>
              <a:rPr lang="de-DE" dirty="0" err="1"/>
              <a:t>cannot</a:t>
            </a:r>
            <a:r>
              <a:rPr lang="de-DE" dirty="0"/>
              <a:t> </a:t>
            </a:r>
            <a:r>
              <a:rPr lang="de-DE" dirty="0" err="1"/>
              <a:t>provide</a:t>
            </a:r>
            <a:r>
              <a:rPr lang="de-DE" dirty="0"/>
              <a:t>. </a:t>
            </a:r>
            <a:r>
              <a:rPr lang="de-DE" b="1" dirty="0"/>
              <a:t>For a </a:t>
            </a:r>
            <a:r>
              <a:rPr lang="de-DE" b="1" dirty="0" err="1"/>
              <a:t>patient-facing</a:t>
            </a:r>
            <a:r>
              <a:rPr lang="de-DE" b="1" dirty="0"/>
              <a:t> CDSS, the Southampton </a:t>
            </a:r>
            <a:r>
              <a:rPr lang="de-DE" b="1" dirty="0" err="1"/>
              <a:t>Wound</a:t>
            </a:r>
            <a:r>
              <a:rPr lang="de-DE" b="1" dirty="0"/>
              <a:t> Scale was </a:t>
            </a:r>
            <a:r>
              <a:rPr lang="de-DE" b="1" dirty="0" err="1"/>
              <a:t>therefore</a:t>
            </a:r>
            <a:r>
              <a:rPr lang="de-DE" b="1" dirty="0"/>
              <a:t> the </a:t>
            </a:r>
            <a:r>
              <a:rPr lang="de-DE" b="1" dirty="0" err="1"/>
              <a:t>more</a:t>
            </a:r>
            <a:r>
              <a:rPr lang="de-DE" b="1" dirty="0"/>
              <a:t> </a:t>
            </a:r>
            <a:r>
              <a:rPr lang="de-DE" b="1" dirty="0" err="1"/>
              <a:t>appropriate</a:t>
            </a:r>
            <a:r>
              <a:rPr lang="de-DE" b="1" dirty="0"/>
              <a:t> </a:t>
            </a:r>
            <a:r>
              <a:rPr lang="de-DE" b="1" dirty="0" err="1"/>
              <a:t>choice</a:t>
            </a:r>
            <a:r>
              <a:rPr lang="de-DE" b="1" dirty="0"/>
              <a:t>.</a:t>
            </a:r>
            <a:endParaRPr lang="de-DE" dirty="0"/>
          </a:p>
          <a:p>
            <a:endParaRPr lang="de-CH"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The </a:t>
            </a:r>
            <a:r>
              <a:rPr lang="de-DE" dirty="0" err="1"/>
              <a:t>main</a:t>
            </a:r>
            <a:r>
              <a:rPr lang="de-DE" dirty="0"/>
              <a:t> </a:t>
            </a:r>
            <a:r>
              <a:rPr lang="de-DE" dirty="0" err="1"/>
              <a:t>interaction</a:t>
            </a:r>
            <a:r>
              <a:rPr lang="de-DE" dirty="0"/>
              <a:t> in </a:t>
            </a:r>
            <a:r>
              <a:rPr lang="de-DE" dirty="0" err="1"/>
              <a:t>our</a:t>
            </a:r>
            <a:r>
              <a:rPr lang="de-DE" dirty="0"/>
              <a:t> CDSS </a:t>
            </a:r>
            <a:r>
              <a:rPr lang="de-DE" dirty="0" err="1"/>
              <a:t>is</a:t>
            </a:r>
            <a:r>
              <a:rPr lang="de-DE" dirty="0"/>
              <a:t> the </a:t>
            </a:r>
            <a:r>
              <a:rPr lang="de-DE" dirty="0" err="1"/>
              <a:t>patient</a:t>
            </a:r>
            <a:r>
              <a:rPr lang="de-DE" dirty="0"/>
              <a:t> </a:t>
            </a:r>
            <a:r>
              <a:rPr lang="de-DE" dirty="0" err="1"/>
              <a:t>selecting</a:t>
            </a:r>
            <a:r>
              <a:rPr lang="de-DE" dirty="0"/>
              <a:t> the </a:t>
            </a:r>
            <a:r>
              <a:rPr lang="de-DE" dirty="0" err="1"/>
              <a:t>example</a:t>
            </a:r>
            <a:r>
              <a:rPr lang="de-DE" dirty="0"/>
              <a:t>-picture </a:t>
            </a:r>
            <a:r>
              <a:rPr lang="de-DE" dirty="0" err="1"/>
              <a:t>that</a:t>
            </a:r>
            <a:r>
              <a:rPr lang="de-DE" dirty="0"/>
              <a:t> </a:t>
            </a:r>
            <a:r>
              <a:rPr lang="de-DE" dirty="0" err="1"/>
              <a:t>best</a:t>
            </a:r>
            <a:r>
              <a:rPr lang="de-DE" dirty="0"/>
              <a:t> </a:t>
            </a:r>
            <a:r>
              <a:rPr lang="de-DE" dirty="0" err="1"/>
              <a:t>matches</a:t>
            </a:r>
            <a:r>
              <a:rPr lang="de-DE" dirty="0"/>
              <a:t> </a:t>
            </a:r>
            <a:r>
              <a:rPr lang="de-DE" dirty="0" err="1"/>
              <a:t>their</a:t>
            </a:r>
            <a:r>
              <a:rPr lang="de-DE" dirty="0"/>
              <a:t> </a:t>
            </a:r>
            <a:r>
              <a:rPr lang="de-DE" dirty="0" err="1"/>
              <a:t>wound</a:t>
            </a:r>
            <a:r>
              <a:rPr lang="de-DE" dirty="0"/>
              <a:t>. For the </a:t>
            </a:r>
            <a:r>
              <a:rPr lang="de-DE" dirty="0" err="1"/>
              <a:t>example</a:t>
            </a:r>
            <a:r>
              <a:rPr lang="de-DE" dirty="0"/>
              <a:t> </a:t>
            </a:r>
            <a:r>
              <a:rPr lang="de-DE" dirty="0" err="1"/>
              <a:t>pictures</a:t>
            </a:r>
            <a:r>
              <a:rPr lang="de-DE" dirty="0"/>
              <a:t> </a:t>
            </a:r>
            <a:r>
              <a:rPr lang="de-DE" dirty="0" err="1"/>
              <a:t>we</a:t>
            </a:r>
            <a:r>
              <a:rPr lang="de-DE" dirty="0"/>
              <a:t> </a:t>
            </a:r>
            <a:r>
              <a:rPr lang="de-DE" dirty="0" err="1"/>
              <a:t>use</a:t>
            </a:r>
            <a:r>
              <a:rPr lang="de-DE" dirty="0"/>
              <a:t> </a:t>
            </a:r>
            <a:r>
              <a:rPr lang="de-DE" dirty="0" err="1"/>
              <a:t>illustrated</a:t>
            </a:r>
            <a:r>
              <a:rPr lang="de-DE" dirty="0"/>
              <a:t> </a:t>
            </a:r>
            <a:r>
              <a:rPr lang="de-DE" dirty="0" err="1"/>
              <a:t>graphics</a:t>
            </a:r>
            <a:r>
              <a:rPr lang="de-DE" dirty="0"/>
              <a:t>, so </a:t>
            </a:r>
            <a:r>
              <a:rPr lang="de-DE" dirty="0" err="1"/>
              <a:t>that</a:t>
            </a:r>
            <a:r>
              <a:rPr lang="de-DE" dirty="0"/>
              <a:t> </a:t>
            </a:r>
            <a:r>
              <a:rPr lang="de-DE" dirty="0" err="1"/>
              <a:t>we</a:t>
            </a:r>
            <a:r>
              <a:rPr lang="de-DE" dirty="0"/>
              <a:t> </a:t>
            </a:r>
            <a:r>
              <a:rPr lang="de-DE" dirty="0" err="1"/>
              <a:t>don‘t</a:t>
            </a:r>
            <a:r>
              <a:rPr lang="de-DE" dirty="0"/>
              <a:t> </a:t>
            </a:r>
            <a:r>
              <a:rPr lang="de-DE" dirty="0" err="1"/>
              <a:t>shock</a:t>
            </a:r>
            <a:r>
              <a:rPr lang="de-DE" dirty="0"/>
              <a:t> the </a:t>
            </a:r>
            <a:r>
              <a:rPr lang="de-DE" dirty="0" err="1"/>
              <a:t>patient</a:t>
            </a:r>
            <a:r>
              <a:rPr lang="de-DE" dirty="0"/>
              <a:t>. These </a:t>
            </a:r>
            <a:r>
              <a:rPr lang="de-DE" dirty="0" err="1"/>
              <a:t>graphics</a:t>
            </a:r>
            <a:r>
              <a:rPr lang="de-DE" dirty="0"/>
              <a:t> </a:t>
            </a:r>
            <a:r>
              <a:rPr lang="de-DE" dirty="0" err="1"/>
              <a:t>are</a:t>
            </a:r>
            <a:r>
              <a:rPr lang="de-DE" dirty="0"/>
              <a:t> </a:t>
            </a:r>
            <a:r>
              <a:rPr lang="de-DE" dirty="0" err="1"/>
              <a:t>derived</a:t>
            </a:r>
            <a:r>
              <a:rPr lang="de-DE" dirty="0"/>
              <a:t> </a:t>
            </a:r>
            <a:r>
              <a:rPr lang="de-DE" dirty="0" err="1"/>
              <a:t>from</a:t>
            </a:r>
            <a:r>
              <a:rPr lang="de-DE" dirty="0"/>
              <a:t> the </a:t>
            </a:r>
            <a:r>
              <a:rPr lang="de-DE" dirty="0" err="1"/>
              <a:t>descriptions</a:t>
            </a:r>
            <a:r>
              <a:rPr lang="de-DE" dirty="0"/>
              <a:t> of the </a:t>
            </a:r>
            <a:r>
              <a:rPr lang="de-DE" dirty="0" err="1"/>
              <a:t>published</a:t>
            </a:r>
            <a:r>
              <a:rPr lang="de-DE" dirty="0"/>
              <a:t> Southampton </a:t>
            </a:r>
            <a:r>
              <a:rPr lang="de-DE" dirty="0" err="1"/>
              <a:t>Wound</a:t>
            </a:r>
            <a:r>
              <a:rPr lang="de-DE" dirty="0"/>
              <a:t> Assessment Scale.</a:t>
            </a:r>
          </a:p>
          <a:p>
            <a:endParaRPr lang="de-DE" dirty="0"/>
          </a:p>
          <a:p>
            <a:r>
              <a:rPr lang="de-DE" dirty="0"/>
              <a:t>The </a:t>
            </a:r>
            <a:r>
              <a:rPr lang="de-DE" dirty="0" err="1"/>
              <a:t>mapping</a:t>
            </a:r>
            <a:r>
              <a:rPr lang="de-DE" dirty="0"/>
              <a:t> </a:t>
            </a:r>
            <a:r>
              <a:rPr lang="de-DE" dirty="0" err="1"/>
              <a:t>is</a:t>
            </a:r>
            <a:r>
              <a:rPr lang="de-DE" dirty="0"/>
              <a:t> not </a:t>
            </a:r>
            <a:r>
              <a:rPr lang="de-DE" dirty="0" err="1"/>
              <a:t>always</a:t>
            </a:r>
            <a:r>
              <a:rPr lang="de-DE" dirty="0"/>
              <a:t> </a:t>
            </a:r>
            <a:r>
              <a:rPr lang="de-DE" dirty="0" err="1"/>
              <a:t>perfect</a:t>
            </a:r>
            <a:r>
              <a:rPr lang="de-DE" dirty="0"/>
              <a:t>. For </a:t>
            </a:r>
            <a:r>
              <a:rPr lang="de-DE" dirty="0" err="1"/>
              <a:t>example</a:t>
            </a:r>
            <a:r>
              <a:rPr lang="de-DE" dirty="0"/>
              <a:t>, Southampton </a:t>
            </a:r>
            <a:r>
              <a:rPr lang="de-DE" dirty="0" err="1"/>
              <a:t>describes</a:t>
            </a:r>
            <a:r>
              <a:rPr lang="de-DE" dirty="0"/>
              <a:t> „</a:t>
            </a:r>
            <a:r>
              <a:rPr lang="de-DE" dirty="0" err="1"/>
              <a:t>redness</a:t>
            </a:r>
            <a:r>
              <a:rPr lang="de-DE" dirty="0"/>
              <a:t>“ as „</a:t>
            </a:r>
            <a:r>
              <a:rPr lang="de-DE" b="1" dirty="0" err="1"/>
              <a:t>extending</a:t>
            </a:r>
            <a:r>
              <a:rPr lang="de-DE" dirty="0"/>
              <a:t> </a:t>
            </a:r>
            <a:r>
              <a:rPr lang="de-DE" b="1" dirty="0" err="1"/>
              <a:t>more</a:t>
            </a:r>
            <a:r>
              <a:rPr lang="de-DE" b="1" dirty="0"/>
              <a:t> </a:t>
            </a:r>
            <a:r>
              <a:rPr lang="de-DE" b="1" dirty="0" err="1"/>
              <a:t>than</a:t>
            </a:r>
            <a:r>
              <a:rPr lang="de-DE" b="1" dirty="0"/>
              <a:t> </a:t>
            </a:r>
            <a:r>
              <a:rPr lang="de-DE" b="1" dirty="0" err="1"/>
              <a:t>two</a:t>
            </a:r>
            <a:r>
              <a:rPr lang="de-DE" b="1" dirty="0"/>
              <a:t> </a:t>
            </a:r>
            <a:r>
              <a:rPr lang="de-DE" b="1" dirty="0" err="1"/>
              <a:t>centimetres</a:t>
            </a:r>
            <a:r>
              <a:rPr lang="de-DE" b="1" dirty="0"/>
              <a:t> </a:t>
            </a:r>
            <a:r>
              <a:rPr lang="de-DE" b="1" dirty="0" err="1"/>
              <a:t>along</a:t>
            </a:r>
            <a:r>
              <a:rPr lang="de-DE" b="1" dirty="0"/>
              <a:t> the </a:t>
            </a:r>
            <a:r>
              <a:rPr lang="de-DE" b="1" dirty="0" err="1"/>
              <a:t>wound</a:t>
            </a:r>
            <a:r>
              <a:rPr lang="de-DE" dirty="0"/>
              <a:t>.“</a:t>
            </a:r>
          </a:p>
          <a:p>
            <a:r>
              <a:rPr lang="de-DE" dirty="0"/>
              <a:t>Patients </a:t>
            </a:r>
            <a:r>
              <a:rPr lang="de-DE" dirty="0" err="1"/>
              <a:t>are</a:t>
            </a:r>
            <a:r>
              <a:rPr lang="de-DE" dirty="0"/>
              <a:t> </a:t>
            </a:r>
            <a:r>
              <a:rPr lang="de-DE" dirty="0" err="1"/>
              <a:t>unlikely</a:t>
            </a:r>
            <a:r>
              <a:rPr lang="de-DE" dirty="0"/>
              <a:t> to </a:t>
            </a:r>
            <a:r>
              <a:rPr lang="de-DE" dirty="0" err="1"/>
              <a:t>measure</a:t>
            </a:r>
            <a:r>
              <a:rPr lang="de-DE" dirty="0"/>
              <a:t> </a:t>
            </a:r>
            <a:r>
              <a:rPr lang="de-DE" dirty="0" err="1"/>
              <a:t>this</a:t>
            </a:r>
            <a:r>
              <a:rPr lang="de-DE" dirty="0"/>
              <a:t> </a:t>
            </a:r>
            <a:r>
              <a:rPr lang="de-DE" dirty="0" err="1"/>
              <a:t>accurately</a:t>
            </a:r>
            <a:r>
              <a:rPr lang="de-DE" dirty="0"/>
              <a:t>. </a:t>
            </a:r>
            <a:r>
              <a:rPr lang="de-DE" dirty="0" err="1"/>
              <a:t>Instead</a:t>
            </a:r>
            <a:r>
              <a:rPr lang="de-DE" dirty="0"/>
              <a:t>, </a:t>
            </a:r>
            <a:r>
              <a:rPr lang="de-DE" dirty="0" err="1"/>
              <a:t>we</a:t>
            </a:r>
            <a:r>
              <a:rPr lang="de-DE" dirty="0"/>
              <a:t> </a:t>
            </a:r>
            <a:r>
              <a:rPr lang="de-DE" dirty="0" err="1"/>
              <a:t>translate</a:t>
            </a:r>
            <a:r>
              <a:rPr lang="de-DE" dirty="0"/>
              <a:t> </a:t>
            </a:r>
            <a:r>
              <a:rPr lang="de-DE" dirty="0" err="1"/>
              <a:t>this</a:t>
            </a:r>
            <a:r>
              <a:rPr lang="de-DE" dirty="0"/>
              <a:t> </a:t>
            </a:r>
            <a:r>
              <a:rPr lang="de-DE" dirty="0" err="1"/>
              <a:t>into</a:t>
            </a:r>
            <a:r>
              <a:rPr lang="de-DE" dirty="0"/>
              <a:t> </a:t>
            </a:r>
            <a:r>
              <a:rPr lang="de-DE" dirty="0" err="1"/>
              <a:t>questions</a:t>
            </a:r>
            <a:r>
              <a:rPr lang="de-DE" dirty="0"/>
              <a:t> such as: </a:t>
            </a:r>
            <a:r>
              <a:rPr lang="de-DE" i="1" dirty="0"/>
              <a:t>"</a:t>
            </a:r>
            <a:r>
              <a:rPr lang="de-DE" i="1" dirty="0" err="1"/>
              <a:t>Is</a:t>
            </a:r>
            <a:r>
              <a:rPr lang="de-DE" i="1" dirty="0"/>
              <a:t> it just a small area, </a:t>
            </a:r>
            <a:r>
              <a:rPr lang="de-DE" i="1" dirty="0" err="1"/>
              <a:t>or</a:t>
            </a:r>
            <a:r>
              <a:rPr lang="de-DE" i="1" dirty="0"/>
              <a:t> </a:t>
            </a:r>
            <a:r>
              <a:rPr lang="de-DE" i="1" dirty="0" err="1"/>
              <a:t>does</a:t>
            </a:r>
            <a:r>
              <a:rPr lang="de-DE" i="1" dirty="0"/>
              <a:t> it </a:t>
            </a:r>
            <a:r>
              <a:rPr lang="de-DE" i="1" dirty="0" err="1"/>
              <a:t>involve</a:t>
            </a:r>
            <a:r>
              <a:rPr lang="de-DE" i="1" dirty="0"/>
              <a:t> </a:t>
            </a:r>
            <a:r>
              <a:rPr lang="de-DE" i="1" dirty="0" err="1"/>
              <a:t>most</a:t>
            </a:r>
            <a:r>
              <a:rPr lang="de-DE" i="1" dirty="0"/>
              <a:t> of the </a:t>
            </a:r>
            <a:r>
              <a:rPr lang="de-DE" i="1" dirty="0" err="1"/>
              <a:t>wound</a:t>
            </a:r>
            <a:r>
              <a:rPr lang="de-DE" i="1" dirty="0"/>
              <a:t>?„</a:t>
            </a:r>
          </a:p>
          <a:p>
            <a:endParaRPr lang="de-DE" dirty="0"/>
          </a:p>
          <a:p>
            <a:r>
              <a:rPr lang="de-DE" dirty="0"/>
              <a:t>This </a:t>
            </a:r>
            <a:r>
              <a:rPr lang="de-DE" dirty="0" err="1"/>
              <a:t>makes</a:t>
            </a:r>
            <a:r>
              <a:rPr lang="de-DE" dirty="0"/>
              <a:t> the </a:t>
            </a:r>
            <a:r>
              <a:rPr lang="de-DE" dirty="0" err="1"/>
              <a:t>system</a:t>
            </a:r>
            <a:r>
              <a:rPr lang="de-DE" dirty="0"/>
              <a:t> </a:t>
            </a:r>
            <a:r>
              <a:rPr lang="de-DE" dirty="0" err="1"/>
              <a:t>easier</a:t>
            </a:r>
            <a:r>
              <a:rPr lang="de-DE" dirty="0"/>
              <a:t> to </a:t>
            </a:r>
            <a:r>
              <a:rPr lang="de-DE" dirty="0" err="1"/>
              <a:t>use</a:t>
            </a:r>
            <a:r>
              <a:rPr lang="de-DE" dirty="0"/>
              <a:t>, </a:t>
            </a:r>
            <a:r>
              <a:rPr lang="de-DE" dirty="0" err="1"/>
              <a:t>while</a:t>
            </a:r>
            <a:r>
              <a:rPr lang="de-DE" dirty="0"/>
              <a:t> </a:t>
            </a:r>
            <a:r>
              <a:rPr lang="de-DE" dirty="0" err="1"/>
              <a:t>sacrificing</a:t>
            </a:r>
            <a:r>
              <a:rPr lang="de-DE" dirty="0"/>
              <a:t> </a:t>
            </a:r>
            <a:r>
              <a:rPr lang="de-DE" dirty="0" err="1"/>
              <a:t>some</a:t>
            </a:r>
            <a:r>
              <a:rPr lang="de-DE" dirty="0"/>
              <a:t> </a:t>
            </a:r>
            <a:r>
              <a:rPr lang="de-DE" dirty="0" err="1"/>
              <a:t>precision</a:t>
            </a:r>
            <a:r>
              <a:rPr lang="de-DE" dirty="0"/>
              <a:t>. </a:t>
            </a:r>
            <a:r>
              <a:rPr lang="de-DE" dirty="0" err="1"/>
              <a:t>We</a:t>
            </a:r>
            <a:r>
              <a:rPr lang="de-DE" dirty="0"/>
              <a:t> </a:t>
            </a:r>
            <a:r>
              <a:rPr lang="de-DE" dirty="0" err="1"/>
              <a:t>consider</a:t>
            </a:r>
            <a:r>
              <a:rPr lang="de-DE" dirty="0"/>
              <a:t> </a:t>
            </a:r>
            <a:r>
              <a:rPr lang="de-DE" dirty="0" err="1"/>
              <a:t>this</a:t>
            </a:r>
            <a:r>
              <a:rPr lang="de-DE" dirty="0"/>
              <a:t> an explicit design trade-off, and it </a:t>
            </a:r>
            <a:r>
              <a:rPr lang="de-DE" dirty="0" err="1"/>
              <a:t>would</a:t>
            </a:r>
            <a:r>
              <a:rPr lang="de-DE" dirty="0"/>
              <a:t> </a:t>
            </a:r>
            <a:r>
              <a:rPr lang="de-DE" dirty="0" err="1"/>
              <a:t>be</a:t>
            </a:r>
            <a:r>
              <a:rPr lang="de-DE" dirty="0"/>
              <a:t> the </a:t>
            </a:r>
            <a:r>
              <a:rPr lang="de-DE" dirty="0" err="1"/>
              <a:t>first</a:t>
            </a:r>
            <a:r>
              <a:rPr lang="de-DE" dirty="0"/>
              <a:t> </a:t>
            </a:r>
            <a:r>
              <a:rPr lang="de-DE" dirty="0" err="1"/>
              <a:t>aspect</a:t>
            </a:r>
            <a:r>
              <a:rPr lang="de-DE" dirty="0"/>
              <a:t> </a:t>
            </a:r>
            <a:r>
              <a:rPr lang="de-DE" dirty="0" err="1"/>
              <a:t>we</a:t>
            </a:r>
            <a:r>
              <a:rPr lang="de-DE" dirty="0"/>
              <a:t> </a:t>
            </a:r>
            <a:r>
              <a:rPr lang="de-DE" dirty="0" err="1"/>
              <a:t>would</a:t>
            </a:r>
            <a:r>
              <a:rPr lang="de-DE" dirty="0"/>
              <a:t> </a:t>
            </a:r>
            <a:r>
              <a:rPr lang="de-DE" dirty="0" err="1"/>
              <a:t>validate</a:t>
            </a:r>
            <a:r>
              <a:rPr lang="de-DE" dirty="0"/>
              <a:t> in a </a:t>
            </a:r>
            <a:r>
              <a:rPr lang="de-DE" dirty="0" err="1"/>
              <a:t>future</a:t>
            </a:r>
            <a:r>
              <a:rPr lang="de-DE" dirty="0"/>
              <a:t> </a:t>
            </a:r>
            <a:r>
              <a:rPr lang="de-DE" dirty="0" err="1"/>
              <a:t>clinical</a:t>
            </a:r>
            <a:r>
              <a:rPr lang="de-DE" dirty="0"/>
              <a:t> </a:t>
            </a:r>
            <a:r>
              <a:rPr lang="de-DE" dirty="0" err="1"/>
              <a:t>study</a:t>
            </a:r>
            <a:r>
              <a:rPr lang="de-DE" dirty="0"/>
              <a: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0" dirty="0"/>
              <a:t>Feline:</a:t>
            </a:r>
          </a:p>
          <a:p>
            <a:endParaRPr lang="de-DE" b="0" dirty="0"/>
          </a:p>
          <a:p>
            <a:r>
              <a:rPr lang="de-DE" b="0" dirty="0"/>
              <a:t>This </a:t>
            </a:r>
            <a:r>
              <a:rPr lang="de-DE" b="0" dirty="0" err="1"/>
              <a:t>is</a:t>
            </a:r>
            <a:r>
              <a:rPr lang="de-DE" b="0" dirty="0"/>
              <a:t> </a:t>
            </a:r>
            <a:r>
              <a:rPr lang="de-DE" b="0" dirty="0" err="1"/>
              <a:t>our</a:t>
            </a:r>
            <a:r>
              <a:rPr lang="de-DE" b="0" dirty="0"/>
              <a:t> </a:t>
            </a:r>
            <a:r>
              <a:rPr lang="de-DE" b="0" dirty="0" err="1"/>
              <a:t>process</a:t>
            </a:r>
            <a:r>
              <a:rPr lang="de-DE" b="0" dirty="0"/>
              <a:t> </a:t>
            </a:r>
            <a:r>
              <a:rPr lang="de-DE" b="0" dirty="0" err="1"/>
              <a:t>model</a:t>
            </a:r>
            <a:r>
              <a:rPr lang="de-DE" b="0" dirty="0"/>
              <a:t>, </a:t>
            </a:r>
            <a:r>
              <a:rPr lang="de-DE" b="0" dirty="0" err="1"/>
              <a:t>which</a:t>
            </a:r>
            <a:r>
              <a:rPr lang="de-DE" b="0" dirty="0"/>
              <a:t> separates </a:t>
            </a:r>
            <a:r>
              <a:rPr lang="de-DE" b="0" dirty="0" err="1"/>
              <a:t>responsibilities</a:t>
            </a:r>
            <a:r>
              <a:rPr lang="de-DE" b="0" dirty="0"/>
              <a:t> </a:t>
            </a:r>
            <a:r>
              <a:rPr lang="de-DE" b="0" dirty="0" err="1"/>
              <a:t>across</a:t>
            </a:r>
            <a:r>
              <a:rPr lang="de-DE" b="0" dirty="0"/>
              <a:t> </a:t>
            </a:r>
            <a:r>
              <a:rPr lang="de-DE" b="0" dirty="0" err="1"/>
              <a:t>four</a:t>
            </a:r>
            <a:r>
              <a:rPr lang="de-DE" b="0" dirty="0"/>
              <a:t> </a:t>
            </a:r>
            <a:r>
              <a:rPr lang="de-DE" b="0" dirty="0" err="1"/>
              <a:t>lanes</a:t>
            </a:r>
            <a:r>
              <a:rPr lang="de-DE" b="0" dirty="0"/>
              <a:t>: the </a:t>
            </a:r>
            <a:r>
              <a:rPr lang="de-DE" b="0" dirty="0" err="1"/>
              <a:t>patient</a:t>
            </a:r>
            <a:r>
              <a:rPr lang="de-DE" b="0" dirty="0"/>
              <a:t>, the CDSS, the </a:t>
            </a:r>
            <a:r>
              <a:rPr lang="de-DE" b="0" dirty="0" err="1"/>
              <a:t>healthcare</a:t>
            </a:r>
            <a:r>
              <a:rPr lang="de-DE" b="0" dirty="0"/>
              <a:t> </a:t>
            </a:r>
            <a:r>
              <a:rPr lang="de-DE" b="0" dirty="0" err="1"/>
              <a:t>provider</a:t>
            </a:r>
            <a:r>
              <a:rPr lang="de-DE" b="0" dirty="0"/>
              <a:t>, and the </a:t>
            </a:r>
            <a:r>
              <a:rPr lang="de-DE" b="0" dirty="0" err="1"/>
              <a:t>health</a:t>
            </a:r>
            <a:r>
              <a:rPr lang="de-DE" b="0" dirty="0"/>
              <a:t> </a:t>
            </a:r>
            <a:r>
              <a:rPr lang="de-DE" b="0" dirty="0" err="1"/>
              <a:t>information</a:t>
            </a:r>
            <a:r>
              <a:rPr lang="de-DE" b="0" dirty="0"/>
              <a:t> </a:t>
            </a:r>
            <a:r>
              <a:rPr lang="de-DE" b="0" dirty="0" err="1"/>
              <a:t>system</a:t>
            </a:r>
            <a:r>
              <a:rPr lang="de-DE" b="0" dirty="0"/>
              <a:t>.</a:t>
            </a:r>
          </a:p>
          <a:p>
            <a:endParaRPr lang="de-DE" b="0" dirty="0"/>
          </a:p>
          <a:p>
            <a:r>
              <a:rPr lang="de-DE" b="0" dirty="0"/>
              <a:t>The </a:t>
            </a:r>
            <a:r>
              <a:rPr lang="de-DE" b="0" dirty="0" err="1"/>
              <a:t>key</a:t>
            </a:r>
            <a:r>
              <a:rPr lang="de-DE" b="0" dirty="0"/>
              <a:t> </a:t>
            </a:r>
            <a:r>
              <a:rPr lang="de-DE" b="0" dirty="0" err="1"/>
              <a:t>element</a:t>
            </a:r>
            <a:r>
              <a:rPr lang="de-DE" b="0" dirty="0"/>
              <a:t> </a:t>
            </a:r>
            <a:r>
              <a:rPr lang="de-DE" b="0" dirty="0" err="1"/>
              <a:t>is</a:t>
            </a:r>
            <a:r>
              <a:rPr lang="de-DE" b="0" dirty="0"/>
              <a:t> the Business Rule Task. The </a:t>
            </a:r>
            <a:r>
              <a:rPr lang="de-DE" b="0" dirty="0" err="1"/>
              <a:t>application</a:t>
            </a:r>
            <a:r>
              <a:rPr lang="de-DE" b="0" dirty="0"/>
              <a:t> </a:t>
            </a:r>
            <a:r>
              <a:rPr lang="de-DE" b="0" dirty="0" err="1"/>
              <a:t>itself</a:t>
            </a:r>
            <a:r>
              <a:rPr lang="de-DE" b="0" dirty="0"/>
              <a:t> </a:t>
            </a:r>
            <a:r>
              <a:rPr lang="de-DE" b="0" dirty="0" err="1"/>
              <a:t>does</a:t>
            </a:r>
            <a:r>
              <a:rPr lang="de-DE" b="0" dirty="0"/>
              <a:t> not </a:t>
            </a:r>
            <a:r>
              <a:rPr lang="de-DE" b="0" dirty="0" err="1"/>
              <a:t>make</a:t>
            </a:r>
            <a:r>
              <a:rPr lang="de-DE" b="0" dirty="0"/>
              <a:t> </a:t>
            </a:r>
            <a:r>
              <a:rPr lang="de-DE" b="0" dirty="0" err="1"/>
              <a:t>any</a:t>
            </a:r>
            <a:r>
              <a:rPr lang="de-DE" b="0" dirty="0"/>
              <a:t> </a:t>
            </a:r>
            <a:r>
              <a:rPr lang="de-DE" b="0" dirty="0" err="1"/>
              <a:t>clinical</a:t>
            </a:r>
            <a:r>
              <a:rPr lang="de-DE" b="0" dirty="0"/>
              <a:t> </a:t>
            </a:r>
            <a:r>
              <a:rPr lang="de-DE" b="0" dirty="0" err="1"/>
              <a:t>decisions</a:t>
            </a:r>
            <a:r>
              <a:rPr lang="de-DE" b="0" dirty="0"/>
              <a:t>. </a:t>
            </a:r>
            <a:r>
              <a:rPr lang="de-DE" b="0" dirty="0" err="1"/>
              <a:t>Instead</a:t>
            </a:r>
            <a:r>
              <a:rPr lang="de-DE" b="0" dirty="0"/>
              <a:t>, it </a:t>
            </a:r>
            <a:r>
              <a:rPr lang="de-DE" b="0" dirty="0" err="1"/>
              <a:t>executes</a:t>
            </a:r>
            <a:r>
              <a:rPr lang="de-DE" b="0" dirty="0"/>
              <a:t> the L3 </a:t>
            </a:r>
            <a:r>
              <a:rPr lang="de-DE" b="0" dirty="0" err="1"/>
              <a:t>decision</a:t>
            </a:r>
            <a:r>
              <a:rPr lang="de-DE" b="0" dirty="0"/>
              <a:t> </a:t>
            </a:r>
            <a:r>
              <a:rPr lang="de-DE" b="0" dirty="0" err="1"/>
              <a:t>table</a:t>
            </a:r>
            <a:r>
              <a:rPr lang="de-DE" b="0" dirty="0"/>
              <a:t>, </a:t>
            </a:r>
            <a:r>
              <a:rPr lang="de-DE" b="0" dirty="0" err="1"/>
              <a:t>keeping</a:t>
            </a:r>
            <a:r>
              <a:rPr lang="de-DE" b="0" dirty="0"/>
              <a:t> the </a:t>
            </a:r>
            <a:r>
              <a:rPr lang="de-DE" b="0" dirty="0" err="1"/>
              <a:t>decision</a:t>
            </a:r>
            <a:r>
              <a:rPr lang="de-DE" b="0" dirty="0"/>
              <a:t> </a:t>
            </a:r>
            <a:r>
              <a:rPr lang="de-DE" b="0" dirty="0" err="1"/>
              <a:t>logic</a:t>
            </a:r>
            <a:r>
              <a:rPr lang="de-DE" b="0" dirty="0"/>
              <a:t> </a:t>
            </a:r>
            <a:r>
              <a:rPr lang="de-DE" b="0" dirty="0" err="1"/>
              <a:t>independent</a:t>
            </a:r>
            <a:r>
              <a:rPr lang="de-DE" b="0" dirty="0"/>
              <a:t> </a:t>
            </a:r>
            <a:r>
              <a:rPr lang="de-DE" b="0" dirty="0" err="1"/>
              <a:t>from</a:t>
            </a:r>
            <a:r>
              <a:rPr lang="de-DE" b="0" dirty="0"/>
              <a:t> the </a:t>
            </a:r>
            <a:r>
              <a:rPr lang="de-DE" b="0" dirty="0" err="1"/>
              <a:t>user</a:t>
            </a:r>
            <a:r>
              <a:rPr lang="de-DE" b="0" dirty="0"/>
              <a:t> interface.</a:t>
            </a:r>
          </a:p>
          <a:p>
            <a:r>
              <a:rPr lang="de-DE" b="0" dirty="0" err="1"/>
              <a:t>That's</a:t>
            </a:r>
            <a:r>
              <a:rPr lang="de-DE" b="0" dirty="0"/>
              <a:t> </a:t>
            </a:r>
            <a:r>
              <a:rPr lang="de-DE" b="0" dirty="0" err="1"/>
              <a:t>why</a:t>
            </a:r>
            <a:r>
              <a:rPr lang="de-DE" b="0" dirty="0"/>
              <a:t> </a:t>
            </a:r>
            <a:r>
              <a:rPr lang="de-DE" b="0" dirty="0" err="1"/>
              <a:t>we'll</a:t>
            </a:r>
            <a:r>
              <a:rPr lang="de-DE" b="0" dirty="0"/>
              <a:t> </a:t>
            </a:r>
            <a:r>
              <a:rPr lang="de-DE" b="0" dirty="0" err="1"/>
              <a:t>focus</a:t>
            </a:r>
            <a:r>
              <a:rPr lang="de-DE" b="0" dirty="0"/>
              <a:t> on the </a:t>
            </a:r>
            <a:r>
              <a:rPr lang="de-DE" b="0" dirty="0" err="1"/>
              <a:t>decision</a:t>
            </a:r>
            <a:r>
              <a:rPr lang="de-DE" b="0" dirty="0"/>
              <a:t> </a:t>
            </a:r>
            <a:r>
              <a:rPr lang="de-DE" b="0" dirty="0" err="1"/>
              <a:t>table</a:t>
            </a:r>
            <a:r>
              <a:rPr lang="de-DE" b="0" dirty="0"/>
              <a:t> in the </a:t>
            </a:r>
            <a:r>
              <a:rPr lang="de-DE" b="0" dirty="0" err="1"/>
              <a:t>next</a:t>
            </a:r>
            <a:r>
              <a:rPr lang="de-DE" b="0" dirty="0"/>
              <a:t> </a:t>
            </a:r>
            <a:r>
              <a:rPr lang="de-DE" b="0" dirty="0" err="1"/>
              <a:t>few</a:t>
            </a:r>
            <a:r>
              <a:rPr lang="de-DE" b="0" dirty="0"/>
              <a:t> </a:t>
            </a:r>
            <a:r>
              <a:rPr lang="de-DE" b="0" dirty="0" err="1"/>
              <a:t>slides</a:t>
            </a:r>
            <a:r>
              <a:rPr lang="de-DE" b="0" dirty="0"/>
              <a: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0" dirty="0" err="1"/>
              <a:t>Our</a:t>
            </a:r>
            <a:r>
              <a:rPr lang="de-DE" b="0" dirty="0"/>
              <a:t> </a:t>
            </a:r>
            <a:r>
              <a:rPr lang="de-DE" b="0" dirty="0" err="1"/>
              <a:t>data</a:t>
            </a:r>
            <a:r>
              <a:rPr lang="de-DE" b="0" dirty="0"/>
              <a:t> </a:t>
            </a:r>
            <a:r>
              <a:rPr lang="de-DE" b="0" dirty="0" err="1"/>
              <a:t>dictionary</a:t>
            </a:r>
            <a:r>
              <a:rPr lang="de-DE" b="0" dirty="0"/>
              <a:t> </a:t>
            </a:r>
            <a:r>
              <a:rPr lang="de-DE" b="0" dirty="0" err="1"/>
              <a:t>contains</a:t>
            </a:r>
            <a:r>
              <a:rPr lang="de-DE" b="0" dirty="0"/>
              <a:t> 49 </a:t>
            </a:r>
            <a:r>
              <a:rPr lang="de-DE" b="0" dirty="0" err="1"/>
              <a:t>data</a:t>
            </a:r>
            <a:r>
              <a:rPr lang="de-DE" b="0" dirty="0"/>
              <a:t> </a:t>
            </a:r>
            <a:r>
              <a:rPr lang="de-DE" b="0" dirty="0" err="1"/>
              <a:t>elements</a:t>
            </a:r>
            <a:r>
              <a:rPr lang="de-DE" b="0" dirty="0"/>
              <a:t>, </a:t>
            </a:r>
            <a:r>
              <a:rPr lang="de-DE" b="0" dirty="0" err="1"/>
              <a:t>most</a:t>
            </a:r>
            <a:r>
              <a:rPr lang="de-DE" b="0" dirty="0"/>
              <a:t> of </a:t>
            </a:r>
            <a:r>
              <a:rPr lang="de-DE" b="0" dirty="0" err="1"/>
              <a:t>them</a:t>
            </a:r>
            <a:r>
              <a:rPr lang="de-DE" b="0" dirty="0"/>
              <a:t> </a:t>
            </a:r>
            <a:r>
              <a:rPr lang="de-DE" b="0" dirty="0" err="1"/>
              <a:t>linked</a:t>
            </a:r>
            <a:r>
              <a:rPr lang="de-DE" b="0" dirty="0"/>
              <a:t> to </a:t>
            </a:r>
            <a:r>
              <a:rPr lang="de-DE" b="0" dirty="0" err="1"/>
              <a:t>standard</a:t>
            </a:r>
            <a:r>
              <a:rPr lang="de-DE" b="0" dirty="0"/>
              <a:t> </a:t>
            </a:r>
            <a:r>
              <a:rPr lang="de-DE" b="0" dirty="0" err="1"/>
              <a:t>terminologies</a:t>
            </a:r>
            <a:r>
              <a:rPr lang="de-DE" b="0" dirty="0"/>
              <a:t> and FHIR.</a:t>
            </a:r>
          </a:p>
          <a:p>
            <a:r>
              <a:rPr lang="de-DE" b="0" dirty="0"/>
              <a:t>The </a:t>
            </a:r>
            <a:r>
              <a:rPr lang="de-DE" b="0" dirty="0" err="1"/>
              <a:t>key</a:t>
            </a:r>
            <a:r>
              <a:rPr lang="de-DE" b="0" dirty="0"/>
              <a:t> </a:t>
            </a:r>
            <a:r>
              <a:rPr lang="de-DE" b="0" dirty="0" err="1"/>
              <a:t>point</a:t>
            </a:r>
            <a:r>
              <a:rPr lang="de-DE" b="0" dirty="0"/>
              <a:t>, </a:t>
            </a:r>
            <a:r>
              <a:rPr lang="de-DE" b="0" dirty="0" err="1"/>
              <a:t>is</a:t>
            </a:r>
            <a:r>
              <a:rPr lang="de-DE" b="0" dirty="0"/>
              <a:t> the last </a:t>
            </a:r>
            <a:r>
              <a:rPr lang="de-DE" b="0" dirty="0" err="1"/>
              <a:t>column</a:t>
            </a:r>
            <a:r>
              <a:rPr lang="de-DE" b="0" dirty="0"/>
              <a:t>: </a:t>
            </a:r>
            <a:r>
              <a:rPr lang="de-DE" b="0" dirty="0" err="1"/>
              <a:t>every</a:t>
            </a:r>
            <a:r>
              <a:rPr lang="de-DE" b="0" dirty="0"/>
              <a:t> </a:t>
            </a:r>
            <a:r>
              <a:rPr lang="de-DE" b="0" dirty="0" err="1"/>
              <a:t>data</a:t>
            </a:r>
            <a:r>
              <a:rPr lang="de-DE" b="0" dirty="0"/>
              <a:t> </a:t>
            </a:r>
            <a:r>
              <a:rPr lang="de-DE" b="0" dirty="0" err="1"/>
              <a:t>element</a:t>
            </a:r>
            <a:r>
              <a:rPr lang="de-DE" b="0" dirty="0"/>
              <a:t> </a:t>
            </a:r>
            <a:r>
              <a:rPr lang="de-DE" b="0" dirty="0" err="1"/>
              <a:t>is</a:t>
            </a:r>
            <a:r>
              <a:rPr lang="de-DE" b="0" dirty="0"/>
              <a:t> </a:t>
            </a:r>
            <a:r>
              <a:rPr lang="de-DE" b="0" dirty="0" err="1"/>
              <a:t>linked</a:t>
            </a:r>
            <a:r>
              <a:rPr lang="de-DE" b="0" dirty="0"/>
              <a:t> back to </a:t>
            </a:r>
            <a:r>
              <a:rPr lang="de-DE" b="0" dirty="0" err="1"/>
              <a:t>its</a:t>
            </a:r>
            <a:r>
              <a:rPr lang="de-DE" b="0" dirty="0"/>
              <a:t> L1 source, </a:t>
            </a:r>
            <a:r>
              <a:rPr lang="de-DE" b="0" dirty="0" err="1"/>
              <a:t>making</a:t>
            </a:r>
            <a:r>
              <a:rPr lang="de-DE" b="0" dirty="0"/>
              <a:t> </a:t>
            </a:r>
            <a:r>
              <a:rPr lang="de-DE" b="0" dirty="0" err="1"/>
              <a:t>every</a:t>
            </a:r>
            <a:r>
              <a:rPr lang="de-DE" b="0" dirty="0"/>
              <a:t> </a:t>
            </a:r>
            <a:r>
              <a:rPr lang="de-DE" b="0" dirty="0" err="1"/>
              <a:t>decision</a:t>
            </a:r>
            <a:r>
              <a:rPr lang="de-DE" b="0" dirty="0"/>
              <a:t> </a:t>
            </a:r>
            <a:r>
              <a:rPr lang="de-DE" b="0" dirty="0" err="1"/>
              <a:t>traceable</a:t>
            </a:r>
            <a:r>
              <a:rPr lang="de-DE" b="0" dirty="0"/>
              <a:t> to a </a:t>
            </a:r>
            <a:r>
              <a:rPr lang="de-DE" b="0" dirty="0" err="1"/>
              <a:t>guideline</a:t>
            </a:r>
            <a:r>
              <a:rPr lang="de-DE" b="0" dirty="0"/>
              <a:t> </a:t>
            </a:r>
            <a:r>
              <a:rPr lang="de-DE" b="0" dirty="0" err="1"/>
              <a:t>or</a:t>
            </a:r>
            <a:r>
              <a:rPr lang="de-DE" b="0" dirty="0"/>
              <a:t> </a:t>
            </a:r>
            <a:r>
              <a:rPr lang="de-DE" b="0" dirty="0" err="1"/>
              <a:t>evidence</a:t>
            </a:r>
            <a:r>
              <a:rPr lang="de-DE" b="0" dirty="0"/>
              <a:t> source.</a:t>
            </a:r>
          </a:p>
          <a:p>
            <a:r>
              <a:rPr lang="de-DE" b="0" dirty="0"/>
              <a:t>To </a:t>
            </a:r>
            <a:r>
              <a:rPr lang="de-DE" b="0" dirty="0" err="1"/>
              <a:t>preserve</a:t>
            </a:r>
            <a:r>
              <a:rPr lang="de-DE" b="0" dirty="0"/>
              <a:t> </a:t>
            </a:r>
            <a:r>
              <a:rPr lang="de-DE" b="0" dirty="0" err="1"/>
              <a:t>this</a:t>
            </a:r>
            <a:r>
              <a:rPr lang="de-DE" b="0" dirty="0"/>
              <a:t> </a:t>
            </a:r>
            <a:r>
              <a:rPr lang="de-DE" b="0" dirty="0" err="1"/>
              <a:t>traceability</a:t>
            </a:r>
            <a:r>
              <a:rPr lang="de-DE" b="0" dirty="0"/>
              <a:t>, </a:t>
            </a:r>
            <a:r>
              <a:rPr lang="de-DE" b="0" dirty="0" err="1"/>
              <a:t>each</a:t>
            </a:r>
            <a:r>
              <a:rPr lang="de-DE" b="0" dirty="0"/>
              <a:t> </a:t>
            </a:r>
            <a:r>
              <a:rPr lang="de-DE" b="0" dirty="0" err="1"/>
              <a:t>element</a:t>
            </a:r>
            <a:r>
              <a:rPr lang="de-DE" b="0" dirty="0"/>
              <a:t> </a:t>
            </a:r>
            <a:r>
              <a:rPr lang="de-DE" b="0" dirty="0" err="1"/>
              <a:t>keeps</a:t>
            </a:r>
            <a:r>
              <a:rPr lang="de-DE" b="0" dirty="0"/>
              <a:t> the same </a:t>
            </a:r>
            <a:r>
              <a:rPr lang="de-DE" b="0" dirty="0" err="1"/>
              <a:t>identifier</a:t>
            </a:r>
            <a:r>
              <a:rPr lang="de-DE" b="0" dirty="0"/>
              <a:t> </a:t>
            </a:r>
            <a:r>
              <a:rPr lang="de-DE" b="0" dirty="0" err="1"/>
              <a:t>throughout</a:t>
            </a:r>
            <a:r>
              <a:rPr lang="de-DE" b="0" dirty="0"/>
              <a:t> the </a:t>
            </a:r>
            <a:r>
              <a:rPr lang="de-DE" b="0" dirty="0" err="1"/>
              <a:t>entire</a:t>
            </a:r>
            <a:r>
              <a:rPr lang="de-DE" b="0" dirty="0"/>
              <a:t> </a:t>
            </a:r>
            <a:r>
              <a:rPr lang="de-DE" b="0" dirty="0" err="1"/>
              <a:t>system</a:t>
            </a:r>
            <a:r>
              <a:rPr lang="de-DE" b="0" dirty="0"/>
              <a:t>—</a:t>
            </a:r>
            <a:r>
              <a:rPr lang="de-DE" b="0" dirty="0" err="1"/>
              <a:t>from</a:t>
            </a:r>
            <a:r>
              <a:rPr lang="de-DE" b="0" dirty="0"/>
              <a:t> the </a:t>
            </a:r>
            <a:r>
              <a:rPr lang="de-DE" b="0" dirty="0" err="1"/>
              <a:t>data</a:t>
            </a:r>
            <a:r>
              <a:rPr lang="de-DE" b="0" dirty="0"/>
              <a:t> </a:t>
            </a:r>
            <a:r>
              <a:rPr lang="de-DE" b="0" dirty="0" err="1"/>
              <a:t>dictionary</a:t>
            </a:r>
            <a:r>
              <a:rPr lang="de-DE" b="0" dirty="0"/>
              <a:t> to the L3 </a:t>
            </a:r>
            <a:r>
              <a:rPr lang="de-DE" b="0" dirty="0" err="1"/>
              <a:t>decision</a:t>
            </a:r>
            <a:r>
              <a:rPr lang="de-DE" b="0" dirty="0"/>
              <a:t> </a:t>
            </a:r>
            <a:r>
              <a:rPr lang="de-DE" b="0" dirty="0" err="1"/>
              <a:t>table</a:t>
            </a:r>
            <a:r>
              <a:rPr lang="de-DE" b="0" dirty="0"/>
              <a:t>, the </a:t>
            </a:r>
            <a:r>
              <a:rPr lang="de-DE" b="0" dirty="0" err="1"/>
              <a:t>test</a:t>
            </a:r>
            <a:r>
              <a:rPr lang="de-DE" b="0" dirty="0"/>
              <a:t> </a:t>
            </a:r>
            <a:r>
              <a:rPr lang="de-DE" b="0" dirty="0" err="1"/>
              <a:t>cases</a:t>
            </a:r>
            <a:r>
              <a:rPr lang="de-DE" b="0" dirty="0"/>
              <a:t>, and the FHIR </a:t>
            </a:r>
            <a:r>
              <a:rPr lang="de-DE" b="0" dirty="0" err="1"/>
              <a:t>export</a:t>
            </a:r>
            <a:r>
              <a:rPr lang="de-DE" b="0" dirty="0"/>
              <a:t>.</a:t>
            </a:r>
          </a:p>
          <a:p>
            <a:pPr lvl="0"/>
            <a:endParaRPr lang="de-DE"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0" dirty="0" err="1"/>
              <a:t>Our</a:t>
            </a:r>
            <a:r>
              <a:rPr lang="de-DE" b="0" dirty="0"/>
              <a:t> </a:t>
            </a:r>
            <a:r>
              <a:rPr lang="de-DE" b="0" dirty="0" err="1"/>
              <a:t>decision</a:t>
            </a:r>
            <a:r>
              <a:rPr lang="de-DE" b="0" dirty="0"/>
              <a:t> </a:t>
            </a:r>
            <a:r>
              <a:rPr lang="de-DE" b="0" dirty="0" err="1"/>
              <a:t>logic</a:t>
            </a:r>
            <a:r>
              <a:rPr lang="de-DE" b="0" dirty="0"/>
              <a:t> </a:t>
            </a:r>
            <a:r>
              <a:rPr lang="de-DE" b="0" dirty="0" err="1"/>
              <a:t>consists</a:t>
            </a:r>
            <a:r>
              <a:rPr lang="de-DE" b="0" dirty="0"/>
              <a:t> on </a:t>
            </a:r>
            <a:r>
              <a:rPr lang="de-DE" b="0" dirty="0" err="1"/>
              <a:t>eighteein</a:t>
            </a:r>
            <a:r>
              <a:rPr lang="de-DE" b="0" dirty="0"/>
              <a:t> </a:t>
            </a:r>
            <a:r>
              <a:rPr lang="de-DE" b="0" dirty="0" err="1"/>
              <a:t>rules</a:t>
            </a:r>
            <a:r>
              <a:rPr lang="de-DE" b="0" dirty="0"/>
              <a:t>.</a:t>
            </a:r>
          </a:p>
          <a:p>
            <a:r>
              <a:rPr lang="de-DE" b="0" dirty="0"/>
              <a:t>The </a:t>
            </a:r>
            <a:r>
              <a:rPr lang="de-DE" b="0" dirty="0" err="1"/>
              <a:t>classification</a:t>
            </a:r>
            <a:r>
              <a:rPr lang="de-DE" b="0" dirty="0"/>
              <a:t> </a:t>
            </a:r>
            <a:r>
              <a:rPr lang="de-DE" b="0" dirty="0" err="1"/>
              <a:t>rules</a:t>
            </a:r>
            <a:r>
              <a:rPr lang="de-DE" b="0" dirty="0"/>
              <a:t> </a:t>
            </a:r>
            <a:r>
              <a:rPr lang="de-DE" b="0" dirty="0" err="1"/>
              <a:t>are</a:t>
            </a:r>
            <a:r>
              <a:rPr lang="de-DE" b="0" dirty="0"/>
              <a:t> </a:t>
            </a:r>
            <a:r>
              <a:rPr lang="de-DE" b="0" dirty="0" err="1"/>
              <a:t>evaluated</a:t>
            </a:r>
            <a:r>
              <a:rPr lang="de-DE" b="0" dirty="0"/>
              <a:t> </a:t>
            </a:r>
            <a:r>
              <a:rPr lang="de-DE" b="0" dirty="0" err="1"/>
              <a:t>from</a:t>
            </a:r>
            <a:r>
              <a:rPr lang="de-DE" b="0" dirty="0"/>
              <a:t> the </a:t>
            </a:r>
            <a:r>
              <a:rPr lang="de-DE" b="0" dirty="0" err="1"/>
              <a:t>most</a:t>
            </a:r>
            <a:r>
              <a:rPr lang="de-DE" b="0" dirty="0"/>
              <a:t> </a:t>
            </a:r>
            <a:r>
              <a:rPr lang="de-DE" b="0" dirty="0" err="1"/>
              <a:t>severe</a:t>
            </a:r>
            <a:r>
              <a:rPr lang="de-DE" b="0" dirty="0"/>
              <a:t> to the least </a:t>
            </a:r>
            <a:r>
              <a:rPr lang="de-DE" b="0" dirty="0" err="1"/>
              <a:t>severe</a:t>
            </a:r>
            <a:r>
              <a:rPr lang="de-DE" b="0" dirty="0"/>
              <a:t>.</a:t>
            </a:r>
          </a:p>
          <a:p>
            <a:br>
              <a:rPr lang="de-DE" dirty="0"/>
            </a:br>
            <a:r>
              <a:rPr lang="de-DE" b="1" dirty="0" err="1"/>
              <a:t>One</a:t>
            </a:r>
            <a:r>
              <a:rPr lang="de-DE" b="1" dirty="0"/>
              <a:t> </a:t>
            </a:r>
            <a:r>
              <a:rPr lang="de-DE" b="1" dirty="0" err="1"/>
              <a:t>interesting</a:t>
            </a:r>
            <a:r>
              <a:rPr lang="de-DE" b="1" dirty="0"/>
              <a:t> </a:t>
            </a:r>
            <a:r>
              <a:rPr lang="de-DE" b="1" dirty="0" err="1"/>
              <a:t>challenge</a:t>
            </a:r>
            <a:r>
              <a:rPr lang="de-DE" b="1" dirty="0"/>
              <a:t> </a:t>
            </a:r>
            <a:r>
              <a:rPr lang="de-DE" b="1" dirty="0" err="1"/>
              <a:t>only</a:t>
            </a:r>
            <a:r>
              <a:rPr lang="de-DE" b="1" dirty="0"/>
              <a:t> </a:t>
            </a:r>
            <a:r>
              <a:rPr lang="de-DE" b="1" dirty="0" err="1"/>
              <a:t>became</a:t>
            </a:r>
            <a:r>
              <a:rPr lang="de-DE" b="1" dirty="0"/>
              <a:t> apparent </a:t>
            </a:r>
            <a:r>
              <a:rPr lang="de-DE" b="1" dirty="0" err="1"/>
              <a:t>once</a:t>
            </a:r>
            <a:r>
              <a:rPr lang="de-DE" b="1" dirty="0"/>
              <a:t> </a:t>
            </a:r>
            <a:r>
              <a:rPr lang="de-DE" b="1" dirty="0" err="1"/>
              <a:t>we</a:t>
            </a:r>
            <a:r>
              <a:rPr lang="de-DE" b="1" dirty="0"/>
              <a:t> </a:t>
            </a:r>
            <a:r>
              <a:rPr lang="de-DE" b="1" dirty="0" err="1"/>
              <a:t>executed</a:t>
            </a:r>
            <a:r>
              <a:rPr lang="de-DE" b="1" dirty="0"/>
              <a:t> the </a:t>
            </a:r>
            <a:r>
              <a:rPr lang="de-DE" b="1" dirty="0" err="1"/>
              <a:t>decision</a:t>
            </a:r>
            <a:r>
              <a:rPr lang="de-DE" b="1" dirty="0"/>
              <a:t> </a:t>
            </a:r>
            <a:r>
              <a:rPr lang="de-DE" b="1" dirty="0" err="1"/>
              <a:t>table</a:t>
            </a:r>
            <a:r>
              <a:rPr lang="de-DE" b="1" dirty="0"/>
              <a:t>: </a:t>
            </a:r>
            <a:br>
              <a:rPr lang="de-DE" dirty="0"/>
            </a:br>
            <a:r>
              <a:rPr lang="de-DE" dirty="0"/>
              <a:t>Some </a:t>
            </a:r>
            <a:r>
              <a:rPr lang="de-DE" dirty="0" err="1"/>
              <a:t>rules</a:t>
            </a:r>
            <a:r>
              <a:rPr lang="de-DE" dirty="0"/>
              <a:t> </a:t>
            </a:r>
            <a:r>
              <a:rPr lang="de-DE" dirty="0" err="1"/>
              <a:t>depend</a:t>
            </a:r>
            <a:r>
              <a:rPr lang="de-DE" dirty="0"/>
              <a:t> on </a:t>
            </a:r>
            <a:r>
              <a:rPr lang="de-DE" dirty="0" err="1"/>
              <a:t>previous</a:t>
            </a:r>
            <a:r>
              <a:rPr lang="de-DE" dirty="0"/>
              <a:t> </a:t>
            </a:r>
            <a:r>
              <a:rPr lang="de-DE" dirty="0" err="1"/>
              <a:t>assessments</a:t>
            </a:r>
            <a:endParaRPr lang="de-DE" dirty="0"/>
          </a:p>
          <a:p>
            <a:endParaRPr lang="de-DE" b="1" dirty="0"/>
          </a:p>
          <a:p>
            <a:r>
              <a:rPr lang="de-DE" b="1" dirty="0"/>
              <a:t>To support </a:t>
            </a:r>
            <a:r>
              <a:rPr lang="de-DE" b="1" dirty="0" err="1"/>
              <a:t>these</a:t>
            </a:r>
            <a:r>
              <a:rPr lang="de-DE" b="1" dirty="0"/>
              <a:t> temporal </a:t>
            </a:r>
            <a:r>
              <a:rPr lang="de-DE" b="1" dirty="0" err="1"/>
              <a:t>rules</a:t>
            </a:r>
            <a:r>
              <a:rPr lang="de-DE" b="1" dirty="0"/>
              <a:t>, </a:t>
            </a:r>
            <a:r>
              <a:rPr lang="de-DE" b="1" dirty="0" err="1"/>
              <a:t>we</a:t>
            </a:r>
            <a:r>
              <a:rPr lang="de-DE" b="1" dirty="0"/>
              <a:t> </a:t>
            </a:r>
            <a:r>
              <a:rPr lang="de-DE" b="1" dirty="0" err="1"/>
              <a:t>evaluate</a:t>
            </a:r>
            <a:r>
              <a:rPr lang="de-DE" b="1" dirty="0"/>
              <a:t> the </a:t>
            </a:r>
            <a:r>
              <a:rPr lang="de-DE" b="1" dirty="0" err="1"/>
              <a:t>decision</a:t>
            </a:r>
            <a:r>
              <a:rPr lang="de-DE" b="1" dirty="0"/>
              <a:t> </a:t>
            </a:r>
            <a:r>
              <a:rPr lang="de-DE" b="1" dirty="0" err="1"/>
              <a:t>table</a:t>
            </a:r>
            <a:r>
              <a:rPr lang="de-DE" b="1" dirty="0"/>
              <a:t> </a:t>
            </a:r>
            <a:r>
              <a:rPr lang="de-DE" b="1" dirty="0" err="1"/>
              <a:t>twice</a:t>
            </a:r>
            <a:r>
              <a:rPr lang="de-DE" b="1" dirty="0"/>
              <a:t>.</a:t>
            </a:r>
            <a:br>
              <a:rPr lang="de-DE" dirty="0"/>
            </a:br>
            <a:r>
              <a:rPr lang="de-DE" dirty="0"/>
              <a:t>The </a:t>
            </a:r>
            <a:r>
              <a:rPr lang="de-DE" dirty="0" err="1"/>
              <a:t>first</a:t>
            </a:r>
            <a:r>
              <a:rPr lang="de-DE" dirty="0"/>
              <a:t> pass </a:t>
            </a:r>
            <a:r>
              <a:rPr lang="de-DE" dirty="0" err="1"/>
              <a:t>determines</a:t>
            </a:r>
            <a:r>
              <a:rPr lang="de-DE" dirty="0"/>
              <a:t> the initial </a:t>
            </a:r>
            <a:r>
              <a:rPr lang="de-DE" dirty="0" err="1"/>
              <a:t>classification</a:t>
            </a:r>
            <a:r>
              <a:rPr lang="de-DE" dirty="0"/>
              <a:t>. The second pass </a:t>
            </a:r>
            <a:r>
              <a:rPr lang="de-DE" dirty="0" err="1"/>
              <a:t>applies</a:t>
            </a:r>
            <a:r>
              <a:rPr lang="de-DE" dirty="0"/>
              <a:t> </a:t>
            </a:r>
            <a:r>
              <a:rPr lang="de-DE" dirty="0" err="1"/>
              <a:t>rules</a:t>
            </a:r>
            <a:r>
              <a:rPr lang="de-DE" dirty="0"/>
              <a:t> </a:t>
            </a:r>
            <a:r>
              <a:rPr lang="de-DE" dirty="0" err="1"/>
              <a:t>that</a:t>
            </a:r>
            <a:r>
              <a:rPr lang="de-DE" dirty="0"/>
              <a:t> </a:t>
            </a:r>
            <a:r>
              <a:rPr lang="de-DE" dirty="0" err="1"/>
              <a:t>depend</a:t>
            </a:r>
            <a:r>
              <a:rPr lang="de-DE" dirty="0"/>
              <a:t> on </a:t>
            </a:r>
            <a:r>
              <a:rPr lang="de-DE" dirty="0" err="1"/>
              <a:t>previous</a:t>
            </a:r>
            <a:r>
              <a:rPr lang="de-DE" dirty="0"/>
              <a:t> </a:t>
            </a:r>
            <a:r>
              <a:rPr lang="de-DE" dirty="0" err="1"/>
              <a:t>classifications</a:t>
            </a:r>
            <a:r>
              <a:rPr lang="de-DE" dirty="0"/>
              <a:t>. It </a:t>
            </a:r>
            <a:r>
              <a:rPr lang="de-DE" dirty="0" err="1"/>
              <a:t>can</a:t>
            </a:r>
            <a:r>
              <a:rPr lang="de-DE" dirty="0"/>
              <a:t> </a:t>
            </a:r>
            <a:r>
              <a:rPr lang="de-DE" dirty="0" err="1"/>
              <a:t>only</a:t>
            </a:r>
            <a:r>
              <a:rPr lang="de-DE" dirty="0"/>
              <a:t> </a:t>
            </a:r>
            <a:r>
              <a:rPr lang="de-DE" dirty="0" err="1"/>
              <a:t>increase</a:t>
            </a:r>
            <a:r>
              <a:rPr lang="de-DE" dirty="0"/>
              <a:t> the </a:t>
            </a:r>
            <a:r>
              <a:rPr lang="de-DE" dirty="0" err="1"/>
              <a:t>urgency</a:t>
            </a:r>
            <a:r>
              <a:rPr lang="de-DE" dirty="0"/>
              <a:t> </a:t>
            </a:r>
            <a:r>
              <a:rPr lang="de-DE" dirty="0" err="1"/>
              <a:t>level</a:t>
            </a:r>
            <a:r>
              <a:rPr lang="de-DE" dirty="0"/>
              <a:t>—it </a:t>
            </a:r>
            <a:r>
              <a:rPr lang="de-DE" dirty="0" err="1"/>
              <a:t>never</a:t>
            </a:r>
            <a:r>
              <a:rPr lang="de-DE" dirty="0"/>
              <a:t> </a:t>
            </a:r>
            <a:r>
              <a:rPr lang="de-DE" dirty="0" err="1"/>
              <a:t>downgrades</a:t>
            </a:r>
            <a:r>
              <a:rPr lang="de-DE" dirty="0"/>
              <a:t> a </a:t>
            </a:r>
            <a:r>
              <a:rPr lang="de-DE" dirty="0" err="1"/>
              <a:t>patient</a:t>
            </a:r>
            <a:r>
              <a:rPr lang="de-DE" dirty="0"/>
              <a:t>.</a:t>
            </a:r>
          </a:p>
          <a:p>
            <a:endParaRPr lang="de-DE"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0" dirty="0" err="1"/>
              <a:t>We</a:t>
            </a:r>
            <a:r>
              <a:rPr lang="de-DE" b="0" dirty="0"/>
              <a:t> </a:t>
            </a:r>
            <a:r>
              <a:rPr lang="de-DE" b="0" dirty="0" err="1"/>
              <a:t>identified</a:t>
            </a:r>
            <a:r>
              <a:rPr lang="de-DE" b="0" dirty="0"/>
              <a:t> nine </a:t>
            </a:r>
            <a:r>
              <a:rPr lang="de-DE" b="0" dirty="0" err="1"/>
              <a:t>translation</a:t>
            </a:r>
            <a:r>
              <a:rPr lang="de-DE" b="0" dirty="0"/>
              <a:t> </a:t>
            </a:r>
            <a:r>
              <a:rPr lang="de-DE" b="0" dirty="0" err="1"/>
              <a:t>challenges</a:t>
            </a:r>
            <a:endParaRPr lang="de-DE" b="0" dirty="0"/>
          </a:p>
          <a:p>
            <a:r>
              <a:rPr lang="de-DE" b="0" dirty="0"/>
              <a:t>Two </a:t>
            </a:r>
            <a:r>
              <a:rPr lang="de-DE" b="0" dirty="0" err="1"/>
              <a:t>were</a:t>
            </a:r>
            <a:r>
              <a:rPr lang="de-DE" b="0" dirty="0"/>
              <a:t> </a:t>
            </a:r>
            <a:r>
              <a:rPr lang="de-DE" b="0" dirty="0" err="1"/>
              <a:t>classified</a:t>
            </a:r>
            <a:r>
              <a:rPr lang="de-DE" b="0" dirty="0"/>
              <a:t> as high </a:t>
            </a:r>
            <a:r>
              <a:rPr lang="de-DE" b="0" dirty="0" err="1"/>
              <a:t>risk</a:t>
            </a:r>
            <a:r>
              <a:rPr lang="de-DE" b="0" dirty="0"/>
              <a:t>.</a:t>
            </a:r>
            <a:br>
              <a:rPr lang="de-DE" dirty="0"/>
            </a:br>
            <a:endParaRPr lang="de-DE" dirty="0"/>
          </a:p>
          <a:p>
            <a:r>
              <a:rPr lang="de-DE" dirty="0"/>
              <a:t>The </a:t>
            </a:r>
            <a:r>
              <a:rPr lang="de-DE" dirty="0" err="1"/>
              <a:t>first</a:t>
            </a:r>
            <a:r>
              <a:rPr lang="de-DE" dirty="0"/>
              <a:t> </a:t>
            </a:r>
            <a:r>
              <a:rPr lang="de-DE" dirty="0" err="1"/>
              <a:t>is</a:t>
            </a:r>
            <a:r>
              <a:rPr lang="de-DE" dirty="0"/>
              <a:t> </a:t>
            </a:r>
            <a:r>
              <a:rPr lang="de-DE" dirty="0" err="1"/>
              <a:t>our</a:t>
            </a:r>
            <a:r>
              <a:rPr lang="de-DE" dirty="0"/>
              <a:t> </a:t>
            </a:r>
            <a:r>
              <a:rPr lang="de-DE" dirty="0" err="1"/>
              <a:t>core</a:t>
            </a:r>
            <a:r>
              <a:rPr lang="de-DE" dirty="0"/>
              <a:t> </a:t>
            </a:r>
            <a:r>
              <a:rPr lang="de-DE" dirty="0" err="1"/>
              <a:t>concept</a:t>
            </a:r>
            <a:r>
              <a:rPr lang="de-DE" dirty="0"/>
              <a:t>: </a:t>
            </a:r>
            <a:r>
              <a:rPr lang="de-DE" dirty="0" err="1"/>
              <a:t>translating</a:t>
            </a:r>
            <a:r>
              <a:rPr lang="de-DE" dirty="0"/>
              <a:t> the Southampton Scale </a:t>
            </a:r>
            <a:r>
              <a:rPr lang="de-DE" dirty="0" err="1"/>
              <a:t>into</a:t>
            </a:r>
            <a:r>
              <a:rPr lang="de-DE" dirty="0"/>
              <a:t> an image-</a:t>
            </a:r>
            <a:r>
              <a:rPr lang="de-DE" dirty="0" err="1"/>
              <a:t>based</a:t>
            </a:r>
            <a:r>
              <a:rPr lang="de-DE" dirty="0"/>
              <a:t> </a:t>
            </a:r>
            <a:r>
              <a:rPr lang="de-DE" dirty="0" err="1"/>
              <a:t>assessment</a:t>
            </a:r>
            <a:r>
              <a:rPr lang="de-DE" dirty="0"/>
              <a:t> for </a:t>
            </a:r>
            <a:r>
              <a:rPr lang="de-DE" dirty="0" err="1"/>
              <a:t>patients</a:t>
            </a:r>
            <a:r>
              <a:rPr lang="de-DE" dirty="0"/>
              <a:t>, </a:t>
            </a:r>
            <a:r>
              <a:rPr lang="de-DE" dirty="0" err="1"/>
              <a:t>which</a:t>
            </a:r>
            <a:r>
              <a:rPr lang="de-DE" dirty="0"/>
              <a:t> </a:t>
            </a:r>
            <a:r>
              <a:rPr lang="de-DE" dirty="0" err="1"/>
              <a:t>is</a:t>
            </a:r>
            <a:r>
              <a:rPr lang="de-DE" dirty="0"/>
              <a:t> an </a:t>
            </a:r>
            <a:r>
              <a:rPr lang="de-DE" dirty="0" err="1"/>
              <a:t>unvalidated</a:t>
            </a:r>
            <a:r>
              <a:rPr lang="de-DE" dirty="0"/>
              <a:t> </a:t>
            </a:r>
            <a:r>
              <a:rPr lang="de-DE" dirty="0" err="1"/>
              <a:t>procedure</a:t>
            </a:r>
            <a:endParaRPr lang="de-DE" dirty="0"/>
          </a:p>
          <a:p>
            <a:endParaRPr lang="de-DE" dirty="0"/>
          </a:p>
          <a:p>
            <a:r>
              <a:rPr lang="de-DE" dirty="0"/>
              <a:t>The second </a:t>
            </a:r>
            <a:r>
              <a:rPr lang="de-DE" dirty="0" err="1"/>
              <a:t>concerns</a:t>
            </a:r>
            <a:r>
              <a:rPr lang="de-DE" dirty="0"/>
              <a:t> postoperative </a:t>
            </a:r>
            <a:r>
              <a:rPr lang="de-DE" dirty="0" err="1"/>
              <a:t>redness</a:t>
            </a:r>
            <a:r>
              <a:rPr lang="de-DE" dirty="0"/>
              <a:t>. </a:t>
            </a:r>
            <a:r>
              <a:rPr lang="de-DE" dirty="0" err="1"/>
              <a:t>No</a:t>
            </a:r>
            <a:r>
              <a:rPr lang="de-DE" dirty="0"/>
              <a:t> </a:t>
            </a:r>
            <a:r>
              <a:rPr lang="de-DE" dirty="0" err="1"/>
              <a:t>guideline</a:t>
            </a:r>
            <a:r>
              <a:rPr lang="de-DE" dirty="0"/>
              <a:t> </a:t>
            </a:r>
            <a:r>
              <a:rPr lang="de-DE" dirty="0" err="1"/>
              <a:t>defines</a:t>
            </a:r>
            <a:r>
              <a:rPr lang="de-DE" dirty="0"/>
              <a:t> </a:t>
            </a:r>
            <a:r>
              <a:rPr lang="de-DE" dirty="0" err="1"/>
              <a:t>when</a:t>
            </a:r>
            <a:r>
              <a:rPr lang="de-DE" dirty="0"/>
              <a:t> normal </a:t>
            </a:r>
            <a:r>
              <a:rPr lang="de-DE" dirty="0" err="1"/>
              <a:t>redness</a:t>
            </a:r>
            <a:r>
              <a:rPr lang="de-DE" dirty="0"/>
              <a:t> </a:t>
            </a:r>
            <a:r>
              <a:rPr lang="de-DE" dirty="0" err="1"/>
              <a:t>becomes</a:t>
            </a:r>
            <a:r>
              <a:rPr lang="de-DE" dirty="0"/>
              <a:t> abnormal,</a:t>
            </a:r>
          </a:p>
          <a:p>
            <a:r>
              <a:rPr lang="de-DE" dirty="0"/>
              <a:t>so </a:t>
            </a:r>
            <a:r>
              <a:rPr lang="de-DE" dirty="0" err="1"/>
              <a:t>we</a:t>
            </a:r>
            <a:r>
              <a:rPr lang="de-DE" dirty="0"/>
              <a:t> </a:t>
            </a:r>
            <a:r>
              <a:rPr lang="de-DE" dirty="0" err="1"/>
              <a:t>introduced</a:t>
            </a:r>
            <a:r>
              <a:rPr lang="de-DE" dirty="0"/>
              <a:t> </a:t>
            </a:r>
            <a:r>
              <a:rPr lang="de-DE" b="1" dirty="0" err="1"/>
              <a:t>day</a:t>
            </a:r>
            <a:r>
              <a:rPr lang="de-DE" b="1" dirty="0"/>
              <a:t> </a:t>
            </a:r>
            <a:r>
              <a:rPr lang="de-DE" b="1" dirty="0" err="1"/>
              <a:t>three</a:t>
            </a:r>
            <a:r>
              <a:rPr lang="de-DE" dirty="0"/>
              <a:t> as a </a:t>
            </a:r>
            <a:r>
              <a:rPr lang="de-DE" dirty="0" err="1"/>
              <a:t>pragmatic</a:t>
            </a:r>
            <a:r>
              <a:rPr lang="de-DE" dirty="0"/>
              <a:t> </a:t>
            </a:r>
            <a:r>
              <a:rPr lang="de-DE" dirty="0" err="1"/>
              <a:t>threshold</a:t>
            </a:r>
            <a:r>
              <a:rPr lang="de-DE" dirty="0"/>
              <a:t>.</a:t>
            </a:r>
          </a:p>
          <a:p>
            <a:endParaRPr lang="de-DE" b="1" dirty="0"/>
          </a:p>
          <a:p>
            <a:r>
              <a:rPr lang="de-DE" b="1" dirty="0"/>
              <a:t>All nine </a:t>
            </a:r>
            <a:r>
              <a:rPr lang="de-DE" b="1" dirty="0" err="1"/>
              <a:t>decisions</a:t>
            </a:r>
            <a:r>
              <a:rPr lang="de-DE" b="1" dirty="0"/>
              <a:t> </a:t>
            </a:r>
            <a:r>
              <a:rPr lang="de-DE" b="1" dirty="0" err="1"/>
              <a:t>require</a:t>
            </a:r>
            <a:r>
              <a:rPr lang="de-DE" b="1" dirty="0"/>
              <a:t> </a:t>
            </a:r>
            <a:r>
              <a:rPr lang="de-DE" b="1" dirty="0" err="1"/>
              <a:t>clinical</a:t>
            </a:r>
            <a:r>
              <a:rPr lang="de-DE" b="1" dirty="0"/>
              <a:t> </a:t>
            </a:r>
            <a:r>
              <a:rPr lang="de-DE" b="1" dirty="0" err="1"/>
              <a:t>validation</a:t>
            </a:r>
            <a:r>
              <a:rPr lang="de-DE" b="1" dirty="0"/>
              <a:t> </a:t>
            </a:r>
            <a:r>
              <a:rPr lang="de-DE" b="1" dirty="0" err="1"/>
              <a:t>before</a:t>
            </a:r>
            <a:r>
              <a:rPr lang="de-DE" b="1" dirty="0"/>
              <a:t> real-</a:t>
            </a:r>
            <a:r>
              <a:rPr lang="de-DE" b="1" dirty="0" err="1"/>
              <a:t>world</a:t>
            </a:r>
            <a:r>
              <a:rPr lang="de-DE" b="1" dirty="0"/>
              <a:t> </a:t>
            </a:r>
            <a:r>
              <a:rPr lang="de-DE" b="1" dirty="0" err="1"/>
              <a:t>use</a:t>
            </a:r>
            <a:r>
              <a:rPr lang="de-DE" b="1" dirty="0"/>
              <a:t>, and </a:t>
            </a:r>
            <a:r>
              <a:rPr lang="de-DE" b="1" dirty="0" err="1"/>
              <a:t>we</a:t>
            </a:r>
            <a:r>
              <a:rPr lang="de-DE" b="1" dirty="0"/>
              <a:t> </a:t>
            </a:r>
            <a:r>
              <a:rPr lang="de-DE" b="1" dirty="0" err="1"/>
              <a:t>explicitly</a:t>
            </a:r>
            <a:r>
              <a:rPr lang="de-DE" b="1" dirty="0"/>
              <a:t> </a:t>
            </a:r>
            <a:r>
              <a:rPr lang="de-DE" b="1" dirty="0" err="1"/>
              <a:t>report</a:t>
            </a:r>
            <a:r>
              <a:rPr lang="de-DE" b="1" dirty="0"/>
              <a:t> </a:t>
            </a:r>
            <a:r>
              <a:rPr lang="de-DE" b="1" dirty="0" err="1"/>
              <a:t>them</a:t>
            </a:r>
            <a:r>
              <a:rPr lang="de-DE" b="1" dirty="0"/>
              <a:t> as </a:t>
            </a:r>
            <a:r>
              <a:rPr lang="de-DE" b="1" dirty="0" err="1"/>
              <a:t>project</a:t>
            </a:r>
            <a:r>
              <a:rPr lang="de-DE" b="1" dirty="0"/>
              <a:t> </a:t>
            </a:r>
            <a:r>
              <a:rPr lang="de-DE" b="1" dirty="0" err="1"/>
              <a:t>limitations</a:t>
            </a:r>
            <a:r>
              <a:rPr lang="de-DE" b="1" dirty="0"/>
              <a:t>.</a:t>
            </a:r>
            <a:endParaRPr lang="de-DE" dirty="0"/>
          </a:p>
          <a:p>
            <a:endParaRPr lang="de-DE"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t>Najani</a:t>
            </a:r>
          </a:p>
          <a:p>
            <a:pPr rtl="0"/>
            <a:endParaRPr lang="en-US" dirty="0"/>
          </a:p>
          <a:p>
            <a:pPr rtl="0"/>
            <a:r>
              <a:rPr lang="en-US" dirty="0"/>
              <a:t>Which brings us to where all of that knowledge actually lives, because it is deliberately not in the app.</a:t>
            </a:r>
            <a:endParaRPr lang="de-CH" dirty="0"/>
          </a:p>
          <a:p>
            <a:pPr rtl="0"/>
            <a:endParaRPr lang="de-CH" dirty="0"/>
          </a:p>
          <a:p>
            <a:pPr rtl="0"/>
            <a:r>
              <a:rPr lang="de-CH" dirty="0" err="1"/>
              <a:t>We</a:t>
            </a:r>
            <a:r>
              <a:rPr lang="de-CH" dirty="0"/>
              <a:t> </a:t>
            </a:r>
            <a:r>
              <a:rPr lang="de-CH" dirty="0" err="1"/>
              <a:t>compared</a:t>
            </a:r>
            <a:r>
              <a:rPr lang="de-CH" dirty="0"/>
              <a:t> </a:t>
            </a:r>
            <a:r>
              <a:rPr lang="de-CH" dirty="0" err="1"/>
              <a:t>four</a:t>
            </a:r>
            <a:r>
              <a:rPr lang="de-CH" dirty="0"/>
              <a:t> </a:t>
            </a:r>
            <a:r>
              <a:rPr lang="de-CH" dirty="0" err="1"/>
              <a:t>ways</a:t>
            </a:r>
            <a:r>
              <a:rPr lang="de-CH" dirty="0"/>
              <a:t> to </a:t>
            </a:r>
            <a:r>
              <a:rPr lang="de-CH" dirty="0" err="1"/>
              <a:t>make</a:t>
            </a:r>
            <a:r>
              <a:rPr lang="de-CH" dirty="0"/>
              <a:t> the L2 </a:t>
            </a:r>
            <a:r>
              <a:rPr lang="de-CH" dirty="0" err="1"/>
              <a:t>machine-readable</a:t>
            </a:r>
            <a:r>
              <a:rPr lang="de-CH" dirty="0"/>
              <a:t>.   </a:t>
            </a:r>
          </a:p>
          <a:p>
            <a:pPr rtl="0"/>
            <a:endParaRPr lang="de-CH" dirty="0"/>
          </a:p>
          <a:p>
            <a:pPr rtl="0"/>
            <a:r>
              <a:rPr lang="de-CH" dirty="0" err="1"/>
              <a:t>XLSForm</a:t>
            </a:r>
            <a:r>
              <a:rPr lang="de-CH" dirty="0"/>
              <a:t> </a:t>
            </a:r>
            <a:r>
              <a:rPr lang="de-CH" dirty="0" err="1"/>
              <a:t>is</a:t>
            </a:r>
            <a:r>
              <a:rPr lang="de-CH" dirty="0"/>
              <a:t> </a:t>
            </a:r>
            <a:r>
              <a:rPr lang="de-CH" dirty="0" err="1"/>
              <a:t>executable</a:t>
            </a:r>
            <a:r>
              <a:rPr lang="de-CH" dirty="0"/>
              <a:t> by </a:t>
            </a:r>
            <a:r>
              <a:rPr lang="de-CH" dirty="0" err="1"/>
              <a:t>existing</a:t>
            </a:r>
            <a:r>
              <a:rPr lang="de-CH" dirty="0"/>
              <a:t> </a:t>
            </a:r>
            <a:r>
              <a:rPr lang="de-CH" dirty="0" err="1"/>
              <a:t>engines</a:t>
            </a:r>
            <a:r>
              <a:rPr lang="de-CH" dirty="0"/>
              <a:t>, but </a:t>
            </a:r>
            <a:r>
              <a:rPr lang="de-CH" dirty="0" err="1"/>
              <a:t>its</a:t>
            </a:r>
            <a:r>
              <a:rPr lang="de-CH" dirty="0"/>
              <a:t> </a:t>
            </a:r>
            <a:r>
              <a:rPr lang="de-CH" dirty="0" err="1"/>
              <a:t>standard</a:t>
            </a:r>
            <a:r>
              <a:rPr lang="de-CH" dirty="0"/>
              <a:t> </a:t>
            </a:r>
            <a:r>
              <a:rPr lang="de-CH" dirty="0" err="1"/>
              <a:t>widgets</a:t>
            </a:r>
            <a:r>
              <a:rPr lang="de-CH" dirty="0"/>
              <a:t> </a:t>
            </a:r>
            <a:r>
              <a:rPr lang="de-CH" dirty="0" err="1"/>
              <a:t>cannot</a:t>
            </a:r>
            <a:r>
              <a:rPr lang="de-CH" dirty="0"/>
              <a:t> carry </a:t>
            </a:r>
            <a:r>
              <a:rPr lang="de-CH" dirty="0" err="1"/>
              <a:t>our</a:t>
            </a:r>
            <a:r>
              <a:rPr lang="de-CH" dirty="0"/>
              <a:t> </a:t>
            </a:r>
            <a:r>
              <a:rPr lang="de-CH" dirty="0" err="1"/>
              <a:t>image</a:t>
            </a:r>
            <a:r>
              <a:rPr lang="de-CH" dirty="0"/>
              <a:t> </a:t>
            </a:r>
            <a:r>
              <a:rPr lang="de-CH" dirty="0" err="1"/>
              <a:t>cards</a:t>
            </a:r>
            <a:r>
              <a:rPr lang="de-CH" dirty="0"/>
              <a:t> — </a:t>
            </a:r>
            <a:r>
              <a:rPr lang="de-CH" b="1" dirty="0"/>
              <a:t>the </a:t>
            </a:r>
            <a:r>
              <a:rPr lang="de-CH" b="1" dirty="0" err="1"/>
              <a:t>tooling</a:t>
            </a:r>
            <a:r>
              <a:rPr lang="de-CH" b="1" dirty="0"/>
              <a:t> </a:t>
            </a:r>
            <a:r>
              <a:rPr lang="de-CH" b="1" dirty="0" err="1"/>
              <a:t>would</a:t>
            </a:r>
            <a:r>
              <a:rPr lang="de-CH" b="1" dirty="0"/>
              <a:t> </a:t>
            </a:r>
            <a:r>
              <a:rPr lang="de-CH" b="1" dirty="0" err="1"/>
              <a:t>have</a:t>
            </a:r>
            <a:r>
              <a:rPr lang="de-CH" b="1" dirty="0"/>
              <a:t> </a:t>
            </a:r>
            <a:r>
              <a:rPr lang="de-CH" b="1" dirty="0" err="1"/>
              <a:t>dictated</a:t>
            </a:r>
            <a:r>
              <a:rPr lang="de-CH" b="1" dirty="0"/>
              <a:t> </a:t>
            </a:r>
            <a:r>
              <a:rPr lang="de-CH" b="1" dirty="0" err="1"/>
              <a:t>our</a:t>
            </a:r>
            <a:r>
              <a:rPr lang="de-CH" b="1" dirty="0"/>
              <a:t> UX</a:t>
            </a:r>
            <a:r>
              <a:rPr lang="de-CH" dirty="0"/>
              <a:t>, and the </a:t>
            </a:r>
            <a:r>
              <a:rPr lang="de-CH" dirty="0" err="1"/>
              <a:t>images</a:t>
            </a:r>
            <a:r>
              <a:rPr lang="de-CH" dirty="0"/>
              <a:t> </a:t>
            </a:r>
            <a:r>
              <a:rPr lang="de-CH" dirty="0" err="1"/>
              <a:t>are</a:t>
            </a:r>
            <a:r>
              <a:rPr lang="de-CH" dirty="0"/>
              <a:t> the </a:t>
            </a:r>
            <a:r>
              <a:rPr lang="de-CH" dirty="0" err="1"/>
              <a:t>whole</a:t>
            </a:r>
            <a:r>
              <a:rPr lang="de-CH" dirty="0"/>
              <a:t> </a:t>
            </a:r>
            <a:r>
              <a:rPr lang="de-CH" dirty="0" err="1"/>
              <a:t>idea</a:t>
            </a:r>
            <a:r>
              <a:rPr lang="de-CH" dirty="0"/>
              <a:t>. FHIR </a:t>
            </a:r>
            <a:r>
              <a:rPr lang="de-CH" dirty="0" err="1"/>
              <a:t>Questionnaire</a:t>
            </a:r>
            <a:r>
              <a:rPr lang="de-CH" dirty="0"/>
              <a:t> plus CQL </a:t>
            </a:r>
            <a:r>
              <a:rPr lang="de-CH" dirty="0" err="1"/>
              <a:t>is</a:t>
            </a:r>
            <a:r>
              <a:rPr lang="de-CH" dirty="0"/>
              <a:t> the </a:t>
            </a:r>
            <a:r>
              <a:rPr lang="de-CH" dirty="0" err="1"/>
              <a:t>full</a:t>
            </a:r>
            <a:r>
              <a:rPr lang="de-CH" dirty="0"/>
              <a:t> </a:t>
            </a:r>
            <a:r>
              <a:rPr lang="de-CH" dirty="0" err="1"/>
              <a:t>standard</a:t>
            </a:r>
            <a:r>
              <a:rPr lang="de-CH" dirty="0"/>
              <a:t>, but the </a:t>
            </a:r>
            <a:r>
              <a:rPr lang="de-CH" dirty="0" err="1"/>
              <a:t>lecture's</a:t>
            </a:r>
            <a:r>
              <a:rPr lang="de-CH" dirty="0"/>
              <a:t> own </a:t>
            </a:r>
            <a:r>
              <a:rPr lang="de-CH" dirty="0" err="1"/>
              <a:t>point</a:t>
            </a:r>
            <a:r>
              <a:rPr lang="de-CH" dirty="0"/>
              <a:t> stands: FHIR </a:t>
            </a:r>
            <a:r>
              <a:rPr lang="de-CH" dirty="0" err="1"/>
              <a:t>resources</a:t>
            </a:r>
            <a:r>
              <a:rPr lang="de-CH" dirty="0"/>
              <a:t> </a:t>
            </a:r>
            <a:r>
              <a:rPr lang="de-CH" dirty="0" err="1"/>
              <a:t>are</a:t>
            </a:r>
            <a:r>
              <a:rPr lang="de-CH" dirty="0"/>
              <a:t> not human-</a:t>
            </a:r>
            <a:r>
              <a:rPr lang="de-CH" dirty="0" err="1"/>
              <a:t>readable</a:t>
            </a:r>
            <a:r>
              <a:rPr lang="de-CH" dirty="0"/>
              <a:t>, and </a:t>
            </a:r>
            <a:r>
              <a:rPr lang="de-CH" dirty="0" err="1"/>
              <a:t>we</a:t>
            </a:r>
            <a:r>
              <a:rPr lang="de-CH" dirty="0"/>
              <a:t> </a:t>
            </a:r>
            <a:r>
              <a:rPr lang="de-CH" dirty="0" err="1"/>
              <a:t>had</a:t>
            </a:r>
            <a:r>
              <a:rPr lang="de-CH" dirty="0"/>
              <a:t> to review </a:t>
            </a:r>
            <a:r>
              <a:rPr lang="de-CH" dirty="0" err="1"/>
              <a:t>this</a:t>
            </a:r>
            <a:r>
              <a:rPr lang="de-CH" dirty="0"/>
              <a:t> in </a:t>
            </a:r>
            <a:r>
              <a:rPr lang="de-CH" dirty="0" err="1"/>
              <a:t>six</a:t>
            </a:r>
            <a:r>
              <a:rPr lang="de-CH" dirty="0"/>
              <a:t> </a:t>
            </a:r>
            <a:r>
              <a:rPr lang="de-CH" dirty="0" err="1"/>
              <a:t>days</a:t>
            </a:r>
            <a:r>
              <a:rPr lang="de-CH" dirty="0"/>
              <a:t>. </a:t>
            </a:r>
            <a:r>
              <a:rPr lang="de-CH" dirty="0" err="1"/>
              <a:t>Hardcoding</a:t>
            </a:r>
            <a:r>
              <a:rPr lang="de-CH" dirty="0"/>
              <a:t> </a:t>
            </a:r>
            <a:r>
              <a:rPr lang="de-CH" dirty="0" err="1"/>
              <a:t>is</a:t>
            </a:r>
            <a:r>
              <a:rPr lang="de-CH" dirty="0"/>
              <a:t> fastest and </a:t>
            </a:r>
            <a:r>
              <a:rPr lang="de-CH" dirty="0" err="1"/>
              <a:t>needs</a:t>
            </a:r>
            <a:r>
              <a:rPr lang="de-CH" dirty="0"/>
              <a:t> a </a:t>
            </a:r>
            <a:r>
              <a:rPr lang="de-CH" dirty="0" err="1"/>
              <a:t>developer</a:t>
            </a:r>
            <a:r>
              <a:rPr lang="de-CH" dirty="0"/>
              <a:t> for </a:t>
            </a:r>
            <a:r>
              <a:rPr lang="de-CH" dirty="0" err="1"/>
              <a:t>every</a:t>
            </a:r>
            <a:r>
              <a:rPr lang="de-CH" dirty="0"/>
              <a:t> </a:t>
            </a:r>
            <a:r>
              <a:rPr lang="de-CH" dirty="0" err="1"/>
              <a:t>rule</a:t>
            </a:r>
            <a:r>
              <a:rPr lang="de-CH" dirty="0"/>
              <a:t> change.</a:t>
            </a:r>
          </a:p>
          <a:p>
            <a:pPr rtl="0"/>
            <a:endParaRPr lang="de-CH" dirty="0"/>
          </a:p>
          <a:p>
            <a:pPr rtl="0"/>
            <a:r>
              <a:rPr lang="de-CH" dirty="0"/>
              <a:t>So: </a:t>
            </a:r>
            <a:r>
              <a:rPr lang="de-CH" b="1" dirty="0" err="1"/>
              <a:t>we</a:t>
            </a:r>
            <a:r>
              <a:rPr lang="de-CH" b="1" dirty="0"/>
              <a:t> </a:t>
            </a:r>
            <a:r>
              <a:rPr lang="de-CH" b="1" dirty="0" err="1"/>
              <a:t>author</a:t>
            </a:r>
            <a:r>
              <a:rPr lang="de-CH" b="1" dirty="0"/>
              <a:t> in a </a:t>
            </a:r>
            <a:r>
              <a:rPr lang="de-CH" b="1" dirty="0" err="1"/>
              <a:t>custom</a:t>
            </a:r>
            <a:r>
              <a:rPr lang="de-CH" b="1" dirty="0"/>
              <a:t> JSON </a:t>
            </a:r>
            <a:r>
              <a:rPr lang="de-CH" b="1" dirty="0" err="1"/>
              <a:t>that</a:t>
            </a:r>
            <a:r>
              <a:rPr lang="de-CH" b="1" dirty="0"/>
              <a:t> </a:t>
            </a:r>
            <a:r>
              <a:rPr lang="de-CH" b="1" dirty="0" err="1"/>
              <a:t>reads</a:t>
            </a:r>
            <a:r>
              <a:rPr lang="de-CH" b="1" dirty="0"/>
              <a:t> like the L2, and </a:t>
            </a:r>
            <a:r>
              <a:rPr lang="de-CH" b="1" dirty="0" err="1"/>
              <a:t>we</a:t>
            </a:r>
            <a:r>
              <a:rPr lang="de-CH" b="1" dirty="0"/>
              <a:t> </a:t>
            </a:r>
            <a:r>
              <a:rPr lang="de-CH" b="1" dirty="0" err="1"/>
              <a:t>speak</a:t>
            </a:r>
            <a:r>
              <a:rPr lang="de-CH" b="1" dirty="0"/>
              <a:t> </a:t>
            </a:r>
            <a:r>
              <a:rPr lang="de-CH" b="1" dirty="0" err="1"/>
              <a:t>standards</a:t>
            </a:r>
            <a:r>
              <a:rPr lang="de-CH" b="1" dirty="0"/>
              <a:t> at the interface.</a:t>
            </a:r>
            <a:r>
              <a:rPr lang="de-CH" dirty="0"/>
              <a:t> </a:t>
            </a:r>
            <a:r>
              <a:rPr lang="de-CH" dirty="0" err="1"/>
              <a:t>We</a:t>
            </a:r>
            <a:r>
              <a:rPr lang="de-CH" dirty="0"/>
              <a:t> do not </a:t>
            </a:r>
            <a:r>
              <a:rPr lang="de-CH" dirty="0" err="1"/>
              <a:t>achieve</a:t>
            </a:r>
            <a:r>
              <a:rPr lang="de-CH" dirty="0"/>
              <a:t> </a:t>
            </a:r>
            <a:r>
              <a:rPr lang="de-CH" dirty="0" err="1"/>
              <a:t>full</a:t>
            </a:r>
            <a:r>
              <a:rPr lang="de-CH" dirty="0"/>
              <a:t> </a:t>
            </a:r>
            <a:r>
              <a:rPr lang="de-CH" dirty="0" err="1"/>
              <a:t>software</a:t>
            </a:r>
            <a:r>
              <a:rPr lang="de-CH" dirty="0"/>
              <a:t> </a:t>
            </a:r>
            <a:r>
              <a:rPr lang="de-CH" dirty="0" err="1"/>
              <a:t>neutrality</a:t>
            </a:r>
            <a:r>
              <a:rPr lang="de-CH" dirty="0"/>
              <a:t>. </a:t>
            </a:r>
            <a:r>
              <a:rPr lang="de-CH" dirty="0" err="1"/>
              <a:t>That</a:t>
            </a:r>
            <a:r>
              <a:rPr lang="de-CH" dirty="0"/>
              <a:t> </a:t>
            </a:r>
            <a:r>
              <a:rPr lang="de-CH" dirty="0" err="1"/>
              <a:t>is</a:t>
            </a:r>
            <a:r>
              <a:rPr lang="de-CH" dirty="0"/>
              <a:t> a </a:t>
            </a:r>
            <a:r>
              <a:rPr lang="de-CH" dirty="0" err="1"/>
              <a:t>stated</a:t>
            </a:r>
            <a:r>
              <a:rPr lang="de-CH" dirty="0"/>
              <a:t> trade-off, not an </a:t>
            </a:r>
            <a:r>
              <a:rPr lang="de-CH" dirty="0" err="1"/>
              <a:t>oversight</a:t>
            </a:r>
            <a:r>
              <a:rPr lang="de-CH" dirty="0"/>
              <a:t>.</a:t>
            </a:r>
          </a:p>
          <a:p>
            <a:pPr rtl="0"/>
            <a:r>
              <a:rPr lang="de-CH" dirty="0"/>
              <a:t>And the </a:t>
            </a:r>
            <a:r>
              <a:rPr lang="de-CH" dirty="0" err="1"/>
              <a:t>claim</a:t>
            </a:r>
            <a:r>
              <a:rPr lang="de-CH" dirty="0"/>
              <a:t> at the </a:t>
            </a:r>
            <a:r>
              <a:rPr lang="de-CH" dirty="0" err="1"/>
              <a:t>bottom</a:t>
            </a:r>
            <a:r>
              <a:rPr lang="de-CH" dirty="0"/>
              <a:t> </a:t>
            </a:r>
            <a:r>
              <a:rPr lang="de-CH" dirty="0" err="1"/>
              <a:t>is</a:t>
            </a:r>
            <a:r>
              <a:rPr lang="de-CH" dirty="0"/>
              <a:t> not a </a:t>
            </a:r>
            <a:r>
              <a:rPr lang="de-CH" dirty="0" err="1"/>
              <a:t>promise</a:t>
            </a:r>
            <a:r>
              <a:rPr lang="de-CH" dirty="0"/>
              <a:t>, it </a:t>
            </a:r>
            <a:r>
              <a:rPr lang="de-CH" dirty="0" err="1"/>
              <a:t>is</a:t>
            </a:r>
            <a:r>
              <a:rPr lang="de-CH" dirty="0"/>
              <a:t> </a:t>
            </a:r>
            <a:r>
              <a:rPr lang="de-CH" b="1" dirty="0"/>
              <a:t>a check </a:t>
            </a:r>
            <a:r>
              <a:rPr lang="de-CH" b="1" dirty="0" err="1"/>
              <a:t>that</a:t>
            </a:r>
            <a:r>
              <a:rPr lang="de-CH" b="1" dirty="0"/>
              <a:t> </a:t>
            </a:r>
            <a:r>
              <a:rPr lang="de-CH" b="1" dirty="0" err="1"/>
              <a:t>fails</a:t>
            </a:r>
            <a:r>
              <a:rPr lang="de-CH" b="1" dirty="0"/>
              <a:t> the </a:t>
            </a:r>
            <a:r>
              <a:rPr lang="de-CH" b="1" dirty="0" err="1"/>
              <a:t>build</a:t>
            </a:r>
            <a:r>
              <a:rPr lang="de-CH" dirty="0"/>
              <a:t>. It </a:t>
            </a:r>
            <a:r>
              <a:rPr lang="de-CH" dirty="0" err="1"/>
              <a:t>scans</a:t>
            </a:r>
            <a:r>
              <a:rPr lang="de-CH" dirty="0"/>
              <a:t> the </a:t>
            </a:r>
            <a:r>
              <a:rPr lang="de-CH" dirty="0" err="1"/>
              <a:t>app</a:t>
            </a:r>
            <a:r>
              <a:rPr lang="de-CH" dirty="0"/>
              <a:t> source for </a:t>
            </a:r>
            <a:r>
              <a:rPr lang="de-CH" dirty="0" err="1"/>
              <a:t>every</a:t>
            </a:r>
            <a:r>
              <a:rPr lang="de-CH" dirty="0"/>
              <a:t> </a:t>
            </a:r>
            <a:r>
              <a:rPr lang="de-CH" dirty="0" err="1"/>
              <a:t>element</a:t>
            </a:r>
            <a:r>
              <a:rPr lang="de-CH" dirty="0"/>
              <a:t> ID, </a:t>
            </a:r>
            <a:r>
              <a:rPr lang="de-CH" dirty="0" err="1"/>
              <a:t>every</a:t>
            </a:r>
            <a:r>
              <a:rPr lang="de-CH" dirty="0"/>
              <a:t> </a:t>
            </a:r>
            <a:r>
              <a:rPr lang="de-CH" dirty="0" err="1"/>
              <a:t>rule</a:t>
            </a:r>
            <a:r>
              <a:rPr lang="de-CH" dirty="0"/>
              <a:t> ID, </a:t>
            </a:r>
            <a:r>
              <a:rPr lang="de-CH" dirty="0" err="1"/>
              <a:t>every</a:t>
            </a:r>
            <a:r>
              <a:rPr lang="de-CH" dirty="0"/>
              <a:t> </a:t>
            </a:r>
            <a:r>
              <a:rPr lang="de-CH" dirty="0" err="1"/>
              <a:t>threshold</a:t>
            </a:r>
            <a:r>
              <a:rPr lang="de-CH" dirty="0"/>
              <a:t>, </a:t>
            </a:r>
            <a:r>
              <a:rPr lang="de-CH" dirty="0" err="1"/>
              <a:t>every</a:t>
            </a:r>
            <a:r>
              <a:rPr lang="de-CH" dirty="0"/>
              <a:t> code </a:t>
            </a:r>
            <a:r>
              <a:rPr lang="de-CH" dirty="0" err="1"/>
              <a:t>system</a:t>
            </a:r>
            <a:r>
              <a:rPr lang="de-CH" dirty="0"/>
              <a:t> and the </a:t>
            </a:r>
            <a:r>
              <a:rPr lang="de-CH" dirty="0" err="1"/>
              <a:t>endpoint</a:t>
            </a:r>
            <a:r>
              <a:rPr lang="de-CH" dirty="0"/>
              <a:t>. </a:t>
            </a:r>
            <a:r>
              <a:rPr lang="de-CH" b="1" dirty="0"/>
              <a:t>It </a:t>
            </a:r>
            <a:r>
              <a:rPr lang="de-CH" b="1" dirty="0" err="1"/>
              <a:t>found</a:t>
            </a:r>
            <a:r>
              <a:rPr lang="de-CH" b="1" dirty="0"/>
              <a:t> </a:t>
            </a:r>
            <a:r>
              <a:rPr lang="de-CH" b="1" dirty="0" err="1"/>
              <a:t>two</a:t>
            </a:r>
            <a:r>
              <a:rPr lang="de-CH" b="1" dirty="0"/>
              <a:t> real </a:t>
            </a:r>
            <a:r>
              <a:rPr lang="de-CH" b="1" dirty="0" err="1"/>
              <a:t>leaks</a:t>
            </a:r>
            <a:r>
              <a:rPr lang="de-CH" b="1" dirty="0"/>
              <a:t> the </a:t>
            </a:r>
            <a:r>
              <a:rPr lang="de-CH" b="1" dirty="0" err="1"/>
              <a:t>first</a:t>
            </a:r>
            <a:r>
              <a:rPr lang="de-CH" b="1" dirty="0"/>
              <a:t> time </a:t>
            </a:r>
            <a:r>
              <a:rPr lang="de-CH" b="1" dirty="0" err="1"/>
              <a:t>we</a:t>
            </a:r>
            <a:r>
              <a:rPr lang="de-CH" b="1" dirty="0"/>
              <a:t> ran it.</a:t>
            </a:r>
            <a:endParaRPr lang="de-CH"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Let’s start with a little demo:</a:t>
            </a:r>
            <a:br>
              <a:rPr lang="en-US"/>
            </a:br>
            <a:br>
              <a:rPr lang="en-US"/>
            </a:br>
            <a:r>
              <a:rPr lang="en-US"/>
              <a:t>So every patients get access code, for this we did two ready. And then the usually things are already in there, then the…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de-CH"/>
              <a:t>Najani</a:t>
            </a:r>
          </a:p>
          <a:p>
            <a:pPr rtl="0"/>
            <a:endParaRPr lang="de-CH"/>
          </a:p>
          <a:p>
            <a:pPr rtl="0"/>
            <a:r>
              <a:rPr lang="de-CH"/>
              <a:t>For </a:t>
            </a:r>
            <a:r>
              <a:rPr lang="de-CH" err="1"/>
              <a:t>testing</a:t>
            </a:r>
            <a:r>
              <a:rPr lang="de-CH"/>
              <a:t> </a:t>
            </a:r>
            <a:r>
              <a:rPr lang="de-CH" err="1"/>
              <a:t>we</a:t>
            </a:r>
            <a:r>
              <a:rPr lang="de-CH"/>
              <a:t> </a:t>
            </a:r>
            <a:r>
              <a:rPr lang="de-CH" err="1"/>
              <a:t>used</a:t>
            </a:r>
            <a:r>
              <a:rPr lang="de-CH"/>
              <a:t> the </a:t>
            </a:r>
            <a:r>
              <a:rPr lang="de-CH" err="1"/>
              <a:t>risk-based</a:t>
            </a:r>
            <a:r>
              <a:rPr lang="de-CH"/>
              <a:t> </a:t>
            </a:r>
            <a:r>
              <a:rPr lang="de-CH" err="1"/>
              <a:t>approach</a:t>
            </a:r>
            <a:r>
              <a:rPr lang="de-CH"/>
              <a:t> </a:t>
            </a:r>
            <a:r>
              <a:rPr lang="de-CH" err="1"/>
              <a:t>from</a:t>
            </a:r>
            <a:r>
              <a:rPr lang="de-CH"/>
              <a:t> the </a:t>
            </a:r>
            <a:r>
              <a:rPr lang="de-CH" err="1"/>
              <a:t>module</a:t>
            </a:r>
            <a:r>
              <a:rPr lang="de-CH"/>
              <a:t>: </a:t>
            </a:r>
            <a:r>
              <a:rPr lang="de-CH" err="1"/>
              <a:t>work</a:t>
            </a:r>
            <a:r>
              <a:rPr lang="de-CH"/>
              <a:t> out </a:t>
            </a:r>
            <a:r>
              <a:rPr lang="de-CH" err="1"/>
              <a:t>what</a:t>
            </a:r>
            <a:r>
              <a:rPr lang="de-CH"/>
              <a:t> </a:t>
            </a:r>
            <a:r>
              <a:rPr lang="de-CH" err="1"/>
              <a:t>could</a:t>
            </a:r>
            <a:r>
              <a:rPr lang="de-CH"/>
              <a:t> go </a:t>
            </a:r>
            <a:r>
              <a:rPr lang="de-CH" err="1"/>
              <a:t>wrong</a:t>
            </a:r>
            <a:r>
              <a:rPr lang="de-CH"/>
              <a:t>, rank it by </a:t>
            </a:r>
            <a:r>
              <a:rPr lang="de-CH" err="1"/>
              <a:t>severity</a:t>
            </a:r>
            <a:r>
              <a:rPr lang="de-CH"/>
              <a:t>, </a:t>
            </a:r>
            <a:r>
              <a:rPr lang="de-CH" err="1"/>
              <a:t>test</a:t>
            </a:r>
            <a:r>
              <a:rPr lang="de-CH"/>
              <a:t> the </a:t>
            </a:r>
            <a:r>
              <a:rPr lang="de-CH" err="1"/>
              <a:t>dangerous</a:t>
            </a:r>
            <a:r>
              <a:rPr lang="de-CH"/>
              <a:t> </a:t>
            </a:r>
            <a:r>
              <a:rPr lang="de-CH" err="1"/>
              <a:t>paths</a:t>
            </a:r>
            <a:r>
              <a:rPr lang="de-CH"/>
              <a:t> </a:t>
            </a:r>
            <a:r>
              <a:rPr lang="de-CH" err="1"/>
              <a:t>first</a:t>
            </a:r>
            <a:r>
              <a:rPr lang="de-CH"/>
              <a:t>, and </a:t>
            </a:r>
            <a:r>
              <a:rPr lang="de-CH" err="1"/>
              <a:t>write</a:t>
            </a:r>
            <a:r>
              <a:rPr lang="de-CH"/>
              <a:t> down </a:t>
            </a:r>
            <a:r>
              <a:rPr lang="de-CH" err="1"/>
              <a:t>what</a:t>
            </a:r>
            <a:r>
              <a:rPr lang="de-CH"/>
              <a:t> </a:t>
            </a:r>
            <a:r>
              <a:rPr lang="de-CH" err="1"/>
              <a:t>stays</a:t>
            </a:r>
            <a:r>
              <a:rPr lang="de-CH"/>
              <a:t> </a:t>
            </a:r>
            <a:r>
              <a:rPr lang="de-CH" err="1"/>
              <a:t>untested</a:t>
            </a:r>
            <a:r>
              <a:rPr lang="de-CH"/>
              <a:t>.</a:t>
            </a:r>
          </a:p>
          <a:p>
            <a:pPr rtl="0"/>
            <a:r>
              <a:rPr lang="de-CH"/>
              <a:t>Six </a:t>
            </a:r>
            <a:r>
              <a:rPr lang="de-CH" err="1"/>
              <a:t>ranked</a:t>
            </a:r>
            <a:r>
              <a:rPr lang="de-CH"/>
              <a:t> </a:t>
            </a:r>
            <a:r>
              <a:rPr lang="de-CH" err="1"/>
              <a:t>hazards</a:t>
            </a:r>
            <a:r>
              <a:rPr lang="de-CH"/>
              <a:t>, </a:t>
            </a:r>
            <a:r>
              <a:rPr lang="de-CH" err="1"/>
              <a:t>nineteen</a:t>
            </a:r>
            <a:r>
              <a:rPr lang="de-CH"/>
              <a:t> </a:t>
            </a:r>
            <a:r>
              <a:rPr lang="de-CH" err="1"/>
              <a:t>tests</a:t>
            </a:r>
            <a:r>
              <a:rPr lang="de-CH"/>
              <a:t> on the </a:t>
            </a:r>
            <a:r>
              <a:rPr lang="de-CH" err="1"/>
              <a:t>decision</a:t>
            </a:r>
            <a:r>
              <a:rPr lang="de-CH"/>
              <a:t> </a:t>
            </a:r>
            <a:r>
              <a:rPr lang="de-CH" err="1"/>
              <a:t>logic</a:t>
            </a:r>
            <a:r>
              <a:rPr lang="de-CH"/>
              <a:t>, </a:t>
            </a:r>
            <a:r>
              <a:rPr lang="de-CH" err="1"/>
              <a:t>twenty</a:t>
            </a:r>
            <a:r>
              <a:rPr lang="de-CH"/>
              <a:t> </a:t>
            </a:r>
            <a:r>
              <a:rPr lang="de-CH" err="1"/>
              <a:t>conformance</a:t>
            </a:r>
            <a:r>
              <a:rPr lang="de-CH"/>
              <a:t> </a:t>
            </a:r>
            <a:r>
              <a:rPr lang="de-CH" err="1"/>
              <a:t>checks</a:t>
            </a:r>
            <a:r>
              <a:rPr lang="de-CH"/>
              <a:t> on the FHIR </a:t>
            </a:r>
            <a:r>
              <a:rPr lang="de-CH" err="1"/>
              <a:t>output</a:t>
            </a:r>
            <a:r>
              <a:rPr lang="de-CH"/>
              <a:t> — all </a:t>
            </a:r>
            <a:r>
              <a:rPr lang="de-CH" err="1"/>
              <a:t>passing</a:t>
            </a:r>
            <a:r>
              <a:rPr lang="de-CH"/>
              <a:t>. The </a:t>
            </a:r>
            <a:r>
              <a:rPr lang="de-CH" err="1"/>
              <a:t>interesting</a:t>
            </a:r>
            <a:r>
              <a:rPr lang="de-CH"/>
              <a:t> </a:t>
            </a:r>
            <a:r>
              <a:rPr lang="de-CH" err="1"/>
              <a:t>part</a:t>
            </a:r>
            <a:r>
              <a:rPr lang="de-CH"/>
              <a:t> </a:t>
            </a:r>
            <a:r>
              <a:rPr lang="de-CH" err="1"/>
              <a:t>is</a:t>
            </a:r>
            <a:r>
              <a:rPr lang="de-CH"/>
              <a:t> the </a:t>
            </a:r>
            <a:r>
              <a:rPr lang="de-CH" err="1"/>
              <a:t>eight</a:t>
            </a:r>
            <a:r>
              <a:rPr lang="de-CH"/>
              <a:t> </a:t>
            </a:r>
            <a:r>
              <a:rPr lang="de-CH" err="1"/>
              <a:t>defects</a:t>
            </a:r>
            <a:r>
              <a:rPr lang="de-CH"/>
              <a:t> </a:t>
            </a:r>
            <a:r>
              <a:rPr lang="de-CH" err="1"/>
              <a:t>we</a:t>
            </a:r>
            <a:r>
              <a:rPr lang="de-CH"/>
              <a:t> </a:t>
            </a:r>
            <a:r>
              <a:rPr lang="de-CH" err="1"/>
              <a:t>found</a:t>
            </a:r>
            <a:r>
              <a:rPr lang="de-CH"/>
              <a:t> on the </a:t>
            </a:r>
            <a:r>
              <a:rPr lang="de-CH" err="1"/>
              <a:t>way</a:t>
            </a:r>
            <a:r>
              <a:rPr lang="de-CH"/>
              <a:t>, </a:t>
            </a:r>
            <a:r>
              <a:rPr lang="de-CH" err="1"/>
              <a:t>because</a:t>
            </a:r>
            <a:r>
              <a:rPr lang="de-CH"/>
              <a:t> </a:t>
            </a:r>
            <a:r>
              <a:rPr lang="de-CH" err="1"/>
              <a:t>three</a:t>
            </a:r>
            <a:r>
              <a:rPr lang="de-CH"/>
              <a:t> of </a:t>
            </a:r>
            <a:r>
              <a:rPr lang="de-CH" err="1"/>
              <a:t>them</a:t>
            </a:r>
            <a:r>
              <a:rPr lang="de-CH"/>
              <a:t> </a:t>
            </a:r>
            <a:r>
              <a:rPr lang="de-CH" err="1"/>
              <a:t>were</a:t>
            </a:r>
            <a:r>
              <a:rPr lang="de-CH"/>
              <a:t> invisible on </a:t>
            </a:r>
            <a:r>
              <a:rPr lang="de-CH" err="1"/>
              <a:t>paper</a:t>
            </a:r>
            <a:r>
              <a:rPr lang="de-CH"/>
              <a:t>.</a:t>
            </a:r>
          </a:p>
          <a:p>
            <a:pPr rtl="0"/>
            <a:endParaRPr lang="de-CH"/>
          </a:p>
          <a:p>
            <a:pPr rtl="0"/>
            <a:r>
              <a:rPr lang="de-CH"/>
              <a:t>Two of </a:t>
            </a:r>
            <a:r>
              <a:rPr lang="de-CH" err="1"/>
              <a:t>those</a:t>
            </a:r>
            <a:r>
              <a:rPr lang="de-CH"/>
              <a:t> </a:t>
            </a:r>
            <a:r>
              <a:rPr lang="de-CH" err="1"/>
              <a:t>came</a:t>
            </a:r>
            <a:r>
              <a:rPr lang="de-CH"/>
              <a:t> </a:t>
            </a:r>
            <a:r>
              <a:rPr lang="de-CH" err="1"/>
              <a:t>from</a:t>
            </a:r>
            <a:r>
              <a:rPr lang="de-CH"/>
              <a:t> the same </a:t>
            </a:r>
            <a:r>
              <a:rPr lang="de-CH" err="1"/>
              <a:t>rule</a:t>
            </a:r>
            <a:r>
              <a:rPr lang="de-CH"/>
              <a:t>. It </a:t>
            </a:r>
            <a:r>
              <a:rPr lang="de-CH" err="1"/>
              <a:t>needed</a:t>
            </a:r>
            <a:r>
              <a:rPr lang="de-CH"/>
              <a:t> a </a:t>
            </a:r>
            <a:r>
              <a:rPr lang="de-CH" err="1"/>
              <a:t>classification</a:t>
            </a:r>
            <a:r>
              <a:rPr lang="de-CH"/>
              <a:t> as </a:t>
            </a:r>
            <a:r>
              <a:rPr lang="de-CH" err="1"/>
              <a:t>its</a:t>
            </a:r>
            <a:r>
              <a:rPr lang="de-CH"/>
              <a:t> </a:t>
            </a:r>
            <a:r>
              <a:rPr lang="de-CH" err="1"/>
              <a:t>input</a:t>
            </a:r>
            <a:r>
              <a:rPr lang="de-CH"/>
              <a:t>, but it also </a:t>
            </a:r>
            <a:r>
              <a:rPr lang="de-CH" err="1"/>
              <a:t>produced</a:t>
            </a:r>
            <a:r>
              <a:rPr lang="de-CH"/>
              <a:t> </a:t>
            </a:r>
            <a:r>
              <a:rPr lang="de-CH" err="1"/>
              <a:t>one</a:t>
            </a:r>
            <a:r>
              <a:rPr lang="de-CH"/>
              <a:t> — so it </a:t>
            </a:r>
            <a:r>
              <a:rPr lang="de-CH" err="1"/>
              <a:t>could</a:t>
            </a:r>
            <a:r>
              <a:rPr lang="de-CH"/>
              <a:t> </a:t>
            </a:r>
            <a:r>
              <a:rPr lang="de-CH" err="1"/>
              <a:t>never</a:t>
            </a:r>
            <a:r>
              <a:rPr lang="de-CH"/>
              <a:t> </a:t>
            </a:r>
            <a:r>
              <a:rPr lang="de-CH" err="1"/>
              <a:t>fire</a:t>
            </a:r>
            <a:r>
              <a:rPr lang="de-CH"/>
              <a:t>. </a:t>
            </a:r>
            <a:r>
              <a:rPr lang="de-CH" err="1"/>
              <a:t>We</a:t>
            </a:r>
            <a:r>
              <a:rPr lang="de-CH"/>
              <a:t> </a:t>
            </a:r>
            <a:r>
              <a:rPr lang="de-CH" err="1"/>
              <a:t>fixed</a:t>
            </a:r>
            <a:r>
              <a:rPr lang="de-CH"/>
              <a:t> </a:t>
            </a:r>
            <a:r>
              <a:rPr lang="de-CH" err="1"/>
              <a:t>that</a:t>
            </a:r>
            <a:r>
              <a:rPr lang="de-CH"/>
              <a:t>, and </a:t>
            </a:r>
            <a:r>
              <a:rPr lang="de-CH" err="1"/>
              <a:t>then</a:t>
            </a:r>
            <a:r>
              <a:rPr lang="de-CH"/>
              <a:t> it still </a:t>
            </a:r>
            <a:r>
              <a:rPr lang="de-CH" err="1"/>
              <a:t>could</a:t>
            </a:r>
            <a:r>
              <a:rPr lang="de-CH"/>
              <a:t> not </a:t>
            </a:r>
            <a:r>
              <a:rPr lang="de-CH" err="1"/>
              <a:t>be</a:t>
            </a:r>
            <a:r>
              <a:rPr lang="de-CH"/>
              <a:t> </a:t>
            </a:r>
            <a:r>
              <a:rPr lang="de-CH" err="1"/>
              <a:t>reached</a:t>
            </a:r>
            <a:r>
              <a:rPr lang="de-CH"/>
              <a:t>, </a:t>
            </a:r>
            <a:r>
              <a:rPr lang="de-CH" err="1"/>
              <a:t>because</a:t>
            </a:r>
            <a:r>
              <a:rPr lang="de-CH"/>
              <a:t> the </a:t>
            </a:r>
            <a:r>
              <a:rPr lang="de-CH" err="1"/>
              <a:t>worst</a:t>
            </a:r>
            <a:r>
              <a:rPr lang="de-CH"/>
              <a:t>-first </a:t>
            </a:r>
            <a:r>
              <a:rPr lang="de-CH" err="1"/>
              <a:t>cascade</a:t>
            </a:r>
            <a:r>
              <a:rPr lang="de-CH"/>
              <a:t> </a:t>
            </a:r>
            <a:r>
              <a:rPr lang="de-CH" err="1"/>
              <a:t>caught</a:t>
            </a:r>
            <a:r>
              <a:rPr lang="de-CH"/>
              <a:t> </a:t>
            </a:r>
            <a:r>
              <a:rPr lang="de-CH" err="1"/>
              <a:t>every</a:t>
            </a:r>
            <a:r>
              <a:rPr lang="de-CH"/>
              <a:t> </a:t>
            </a:r>
            <a:r>
              <a:rPr lang="de-CH" err="1"/>
              <a:t>case</a:t>
            </a:r>
            <a:r>
              <a:rPr lang="de-CH"/>
              <a:t> </a:t>
            </a:r>
            <a:r>
              <a:rPr lang="de-CH" err="1"/>
              <a:t>before</a:t>
            </a:r>
            <a:r>
              <a:rPr lang="de-CH"/>
              <a:t> it </a:t>
            </a:r>
            <a:r>
              <a:rPr lang="de-CH" err="1"/>
              <a:t>got</a:t>
            </a:r>
            <a:r>
              <a:rPr lang="de-CH"/>
              <a:t> </a:t>
            </a:r>
            <a:r>
              <a:rPr lang="de-CH" err="1"/>
              <a:t>there</a:t>
            </a:r>
            <a:r>
              <a:rPr lang="de-CH"/>
              <a:t>. </a:t>
            </a:r>
            <a:r>
              <a:rPr lang="de-CH" err="1"/>
              <a:t>You</a:t>
            </a:r>
            <a:r>
              <a:rPr lang="de-CH"/>
              <a:t> do not find </a:t>
            </a:r>
            <a:r>
              <a:rPr lang="de-CH" err="1"/>
              <a:t>that</a:t>
            </a:r>
            <a:r>
              <a:rPr lang="de-CH"/>
              <a:t> by </a:t>
            </a:r>
            <a:r>
              <a:rPr lang="de-CH" err="1"/>
              <a:t>reading</a:t>
            </a:r>
            <a:r>
              <a:rPr lang="de-CH"/>
              <a:t> the </a:t>
            </a:r>
            <a:r>
              <a:rPr lang="de-CH" err="1"/>
              <a:t>decision</a:t>
            </a:r>
            <a:r>
              <a:rPr lang="de-CH"/>
              <a:t> </a:t>
            </a:r>
            <a:r>
              <a:rPr lang="de-CH" err="1"/>
              <a:t>table</a:t>
            </a:r>
            <a:r>
              <a:rPr lang="de-CH"/>
              <a:t>. </a:t>
            </a:r>
            <a:r>
              <a:rPr lang="de-CH" err="1"/>
              <a:t>You</a:t>
            </a:r>
            <a:r>
              <a:rPr lang="de-CH"/>
              <a:t> find it by </a:t>
            </a:r>
            <a:r>
              <a:rPr lang="de-CH" err="1"/>
              <a:t>running</a:t>
            </a:r>
            <a:r>
              <a:rPr lang="de-CH"/>
              <a:t> it.</a:t>
            </a:r>
          </a:p>
          <a:p>
            <a:pPr rtl="0"/>
            <a:endParaRPr lang="de-CH"/>
          </a:p>
          <a:p>
            <a:pPr rtl="0"/>
            <a:r>
              <a:rPr lang="de-CH"/>
              <a:t>The </a:t>
            </a:r>
            <a:r>
              <a:rPr lang="de-CH" err="1"/>
              <a:t>third</a:t>
            </a:r>
            <a:r>
              <a:rPr lang="de-CH"/>
              <a:t> was a </a:t>
            </a:r>
            <a:r>
              <a:rPr lang="de-CH" err="1"/>
              <a:t>contradiction</a:t>
            </a:r>
            <a:r>
              <a:rPr lang="de-CH"/>
              <a:t> </a:t>
            </a:r>
            <a:r>
              <a:rPr lang="de-CH" err="1"/>
              <a:t>between</a:t>
            </a:r>
            <a:r>
              <a:rPr lang="de-CH"/>
              <a:t> </a:t>
            </a:r>
            <a:r>
              <a:rPr lang="de-CH" err="1"/>
              <a:t>two</a:t>
            </a:r>
            <a:r>
              <a:rPr lang="de-CH"/>
              <a:t> of </a:t>
            </a:r>
            <a:r>
              <a:rPr lang="de-CH" err="1"/>
              <a:t>our</a:t>
            </a:r>
            <a:r>
              <a:rPr lang="de-CH"/>
              <a:t> own </a:t>
            </a:r>
            <a:r>
              <a:rPr lang="de-CH" err="1"/>
              <a:t>documents</a:t>
            </a:r>
            <a:r>
              <a:rPr lang="de-CH"/>
              <a:t>: Southampton grade </a:t>
            </a:r>
            <a:r>
              <a:rPr lang="de-CH" err="1"/>
              <a:t>four</a:t>
            </a:r>
            <a:r>
              <a:rPr lang="de-CH"/>
              <a:t> was </a:t>
            </a:r>
            <a:r>
              <a:rPr lang="de-CH" err="1"/>
              <a:t>red</a:t>
            </a:r>
            <a:r>
              <a:rPr lang="de-CH"/>
              <a:t> in </a:t>
            </a:r>
            <a:r>
              <a:rPr lang="de-CH" err="1"/>
              <a:t>one</a:t>
            </a:r>
            <a:r>
              <a:rPr lang="de-CH"/>
              <a:t> and orange in the </a:t>
            </a:r>
            <a:r>
              <a:rPr lang="de-CH" err="1"/>
              <a:t>other</a:t>
            </a:r>
            <a:r>
              <a:rPr lang="de-CH"/>
              <a:t>.</a:t>
            </a:r>
          </a:p>
          <a:p>
            <a:pPr rtl="0"/>
            <a:r>
              <a:rPr lang="de-CH"/>
              <a:t>And </a:t>
            </a:r>
            <a:r>
              <a:rPr lang="de-CH" err="1"/>
              <a:t>then</a:t>
            </a:r>
            <a:r>
              <a:rPr lang="de-CH"/>
              <a:t> the honest </a:t>
            </a:r>
            <a:r>
              <a:rPr lang="de-CH" err="1"/>
              <a:t>one</a:t>
            </a:r>
            <a:r>
              <a:rPr lang="de-CH"/>
              <a:t>. </a:t>
            </a:r>
            <a:r>
              <a:rPr lang="de-CH" err="1"/>
              <a:t>Our</a:t>
            </a:r>
            <a:r>
              <a:rPr lang="de-CH"/>
              <a:t> </a:t>
            </a:r>
            <a:r>
              <a:rPr lang="de-CH" err="1"/>
              <a:t>whole</a:t>
            </a:r>
            <a:r>
              <a:rPr lang="de-CH"/>
              <a:t> </a:t>
            </a:r>
            <a:r>
              <a:rPr lang="de-CH" err="1"/>
              <a:t>approach</a:t>
            </a:r>
            <a:r>
              <a:rPr lang="de-CH"/>
              <a:t> </a:t>
            </a:r>
            <a:r>
              <a:rPr lang="de-CH" err="1"/>
              <a:t>rests</a:t>
            </a:r>
            <a:r>
              <a:rPr lang="de-CH"/>
              <a:t> on </a:t>
            </a:r>
            <a:r>
              <a:rPr lang="de-CH" err="1"/>
              <a:t>patients</a:t>
            </a:r>
            <a:r>
              <a:rPr lang="de-CH"/>
              <a:t> </a:t>
            </a:r>
            <a:r>
              <a:rPr lang="de-CH" err="1"/>
              <a:t>picking</a:t>
            </a:r>
            <a:r>
              <a:rPr lang="de-CH"/>
              <a:t> the </a:t>
            </a:r>
            <a:r>
              <a:rPr lang="de-CH" err="1"/>
              <a:t>right</a:t>
            </a:r>
            <a:r>
              <a:rPr lang="de-CH"/>
              <a:t> </a:t>
            </a:r>
            <a:r>
              <a:rPr lang="de-CH" err="1"/>
              <a:t>picture</a:t>
            </a:r>
            <a:r>
              <a:rPr lang="de-CH"/>
              <a:t> of </a:t>
            </a:r>
            <a:r>
              <a:rPr lang="de-CH" err="1"/>
              <a:t>their</a:t>
            </a:r>
            <a:r>
              <a:rPr lang="de-CH"/>
              <a:t> </a:t>
            </a:r>
            <a:r>
              <a:rPr lang="de-CH" err="1"/>
              <a:t>wound</a:t>
            </a:r>
            <a:r>
              <a:rPr lang="de-CH"/>
              <a:t> — and </a:t>
            </a:r>
            <a:r>
              <a:rPr lang="de-CH" err="1"/>
              <a:t>we</a:t>
            </a:r>
            <a:r>
              <a:rPr lang="de-CH"/>
              <a:t> </a:t>
            </a:r>
            <a:r>
              <a:rPr lang="de-CH" err="1"/>
              <a:t>cannot</a:t>
            </a:r>
            <a:r>
              <a:rPr lang="de-CH"/>
              <a:t> </a:t>
            </a:r>
            <a:r>
              <a:rPr lang="de-CH" err="1"/>
              <a:t>test</a:t>
            </a:r>
            <a:r>
              <a:rPr lang="de-CH"/>
              <a:t> </a:t>
            </a:r>
            <a:r>
              <a:rPr lang="de-CH" err="1"/>
              <a:t>that</a:t>
            </a:r>
            <a:r>
              <a:rPr lang="de-CH"/>
              <a:t> </a:t>
            </a:r>
            <a:r>
              <a:rPr lang="de-CH" err="1"/>
              <a:t>without</a:t>
            </a:r>
            <a:r>
              <a:rPr lang="de-CH"/>
              <a:t> </a:t>
            </a:r>
            <a:r>
              <a:rPr lang="de-CH" err="1"/>
              <a:t>patients</a:t>
            </a:r>
            <a:r>
              <a:rPr lang="de-CH"/>
              <a:t>. So </a:t>
            </a:r>
            <a:r>
              <a:rPr lang="de-CH" err="1"/>
              <a:t>we</a:t>
            </a:r>
            <a:r>
              <a:rPr lang="de-CH"/>
              <a:t> do not </a:t>
            </a:r>
            <a:r>
              <a:rPr lang="de-CH" err="1"/>
              <a:t>claim</a:t>
            </a:r>
            <a:r>
              <a:rPr lang="de-CH"/>
              <a:t> it </a:t>
            </a:r>
            <a:r>
              <a:rPr lang="de-CH" err="1"/>
              <a:t>works</a:t>
            </a:r>
            <a:r>
              <a:rPr lang="de-CH"/>
              <a:t>. </a:t>
            </a:r>
            <a:r>
              <a:rPr lang="de-CH" err="1"/>
              <a:t>We</a:t>
            </a:r>
            <a:r>
              <a:rPr lang="de-CH"/>
              <a:t> </a:t>
            </a:r>
            <a:r>
              <a:rPr lang="de-CH" err="1"/>
              <a:t>watch</a:t>
            </a:r>
            <a:r>
              <a:rPr lang="de-CH"/>
              <a:t> it after go-live </a:t>
            </a:r>
            <a:r>
              <a:rPr lang="de-CH" err="1"/>
              <a:t>instead</a:t>
            </a:r>
            <a:r>
              <a:rPr lang="de-CH"/>
              <a:t>: </a:t>
            </a:r>
            <a:r>
              <a:rPr lang="de-CH" err="1"/>
              <a:t>green</a:t>
            </a:r>
            <a:r>
              <a:rPr lang="de-CH"/>
              <a:t> </a:t>
            </a:r>
            <a:r>
              <a:rPr lang="de-CH" err="1"/>
              <a:t>results</a:t>
            </a:r>
            <a:r>
              <a:rPr lang="de-CH"/>
              <a:t> </a:t>
            </a:r>
            <a:r>
              <a:rPr lang="de-CH" err="1"/>
              <a:t>that</a:t>
            </a:r>
            <a:r>
              <a:rPr lang="de-CH"/>
              <a:t> still end </a:t>
            </a:r>
            <a:r>
              <a:rPr lang="de-CH" err="1"/>
              <a:t>up</a:t>
            </a:r>
            <a:r>
              <a:rPr lang="de-CH"/>
              <a:t> at a </a:t>
            </a:r>
            <a:r>
              <a:rPr lang="de-CH" err="1"/>
              <a:t>doctor</a:t>
            </a:r>
            <a:r>
              <a:rPr lang="de-CH"/>
              <a:t> </a:t>
            </a:r>
            <a:r>
              <a:rPr lang="de-CH" err="1"/>
              <a:t>within</a:t>
            </a:r>
            <a:r>
              <a:rPr lang="de-CH"/>
              <a:t> </a:t>
            </a:r>
            <a:r>
              <a:rPr lang="de-CH" err="1"/>
              <a:t>three</a:t>
            </a:r>
            <a:r>
              <a:rPr lang="de-CH"/>
              <a:t> </a:t>
            </a:r>
            <a:r>
              <a:rPr lang="de-CH" err="1"/>
              <a:t>days</a:t>
            </a:r>
            <a:r>
              <a:rPr lang="de-CH"/>
              <a: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de-CH"/>
              <a:t>Najani</a:t>
            </a:r>
            <a:br>
              <a:rPr lang="de-CH"/>
            </a:br>
            <a:br>
              <a:rPr lang="de-CH"/>
            </a:br>
            <a:r>
              <a:rPr lang="de-CH"/>
              <a:t>Getting it to </a:t>
            </a:r>
            <a:r>
              <a:rPr lang="de-CH" err="1"/>
              <a:t>people</a:t>
            </a:r>
            <a:r>
              <a:rPr lang="de-CH"/>
              <a:t> </a:t>
            </a:r>
            <a:r>
              <a:rPr lang="de-CH" err="1"/>
              <a:t>is</a:t>
            </a:r>
            <a:r>
              <a:rPr lang="de-CH"/>
              <a:t> </a:t>
            </a:r>
            <a:r>
              <a:rPr lang="de-CH" err="1"/>
              <a:t>deliberately</a:t>
            </a:r>
            <a:r>
              <a:rPr lang="de-CH"/>
              <a:t> </a:t>
            </a:r>
            <a:r>
              <a:rPr lang="de-CH" err="1"/>
              <a:t>boring</a:t>
            </a:r>
            <a:r>
              <a:rPr lang="de-CH"/>
              <a:t>: a QR code on the </a:t>
            </a:r>
            <a:r>
              <a:rPr lang="de-CH" err="1"/>
              <a:t>discharge</a:t>
            </a:r>
            <a:r>
              <a:rPr lang="de-CH"/>
              <a:t> </a:t>
            </a:r>
            <a:r>
              <a:rPr lang="de-CH" err="1"/>
              <a:t>sheet</a:t>
            </a:r>
            <a:r>
              <a:rPr lang="de-CH"/>
              <a:t>. </a:t>
            </a:r>
            <a:r>
              <a:rPr lang="de-CH" err="1"/>
              <a:t>No</a:t>
            </a:r>
            <a:r>
              <a:rPr lang="de-CH"/>
              <a:t> </a:t>
            </a:r>
            <a:r>
              <a:rPr lang="de-CH" err="1"/>
              <a:t>app</a:t>
            </a:r>
            <a:r>
              <a:rPr lang="de-CH"/>
              <a:t> </a:t>
            </a:r>
            <a:r>
              <a:rPr lang="de-CH" err="1"/>
              <a:t>store</a:t>
            </a:r>
            <a:r>
              <a:rPr lang="de-CH"/>
              <a:t>, </a:t>
            </a:r>
            <a:r>
              <a:rPr lang="de-CH" err="1"/>
              <a:t>no</a:t>
            </a:r>
            <a:r>
              <a:rPr lang="de-CH"/>
              <a:t> </a:t>
            </a:r>
            <a:r>
              <a:rPr lang="de-CH" err="1"/>
              <a:t>account</a:t>
            </a:r>
            <a:r>
              <a:rPr lang="de-CH"/>
              <a:t>, </a:t>
            </a:r>
            <a:r>
              <a:rPr lang="de-CH" err="1"/>
              <a:t>nothing</a:t>
            </a:r>
            <a:r>
              <a:rPr lang="de-CH"/>
              <a:t> to </a:t>
            </a:r>
            <a:r>
              <a:rPr lang="de-CH" err="1"/>
              <a:t>install</a:t>
            </a:r>
            <a:r>
              <a:rPr lang="de-CH"/>
              <a:t>. Five </a:t>
            </a:r>
            <a:r>
              <a:rPr lang="de-CH" err="1"/>
              <a:t>minutes</a:t>
            </a:r>
            <a:r>
              <a:rPr lang="de-CH"/>
              <a:t> at </a:t>
            </a:r>
            <a:r>
              <a:rPr lang="de-CH" err="1"/>
              <a:t>discharge</a:t>
            </a:r>
            <a:r>
              <a:rPr lang="de-CH"/>
              <a:t>, and the </a:t>
            </a:r>
            <a:r>
              <a:rPr lang="de-CH" err="1"/>
              <a:t>first</a:t>
            </a:r>
            <a:r>
              <a:rPr lang="de-CH"/>
              <a:t> check </a:t>
            </a:r>
            <a:r>
              <a:rPr lang="de-CH" err="1"/>
              <a:t>is</a:t>
            </a:r>
            <a:r>
              <a:rPr lang="de-CH"/>
              <a:t> </a:t>
            </a:r>
            <a:r>
              <a:rPr lang="de-CH" err="1"/>
              <a:t>done</a:t>
            </a:r>
            <a:r>
              <a:rPr lang="de-CH"/>
              <a:t> </a:t>
            </a:r>
            <a:r>
              <a:rPr lang="de-CH" err="1"/>
              <a:t>together</a:t>
            </a:r>
            <a:r>
              <a:rPr lang="de-CH"/>
              <a:t> </a:t>
            </a:r>
            <a:r>
              <a:rPr lang="de-CH" err="1"/>
              <a:t>with</a:t>
            </a:r>
            <a:r>
              <a:rPr lang="de-CH"/>
              <a:t> the </a:t>
            </a:r>
            <a:r>
              <a:rPr lang="de-CH" err="1"/>
              <a:t>patient</a:t>
            </a:r>
            <a:r>
              <a:rPr lang="de-CH"/>
              <a:t>.</a:t>
            </a:r>
          </a:p>
          <a:p>
            <a:pPr rtl="0"/>
            <a:endParaRPr lang="de-CH"/>
          </a:p>
          <a:p>
            <a:pPr rtl="0"/>
            <a:r>
              <a:rPr lang="de-CH"/>
              <a:t>Then </a:t>
            </a:r>
            <a:r>
              <a:rPr lang="de-CH" err="1"/>
              <a:t>we</a:t>
            </a:r>
            <a:r>
              <a:rPr lang="de-CH"/>
              <a:t> </a:t>
            </a:r>
            <a:r>
              <a:rPr lang="de-CH" err="1"/>
              <a:t>hand</a:t>
            </a:r>
            <a:r>
              <a:rPr lang="de-CH"/>
              <a:t> it </a:t>
            </a:r>
            <a:r>
              <a:rPr lang="de-CH" err="1"/>
              <a:t>over</a:t>
            </a:r>
            <a:r>
              <a:rPr lang="de-CH"/>
              <a:t>. The </a:t>
            </a:r>
            <a:r>
              <a:rPr lang="de-CH" err="1"/>
              <a:t>clinical</a:t>
            </a:r>
            <a:r>
              <a:rPr lang="de-CH"/>
              <a:t> </a:t>
            </a:r>
            <a:r>
              <a:rPr lang="de-CH" err="1"/>
              <a:t>department</a:t>
            </a:r>
            <a:r>
              <a:rPr lang="de-CH"/>
              <a:t> </a:t>
            </a:r>
            <a:r>
              <a:rPr lang="de-CH" err="1"/>
              <a:t>owns</a:t>
            </a:r>
            <a:r>
              <a:rPr lang="de-CH"/>
              <a:t> the </a:t>
            </a:r>
            <a:r>
              <a:rPr lang="de-CH" err="1"/>
              <a:t>content</a:t>
            </a:r>
            <a:r>
              <a:rPr lang="de-CH"/>
              <a:t>, not </a:t>
            </a:r>
            <a:r>
              <a:rPr lang="de-CH" err="1"/>
              <a:t>us</a:t>
            </a:r>
            <a:r>
              <a:rPr lang="de-CH"/>
              <a:t> — </a:t>
            </a:r>
            <a:r>
              <a:rPr lang="de-CH" err="1"/>
              <a:t>every</a:t>
            </a:r>
            <a:r>
              <a:rPr lang="de-CH"/>
              <a:t> change </a:t>
            </a:r>
            <a:r>
              <a:rPr lang="de-CH" err="1"/>
              <a:t>signed</a:t>
            </a:r>
            <a:r>
              <a:rPr lang="de-CH"/>
              <a:t> off by </a:t>
            </a:r>
            <a:r>
              <a:rPr lang="de-CH" err="1"/>
              <a:t>two</a:t>
            </a:r>
            <a:r>
              <a:rPr lang="de-CH"/>
              <a:t> </a:t>
            </a:r>
            <a:r>
              <a:rPr lang="de-CH" err="1"/>
              <a:t>people</a:t>
            </a:r>
            <a:r>
              <a:rPr lang="de-CH"/>
              <a:t>, and </a:t>
            </a:r>
            <a:r>
              <a:rPr lang="de-CH" err="1"/>
              <a:t>our</a:t>
            </a:r>
            <a:r>
              <a:rPr lang="de-CH"/>
              <a:t> </a:t>
            </a:r>
            <a:r>
              <a:rPr lang="de-CH" err="1"/>
              <a:t>target</a:t>
            </a:r>
            <a:r>
              <a:rPr lang="de-CH"/>
              <a:t> </a:t>
            </a:r>
            <a:r>
              <a:rPr lang="de-CH" err="1"/>
              <a:t>is</a:t>
            </a:r>
            <a:r>
              <a:rPr lang="de-CH"/>
              <a:t> </a:t>
            </a:r>
            <a:r>
              <a:rPr lang="de-CH" err="1"/>
              <a:t>four</a:t>
            </a:r>
            <a:r>
              <a:rPr lang="de-CH"/>
              <a:t> </a:t>
            </a:r>
            <a:r>
              <a:rPr lang="de-CH" err="1"/>
              <a:t>weeks</a:t>
            </a:r>
            <a:r>
              <a:rPr lang="de-CH"/>
              <a:t> </a:t>
            </a:r>
            <a:r>
              <a:rPr lang="de-CH" err="1"/>
              <a:t>from</a:t>
            </a:r>
            <a:r>
              <a:rPr lang="de-CH"/>
              <a:t> a </a:t>
            </a:r>
            <a:r>
              <a:rPr lang="de-CH" err="1"/>
              <a:t>guideline</a:t>
            </a:r>
            <a:r>
              <a:rPr lang="de-CH"/>
              <a:t> update to it </a:t>
            </a:r>
            <a:r>
              <a:rPr lang="de-CH" err="1"/>
              <a:t>being</a:t>
            </a:r>
            <a:r>
              <a:rPr lang="de-CH"/>
              <a:t> live.</a:t>
            </a:r>
          </a:p>
          <a:p>
            <a:pPr rtl="0"/>
            <a:r>
              <a:rPr lang="de-CH" err="1"/>
              <a:t>We</a:t>
            </a:r>
            <a:r>
              <a:rPr lang="de-CH"/>
              <a:t> monitor </a:t>
            </a:r>
            <a:r>
              <a:rPr lang="de-CH" err="1"/>
              <a:t>four</a:t>
            </a:r>
            <a:r>
              <a:rPr lang="de-CH"/>
              <a:t> </a:t>
            </a:r>
            <a:r>
              <a:rPr lang="de-CH" err="1"/>
              <a:t>things</a:t>
            </a:r>
            <a:r>
              <a:rPr lang="de-CH"/>
              <a:t>: </a:t>
            </a:r>
            <a:r>
              <a:rPr lang="de-CH" err="1"/>
              <a:t>does</a:t>
            </a:r>
            <a:r>
              <a:rPr lang="de-CH"/>
              <a:t> it </a:t>
            </a:r>
            <a:r>
              <a:rPr lang="de-CH" err="1"/>
              <a:t>run</a:t>
            </a:r>
            <a:r>
              <a:rPr lang="de-CH"/>
              <a:t>, </a:t>
            </a:r>
            <a:r>
              <a:rPr lang="de-CH" err="1"/>
              <a:t>does</a:t>
            </a:r>
            <a:r>
              <a:rPr lang="de-CH"/>
              <a:t> it </a:t>
            </a:r>
            <a:r>
              <a:rPr lang="de-CH" err="1"/>
              <a:t>survive</a:t>
            </a:r>
            <a:r>
              <a:rPr lang="de-CH"/>
              <a:t> a lost </a:t>
            </a:r>
            <a:r>
              <a:rPr lang="de-CH" err="1"/>
              <a:t>connection</a:t>
            </a:r>
            <a:r>
              <a:rPr lang="de-CH"/>
              <a:t>, do </a:t>
            </a:r>
            <a:r>
              <a:rPr lang="de-CH" err="1"/>
              <a:t>patients</a:t>
            </a:r>
            <a:r>
              <a:rPr lang="de-CH"/>
              <a:t> </a:t>
            </a:r>
            <a:r>
              <a:rPr lang="de-CH" err="1"/>
              <a:t>actually</a:t>
            </a:r>
            <a:r>
              <a:rPr lang="de-CH"/>
              <a:t> </a:t>
            </a:r>
            <a:r>
              <a:rPr lang="de-CH" err="1"/>
              <a:t>use</a:t>
            </a:r>
            <a:r>
              <a:rPr lang="de-CH"/>
              <a:t> it </a:t>
            </a:r>
            <a:r>
              <a:rPr lang="de-CH" err="1"/>
              <a:t>daily</a:t>
            </a:r>
            <a:r>
              <a:rPr lang="de-CH"/>
              <a:t>, and </a:t>
            </a:r>
            <a:r>
              <a:rPr lang="de-CH" err="1"/>
              <a:t>is</a:t>
            </a:r>
            <a:r>
              <a:rPr lang="de-CH"/>
              <a:t> the </a:t>
            </a:r>
            <a:r>
              <a:rPr lang="de-CH" err="1"/>
              <a:t>data</a:t>
            </a:r>
            <a:r>
              <a:rPr lang="de-CH"/>
              <a:t> </a:t>
            </a:r>
            <a:r>
              <a:rPr lang="de-CH" err="1"/>
              <a:t>complete</a:t>
            </a:r>
            <a:r>
              <a:rPr lang="de-CH"/>
              <a:t>. </a:t>
            </a:r>
            <a:r>
              <a:rPr lang="de-CH" err="1"/>
              <a:t>Each</a:t>
            </a:r>
            <a:r>
              <a:rPr lang="de-CH"/>
              <a:t> </a:t>
            </a:r>
            <a:r>
              <a:rPr lang="de-CH" err="1"/>
              <a:t>one</a:t>
            </a:r>
            <a:r>
              <a:rPr lang="de-CH"/>
              <a:t> </a:t>
            </a:r>
            <a:r>
              <a:rPr lang="de-CH" err="1"/>
              <a:t>has</a:t>
            </a:r>
            <a:r>
              <a:rPr lang="de-CH"/>
              <a:t> a </a:t>
            </a:r>
            <a:r>
              <a:rPr lang="de-CH" err="1"/>
              <a:t>number</a:t>
            </a:r>
            <a:r>
              <a:rPr lang="de-CH"/>
              <a:t> </a:t>
            </a:r>
            <a:r>
              <a:rPr lang="de-CH" err="1"/>
              <a:t>attached</a:t>
            </a:r>
            <a:r>
              <a:rPr lang="de-CH"/>
              <a:t> to it.</a:t>
            </a:r>
          </a:p>
          <a:p>
            <a:pPr rtl="0"/>
            <a:r>
              <a:rPr lang="de-CH" err="1"/>
              <a:t>What</a:t>
            </a:r>
            <a:r>
              <a:rPr lang="de-CH"/>
              <a:t> </a:t>
            </a:r>
            <a:r>
              <a:rPr lang="de-CH" err="1"/>
              <a:t>we</a:t>
            </a:r>
            <a:r>
              <a:rPr lang="de-CH"/>
              <a:t> </a:t>
            </a:r>
            <a:r>
              <a:rPr lang="de-CH" err="1"/>
              <a:t>would</a:t>
            </a:r>
            <a:r>
              <a:rPr lang="de-CH"/>
              <a:t> </a:t>
            </a:r>
            <a:r>
              <a:rPr lang="de-CH" err="1"/>
              <a:t>measure</a:t>
            </a:r>
            <a:r>
              <a:rPr lang="de-CH"/>
              <a:t> </a:t>
            </a:r>
            <a:r>
              <a:rPr lang="de-CH" err="1"/>
              <a:t>depends</a:t>
            </a:r>
            <a:r>
              <a:rPr lang="de-CH"/>
              <a:t> on </a:t>
            </a:r>
            <a:r>
              <a:rPr lang="de-CH" err="1"/>
              <a:t>how</a:t>
            </a:r>
            <a:r>
              <a:rPr lang="de-CH"/>
              <a:t> </a:t>
            </a:r>
            <a:r>
              <a:rPr lang="de-CH" err="1"/>
              <a:t>far</a:t>
            </a:r>
            <a:r>
              <a:rPr lang="de-CH"/>
              <a:t> </a:t>
            </a:r>
            <a:r>
              <a:rPr lang="de-CH" err="1"/>
              <a:t>along</a:t>
            </a:r>
            <a:r>
              <a:rPr lang="de-CH"/>
              <a:t> </a:t>
            </a:r>
            <a:r>
              <a:rPr lang="de-CH" err="1"/>
              <a:t>we</a:t>
            </a:r>
            <a:r>
              <a:rPr lang="de-CH"/>
              <a:t> </a:t>
            </a:r>
            <a:r>
              <a:rPr lang="de-CH" err="1"/>
              <a:t>are</a:t>
            </a:r>
            <a:r>
              <a:rPr lang="de-CH"/>
              <a:t>. In a </a:t>
            </a:r>
            <a:r>
              <a:rPr lang="de-CH" err="1"/>
              <a:t>pilot</a:t>
            </a:r>
            <a:r>
              <a:rPr lang="de-CH"/>
              <a:t>, </a:t>
            </a:r>
            <a:r>
              <a:rPr lang="de-CH" err="1"/>
              <a:t>usability</a:t>
            </a:r>
            <a:r>
              <a:rPr lang="de-CH"/>
              <a:t> — and </a:t>
            </a:r>
            <a:r>
              <a:rPr lang="de-CH" err="1"/>
              <a:t>whether</a:t>
            </a:r>
            <a:r>
              <a:rPr lang="de-CH"/>
              <a:t> the </a:t>
            </a:r>
            <a:r>
              <a:rPr lang="de-CH" err="1"/>
              <a:t>patient</a:t>
            </a:r>
            <a:r>
              <a:rPr lang="de-CH"/>
              <a:t> and the </a:t>
            </a:r>
            <a:r>
              <a:rPr lang="de-CH" err="1"/>
              <a:t>clinician</a:t>
            </a:r>
            <a:r>
              <a:rPr lang="de-CH"/>
              <a:t> </a:t>
            </a:r>
            <a:r>
              <a:rPr lang="de-CH" err="1"/>
              <a:t>see</a:t>
            </a:r>
            <a:r>
              <a:rPr lang="de-CH"/>
              <a:t> the same </a:t>
            </a:r>
            <a:r>
              <a:rPr lang="de-CH" err="1"/>
              <a:t>wound</a:t>
            </a:r>
            <a:r>
              <a:rPr lang="de-CH"/>
              <a:t>. Later, in a </a:t>
            </a:r>
            <a:r>
              <a:rPr lang="de-CH" err="1"/>
              <a:t>chart</a:t>
            </a:r>
            <a:r>
              <a:rPr lang="de-CH"/>
              <a:t> review, </a:t>
            </a:r>
            <a:r>
              <a:rPr lang="de-CH" err="1"/>
              <a:t>how</a:t>
            </a:r>
            <a:r>
              <a:rPr lang="de-CH"/>
              <a:t> </a:t>
            </a:r>
            <a:r>
              <a:rPr lang="de-CH" err="1"/>
              <a:t>long</a:t>
            </a:r>
            <a:r>
              <a:rPr lang="de-CH"/>
              <a:t> it </a:t>
            </a:r>
            <a:r>
              <a:rPr lang="de-CH" err="1"/>
              <a:t>takes</a:t>
            </a:r>
            <a:r>
              <a:rPr lang="de-CH"/>
              <a:t> </a:t>
            </a:r>
            <a:r>
              <a:rPr lang="de-CH" err="1"/>
              <a:t>someone</a:t>
            </a:r>
            <a:r>
              <a:rPr lang="de-CH"/>
              <a:t> to </a:t>
            </a:r>
            <a:r>
              <a:rPr lang="de-CH" err="1"/>
              <a:t>reach</a:t>
            </a:r>
            <a:r>
              <a:rPr lang="de-CH"/>
              <a:t> a </a:t>
            </a:r>
            <a:r>
              <a:rPr lang="de-CH" err="1"/>
              <a:t>doctor</a:t>
            </a:r>
            <a:r>
              <a:rPr lang="de-CH"/>
              <a:t>; </a:t>
            </a:r>
            <a:r>
              <a:rPr lang="de-CH" err="1"/>
              <a:t>that</a:t>
            </a:r>
            <a:r>
              <a:rPr lang="de-CH"/>
              <a:t> </a:t>
            </a:r>
            <a:r>
              <a:rPr lang="de-CH" err="1"/>
              <a:t>is</a:t>
            </a:r>
            <a:r>
              <a:rPr lang="de-CH"/>
              <a:t> </a:t>
            </a:r>
            <a:r>
              <a:rPr lang="de-CH" err="1"/>
              <a:t>our</a:t>
            </a:r>
            <a:r>
              <a:rPr lang="de-CH"/>
              <a:t> </a:t>
            </a:r>
            <a:r>
              <a:rPr lang="de-CH" err="1"/>
              <a:t>primary</a:t>
            </a:r>
            <a:r>
              <a:rPr lang="de-CH"/>
              <a:t> </a:t>
            </a:r>
            <a:r>
              <a:rPr lang="de-CH" err="1"/>
              <a:t>outcome</a:t>
            </a:r>
            <a:r>
              <a:rPr lang="de-CH"/>
              <a:t>. </a:t>
            </a:r>
            <a:r>
              <a:rPr lang="de-CH" err="1"/>
              <a:t>Infection</a:t>
            </a:r>
            <a:r>
              <a:rPr lang="de-CH"/>
              <a:t> </a:t>
            </a:r>
            <a:r>
              <a:rPr lang="de-CH" err="1"/>
              <a:t>rates</a:t>
            </a:r>
            <a:r>
              <a:rPr lang="de-CH"/>
              <a:t> </a:t>
            </a:r>
            <a:r>
              <a:rPr lang="de-CH" err="1"/>
              <a:t>only</a:t>
            </a:r>
            <a:r>
              <a:rPr lang="de-CH"/>
              <a:t> at </a:t>
            </a:r>
            <a:r>
              <a:rPr lang="de-CH" err="1"/>
              <a:t>scale</a:t>
            </a:r>
            <a:r>
              <a:rPr lang="de-CH"/>
              <a: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de-CH"/>
              <a:t>Najani</a:t>
            </a:r>
            <a:endParaRPr lang="de-CH" dirty="0"/>
          </a:p>
          <a:p>
            <a:pPr rtl="0"/>
            <a:endParaRPr lang="de-CH" dirty="0"/>
          </a:p>
          <a:p>
            <a:pPr rtl="0"/>
            <a:r>
              <a:rPr lang="de-CH"/>
              <a:t>The </a:t>
            </a:r>
            <a:r>
              <a:rPr lang="de-CH" err="1"/>
              <a:t>benefits</a:t>
            </a:r>
            <a:r>
              <a:rPr lang="de-CH"/>
              <a:t> </a:t>
            </a:r>
            <a:r>
              <a:rPr lang="de-CH" err="1"/>
              <a:t>are</a:t>
            </a:r>
            <a:r>
              <a:rPr lang="de-CH"/>
              <a:t> on the </a:t>
            </a:r>
            <a:r>
              <a:rPr lang="de-CH" err="1"/>
              <a:t>slide</a:t>
            </a:r>
            <a:r>
              <a:rPr lang="de-CH"/>
              <a:t>, so </a:t>
            </a:r>
            <a:r>
              <a:rPr lang="de-CH" err="1"/>
              <a:t>let</a:t>
            </a:r>
            <a:r>
              <a:rPr lang="de-CH"/>
              <a:t> </a:t>
            </a:r>
            <a:r>
              <a:rPr lang="de-CH" err="1"/>
              <a:t>me</a:t>
            </a:r>
            <a:r>
              <a:rPr lang="de-CH"/>
              <a:t> pick </a:t>
            </a:r>
            <a:r>
              <a:rPr lang="de-CH" err="1"/>
              <a:t>one</a:t>
            </a:r>
            <a:r>
              <a:rPr lang="de-CH"/>
              <a:t> out</a:t>
            </a:r>
            <a:r>
              <a:rPr lang="de-CH" dirty="0"/>
              <a:t>: a </a:t>
            </a:r>
            <a:r>
              <a:rPr lang="de-CH" dirty="0" err="1"/>
              <a:t>complete</a:t>
            </a:r>
            <a:r>
              <a:rPr lang="de-CH" dirty="0"/>
              <a:t> </a:t>
            </a:r>
            <a:r>
              <a:rPr lang="de-CH" dirty="0" err="1"/>
              <a:t>trajectory</a:t>
            </a:r>
            <a:r>
              <a:rPr lang="de-CH"/>
              <a:t>. Today a </a:t>
            </a:r>
            <a:r>
              <a:rPr lang="de-CH" err="1"/>
              <a:t>surgeon</a:t>
            </a:r>
            <a:r>
              <a:rPr lang="de-CH"/>
              <a:t> at the follow-</a:t>
            </a:r>
            <a:r>
              <a:rPr lang="de-CH" err="1"/>
              <a:t>up</a:t>
            </a:r>
            <a:r>
              <a:rPr lang="de-CH"/>
              <a:t> </a:t>
            </a:r>
            <a:r>
              <a:rPr lang="de-CH" err="1"/>
              <a:t>appointment</a:t>
            </a:r>
            <a:r>
              <a:rPr lang="de-CH"/>
              <a:t> </a:t>
            </a:r>
            <a:r>
              <a:rPr lang="de-CH" err="1"/>
              <a:t>gets</a:t>
            </a:r>
            <a:r>
              <a:rPr lang="de-CH"/>
              <a:t> the </a:t>
            </a:r>
            <a:r>
              <a:rPr lang="de-CH" err="1"/>
              <a:t>patient's</a:t>
            </a:r>
            <a:r>
              <a:rPr lang="de-CH"/>
              <a:t> </a:t>
            </a:r>
            <a:r>
              <a:rPr lang="de-CH" err="1"/>
              <a:t>recollection</a:t>
            </a:r>
            <a:r>
              <a:rPr lang="de-CH"/>
              <a:t>. With </a:t>
            </a:r>
            <a:r>
              <a:rPr lang="de-CH" err="1"/>
              <a:t>this</a:t>
            </a:r>
            <a:r>
              <a:rPr lang="de-CH" dirty="0"/>
              <a:t>, </a:t>
            </a:r>
            <a:r>
              <a:rPr lang="de-CH" err="1"/>
              <a:t>they</a:t>
            </a:r>
            <a:r>
              <a:rPr lang="de-CH"/>
              <a:t> </a:t>
            </a:r>
            <a:r>
              <a:rPr lang="de-CH" err="1"/>
              <a:t>get</a:t>
            </a:r>
            <a:r>
              <a:rPr lang="de-CH"/>
              <a:t> </a:t>
            </a:r>
            <a:r>
              <a:rPr lang="de-CH" err="1"/>
              <a:t>eight</a:t>
            </a:r>
            <a:r>
              <a:rPr lang="de-CH"/>
              <a:t> </a:t>
            </a:r>
            <a:r>
              <a:rPr lang="de-CH" err="1"/>
              <a:t>days</a:t>
            </a:r>
            <a:r>
              <a:rPr lang="de-CH"/>
              <a:t> of </a:t>
            </a:r>
            <a:r>
              <a:rPr lang="de-CH" dirty="0" err="1"/>
              <a:t>structured</a:t>
            </a:r>
            <a:r>
              <a:rPr lang="de-CH" dirty="0"/>
              <a:t> </a:t>
            </a:r>
            <a:r>
              <a:rPr lang="de-CH" dirty="0" err="1"/>
              <a:t>data</a:t>
            </a:r>
            <a:r>
              <a:rPr lang="de-CH" dirty="0"/>
              <a:t>.</a:t>
            </a:r>
            <a:endParaRPr lang="de-CH"/>
          </a:p>
          <a:p>
            <a:pPr rtl="0"/>
            <a:r>
              <a:rPr lang="de-CH"/>
              <a:t>The </a:t>
            </a:r>
            <a:r>
              <a:rPr lang="de-CH" err="1"/>
              <a:t>risks</a:t>
            </a:r>
            <a:r>
              <a:rPr lang="de-CH"/>
              <a:t> matter </a:t>
            </a:r>
            <a:r>
              <a:rPr lang="de-CH" err="1"/>
              <a:t>more</a:t>
            </a:r>
            <a:r>
              <a:rPr lang="de-CH"/>
              <a:t> to </a:t>
            </a:r>
            <a:r>
              <a:rPr lang="de-CH" err="1"/>
              <a:t>us</a:t>
            </a:r>
            <a:r>
              <a:rPr lang="de-CH"/>
              <a:t>. Automation </a:t>
            </a:r>
            <a:r>
              <a:rPr lang="de-CH" err="1"/>
              <a:t>bias</a:t>
            </a:r>
            <a:r>
              <a:rPr lang="de-CH"/>
              <a:t> — the </a:t>
            </a:r>
            <a:r>
              <a:rPr lang="de-CH" err="1"/>
              <a:t>patient</a:t>
            </a:r>
            <a:r>
              <a:rPr lang="de-CH"/>
              <a:t> </a:t>
            </a:r>
            <a:r>
              <a:rPr lang="de-CH" err="1"/>
              <a:t>stops</a:t>
            </a:r>
            <a:r>
              <a:rPr lang="de-CH"/>
              <a:t> </a:t>
            </a:r>
            <a:r>
              <a:rPr lang="de-CH" err="1"/>
              <a:t>watching</a:t>
            </a:r>
            <a:r>
              <a:rPr lang="de-CH"/>
              <a:t> </a:t>
            </a:r>
            <a:r>
              <a:rPr lang="de-CH" err="1"/>
              <a:t>their</a:t>
            </a:r>
            <a:r>
              <a:rPr lang="de-CH"/>
              <a:t> own </a:t>
            </a:r>
            <a:r>
              <a:rPr lang="de-CH" err="1"/>
              <a:t>wound</a:t>
            </a:r>
            <a:r>
              <a:rPr lang="de-CH" dirty="0"/>
              <a:t>, </a:t>
            </a:r>
            <a:r>
              <a:rPr lang="de-CH" err="1"/>
              <a:t>because</a:t>
            </a:r>
            <a:r>
              <a:rPr lang="de-CH"/>
              <a:t> an </a:t>
            </a:r>
            <a:r>
              <a:rPr lang="de-CH" err="1"/>
              <a:t>app</a:t>
            </a:r>
            <a:r>
              <a:rPr lang="de-CH"/>
              <a:t> </a:t>
            </a:r>
            <a:r>
              <a:rPr lang="de-CH" err="1"/>
              <a:t>is</a:t>
            </a:r>
            <a:r>
              <a:rPr lang="de-CH"/>
              <a:t> </a:t>
            </a:r>
            <a:r>
              <a:rPr lang="de-CH" err="1"/>
              <a:t>doing</a:t>
            </a:r>
            <a:r>
              <a:rPr lang="de-CH"/>
              <a:t> it for </a:t>
            </a:r>
            <a:r>
              <a:rPr lang="de-CH" dirty="0" err="1"/>
              <a:t>them</a:t>
            </a:r>
            <a:r>
              <a:rPr lang="de-CH"/>
              <a:t>. And </a:t>
            </a:r>
            <a:r>
              <a:rPr lang="de-CH" err="1"/>
              <a:t>this</a:t>
            </a:r>
            <a:r>
              <a:rPr lang="de-CH"/>
              <a:t> </a:t>
            </a:r>
            <a:r>
              <a:rPr lang="de-CH" err="1"/>
              <a:t>one</a:t>
            </a:r>
            <a:r>
              <a:rPr lang="de-CH" dirty="0"/>
              <a:t>: </a:t>
            </a:r>
            <a:r>
              <a:rPr lang="de-CH" err="1"/>
              <a:t>if</a:t>
            </a:r>
            <a:r>
              <a:rPr lang="de-CH"/>
              <a:t> </a:t>
            </a:r>
            <a:r>
              <a:rPr lang="de-CH" err="1"/>
              <a:t>our</a:t>
            </a:r>
            <a:r>
              <a:rPr lang="de-CH"/>
              <a:t> </a:t>
            </a:r>
            <a:r>
              <a:rPr lang="de-CH" err="1"/>
              <a:t>rules</a:t>
            </a:r>
            <a:r>
              <a:rPr lang="de-CH"/>
              <a:t> </a:t>
            </a:r>
            <a:r>
              <a:rPr lang="de-CH" err="1"/>
              <a:t>are</a:t>
            </a:r>
            <a:r>
              <a:rPr lang="de-CH"/>
              <a:t> </a:t>
            </a:r>
            <a:r>
              <a:rPr lang="de-CH" err="1"/>
              <a:t>wrong</a:t>
            </a:r>
            <a:r>
              <a:rPr lang="de-CH"/>
              <a:t>, </a:t>
            </a:r>
            <a:r>
              <a:rPr lang="de-CH" err="1"/>
              <a:t>they</a:t>
            </a:r>
            <a:r>
              <a:rPr lang="de-CH"/>
              <a:t> </a:t>
            </a:r>
            <a:r>
              <a:rPr lang="de-CH" err="1"/>
              <a:t>are</a:t>
            </a:r>
            <a:r>
              <a:rPr lang="de-CH"/>
              <a:t> </a:t>
            </a:r>
            <a:r>
              <a:rPr lang="de-CH" err="1"/>
              <a:t>wrong</a:t>
            </a:r>
            <a:r>
              <a:rPr lang="de-CH"/>
              <a:t> for </a:t>
            </a:r>
            <a:r>
              <a:rPr lang="de-CH" err="1"/>
              <a:t>everyone</a:t>
            </a:r>
            <a:r>
              <a:rPr lang="de-CH" dirty="0"/>
              <a:t>, </a:t>
            </a:r>
            <a:r>
              <a:rPr lang="de-CH" err="1"/>
              <a:t>every</a:t>
            </a:r>
            <a:r>
              <a:rPr lang="de-CH"/>
              <a:t> </a:t>
            </a:r>
            <a:r>
              <a:rPr lang="de-CH" err="1"/>
              <a:t>day</a:t>
            </a:r>
            <a:r>
              <a:rPr lang="de-CH" dirty="0"/>
              <a:t>, </a:t>
            </a:r>
            <a:r>
              <a:rPr lang="de-CH"/>
              <a:t>at </a:t>
            </a:r>
            <a:r>
              <a:rPr lang="de-CH" err="1"/>
              <a:t>scale</a:t>
            </a:r>
            <a:r>
              <a:rPr lang="de-CH" dirty="0"/>
              <a:t>.</a:t>
            </a:r>
          </a:p>
          <a:p>
            <a:pPr rtl="0"/>
            <a:endParaRPr lang="de-CH"/>
          </a:p>
          <a:p>
            <a:pPr rtl="0"/>
            <a:r>
              <a:rPr lang="de-CH" err="1"/>
              <a:t>Now</a:t>
            </a:r>
            <a:r>
              <a:rPr lang="de-CH"/>
              <a:t> </a:t>
            </a:r>
            <a:r>
              <a:rPr lang="de-CH" err="1"/>
              <a:t>Is</a:t>
            </a:r>
            <a:r>
              <a:rPr lang="de-CH" dirty="0"/>
              <a:t> it a </a:t>
            </a:r>
            <a:r>
              <a:rPr lang="de-CH" dirty="0" err="1"/>
              <a:t>medical</a:t>
            </a:r>
            <a:r>
              <a:rPr lang="de-CH" dirty="0"/>
              <a:t> </a:t>
            </a:r>
            <a:r>
              <a:rPr lang="de-CH" dirty="0" err="1"/>
              <a:t>device</a:t>
            </a:r>
            <a:r>
              <a:rPr lang="de-CH" dirty="0"/>
              <a:t>? </a:t>
            </a:r>
            <a:r>
              <a:rPr lang="de-CH"/>
              <a:t>Yes. Software as a </a:t>
            </a:r>
            <a:r>
              <a:rPr lang="de-CH" err="1"/>
              <a:t>medical</a:t>
            </a:r>
            <a:r>
              <a:rPr lang="de-CH"/>
              <a:t> </a:t>
            </a:r>
            <a:r>
              <a:rPr lang="de-CH" err="1"/>
              <a:t>device</a:t>
            </a:r>
            <a:r>
              <a:rPr lang="de-CH"/>
              <a:t>, IMDRF </a:t>
            </a:r>
            <a:r>
              <a:rPr lang="de-CH" err="1"/>
              <a:t>category</a:t>
            </a:r>
            <a:r>
              <a:rPr lang="de-CH"/>
              <a:t> </a:t>
            </a:r>
            <a:r>
              <a:rPr lang="de-CH" err="1"/>
              <a:t>two</a:t>
            </a:r>
            <a:r>
              <a:rPr lang="de-CH"/>
              <a:t>.</a:t>
            </a:r>
            <a:r>
              <a:rPr lang="de-CH" dirty="0"/>
              <a:t> The </a:t>
            </a:r>
            <a:r>
              <a:rPr lang="de-CH" dirty="0" err="1"/>
              <a:t>condition</a:t>
            </a:r>
            <a:r>
              <a:rPr lang="de-CH" dirty="0"/>
              <a:t> </a:t>
            </a:r>
            <a:r>
              <a:rPr lang="de-CH" dirty="0" err="1"/>
              <a:t>is</a:t>
            </a:r>
            <a:r>
              <a:rPr lang="de-CH" dirty="0"/>
              <a:t> </a:t>
            </a:r>
            <a:r>
              <a:rPr lang="de-CH" dirty="0" err="1"/>
              <a:t>serious</a:t>
            </a:r>
            <a:r>
              <a:rPr lang="de-CH" dirty="0"/>
              <a:t> — an </a:t>
            </a:r>
            <a:r>
              <a:rPr lang="de-CH" dirty="0" err="1"/>
              <a:t>untreated</a:t>
            </a:r>
            <a:r>
              <a:rPr lang="de-CH" dirty="0"/>
              <a:t> </a:t>
            </a:r>
            <a:r>
              <a:rPr lang="de-CH" dirty="0" err="1"/>
              <a:t>infection</a:t>
            </a:r>
            <a:r>
              <a:rPr lang="de-CH" dirty="0"/>
              <a:t> </a:t>
            </a:r>
            <a:r>
              <a:rPr lang="de-CH" err="1"/>
              <a:t>does</a:t>
            </a:r>
            <a:r>
              <a:rPr lang="de-CH"/>
              <a:t> </a:t>
            </a:r>
            <a:r>
              <a:rPr lang="de-CH" dirty="0"/>
              <a:t>not </a:t>
            </a:r>
            <a:r>
              <a:rPr lang="de-CH" err="1"/>
              <a:t>resolve</a:t>
            </a:r>
            <a:r>
              <a:rPr lang="de-CH"/>
              <a:t> on </a:t>
            </a:r>
            <a:r>
              <a:rPr lang="de-CH" err="1"/>
              <a:t>its</a:t>
            </a:r>
            <a:r>
              <a:rPr lang="de-CH"/>
              <a:t> own — and the </a:t>
            </a:r>
            <a:r>
              <a:rPr lang="de-CH" dirty="0" err="1"/>
              <a:t>information</a:t>
            </a:r>
            <a:r>
              <a:rPr lang="de-CH" dirty="0"/>
              <a:t> </a:t>
            </a:r>
            <a:r>
              <a:rPr lang="de-CH" dirty="0" err="1"/>
              <a:t>drives</a:t>
            </a:r>
            <a:r>
              <a:rPr lang="de-CH" dirty="0"/>
              <a:t> </a:t>
            </a:r>
            <a:r>
              <a:rPr lang="de-CH" dirty="0" err="1"/>
              <a:t>clinical</a:t>
            </a:r>
            <a:r>
              <a:rPr lang="de-CH" dirty="0"/>
              <a:t> </a:t>
            </a:r>
            <a:r>
              <a:rPr lang="de-CH" dirty="0" err="1"/>
              <a:t>management</a:t>
            </a:r>
            <a:r>
              <a:rPr lang="de-CH"/>
              <a:t>. </a:t>
            </a:r>
            <a:r>
              <a:rPr lang="de-CH" err="1"/>
              <a:t>We</a:t>
            </a:r>
            <a:r>
              <a:rPr lang="de-CH"/>
              <a:t> do not </a:t>
            </a:r>
            <a:r>
              <a:rPr lang="de-CH" dirty="0" err="1"/>
              <a:t>diagnose</a:t>
            </a:r>
            <a:r>
              <a:rPr lang="de-CH" dirty="0"/>
              <a:t> </a:t>
            </a:r>
            <a:r>
              <a:rPr lang="de-CH"/>
              <a:t>and </a:t>
            </a:r>
            <a:r>
              <a:rPr lang="de-CH" err="1"/>
              <a:t>we</a:t>
            </a:r>
            <a:r>
              <a:rPr lang="de-CH"/>
              <a:t> do not </a:t>
            </a:r>
            <a:r>
              <a:rPr lang="de-CH" dirty="0" err="1"/>
              <a:t>treat</a:t>
            </a:r>
            <a:r>
              <a:rPr lang="de-CH" dirty="0"/>
              <a:t>, but </a:t>
            </a:r>
            <a:r>
              <a:rPr lang="de-CH" dirty="0" err="1"/>
              <a:t>we</a:t>
            </a:r>
            <a:r>
              <a:rPr lang="de-CH" dirty="0"/>
              <a:t> </a:t>
            </a:r>
            <a:r>
              <a:rPr lang="de-CH"/>
              <a:t>do </a:t>
            </a:r>
            <a:r>
              <a:rPr lang="de-CH" err="1"/>
              <a:t>decide</a:t>
            </a:r>
            <a:r>
              <a:rPr lang="de-CH"/>
              <a:t> </a:t>
            </a:r>
            <a:r>
              <a:rPr lang="de-CH" dirty="0" err="1"/>
              <a:t>whether</a:t>
            </a:r>
            <a:r>
              <a:rPr lang="de-CH" dirty="0"/>
              <a:t> and </a:t>
            </a:r>
            <a:r>
              <a:rPr lang="de-CH" dirty="0" err="1"/>
              <a:t>when</a:t>
            </a:r>
            <a:r>
              <a:rPr lang="de-CH" dirty="0"/>
              <a:t> </a:t>
            </a:r>
            <a:r>
              <a:rPr lang="de-CH" dirty="0" err="1"/>
              <a:t>someone</a:t>
            </a:r>
            <a:r>
              <a:rPr lang="de-CH" dirty="0"/>
              <a:t> </a:t>
            </a:r>
            <a:r>
              <a:rPr lang="de-CH" dirty="0" err="1"/>
              <a:t>seeks</a:t>
            </a:r>
            <a:r>
              <a:rPr lang="de-CH" dirty="0"/>
              <a:t> care.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Feline owned the clinical layers: the sources, the evidence appraisal, the personas, and the whole L2.</a:t>
            </a:r>
          </a:p>
          <a:p>
            <a:endParaRPr lang="en-US" dirty="0"/>
          </a:p>
          <a:p>
            <a:r>
              <a:rPr lang="en-US" dirty="0"/>
              <a:t>Najani owned the L3, the application, the FHIR interface and the quality assurance, plus implementation and regulation.
We cross-assigned the testing on purpose: neither of us signed off our own layer. </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find everything in the repository, just scan the QR-code and you’ll be able to test </a:t>
            </a:r>
            <a:r>
              <a:rPr lang="en-US" dirty="0" err="1"/>
              <a:t>WundCheck</a:t>
            </a:r>
            <a:r>
              <a:rPr lang="en-US" dirty="0"/>
              <a:t> yourself:</a:t>
            </a:r>
          </a:p>
          <a:p>
            <a:endParaRPr lang="en-US" dirty="0"/>
          </a:p>
          <a:p>
            <a:r>
              <a:rPr lang="en-US" dirty="0"/>
              <a:t>Our approach to take the weight off the patients and the clinical staff.
Thank you for your interest. We are happy to take your questions.
</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is the complete table. Thirteen exclusive rules in priority order, five information rules that fire alongside. Each row carries the condition AND the source it came from — CDC for the discharge and dehiscence rules, NICE one-point-four-point-nine for the red streak, Southampton for the grading rules. R8 at the bottom is the catch-all: it always matches, so no input can ever fall through without an answer — and even R8 never says "everything is fine" without a hint about when to make contact.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Nineteen cases, and they are not arbitrary — they are chosen against the hazard ranking. T1 to T3 are the red paths. T5 and T14 are the counter-checks: cases that MUST NOT escalate, because over-triage is a real failure mode too. T13, T11, T12 and T16 are the retests for the defects we fixed. T15, T17 and T19 are the three that failed on first run and produced defects B-06, B-07 and B-08. T19 is the threshold change you saw in the demo, as an automated test.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Six hazards, scored severity times likelihood. The two in the red zone are H-01, a missed infection classified green, and H-03, an emergency rule that is unreachable. Both drove the test order — we tested the red paths before we tested anything cosmetic. The matrix is also our argument for worst-first: it moves risk from the severe corner into the tolerable one, at the cost of more false alarms.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process one level down: input validation, the two-pass evaluation, the worst-first cascade as explicit gateways, and the write-back. The gateway chain is the decision table one to one — the same rule IDs. That is deliberate: the diagram and the executable file cannot drift apart, because they are generated from the same rule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One check produces three resources in a single transaction bundle. The </a:t>
            </a:r>
            <a:r>
              <a:rPr lang="en-US" err="1"/>
              <a:t>QuestionnaireResponse</a:t>
            </a:r>
            <a:r>
              <a:rPr lang="en-US"/>
              <a:t> holds the raw answers against a versioned canonical Questionnaire. The Observation carries the classification, coded in SNOMED, with the Southampton grade and the fired rule as components. And the Communication is the alert to the practice, created only from orange upwards — that is Sandra's persona turned into a technical rule. The endpoint, the patient reference and the alert recipient are all L3 configuration.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one finding traced end to end: the CDC criterion "purulent drainage" becomes data element DE-035 with a SNOMED code, which is used by rule R4 at orange priority, which produces an Observation component in the FHIR bundle, and which is verified by test case T15. Five artefacts, one identifier. If you change the element, everything downstream of it is findable in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file IS the CDSS. Metadata with the thresholds and their sources, the elements with their labels in two languages and their terminology bindings, and the decision rules with their conditions and outputs. The app that renders it contains none of this. Hand this file to a different renderer and you have the same clinical system — that is the property we were actually trying to buy.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full dictionary has forty-eight rows; this is an excerpt showing the four columns the assignment asks for — the element, its type and permitted values, its terminology binding, and its FHIR mapping — plus a fifth we added, the L1 source. Nine elements are calculated rather than asked, eight carry plausibility constraints, and four are conditional on an earlier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pointer slide. It lists the testing types we applied, the versioning and update path for the L3, the multilingualism approach, the interoperability level we reach — structural yes, semantic partly, </a:t>
            </a:r>
            <a:r>
              <a:rPr lang="en-US" err="1"/>
              <a:t>organisational</a:t>
            </a:r>
            <a:r>
              <a:rPr lang="en-US"/>
              <a:t> no — and what we would do differently with more time. The honest answer to that last one is: validate the image assignment. Everything else is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6.svg"/><Relationship Id="rId4" Type="http://schemas.openxmlformats.org/officeDocument/2006/relationships/image" Target="../media/image5.sv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jpe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8.sv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02E"/>
        </a:solidFill>
        <a:effectLst/>
      </p:bgPr>
    </p:bg>
    <p:spTree>
      <p:nvGrpSpPr>
        <p:cNvPr id="1" name=""/>
        <p:cNvGrpSpPr/>
        <p:nvPr/>
      </p:nvGrpSpPr>
      <p:grpSpPr>
        <a:xfrm>
          <a:off x="0" y="0"/>
          <a:ext cx="0" cy="0"/>
          <a:chOff x="0" y="0"/>
          <a:chExt cx="0" cy="0"/>
        </a:xfrm>
      </p:grpSpPr>
      <p:sp>
        <p:nvSpPr>
          <p:cNvPr id="2" name="Text 0"/>
          <p:cNvSpPr/>
          <p:nvPr/>
        </p:nvSpPr>
        <p:spPr>
          <a:xfrm>
            <a:off x="566928" y="2237140"/>
            <a:ext cx="8229600" cy="868680"/>
          </a:xfrm>
          <a:prstGeom prst="rect">
            <a:avLst/>
          </a:prstGeom>
          <a:noFill/>
          <a:ln/>
        </p:spPr>
        <p:txBody>
          <a:bodyPr wrap="square" lIns="0" tIns="0" rIns="0" bIns="0" rtlCol="0" anchor="ctr"/>
          <a:lstStyle/>
          <a:p>
            <a:pPr marL="0" indent="0">
              <a:buNone/>
            </a:pPr>
            <a:r>
              <a:rPr lang="en-US" sz="5200" b="1">
                <a:solidFill>
                  <a:srgbClr val="FFFFFF"/>
                </a:solidFill>
                <a:latin typeface="Cambria" pitchFamily="34" charset="0"/>
                <a:ea typeface="Cambria" pitchFamily="34" charset="-122"/>
                <a:cs typeface="Cambria" pitchFamily="34" charset="-120"/>
              </a:rPr>
              <a:t>WundCheck</a:t>
            </a:r>
            <a:endParaRPr lang="en-US" sz="5200"/>
          </a:p>
        </p:txBody>
      </p:sp>
      <p:sp>
        <p:nvSpPr>
          <p:cNvPr id="3" name="Text 1"/>
          <p:cNvSpPr/>
          <p:nvPr/>
        </p:nvSpPr>
        <p:spPr>
          <a:xfrm>
            <a:off x="566928" y="3151540"/>
            <a:ext cx="7863840" cy="548640"/>
          </a:xfrm>
          <a:prstGeom prst="rect">
            <a:avLst/>
          </a:prstGeom>
          <a:noFill/>
          <a:ln/>
        </p:spPr>
        <p:txBody>
          <a:bodyPr wrap="square" lIns="0" tIns="0" rIns="0" bIns="0" rtlCol="0" anchor="ctr"/>
          <a:lstStyle/>
          <a:p>
            <a:pPr marL="0" indent="0">
              <a:buNone/>
            </a:pPr>
            <a:r>
              <a:rPr lang="en-US" sz="1700">
                <a:solidFill>
                  <a:srgbClr val="C9D6E4"/>
                </a:solidFill>
                <a:latin typeface="Calibri" pitchFamily="34" charset="0"/>
                <a:ea typeface="Calibri" pitchFamily="34" charset="-122"/>
                <a:cs typeface="Calibri" pitchFamily="34" charset="-120"/>
              </a:rPr>
              <a:t>A mini CDSS that puts the daily wound check in the hands of the patient</a:t>
            </a:r>
            <a:endParaRPr lang="en-US" sz="1700"/>
          </a:p>
        </p:txBody>
      </p:sp>
      <p:sp>
        <p:nvSpPr>
          <p:cNvPr id="4" name="Text 2"/>
          <p:cNvSpPr/>
          <p:nvPr/>
        </p:nvSpPr>
        <p:spPr>
          <a:xfrm>
            <a:off x="564076" y="3526443"/>
            <a:ext cx="3892867" cy="703983"/>
          </a:xfrm>
          <a:prstGeom prst="rect">
            <a:avLst/>
          </a:prstGeom>
          <a:noFill/>
          <a:ln/>
        </p:spPr>
        <p:txBody>
          <a:bodyPr wrap="square" lIns="0" tIns="0" rIns="0" bIns="0" rtlCol="0" anchor="ctr"/>
          <a:lstStyle/>
          <a:p>
            <a:pPr marL="0" indent="0">
              <a:lnSpc>
                <a:spcPts val="2000"/>
              </a:lnSpc>
              <a:buNone/>
            </a:pPr>
            <a:r>
              <a:rPr lang="en-US" sz="1350" i="1">
                <a:solidFill>
                  <a:srgbClr val="8FA3B8"/>
                </a:solidFill>
                <a:latin typeface="Calibri" pitchFamily="34" charset="0"/>
                <a:ea typeface="Calibri" pitchFamily="34" charset="-122"/>
                <a:cs typeface="Calibri" pitchFamily="34" charset="-120"/>
              </a:rPr>
              <a:t>Feline Weger, B.Sc. Biomedical Engineering</a:t>
            </a:r>
          </a:p>
          <a:p>
            <a:pPr marL="0" indent="0">
              <a:lnSpc>
                <a:spcPts val="2000"/>
              </a:lnSpc>
              <a:buNone/>
            </a:pPr>
            <a:r>
              <a:rPr lang="en-US" sz="1350" i="1">
                <a:solidFill>
                  <a:srgbClr val="8FA3B8"/>
                </a:solidFill>
                <a:latin typeface="Calibri" pitchFamily="34" charset="0"/>
                <a:ea typeface="Calibri" pitchFamily="34" charset="-122"/>
                <a:cs typeface="Calibri" pitchFamily="34" charset="-120"/>
              </a:rPr>
              <a:t>Sivanajani Sivakumar, B.Sc. Medical Informatics</a:t>
            </a:r>
            <a:endParaRPr lang="en-US" sz="1350"/>
          </a:p>
        </p:txBody>
      </p:sp>
      <p:sp>
        <p:nvSpPr>
          <p:cNvPr id="13" name="Text 11"/>
          <p:cNvSpPr/>
          <p:nvPr/>
        </p:nvSpPr>
        <p:spPr>
          <a:xfrm>
            <a:off x="566928" y="6089904"/>
            <a:ext cx="8229600" cy="274320"/>
          </a:xfrm>
          <a:prstGeom prst="rect">
            <a:avLst/>
          </a:prstGeom>
          <a:noFill/>
          <a:ln/>
        </p:spPr>
        <p:txBody>
          <a:bodyPr wrap="square" lIns="0" tIns="0" rIns="0" bIns="0" rtlCol="0" anchor="ctr"/>
          <a:lstStyle/>
          <a:p>
            <a:pPr marL="0" indent="0">
              <a:buNone/>
            </a:pPr>
            <a:r>
              <a:rPr lang="en-US" sz="1100">
                <a:solidFill>
                  <a:srgbClr val="8FA3B8"/>
                </a:solidFill>
                <a:latin typeface="Calibri" pitchFamily="34" charset="0"/>
                <a:ea typeface="Calibri" pitchFamily="34" charset="-122"/>
                <a:cs typeface="Calibri" pitchFamily="34" charset="-120"/>
              </a:rPr>
              <a:t>FHNW  ·  MSc Medical Informatics  ·  Clinical Decision Support Systems 2026</a:t>
            </a:r>
            <a:endParaRPr lang="en-US" sz="1100"/>
          </a:p>
        </p:txBody>
      </p:sp>
      <p:pic>
        <p:nvPicPr>
          <p:cNvPr id="15" name="Grafik 14">
            <a:extLst>
              <a:ext uri="{FF2B5EF4-FFF2-40B4-BE49-F238E27FC236}">
                <a16:creationId xmlns:a16="http://schemas.microsoft.com/office/drawing/2014/main" id="{884B171E-7263-B05F-3A9A-66314249B042}"/>
              </a:ext>
            </a:extLst>
          </p:cNvPr>
          <p:cNvPicPr>
            <a:picLocks noChangeAspect="1"/>
          </p:cNvPicPr>
          <p:nvPr/>
        </p:nvPicPr>
        <p:blipFill>
          <a:blip r:embed="rId3">
            <a:duotone>
              <a:schemeClr val="accent3">
                <a:shade val="45000"/>
                <a:satMod val="135000"/>
              </a:schemeClr>
              <a:prstClr val="white"/>
            </a:duotone>
          </a:blip>
          <a:stretch>
            <a:fillRect/>
          </a:stretch>
        </p:blipFill>
        <p:spPr>
          <a:xfrm>
            <a:off x="566928" y="129083"/>
            <a:ext cx="1640898" cy="382876"/>
          </a:xfrm>
          <a:prstGeom prst="rect">
            <a:avLst/>
          </a:prstGeom>
        </p:spPr>
      </p:pic>
      <p:pic>
        <p:nvPicPr>
          <p:cNvPr id="11" name="Grafik 10">
            <a:extLst>
              <a:ext uri="{FF2B5EF4-FFF2-40B4-BE49-F238E27FC236}">
                <a16:creationId xmlns:a16="http://schemas.microsoft.com/office/drawing/2014/main" id="{96517A0A-3EC3-160E-4480-233D03A882DF}"/>
              </a:ext>
            </a:extLst>
          </p:cNvPr>
          <p:cNvPicPr>
            <a:picLocks noChangeAspect="1"/>
          </p:cNvPicPr>
          <p:nvPr/>
        </p:nvPicPr>
        <p:blipFill>
          <a:blip r:embed="rId4"/>
          <a:srcRect t="18163" r="15072" b="20387"/>
          <a:stretch>
            <a:fillRect/>
          </a:stretch>
        </p:blipFill>
        <p:spPr>
          <a:xfrm rot="1521771">
            <a:off x="7210534" y="30228"/>
            <a:ext cx="5313953" cy="3844938"/>
          </a:xfrm>
          <a:prstGeom prst="rect">
            <a:avLst/>
          </a:prstGeom>
        </p:spPr>
      </p:pic>
      <p:pic>
        <p:nvPicPr>
          <p:cNvPr id="6" name="Grafik 5">
            <a:extLst>
              <a:ext uri="{FF2B5EF4-FFF2-40B4-BE49-F238E27FC236}">
                <a16:creationId xmlns:a16="http://schemas.microsoft.com/office/drawing/2014/main" id="{09450D67-C853-36FE-0527-C42DD021904F}"/>
              </a:ext>
            </a:extLst>
          </p:cNvPr>
          <p:cNvPicPr>
            <a:picLocks noChangeAspect="1"/>
          </p:cNvPicPr>
          <p:nvPr/>
        </p:nvPicPr>
        <p:blipFill>
          <a:blip r:embed="rId5"/>
          <a:stretch>
            <a:fillRect/>
          </a:stretch>
        </p:blipFill>
        <p:spPr>
          <a:xfrm>
            <a:off x="564076" y="1228962"/>
            <a:ext cx="911828" cy="91182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7680960" cy="219456"/>
          </a:xfrm>
          <a:prstGeom prst="rect">
            <a:avLst/>
          </a:prstGeom>
          <a:noFill/>
          <a:ln/>
        </p:spPr>
        <p:txBody>
          <a:bodyPr wrap="square" lIns="0" tIns="0" rIns="0" bIns="0" rtlCol="0" anchor="ctr"/>
          <a:lstStyle/>
          <a:p>
            <a:pPr marL="0" indent="0">
              <a:buNone/>
            </a:pPr>
            <a:r>
              <a:rPr lang="en-US" sz="1050" b="1" kern="0" spc="160" dirty="0">
                <a:solidFill>
                  <a:srgbClr val="5D7186"/>
                </a:solidFill>
                <a:latin typeface="Calibri" pitchFamily="34" charset="0"/>
                <a:ea typeface="Calibri" pitchFamily="34" charset="-122"/>
                <a:cs typeface="Calibri" pitchFamily="34" charset="-120"/>
              </a:rPr>
              <a:t>HEALTH SYSTEM NEED</a:t>
            </a:r>
            <a:endParaRPr lang="en-US" sz="1050" dirty="0"/>
          </a:p>
        </p:txBody>
      </p:sp>
      <p:sp>
        <p:nvSpPr>
          <p:cNvPr id="3" name="Text 1"/>
          <p:cNvSpPr/>
          <p:nvPr/>
        </p:nvSpPr>
        <p:spPr>
          <a:xfrm>
            <a:off x="566928" y="640080"/>
            <a:ext cx="10607040" cy="658368"/>
          </a:xfrm>
          <a:prstGeom prst="rect">
            <a:avLst/>
          </a:prstGeom>
          <a:noFill/>
          <a:ln/>
        </p:spPr>
        <p:txBody>
          <a:bodyPr wrap="square" lIns="0" tIns="0" rIns="0" bIns="0" rtlCol="0" anchor="t"/>
          <a:lstStyle/>
          <a:p>
            <a:pPr marL="0" indent="0">
              <a:buNone/>
            </a:pPr>
            <a:r>
              <a:rPr lang="en-US" sz="2700" b="1" dirty="0">
                <a:solidFill>
                  <a:srgbClr val="12202E"/>
                </a:solidFill>
                <a:latin typeface="Cambria" pitchFamily="34" charset="0"/>
                <a:ea typeface="Cambria" pitchFamily="34" charset="-122"/>
                <a:cs typeface="Cambria" pitchFamily="34" charset="-120"/>
              </a:rPr>
              <a:t>Surgical site infections appear after discharge</a:t>
            </a:r>
          </a:p>
          <a:p>
            <a:pPr marL="0" indent="0">
              <a:buNone/>
            </a:pPr>
            <a:r>
              <a:rPr lang="en-US" sz="2000" i="1" dirty="0">
                <a:solidFill>
                  <a:srgbClr val="12202E"/>
                </a:solidFill>
                <a:latin typeface="Cambria" pitchFamily="34" charset="0"/>
                <a:ea typeface="Cambria" pitchFamily="34" charset="-122"/>
                <a:cs typeface="Cambria" pitchFamily="34" charset="-120"/>
              </a:rPr>
              <a:t>when nobody is looking</a:t>
            </a:r>
            <a:endParaRPr lang="en-US" sz="2000" i="1" dirty="0"/>
          </a:p>
        </p:txBody>
      </p:sp>
      <p:sp>
        <p:nvSpPr>
          <p:cNvPr id="4" name="Shape 2"/>
          <p:cNvSpPr/>
          <p:nvPr/>
        </p:nvSpPr>
        <p:spPr>
          <a:xfrm>
            <a:off x="566928" y="1700784"/>
            <a:ext cx="3474720" cy="1572768"/>
          </a:xfrm>
          <a:prstGeom prst="roundRect">
            <a:avLst>
              <a:gd name="adj" fmla="val 5233"/>
            </a:avLst>
          </a:prstGeom>
          <a:solidFill>
            <a:srgbClr val="FFFFFF"/>
          </a:solidFill>
          <a:ln w="12700">
            <a:solidFill>
              <a:srgbClr val="DDE5EE"/>
            </a:solidFill>
            <a:prstDash val="solid"/>
          </a:ln>
        </p:spPr>
        <p:txBody>
          <a:bodyPr/>
          <a:lstStyle/>
          <a:p>
            <a:endParaRPr lang="de-CH"/>
          </a:p>
        </p:txBody>
      </p:sp>
      <p:sp>
        <p:nvSpPr>
          <p:cNvPr id="5" name="Text 3"/>
          <p:cNvSpPr/>
          <p:nvPr/>
        </p:nvSpPr>
        <p:spPr>
          <a:xfrm>
            <a:off x="822960" y="1847088"/>
            <a:ext cx="3017520" cy="384048"/>
          </a:xfrm>
          <a:prstGeom prst="rect">
            <a:avLst/>
          </a:prstGeom>
          <a:noFill/>
          <a:ln/>
        </p:spPr>
        <p:txBody>
          <a:bodyPr wrap="square" lIns="0" tIns="0" rIns="0" bIns="0" rtlCol="0" anchor="ctr"/>
          <a:lstStyle/>
          <a:p>
            <a:pPr marL="0" indent="0">
              <a:buNone/>
            </a:pPr>
            <a:r>
              <a:rPr lang="en-US" sz="2600" b="1" dirty="0">
                <a:solidFill>
                  <a:srgbClr val="12202E"/>
                </a:solidFill>
                <a:latin typeface="Cambria" pitchFamily="34" charset="0"/>
                <a:ea typeface="Cambria" pitchFamily="34" charset="-122"/>
                <a:cs typeface="Cambria" pitchFamily="34" charset="-120"/>
              </a:rPr>
              <a:t>60.1 %</a:t>
            </a:r>
            <a:endParaRPr lang="en-US" sz="2600" dirty="0"/>
          </a:p>
        </p:txBody>
      </p:sp>
      <p:sp>
        <p:nvSpPr>
          <p:cNvPr id="6" name="Text 4"/>
          <p:cNvSpPr/>
          <p:nvPr/>
        </p:nvSpPr>
        <p:spPr>
          <a:xfrm>
            <a:off x="822960" y="2286000"/>
            <a:ext cx="3017520" cy="914400"/>
          </a:xfrm>
          <a:prstGeom prst="rect">
            <a:avLst/>
          </a:prstGeom>
          <a:noFill/>
          <a:ln/>
        </p:spPr>
        <p:txBody>
          <a:bodyPr wrap="square" lIns="0" tIns="0" rIns="0" bIns="0" rtlCol="0" anchor="t"/>
          <a:lstStyle/>
          <a:p>
            <a:pPr marL="0" indent="0">
              <a:lnSpc>
                <a:spcPts val="1400"/>
              </a:lnSpc>
              <a:buNone/>
            </a:pPr>
            <a:r>
              <a:rPr lang="en-US" sz="1100" dirty="0">
                <a:solidFill>
                  <a:srgbClr val="5D7186"/>
                </a:solidFill>
                <a:latin typeface="Calibri" pitchFamily="34" charset="0"/>
                <a:ea typeface="Calibri" pitchFamily="34" charset="-122"/>
                <a:cs typeface="Calibri" pitchFamily="34" charset="-120"/>
              </a:rPr>
              <a:t>of surgical site infections occur after discharge — systematic review of 1.4 million operations. The CDC surveillance window runs 30 days, 90 for implants.</a:t>
            </a:r>
            <a:endParaRPr lang="en-US" sz="1100" dirty="0"/>
          </a:p>
        </p:txBody>
      </p:sp>
      <p:sp>
        <p:nvSpPr>
          <p:cNvPr id="7" name="Shape 5"/>
          <p:cNvSpPr/>
          <p:nvPr/>
        </p:nvSpPr>
        <p:spPr>
          <a:xfrm>
            <a:off x="4279392" y="1700784"/>
            <a:ext cx="3474720" cy="1572768"/>
          </a:xfrm>
          <a:prstGeom prst="roundRect">
            <a:avLst>
              <a:gd name="adj" fmla="val 5233"/>
            </a:avLst>
          </a:prstGeom>
          <a:solidFill>
            <a:srgbClr val="FFFFFF"/>
          </a:solidFill>
          <a:ln w="12700">
            <a:solidFill>
              <a:srgbClr val="DDE5EE"/>
            </a:solidFill>
            <a:prstDash val="solid"/>
          </a:ln>
        </p:spPr>
        <p:txBody>
          <a:bodyPr/>
          <a:lstStyle/>
          <a:p>
            <a:endParaRPr lang="de-CH"/>
          </a:p>
        </p:txBody>
      </p:sp>
      <p:sp>
        <p:nvSpPr>
          <p:cNvPr id="8" name="Text 6"/>
          <p:cNvSpPr/>
          <p:nvPr/>
        </p:nvSpPr>
        <p:spPr>
          <a:xfrm>
            <a:off x="4535424" y="1847088"/>
            <a:ext cx="3017520" cy="384048"/>
          </a:xfrm>
          <a:prstGeom prst="rect">
            <a:avLst/>
          </a:prstGeom>
          <a:noFill/>
          <a:ln/>
        </p:spPr>
        <p:txBody>
          <a:bodyPr wrap="square" lIns="0" tIns="0" rIns="0" bIns="0" rtlCol="0" anchor="ctr"/>
          <a:lstStyle/>
          <a:p>
            <a:pPr marL="0" indent="0">
              <a:buNone/>
            </a:pPr>
            <a:r>
              <a:rPr lang="en-US" sz="1900" b="1" dirty="0">
                <a:solidFill>
                  <a:srgbClr val="C25C07"/>
                </a:solidFill>
                <a:latin typeface="Cambria" pitchFamily="34" charset="0"/>
                <a:ea typeface="Cambria" pitchFamily="34" charset="-122"/>
                <a:cs typeface="Cambria" pitchFamily="34" charset="-120"/>
              </a:rPr>
              <a:t>Too late</a:t>
            </a:r>
            <a:endParaRPr lang="en-US" sz="1900" dirty="0"/>
          </a:p>
        </p:txBody>
      </p:sp>
      <p:sp>
        <p:nvSpPr>
          <p:cNvPr id="9" name="Text 7"/>
          <p:cNvSpPr/>
          <p:nvPr/>
        </p:nvSpPr>
        <p:spPr>
          <a:xfrm>
            <a:off x="4535424" y="2286000"/>
            <a:ext cx="3017520" cy="914400"/>
          </a:xfrm>
          <a:prstGeom prst="rect">
            <a:avLst/>
          </a:prstGeom>
          <a:noFill/>
          <a:ln/>
        </p:spPr>
        <p:txBody>
          <a:bodyPr wrap="square" lIns="0" tIns="0" rIns="0" bIns="0" rtlCol="0" anchor="t"/>
          <a:lstStyle/>
          <a:p>
            <a:pPr marL="0" indent="0">
              <a:lnSpc>
                <a:spcPts val="1400"/>
              </a:lnSpc>
              <a:buNone/>
            </a:pPr>
            <a:r>
              <a:rPr lang="en-US" sz="1100" dirty="0">
                <a:solidFill>
                  <a:srgbClr val="5D7186"/>
                </a:solidFill>
                <a:latin typeface="Calibri" pitchFamily="34" charset="0"/>
                <a:ea typeface="Calibri" pitchFamily="34" charset="-122"/>
                <a:cs typeface="Calibri" pitchFamily="34" charset="-120"/>
              </a:rPr>
              <a:t>Warning signs are read as normal. The infection progresses; treatment starts days later than it could.</a:t>
            </a:r>
            <a:endParaRPr lang="en-US" sz="1100" dirty="0"/>
          </a:p>
        </p:txBody>
      </p:sp>
      <p:sp>
        <p:nvSpPr>
          <p:cNvPr id="10" name="Shape 8"/>
          <p:cNvSpPr/>
          <p:nvPr/>
        </p:nvSpPr>
        <p:spPr>
          <a:xfrm>
            <a:off x="7991856" y="1700784"/>
            <a:ext cx="3474720" cy="1572768"/>
          </a:xfrm>
          <a:prstGeom prst="roundRect">
            <a:avLst>
              <a:gd name="adj" fmla="val 5233"/>
            </a:avLst>
          </a:prstGeom>
          <a:solidFill>
            <a:srgbClr val="FFFFFF"/>
          </a:solidFill>
          <a:ln w="12700">
            <a:solidFill>
              <a:srgbClr val="DDE5EE"/>
            </a:solidFill>
            <a:prstDash val="solid"/>
          </a:ln>
        </p:spPr>
        <p:txBody>
          <a:bodyPr/>
          <a:lstStyle/>
          <a:p>
            <a:endParaRPr lang="de-CH"/>
          </a:p>
        </p:txBody>
      </p:sp>
      <p:sp>
        <p:nvSpPr>
          <p:cNvPr id="11" name="Text 9"/>
          <p:cNvSpPr/>
          <p:nvPr/>
        </p:nvSpPr>
        <p:spPr>
          <a:xfrm>
            <a:off x="8247888" y="1847088"/>
            <a:ext cx="3017520" cy="384048"/>
          </a:xfrm>
          <a:prstGeom prst="rect">
            <a:avLst/>
          </a:prstGeom>
          <a:noFill/>
          <a:ln/>
        </p:spPr>
        <p:txBody>
          <a:bodyPr wrap="square" lIns="0" tIns="0" rIns="0" bIns="0" rtlCol="0" anchor="ctr"/>
          <a:lstStyle/>
          <a:p>
            <a:pPr marL="0" indent="0">
              <a:buNone/>
            </a:pPr>
            <a:r>
              <a:rPr lang="en-US" sz="1900" b="1" dirty="0">
                <a:solidFill>
                  <a:srgbClr val="C25C07"/>
                </a:solidFill>
                <a:latin typeface="Cambria" pitchFamily="34" charset="0"/>
                <a:ea typeface="Cambria" pitchFamily="34" charset="-122"/>
                <a:cs typeface="Cambria" pitchFamily="34" charset="-120"/>
              </a:rPr>
              <a:t>Too early</a:t>
            </a:r>
            <a:endParaRPr lang="en-US" sz="1900" dirty="0"/>
          </a:p>
        </p:txBody>
      </p:sp>
      <p:sp>
        <p:nvSpPr>
          <p:cNvPr id="12" name="Text 10"/>
          <p:cNvSpPr/>
          <p:nvPr/>
        </p:nvSpPr>
        <p:spPr>
          <a:xfrm>
            <a:off x="8247888" y="2286000"/>
            <a:ext cx="3017520" cy="914400"/>
          </a:xfrm>
          <a:prstGeom prst="rect">
            <a:avLst/>
          </a:prstGeom>
          <a:noFill/>
          <a:ln/>
        </p:spPr>
        <p:txBody>
          <a:bodyPr wrap="square" lIns="0" tIns="0" rIns="0" bIns="0" rtlCol="0" anchor="t"/>
          <a:lstStyle/>
          <a:p>
            <a:pPr marL="0" indent="0">
              <a:lnSpc>
                <a:spcPts val="1400"/>
              </a:lnSpc>
              <a:buNone/>
            </a:pPr>
            <a:r>
              <a:rPr lang="en-US" sz="1100" dirty="0">
                <a:solidFill>
                  <a:srgbClr val="5D7186"/>
                </a:solidFill>
                <a:latin typeface="Calibri" pitchFamily="34" charset="0"/>
                <a:ea typeface="Calibri" pitchFamily="34" charset="-122"/>
                <a:cs typeface="Calibri" pitchFamily="34" charset="-120"/>
              </a:rPr>
              <a:t>Normal healing signs — a scab, day-2 redness — trigger calls that bind practice staff and worry patients.</a:t>
            </a:r>
            <a:endParaRPr lang="en-US" sz="1100" dirty="0"/>
          </a:p>
        </p:txBody>
      </p:sp>
      <p:sp>
        <p:nvSpPr>
          <p:cNvPr id="13" name="Text 11"/>
          <p:cNvSpPr/>
          <p:nvPr/>
        </p:nvSpPr>
        <p:spPr>
          <a:xfrm>
            <a:off x="566928" y="3346704"/>
            <a:ext cx="11064240" cy="310896"/>
          </a:xfrm>
          <a:prstGeom prst="rect">
            <a:avLst/>
          </a:prstGeom>
          <a:noFill/>
          <a:ln/>
        </p:spPr>
        <p:txBody>
          <a:bodyPr wrap="square" lIns="0" tIns="0" rIns="0" bIns="0" rtlCol="0" anchor="ctr"/>
          <a:lstStyle/>
          <a:p>
            <a:pPr marL="0" indent="0">
              <a:buNone/>
            </a:pPr>
            <a:r>
              <a:rPr lang="en-US" sz="950" dirty="0">
                <a:solidFill>
                  <a:srgbClr val="5D7186"/>
                </a:solidFill>
                <a:latin typeface="Calibri" pitchFamily="34" charset="0"/>
                <a:ea typeface="Calibri" pitchFamily="34" charset="-122"/>
                <a:cs typeface="Calibri" pitchFamily="34" charset="-120"/>
              </a:rPr>
              <a:t>SSI incidence in Europe 0.5–10.1 % depending on procedure (ECDC 2017: 10,149 SSIs in 648,512 operations) · 9.5 % after colon surgery, 1.0 % after hip replacement (WHO) · Switzerland: &gt; 170 hospitals in the Swissnoso surveillance programme</a:t>
            </a:r>
            <a:endParaRPr lang="en-US" sz="950" dirty="0"/>
          </a:p>
        </p:txBody>
      </p:sp>
      <p:sp>
        <p:nvSpPr>
          <p:cNvPr id="14" name="Shape 12"/>
          <p:cNvSpPr/>
          <p:nvPr/>
        </p:nvSpPr>
        <p:spPr>
          <a:xfrm>
            <a:off x="566928" y="3767328"/>
            <a:ext cx="6858000" cy="2212848"/>
          </a:xfrm>
          <a:prstGeom prst="roundRect">
            <a:avLst>
              <a:gd name="adj" fmla="val 3719"/>
            </a:avLst>
          </a:prstGeom>
          <a:solidFill>
            <a:srgbClr val="F5F7FA"/>
          </a:solidFill>
          <a:ln w="12700">
            <a:solidFill>
              <a:srgbClr val="DDE5EE"/>
            </a:solidFill>
            <a:prstDash val="solid"/>
          </a:ln>
        </p:spPr>
        <p:txBody>
          <a:bodyPr/>
          <a:lstStyle/>
          <a:p>
            <a:endParaRPr lang="de-CH"/>
          </a:p>
        </p:txBody>
      </p:sp>
      <p:sp>
        <p:nvSpPr>
          <p:cNvPr id="15" name="Text 13"/>
          <p:cNvSpPr/>
          <p:nvPr/>
        </p:nvSpPr>
        <p:spPr>
          <a:xfrm>
            <a:off x="841248" y="3950208"/>
            <a:ext cx="6309360" cy="292608"/>
          </a:xfrm>
          <a:prstGeom prst="rect">
            <a:avLst/>
          </a:prstGeom>
          <a:noFill/>
          <a:ln/>
        </p:spPr>
        <p:txBody>
          <a:bodyPr wrap="square" lIns="0" tIns="0" rIns="0" bIns="0" rtlCol="0" anchor="ctr"/>
          <a:lstStyle/>
          <a:p>
            <a:pPr marL="0" indent="0">
              <a:buNone/>
            </a:pPr>
            <a:r>
              <a:rPr lang="en-US" sz="1300" b="1" dirty="0">
                <a:solidFill>
                  <a:srgbClr val="12202E"/>
                </a:solidFill>
                <a:latin typeface="Calibri" pitchFamily="34" charset="0"/>
                <a:ea typeface="Calibri" pitchFamily="34" charset="-122"/>
                <a:cs typeface="Calibri" pitchFamily="34" charset="-120"/>
              </a:rPr>
              <a:t>Why a knowledge-based CDSS — and not the alternatives</a:t>
            </a:r>
            <a:endParaRPr lang="en-US" sz="1300" dirty="0"/>
          </a:p>
        </p:txBody>
      </p:sp>
      <p:sp>
        <p:nvSpPr>
          <p:cNvPr id="16" name="Text 14"/>
          <p:cNvSpPr/>
          <p:nvPr/>
        </p:nvSpPr>
        <p:spPr>
          <a:xfrm>
            <a:off x="841248" y="4352544"/>
            <a:ext cx="1920240" cy="274320"/>
          </a:xfrm>
          <a:prstGeom prst="rect">
            <a:avLst/>
          </a:prstGeom>
          <a:noFill/>
          <a:ln/>
        </p:spPr>
        <p:txBody>
          <a:bodyPr wrap="square" lIns="0" tIns="0" rIns="0" bIns="0" rtlCol="0" anchor="ctr"/>
          <a:lstStyle/>
          <a:p>
            <a:pPr marL="0" indent="0">
              <a:buNone/>
            </a:pPr>
            <a:r>
              <a:rPr lang="en-US" sz="1150" b="1" dirty="0">
                <a:solidFill>
                  <a:srgbClr val="12202E"/>
                </a:solidFill>
                <a:latin typeface="Calibri" pitchFamily="34" charset="0"/>
                <a:ea typeface="Calibri" pitchFamily="34" charset="-122"/>
                <a:cs typeface="Calibri" pitchFamily="34" charset="-120"/>
              </a:rPr>
              <a:t>Information leaflet</a:t>
            </a:r>
            <a:endParaRPr lang="en-US" sz="1150" dirty="0"/>
          </a:p>
        </p:txBody>
      </p:sp>
      <p:sp>
        <p:nvSpPr>
          <p:cNvPr id="17" name="Text 15"/>
          <p:cNvSpPr/>
          <p:nvPr/>
        </p:nvSpPr>
        <p:spPr>
          <a:xfrm>
            <a:off x="2807208" y="4352544"/>
            <a:ext cx="4343400" cy="274320"/>
          </a:xfrm>
          <a:prstGeom prst="rect">
            <a:avLst/>
          </a:prstGeom>
          <a:noFill/>
          <a:ln/>
        </p:spPr>
        <p:txBody>
          <a:bodyPr wrap="square" lIns="0" tIns="0" rIns="0" bIns="0" rtlCol="0" anchor="ctr"/>
          <a:lstStyle/>
          <a:p>
            <a:pPr marL="0" indent="0">
              <a:buNone/>
            </a:pPr>
            <a:r>
              <a:rPr lang="en-US" sz="1100" dirty="0">
                <a:solidFill>
                  <a:srgbClr val="5D7186"/>
                </a:solidFill>
                <a:latin typeface="Calibri" pitchFamily="34" charset="0"/>
                <a:ea typeface="Calibri" pitchFamily="34" charset="-122"/>
                <a:cs typeface="Calibri" pitchFamily="34" charset="-120"/>
              </a:rPr>
              <a:t>already exists everywhere; no feedback on the actual finding</a:t>
            </a:r>
            <a:endParaRPr lang="en-US" sz="1100" dirty="0"/>
          </a:p>
        </p:txBody>
      </p:sp>
      <p:sp>
        <p:nvSpPr>
          <p:cNvPr id="18" name="Text 16"/>
          <p:cNvSpPr/>
          <p:nvPr/>
        </p:nvSpPr>
        <p:spPr>
          <a:xfrm>
            <a:off x="841248" y="4754880"/>
            <a:ext cx="1920240" cy="274320"/>
          </a:xfrm>
          <a:prstGeom prst="rect">
            <a:avLst/>
          </a:prstGeom>
          <a:noFill/>
          <a:ln/>
        </p:spPr>
        <p:txBody>
          <a:bodyPr wrap="square" lIns="0" tIns="0" rIns="0" bIns="0" rtlCol="0" anchor="ctr"/>
          <a:lstStyle/>
          <a:p>
            <a:pPr marL="0" indent="0">
              <a:buNone/>
            </a:pPr>
            <a:r>
              <a:rPr lang="en-US" sz="1150" b="1" dirty="0">
                <a:solidFill>
                  <a:srgbClr val="12202E"/>
                </a:solidFill>
                <a:latin typeface="Calibri" pitchFamily="34" charset="0"/>
                <a:ea typeface="Calibri" pitchFamily="34" charset="-122"/>
                <a:cs typeface="Calibri" pitchFamily="34" charset="-120"/>
              </a:rPr>
              <a:t>Telephone follow-up</a:t>
            </a:r>
            <a:endParaRPr lang="en-US" sz="1150" dirty="0"/>
          </a:p>
        </p:txBody>
      </p:sp>
      <p:sp>
        <p:nvSpPr>
          <p:cNvPr id="19" name="Text 17"/>
          <p:cNvSpPr/>
          <p:nvPr/>
        </p:nvSpPr>
        <p:spPr>
          <a:xfrm>
            <a:off x="2807208" y="4754880"/>
            <a:ext cx="4343400" cy="274320"/>
          </a:xfrm>
          <a:prstGeom prst="rect">
            <a:avLst/>
          </a:prstGeom>
          <a:noFill/>
          <a:ln/>
        </p:spPr>
        <p:txBody>
          <a:bodyPr wrap="square" lIns="0" tIns="0" rIns="0" bIns="0" rtlCol="0" anchor="ctr"/>
          <a:lstStyle/>
          <a:p>
            <a:pPr marL="0" indent="0">
              <a:buNone/>
            </a:pPr>
            <a:r>
              <a:rPr lang="en-US" sz="1100" dirty="0">
                <a:solidFill>
                  <a:srgbClr val="5D7186"/>
                </a:solidFill>
                <a:latin typeface="Calibri" pitchFamily="34" charset="0"/>
                <a:ea typeface="Calibri" pitchFamily="34" charset="-122"/>
                <a:cs typeface="Calibri" pitchFamily="34" charset="-120"/>
              </a:rPr>
              <a:t>not deliverable daily; “the wound looks odd” is not usable data</a:t>
            </a:r>
            <a:endParaRPr lang="en-US" sz="1100" dirty="0"/>
          </a:p>
        </p:txBody>
      </p:sp>
      <p:sp>
        <p:nvSpPr>
          <p:cNvPr id="20" name="Text 18"/>
          <p:cNvSpPr/>
          <p:nvPr/>
        </p:nvSpPr>
        <p:spPr>
          <a:xfrm>
            <a:off x="841248" y="5157216"/>
            <a:ext cx="1920240" cy="274320"/>
          </a:xfrm>
          <a:prstGeom prst="rect">
            <a:avLst/>
          </a:prstGeom>
          <a:noFill/>
          <a:ln/>
        </p:spPr>
        <p:txBody>
          <a:bodyPr wrap="square" lIns="0" tIns="0" rIns="0" bIns="0" rtlCol="0" anchor="ctr"/>
          <a:lstStyle/>
          <a:p>
            <a:pPr marL="0" indent="0">
              <a:buNone/>
            </a:pPr>
            <a:r>
              <a:rPr lang="en-US" sz="1150" b="1" dirty="0">
                <a:solidFill>
                  <a:srgbClr val="12202E"/>
                </a:solidFill>
                <a:latin typeface="Calibri" pitchFamily="34" charset="0"/>
                <a:ea typeface="Calibri" pitchFamily="34" charset="-122"/>
                <a:cs typeface="Calibri" pitchFamily="34" charset="-120"/>
              </a:rPr>
              <a:t>Photo-based ML</a:t>
            </a:r>
            <a:endParaRPr lang="en-US" sz="1150" dirty="0"/>
          </a:p>
        </p:txBody>
      </p:sp>
      <p:sp>
        <p:nvSpPr>
          <p:cNvPr id="21" name="Text 19"/>
          <p:cNvSpPr/>
          <p:nvPr/>
        </p:nvSpPr>
        <p:spPr>
          <a:xfrm>
            <a:off x="2807208" y="5157216"/>
            <a:ext cx="4343400" cy="274320"/>
          </a:xfrm>
          <a:prstGeom prst="rect">
            <a:avLst/>
          </a:prstGeom>
          <a:noFill/>
          <a:ln/>
        </p:spPr>
        <p:txBody>
          <a:bodyPr wrap="square" lIns="0" tIns="0" rIns="0" bIns="0" rtlCol="0" anchor="ctr"/>
          <a:lstStyle/>
          <a:p>
            <a:pPr marL="0" indent="0">
              <a:buNone/>
            </a:pPr>
            <a:r>
              <a:rPr lang="en-US" sz="1100" dirty="0">
                <a:solidFill>
                  <a:srgbClr val="5D7186"/>
                </a:solidFill>
                <a:latin typeface="Calibri" pitchFamily="34" charset="0"/>
                <a:ea typeface="Calibri" pitchFamily="34" charset="-122"/>
                <a:cs typeface="Calibri" pitchFamily="34" charset="-120"/>
              </a:rPr>
              <a:t>light, angle and skin tone vary; decisions not explainable</a:t>
            </a:r>
            <a:endParaRPr lang="en-US" sz="1100" dirty="0"/>
          </a:p>
        </p:txBody>
      </p:sp>
      <p:sp>
        <p:nvSpPr>
          <p:cNvPr id="22" name="Text 20"/>
          <p:cNvSpPr/>
          <p:nvPr/>
        </p:nvSpPr>
        <p:spPr>
          <a:xfrm>
            <a:off x="841248" y="5559552"/>
            <a:ext cx="1920240" cy="274320"/>
          </a:xfrm>
          <a:prstGeom prst="rect">
            <a:avLst/>
          </a:prstGeom>
          <a:noFill/>
          <a:ln/>
        </p:spPr>
        <p:txBody>
          <a:bodyPr wrap="square" lIns="0" tIns="0" rIns="0" bIns="0" rtlCol="0" anchor="ctr"/>
          <a:lstStyle/>
          <a:p>
            <a:pPr marL="0" indent="0">
              <a:buNone/>
            </a:pPr>
            <a:r>
              <a:rPr lang="en-US" sz="1150" b="1" dirty="0">
                <a:solidFill>
                  <a:srgbClr val="1A7F4B"/>
                </a:solidFill>
                <a:latin typeface="Calibri" pitchFamily="34" charset="0"/>
                <a:ea typeface="Calibri" pitchFamily="34" charset="-122"/>
                <a:cs typeface="Calibri" pitchFamily="34" charset="-120"/>
              </a:rPr>
              <a:t>Rule-based CDSS</a:t>
            </a:r>
            <a:endParaRPr lang="en-US" sz="1150" dirty="0"/>
          </a:p>
        </p:txBody>
      </p:sp>
      <p:sp>
        <p:nvSpPr>
          <p:cNvPr id="23" name="Text 21"/>
          <p:cNvSpPr/>
          <p:nvPr/>
        </p:nvSpPr>
        <p:spPr>
          <a:xfrm>
            <a:off x="2807208" y="5559552"/>
            <a:ext cx="4343400" cy="274320"/>
          </a:xfrm>
          <a:prstGeom prst="rect">
            <a:avLst/>
          </a:prstGeom>
          <a:noFill/>
          <a:ln/>
        </p:spPr>
        <p:txBody>
          <a:bodyPr wrap="square" lIns="0" tIns="0" rIns="0" bIns="0" rtlCol="0" anchor="ctr"/>
          <a:lstStyle/>
          <a:p>
            <a:pPr marL="0" indent="0">
              <a:buNone/>
            </a:pPr>
            <a:r>
              <a:rPr lang="en-US" sz="1100" dirty="0">
                <a:solidFill>
                  <a:srgbClr val="5D7186"/>
                </a:solidFill>
                <a:latin typeface="Calibri" pitchFamily="34" charset="0"/>
                <a:ea typeface="Calibri" pitchFamily="34" charset="-122"/>
                <a:cs typeface="Calibri" pitchFamily="34" charset="-120"/>
              </a:rPr>
              <a:t>traceable to a guideline, reviewable, maintainable by clinicians</a:t>
            </a:r>
            <a:endParaRPr lang="en-US" sz="1100" dirty="0"/>
          </a:p>
        </p:txBody>
      </p:sp>
      <p:sp>
        <p:nvSpPr>
          <p:cNvPr id="24" name="Shape 22"/>
          <p:cNvSpPr/>
          <p:nvPr/>
        </p:nvSpPr>
        <p:spPr>
          <a:xfrm>
            <a:off x="7754112" y="3767328"/>
            <a:ext cx="3877056" cy="2212848"/>
          </a:xfrm>
          <a:prstGeom prst="roundRect">
            <a:avLst>
              <a:gd name="adj" fmla="val 3719"/>
            </a:avLst>
          </a:prstGeom>
          <a:solidFill>
            <a:srgbClr val="FFFFFF"/>
          </a:solidFill>
          <a:ln w="12700">
            <a:solidFill>
              <a:srgbClr val="DDE5EE"/>
            </a:solidFill>
            <a:prstDash val="solid"/>
          </a:ln>
        </p:spPr>
        <p:txBody>
          <a:bodyPr/>
          <a:lstStyle/>
          <a:p>
            <a:endParaRPr lang="de-CH"/>
          </a:p>
        </p:txBody>
      </p:sp>
      <p:sp>
        <p:nvSpPr>
          <p:cNvPr id="25" name="Text 23"/>
          <p:cNvSpPr/>
          <p:nvPr/>
        </p:nvSpPr>
        <p:spPr>
          <a:xfrm>
            <a:off x="8010144" y="3950208"/>
            <a:ext cx="3383280" cy="274320"/>
          </a:xfrm>
          <a:prstGeom prst="rect">
            <a:avLst/>
          </a:prstGeom>
          <a:noFill/>
          <a:ln/>
        </p:spPr>
        <p:txBody>
          <a:bodyPr wrap="square" lIns="0" tIns="0" rIns="0" bIns="0" rtlCol="0" anchor="ctr"/>
          <a:lstStyle/>
          <a:p>
            <a:pPr marL="0" indent="0">
              <a:buNone/>
            </a:pPr>
            <a:r>
              <a:rPr lang="en-US" sz="1300" b="1" dirty="0">
                <a:solidFill>
                  <a:srgbClr val="12202E"/>
                </a:solidFill>
                <a:latin typeface="Calibri" pitchFamily="34" charset="0"/>
                <a:ea typeface="Calibri" pitchFamily="34" charset="-122"/>
                <a:cs typeface="Calibri" pitchFamily="34" charset="-120"/>
              </a:rPr>
              <a:t>Scope</a:t>
            </a:r>
            <a:endParaRPr lang="en-US" sz="1300" dirty="0"/>
          </a:p>
        </p:txBody>
      </p:sp>
      <p:sp>
        <p:nvSpPr>
          <p:cNvPr id="26" name="Text 24"/>
          <p:cNvSpPr/>
          <p:nvPr/>
        </p:nvSpPr>
        <p:spPr>
          <a:xfrm>
            <a:off x="8010144" y="4315968"/>
            <a:ext cx="3383280" cy="731520"/>
          </a:xfrm>
          <a:prstGeom prst="rect">
            <a:avLst/>
          </a:prstGeom>
          <a:noFill/>
          <a:ln/>
        </p:spPr>
        <p:txBody>
          <a:bodyPr wrap="square" lIns="0" tIns="0" rIns="0" bIns="0" rtlCol="0" anchor="t"/>
          <a:lstStyle/>
          <a:p>
            <a:pPr marL="0" indent="0">
              <a:lnSpc>
                <a:spcPts val="1600"/>
              </a:lnSpc>
              <a:buNone/>
            </a:pPr>
            <a:r>
              <a:rPr lang="en-US" sz="1150" dirty="0">
                <a:solidFill>
                  <a:srgbClr val="12202E"/>
                </a:solidFill>
                <a:latin typeface="Calibri" pitchFamily="34" charset="0"/>
                <a:ea typeface="Calibri" pitchFamily="34" charset="-122"/>
                <a:cs typeface="Calibri" pitchFamily="34" charset="-120"/>
              </a:rPr>
              <a:t>Adults · elective surgery · wounds with primary closure · any body region.</a:t>
            </a:r>
            <a:endParaRPr lang="en-US" sz="1150" dirty="0"/>
          </a:p>
        </p:txBody>
      </p:sp>
      <p:sp>
        <p:nvSpPr>
          <p:cNvPr id="27" name="Text 25"/>
          <p:cNvSpPr/>
          <p:nvPr/>
        </p:nvSpPr>
        <p:spPr>
          <a:xfrm>
            <a:off x="8010144" y="5029200"/>
            <a:ext cx="3383280" cy="237744"/>
          </a:xfrm>
          <a:prstGeom prst="rect">
            <a:avLst/>
          </a:prstGeom>
          <a:noFill/>
          <a:ln/>
        </p:spPr>
        <p:txBody>
          <a:bodyPr wrap="square" lIns="0" tIns="0" rIns="0" bIns="0" rtlCol="0" anchor="ctr"/>
          <a:lstStyle/>
          <a:p>
            <a:pPr marL="0" indent="0">
              <a:buNone/>
            </a:pPr>
            <a:r>
              <a:rPr lang="en-US" sz="1050" b="1" dirty="0">
                <a:solidFill>
                  <a:srgbClr val="C0281C"/>
                </a:solidFill>
                <a:latin typeface="Calibri" pitchFamily="34" charset="0"/>
                <a:ea typeface="Calibri" pitchFamily="34" charset="-122"/>
                <a:cs typeface="Calibri" pitchFamily="34" charset="-120"/>
              </a:rPr>
              <a:t>Not covered</a:t>
            </a:r>
            <a:endParaRPr lang="en-US" sz="1050" dirty="0"/>
          </a:p>
        </p:txBody>
      </p:sp>
      <p:sp>
        <p:nvSpPr>
          <p:cNvPr id="28" name="Text 26"/>
          <p:cNvSpPr/>
          <p:nvPr/>
        </p:nvSpPr>
        <p:spPr>
          <a:xfrm>
            <a:off x="8010144" y="5303520"/>
            <a:ext cx="3383280" cy="685800"/>
          </a:xfrm>
          <a:prstGeom prst="rect">
            <a:avLst/>
          </a:prstGeom>
          <a:noFill/>
          <a:ln/>
        </p:spPr>
        <p:txBody>
          <a:bodyPr wrap="square" lIns="0" tIns="0" rIns="0" bIns="0" rtlCol="0" anchor="t"/>
          <a:lstStyle/>
          <a:p>
            <a:pPr marL="0" indent="0">
              <a:lnSpc>
                <a:spcPts val="1500"/>
              </a:lnSpc>
              <a:buNone/>
            </a:pPr>
            <a:r>
              <a:rPr lang="en-US" sz="1100" dirty="0">
                <a:solidFill>
                  <a:srgbClr val="5D7186"/>
                </a:solidFill>
                <a:latin typeface="Calibri" pitchFamily="34" charset="0"/>
                <a:ea typeface="Calibri" pitchFamily="34" charset="-122"/>
                <a:cs typeface="Calibri" pitchFamily="34" charset="-120"/>
              </a:rPr>
              <a:t>Chronic wounds · burns · secondary healing · children · contaminated emergencies</a:t>
            </a:r>
            <a:endParaRPr lang="en-US" sz="1100" dirty="0"/>
          </a:p>
        </p:txBody>
      </p:sp>
      <p:sp>
        <p:nvSpPr>
          <p:cNvPr id="29" name="Text 27"/>
          <p:cNvSpPr/>
          <p:nvPr/>
        </p:nvSpPr>
        <p:spPr>
          <a:xfrm>
            <a:off x="566928" y="6089904"/>
            <a:ext cx="11064240" cy="274320"/>
          </a:xfrm>
          <a:prstGeom prst="rect">
            <a:avLst/>
          </a:prstGeom>
          <a:noFill/>
          <a:ln/>
        </p:spPr>
        <p:txBody>
          <a:bodyPr wrap="square" lIns="0" tIns="0" rIns="0" bIns="0" rtlCol="0" anchor="ctr"/>
          <a:lstStyle/>
          <a:p>
            <a:pPr marL="0" indent="0">
              <a:buNone/>
            </a:pPr>
            <a:r>
              <a:rPr lang="en-US" sz="850" i="1" dirty="0">
                <a:solidFill>
                  <a:srgbClr val="5D7186"/>
                </a:solidFill>
                <a:latin typeface="Calibri" pitchFamily="34" charset="0"/>
                <a:ea typeface="Calibri" pitchFamily="34" charset="-122"/>
                <a:cs typeface="Calibri" pitchFamily="34" charset="-120"/>
              </a:rPr>
              <a:t>Woelber et al., Surg Infect 2016;17(5):510–19  ·  ECDC Annual Epidemiological Report 2017  ·  WHO Global Guidelines for the Prevention of SSI  ·  CDC/NHSN SSI Event</a:t>
            </a:r>
            <a:endParaRPr lang="en-US" sz="850" dirty="0"/>
          </a:p>
        </p:txBody>
      </p:sp>
      <p:sp>
        <p:nvSpPr>
          <p:cNvPr id="31" name="Text 11">
            <a:extLst>
              <a:ext uri="{FF2B5EF4-FFF2-40B4-BE49-F238E27FC236}">
                <a16:creationId xmlns:a16="http://schemas.microsoft.com/office/drawing/2014/main" id="{4D76F95C-2467-DA51-1BA6-D9385CD8807E}"/>
              </a:ext>
            </a:extLst>
          </p:cNvPr>
          <p:cNvSpPr/>
          <p:nvPr/>
        </p:nvSpPr>
        <p:spPr>
          <a:xfrm>
            <a:off x="57709" y="6568124"/>
            <a:ext cx="8229600" cy="274320"/>
          </a:xfrm>
          <a:prstGeom prst="rect">
            <a:avLst/>
          </a:prstGeom>
          <a:noFill/>
          <a:ln/>
        </p:spPr>
        <p:txBody>
          <a:bodyPr wrap="square" lIns="0" tIns="0" rIns="0" bIns="0" rtlCol="0" anchor="ctr"/>
          <a:lstStyle/>
          <a:p>
            <a:pPr marL="0" indent="0">
              <a:buNone/>
            </a:pPr>
            <a:r>
              <a:rPr lang="en-US" sz="900">
                <a:solidFill>
                  <a:srgbClr val="8FA3B8"/>
                </a:solidFill>
                <a:latin typeface="Calibri" pitchFamily="34" charset="0"/>
                <a:ea typeface="Calibri" pitchFamily="34" charset="-122"/>
                <a:cs typeface="Calibri" pitchFamily="34" charset="-120"/>
              </a:rPr>
              <a:t>FHNW  ·  MSc Medical Informatics  ·  Clinical Decision Support Systems 2026</a:t>
            </a:r>
            <a:endParaRPr lang="en-US" sz="900"/>
          </a:p>
        </p:txBody>
      </p:sp>
      <p:pic>
        <p:nvPicPr>
          <p:cNvPr id="33" name="Grafik 32">
            <a:extLst>
              <a:ext uri="{FF2B5EF4-FFF2-40B4-BE49-F238E27FC236}">
                <a16:creationId xmlns:a16="http://schemas.microsoft.com/office/drawing/2014/main" id="{325698FF-4697-2504-AF02-6DC3CDF08D3B}"/>
              </a:ext>
            </a:extLst>
          </p:cNvPr>
          <p:cNvPicPr>
            <a:picLocks noChangeAspect="1"/>
          </p:cNvPicPr>
          <p:nvPr/>
        </p:nvPicPr>
        <p:blipFill>
          <a:blip r:embed="rId3">
            <a:duotone>
              <a:schemeClr val="accent3">
                <a:shade val="45000"/>
                <a:satMod val="135000"/>
              </a:schemeClr>
              <a:prstClr val="white"/>
            </a:duotone>
          </a:blip>
          <a:stretch>
            <a:fillRect/>
          </a:stretch>
        </p:blipFill>
        <p:spPr>
          <a:xfrm>
            <a:off x="57709" y="47504"/>
            <a:ext cx="1012490" cy="236248"/>
          </a:xfrm>
          <a:prstGeom prst="rect">
            <a:avLst/>
          </a:prstGeom>
        </p:spPr>
      </p:pic>
      <p:pic>
        <p:nvPicPr>
          <p:cNvPr id="35" name="Grafik 34">
            <a:extLst>
              <a:ext uri="{FF2B5EF4-FFF2-40B4-BE49-F238E27FC236}">
                <a16:creationId xmlns:a16="http://schemas.microsoft.com/office/drawing/2014/main" id="{BCACB8F1-A7F3-5C83-0DCF-244BE16BA624}"/>
              </a:ext>
            </a:extLst>
          </p:cNvPr>
          <p:cNvPicPr>
            <a:picLocks noChangeAspect="1"/>
          </p:cNvPicPr>
          <p:nvPr/>
        </p:nvPicPr>
        <p:blipFill>
          <a:blip r:embed="rId4"/>
          <a:srcRect t="18163" r="15072" b="20387"/>
          <a:stretch>
            <a:fillRect/>
          </a:stretch>
        </p:blipFill>
        <p:spPr>
          <a:xfrm rot="18828797">
            <a:off x="8306068" y="-2058903"/>
            <a:ext cx="2565606" cy="1856357"/>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7680960" cy="219456"/>
          </a:xfrm>
          <a:prstGeom prst="rect">
            <a:avLst/>
          </a:prstGeom>
          <a:noFill/>
          <a:ln/>
        </p:spPr>
        <p:txBody>
          <a:bodyPr wrap="square" lIns="0" tIns="0" rIns="0" bIns="0" rtlCol="0" anchor="ctr"/>
          <a:lstStyle/>
          <a:p>
            <a:pPr marL="0" indent="0">
              <a:buNone/>
            </a:pPr>
            <a:r>
              <a:rPr lang="en-US" sz="1050" b="1" kern="0" spc="160" dirty="0">
                <a:solidFill>
                  <a:srgbClr val="5D7186"/>
                </a:solidFill>
                <a:latin typeface="Calibri" pitchFamily="34" charset="0"/>
                <a:ea typeface="Calibri" pitchFamily="34" charset="-122"/>
                <a:cs typeface="Calibri" pitchFamily="34" charset="-120"/>
              </a:rPr>
              <a:t>PERSONAS &amp; SCENARIOS</a:t>
            </a:r>
            <a:endParaRPr lang="en-US" sz="1050" dirty="0"/>
          </a:p>
        </p:txBody>
      </p:sp>
      <p:sp>
        <p:nvSpPr>
          <p:cNvPr id="3" name="Text 1"/>
          <p:cNvSpPr/>
          <p:nvPr/>
        </p:nvSpPr>
        <p:spPr>
          <a:xfrm>
            <a:off x="566928" y="640080"/>
            <a:ext cx="10607040" cy="658368"/>
          </a:xfrm>
          <a:prstGeom prst="rect">
            <a:avLst/>
          </a:prstGeom>
          <a:noFill/>
          <a:ln/>
        </p:spPr>
        <p:txBody>
          <a:bodyPr wrap="square" lIns="0" tIns="0" rIns="0" bIns="0" rtlCol="0" anchor="t"/>
          <a:lstStyle/>
          <a:p>
            <a:pPr marL="0" indent="0">
              <a:buNone/>
            </a:pPr>
            <a:r>
              <a:rPr lang="en-US" sz="2700" b="1" dirty="0">
                <a:solidFill>
                  <a:srgbClr val="12202E"/>
                </a:solidFill>
                <a:latin typeface="Cambria" pitchFamily="34" charset="0"/>
                <a:ea typeface="Cambria" pitchFamily="34" charset="-122"/>
                <a:cs typeface="Cambria" pitchFamily="34" charset="-120"/>
              </a:rPr>
              <a:t>Three users on three levels</a:t>
            </a:r>
          </a:p>
          <a:p>
            <a:pPr marL="0" indent="0">
              <a:buNone/>
            </a:pPr>
            <a:r>
              <a:rPr lang="en-US" sz="2000" i="1" dirty="0">
                <a:solidFill>
                  <a:srgbClr val="12202E"/>
                </a:solidFill>
                <a:latin typeface="Cambria" pitchFamily="34" charset="0"/>
                <a:ea typeface="Cambria" pitchFamily="34" charset="-122"/>
                <a:cs typeface="Cambria" pitchFamily="34" charset="-120"/>
              </a:rPr>
              <a:t>only one of them operates the app</a:t>
            </a:r>
            <a:endParaRPr lang="en-US" sz="2000" i="1" dirty="0"/>
          </a:p>
        </p:txBody>
      </p:sp>
      <p:sp>
        <p:nvSpPr>
          <p:cNvPr id="4" name="Shape 2"/>
          <p:cNvSpPr/>
          <p:nvPr/>
        </p:nvSpPr>
        <p:spPr>
          <a:xfrm>
            <a:off x="566928" y="1664208"/>
            <a:ext cx="3474720" cy="2121408"/>
          </a:xfrm>
          <a:prstGeom prst="roundRect">
            <a:avLst>
              <a:gd name="adj" fmla="val 3879"/>
            </a:avLst>
          </a:prstGeom>
          <a:solidFill>
            <a:srgbClr val="FFFFFF"/>
          </a:solidFill>
          <a:ln w="12700">
            <a:solidFill>
              <a:srgbClr val="DDE5EE"/>
            </a:solidFill>
            <a:prstDash val="solid"/>
          </a:ln>
        </p:spPr>
        <p:txBody>
          <a:bodyPr/>
          <a:lstStyle/>
          <a:p>
            <a:endParaRPr lang="de-CH"/>
          </a:p>
        </p:txBody>
      </p:sp>
      <p:sp>
        <p:nvSpPr>
          <p:cNvPr id="5" name="Shape 3"/>
          <p:cNvSpPr/>
          <p:nvPr/>
        </p:nvSpPr>
        <p:spPr>
          <a:xfrm>
            <a:off x="822960" y="1865376"/>
            <a:ext cx="420624" cy="420624"/>
          </a:xfrm>
          <a:prstGeom prst="ellipse">
            <a:avLst/>
          </a:prstGeom>
          <a:solidFill>
            <a:srgbClr val="12202E"/>
          </a:solidFill>
          <a:ln w="12700">
            <a:solidFill>
              <a:srgbClr val="12202E"/>
            </a:solidFill>
            <a:prstDash val="solid"/>
          </a:ln>
        </p:spPr>
        <p:txBody>
          <a:bodyPr/>
          <a:lstStyle/>
          <a:p>
            <a:endParaRPr lang="de-CH"/>
          </a:p>
        </p:txBody>
      </p:sp>
      <p:sp>
        <p:nvSpPr>
          <p:cNvPr id="6" name="Text 4"/>
          <p:cNvSpPr/>
          <p:nvPr/>
        </p:nvSpPr>
        <p:spPr>
          <a:xfrm>
            <a:off x="822960" y="1865376"/>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353312" y="1865376"/>
            <a:ext cx="2514600" cy="256032"/>
          </a:xfrm>
          <a:prstGeom prst="rect">
            <a:avLst/>
          </a:prstGeom>
          <a:noFill/>
          <a:ln/>
        </p:spPr>
        <p:txBody>
          <a:bodyPr wrap="square" lIns="0" tIns="0" rIns="0" bIns="0" rtlCol="0" anchor="ctr"/>
          <a:lstStyle/>
          <a:p>
            <a:pPr marL="0" indent="0">
              <a:buNone/>
            </a:pPr>
            <a:r>
              <a:rPr lang="en-US" sz="1300" b="1" dirty="0">
                <a:solidFill>
                  <a:srgbClr val="12202E"/>
                </a:solidFill>
                <a:latin typeface="Calibri" pitchFamily="34" charset="0"/>
                <a:ea typeface="Calibri" pitchFamily="34" charset="-122"/>
                <a:cs typeface="Calibri" pitchFamily="34" charset="-120"/>
              </a:rPr>
              <a:t>Peter Brunner, 58</a:t>
            </a:r>
            <a:endParaRPr lang="en-US" sz="1300" dirty="0"/>
          </a:p>
        </p:txBody>
      </p:sp>
      <p:sp>
        <p:nvSpPr>
          <p:cNvPr id="8" name="Text 6"/>
          <p:cNvSpPr/>
          <p:nvPr/>
        </p:nvSpPr>
        <p:spPr>
          <a:xfrm>
            <a:off x="1353312" y="2103120"/>
            <a:ext cx="2514600" cy="219456"/>
          </a:xfrm>
          <a:prstGeom prst="rect">
            <a:avLst/>
          </a:prstGeom>
          <a:noFill/>
          <a:ln/>
        </p:spPr>
        <p:txBody>
          <a:bodyPr wrap="square" lIns="0" tIns="0" rIns="0" bIns="0" rtlCol="0" anchor="ctr"/>
          <a:lstStyle/>
          <a:p>
            <a:pPr marL="0" indent="0">
              <a:buNone/>
            </a:pPr>
            <a:r>
              <a:rPr lang="en-US" sz="1000" dirty="0">
                <a:solidFill>
                  <a:srgbClr val="5D7186"/>
                </a:solidFill>
                <a:latin typeface="Calibri" pitchFamily="34" charset="0"/>
                <a:ea typeface="Calibri" pitchFamily="34" charset="-122"/>
                <a:cs typeface="Calibri" pitchFamily="34" charset="-120"/>
              </a:rPr>
              <a:t>Patient · primary user</a:t>
            </a:r>
            <a:endParaRPr lang="en-US" sz="1000" dirty="0"/>
          </a:p>
        </p:txBody>
      </p:sp>
      <p:sp>
        <p:nvSpPr>
          <p:cNvPr id="9" name="Text 7"/>
          <p:cNvSpPr/>
          <p:nvPr/>
        </p:nvSpPr>
        <p:spPr>
          <a:xfrm>
            <a:off x="822960" y="2487168"/>
            <a:ext cx="2999232" cy="868680"/>
          </a:xfrm>
          <a:prstGeom prst="rect">
            <a:avLst/>
          </a:prstGeom>
          <a:noFill/>
          <a:ln/>
        </p:spPr>
        <p:txBody>
          <a:bodyPr wrap="square" lIns="0" tIns="0" rIns="0" bIns="0" rtlCol="0" anchor="t"/>
          <a:lstStyle/>
          <a:p>
            <a:pPr marL="0" indent="0">
              <a:lnSpc>
                <a:spcPts val="1500"/>
              </a:lnSpc>
              <a:buNone/>
            </a:pPr>
            <a:r>
              <a:rPr lang="en-US" sz="1100" dirty="0">
                <a:solidFill>
                  <a:srgbClr val="5D7186"/>
                </a:solidFill>
                <a:latin typeface="Calibri" pitchFamily="34" charset="0"/>
                <a:ea typeface="Calibri" pitchFamily="34" charset="-122"/>
                <a:cs typeface="Calibri" pitchFamily="34" charset="-120"/>
              </a:rPr>
              <a:t>Knee replacement 4 days ago. Little medical knowledge, reading glasses, uses everyday apps.</a:t>
            </a:r>
            <a:endParaRPr lang="en-US" sz="1100" dirty="0"/>
          </a:p>
        </p:txBody>
      </p:sp>
      <p:sp>
        <p:nvSpPr>
          <p:cNvPr id="10" name="Text 8"/>
          <p:cNvSpPr/>
          <p:nvPr/>
        </p:nvSpPr>
        <p:spPr>
          <a:xfrm>
            <a:off x="822960" y="3127248"/>
            <a:ext cx="2999232" cy="548640"/>
          </a:xfrm>
          <a:prstGeom prst="rect">
            <a:avLst/>
          </a:prstGeom>
          <a:noFill/>
          <a:ln/>
        </p:spPr>
        <p:txBody>
          <a:bodyPr wrap="square" lIns="0" tIns="0" rIns="0" bIns="0" rtlCol="0" anchor="ctr"/>
          <a:lstStyle/>
          <a:p>
            <a:pPr marL="0" indent="0">
              <a:lnSpc>
                <a:spcPts val="1500"/>
              </a:lnSpc>
              <a:buNone/>
            </a:pPr>
            <a:r>
              <a:rPr lang="en-US" sz="1100" i="1" dirty="0">
                <a:solidFill>
                  <a:srgbClr val="12202E"/>
                </a:solidFill>
                <a:latin typeface="Calibri" pitchFamily="34" charset="0"/>
                <a:ea typeface="Calibri" pitchFamily="34" charset="-122"/>
                <a:cs typeface="Calibri" pitchFamily="34" charset="-120"/>
              </a:rPr>
              <a:t>“I want to know it is fine — without calling anyone.”</a:t>
            </a:r>
            <a:endParaRPr lang="en-US" sz="1100" dirty="0"/>
          </a:p>
        </p:txBody>
      </p:sp>
      <p:sp>
        <p:nvSpPr>
          <p:cNvPr id="11" name="Shape 9"/>
          <p:cNvSpPr/>
          <p:nvPr/>
        </p:nvSpPr>
        <p:spPr>
          <a:xfrm>
            <a:off x="4279392" y="1664208"/>
            <a:ext cx="3474720" cy="2121408"/>
          </a:xfrm>
          <a:prstGeom prst="roundRect">
            <a:avLst>
              <a:gd name="adj" fmla="val 3879"/>
            </a:avLst>
          </a:prstGeom>
          <a:solidFill>
            <a:srgbClr val="FFFFFF"/>
          </a:solidFill>
          <a:ln w="12700">
            <a:solidFill>
              <a:srgbClr val="DDE5EE"/>
            </a:solidFill>
            <a:prstDash val="solid"/>
          </a:ln>
        </p:spPr>
        <p:txBody>
          <a:bodyPr/>
          <a:lstStyle/>
          <a:p>
            <a:endParaRPr lang="de-CH"/>
          </a:p>
        </p:txBody>
      </p:sp>
      <p:sp>
        <p:nvSpPr>
          <p:cNvPr id="12" name="Shape 10"/>
          <p:cNvSpPr/>
          <p:nvPr/>
        </p:nvSpPr>
        <p:spPr>
          <a:xfrm>
            <a:off x="4535424" y="1865376"/>
            <a:ext cx="420624" cy="420624"/>
          </a:xfrm>
          <a:prstGeom prst="ellipse">
            <a:avLst/>
          </a:prstGeom>
          <a:solidFill>
            <a:srgbClr val="12202E"/>
          </a:solidFill>
          <a:ln w="12700">
            <a:solidFill>
              <a:srgbClr val="12202E"/>
            </a:solidFill>
            <a:prstDash val="solid"/>
          </a:ln>
        </p:spPr>
        <p:txBody>
          <a:bodyPr/>
          <a:lstStyle/>
          <a:p>
            <a:endParaRPr lang="de-CH"/>
          </a:p>
        </p:txBody>
      </p:sp>
      <p:sp>
        <p:nvSpPr>
          <p:cNvPr id="13" name="Text 11"/>
          <p:cNvSpPr/>
          <p:nvPr/>
        </p:nvSpPr>
        <p:spPr>
          <a:xfrm>
            <a:off x="4535424" y="1865376"/>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2"/>
          <p:cNvSpPr/>
          <p:nvPr/>
        </p:nvSpPr>
        <p:spPr>
          <a:xfrm>
            <a:off x="5065776" y="1865376"/>
            <a:ext cx="2514600" cy="256032"/>
          </a:xfrm>
          <a:prstGeom prst="rect">
            <a:avLst/>
          </a:prstGeom>
          <a:noFill/>
          <a:ln/>
        </p:spPr>
        <p:txBody>
          <a:bodyPr wrap="square" lIns="0" tIns="0" rIns="0" bIns="0" rtlCol="0" anchor="ctr"/>
          <a:lstStyle/>
          <a:p>
            <a:pPr marL="0" indent="0">
              <a:buNone/>
            </a:pPr>
            <a:r>
              <a:rPr lang="en-US" sz="1300" b="1" dirty="0">
                <a:solidFill>
                  <a:srgbClr val="12202E"/>
                </a:solidFill>
                <a:latin typeface="Calibri" pitchFamily="34" charset="0"/>
                <a:ea typeface="Calibri" pitchFamily="34" charset="-122"/>
                <a:cs typeface="Calibri" pitchFamily="34" charset="-120"/>
              </a:rPr>
              <a:t>Sandra Meier, 34</a:t>
            </a:r>
            <a:endParaRPr lang="en-US" sz="1300" dirty="0"/>
          </a:p>
        </p:txBody>
      </p:sp>
      <p:sp>
        <p:nvSpPr>
          <p:cNvPr id="15" name="Text 13"/>
          <p:cNvSpPr/>
          <p:nvPr/>
        </p:nvSpPr>
        <p:spPr>
          <a:xfrm>
            <a:off x="5065776" y="2103120"/>
            <a:ext cx="2514600" cy="219456"/>
          </a:xfrm>
          <a:prstGeom prst="rect">
            <a:avLst/>
          </a:prstGeom>
          <a:noFill/>
          <a:ln/>
        </p:spPr>
        <p:txBody>
          <a:bodyPr wrap="square" lIns="0" tIns="0" rIns="0" bIns="0" rtlCol="0" anchor="ctr"/>
          <a:lstStyle/>
          <a:p>
            <a:pPr marL="0" indent="0">
              <a:buNone/>
            </a:pPr>
            <a:r>
              <a:rPr lang="en-US" sz="1000" dirty="0">
                <a:solidFill>
                  <a:srgbClr val="5D7186"/>
                </a:solidFill>
                <a:latin typeface="Calibri" pitchFamily="34" charset="0"/>
                <a:ea typeface="Calibri" pitchFamily="34" charset="-122"/>
                <a:cs typeface="Calibri" pitchFamily="34" charset="-120"/>
              </a:rPr>
              <a:t>Practice assistant · secondary</a:t>
            </a:r>
            <a:endParaRPr lang="en-US" sz="1000" dirty="0"/>
          </a:p>
        </p:txBody>
      </p:sp>
      <p:sp>
        <p:nvSpPr>
          <p:cNvPr id="16" name="Text 14"/>
          <p:cNvSpPr/>
          <p:nvPr/>
        </p:nvSpPr>
        <p:spPr>
          <a:xfrm>
            <a:off x="4535424" y="2487168"/>
            <a:ext cx="2999232" cy="868680"/>
          </a:xfrm>
          <a:prstGeom prst="rect">
            <a:avLst/>
          </a:prstGeom>
          <a:noFill/>
          <a:ln/>
        </p:spPr>
        <p:txBody>
          <a:bodyPr wrap="square" lIns="0" tIns="0" rIns="0" bIns="0" rtlCol="0" anchor="t"/>
          <a:lstStyle/>
          <a:p>
            <a:pPr marL="0" indent="0">
              <a:lnSpc>
                <a:spcPts val="1500"/>
              </a:lnSpc>
              <a:buNone/>
            </a:pPr>
            <a:r>
              <a:rPr lang="en-US" sz="1100" dirty="0">
                <a:solidFill>
                  <a:srgbClr val="5D7186"/>
                </a:solidFill>
                <a:latin typeface="Calibri" pitchFamily="34" charset="0"/>
                <a:ea typeface="Calibri" pitchFamily="34" charset="-122"/>
                <a:cs typeface="Calibri" pitchFamily="34" charset="-120"/>
              </a:rPr>
              <a:t>Triages calls and messages all day. High workload, no time for guessing games.</a:t>
            </a:r>
            <a:endParaRPr lang="en-US" sz="1100" dirty="0"/>
          </a:p>
        </p:txBody>
      </p:sp>
      <p:sp>
        <p:nvSpPr>
          <p:cNvPr id="17" name="Text 15"/>
          <p:cNvSpPr/>
          <p:nvPr/>
        </p:nvSpPr>
        <p:spPr>
          <a:xfrm>
            <a:off x="4535424" y="3127248"/>
            <a:ext cx="2999232" cy="548640"/>
          </a:xfrm>
          <a:prstGeom prst="rect">
            <a:avLst/>
          </a:prstGeom>
          <a:noFill/>
          <a:ln/>
        </p:spPr>
        <p:txBody>
          <a:bodyPr wrap="square" lIns="0" tIns="0" rIns="0" bIns="0" rtlCol="0" anchor="ctr"/>
          <a:lstStyle/>
          <a:p>
            <a:pPr marL="0" indent="0">
              <a:lnSpc>
                <a:spcPts val="1500"/>
              </a:lnSpc>
              <a:buNone/>
            </a:pPr>
            <a:r>
              <a:rPr lang="en-US" sz="1100" i="1" dirty="0">
                <a:solidFill>
                  <a:srgbClr val="12202E"/>
                </a:solidFill>
                <a:latin typeface="Calibri" pitchFamily="34" charset="0"/>
                <a:ea typeface="Calibri" pitchFamily="34" charset="-122"/>
                <a:cs typeface="Calibri" pitchFamily="34" charset="-120"/>
              </a:rPr>
              <a:t>“I need to see in 10 seconds whether this needs an appointment today.”</a:t>
            </a:r>
            <a:endParaRPr lang="en-US" sz="1100" dirty="0"/>
          </a:p>
        </p:txBody>
      </p:sp>
      <p:sp>
        <p:nvSpPr>
          <p:cNvPr id="18" name="Shape 16"/>
          <p:cNvSpPr/>
          <p:nvPr/>
        </p:nvSpPr>
        <p:spPr>
          <a:xfrm>
            <a:off x="7991856" y="1664208"/>
            <a:ext cx="3474720" cy="2121408"/>
          </a:xfrm>
          <a:prstGeom prst="roundRect">
            <a:avLst>
              <a:gd name="adj" fmla="val 3879"/>
            </a:avLst>
          </a:prstGeom>
          <a:solidFill>
            <a:srgbClr val="FFFFFF"/>
          </a:solidFill>
          <a:ln w="12700">
            <a:solidFill>
              <a:srgbClr val="DDE5EE"/>
            </a:solidFill>
            <a:prstDash val="solid"/>
          </a:ln>
        </p:spPr>
        <p:txBody>
          <a:bodyPr/>
          <a:lstStyle/>
          <a:p>
            <a:endParaRPr lang="de-CH"/>
          </a:p>
        </p:txBody>
      </p:sp>
      <p:sp>
        <p:nvSpPr>
          <p:cNvPr id="19" name="Shape 17"/>
          <p:cNvSpPr/>
          <p:nvPr/>
        </p:nvSpPr>
        <p:spPr>
          <a:xfrm>
            <a:off x="8247888" y="1865376"/>
            <a:ext cx="420624" cy="420624"/>
          </a:xfrm>
          <a:prstGeom prst="ellipse">
            <a:avLst/>
          </a:prstGeom>
          <a:solidFill>
            <a:srgbClr val="12202E"/>
          </a:solidFill>
          <a:ln w="12700">
            <a:solidFill>
              <a:srgbClr val="12202E"/>
            </a:solidFill>
            <a:prstDash val="solid"/>
          </a:ln>
        </p:spPr>
        <p:txBody>
          <a:bodyPr/>
          <a:lstStyle/>
          <a:p>
            <a:endParaRPr lang="de-CH"/>
          </a:p>
        </p:txBody>
      </p:sp>
      <p:sp>
        <p:nvSpPr>
          <p:cNvPr id="20" name="Text 18"/>
          <p:cNvSpPr/>
          <p:nvPr/>
        </p:nvSpPr>
        <p:spPr>
          <a:xfrm>
            <a:off x="8247888" y="1865376"/>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1" name="Text 19"/>
          <p:cNvSpPr/>
          <p:nvPr/>
        </p:nvSpPr>
        <p:spPr>
          <a:xfrm>
            <a:off x="8778240" y="1865376"/>
            <a:ext cx="2514600" cy="256032"/>
          </a:xfrm>
          <a:prstGeom prst="rect">
            <a:avLst/>
          </a:prstGeom>
          <a:noFill/>
          <a:ln/>
        </p:spPr>
        <p:txBody>
          <a:bodyPr wrap="square" lIns="0" tIns="0" rIns="0" bIns="0" rtlCol="0" anchor="ctr"/>
          <a:lstStyle/>
          <a:p>
            <a:pPr marL="0" indent="0">
              <a:buNone/>
            </a:pPr>
            <a:r>
              <a:rPr lang="en-US" sz="1300" b="1" dirty="0">
                <a:solidFill>
                  <a:srgbClr val="12202E"/>
                </a:solidFill>
                <a:latin typeface="Calibri" pitchFamily="34" charset="0"/>
                <a:ea typeface="Calibri" pitchFamily="34" charset="-122"/>
                <a:cs typeface="Calibri" pitchFamily="34" charset="-120"/>
              </a:rPr>
              <a:t>Dr Anna Keller, 45</a:t>
            </a:r>
            <a:endParaRPr lang="en-US" sz="1300" dirty="0"/>
          </a:p>
        </p:txBody>
      </p:sp>
      <p:sp>
        <p:nvSpPr>
          <p:cNvPr id="22" name="Text 20"/>
          <p:cNvSpPr/>
          <p:nvPr/>
        </p:nvSpPr>
        <p:spPr>
          <a:xfrm>
            <a:off x="8778240" y="2103120"/>
            <a:ext cx="2514600" cy="219456"/>
          </a:xfrm>
          <a:prstGeom prst="rect">
            <a:avLst/>
          </a:prstGeom>
          <a:noFill/>
          <a:ln/>
        </p:spPr>
        <p:txBody>
          <a:bodyPr wrap="square" lIns="0" tIns="0" rIns="0" bIns="0" rtlCol="0" anchor="ctr"/>
          <a:lstStyle/>
          <a:p>
            <a:pPr marL="0" indent="0">
              <a:buNone/>
            </a:pPr>
            <a:r>
              <a:rPr lang="en-US" sz="1000" dirty="0">
                <a:solidFill>
                  <a:srgbClr val="5D7186"/>
                </a:solidFill>
                <a:latin typeface="Calibri" pitchFamily="34" charset="0"/>
                <a:ea typeface="Calibri" pitchFamily="34" charset="-122"/>
                <a:cs typeface="Calibri" pitchFamily="34" charset="-120"/>
              </a:rPr>
              <a:t>Surgeon · tertiary</a:t>
            </a:r>
            <a:endParaRPr lang="en-US" sz="1000" dirty="0"/>
          </a:p>
        </p:txBody>
      </p:sp>
      <p:sp>
        <p:nvSpPr>
          <p:cNvPr id="23" name="Text 21"/>
          <p:cNvSpPr/>
          <p:nvPr/>
        </p:nvSpPr>
        <p:spPr>
          <a:xfrm>
            <a:off x="8247888" y="2487168"/>
            <a:ext cx="2999232" cy="868680"/>
          </a:xfrm>
          <a:prstGeom prst="rect">
            <a:avLst/>
          </a:prstGeom>
          <a:noFill/>
          <a:ln/>
        </p:spPr>
        <p:txBody>
          <a:bodyPr wrap="square" lIns="0" tIns="0" rIns="0" bIns="0" rtlCol="0" anchor="t"/>
          <a:lstStyle/>
          <a:p>
            <a:pPr marL="0" indent="0">
              <a:lnSpc>
                <a:spcPts val="1500"/>
              </a:lnSpc>
              <a:buNone/>
            </a:pPr>
            <a:r>
              <a:rPr lang="en-US" sz="1100" dirty="0">
                <a:solidFill>
                  <a:srgbClr val="5D7186"/>
                </a:solidFill>
                <a:latin typeface="Calibri" pitchFamily="34" charset="0"/>
                <a:ea typeface="Calibri" pitchFamily="34" charset="-122"/>
                <a:cs typeface="Calibri" pitchFamily="34" charset="-120"/>
              </a:rPr>
              <a:t>Operates and runs follow-ups. Wants the trajectory, not a retrospective recollection.</a:t>
            </a:r>
            <a:endParaRPr lang="en-US" sz="1100" dirty="0"/>
          </a:p>
        </p:txBody>
      </p:sp>
      <p:sp>
        <p:nvSpPr>
          <p:cNvPr id="24" name="Text 22"/>
          <p:cNvSpPr/>
          <p:nvPr/>
        </p:nvSpPr>
        <p:spPr>
          <a:xfrm>
            <a:off x="8247888" y="3127248"/>
            <a:ext cx="2999232" cy="548640"/>
          </a:xfrm>
          <a:prstGeom prst="rect">
            <a:avLst/>
          </a:prstGeom>
          <a:noFill/>
          <a:ln/>
        </p:spPr>
        <p:txBody>
          <a:bodyPr wrap="square" lIns="0" tIns="0" rIns="0" bIns="0" rtlCol="0" anchor="ctr"/>
          <a:lstStyle/>
          <a:p>
            <a:pPr marL="0" indent="0">
              <a:lnSpc>
                <a:spcPts val="1500"/>
              </a:lnSpc>
              <a:buNone/>
            </a:pPr>
            <a:r>
              <a:rPr lang="en-US" sz="1100" i="1" dirty="0">
                <a:solidFill>
                  <a:srgbClr val="12202E"/>
                </a:solidFill>
                <a:latin typeface="Calibri" pitchFamily="34" charset="0"/>
                <a:ea typeface="Calibri" pitchFamily="34" charset="-122"/>
                <a:cs typeface="Calibri" pitchFamily="34" charset="-120"/>
              </a:rPr>
              <a:t>“I want the full trend without opening every single answer.”</a:t>
            </a:r>
            <a:endParaRPr lang="en-US" sz="1100" dirty="0"/>
          </a:p>
        </p:txBody>
      </p:sp>
      <p:sp>
        <p:nvSpPr>
          <p:cNvPr id="25" name="Shape 23"/>
          <p:cNvSpPr/>
          <p:nvPr/>
        </p:nvSpPr>
        <p:spPr>
          <a:xfrm>
            <a:off x="566928" y="4315968"/>
            <a:ext cx="11064240" cy="1700784"/>
          </a:xfrm>
          <a:prstGeom prst="roundRect">
            <a:avLst>
              <a:gd name="adj" fmla="val 4839"/>
            </a:avLst>
          </a:prstGeom>
          <a:solidFill>
            <a:srgbClr val="E8F6EE"/>
          </a:solidFill>
          <a:ln w="12700">
            <a:solidFill>
              <a:srgbClr val="A8D9BF"/>
            </a:solidFill>
            <a:prstDash val="solid"/>
          </a:ln>
        </p:spPr>
        <p:txBody>
          <a:bodyPr/>
          <a:lstStyle/>
          <a:p>
            <a:endParaRPr lang="de-CH"/>
          </a:p>
        </p:txBody>
      </p:sp>
      <p:sp>
        <p:nvSpPr>
          <p:cNvPr id="26" name="Shape 24"/>
          <p:cNvSpPr/>
          <p:nvPr/>
        </p:nvSpPr>
        <p:spPr>
          <a:xfrm>
            <a:off x="841248" y="4535424"/>
            <a:ext cx="1371600" cy="256032"/>
          </a:xfrm>
          <a:prstGeom prst="roundRect">
            <a:avLst>
              <a:gd name="adj" fmla="val 50000"/>
            </a:avLst>
          </a:prstGeom>
          <a:solidFill>
            <a:srgbClr val="FFFFFF"/>
          </a:solidFill>
          <a:ln w="12700">
            <a:solidFill>
              <a:srgbClr val="FFFFFF"/>
            </a:solidFill>
            <a:prstDash val="solid"/>
          </a:ln>
        </p:spPr>
        <p:txBody>
          <a:bodyPr/>
          <a:lstStyle/>
          <a:p>
            <a:endParaRPr lang="de-CH"/>
          </a:p>
        </p:txBody>
      </p:sp>
      <p:sp>
        <p:nvSpPr>
          <p:cNvPr id="27" name="Text 25"/>
          <p:cNvSpPr/>
          <p:nvPr/>
        </p:nvSpPr>
        <p:spPr>
          <a:xfrm>
            <a:off x="841248" y="4535424"/>
            <a:ext cx="1371600" cy="256032"/>
          </a:xfrm>
          <a:prstGeom prst="rect">
            <a:avLst/>
          </a:prstGeom>
          <a:noFill/>
          <a:ln/>
        </p:spPr>
        <p:txBody>
          <a:bodyPr wrap="square" lIns="0" tIns="0" rIns="0" bIns="0" rtlCol="0" anchor="ctr"/>
          <a:lstStyle/>
          <a:p>
            <a:pPr marL="0" indent="0" algn="ctr">
              <a:buNone/>
            </a:pPr>
            <a:r>
              <a:rPr lang="en-US" sz="950" b="1" dirty="0">
                <a:solidFill>
                  <a:srgbClr val="1A7F4B"/>
                </a:solidFill>
                <a:latin typeface="Calibri" pitchFamily="34" charset="0"/>
                <a:ea typeface="Calibri" pitchFamily="34" charset="-122"/>
                <a:cs typeface="Calibri" pitchFamily="34" charset="-120"/>
              </a:rPr>
              <a:t>SCENARIO A</a:t>
            </a:r>
            <a:endParaRPr lang="en-US" sz="950" dirty="0"/>
          </a:p>
        </p:txBody>
      </p:sp>
      <p:sp>
        <p:nvSpPr>
          <p:cNvPr id="28" name="Text 26"/>
          <p:cNvSpPr/>
          <p:nvPr/>
        </p:nvSpPr>
        <p:spPr>
          <a:xfrm>
            <a:off x="2350008" y="4535424"/>
            <a:ext cx="2743200" cy="256032"/>
          </a:xfrm>
          <a:prstGeom prst="rect">
            <a:avLst/>
          </a:prstGeom>
          <a:noFill/>
          <a:ln/>
        </p:spPr>
        <p:txBody>
          <a:bodyPr wrap="square" lIns="0" tIns="0" rIns="0" bIns="0" rtlCol="0" anchor="ctr"/>
          <a:lstStyle/>
          <a:p>
            <a:pPr marL="0" indent="0">
              <a:buNone/>
            </a:pPr>
            <a:r>
              <a:rPr lang="en-US" sz="1250" b="1" dirty="0">
                <a:solidFill>
                  <a:srgbClr val="1A7F4B"/>
                </a:solidFill>
                <a:latin typeface="Calibri" pitchFamily="34" charset="0"/>
                <a:ea typeface="Calibri" pitchFamily="34" charset="-122"/>
                <a:cs typeface="Calibri" pitchFamily="34" charset="-120"/>
              </a:rPr>
              <a:t>Day 6 — the scab</a:t>
            </a:r>
            <a:endParaRPr lang="en-US" sz="1250" dirty="0"/>
          </a:p>
        </p:txBody>
      </p:sp>
      <p:sp>
        <p:nvSpPr>
          <p:cNvPr id="29" name="Text 27"/>
          <p:cNvSpPr/>
          <p:nvPr/>
        </p:nvSpPr>
        <p:spPr>
          <a:xfrm>
            <a:off x="841248" y="4882896"/>
            <a:ext cx="10515600" cy="960120"/>
          </a:xfrm>
          <a:prstGeom prst="rect">
            <a:avLst/>
          </a:prstGeom>
          <a:noFill/>
          <a:ln/>
        </p:spPr>
        <p:txBody>
          <a:bodyPr wrap="square" lIns="0" tIns="0" rIns="0" bIns="0" rtlCol="0" anchor="t"/>
          <a:lstStyle/>
          <a:p>
            <a:pPr marL="0" indent="0">
              <a:lnSpc>
                <a:spcPts val="1700"/>
              </a:lnSpc>
              <a:buNone/>
            </a:pPr>
            <a:r>
              <a:rPr lang="en-US" sz="1200" dirty="0">
                <a:solidFill>
                  <a:srgbClr val="12202E"/>
                </a:solidFill>
                <a:latin typeface="Calibri" pitchFamily="34" charset="0"/>
                <a:ea typeface="Calibri" pitchFamily="34" charset="-122"/>
                <a:cs typeface="Calibri" pitchFamily="34" charset="-120"/>
              </a:rPr>
              <a:t>36.9 °C, pain 2/10 and better than yesterday — but a brown scab has formed, and Peter's brother once had a wound infection. WundCheck returns GREEN with “a scab is a normal sign of healing — do not pick it off”. Peter does not call the clinic. The entry still goes into the record, so Dr Keller sees an unbroken trajectory at the suture removal appointment.</a:t>
            </a:r>
            <a:endParaRPr lang="en-US" sz="1200" dirty="0"/>
          </a:p>
        </p:txBody>
      </p:sp>
      <p:sp>
        <p:nvSpPr>
          <p:cNvPr id="30" name="Text 28"/>
          <p:cNvSpPr/>
          <p:nvPr/>
        </p:nvSpPr>
        <p:spPr>
          <a:xfrm>
            <a:off x="841248" y="5742432"/>
            <a:ext cx="10515600" cy="256032"/>
          </a:xfrm>
          <a:prstGeom prst="rect">
            <a:avLst/>
          </a:prstGeom>
          <a:noFill/>
          <a:ln/>
        </p:spPr>
        <p:txBody>
          <a:bodyPr wrap="square" lIns="0" tIns="0" rIns="0" bIns="0" rtlCol="0" anchor="ctr"/>
          <a:lstStyle/>
          <a:p>
            <a:pPr marL="0" indent="0">
              <a:buNone/>
            </a:pPr>
            <a:r>
              <a:rPr lang="en-US" sz="1150" b="1" i="1" dirty="0">
                <a:solidFill>
                  <a:srgbClr val="1A7F4B"/>
                </a:solidFill>
                <a:latin typeface="Calibri" pitchFamily="34" charset="0"/>
                <a:ea typeface="Calibri" pitchFamily="34" charset="-122"/>
                <a:cs typeface="Calibri" pitchFamily="34" charset="-120"/>
              </a:rPr>
              <a:t>The call that is avoided is worth as much as the one that is triggered.</a:t>
            </a:r>
            <a:endParaRPr lang="en-US" sz="1150" dirty="0"/>
          </a:p>
        </p:txBody>
      </p:sp>
      <p:sp>
        <p:nvSpPr>
          <p:cNvPr id="32" name="Text 11">
            <a:extLst>
              <a:ext uri="{FF2B5EF4-FFF2-40B4-BE49-F238E27FC236}">
                <a16:creationId xmlns:a16="http://schemas.microsoft.com/office/drawing/2014/main" id="{F08C4DC9-326F-38D3-5C8B-F8DB3E377204}"/>
              </a:ext>
            </a:extLst>
          </p:cNvPr>
          <p:cNvSpPr/>
          <p:nvPr/>
        </p:nvSpPr>
        <p:spPr>
          <a:xfrm>
            <a:off x="57709" y="6568124"/>
            <a:ext cx="8229600" cy="274320"/>
          </a:xfrm>
          <a:prstGeom prst="rect">
            <a:avLst/>
          </a:prstGeom>
          <a:noFill/>
          <a:ln/>
        </p:spPr>
        <p:txBody>
          <a:bodyPr wrap="square" lIns="0" tIns="0" rIns="0" bIns="0" rtlCol="0" anchor="ctr"/>
          <a:lstStyle/>
          <a:p>
            <a:pPr marL="0" indent="0">
              <a:buNone/>
            </a:pPr>
            <a:r>
              <a:rPr lang="en-US" sz="900">
                <a:solidFill>
                  <a:srgbClr val="8FA3B8"/>
                </a:solidFill>
                <a:latin typeface="Calibri" pitchFamily="34" charset="0"/>
                <a:ea typeface="Calibri" pitchFamily="34" charset="-122"/>
                <a:cs typeface="Calibri" pitchFamily="34" charset="-120"/>
              </a:rPr>
              <a:t>FHNW  ·  MSc Medical Informatics  ·  Clinical Decision Support Systems 2026</a:t>
            </a:r>
            <a:endParaRPr lang="en-US" sz="900"/>
          </a:p>
        </p:txBody>
      </p:sp>
      <p:pic>
        <p:nvPicPr>
          <p:cNvPr id="34" name="Grafik 33">
            <a:extLst>
              <a:ext uri="{FF2B5EF4-FFF2-40B4-BE49-F238E27FC236}">
                <a16:creationId xmlns:a16="http://schemas.microsoft.com/office/drawing/2014/main" id="{EA3319A9-1934-4BAC-0587-397D09262995}"/>
              </a:ext>
            </a:extLst>
          </p:cNvPr>
          <p:cNvPicPr>
            <a:picLocks noChangeAspect="1"/>
          </p:cNvPicPr>
          <p:nvPr/>
        </p:nvPicPr>
        <p:blipFill>
          <a:blip r:embed="rId3">
            <a:duotone>
              <a:schemeClr val="accent3">
                <a:shade val="45000"/>
                <a:satMod val="135000"/>
              </a:schemeClr>
              <a:prstClr val="white"/>
            </a:duotone>
          </a:blip>
          <a:stretch>
            <a:fillRect/>
          </a:stretch>
        </p:blipFill>
        <p:spPr>
          <a:xfrm>
            <a:off x="57709" y="47504"/>
            <a:ext cx="1012490" cy="23624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7680960" cy="219456"/>
          </a:xfrm>
          <a:prstGeom prst="rect">
            <a:avLst/>
          </a:prstGeom>
          <a:noFill/>
          <a:ln/>
        </p:spPr>
        <p:txBody>
          <a:bodyPr wrap="square" lIns="0" tIns="0" rIns="0" bIns="0" rtlCol="0" anchor="ctr"/>
          <a:lstStyle/>
          <a:p>
            <a:pPr marL="0" indent="0">
              <a:buNone/>
            </a:pPr>
            <a:r>
              <a:rPr lang="en-US" sz="1050" b="1" kern="0" spc="160" dirty="0">
                <a:solidFill>
                  <a:srgbClr val="5D7186"/>
                </a:solidFill>
                <a:latin typeface="Calibri" pitchFamily="34" charset="0"/>
                <a:ea typeface="Calibri" pitchFamily="34" charset="-122"/>
                <a:cs typeface="Calibri" pitchFamily="34" charset="-120"/>
              </a:rPr>
              <a:t>GUIDELINES &amp; EVIDENCE</a:t>
            </a:r>
            <a:endParaRPr lang="en-US" sz="1050" dirty="0"/>
          </a:p>
        </p:txBody>
      </p:sp>
      <p:sp>
        <p:nvSpPr>
          <p:cNvPr id="3" name="Text 1"/>
          <p:cNvSpPr/>
          <p:nvPr/>
        </p:nvSpPr>
        <p:spPr>
          <a:xfrm>
            <a:off x="566928" y="640080"/>
            <a:ext cx="8412480" cy="658368"/>
          </a:xfrm>
          <a:prstGeom prst="rect">
            <a:avLst/>
          </a:prstGeom>
          <a:noFill/>
          <a:ln/>
        </p:spPr>
        <p:txBody>
          <a:bodyPr wrap="square" lIns="0" tIns="0" rIns="0" bIns="0" rtlCol="0" anchor="t"/>
          <a:lstStyle/>
          <a:p>
            <a:pPr marL="0" indent="0">
              <a:buNone/>
            </a:pPr>
            <a:r>
              <a:rPr lang="en-US" sz="2700" b="1" dirty="0">
                <a:solidFill>
                  <a:srgbClr val="12202E"/>
                </a:solidFill>
                <a:latin typeface="Cambria" pitchFamily="34" charset="0"/>
                <a:ea typeface="Cambria" pitchFamily="34" charset="-122"/>
                <a:cs typeface="Cambria" pitchFamily="34" charset="-120"/>
              </a:rPr>
              <a:t>Four sources, three roles</a:t>
            </a:r>
          </a:p>
          <a:p>
            <a:pPr marL="0" indent="0">
              <a:buNone/>
            </a:pPr>
            <a:r>
              <a:rPr lang="en-US" sz="2000" i="1" dirty="0">
                <a:solidFill>
                  <a:srgbClr val="12202E"/>
                </a:solidFill>
                <a:latin typeface="Cambria" pitchFamily="34" charset="0"/>
                <a:ea typeface="Cambria" pitchFamily="34" charset="-122"/>
                <a:cs typeface="Cambria" pitchFamily="34" charset="-120"/>
              </a:rPr>
              <a:t>and one we deliberately discarded</a:t>
            </a:r>
            <a:endParaRPr lang="en-US" sz="2000" i="1" dirty="0"/>
          </a:p>
        </p:txBody>
      </p:sp>
      <p:sp>
        <p:nvSpPr>
          <p:cNvPr id="15" name="Shape 13"/>
          <p:cNvSpPr/>
          <p:nvPr/>
        </p:nvSpPr>
        <p:spPr>
          <a:xfrm>
            <a:off x="566928" y="1664208"/>
            <a:ext cx="11064240" cy="658368"/>
          </a:xfrm>
          <a:prstGeom prst="roundRect">
            <a:avLst>
              <a:gd name="adj" fmla="val 12500"/>
            </a:avLst>
          </a:prstGeom>
          <a:solidFill>
            <a:srgbClr val="FFFFFF"/>
          </a:solidFill>
          <a:ln w="12700">
            <a:solidFill>
              <a:srgbClr val="DDE5EE"/>
            </a:solidFill>
            <a:prstDash val="solid"/>
          </a:ln>
        </p:spPr>
        <p:txBody>
          <a:bodyPr/>
          <a:lstStyle/>
          <a:p>
            <a:endParaRPr lang="de-CH"/>
          </a:p>
        </p:txBody>
      </p:sp>
      <p:sp>
        <p:nvSpPr>
          <p:cNvPr id="16" name="Text 14"/>
          <p:cNvSpPr/>
          <p:nvPr/>
        </p:nvSpPr>
        <p:spPr>
          <a:xfrm>
            <a:off x="804672" y="1737360"/>
            <a:ext cx="1965960" cy="512064"/>
          </a:xfrm>
          <a:prstGeom prst="rect">
            <a:avLst/>
          </a:prstGeom>
          <a:noFill/>
          <a:ln/>
        </p:spPr>
        <p:txBody>
          <a:bodyPr wrap="square" lIns="0" tIns="0" rIns="0" bIns="0" rtlCol="0" anchor="ctr"/>
          <a:lstStyle/>
          <a:p>
            <a:pPr marL="0" indent="0">
              <a:buNone/>
            </a:pPr>
            <a:r>
              <a:rPr lang="en-US" sz="1250" b="1" dirty="0">
                <a:solidFill>
                  <a:srgbClr val="12202E"/>
                </a:solidFill>
                <a:latin typeface="Calibri" pitchFamily="34" charset="0"/>
                <a:ea typeface="Calibri" pitchFamily="34" charset="-122"/>
                <a:cs typeface="Calibri" pitchFamily="34" charset="-120"/>
              </a:rPr>
              <a:t>CDC / NHSN</a:t>
            </a:r>
            <a:endParaRPr lang="en-US" sz="1250" dirty="0"/>
          </a:p>
        </p:txBody>
      </p:sp>
      <p:sp>
        <p:nvSpPr>
          <p:cNvPr id="17" name="Text 15"/>
          <p:cNvSpPr/>
          <p:nvPr/>
        </p:nvSpPr>
        <p:spPr>
          <a:xfrm>
            <a:off x="2807208" y="1737360"/>
            <a:ext cx="1783080" cy="512064"/>
          </a:xfrm>
          <a:prstGeom prst="rect">
            <a:avLst/>
          </a:prstGeom>
          <a:noFill/>
          <a:ln/>
        </p:spPr>
        <p:txBody>
          <a:bodyPr wrap="square" lIns="0" tIns="0" rIns="0" bIns="0" rtlCol="0" anchor="ctr"/>
          <a:lstStyle/>
          <a:p>
            <a:pPr marL="0" indent="0">
              <a:buNone/>
            </a:pPr>
            <a:r>
              <a:rPr lang="en-US" sz="1050" dirty="0">
                <a:solidFill>
                  <a:srgbClr val="5D7186"/>
                </a:solidFill>
                <a:latin typeface="Calibri" pitchFamily="34" charset="0"/>
                <a:ea typeface="Calibri" pitchFamily="34" charset="-122"/>
                <a:cs typeface="Calibri" pitchFamily="34" charset="-120"/>
              </a:rPr>
              <a:t>Normative — definition</a:t>
            </a:r>
            <a:endParaRPr lang="en-US" sz="1050" dirty="0"/>
          </a:p>
        </p:txBody>
      </p:sp>
      <p:sp>
        <p:nvSpPr>
          <p:cNvPr id="18" name="Text 16"/>
          <p:cNvSpPr/>
          <p:nvPr/>
        </p:nvSpPr>
        <p:spPr>
          <a:xfrm>
            <a:off x="4681728" y="1737360"/>
            <a:ext cx="5120640" cy="512064"/>
          </a:xfrm>
          <a:prstGeom prst="rect">
            <a:avLst/>
          </a:prstGeom>
          <a:noFill/>
          <a:ln/>
        </p:spPr>
        <p:txBody>
          <a:bodyPr wrap="square" lIns="0" tIns="0" rIns="0" bIns="0" rtlCol="0" anchor="ctr"/>
          <a:lstStyle/>
          <a:p>
            <a:pPr marL="0" indent="0">
              <a:buNone/>
            </a:pPr>
            <a:r>
              <a:rPr lang="en-US" sz="1150" dirty="0">
                <a:solidFill>
                  <a:srgbClr val="12202E"/>
                </a:solidFill>
                <a:latin typeface="Calibri" pitchFamily="34" charset="0"/>
                <a:ea typeface="Calibri" pitchFamily="34" charset="-122"/>
                <a:cs typeface="Calibri" pitchFamily="34" charset="-120"/>
              </a:rPr>
              <a:t>Superficial vs. deep incisional SSI, 30/90-day window, the five clinical signs</a:t>
            </a:r>
            <a:endParaRPr lang="en-US" sz="1150" dirty="0"/>
          </a:p>
        </p:txBody>
      </p:sp>
      <p:sp>
        <p:nvSpPr>
          <p:cNvPr id="19" name="Text 17"/>
          <p:cNvSpPr/>
          <p:nvPr/>
        </p:nvSpPr>
        <p:spPr>
          <a:xfrm>
            <a:off x="9893808" y="1737360"/>
            <a:ext cx="1554480" cy="512064"/>
          </a:xfrm>
          <a:prstGeom prst="rect">
            <a:avLst/>
          </a:prstGeom>
          <a:noFill/>
          <a:ln/>
        </p:spPr>
        <p:txBody>
          <a:bodyPr wrap="square" lIns="0" tIns="0" rIns="0" bIns="0" rtlCol="0" anchor="ctr"/>
          <a:lstStyle/>
          <a:p>
            <a:pPr marL="0" indent="0" algn="r">
              <a:buNone/>
            </a:pPr>
            <a:r>
              <a:rPr lang="en-US" sz="1000" i="1" dirty="0">
                <a:solidFill>
                  <a:srgbClr val="5D7186"/>
                </a:solidFill>
                <a:latin typeface="Calibri" pitchFamily="34" charset="0"/>
                <a:ea typeface="Calibri" pitchFamily="34" charset="-122"/>
                <a:cs typeface="Calibri" pitchFamily="34" charset="-120"/>
              </a:rPr>
              <a:t>Surveillance definition</a:t>
            </a:r>
            <a:endParaRPr lang="en-US" sz="1000" dirty="0"/>
          </a:p>
        </p:txBody>
      </p:sp>
      <p:sp>
        <p:nvSpPr>
          <p:cNvPr id="20" name="Shape 18"/>
          <p:cNvSpPr/>
          <p:nvPr/>
        </p:nvSpPr>
        <p:spPr>
          <a:xfrm>
            <a:off x="566928" y="2423160"/>
            <a:ext cx="11064240" cy="658368"/>
          </a:xfrm>
          <a:prstGeom prst="roundRect">
            <a:avLst>
              <a:gd name="adj" fmla="val 12500"/>
            </a:avLst>
          </a:prstGeom>
          <a:solidFill>
            <a:srgbClr val="FFFFFF"/>
          </a:solidFill>
          <a:ln w="12700">
            <a:solidFill>
              <a:srgbClr val="DDE5EE"/>
            </a:solidFill>
            <a:prstDash val="solid"/>
          </a:ln>
        </p:spPr>
        <p:txBody>
          <a:bodyPr/>
          <a:lstStyle/>
          <a:p>
            <a:endParaRPr lang="de-CH"/>
          </a:p>
        </p:txBody>
      </p:sp>
      <p:sp>
        <p:nvSpPr>
          <p:cNvPr id="21" name="Text 19"/>
          <p:cNvSpPr/>
          <p:nvPr/>
        </p:nvSpPr>
        <p:spPr>
          <a:xfrm>
            <a:off x="804672" y="2496312"/>
            <a:ext cx="1965960" cy="512064"/>
          </a:xfrm>
          <a:prstGeom prst="rect">
            <a:avLst/>
          </a:prstGeom>
          <a:noFill/>
          <a:ln/>
        </p:spPr>
        <p:txBody>
          <a:bodyPr wrap="square" lIns="0" tIns="0" rIns="0" bIns="0" rtlCol="0" anchor="ctr"/>
          <a:lstStyle/>
          <a:p>
            <a:pPr marL="0" indent="0">
              <a:buNone/>
            </a:pPr>
            <a:r>
              <a:rPr lang="en-US" sz="1250" b="1" dirty="0">
                <a:solidFill>
                  <a:srgbClr val="12202E"/>
                </a:solidFill>
                <a:latin typeface="Calibri" pitchFamily="34" charset="0"/>
                <a:ea typeface="Calibri" pitchFamily="34" charset="-122"/>
                <a:cs typeface="Calibri" pitchFamily="34" charset="-120"/>
              </a:rPr>
              <a:t>NICE NG125</a:t>
            </a:r>
            <a:endParaRPr lang="en-US" sz="1250" dirty="0"/>
          </a:p>
        </p:txBody>
      </p:sp>
      <p:sp>
        <p:nvSpPr>
          <p:cNvPr id="22" name="Text 20"/>
          <p:cNvSpPr/>
          <p:nvPr/>
        </p:nvSpPr>
        <p:spPr>
          <a:xfrm>
            <a:off x="2807208" y="2496312"/>
            <a:ext cx="1783080" cy="512064"/>
          </a:xfrm>
          <a:prstGeom prst="rect">
            <a:avLst/>
          </a:prstGeom>
          <a:noFill/>
          <a:ln/>
        </p:spPr>
        <p:txBody>
          <a:bodyPr wrap="square" lIns="0" tIns="0" rIns="0" bIns="0" rtlCol="0" anchor="ctr"/>
          <a:lstStyle/>
          <a:p>
            <a:pPr marL="0" indent="0">
              <a:buNone/>
            </a:pPr>
            <a:r>
              <a:rPr lang="en-US" sz="1050" dirty="0">
                <a:solidFill>
                  <a:srgbClr val="5D7186"/>
                </a:solidFill>
                <a:latin typeface="Calibri" pitchFamily="34" charset="0"/>
                <a:ea typeface="Calibri" pitchFamily="34" charset="-122"/>
                <a:cs typeface="Calibri" pitchFamily="34" charset="-120"/>
              </a:rPr>
              <a:t>Normative — management</a:t>
            </a:r>
            <a:endParaRPr lang="en-US" sz="1050" dirty="0"/>
          </a:p>
        </p:txBody>
      </p:sp>
      <p:sp>
        <p:nvSpPr>
          <p:cNvPr id="23" name="Text 21"/>
          <p:cNvSpPr/>
          <p:nvPr/>
        </p:nvSpPr>
        <p:spPr>
          <a:xfrm>
            <a:off x="4681728" y="2496312"/>
            <a:ext cx="5120640" cy="512064"/>
          </a:xfrm>
          <a:prstGeom prst="rect">
            <a:avLst/>
          </a:prstGeom>
          <a:noFill/>
          <a:ln/>
        </p:spPr>
        <p:txBody>
          <a:bodyPr wrap="square" lIns="0" tIns="0" rIns="0" bIns="0" rtlCol="0" anchor="ctr"/>
          <a:lstStyle/>
          <a:p>
            <a:pPr marL="0" indent="0">
              <a:buNone/>
            </a:pPr>
            <a:r>
              <a:rPr lang="en-US" sz="1150" dirty="0">
                <a:solidFill>
                  <a:srgbClr val="12202E"/>
                </a:solidFill>
                <a:latin typeface="Calibri" pitchFamily="34" charset="0"/>
                <a:ea typeface="Calibri" pitchFamily="34" charset="-122"/>
                <a:cs typeface="Calibri" pitchFamily="34" charset="-120"/>
              </a:rPr>
              <a:t>Post-operative wound care; §1.1.3 requires patients be taught to recognise an SSI</a:t>
            </a:r>
            <a:endParaRPr lang="en-US" sz="1150" dirty="0"/>
          </a:p>
        </p:txBody>
      </p:sp>
      <p:sp>
        <p:nvSpPr>
          <p:cNvPr id="24" name="Text 22"/>
          <p:cNvSpPr/>
          <p:nvPr/>
        </p:nvSpPr>
        <p:spPr>
          <a:xfrm>
            <a:off x="9893808" y="2496312"/>
            <a:ext cx="1554480" cy="512064"/>
          </a:xfrm>
          <a:prstGeom prst="rect">
            <a:avLst/>
          </a:prstGeom>
          <a:noFill/>
          <a:ln/>
        </p:spPr>
        <p:txBody>
          <a:bodyPr wrap="square" lIns="0" tIns="0" rIns="0" bIns="0" rtlCol="0" anchor="ctr"/>
          <a:lstStyle/>
          <a:p>
            <a:pPr marL="0" indent="0" algn="r">
              <a:buNone/>
            </a:pPr>
            <a:r>
              <a:rPr lang="en-US" sz="1000" i="1" dirty="0">
                <a:solidFill>
                  <a:srgbClr val="5D7186"/>
                </a:solidFill>
                <a:latin typeface="Calibri" pitchFamily="34" charset="0"/>
                <a:ea typeface="Calibri" pitchFamily="34" charset="-122"/>
                <a:cs typeface="Calibri" pitchFamily="34" charset="-120"/>
              </a:rPr>
              <a:t>Evidence-based guideline</a:t>
            </a:r>
            <a:endParaRPr lang="en-US" sz="1000" dirty="0"/>
          </a:p>
        </p:txBody>
      </p:sp>
      <p:sp>
        <p:nvSpPr>
          <p:cNvPr id="25" name="Shape 23"/>
          <p:cNvSpPr/>
          <p:nvPr/>
        </p:nvSpPr>
        <p:spPr>
          <a:xfrm>
            <a:off x="566928" y="3182112"/>
            <a:ext cx="11064240" cy="658368"/>
          </a:xfrm>
          <a:prstGeom prst="roundRect">
            <a:avLst>
              <a:gd name="adj" fmla="val 12500"/>
            </a:avLst>
          </a:prstGeom>
          <a:solidFill>
            <a:srgbClr val="FFFFFF"/>
          </a:solidFill>
          <a:ln w="12700">
            <a:solidFill>
              <a:srgbClr val="DDE5EE"/>
            </a:solidFill>
            <a:prstDash val="solid"/>
          </a:ln>
        </p:spPr>
        <p:txBody>
          <a:bodyPr/>
          <a:lstStyle/>
          <a:p>
            <a:endParaRPr lang="de-CH"/>
          </a:p>
        </p:txBody>
      </p:sp>
      <p:sp>
        <p:nvSpPr>
          <p:cNvPr id="26" name="Text 24"/>
          <p:cNvSpPr/>
          <p:nvPr/>
        </p:nvSpPr>
        <p:spPr>
          <a:xfrm>
            <a:off x="804672" y="3255264"/>
            <a:ext cx="1965960" cy="512064"/>
          </a:xfrm>
          <a:prstGeom prst="rect">
            <a:avLst/>
          </a:prstGeom>
          <a:noFill/>
          <a:ln/>
        </p:spPr>
        <p:txBody>
          <a:bodyPr wrap="square" lIns="0" tIns="0" rIns="0" bIns="0" rtlCol="0" anchor="ctr"/>
          <a:lstStyle/>
          <a:p>
            <a:pPr marL="0" indent="0">
              <a:buNone/>
            </a:pPr>
            <a:r>
              <a:rPr lang="en-US" sz="1250" b="1" dirty="0">
                <a:solidFill>
                  <a:srgbClr val="12202E"/>
                </a:solidFill>
                <a:latin typeface="Calibri" pitchFamily="34" charset="0"/>
                <a:ea typeface="Calibri" pitchFamily="34" charset="-122"/>
                <a:cs typeface="Calibri" pitchFamily="34" charset="-120"/>
              </a:rPr>
              <a:t>Southampton score</a:t>
            </a:r>
            <a:endParaRPr lang="en-US" sz="1250" dirty="0"/>
          </a:p>
        </p:txBody>
      </p:sp>
      <p:sp>
        <p:nvSpPr>
          <p:cNvPr id="27" name="Text 25"/>
          <p:cNvSpPr/>
          <p:nvPr/>
        </p:nvSpPr>
        <p:spPr>
          <a:xfrm>
            <a:off x="2807208" y="3255264"/>
            <a:ext cx="1783080" cy="512064"/>
          </a:xfrm>
          <a:prstGeom prst="rect">
            <a:avLst/>
          </a:prstGeom>
          <a:noFill/>
          <a:ln/>
        </p:spPr>
        <p:txBody>
          <a:bodyPr wrap="square" lIns="0" tIns="0" rIns="0" bIns="0" rtlCol="0" anchor="ctr"/>
          <a:lstStyle/>
          <a:p>
            <a:pPr marL="0" indent="0">
              <a:buNone/>
            </a:pPr>
            <a:r>
              <a:rPr lang="en-US" sz="1050" dirty="0">
                <a:solidFill>
                  <a:srgbClr val="5D7186"/>
                </a:solidFill>
                <a:latin typeface="Calibri" pitchFamily="34" charset="0"/>
                <a:ea typeface="Calibri" pitchFamily="34" charset="-122"/>
                <a:cs typeface="Calibri" pitchFamily="34" charset="-120"/>
              </a:rPr>
              <a:t>Instrument</a:t>
            </a:r>
            <a:endParaRPr lang="en-US" sz="1050" dirty="0"/>
          </a:p>
        </p:txBody>
      </p:sp>
      <p:sp>
        <p:nvSpPr>
          <p:cNvPr id="28" name="Text 26"/>
          <p:cNvSpPr/>
          <p:nvPr/>
        </p:nvSpPr>
        <p:spPr>
          <a:xfrm>
            <a:off x="4681728" y="3255264"/>
            <a:ext cx="5120640" cy="512064"/>
          </a:xfrm>
          <a:prstGeom prst="rect">
            <a:avLst/>
          </a:prstGeom>
          <a:noFill/>
          <a:ln/>
        </p:spPr>
        <p:txBody>
          <a:bodyPr wrap="square" lIns="0" tIns="0" rIns="0" bIns="0" rtlCol="0" anchor="ctr"/>
          <a:lstStyle/>
          <a:p>
            <a:pPr marL="0" indent="0">
              <a:buNone/>
            </a:pPr>
            <a:r>
              <a:rPr lang="en-US" sz="1150" dirty="0">
                <a:solidFill>
                  <a:srgbClr val="12202E"/>
                </a:solidFill>
                <a:latin typeface="Calibri" pitchFamily="34" charset="0"/>
                <a:ea typeface="Calibri" pitchFamily="34" charset="-122"/>
                <a:cs typeface="Calibri" pitchFamily="34" charset="-120"/>
              </a:rPr>
              <a:t>Visual grading 0–V — the anchor for our image selection</a:t>
            </a:r>
            <a:endParaRPr lang="en-US" sz="1150" dirty="0"/>
          </a:p>
        </p:txBody>
      </p:sp>
      <p:sp>
        <p:nvSpPr>
          <p:cNvPr id="29" name="Text 27"/>
          <p:cNvSpPr/>
          <p:nvPr/>
        </p:nvSpPr>
        <p:spPr>
          <a:xfrm>
            <a:off x="9893808" y="3255264"/>
            <a:ext cx="1554480" cy="512064"/>
          </a:xfrm>
          <a:prstGeom prst="rect">
            <a:avLst/>
          </a:prstGeom>
          <a:noFill/>
          <a:ln/>
        </p:spPr>
        <p:txBody>
          <a:bodyPr wrap="square" lIns="0" tIns="0" rIns="0" bIns="0" rtlCol="0" anchor="ctr"/>
          <a:lstStyle/>
          <a:p>
            <a:pPr marL="0" indent="0" algn="r">
              <a:buNone/>
            </a:pPr>
            <a:r>
              <a:rPr lang="en-US" sz="1000" i="1" dirty="0">
                <a:solidFill>
                  <a:srgbClr val="5D7186"/>
                </a:solidFill>
                <a:latin typeface="Calibri" pitchFamily="34" charset="0"/>
                <a:ea typeface="Calibri" pitchFamily="34" charset="-122"/>
                <a:cs typeface="Calibri" pitchFamily="34" charset="-120"/>
              </a:rPr>
              <a:t>Validated instrument</a:t>
            </a:r>
            <a:endParaRPr lang="en-US" sz="1000" dirty="0"/>
          </a:p>
        </p:txBody>
      </p:sp>
      <p:sp>
        <p:nvSpPr>
          <p:cNvPr id="30" name="Shape 28"/>
          <p:cNvSpPr/>
          <p:nvPr/>
        </p:nvSpPr>
        <p:spPr>
          <a:xfrm>
            <a:off x="566928" y="3941064"/>
            <a:ext cx="11064240" cy="658368"/>
          </a:xfrm>
          <a:prstGeom prst="roundRect">
            <a:avLst>
              <a:gd name="adj" fmla="val 12500"/>
            </a:avLst>
          </a:prstGeom>
          <a:solidFill>
            <a:srgbClr val="F5F7FA"/>
          </a:solidFill>
          <a:ln w="12700">
            <a:solidFill>
              <a:srgbClr val="DDE5EE"/>
            </a:solidFill>
            <a:prstDash val="solid"/>
          </a:ln>
        </p:spPr>
        <p:txBody>
          <a:bodyPr/>
          <a:lstStyle/>
          <a:p>
            <a:endParaRPr lang="de-CH"/>
          </a:p>
        </p:txBody>
      </p:sp>
      <p:sp>
        <p:nvSpPr>
          <p:cNvPr id="31" name="Text 29"/>
          <p:cNvSpPr/>
          <p:nvPr/>
        </p:nvSpPr>
        <p:spPr>
          <a:xfrm>
            <a:off x="804672" y="4014216"/>
            <a:ext cx="1965960" cy="512064"/>
          </a:xfrm>
          <a:prstGeom prst="rect">
            <a:avLst/>
          </a:prstGeom>
          <a:noFill/>
          <a:ln/>
        </p:spPr>
        <p:txBody>
          <a:bodyPr wrap="square" lIns="0" tIns="0" rIns="0" bIns="0" rtlCol="0" anchor="ctr"/>
          <a:lstStyle/>
          <a:p>
            <a:pPr marL="0" indent="0">
              <a:buNone/>
            </a:pPr>
            <a:r>
              <a:rPr lang="en-US" sz="1250" b="1" dirty="0">
                <a:solidFill>
                  <a:srgbClr val="12202E"/>
                </a:solidFill>
                <a:latin typeface="Calibri" pitchFamily="34" charset="0"/>
                <a:ea typeface="Calibri" pitchFamily="34" charset="-122"/>
                <a:cs typeface="Calibri" pitchFamily="34" charset="-120"/>
              </a:rPr>
              <a:t>Campwala et al. 2019</a:t>
            </a:r>
            <a:endParaRPr lang="en-US" sz="1250" dirty="0"/>
          </a:p>
        </p:txBody>
      </p:sp>
      <p:sp>
        <p:nvSpPr>
          <p:cNvPr id="32" name="Text 30"/>
          <p:cNvSpPr/>
          <p:nvPr/>
        </p:nvSpPr>
        <p:spPr>
          <a:xfrm>
            <a:off x="2807208" y="4014216"/>
            <a:ext cx="1783080" cy="512064"/>
          </a:xfrm>
          <a:prstGeom prst="rect">
            <a:avLst/>
          </a:prstGeom>
          <a:noFill/>
          <a:ln/>
        </p:spPr>
        <p:txBody>
          <a:bodyPr wrap="square" lIns="0" tIns="0" rIns="0" bIns="0" rtlCol="0" anchor="ctr"/>
          <a:lstStyle/>
          <a:p>
            <a:pPr marL="0" indent="0">
              <a:buNone/>
            </a:pPr>
            <a:r>
              <a:rPr lang="en-US" sz="1050" dirty="0">
                <a:solidFill>
                  <a:srgbClr val="5D7186"/>
                </a:solidFill>
                <a:latin typeface="Calibri" pitchFamily="34" charset="0"/>
                <a:ea typeface="Calibri" pitchFamily="34" charset="-122"/>
                <a:cs typeface="Calibri" pitchFamily="34" charset="-120"/>
              </a:rPr>
              <a:t>Evidence</a:t>
            </a:r>
            <a:endParaRPr lang="en-US" sz="1050" dirty="0"/>
          </a:p>
        </p:txBody>
      </p:sp>
      <p:sp>
        <p:nvSpPr>
          <p:cNvPr id="33" name="Text 31"/>
          <p:cNvSpPr/>
          <p:nvPr/>
        </p:nvSpPr>
        <p:spPr>
          <a:xfrm>
            <a:off x="4681728" y="4014216"/>
            <a:ext cx="5120640" cy="512064"/>
          </a:xfrm>
          <a:prstGeom prst="rect">
            <a:avLst/>
          </a:prstGeom>
          <a:noFill/>
          <a:ln/>
        </p:spPr>
        <p:txBody>
          <a:bodyPr wrap="square" lIns="0" tIns="0" rIns="0" bIns="0" rtlCol="0" anchor="ctr"/>
          <a:lstStyle/>
          <a:p>
            <a:pPr marL="0" indent="0">
              <a:buNone/>
            </a:pPr>
            <a:r>
              <a:rPr lang="en-US" sz="1150" dirty="0">
                <a:solidFill>
                  <a:srgbClr val="12202E"/>
                </a:solidFill>
                <a:latin typeface="Calibri" pitchFamily="34" charset="0"/>
                <a:ea typeface="Calibri" pitchFamily="34" charset="-122"/>
                <a:cs typeface="Calibri" pitchFamily="34" charset="-120"/>
              </a:rPr>
              <a:t>Compares CDC, ASEPSIS and Southampton</a:t>
            </a:r>
            <a:endParaRPr lang="en-US" sz="1150" dirty="0"/>
          </a:p>
        </p:txBody>
      </p:sp>
      <p:sp>
        <p:nvSpPr>
          <p:cNvPr id="34" name="Text 32"/>
          <p:cNvSpPr/>
          <p:nvPr/>
        </p:nvSpPr>
        <p:spPr>
          <a:xfrm>
            <a:off x="9893808" y="4014216"/>
            <a:ext cx="1554480" cy="512064"/>
          </a:xfrm>
          <a:prstGeom prst="rect">
            <a:avLst/>
          </a:prstGeom>
          <a:noFill/>
          <a:ln/>
        </p:spPr>
        <p:txBody>
          <a:bodyPr wrap="square" lIns="0" tIns="0" rIns="0" bIns="0" rtlCol="0" anchor="ctr"/>
          <a:lstStyle/>
          <a:p>
            <a:pPr marL="0" indent="0" algn="r">
              <a:buNone/>
            </a:pPr>
            <a:r>
              <a:rPr lang="en-US" sz="1000" i="1" dirty="0">
                <a:solidFill>
                  <a:srgbClr val="C0281C"/>
                </a:solidFill>
                <a:latin typeface="Calibri" pitchFamily="34" charset="0"/>
                <a:ea typeface="Calibri" pitchFamily="34" charset="-122"/>
                <a:cs typeface="Calibri" pitchFamily="34" charset="-120"/>
              </a:rPr>
              <a:t>Retrospective, n = 22</a:t>
            </a:r>
            <a:endParaRPr lang="en-US" sz="1000" dirty="0"/>
          </a:p>
        </p:txBody>
      </p:sp>
      <p:grpSp>
        <p:nvGrpSpPr>
          <p:cNvPr id="41" name="Gruppieren 40">
            <a:extLst>
              <a:ext uri="{FF2B5EF4-FFF2-40B4-BE49-F238E27FC236}">
                <a16:creationId xmlns:a16="http://schemas.microsoft.com/office/drawing/2014/main" id="{E11CDBE4-82D3-B13F-8117-D6E622643B34}"/>
              </a:ext>
            </a:extLst>
          </p:cNvPr>
          <p:cNvGrpSpPr/>
          <p:nvPr/>
        </p:nvGrpSpPr>
        <p:grpSpPr>
          <a:xfrm>
            <a:off x="6190488" y="4791456"/>
            <a:ext cx="5440680" cy="1517904"/>
            <a:chOff x="566928" y="4791456"/>
            <a:chExt cx="5440680" cy="1517904"/>
          </a:xfrm>
        </p:grpSpPr>
        <p:sp>
          <p:nvSpPr>
            <p:cNvPr id="35" name="Shape 33"/>
            <p:cNvSpPr/>
            <p:nvPr/>
          </p:nvSpPr>
          <p:spPr>
            <a:xfrm>
              <a:off x="566928" y="4791456"/>
              <a:ext cx="5440680" cy="1517904"/>
            </a:xfrm>
            <a:prstGeom prst="roundRect">
              <a:avLst>
                <a:gd name="adj" fmla="val 5422"/>
              </a:avLst>
            </a:prstGeom>
            <a:solidFill>
              <a:srgbClr val="12202E"/>
            </a:solidFill>
            <a:ln w="12700">
              <a:solidFill>
                <a:srgbClr val="12202E"/>
              </a:solidFill>
              <a:prstDash val="solid"/>
            </a:ln>
          </p:spPr>
          <p:txBody>
            <a:bodyPr/>
            <a:lstStyle/>
            <a:p>
              <a:endParaRPr lang="de-CH"/>
            </a:p>
          </p:txBody>
        </p:sp>
        <p:sp>
          <p:nvSpPr>
            <p:cNvPr id="36" name="Text 34"/>
            <p:cNvSpPr/>
            <p:nvPr/>
          </p:nvSpPr>
          <p:spPr>
            <a:xfrm>
              <a:off x="822960" y="4937760"/>
              <a:ext cx="493776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Why we discarded ASEPSIS — the best performer</a:t>
              </a:r>
              <a:endParaRPr lang="en-US" sz="1200" dirty="0"/>
            </a:p>
          </p:txBody>
        </p:sp>
        <p:sp>
          <p:nvSpPr>
            <p:cNvPr id="37" name="Text 35"/>
            <p:cNvSpPr/>
            <p:nvPr/>
          </p:nvSpPr>
          <p:spPr>
            <a:xfrm>
              <a:off x="822960" y="5230368"/>
              <a:ext cx="4937760" cy="960120"/>
            </a:xfrm>
            <a:prstGeom prst="rect">
              <a:avLst/>
            </a:prstGeom>
            <a:noFill/>
            <a:ln/>
          </p:spPr>
          <p:txBody>
            <a:bodyPr wrap="square" lIns="0" tIns="0" rIns="0" bIns="0" rtlCol="0" anchor="t"/>
            <a:lstStyle/>
            <a:p>
              <a:pPr marL="0" indent="0">
                <a:lnSpc>
                  <a:spcPts val="1500"/>
                </a:lnSpc>
                <a:buNone/>
              </a:pPr>
              <a:r>
                <a:rPr lang="en-US" sz="1100" dirty="0">
                  <a:solidFill>
                    <a:srgbClr val="C9D6E4"/>
                  </a:solidFill>
                  <a:latin typeface="Calibri" pitchFamily="34" charset="0"/>
                  <a:ea typeface="Calibri" pitchFamily="34" charset="-122"/>
                  <a:cs typeface="Calibri" pitchFamily="34" charset="-120"/>
                </a:rPr>
                <a:t>ASEPSIS needs more data:</a:t>
              </a:r>
            </a:p>
            <a:p>
              <a:pPr marL="0" indent="0">
                <a:lnSpc>
                  <a:spcPts val="1500"/>
                </a:lnSpc>
                <a:buNone/>
              </a:pPr>
              <a:r>
                <a:rPr lang="en-US" sz="1100" dirty="0">
                  <a:solidFill>
                    <a:srgbClr val="C9D6E4"/>
                  </a:solidFill>
                  <a:latin typeface="Calibri" pitchFamily="34" charset="0"/>
                  <a:ea typeface="Calibri" pitchFamily="34" charset="-122"/>
                  <a:cs typeface="Calibri" pitchFamily="34" charset="-120"/>
                </a:rPr>
                <a:t>antibiotic administration, drainage, debridement, inpatient days and culture results. </a:t>
              </a:r>
            </a:p>
            <a:p>
              <a:pPr marL="0" indent="0">
                <a:lnSpc>
                  <a:spcPts val="1500"/>
                </a:lnSpc>
                <a:buNone/>
              </a:pPr>
              <a:endParaRPr lang="en-US" sz="1100" dirty="0">
                <a:solidFill>
                  <a:srgbClr val="C9D6E4"/>
                </a:solidFill>
                <a:latin typeface="Calibri" pitchFamily="34" charset="0"/>
                <a:ea typeface="Calibri" pitchFamily="34" charset="-122"/>
                <a:cs typeface="Calibri" pitchFamily="34" charset="-120"/>
              </a:endParaRPr>
            </a:p>
            <a:p>
              <a:pPr>
                <a:lnSpc>
                  <a:spcPts val="1500"/>
                </a:lnSpc>
              </a:pPr>
              <a:r>
                <a:rPr lang="de-DE" sz="1100" b="1" dirty="0">
                  <a:solidFill>
                    <a:srgbClr val="C9D6E4"/>
                  </a:solidFill>
                </a:rPr>
                <a:t>→  </a:t>
              </a:r>
              <a:r>
                <a:rPr lang="en-US" sz="1100" b="1" dirty="0">
                  <a:solidFill>
                    <a:srgbClr val="C9D6E4"/>
                  </a:solidFill>
                  <a:latin typeface="Calibri" pitchFamily="34" charset="0"/>
                  <a:ea typeface="Calibri" pitchFamily="34" charset="-122"/>
                  <a:cs typeface="Calibri" pitchFamily="34" charset="-120"/>
                </a:rPr>
                <a:t>Not obtainable by a patient at home. </a:t>
              </a:r>
              <a:endParaRPr lang="en-US" sz="1100" b="1" dirty="0"/>
            </a:p>
          </p:txBody>
        </p:sp>
      </p:grpSp>
      <p:grpSp>
        <p:nvGrpSpPr>
          <p:cNvPr id="43" name="Gruppieren 42">
            <a:extLst>
              <a:ext uri="{FF2B5EF4-FFF2-40B4-BE49-F238E27FC236}">
                <a16:creationId xmlns:a16="http://schemas.microsoft.com/office/drawing/2014/main" id="{A704DEC5-83A6-6640-8D72-E34B49D5F625}"/>
              </a:ext>
            </a:extLst>
          </p:cNvPr>
          <p:cNvGrpSpPr/>
          <p:nvPr/>
        </p:nvGrpSpPr>
        <p:grpSpPr>
          <a:xfrm>
            <a:off x="560832" y="4791456"/>
            <a:ext cx="5440680" cy="1517904"/>
            <a:chOff x="6190488" y="4791456"/>
            <a:chExt cx="5440680" cy="1517904"/>
          </a:xfrm>
        </p:grpSpPr>
        <p:sp>
          <p:nvSpPr>
            <p:cNvPr id="38" name="Shape 36"/>
            <p:cNvSpPr/>
            <p:nvPr/>
          </p:nvSpPr>
          <p:spPr>
            <a:xfrm>
              <a:off x="6190488" y="4791456"/>
              <a:ext cx="5440680" cy="1517904"/>
            </a:xfrm>
            <a:prstGeom prst="roundRect">
              <a:avLst>
                <a:gd name="adj" fmla="val 5422"/>
              </a:avLst>
            </a:prstGeom>
            <a:solidFill>
              <a:srgbClr val="FBE7E5"/>
            </a:solidFill>
            <a:ln w="12700">
              <a:solidFill>
                <a:srgbClr val="F0ACA6"/>
              </a:solidFill>
              <a:prstDash val="solid"/>
            </a:ln>
          </p:spPr>
          <p:txBody>
            <a:bodyPr/>
            <a:lstStyle/>
            <a:p>
              <a:endParaRPr lang="de-CH"/>
            </a:p>
          </p:txBody>
        </p:sp>
        <p:sp>
          <p:nvSpPr>
            <p:cNvPr id="39" name="Text 37"/>
            <p:cNvSpPr/>
            <p:nvPr/>
          </p:nvSpPr>
          <p:spPr>
            <a:xfrm>
              <a:off x="6446520" y="4937760"/>
              <a:ext cx="4937760" cy="256032"/>
            </a:xfrm>
            <a:prstGeom prst="rect">
              <a:avLst/>
            </a:prstGeom>
            <a:noFill/>
            <a:ln/>
          </p:spPr>
          <p:txBody>
            <a:bodyPr wrap="square" lIns="0" tIns="0" rIns="0" bIns="0" rtlCol="0" anchor="ctr"/>
            <a:lstStyle/>
            <a:p>
              <a:pPr marL="0" indent="0">
                <a:buNone/>
              </a:pPr>
              <a:r>
                <a:rPr lang="en-US" sz="1200" b="1" dirty="0">
                  <a:solidFill>
                    <a:srgbClr val="C0281C"/>
                  </a:solidFill>
                  <a:latin typeface="Calibri" pitchFamily="34" charset="0"/>
                  <a:ea typeface="Calibri" pitchFamily="34" charset="-122"/>
                  <a:cs typeface="Calibri" pitchFamily="34" charset="-120"/>
                </a:rPr>
                <a:t>How good is our evidence?</a:t>
              </a:r>
              <a:endParaRPr lang="en-US" sz="1200" dirty="0"/>
            </a:p>
          </p:txBody>
        </p:sp>
        <p:sp>
          <p:nvSpPr>
            <p:cNvPr id="40" name="Text 38"/>
            <p:cNvSpPr/>
            <p:nvPr/>
          </p:nvSpPr>
          <p:spPr>
            <a:xfrm>
              <a:off x="6446520" y="5230368"/>
              <a:ext cx="4937760" cy="960120"/>
            </a:xfrm>
            <a:prstGeom prst="rect">
              <a:avLst/>
            </a:prstGeom>
            <a:noFill/>
            <a:ln/>
          </p:spPr>
          <p:txBody>
            <a:bodyPr wrap="square" lIns="0" tIns="0" rIns="0" bIns="0" rtlCol="0" anchor="t"/>
            <a:lstStyle/>
            <a:p>
              <a:pPr>
                <a:lnSpc>
                  <a:spcPts val="1300"/>
                </a:lnSpc>
              </a:pPr>
              <a:r>
                <a:rPr lang="de-DE" sz="1050" dirty="0" err="1"/>
                <a:t>Campwala</a:t>
              </a:r>
              <a:r>
                <a:rPr lang="de-DE" sz="1050" dirty="0"/>
                <a:t> et al.: n = 22, </a:t>
              </a:r>
              <a:r>
                <a:rPr lang="de-DE" sz="1050" dirty="0" err="1"/>
                <a:t>retrospective</a:t>
              </a:r>
              <a:r>
                <a:rPr lang="de-DE" sz="1050" dirty="0"/>
                <a:t>, single-</a:t>
              </a:r>
              <a:r>
                <a:rPr lang="de-DE" sz="1050" dirty="0" err="1"/>
                <a:t>centre</a:t>
              </a:r>
              <a:r>
                <a:rPr lang="de-DE" sz="1050" dirty="0"/>
                <a:t> </a:t>
              </a:r>
              <a:r>
                <a:rPr lang="de-DE" sz="1050" dirty="0" err="1"/>
                <a:t>study</a:t>
              </a:r>
              <a:r>
                <a:rPr lang="de-DE" sz="1050" dirty="0"/>
                <a:t> in </a:t>
              </a:r>
              <a:r>
                <a:rPr lang="de-DE" sz="1050" dirty="0" err="1"/>
                <a:t>implant-based</a:t>
              </a:r>
              <a:r>
                <a:rPr lang="de-DE" sz="1050" dirty="0"/>
                <a:t> </a:t>
              </a:r>
              <a:r>
                <a:rPr lang="de-DE" sz="1050" dirty="0" err="1"/>
                <a:t>breast</a:t>
              </a:r>
              <a:r>
                <a:rPr lang="de-DE" sz="1050" dirty="0"/>
                <a:t> </a:t>
              </a:r>
              <a:r>
                <a:rPr lang="de-DE" sz="1050" dirty="0" err="1"/>
                <a:t>reconstruction</a:t>
              </a:r>
              <a:r>
                <a:rPr lang="de-DE" sz="1050" dirty="0"/>
                <a:t>. ASEPSIS </a:t>
              </a:r>
              <a:r>
                <a:rPr lang="de-DE" sz="1050" dirty="0" err="1"/>
                <a:t>showed</a:t>
              </a:r>
              <a:r>
                <a:rPr lang="de-DE" sz="1050" dirty="0"/>
                <a:t> </a:t>
              </a:r>
              <a:r>
                <a:rPr lang="de-DE" sz="1050" dirty="0" err="1"/>
                <a:t>better</a:t>
              </a:r>
              <a:r>
                <a:rPr lang="de-DE" sz="1050" dirty="0"/>
                <a:t> </a:t>
              </a:r>
              <a:r>
                <a:rPr lang="de-DE" sz="1050" dirty="0" err="1"/>
                <a:t>predictive</a:t>
              </a:r>
              <a:r>
                <a:rPr lang="de-DE" sz="1050" dirty="0"/>
                <a:t> </a:t>
              </a:r>
              <a:r>
                <a:rPr lang="de-DE" sz="1050" dirty="0" err="1"/>
                <a:t>performance</a:t>
              </a:r>
              <a:r>
                <a:rPr lang="de-DE" sz="1050" dirty="0"/>
                <a:t> </a:t>
              </a:r>
              <a:r>
                <a:rPr lang="de-DE" sz="1050" dirty="0" err="1"/>
                <a:t>than</a:t>
              </a:r>
              <a:r>
                <a:rPr lang="de-DE" sz="1050" dirty="0"/>
                <a:t> Southampton for </a:t>
              </a:r>
              <a:r>
                <a:rPr lang="de-DE" sz="1050" dirty="0" err="1"/>
                <a:t>implant</a:t>
              </a:r>
              <a:r>
                <a:rPr lang="de-DE" sz="1050" dirty="0"/>
                <a:t> </a:t>
              </a:r>
              <a:r>
                <a:rPr lang="de-DE" sz="1050" dirty="0" err="1"/>
                <a:t>failure</a:t>
              </a:r>
              <a:r>
                <a:rPr lang="de-DE" sz="1050" dirty="0"/>
                <a:t>.</a:t>
              </a:r>
            </a:p>
            <a:p>
              <a:pPr>
                <a:lnSpc>
                  <a:spcPts val="1300"/>
                </a:lnSpc>
              </a:pPr>
              <a:br>
                <a:rPr lang="de-DE" sz="1050" b="1" dirty="0"/>
              </a:br>
              <a:r>
                <a:rPr lang="de-DE" sz="1050" b="1" dirty="0"/>
                <a:t>→ Southampton as a </a:t>
              </a:r>
              <a:r>
                <a:rPr lang="de-DE" sz="1050" b="1" dirty="0" err="1"/>
                <a:t>standardized</a:t>
              </a:r>
              <a:r>
                <a:rPr lang="de-DE" sz="1050" b="1" dirty="0"/>
                <a:t> </a:t>
              </a:r>
              <a:r>
                <a:rPr lang="de-DE" sz="1050" b="1" dirty="0" err="1"/>
                <a:t>assessment</a:t>
              </a:r>
              <a:r>
                <a:rPr lang="de-DE" sz="1050" b="1" dirty="0"/>
                <a:t> and </a:t>
              </a:r>
              <a:r>
                <a:rPr lang="de-DE" sz="1050" b="1" dirty="0" err="1"/>
                <a:t>communication</a:t>
              </a:r>
              <a:r>
                <a:rPr lang="de-DE" sz="1050" b="1" dirty="0"/>
                <a:t> </a:t>
              </a:r>
              <a:r>
                <a:rPr lang="de-DE" sz="1050" b="1" dirty="0" err="1"/>
                <a:t>framework</a:t>
              </a:r>
              <a:r>
                <a:rPr lang="de-DE" sz="1050" b="1" dirty="0"/>
                <a:t> </a:t>
              </a:r>
              <a:r>
                <a:rPr lang="de-DE" sz="1050" b="1" dirty="0" err="1"/>
                <a:t>rather</a:t>
              </a:r>
              <a:r>
                <a:rPr lang="de-DE" sz="1050" b="1" dirty="0"/>
                <a:t> </a:t>
              </a:r>
              <a:r>
                <a:rPr lang="de-DE" sz="1050" b="1" dirty="0" err="1"/>
                <a:t>than</a:t>
              </a:r>
              <a:r>
                <a:rPr lang="de-DE" sz="1050" b="1" dirty="0"/>
                <a:t> a </a:t>
              </a:r>
              <a:r>
                <a:rPr lang="de-DE" sz="1050" b="1" dirty="0" err="1"/>
                <a:t>predictive</a:t>
              </a:r>
              <a:r>
                <a:rPr lang="de-DE" sz="1050" b="1" dirty="0"/>
                <a:t> </a:t>
              </a:r>
              <a:r>
                <a:rPr lang="de-DE" sz="1050" b="1" dirty="0" err="1"/>
                <a:t>model</a:t>
              </a:r>
              <a:r>
                <a:rPr lang="de-DE" sz="1050" b="1" dirty="0"/>
                <a:t>.</a:t>
              </a:r>
              <a:endParaRPr lang="en-US" sz="1050" b="1" dirty="0"/>
            </a:p>
          </p:txBody>
        </p:sp>
      </p:grpSp>
      <p:sp>
        <p:nvSpPr>
          <p:cNvPr id="42" name="Text 11">
            <a:extLst>
              <a:ext uri="{FF2B5EF4-FFF2-40B4-BE49-F238E27FC236}">
                <a16:creationId xmlns:a16="http://schemas.microsoft.com/office/drawing/2014/main" id="{56FEF0EC-F553-D67E-15AE-6C00F5A4F353}"/>
              </a:ext>
            </a:extLst>
          </p:cNvPr>
          <p:cNvSpPr/>
          <p:nvPr/>
        </p:nvSpPr>
        <p:spPr>
          <a:xfrm>
            <a:off x="57709" y="6568124"/>
            <a:ext cx="8229600" cy="274320"/>
          </a:xfrm>
          <a:prstGeom prst="rect">
            <a:avLst/>
          </a:prstGeom>
          <a:noFill/>
          <a:ln/>
        </p:spPr>
        <p:txBody>
          <a:bodyPr wrap="square" lIns="0" tIns="0" rIns="0" bIns="0" rtlCol="0" anchor="ctr"/>
          <a:lstStyle/>
          <a:p>
            <a:pPr marL="0" indent="0">
              <a:buNone/>
            </a:pPr>
            <a:r>
              <a:rPr lang="en-US" sz="900">
                <a:solidFill>
                  <a:srgbClr val="8FA3B8"/>
                </a:solidFill>
                <a:latin typeface="Calibri" pitchFamily="34" charset="0"/>
                <a:ea typeface="Calibri" pitchFamily="34" charset="-122"/>
                <a:cs typeface="Calibri" pitchFamily="34" charset="-120"/>
              </a:rPr>
              <a:t>FHNW  ·  MSc Medical Informatics  ·  Clinical Decision Support Systems 2026</a:t>
            </a:r>
            <a:endParaRPr lang="en-US" sz="900"/>
          </a:p>
        </p:txBody>
      </p:sp>
      <p:pic>
        <p:nvPicPr>
          <p:cNvPr id="44" name="Grafik 43">
            <a:extLst>
              <a:ext uri="{FF2B5EF4-FFF2-40B4-BE49-F238E27FC236}">
                <a16:creationId xmlns:a16="http://schemas.microsoft.com/office/drawing/2014/main" id="{B806A198-97F2-AEF1-3DE7-3744A19DAE62}"/>
              </a:ext>
            </a:extLst>
          </p:cNvPr>
          <p:cNvPicPr>
            <a:picLocks noChangeAspect="1"/>
          </p:cNvPicPr>
          <p:nvPr/>
        </p:nvPicPr>
        <p:blipFill>
          <a:blip r:embed="rId3">
            <a:duotone>
              <a:schemeClr val="accent3">
                <a:shade val="45000"/>
                <a:satMod val="135000"/>
              </a:schemeClr>
              <a:prstClr val="white"/>
            </a:duotone>
          </a:blip>
          <a:stretch>
            <a:fillRect/>
          </a:stretch>
        </p:blipFill>
        <p:spPr>
          <a:xfrm>
            <a:off x="57709" y="47504"/>
            <a:ext cx="1012490" cy="236248"/>
          </a:xfrm>
          <a:prstGeom prst="rect">
            <a:avLst/>
          </a:prstGeom>
        </p:spPr>
      </p:pic>
      <p:sp>
        <p:nvSpPr>
          <p:cNvPr id="50" name="Text 4">
            <a:extLst>
              <a:ext uri="{FF2B5EF4-FFF2-40B4-BE49-F238E27FC236}">
                <a16:creationId xmlns:a16="http://schemas.microsoft.com/office/drawing/2014/main" id="{8E165294-AB62-F6CB-BD9F-C12BB1E6A99A}"/>
              </a:ext>
            </a:extLst>
          </p:cNvPr>
          <p:cNvSpPr/>
          <p:nvPr/>
        </p:nvSpPr>
        <p:spPr>
          <a:xfrm>
            <a:off x="9765792" y="484632"/>
            <a:ext cx="146304" cy="274320"/>
          </a:xfrm>
          <a:prstGeom prst="rect">
            <a:avLst/>
          </a:prstGeom>
          <a:noFill/>
          <a:ln/>
        </p:spPr>
        <p:txBody>
          <a:bodyPr wrap="square" lIns="0" tIns="0" rIns="0" bIns="0" rtlCol="0" anchor="ctr"/>
          <a:lstStyle/>
          <a:p>
            <a:pPr marL="0" indent="0" algn="ctr">
              <a:buNone/>
            </a:pPr>
            <a:r>
              <a:rPr lang="en-US" sz="1100">
                <a:solidFill>
                  <a:srgbClr val="DDE5EE"/>
                </a:solidFill>
                <a:latin typeface="Calibri" pitchFamily="34" charset="0"/>
                <a:ea typeface="Calibri" pitchFamily="34" charset="-122"/>
                <a:cs typeface="Calibri" pitchFamily="34" charset="-120"/>
              </a:rPr>
              <a:t>›</a:t>
            </a:r>
            <a:endParaRPr lang="en-US" sz="1100"/>
          </a:p>
        </p:txBody>
      </p:sp>
      <p:sp>
        <p:nvSpPr>
          <p:cNvPr id="52" name="Shape 5">
            <a:extLst>
              <a:ext uri="{FF2B5EF4-FFF2-40B4-BE49-F238E27FC236}">
                <a16:creationId xmlns:a16="http://schemas.microsoft.com/office/drawing/2014/main" id="{C57841DB-5526-397E-940F-60DA00F7C433}"/>
              </a:ext>
            </a:extLst>
          </p:cNvPr>
          <p:cNvSpPr/>
          <p:nvPr/>
        </p:nvSpPr>
        <p:spPr>
          <a:xfrm>
            <a:off x="9912096" y="484632"/>
            <a:ext cx="475488" cy="274320"/>
          </a:xfrm>
          <a:prstGeom prst="roundRect">
            <a:avLst>
              <a:gd name="adj" fmla="val 46667"/>
            </a:avLst>
          </a:prstGeom>
          <a:solidFill>
            <a:srgbClr val="F5F7FA"/>
          </a:solidFill>
          <a:ln w="12700">
            <a:solidFill>
              <a:srgbClr val="C9D6E4"/>
            </a:solidFill>
            <a:prstDash val="solid"/>
          </a:ln>
        </p:spPr>
        <p:txBody>
          <a:bodyPr/>
          <a:lstStyle/>
          <a:p>
            <a:endParaRPr lang="de-CH"/>
          </a:p>
        </p:txBody>
      </p:sp>
      <p:sp>
        <p:nvSpPr>
          <p:cNvPr id="54" name="Text 6">
            <a:extLst>
              <a:ext uri="{FF2B5EF4-FFF2-40B4-BE49-F238E27FC236}">
                <a16:creationId xmlns:a16="http://schemas.microsoft.com/office/drawing/2014/main" id="{51E9EF38-668E-6121-48F4-36398552A7F9}"/>
              </a:ext>
            </a:extLst>
          </p:cNvPr>
          <p:cNvSpPr/>
          <p:nvPr/>
        </p:nvSpPr>
        <p:spPr>
          <a:xfrm>
            <a:off x="9912096" y="484632"/>
            <a:ext cx="475488" cy="274320"/>
          </a:xfrm>
          <a:prstGeom prst="rect">
            <a:avLst/>
          </a:prstGeom>
          <a:noFill/>
          <a:ln/>
        </p:spPr>
        <p:txBody>
          <a:bodyPr wrap="square" lIns="0" tIns="0" rIns="0" bIns="0" rtlCol="0" anchor="ctr"/>
          <a:lstStyle/>
          <a:p>
            <a:pPr marL="0" indent="0" algn="ctr">
              <a:buNone/>
            </a:pPr>
            <a:r>
              <a:rPr lang="en-US" sz="1050" b="1">
                <a:solidFill>
                  <a:srgbClr val="5D7186"/>
                </a:solidFill>
                <a:latin typeface="Calibri" pitchFamily="34" charset="0"/>
                <a:ea typeface="Calibri" pitchFamily="34" charset="-122"/>
                <a:cs typeface="Calibri" pitchFamily="34" charset="-120"/>
              </a:rPr>
              <a:t>L2</a:t>
            </a:r>
            <a:endParaRPr lang="en-US" sz="1050">
              <a:solidFill>
                <a:srgbClr val="5D7186"/>
              </a:solidFill>
            </a:endParaRPr>
          </a:p>
        </p:txBody>
      </p:sp>
      <p:sp>
        <p:nvSpPr>
          <p:cNvPr id="56" name="Text 7">
            <a:extLst>
              <a:ext uri="{FF2B5EF4-FFF2-40B4-BE49-F238E27FC236}">
                <a16:creationId xmlns:a16="http://schemas.microsoft.com/office/drawing/2014/main" id="{E77E2877-D3B8-5C14-863D-27EC958CD0DA}"/>
              </a:ext>
            </a:extLst>
          </p:cNvPr>
          <p:cNvSpPr/>
          <p:nvPr/>
        </p:nvSpPr>
        <p:spPr>
          <a:xfrm>
            <a:off x="10387584" y="484632"/>
            <a:ext cx="146304" cy="274320"/>
          </a:xfrm>
          <a:prstGeom prst="rect">
            <a:avLst/>
          </a:prstGeom>
          <a:noFill/>
          <a:ln/>
        </p:spPr>
        <p:txBody>
          <a:bodyPr wrap="square" lIns="0" tIns="0" rIns="0" bIns="0" rtlCol="0" anchor="ctr"/>
          <a:lstStyle/>
          <a:p>
            <a:pPr marL="0" indent="0" algn="ctr">
              <a:buNone/>
            </a:pPr>
            <a:r>
              <a:rPr lang="en-US" sz="1100">
                <a:solidFill>
                  <a:srgbClr val="DDE5EE"/>
                </a:solidFill>
                <a:latin typeface="Calibri" pitchFamily="34" charset="0"/>
                <a:ea typeface="Calibri" pitchFamily="34" charset="-122"/>
                <a:cs typeface="Calibri" pitchFamily="34" charset="-120"/>
              </a:rPr>
              <a:t>›</a:t>
            </a:r>
            <a:endParaRPr lang="en-US" sz="1100"/>
          </a:p>
        </p:txBody>
      </p:sp>
      <p:sp>
        <p:nvSpPr>
          <p:cNvPr id="58" name="Shape 8">
            <a:extLst>
              <a:ext uri="{FF2B5EF4-FFF2-40B4-BE49-F238E27FC236}">
                <a16:creationId xmlns:a16="http://schemas.microsoft.com/office/drawing/2014/main" id="{12FC35AE-3254-481D-8AD3-EB215E470A57}"/>
              </a:ext>
            </a:extLst>
          </p:cNvPr>
          <p:cNvSpPr/>
          <p:nvPr/>
        </p:nvSpPr>
        <p:spPr>
          <a:xfrm>
            <a:off x="10533888" y="484632"/>
            <a:ext cx="475488" cy="274320"/>
          </a:xfrm>
          <a:prstGeom prst="roundRect">
            <a:avLst>
              <a:gd name="adj" fmla="val 46667"/>
            </a:avLst>
          </a:prstGeom>
          <a:solidFill>
            <a:srgbClr val="F5F7FA"/>
          </a:solidFill>
          <a:ln w="12700">
            <a:solidFill>
              <a:srgbClr val="DDE5EE"/>
            </a:solidFill>
            <a:prstDash val="solid"/>
          </a:ln>
        </p:spPr>
        <p:txBody>
          <a:bodyPr/>
          <a:lstStyle/>
          <a:p>
            <a:endParaRPr lang="de-CH"/>
          </a:p>
        </p:txBody>
      </p:sp>
      <p:sp>
        <p:nvSpPr>
          <p:cNvPr id="60" name="Text 9">
            <a:extLst>
              <a:ext uri="{FF2B5EF4-FFF2-40B4-BE49-F238E27FC236}">
                <a16:creationId xmlns:a16="http://schemas.microsoft.com/office/drawing/2014/main" id="{425B6C28-D086-C778-12D6-262844692624}"/>
              </a:ext>
            </a:extLst>
          </p:cNvPr>
          <p:cNvSpPr/>
          <p:nvPr/>
        </p:nvSpPr>
        <p:spPr>
          <a:xfrm>
            <a:off x="10533888" y="484632"/>
            <a:ext cx="475488" cy="274320"/>
          </a:xfrm>
          <a:prstGeom prst="rect">
            <a:avLst/>
          </a:prstGeom>
          <a:noFill/>
          <a:ln/>
        </p:spPr>
        <p:txBody>
          <a:bodyPr wrap="square" lIns="0" tIns="0" rIns="0" bIns="0" rtlCol="0" anchor="ctr"/>
          <a:lstStyle/>
          <a:p>
            <a:pPr marL="0" indent="0" algn="ctr">
              <a:buNone/>
            </a:pPr>
            <a:r>
              <a:rPr lang="en-US" sz="1050" b="1">
                <a:solidFill>
                  <a:srgbClr val="5D7186"/>
                </a:solidFill>
                <a:latin typeface="Calibri" pitchFamily="34" charset="0"/>
                <a:ea typeface="Calibri" pitchFamily="34" charset="-122"/>
                <a:cs typeface="Calibri" pitchFamily="34" charset="-120"/>
              </a:rPr>
              <a:t>L3</a:t>
            </a:r>
            <a:endParaRPr lang="en-US" sz="1050"/>
          </a:p>
        </p:txBody>
      </p:sp>
      <p:sp>
        <p:nvSpPr>
          <p:cNvPr id="62" name="Text 10">
            <a:extLst>
              <a:ext uri="{FF2B5EF4-FFF2-40B4-BE49-F238E27FC236}">
                <a16:creationId xmlns:a16="http://schemas.microsoft.com/office/drawing/2014/main" id="{5615F568-8971-B702-6316-42A53ED634C7}"/>
              </a:ext>
            </a:extLst>
          </p:cNvPr>
          <p:cNvSpPr/>
          <p:nvPr/>
        </p:nvSpPr>
        <p:spPr>
          <a:xfrm>
            <a:off x="11009376" y="484632"/>
            <a:ext cx="146304" cy="274320"/>
          </a:xfrm>
          <a:prstGeom prst="rect">
            <a:avLst/>
          </a:prstGeom>
          <a:noFill/>
          <a:ln/>
        </p:spPr>
        <p:txBody>
          <a:bodyPr wrap="square" lIns="0" tIns="0" rIns="0" bIns="0" rtlCol="0" anchor="ctr"/>
          <a:lstStyle/>
          <a:p>
            <a:pPr marL="0" indent="0" algn="ctr">
              <a:buNone/>
            </a:pPr>
            <a:r>
              <a:rPr lang="en-US" sz="1100">
                <a:solidFill>
                  <a:srgbClr val="DDE5EE"/>
                </a:solidFill>
                <a:latin typeface="Calibri" pitchFamily="34" charset="0"/>
                <a:ea typeface="Calibri" pitchFamily="34" charset="-122"/>
                <a:cs typeface="Calibri" pitchFamily="34" charset="-120"/>
              </a:rPr>
              <a:t>›</a:t>
            </a:r>
            <a:endParaRPr lang="en-US" sz="1100"/>
          </a:p>
        </p:txBody>
      </p:sp>
      <p:sp>
        <p:nvSpPr>
          <p:cNvPr id="64" name="Shape 11">
            <a:extLst>
              <a:ext uri="{FF2B5EF4-FFF2-40B4-BE49-F238E27FC236}">
                <a16:creationId xmlns:a16="http://schemas.microsoft.com/office/drawing/2014/main" id="{4C31F587-D6E8-9F7D-57F8-795B316839CF}"/>
              </a:ext>
            </a:extLst>
          </p:cNvPr>
          <p:cNvSpPr/>
          <p:nvPr/>
        </p:nvSpPr>
        <p:spPr>
          <a:xfrm>
            <a:off x="11155680" y="484632"/>
            <a:ext cx="475488" cy="274320"/>
          </a:xfrm>
          <a:prstGeom prst="roundRect">
            <a:avLst>
              <a:gd name="adj" fmla="val 46667"/>
            </a:avLst>
          </a:prstGeom>
          <a:solidFill>
            <a:srgbClr val="F5F7FA"/>
          </a:solidFill>
          <a:ln w="12700">
            <a:solidFill>
              <a:srgbClr val="DDE5EE"/>
            </a:solidFill>
            <a:prstDash val="solid"/>
          </a:ln>
        </p:spPr>
        <p:txBody>
          <a:bodyPr/>
          <a:lstStyle/>
          <a:p>
            <a:endParaRPr lang="de-CH"/>
          </a:p>
        </p:txBody>
      </p:sp>
      <p:sp>
        <p:nvSpPr>
          <p:cNvPr id="66" name="Text 12">
            <a:extLst>
              <a:ext uri="{FF2B5EF4-FFF2-40B4-BE49-F238E27FC236}">
                <a16:creationId xmlns:a16="http://schemas.microsoft.com/office/drawing/2014/main" id="{E1EA5920-0F84-4ED9-E72F-92D166E9DA5B}"/>
              </a:ext>
            </a:extLst>
          </p:cNvPr>
          <p:cNvSpPr/>
          <p:nvPr/>
        </p:nvSpPr>
        <p:spPr>
          <a:xfrm>
            <a:off x="11155680" y="484632"/>
            <a:ext cx="475488" cy="274320"/>
          </a:xfrm>
          <a:prstGeom prst="rect">
            <a:avLst/>
          </a:prstGeom>
          <a:noFill/>
          <a:ln/>
        </p:spPr>
        <p:txBody>
          <a:bodyPr wrap="square" lIns="0" tIns="0" rIns="0" bIns="0" rtlCol="0" anchor="ctr"/>
          <a:lstStyle/>
          <a:p>
            <a:pPr marL="0" indent="0" algn="ctr">
              <a:buNone/>
            </a:pPr>
            <a:r>
              <a:rPr lang="en-US" sz="1050" b="1">
                <a:solidFill>
                  <a:srgbClr val="5D7186"/>
                </a:solidFill>
                <a:latin typeface="Calibri" pitchFamily="34" charset="0"/>
                <a:ea typeface="Calibri" pitchFamily="34" charset="-122"/>
                <a:cs typeface="Calibri" pitchFamily="34" charset="-120"/>
              </a:rPr>
              <a:t>L4</a:t>
            </a:r>
            <a:endParaRPr lang="en-US" sz="1050"/>
          </a:p>
        </p:txBody>
      </p:sp>
      <p:sp>
        <p:nvSpPr>
          <p:cNvPr id="68" name="Shape 5">
            <a:extLst>
              <a:ext uri="{FF2B5EF4-FFF2-40B4-BE49-F238E27FC236}">
                <a16:creationId xmlns:a16="http://schemas.microsoft.com/office/drawing/2014/main" id="{316A8E7B-C443-EA55-3D29-F6518252D477}"/>
              </a:ext>
            </a:extLst>
          </p:cNvPr>
          <p:cNvSpPr/>
          <p:nvPr/>
        </p:nvSpPr>
        <p:spPr>
          <a:xfrm>
            <a:off x="9290304" y="484632"/>
            <a:ext cx="475488" cy="274320"/>
          </a:xfrm>
          <a:prstGeom prst="roundRect">
            <a:avLst>
              <a:gd name="adj" fmla="val 46667"/>
            </a:avLst>
          </a:prstGeom>
          <a:solidFill>
            <a:srgbClr val="12202E"/>
          </a:solidFill>
          <a:ln w="12700">
            <a:solidFill>
              <a:srgbClr val="12202E"/>
            </a:solidFill>
            <a:prstDash val="solid"/>
          </a:ln>
        </p:spPr>
        <p:txBody>
          <a:bodyPr/>
          <a:lstStyle/>
          <a:p>
            <a:endParaRPr lang="de-CH">
              <a:ln>
                <a:solidFill>
                  <a:schemeClr val="bg1"/>
                </a:solidFill>
              </a:ln>
              <a:solidFill>
                <a:srgbClr val="C9D6E4"/>
              </a:solidFill>
            </a:endParaRPr>
          </a:p>
        </p:txBody>
      </p:sp>
      <p:sp>
        <p:nvSpPr>
          <p:cNvPr id="70" name="Text 6">
            <a:extLst>
              <a:ext uri="{FF2B5EF4-FFF2-40B4-BE49-F238E27FC236}">
                <a16:creationId xmlns:a16="http://schemas.microsoft.com/office/drawing/2014/main" id="{7EE4E68B-0531-0425-292B-36F650295EB8}"/>
              </a:ext>
            </a:extLst>
          </p:cNvPr>
          <p:cNvSpPr/>
          <p:nvPr/>
        </p:nvSpPr>
        <p:spPr>
          <a:xfrm>
            <a:off x="9290304" y="484632"/>
            <a:ext cx="475488" cy="274320"/>
          </a:xfrm>
          <a:prstGeom prst="rect">
            <a:avLst/>
          </a:prstGeom>
          <a:noFill/>
          <a:ln/>
        </p:spPr>
        <p:txBody>
          <a:bodyPr wrap="square" lIns="0" tIns="0" rIns="0" bIns="0" rtlCol="0" anchor="ctr"/>
          <a:lstStyle/>
          <a:p>
            <a:pPr algn="ctr"/>
            <a:r>
              <a:rPr lang="en-US" sz="1050" b="1">
                <a:solidFill>
                  <a:schemeClr val="bg1"/>
                </a:solidFill>
                <a:latin typeface="Calibri" pitchFamily="34" charset="0"/>
                <a:ea typeface="Calibri" pitchFamily="34" charset="-122"/>
                <a:cs typeface="Calibri" pitchFamily="34" charset="-120"/>
              </a:rPr>
              <a:t>L1</a:t>
            </a:r>
            <a:endParaRPr lang="en-US" sz="1050">
              <a:solidFill>
                <a:schemeClr val="bg1"/>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7680960" cy="219456"/>
          </a:xfrm>
          <a:prstGeom prst="rect">
            <a:avLst/>
          </a:prstGeom>
          <a:noFill/>
          <a:ln/>
        </p:spPr>
        <p:txBody>
          <a:bodyPr wrap="square" lIns="0" tIns="0" rIns="0" bIns="0" rtlCol="0" anchor="ctr"/>
          <a:lstStyle/>
          <a:p>
            <a:pPr marL="0" indent="0">
              <a:buNone/>
            </a:pPr>
            <a:r>
              <a:rPr lang="en-US" sz="1050" b="1" kern="0" spc="160">
                <a:solidFill>
                  <a:srgbClr val="5D7186"/>
                </a:solidFill>
                <a:latin typeface="Calibri" pitchFamily="34" charset="0"/>
                <a:ea typeface="Calibri" pitchFamily="34" charset="-122"/>
                <a:cs typeface="Calibri" pitchFamily="34" charset="-120"/>
              </a:rPr>
              <a:t>L1 → L2 · SOUTHAMPTON MAPPING</a:t>
            </a:r>
            <a:endParaRPr lang="en-US" sz="1050"/>
          </a:p>
        </p:txBody>
      </p:sp>
      <p:sp>
        <p:nvSpPr>
          <p:cNvPr id="3" name="Text 1"/>
          <p:cNvSpPr/>
          <p:nvPr/>
        </p:nvSpPr>
        <p:spPr>
          <a:xfrm>
            <a:off x="566928" y="640080"/>
            <a:ext cx="8412480" cy="658368"/>
          </a:xfrm>
          <a:prstGeom prst="rect">
            <a:avLst/>
          </a:prstGeom>
          <a:noFill/>
          <a:ln/>
        </p:spPr>
        <p:txBody>
          <a:bodyPr wrap="square" lIns="0" tIns="0" rIns="0" bIns="0" rtlCol="0" anchor="t"/>
          <a:lstStyle/>
          <a:p>
            <a:r>
              <a:rPr lang="en-US" sz="2700" b="1">
                <a:solidFill>
                  <a:srgbClr val="12202E"/>
                </a:solidFill>
                <a:latin typeface="Cambria" pitchFamily="34" charset="0"/>
                <a:ea typeface="Cambria" pitchFamily="34" charset="-122"/>
                <a:cs typeface="Cambria" pitchFamily="34" charset="-120"/>
              </a:rPr>
              <a:t>Our image selection based on a </a:t>
            </a:r>
            <a:r>
              <a:rPr lang="en-US" sz="2700" b="1">
                <a:solidFill>
                  <a:srgbClr val="12202E"/>
                </a:solidFill>
                <a:latin typeface="Cambria" panose="02040503050406030204" pitchFamily="18" charset="0"/>
                <a:ea typeface="Cambria" panose="02040503050406030204" pitchFamily="18" charset="0"/>
                <a:cs typeface="Cambria" pitchFamily="34" charset="-120"/>
              </a:rPr>
              <a:t>published grading </a:t>
            </a:r>
            <a:r>
              <a:rPr lang="en-US" sz="2700" b="1">
                <a:solidFill>
                  <a:srgbClr val="12202E"/>
                </a:solidFill>
                <a:latin typeface="Cambria" pitchFamily="34" charset="0"/>
                <a:ea typeface="Cambria" pitchFamily="34" charset="-122"/>
                <a:cs typeface="Cambria" pitchFamily="34" charset="-120"/>
              </a:rPr>
              <a:t>—</a:t>
            </a:r>
            <a:endParaRPr lang="en-US" sz="2700" b="1">
              <a:solidFill>
                <a:srgbClr val="12202E"/>
              </a:solidFill>
              <a:latin typeface="Cambria" panose="02040503050406030204" pitchFamily="18" charset="0"/>
              <a:ea typeface="Cambria" panose="02040503050406030204" pitchFamily="18" charset="0"/>
              <a:cs typeface="Cambria" pitchFamily="34" charset="-120"/>
            </a:endParaRPr>
          </a:p>
          <a:p>
            <a:r>
              <a:rPr lang="de-DE" sz="2000" i="1">
                <a:latin typeface="Cambria" panose="02040503050406030204" pitchFamily="18" charset="0"/>
                <a:ea typeface="Cambria" panose="02040503050406030204" pitchFamily="18" charset="0"/>
              </a:rPr>
              <a:t>not </a:t>
            </a:r>
            <a:r>
              <a:rPr lang="de-DE" sz="2000" i="1" err="1">
                <a:latin typeface="Cambria" panose="02040503050406030204" pitchFamily="18" charset="0"/>
                <a:ea typeface="Cambria" panose="02040503050406030204" pitchFamily="18" charset="0"/>
              </a:rPr>
              <a:t>arbitrary</a:t>
            </a:r>
            <a:r>
              <a:rPr lang="de-DE" sz="2000" i="1">
                <a:latin typeface="Cambria" panose="02040503050406030204" pitchFamily="18" charset="0"/>
                <a:ea typeface="Cambria" panose="02040503050406030204" pitchFamily="18" charset="0"/>
              </a:rPr>
              <a:t> UI design</a:t>
            </a:r>
            <a:endParaRPr lang="en-US" sz="2000" i="1">
              <a:latin typeface="Cambria" panose="02040503050406030204" pitchFamily="18" charset="0"/>
              <a:ea typeface="Cambria" panose="02040503050406030204" pitchFamily="18" charset="0"/>
            </a:endParaRPr>
          </a:p>
        </p:txBody>
      </p:sp>
      <p:sp>
        <p:nvSpPr>
          <p:cNvPr id="15" name="Shape 13"/>
          <p:cNvSpPr/>
          <p:nvPr/>
        </p:nvSpPr>
        <p:spPr>
          <a:xfrm>
            <a:off x="566928" y="1645920"/>
            <a:ext cx="7772400" cy="566928"/>
          </a:xfrm>
          <a:prstGeom prst="roundRect">
            <a:avLst>
              <a:gd name="adj" fmla="val 14516"/>
            </a:avLst>
          </a:prstGeom>
          <a:solidFill>
            <a:srgbClr val="FFFFFF"/>
          </a:solidFill>
          <a:ln w="12700">
            <a:solidFill>
              <a:srgbClr val="DDE5EE"/>
            </a:solidFill>
            <a:prstDash val="solid"/>
          </a:ln>
        </p:spPr>
        <p:txBody>
          <a:bodyPr/>
          <a:lstStyle/>
          <a:p>
            <a:endParaRPr lang="de-CH"/>
          </a:p>
        </p:txBody>
      </p:sp>
      <p:sp>
        <p:nvSpPr>
          <p:cNvPr id="16" name="Shape 14"/>
          <p:cNvSpPr/>
          <p:nvPr/>
        </p:nvSpPr>
        <p:spPr>
          <a:xfrm>
            <a:off x="713232" y="1773936"/>
            <a:ext cx="457200" cy="310896"/>
          </a:xfrm>
          <a:prstGeom prst="roundRect">
            <a:avLst>
              <a:gd name="adj" fmla="val 23529"/>
            </a:avLst>
          </a:prstGeom>
          <a:solidFill>
            <a:srgbClr val="E8F6EE"/>
          </a:solidFill>
          <a:ln w="12700">
            <a:solidFill>
              <a:srgbClr val="E8F6EE"/>
            </a:solidFill>
            <a:prstDash val="solid"/>
          </a:ln>
        </p:spPr>
        <p:txBody>
          <a:bodyPr/>
          <a:lstStyle/>
          <a:p>
            <a:endParaRPr lang="de-CH"/>
          </a:p>
        </p:txBody>
      </p:sp>
      <p:sp>
        <p:nvSpPr>
          <p:cNvPr id="17" name="Text 15"/>
          <p:cNvSpPr/>
          <p:nvPr/>
        </p:nvSpPr>
        <p:spPr>
          <a:xfrm>
            <a:off x="713232" y="1773936"/>
            <a:ext cx="457200" cy="310896"/>
          </a:xfrm>
          <a:prstGeom prst="rect">
            <a:avLst/>
          </a:prstGeom>
          <a:noFill/>
          <a:ln/>
        </p:spPr>
        <p:txBody>
          <a:bodyPr wrap="square" lIns="0" tIns="0" rIns="0" bIns="0" rtlCol="0" anchor="ctr"/>
          <a:lstStyle/>
          <a:p>
            <a:pPr marL="0" indent="0" algn="ctr">
              <a:buNone/>
            </a:pPr>
            <a:r>
              <a:rPr lang="en-US" sz="1150" b="1">
                <a:solidFill>
                  <a:srgbClr val="1A7F4B"/>
                </a:solidFill>
                <a:latin typeface="Calibri" pitchFamily="34" charset="0"/>
                <a:ea typeface="Calibri" pitchFamily="34" charset="-122"/>
                <a:cs typeface="Calibri" pitchFamily="34" charset="-120"/>
              </a:rPr>
              <a:t>0</a:t>
            </a:r>
            <a:endParaRPr lang="en-US" sz="1150"/>
          </a:p>
        </p:txBody>
      </p:sp>
      <p:sp>
        <p:nvSpPr>
          <p:cNvPr id="18" name="Text 16"/>
          <p:cNvSpPr/>
          <p:nvPr/>
        </p:nvSpPr>
        <p:spPr>
          <a:xfrm>
            <a:off x="1298448" y="1645920"/>
            <a:ext cx="4114800" cy="566928"/>
          </a:xfrm>
          <a:prstGeom prst="rect">
            <a:avLst/>
          </a:prstGeom>
          <a:noFill/>
          <a:ln/>
        </p:spPr>
        <p:txBody>
          <a:bodyPr wrap="square" lIns="0" tIns="0" rIns="0" bIns="0" rtlCol="0" anchor="ctr"/>
          <a:lstStyle/>
          <a:p>
            <a:pPr marL="0" indent="0">
              <a:buNone/>
            </a:pPr>
            <a:r>
              <a:rPr lang="en-US" sz="1150">
                <a:solidFill>
                  <a:srgbClr val="12202E"/>
                </a:solidFill>
                <a:latin typeface="Calibri" pitchFamily="34" charset="0"/>
                <a:ea typeface="Calibri" pitchFamily="34" charset="-122"/>
                <a:cs typeface="Calibri" pitchFamily="34" charset="-120"/>
              </a:rPr>
              <a:t>Normal healing</a:t>
            </a:r>
            <a:endParaRPr lang="en-US" sz="1150"/>
          </a:p>
        </p:txBody>
      </p:sp>
      <p:sp>
        <p:nvSpPr>
          <p:cNvPr id="19" name="Text 17"/>
          <p:cNvSpPr/>
          <p:nvPr/>
        </p:nvSpPr>
        <p:spPr>
          <a:xfrm>
            <a:off x="5504688" y="1645920"/>
            <a:ext cx="2743200" cy="566928"/>
          </a:xfrm>
          <a:prstGeom prst="rect">
            <a:avLst/>
          </a:prstGeom>
          <a:noFill/>
          <a:ln/>
        </p:spPr>
        <p:txBody>
          <a:bodyPr wrap="square" lIns="0" tIns="0" rIns="0" bIns="0" rtlCol="0" anchor="ctr"/>
          <a:lstStyle/>
          <a:p>
            <a:pPr marL="0" indent="0">
              <a:buNone/>
            </a:pPr>
            <a:r>
              <a:rPr lang="en-US" sz="1100">
                <a:solidFill>
                  <a:srgbClr val="5D7186"/>
                </a:solidFill>
                <a:latin typeface="Calibri" pitchFamily="34" charset="0"/>
                <a:ea typeface="Calibri" pitchFamily="34" charset="-122"/>
                <a:cs typeface="Calibri" pitchFamily="34" charset="-120"/>
              </a:rPr>
              <a:t>→  Calm &amp; dry</a:t>
            </a:r>
            <a:endParaRPr lang="en-US" sz="1100"/>
          </a:p>
        </p:txBody>
      </p:sp>
      <p:sp>
        <p:nvSpPr>
          <p:cNvPr id="20" name="Shape 18"/>
          <p:cNvSpPr/>
          <p:nvPr/>
        </p:nvSpPr>
        <p:spPr>
          <a:xfrm>
            <a:off x="566928" y="2322576"/>
            <a:ext cx="7772400" cy="566928"/>
          </a:xfrm>
          <a:prstGeom prst="roundRect">
            <a:avLst>
              <a:gd name="adj" fmla="val 14516"/>
            </a:avLst>
          </a:prstGeom>
          <a:solidFill>
            <a:srgbClr val="F5F7FA"/>
          </a:solidFill>
          <a:ln w="12700">
            <a:solidFill>
              <a:srgbClr val="DDE5EE"/>
            </a:solidFill>
            <a:prstDash val="solid"/>
          </a:ln>
        </p:spPr>
        <p:txBody>
          <a:bodyPr/>
          <a:lstStyle/>
          <a:p>
            <a:endParaRPr lang="de-CH"/>
          </a:p>
        </p:txBody>
      </p:sp>
      <p:sp>
        <p:nvSpPr>
          <p:cNvPr id="21" name="Shape 19"/>
          <p:cNvSpPr/>
          <p:nvPr/>
        </p:nvSpPr>
        <p:spPr>
          <a:xfrm>
            <a:off x="713232" y="2450592"/>
            <a:ext cx="457200" cy="310896"/>
          </a:xfrm>
          <a:prstGeom prst="roundRect">
            <a:avLst>
              <a:gd name="adj" fmla="val 23529"/>
            </a:avLst>
          </a:prstGeom>
          <a:solidFill>
            <a:srgbClr val="E8F6EE"/>
          </a:solidFill>
          <a:ln w="12700">
            <a:solidFill>
              <a:srgbClr val="E8F6EE"/>
            </a:solidFill>
            <a:prstDash val="solid"/>
          </a:ln>
        </p:spPr>
        <p:txBody>
          <a:bodyPr/>
          <a:lstStyle/>
          <a:p>
            <a:endParaRPr lang="de-CH"/>
          </a:p>
        </p:txBody>
      </p:sp>
      <p:sp>
        <p:nvSpPr>
          <p:cNvPr id="22" name="Text 20"/>
          <p:cNvSpPr/>
          <p:nvPr/>
        </p:nvSpPr>
        <p:spPr>
          <a:xfrm>
            <a:off x="713232" y="2450592"/>
            <a:ext cx="457200" cy="310896"/>
          </a:xfrm>
          <a:prstGeom prst="rect">
            <a:avLst/>
          </a:prstGeom>
          <a:noFill/>
          <a:ln/>
        </p:spPr>
        <p:txBody>
          <a:bodyPr wrap="square" lIns="0" tIns="0" rIns="0" bIns="0" rtlCol="0" anchor="ctr"/>
          <a:lstStyle/>
          <a:p>
            <a:pPr marL="0" indent="0" algn="ctr">
              <a:buNone/>
            </a:pPr>
            <a:r>
              <a:rPr lang="en-US" sz="1150" b="1">
                <a:solidFill>
                  <a:srgbClr val="1A7F4B"/>
                </a:solidFill>
                <a:latin typeface="Calibri" pitchFamily="34" charset="0"/>
                <a:ea typeface="Calibri" pitchFamily="34" charset="-122"/>
                <a:cs typeface="Calibri" pitchFamily="34" charset="-120"/>
              </a:rPr>
              <a:t>I</a:t>
            </a:r>
            <a:endParaRPr lang="en-US" sz="1150"/>
          </a:p>
        </p:txBody>
      </p:sp>
      <p:sp>
        <p:nvSpPr>
          <p:cNvPr id="23" name="Text 21"/>
          <p:cNvSpPr/>
          <p:nvPr/>
        </p:nvSpPr>
        <p:spPr>
          <a:xfrm>
            <a:off x="1298448" y="2322576"/>
            <a:ext cx="4114800" cy="566928"/>
          </a:xfrm>
          <a:prstGeom prst="rect">
            <a:avLst/>
          </a:prstGeom>
          <a:noFill/>
          <a:ln/>
        </p:spPr>
        <p:txBody>
          <a:bodyPr wrap="square" lIns="0" tIns="0" rIns="0" bIns="0" rtlCol="0" anchor="ctr"/>
          <a:lstStyle/>
          <a:p>
            <a:pPr marL="0" indent="0">
              <a:buNone/>
            </a:pPr>
            <a:r>
              <a:rPr lang="en-US" sz="1150">
                <a:solidFill>
                  <a:srgbClr val="12202E"/>
                </a:solidFill>
                <a:latin typeface="Calibri" pitchFamily="34" charset="0"/>
                <a:ea typeface="Calibri" pitchFamily="34" charset="-122"/>
                <a:cs typeface="Calibri" pitchFamily="34" charset="-120"/>
              </a:rPr>
              <a:t>Mild bruising and/or erythema</a:t>
            </a:r>
            <a:endParaRPr lang="en-US" sz="1150"/>
          </a:p>
        </p:txBody>
      </p:sp>
      <p:sp>
        <p:nvSpPr>
          <p:cNvPr id="24" name="Text 22"/>
          <p:cNvSpPr/>
          <p:nvPr/>
        </p:nvSpPr>
        <p:spPr>
          <a:xfrm>
            <a:off x="5504688" y="2322576"/>
            <a:ext cx="2743200" cy="566928"/>
          </a:xfrm>
          <a:prstGeom prst="rect">
            <a:avLst/>
          </a:prstGeom>
          <a:noFill/>
          <a:ln/>
        </p:spPr>
        <p:txBody>
          <a:bodyPr wrap="square" lIns="0" tIns="0" rIns="0" bIns="0" rtlCol="0" anchor="ctr"/>
          <a:lstStyle/>
          <a:p>
            <a:pPr marL="0" indent="0">
              <a:buNone/>
            </a:pPr>
            <a:r>
              <a:rPr lang="en-US" sz="1100">
                <a:solidFill>
                  <a:srgbClr val="5D7186"/>
                </a:solidFill>
                <a:latin typeface="Calibri" pitchFamily="34" charset="0"/>
                <a:ea typeface="Calibri" pitchFamily="34" charset="-122"/>
                <a:cs typeface="Calibri" pitchFamily="34" charset="-120"/>
              </a:rPr>
              <a:t>→  Slightly reddened</a:t>
            </a:r>
            <a:endParaRPr lang="en-US" sz="1100"/>
          </a:p>
        </p:txBody>
      </p:sp>
      <p:sp>
        <p:nvSpPr>
          <p:cNvPr id="25" name="Shape 23"/>
          <p:cNvSpPr/>
          <p:nvPr/>
        </p:nvSpPr>
        <p:spPr>
          <a:xfrm>
            <a:off x="566928" y="2999232"/>
            <a:ext cx="7772400" cy="566928"/>
          </a:xfrm>
          <a:prstGeom prst="roundRect">
            <a:avLst>
              <a:gd name="adj" fmla="val 14516"/>
            </a:avLst>
          </a:prstGeom>
          <a:solidFill>
            <a:srgbClr val="FFFFFF"/>
          </a:solidFill>
          <a:ln w="12700">
            <a:solidFill>
              <a:srgbClr val="DDE5EE"/>
            </a:solidFill>
            <a:prstDash val="solid"/>
          </a:ln>
        </p:spPr>
        <p:txBody>
          <a:bodyPr/>
          <a:lstStyle/>
          <a:p>
            <a:endParaRPr lang="de-CH"/>
          </a:p>
        </p:txBody>
      </p:sp>
      <p:sp>
        <p:nvSpPr>
          <p:cNvPr id="26" name="Shape 24"/>
          <p:cNvSpPr/>
          <p:nvPr/>
        </p:nvSpPr>
        <p:spPr>
          <a:xfrm>
            <a:off x="713232" y="3127248"/>
            <a:ext cx="457200" cy="310896"/>
          </a:xfrm>
          <a:prstGeom prst="roundRect">
            <a:avLst>
              <a:gd name="adj" fmla="val 23529"/>
            </a:avLst>
          </a:prstGeom>
          <a:solidFill>
            <a:srgbClr val="FBF2DC"/>
          </a:solidFill>
          <a:ln w="12700">
            <a:solidFill>
              <a:srgbClr val="FBF2DC"/>
            </a:solidFill>
            <a:prstDash val="solid"/>
          </a:ln>
        </p:spPr>
        <p:txBody>
          <a:bodyPr/>
          <a:lstStyle/>
          <a:p>
            <a:endParaRPr lang="de-CH"/>
          </a:p>
        </p:txBody>
      </p:sp>
      <p:sp>
        <p:nvSpPr>
          <p:cNvPr id="27" name="Text 25"/>
          <p:cNvSpPr/>
          <p:nvPr/>
        </p:nvSpPr>
        <p:spPr>
          <a:xfrm>
            <a:off x="713232" y="3127248"/>
            <a:ext cx="457200" cy="310896"/>
          </a:xfrm>
          <a:prstGeom prst="rect">
            <a:avLst/>
          </a:prstGeom>
          <a:noFill/>
          <a:ln/>
        </p:spPr>
        <p:txBody>
          <a:bodyPr wrap="square" lIns="0" tIns="0" rIns="0" bIns="0" rtlCol="0" anchor="ctr"/>
          <a:lstStyle/>
          <a:p>
            <a:pPr marL="0" indent="0" algn="ctr">
              <a:buNone/>
            </a:pPr>
            <a:r>
              <a:rPr lang="en-US" sz="1150" b="1">
                <a:solidFill>
                  <a:srgbClr val="9C6D00"/>
                </a:solidFill>
                <a:latin typeface="Calibri" pitchFamily="34" charset="0"/>
                <a:ea typeface="Calibri" pitchFamily="34" charset="-122"/>
                <a:cs typeface="Calibri" pitchFamily="34" charset="-120"/>
              </a:rPr>
              <a:t>II</a:t>
            </a:r>
            <a:endParaRPr lang="en-US" sz="1150"/>
          </a:p>
        </p:txBody>
      </p:sp>
      <p:sp>
        <p:nvSpPr>
          <p:cNvPr id="28" name="Text 26"/>
          <p:cNvSpPr/>
          <p:nvPr/>
        </p:nvSpPr>
        <p:spPr>
          <a:xfrm>
            <a:off x="1298448" y="2999232"/>
            <a:ext cx="4114800" cy="566928"/>
          </a:xfrm>
          <a:prstGeom prst="rect">
            <a:avLst/>
          </a:prstGeom>
          <a:noFill/>
          <a:ln/>
        </p:spPr>
        <p:txBody>
          <a:bodyPr wrap="square" lIns="0" tIns="0" rIns="0" bIns="0" rtlCol="0" anchor="ctr"/>
          <a:lstStyle/>
          <a:p>
            <a:pPr marL="0" indent="0">
              <a:buNone/>
            </a:pPr>
            <a:r>
              <a:rPr lang="en-US" sz="1150">
                <a:solidFill>
                  <a:srgbClr val="12202E"/>
                </a:solidFill>
                <a:latin typeface="Calibri" pitchFamily="34" charset="0"/>
                <a:ea typeface="Calibri" pitchFamily="34" charset="-122"/>
                <a:cs typeface="Calibri" pitchFamily="34" charset="-120"/>
              </a:rPr>
              <a:t>Erythema plus other signs of inflammation</a:t>
            </a:r>
            <a:endParaRPr lang="en-US" sz="1150"/>
          </a:p>
        </p:txBody>
      </p:sp>
      <p:sp>
        <p:nvSpPr>
          <p:cNvPr id="29" name="Text 27"/>
          <p:cNvSpPr/>
          <p:nvPr/>
        </p:nvSpPr>
        <p:spPr>
          <a:xfrm>
            <a:off x="5504688" y="2999232"/>
            <a:ext cx="2743200" cy="566928"/>
          </a:xfrm>
          <a:prstGeom prst="rect">
            <a:avLst/>
          </a:prstGeom>
          <a:noFill/>
          <a:ln/>
        </p:spPr>
        <p:txBody>
          <a:bodyPr wrap="square" lIns="0" tIns="0" rIns="0" bIns="0" rtlCol="0" anchor="ctr"/>
          <a:lstStyle/>
          <a:p>
            <a:pPr marL="0" indent="0">
              <a:buNone/>
            </a:pPr>
            <a:r>
              <a:rPr lang="en-US" sz="1100">
                <a:solidFill>
                  <a:srgbClr val="5D7186"/>
                </a:solidFill>
                <a:latin typeface="Calibri" pitchFamily="34" charset="0"/>
                <a:ea typeface="Calibri" pitchFamily="34" charset="-122"/>
                <a:cs typeface="Calibri" pitchFamily="34" charset="-120"/>
              </a:rPr>
              <a:t>→  Markedly reddened &amp; swollen</a:t>
            </a:r>
            <a:endParaRPr lang="en-US" sz="1100"/>
          </a:p>
        </p:txBody>
      </p:sp>
      <p:sp>
        <p:nvSpPr>
          <p:cNvPr id="30" name="Shape 28"/>
          <p:cNvSpPr/>
          <p:nvPr/>
        </p:nvSpPr>
        <p:spPr>
          <a:xfrm>
            <a:off x="566928" y="3675888"/>
            <a:ext cx="7772400" cy="566928"/>
          </a:xfrm>
          <a:prstGeom prst="roundRect">
            <a:avLst>
              <a:gd name="adj" fmla="val 14516"/>
            </a:avLst>
          </a:prstGeom>
          <a:solidFill>
            <a:srgbClr val="F5F7FA"/>
          </a:solidFill>
          <a:ln w="12700">
            <a:solidFill>
              <a:srgbClr val="DDE5EE"/>
            </a:solidFill>
            <a:prstDash val="solid"/>
          </a:ln>
        </p:spPr>
        <p:txBody>
          <a:bodyPr/>
          <a:lstStyle/>
          <a:p>
            <a:endParaRPr lang="de-CH"/>
          </a:p>
        </p:txBody>
      </p:sp>
      <p:sp>
        <p:nvSpPr>
          <p:cNvPr id="31" name="Shape 29"/>
          <p:cNvSpPr/>
          <p:nvPr/>
        </p:nvSpPr>
        <p:spPr>
          <a:xfrm>
            <a:off x="713232" y="3803904"/>
            <a:ext cx="457200" cy="310896"/>
          </a:xfrm>
          <a:prstGeom prst="roundRect">
            <a:avLst>
              <a:gd name="adj" fmla="val 23529"/>
            </a:avLst>
          </a:prstGeom>
          <a:solidFill>
            <a:srgbClr val="FCEADB"/>
          </a:solidFill>
          <a:ln w="12700">
            <a:solidFill>
              <a:srgbClr val="FCEADB"/>
            </a:solidFill>
            <a:prstDash val="solid"/>
          </a:ln>
        </p:spPr>
        <p:txBody>
          <a:bodyPr/>
          <a:lstStyle/>
          <a:p>
            <a:endParaRPr lang="de-CH"/>
          </a:p>
        </p:txBody>
      </p:sp>
      <p:sp>
        <p:nvSpPr>
          <p:cNvPr id="32" name="Text 30"/>
          <p:cNvSpPr/>
          <p:nvPr/>
        </p:nvSpPr>
        <p:spPr>
          <a:xfrm>
            <a:off x="713232" y="3803904"/>
            <a:ext cx="457200" cy="310896"/>
          </a:xfrm>
          <a:prstGeom prst="rect">
            <a:avLst/>
          </a:prstGeom>
          <a:noFill/>
          <a:ln/>
        </p:spPr>
        <p:txBody>
          <a:bodyPr wrap="square" lIns="0" tIns="0" rIns="0" bIns="0" rtlCol="0" anchor="ctr"/>
          <a:lstStyle/>
          <a:p>
            <a:pPr marL="0" indent="0" algn="ctr">
              <a:buNone/>
            </a:pPr>
            <a:r>
              <a:rPr lang="en-US" sz="1150" b="1">
                <a:solidFill>
                  <a:srgbClr val="C25C07"/>
                </a:solidFill>
                <a:latin typeface="Calibri" pitchFamily="34" charset="0"/>
                <a:ea typeface="Calibri" pitchFamily="34" charset="-122"/>
                <a:cs typeface="Calibri" pitchFamily="34" charset="-120"/>
              </a:rPr>
              <a:t>III</a:t>
            </a:r>
            <a:endParaRPr lang="en-US" sz="1150"/>
          </a:p>
        </p:txBody>
      </p:sp>
      <p:sp>
        <p:nvSpPr>
          <p:cNvPr id="33" name="Text 31"/>
          <p:cNvSpPr/>
          <p:nvPr/>
        </p:nvSpPr>
        <p:spPr>
          <a:xfrm>
            <a:off x="1298448" y="3675888"/>
            <a:ext cx="4114800" cy="566928"/>
          </a:xfrm>
          <a:prstGeom prst="rect">
            <a:avLst/>
          </a:prstGeom>
          <a:noFill/>
          <a:ln/>
        </p:spPr>
        <p:txBody>
          <a:bodyPr wrap="square" lIns="0" tIns="0" rIns="0" bIns="0" rtlCol="0" anchor="ctr"/>
          <a:lstStyle/>
          <a:p>
            <a:pPr marL="0" indent="0">
              <a:buNone/>
            </a:pPr>
            <a:r>
              <a:rPr lang="en-US" sz="1150">
                <a:solidFill>
                  <a:srgbClr val="12202E"/>
                </a:solidFill>
                <a:latin typeface="Calibri" pitchFamily="34" charset="0"/>
                <a:ea typeface="Calibri" pitchFamily="34" charset="-122"/>
                <a:cs typeface="Calibri" pitchFamily="34" charset="-120"/>
              </a:rPr>
              <a:t>Clear / serous / bloody discharge</a:t>
            </a:r>
            <a:endParaRPr lang="en-US" sz="1150"/>
          </a:p>
        </p:txBody>
      </p:sp>
      <p:sp>
        <p:nvSpPr>
          <p:cNvPr id="34" name="Text 32"/>
          <p:cNvSpPr/>
          <p:nvPr/>
        </p:nvSpPr>
        <p:spPr>
          <a:xfrm>
            <a:off x="5504688" y="3675888"/>
            <a:ext cx="2743200" cy="566928"/>
          </a:xfrm>
          <a:prstGeom prst="rect">
            <a:avLst/>
          </a:prstGeom>
          <a:noFill/>
          <a:ln/>
        </p:spPr>
        <p:txBody>
          <a:bodyPr wrap="square" lIns="0" tIns="0" rIns="0" bIns="0" rtlCol="0" anchor="ctr"/>
          <a:lstStyle/>
          <a:p>
            <a:pPr marL="0" indent="0">
              <a:buNone/>
            </a:pPr>
            <a:r>
              <a:rPr lang="en-US" sz="1100">
                <a:solidFill>
                  <a:srgbClr val="5D7186"/>
                </a:solidFill>
                <a:latin typeface="Calibri" pitchFamily="34" charset="0"/>
                <a:ea typeface="Calibri" pitchFamily="34" charset="-122"/>
                <a:cs typeface="Calibri" pitchFamily="34" charset="-120"/>
              </a:rPr>
              <a:t>→  Clear or bloody discharge</a:t>
            </a:r>
            <a:endParaRPr lang="en-US" sz="1100"/>
          </a:p>
        </p:txBody>
      </p:sp>
      <p:sp>
        <p:nvSpPr>
          <p:cNvPr id="35" name="Shape 33"/>
          <p:cNvSpPr/>
          <p:nvPr/>
        </p:nvSpPr>
        <p:spPr>
          <a:xfrm>
            <a:off x="566928" y="4352544"/>
            <a:ext cx="7772400" cy="566928"/>
          </a:xfrm>
          <a:prstGeom prst="roundRect">
            <a:avLst>
              <a:gd name="adj" fmla="val 14516"/>
            </a:avLst>
          </a:prstGeom>
          <a:solidFill>
            <a:srgbClr val="FFFFFF"/>
          </a:solidFill>
          <a:ln w="12700">
            <a:solidFill>
              <a:srgbClr val="DDE5EE"/>
            </a:solidFill>
            <a:prstDash val="solid"/>
          </a:ln>
        </p:spPr>
        <p:txBody>
          <a:bodyPr/>
          <a:lstStyle/>
          <a:p>
            <a:endParaRPr lang="de-CH"/>
          </a:p>
        </p:txBody>
      </p:sp>
      <p:sp>
        <p:nvSpPr>
          <p:cNvPr id="36" name="Shape 34"/>
          <p:cNvSpPr/>
          <p:nvPr/>
        </p:nvSpPr>
        <p:spPr>
          <a:xfrm>
            <a:off x="713232" y="4480560"/>
            <a:ext cx="457200" cy="310896"/>
          </a:xfrm>
          <a:prstGeom prst="roundRect">
            <a:avLst>
              <a:gd name="adj" fmla="val 23529"/>
            </a:avLst>
          </a:prstGeom>
          <a:solidFill>
            <a:srgbClr val="FCEADB"/>
          </a:solidFill>
          <a:ln w="12700">
            <a:solidFill>
              <a:srgbClr val="FCEADB"/>
            </a:solidFill>
            <a:prstDash val="solid"/>
          </a:ln>
        </p:spPr>
        <p:txBody>
          <a:bodyPr/>
          <a:lstStyle/>
          <a:p>
            <a:endParaRPr lang="de-CH"/>
          </a:p>
        </p:txBody>
      </p:sp>
      <p:sp>
        <p:nvSpPr>
          <p:cNvPr id="37" name="Text 35"/>
          <p:cNvSpPr/>
          <p:nvPr/>
        </p:nvSpPr>
        <p:spPr>
          <a:xfrm>
            <a:off x="713232" y="4480560"/>
            <a:ext cx="457200" cy="310896"/>
          </a:xfrm>
          <a:prstGeom prst="rect">
            <a:avLst/>
          </a:prstGeom>
          <a:noFill/>
          <a:ln/>
        </p:spPr>
        <p:txBody>
          <a:bodyPr wrap="square" lIns="0" tIns="0" rIns="0" bIns="0" rtlCol="0" anchor="ctr"/>
          <a:lstStyle/>
          <a:p>
            <a:pPr marL="0" indent="0" algn="ctr">
              <a:buNone/>
            </a:pPr>
            <a:r>
              <a:rPr lang="en-US" sz="1150" b="1">
                <a:solidFill>
                  <a:srgbClr val="C25C07"/>
                </a:solidFill>
                <a:latin typeface="Calibri" pitchFamily="34" charset="0"/>
                <a:ea typeface="Calibri" pitchFamily="34" charset="-122"/>
                <a:cs typeface="Calibri" pitchFamily="34" charset="-120"/>
              </a:rPr>
              <a:t>IV</a:t>
            </a:r>
            <a:endParaRPr lang="en-US" sz="1150"/>
          </a:p>
        </p:txBody>
      </p:sp>
      <p:sp>
        <p:nvSpPr>
          <p:cNvPr id="38" name="Text 36"/>
          <p:cNvSpPr/>
          <p:nvPr/>
        </p:nvSpPr>
        <p:spPr>
          <a:xfrm>
            <a:off x="1298448" y="4352544"/>
            <a:ext cx="4114800" cy="566928"/>
          </a:xfrm>
          <a:prstGeom prst="rect">
            <a:avLst/>
          </a:prstGeom>
          <a:noFill/>
          <a:ln/>
        </p:spPr>
        <p:txBody>
          <a:bodyPr wrap="square" lIns="0" tIns="0" rIns="0" bIns="0" rtlCol="0" anchor="ctr"/>
          <a:lstStyle/>
          <a:p>
            <a:pPr marL="0" indent="0">
              <a:buNone/>
            </a:pPr>
            <a:r>
              <a:rPr lang="en-US" sz="1150">
                <a:solidFill>
                  <a:srgbClr val="12202E"/>
                </a:solidFill>
                <a:latin typeface="Calibri" pitchFamily="34" charset="0"/>
                <a:ea typeface="Calibri" pitchFamily="34" charset="-122"/>
                <a:cs typeface="Calibri" pitchFamily="34" charset="-120"/>
              </a:rPr>
              <a:t>Pus</a:t>
            </a:r>
            <a:endParaRPr lang="en-US" sz="1150"/>
          </a:p>
        </p:txBody>
      </p:sp>
      <p:sp>
        <p:nvSpPr>
          <p:cNvPr id="39" name="Text 37"/>
          <p:cNvSpPr/>
          <p:nvPr/>
        </p:nvSpPr>
        <p:spPr>
          <a:xfrm>
            <a:off x="5504688" y="4352544"/>
            <a:ext cx="2743200" cy="566928"/>
          </a:xfrm>
          <a:prstGeom prst="rect">
            <a:avLst/>
          </a:prstGeom>
          <a:noFill/>
          <a:ln/>
        </p:spPr>
        <p:txBody>
          <a:bodyPr wrap="square" lIns="0" tIns="0" rIns="0" bIns="0" rtlCol="0" anchor="ctr"/>
          <a:lstStyle/>
          <a:p>
            <a:pPr marL="0" indent="0">
              <a:buNone/>
            </a:pPr>
            <a:r>
              <a:rPr lang="en-US" sz="1100">
                <a:solidFill>
                  <a:srgbClr val="5D7186"/>
                </a:solidFill>
                <a:latin typeface="Calibri" pitchFamily="34" charset="0"/>
                <a:ea typeface="Calibri" pitchFamily="34" charset="-122"/>
                <a:cs typeface="Calibri" pitchFamily="34" charset="-120"/>
              </a:rPr>
              <a:t>→  Cloudy / purulent discharge</a:t>
            </a:r>
            <a:endParaRPr lang="en-US" sz="1100"/>
          </a:p>
        </p:txBody>
      </p:sp>
      <p:sp>
        <p:nvSpPr>
          <p:cNvPr id="40" name="Shape 38"/>
          <p:cNvSpPr/>
          <p:nvPr/>
        </p:nvSpPr>
        <p:spPr>
          <a:xfrm>
            <a:off x="566928" y="5029200"/>
            <a:ext cx="7772400" cy="566928"/>
          </a:xfrm>
          <a:prstGeom prst="roundRect">
            <a:avLst>
              <a:gd name="adj" fmla="val 14516"/>
            </a:avLst>
          </a:prstGeom>
          <a:solidFill>
            <a:srgbClr val="F5F7FA"/>
          </a:solidFill>
          <a:ln w="12700">
            <a:solidFill>
              <a:srgbClr val="DDE5EE"/>
            </a:solidFill>
            <a:prstDash val="solid"/>
          </a:ln>
        </p:spPr>
        <p:txBody>
          <a:bodyPr/>
          <a:lstStyle/>
          <a:p>
            <a:endParaRPr lang="de-CH"/>
          </a:p>
        </p:txBody>
      </p:sp>
      <p:sp>
        <p:nvSpPr>
          <p:cNvPr id="41" name="Shape 39"/>
          <p:cNvSpPr/>
          <p:nvPr/>
        </p:nvSpPr>
        <p:spPr>
          <a:xfrm>
            <a:off x="713232" y="5157216"/>
            <a:ext cx="457200" cy="310896"/>
          </a:xfrm>
          <a:prstGeom prst="roundRect">
            <a:avLst>
              <a:gd name="adj" fmla="val 23529"/>
            </a:avLst>
          </a:prstGeom>
          <a:solidFill>
            <a:srgbClr val="FBE7E5"/>
          </a:solidFill>
          <a:ln w="12700">
            <a:solidFill>
              <a:srgbClr val="FBE7E5"/>
            </a:solidFill>
            <a:prstDash val="solid"/>
          </a:ln>
        </p:spPr>
        <p:txBody>
          <a:bodyPr/>
          <a:lstStyle/>
          <a:p>
            <a:endParaRPr lang="de-CH"/>
          </a:p>
        </p:txBody>
      </p:sp>
      <p:sp>
        <p:nvSpPr>
          <p:cNvPr id="42" name="Text 40"/>
          <p:cNvSpPr/>
          <p:nvPr/>
        </p:nvSpPr>
        <p:spPr>
          <a:xfrm>
            <a:off x="713232" y="5157216"/>
            <a:ext cx="457200" cy="310896"/>
          </a:xfrm>
          <a:prstGeom prst="rect">
            <a:avLst/>
          </a:prstGeom>
          <a:noFill/>
          <a:ln/>
        </p:spPr>
        <p:txBody>
          <a:bodyPr wrap="square" lIns="0" tIns="0" rIns="0" bIns="0" rtlCol="0" anchor="ctr"/>
          <a:lstStyle/>
          <a:p>
            <a:pPr marL="0" indent="0" algn="ctr">
              <a:buNone/>
            </a:pPr>
            <a:r>
              <a:rPr lang="en-US" sz="1150" b="1">
                <a:solidFill>
                  <a:srgbClr val="C0281C"/>
                </a:solidFill>
                <a:latin typeface="Calibri" pitchFamily="34" charset="0"/>
                <a:ea typeface="Calibri" pitchFamily="34" charset="-122"/>
                <a:cs typeface="Calibri" pitchFamily="34" charset="-120"/>
              </a:rPr>
              <a:t>V</a:t>
            </a:r>
            <a:endParaRPr lang="en-US" sz="1150"/>
          </a:p>
        </p:txBody>
      </p:sp>
      <p:sp>
        <p:nvSpPr>
          <p:cNvPr id="43" name="Text 41"/>
          <p:cNvSpPr/>
          <p:nvPr/>
        </p:nvSpPr>
        <p:spPr>
          <a:xfrm>
            <a:off x="1298448" y="5029200"/>
            <a:ext cx="4114800" cy="566928"/>
          </a:xfrm>
          <a:prstGeom prst="rect">
            <a:avLst/>
          </a:prstGeom>
          <a:noFill/>
          <a:ln/>
        </p:spPr>
        <p:txBody>
          <a:bodyPr wrap="square" lIns="0" tIns="0" rIns="0" bIns="0" rtlCol="0" anchor="ctr"/>
          <a:lstStyle/>
          <a:p>
            <a:pPr marL="0" indent="0">
              <a:buNone/>
            </a:pPr>
            <a:r>
              <a:rPr lang="en-US" sz="1150">
                <a:solidFill>
                  <a:srgbClr val="12202E"/>
                </a:solidFill>
                <a:latin typeface="Calibri" pitchFamily="34" charset="0"/>
                <a:ea typeface="Calibri" pitchFamily="34" charset="-122"/>
                <a:cs typeface="Calibri" pitchFamily="34" charset="-120"/>
              </a:rPr>
              <a:t>Deep infection ± tissue breakdown</a:t>
            </a:r>
            <a:endParaRPr lang="en-US" sz="1150"/>
          </a:p>
        </p:txBody>
      </p:sp>
      <p:sp>
        <p:nvSpPr>
          <p:cNvPr id="44" name="Text 42"/>
          <p:cNvSpPr/>
          <p:nvPr/>
        </p:nvSpPr>
        <p:spPr>
          <a:xfrm>
            <a:off x="5504688" y="5029200"/>
            <a:ext cx="2743200" cy="566928"/>
          </a:xfrm>
          <a:prstGeom prst="rect">
            <a:avLst/>
          </a:prstGeom>
          <a:noFill/>
          <a:ln/>
        </p:spPr>
        <p:txBody>
          <a:bodyPr wrap="square" lIns="0" tIns="0" rIns="0" bIns="0" rtlCol="0" anchor="ctr"/>
          <a:lstStyle/>
          <a:p>
            <a:pPr marL="0" indent="0">
              <a:buNone/>
            </a:pPr>
            <a:r>
              <a:rPr lang="en-US" sz="1100">
                <a:solidFill>
                  <a:srgbClr val="5D7186"/>
                </a:solidFill>
                <a:latin typeface="Calibri" pitchFamily="34" charset="0"/>
                <a:ea typeface="Calibri" pitchFamily="34" charset="-122"/>
                <a:cs typeface="Calibri" pitchFamily="34" charset="-120"/>
              </a:rPr>
              <a:t>→  Open / pus</a:t>
            </a:r>
            <a:endParaRPr lang="en-US" sz="1100"/>
          </a:p>
        </p:txBody>
      </p:sp>
      <p:sp>
        <p:nvSpPr>
          <p:cNvPr id="45" name="Shape 43"/>
          <p:cNvSpPr/>
          <p:nvPr/>
        </p:nvSpPr>
        <p:spPr>
          <a:xfrm>
            <a:off x="8613648" y="1645920"/>
            <a:ext cx="3017520" cy="2103120"/>
          </a:xfrm>
          <a:prstGeom prst="roundRect">
            <a:avLst>
              <a:gd name="adj" fmla="val 3913"/>
            </a:avLst>
          </a:prstGeom>
          <a:solidFill>
            <a:srgbClr val="FFFFFF"/>
          </a:solidFill>
          <a:ln w="12700">
            <a:solidFill>
              <a:srgbClr val="DDE5EE"/>
            </a:solidFill>
            <a:prstDash val="solid"/>
          </a:ln>
        </p:spPr>
        <p:txBody>
          <a:bodyPr/>
          <a:lstStyle/>
          <a:p>
            <a:endParaRPr lang="de-CH"/>
          </a:p>
        </p:txBody>
      </p:sp>
      <p:sp>
        <p:nvSpPr>
          <p:cNvPr id="46" name="Text 44"/>
          <p:cNvSpPr/>
          <p:nvPr/>
        </p:nvSpPr>
        <p:spPr>
          <a:xfrm>
            <a:off x="8842248" y="1810512"/>
            <a:ext cx="2560320" cy="256032"/>
          </a:xfrm>
          <a:prstGeom prst="rect">
            <a:avLst/>
          </a:prstGeom>
          <a:noFill/>
          <a:ln/>
        </p:spPr>
        <p:txBody>
          <a:bodyPr wrap="square" lIns="0" tIns="0" rIns="0" bIns="0" rtlCol="0" anchor="ctr"/>
          <a:lstStyle/>
          <a:p>
            <a:pPr marL="0" indent="0">
              <a:buNone/>
            </a:pPr>
            <a:r>
              <a:rPr lang="en-US" sz="1200" b="1">
                <a:solidFill>
                  <a:srgbClr val="12202E"/>
                </a:solidFill>
                <a:latin typeface="Calibri" pitchFamily="34" charset="0"/>
                <a:ea typeface="Calibri" pitchFamily="34" charset="-122"/>
                <a:cs typeface="Calibri" pitchFamily="34" charset="-120"/>
              </a:rPr>
              <a:t>What this buys us</a:t>
            </a:r>
            <a:endParaRPr lang="en-US" sz="1200"/>
          </a:p>
        </p:txBody>
      </p:sp>
      <p:sp>
        <p:nvSpPr>
          <p:cNvPr id="47" name="Text 45"/>
          <p:cNvSpPr/>
          <p:nvPr/>
        </p:nvSpPr>
        <p:spPr>
          <a:xfrm>
            <a:off x="8842248" y="2103120"/>
            <a:ext cx="2560320" cy="1417320"/>
          </a:xfrm>
          <a:prstGeom prst="rect">
            <a:avLst/>
          </a:prstGeom>
          <a:noFill/>
          <a:ln/>
        </p:spPr>
        <p:txBody>
          <a:bodyPr wrap="square" lIns="0" tIns="0" rIns="0" bIns="0" rtlCol="0" anchor="t"/>
          <a:lstStyle/>
          <a:p>
            <a:pPr marL="177800" indent="-177800">
              <a:lnSpc>
                <a:spcPts val="1500"/>
              </a:lnSpc>
              <a:spcAft>
                <a:spcPts val="700"/>
              </a:spcAft>
              <a:buSzPct val="100000"/>
              <a:buChar char="•"/>
            </a:pPr>
            <a:r>
              <a:rPr lang="en-US" sz="1100">
                <a:solidFill>
                  <a:srgbClr val="5D7186"/>
                </a:solidFill>
                <a:latin typeface="Calibri" pitchFamily="34" charset="0"/>
                <a:ea typeface="Calibri" pitchFamily="34" charset="-122"/>
                <a:cs typeface="Calibri" pitchFamily="34" charset="-120"/>
              </a:rPr>
              <a:t>a citable source for our core interaction</a:t>
            </a:r>
            <a:endParaRPr lang="en-US" sz="1100"/>
          </a:p>
          <a:p>
            <a:pPr marL="177800" indent="-177800">
              <a:lnSpc>
                <a:spcPts val="1500"/>
              </a:lnSpc>
              <a:spcAft>
                <a:spcPts val="700"/>
              </a:spcAft>
              <a:buSzPct val="100000"/>
              <a:buChar char="•"/>
            </a:pPr>
            <a:r>
              <a:rPr lang="en-US" sz="1100">
                <a:solidFill>
                  <a:srgbClr val="5D7186"/>
                </a:solidFill>
                <a:latin typeface="Calibri" pitchFamily="34" charset="0"/>
                <a:ea typeface="Calibri" pitchFamily="34" charset="-122"/>
                <a:cs typeface="Calibri" pitchFamily="34" charset="-120"/>
              </a:rPr>
              <a:t>a non-trivial derived element</a:t>
            </a:r>
            <a:endParaRPr lang="en-US" sz="1100"/>
          </a:p>
          <a:p>
            <a:pPr marL="177800" indent="-177800">
              <a:lnSpc>
                <a:spcPts val="1500"/>
              </a:lnSpc>
              <a:spcAft>
                <a:spcPts val="700"/>
              </a:spcAft>
              <a:buSzPct val="100000"/>
              <a:buChar char="•"/>
            </a:pPr>
            <a:r>
              <a:rPr lang="en-US" sz="1100">
                <a:solidFill>
                  <a:srgbClr val="5D7186"/>
                </a:solidFill>
                <a:latin typeface="Calibri" pitchFamily="34" charset="0"/>
                <a:ea typeface="Calibri" pitchFamily="34" charset="-122"/>
                <a:cs typeface="Calibri" pitchFamily="34" charset="-120"/>
              </a:rPr>
              <a:t>an honest, evidenced limitation</a:t>
            </a:r>
            <a:endParaRPr lang="en-US" sz="1100"/>
          </a:p>
        </p:txBody>
      </p:sp>
      <p:sp>
        <p:nvSpPr>
          <p:cNvPr id="48" name="Shape 46"/>
          <p:cNvSpPr/>
          <p:nvPr/>
        </p:nvSpPr>
        <p:spPr>
          <a:xfrm>
            <a:off x="8613648" y="3931920"/>
            <a:ext cx="3017520" cy="1773936"/>
          </a:xfrm>
          <a:prstGeom prst="roundRect">
            <a:avLst>
              <a:gd name="adj" fmla="val 4639"/>
            </a:avLst>
          </a:prstGeom>
          <a:solidFill>
            <a:srgbClr val="FBE7E5"/>
          </a:solidFill>
          <a:ln w="12700">
            <a:solidFill>
              <a:srgbClr val="F0ACA6"/>
            </a:solidFill>
            <a:prstDash val="solid"/>
          </a:ln>
        </p:spPr>
        <p:txBody>
          <a:bodyPr/>
          <a:lstStyle/>
          <a:p>
            <a:endParaRPr lang="de-CH"/>
          </a:p>
        </p:txBody>
      </p:sp>
      <p:sp>
        <p:nvSpPr>
          <p:cNvPr id="49" name="Text 47"/>
          <p:cNvSpPr/>
          <p:nvPr/>
        </p:nvSpPr>
        <p:spPr>
          <a:xfrm>
            <a:off x="8842248" y="4096512"/>
            <a:ext cx="2560320" cy="256032"/>
          </a:xfrm>
          <a:prstGeom prst="rect">
            <a:avLst/>
          </a:prstGeom>
          <a:noFill/>
          <a:ln/>
        </p:spPr>
        <p:txBody>
          <a:bodyPr wrap="square" lIns="0" tIns="0" rIns="0" bIns="0" rtlCol="0" anchor="ctr"/>
          <a:lstStyle/>
          <a:p>
            <a:pPr marL="0" indent="0">
              <a:buNone/>
            </a:pPr>
            <a:r>
              <a:rPr lang="en-US" sz="1200" b="1">
                <a:solidFill>
                  <a:srgbClr val="C0281C"/>
                </a:solidFill>
                <a:latin typeface="Calibri" pitchFamily="34" charset="0"/>
                <a:ea typeface="Calibri" pitchFamily="34" charset="-122"/>
                <a:cs typeface="Calibri" pitchFamily="34" charset="-120"/>
              </a:rPr>
              <a:t>The adaptation problem</a:t>
            </a:r>
            <a:endParaRPr lang="en-US" sz="1200"/>
          </a:p>
        </p:txBody>
      </p:sp>
      <p:sp>
        <p:nvSpPr>
          <p:cNvPr id="50" name="Text 48"/>
          <p:cNvSpPr/>
          <p:nvPr/>
        </p:nvSpPr>
        <p:spPr>
          <a:xfrm>
            <a:off x="8842248" y="4425696"/>
            <a:ext cx="2560320" cy="1188720"/>
          </a:xfrm>
          <a:prstGeom prst="rect">
            <a:avLst/>
          </a:prstGeom>
          <a:noFill/>
          <a:ln/>
        </p:spPr>
        <p:txBody>
          <a:bodyPr wrap="square" lIns="0" tIns="0" rIns="0" bIns="0" rtlCol="0" anchor="t"/>
          <a:lstStyle/>
          <a:p>
            <a:pPr marL="0" indent="0">
              <a:lnSpc>
                <a:spcPts val="1400"/>
              </a:lnSpc>
              <a:buNone/>
            </a:pPr>
            <a:r>
              <a:rPr lang="en-US" sz="1050">
                <a:solidFill>
                  <a:srgbClr val="12202E"/>
                </a:solidFill>
                <a:latin typeface="Calibri" pitchFamily="34" charset="0"/>
                <a:ea typeface="Calibri" pitchFamily="34" charset="-122"/>
                <a:cs typeface="Calibri" pitchFamily="34" charset="-120"/>
              </a:rPr>
              <a:t>Southampton grades “&gt; 2 cm along the wound”. Patients do not measure. We ask “one small spot or the whole wound?” — closer to usable, further from precise.</a:t>
            </a:r>
            <a:endParaRPr lang="en-US" sz="1050"/>
          </a:p>
        </p:txBody>
      </p:sp>
      <p:sp>
        <p:nvSpPr>
          <p:cNvPr id="52" name="Text 11">
            <a:extLst>
              <a:ext uri="{FF2B5EF4-FFF2-40B4-BE49-F238E27FC236}">
                <a16:creationId xmlns:a16="http://schemas.microsoft.com/office/drawing/2014/main" id="{F1313E8D-C158-9D91-DD7D-F0E90ABBD535}"/>
              </a:ext>
            </a:extLst>
          </p:cNvPr>
          <p:cNvSpPr/>
          <p:nvPr/>
        </p:nvSpPr>
        <p:spPr>
          <a:xfrm>
            <a:off x="57709" y="6568124"/>
            <a:ext cx="8229600" cy="274320"/>
          </a:xfrm>
          <a:prstGeom prst="rect">
            <a:avLst/>
          </a:prstGeom>
          <a:noFill/>
          <a:ln/>
        </p:spPr>
        <p:txBody>
          <a:bodyPr wrap="square" lIns="0" tIns="0" rIns="0" bIns="0" rtlCol="0" anchor="ctr"/>
          <a:lstStyle/>
          <a:p>
            <a:pPr marL="0" indent="0">
              <a:buNone/>
            </a:pPr>
            <a:r>
              <a:rPr lang="en-US" sz="900">
                <a:solidFill>
                  <a:srgbClr val="8FA3B8"/>
                </a:solidFill>
                <a:latin typeface="Calibri" pitchFamily="34" charset="0"/>
                <a:ea typeface="Calibri" pitchFamily="34" charset="-122"/>
                <a:cs typeface="Calibri" pitchFamily="34" charset="-120"/>
              </a:rPr>
              <a:t>FHNW  ·  MSc Medical Informatics  ·  Clinical Decision Support Systems 2026</a:t>
            </a:r>
            <a:endParaRPr lang="en-US" sz="900"/>
          </a:p>
        </p:txBody>
      </p:sp>
      <p:pic>
        <p:nvPicPr>
          <p:cNvPr id="54" name="Grafik 53">
            <a:extLst>
              <a:ext uri="{FF2B5EF4-FFF2-40B4-BE49-F238E27FC236}">
                <a16:creationId xmlns:a16="http://schemas.microsoft.com/office/drawing/2014/main" id="{2F53C201-614E-33D9-A520-86AE47724283}"/>
              </a:ext>
            </a:extLst>
          </p:cNvPr>
          <p:cNvPicPr>
            <a:picLocks noChangeAspect="1"/>
          </p:cNvPicPr>
          <p:nvPr/>
        </p:nvPicPr>
        <p:blipFill>
          <a:blip r:embed="rId3">
            <a:duotone>
              <a:schemeClr val="accent3">
                <a:shade val="45000"/>
                <a:satMod val="135000"/>
              </a:schemeClr>
              <a:prstClr val="white"/>
            </a:duotone>
          </a:blip>
          <a:stretch>
            <a:fillRect/>
          </a:stretch>
        </p:blipFill>
        <p:spPr>
          <a:xfrm>
            <a:off x="57709" y="47504"/>
            <a:ext cx="1012490" cy="236248"/>
          </a:xfrm>
          <a:prstGeom prst="rect">
            <a:avLst/>
          </a:prstGeom>
        </p:spPr>
      </p:pic>
      <p:grpSp>
        <p:nvGrpSpPr>
          <p:cNvPr id="68" name="Gruppieren 67">
            <a:extLst>
              <a:ext uri="{FF2B5EF4-FFF2-40B4-BE49-F238E27FC236}">
                <a16:creationId xmlns:a16="http://schemas.microsoft.com/office/drawing/2014/main" id="{DF9A7AFF-F4D4-3982-0234-DE4187A1D144}"/>
              </a:ext>
            </a:extLst>
          </p:cNvPr>
          <p:cNvGrpSpPr/>
          <p:nvPr/>
        </p:nvGrpSpPr>
        <p:grpSpPr>
          <a:xfrm>
            <a:off x="2912886" y="5711952"/>
            <a:ext cx="3080483" cy="773676"/>
            <a:chOff x="1326925" y="5711952"/>
            <a:chExt cx="3080483" cy="773676"/>
          </a:xfrm>
        </p:grpSpPr>
        <p:grpSp>
          <p:nvGrpSpPr>
            <p:cNvPr id="65" name="Gruppieren 64">
              <a:extLst>
                <a:ext uri="{FF2B5EF4-FFF2-40B4-BE49-F238E27FC236}">
                  <a16:creationId xmlns:a16="http://schemas.microsoft.com/office/drawing/2014/main" id="{6C273392-8EE3-2433-700A-E04D8B34768D}"/>
                </a:ext>
              </a:extLst>
            </p:cNvPr>
            <p:cNvGrpSpPr/>
            <p:nvPr/>
          </p:nvGrpSpPr>
          <p:grpSpPr>
            <a:xfrm>
              <a:off x="2133208" y="5711952"/>
              <a:ext cx="2274200" cy="773676"/>
              <a:chOff x="2739692" y="5416296"/>
              <a:chExt cx="3747976" cy="1238250"/>
            </a:xfrm>
          </p:grpSpPr>
          <p:pic>
            <p:nvPicPr>
              <p:cNvPr id="60" name="Grafik 59">
                <a:extLst>
                  <a:ext uri="{FF2B5EF4-FFF2-40B4-BE49-F238E27FC236}">
                    <a16:creationId xmlns:a16="http://schemas.microsoft.com/office/drawing/2014/main" id="{E195A340-D22E-9EFB-5243-D99106B3160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39692" y="5416296"/>
                <a:ext cx="1714500" cy="1238250"/>
              </a:xfrm>
              <a:prstGeom prst="rect">
                <a:avLst/>
              </a:prstGeom>
            </p:spPr>
          </p:pic>
          <p:pic>
            <p:nvPicPr>
              <p:cNvPr id="64" name="Grafik 63">
                <a:extLst>
                  <a:ext uri="{FF2B5EF4-FFF2-40B4-BE49-F238E27FC236}">
                    <a16:creationId xmlns:a16="http://schemas.microsoft.com/office/drawing/2014/main" id="{2FACE9FA-0663-D72C-B6B5-CC64E586B88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773168" y="5416296"/>
                <a:ext cx="1714500" cy="1238250"/>
              </a:xfrm>
              <a:prstGeom prst="rect">
                <a:avLst/>
              </a:prstGeom>
            </p:spPr>
          </p:pic>
        </p:grpSp>
        <p:sp>
          <p:nvSpPr>
            <p:cNvPr id="67" name="Text 44">
              <a:extLst>
                <a:ext uri="{FF2B5EF4-FFF2-40B4-BE49-F238E27FC236}">
                  <a16:creationId xmlns:a16="http://schemas.microsoft.com/office/drawing/2014/main" id="{BC559889-FBE0-45DA-291F-BF169BB57F2F}"/>
                </a:ext>
              </a:extLst>
            </p:cNvPr>
            <p:cNvSpPr/>
            <p:nvPr/>
          </p:nvSpPr>
          <p:spPr>
            <a:xfrm>
              <a:off x="1326925" y="5955792"/>
              <a:ext cx="2560320" cy="256032"/>
            </a:xfrm>
            <a:prstGeom prst="rect">
              <a:avLst/>
            </a:prstGeom>
            <a:noFill/>
            <a:ln/>
          </p:spPr>
          <p:txBody>
            <a:bodyPr wrap="square" lIns="0" tIns="0" rIns="0" bIns="0" rtlCol="0" anchor="ctr"/>
            <a:lstStyle/>
            <a:p>
              <a:pPr marL="0" indent="0">
                <a:buNone/>
              </a:pPr>
              <a:r>
                <a:rPr lang="en-US" sz="1200" b="1">
                  <a:solidFill>
                    <a:srgbClr val="12202E"/>
                  </a:solidFill>
                  <a:latin typeface="Calibri" pitchFamily="34" charset="0"/>
                  <a:ea typeface="Calibri" pitchFamily="34" charset="-122"/>
                  <a:cs typeface="Calibri" pitchFamily="34" charset="-120"/>
                </a:rPr>
                <a:t>Examples:</a:t>
              </a:r>
              <a:endParaRPr lang="en-US" sz="1200"/>
            </a:p>
          </p:txBody>
        </p:sp>
      </p:grpSp>
      <p:sp>
        <p:nvSpPr>
          <p:cNvPr id="81" name="Text 4">
            <a:extLst>
              <a:ext uri="{FF2B5EF4-FFF2-40B4-BE49-F238E27FC236}">
                <a16:creationId xmlns:a16="http://schemas.microsoft.com/office/drawing/2014/main" id="{605D5C2E-40FB-8E54-80EA-FECE1E7E9653}"/>
              </a:ext>
            </a:extLst>
          </p:cNvPr>
          <p:cNvSpPr/>
          <p:nvPr/>
        </p:nvSpPr>
        <p:spPr>
          <a:xfrm>
            <a:off x="9765792" y="484632"/>
            <a:ext cx="146304" cy="274320"/>
          </a:xfrm>
          <a:prstGeom prst="rect">
            <a:avLst/>
          </a:prstGeom>
          <a:noFill/>
          <a:ln/>
        </p:spPr>
        <p:txBody>
          <a:bodyPr wrap="square" lIns="0" tIns="0" rIns="0" bIns="0" rtlCol="0" anchor="ctr"/>
          <a:lstStyle/>
          <a:p>
            <a:pPr marL="0" indent="0" algn="ctr">
              <a:buNone/>
            </a:pPr>
            <a:r>
              <a:rPr lang="en-US" sz="1100">
                <a:solidFill>
                  <a:srgbClr val="DDE5EE"/>
                </a:solidFill>
                <a:latin typeface="Calibri" pitchFamily="34" charset="0"/>
                <a:ea typeface="Calibri" pitchFamily="34" charset="-122"/>
                <a:cs typeface="Calibri" pitchFamily="34" charset="-120"/>
              </a:rPr>
              <a:t>›</a:t>
            </a:r>
            <a:endParaRPr lang="en-US" sz="1100"/>
          </a:p>
        </p:txBody>
      </p:sp>
      <p:sp>
        <p:nvSpPr>
          <p:cNvPr id="83" name="Shape 5">
            <a:extLst>
              <a:ext uri="{FF2B5EF4-FFF2-40B4-BE49-F238E27FC236}">
                <a16:creationId xmlns:a16="http://schemas.microsoft.com/office/drawing/2014/main" id="{056E16CA-CD11-C822-5F61-183E2ED2227C}"/>
              </a:ext>
            </a:extLst>
          </p:cNvPr>
          <p:cNvSpPr/>
          <p:nvPr/>
        </p:nvSpPr>
        <p:spPr>
          <a:xfrm>
            <a:off x="9912096" y="484632"/>
            <a:ext cx="475488" cy="274320"/>
          </a:xfrm>
          <a:prstGeom prst="roundRect">
            <a:avLst>
              <a:gd name="adj" fmla="val 46667"/>
            </a:avLst>
          </a:prstGeom>
          <a:solidFill>
            <a:srgbClr val="12202E"/>
          </a:solidFill>
          <a:ln w="12700">
            <a:solidFill>
              <a:srgbClr val="12202E"/>
            </a:solidFill>
            <a:prstDash val="solid"/>
          </a:ln>
        </p:spPr>
        <p:txBody>
          <a:bodyPr/>
          <a:lstStyle/>
          <a:p>
            <a:endParaRPr lang="de-CH"/>
          </a:p>
        </p:txBody>
      </p:sp>
      <p:sp>
        <p:nvSpPr>
          <p:cNvPr id="85" name="Text 6">
            <a:extLst>
              <a:ext uri="{FF2B5EF4-FFF2-40B4-BE49-F238E27FC236}">
                <a16:creationId xmlns:a16="http://schemas.microsoft.com/office/drawing/2014/main" id="{5E9628E2-B3D2-E9CE-EE4F-17106C63F95C}"/>
              </a:ext>
            </a:extLst>
          </p:cNvPr>
          <p:cNvSpPr/>
          <p:nvPr/>
        </p:nvSpPr>
        <p:spPr>
          <a:xfrm>
            <a:off x="9912096" y="484632"/>
            <a:ext cx="475488" cy="274320"/>
          </a:xfrm>
          <a:prstGeom prst="rect">
            <a:avLst/>
          </a:prstGeom>
          <a:noFill/>
          <a:ln/>
        </p:spPr>
        <p:txBody>
          <a:bodyPr wrap="square" lIns="0" tIns="0" rIns="0" bIns="0" rtlCol="0" anchor="ctr"/>
          <a:lstStyle/>
          <a:p>
            <a:pPr marL="0" indent="0" algn="ctr">
              <a:buNone/>
            </a:pPr>
            <a:r>
              <a:rPr lang="en-US" sz="1050" b="1">
                <a:solidFill>
                  <a:schemeClr val="bg1"/>
                </a:solidFill>
                <a:latin typeface="Calibri" pitchFamily="34" charset="0"/>
                <a:ea typeface="Calibri" pitchFamily="34" charset="-122"/>
                <a:cs typeface="Calibri" pitchFamily="34" charset="-120"/>
              </a:rPr>
              <a:t>L2</a:t>
            </a:r>
            <a:endParaRPr lang="en-US" sz="1050">
              <a:solidFill>
                <a:schemeClr val="bg1"/>
              </a:solidFill>
            </a:endParaRPr>
          </a:p>
        </p:txBody>
      </p:sp>
      <p:sp>
        <p:nvSpPr>
          <p:cNvPr id="87" name="Text 7">
            <a:extLst>
              <a:ext uri="{FF2B5EF4-FFF2-40B4-BE49-F238E27FC236}">
                <a16:creationId xmlns:a16="http://schemas.microsoft.com/office/drawing/2014/main" id="{5DDCAB1D-4546-ECFB-57DE-E002F5F9D42C}"/>
              </a:ext>
            </a:extLst>
          </p:cNvPr>
          <p:cNvSpPr/>
          <p:nvPr/>
        </p:nvSpPr>
        <p:spPr>
          <a:xfrm>
            <a:off x="10387584" y="484632"/>
            <a:ext cx="146304" cy="274320"/>
          </a:xfrm>
          <a:prstGeom prst="rect">
            <a:avLst/>
          </a:prstGeom>
          <a:noFill/>
          <a:ln/>
        </p:spPr>
        <p:txBody>
          <a:bodyPr wrap="square" lIns="0" tIns="0" rIns="0" bIns="0" rtlCol="0" anchor="ctr"/>
          <a:lstStyle/>
          <a:p>
            <a:pPr marL="0" indent="0" algn="ctr">
              <a:buNone/>
            </a:pPr>
            <a:r>
              <a:rPr lang="en-US" sz="1100">
                <a:solidFill>
                  <a:srgbClr val="DDE5EE"/>
                </a:solidFill>
                <a:latin typeface="Calibri" pitchFamily="34" charset="0"/>
                <a:ea typeface="Calibri" pitchFamily="34" charset="-122"/>
                <a:cs typeface="Calibri" pitchFamily="34" charset="-120"/>
              </a:rPr>
              <a:t>›</a:t>
            </a:r>
            <a:endParaRPr lang="en-US" sz="1100"/>
          </a:p>
        </p:txBody>
      </p:sp>
      <p:sp>
        <p:nvSpPr>
          <p:cNvPr id="89" name="Shape 8">
            <a:extLst>
              <a:ext uri="{FF2B5EF4-FFF2-40B4-BE49-F238E27FC236}">
                <a16:creationId xmlns:a16="http://schemas.microsoft.com/office/drawing/2014/main" id="{6797E759-34F9-BA76-3BB4-D1390CE635FE}"/>
              </a:ext>
            </a:extLst>
          </p:cNvPr>
          <p:cNvSpPr/>
          <p:nvPr/>
        </p:nvSpPr>
        <p:spPr>
          <a:xfrm>
            <a:off x="10533888" y="484632"/>
            <a:ext cx="475488" cy="274320"/>
          </a:xfrm>
          <a:prstGeom prst="roundRect">
            <a:avLst>
              <a:gd name="adj" fmla="val 46667"/>
            </a:avLst>
          </a:prstGeom>
          <a:solidFill>
            <a:srgbClr val="F5F7FA"/>
          </a:solidFill>
          <a:ln w="12700">
            <a:solidFill>
              <a:srgbClr val="DDE5EE"/>
            </a:solidFill>
            <a:prstDash val="solid"/>
          </a:ln>
        </p:spPr>
        <p:txBody>
          <a:bodyPr/>
          <a:lstStyle/>
          <a:p>
            <a:endParaRPr lang="de-CH"/>
          </a:p>
        </p:txBody>
      </p:sp>
      <p:sp>
        <p:nvSpPr>
          <p:cNvPr id="91" name="Text 9">
            <a:extLst>
              <a:ext uri="{FF2B5EF4-FFF2-40B4-BE49-F238E27FC236}">
                <a16:creationId xmlns:a16="http://schemas.microsoft.com/office/drawing/2014/main" id="{29F889C1-6157-AE68-8ECC-C60CB63CDB87}"/>
              </a:ext>
            </a:extLst>
          </p:cNvPr>
          <p:cNvSpPr/>
          <p:nvPr/>
        </p:nvSpPr>
        <p:spPr>
          <a:xfrm>
            <a:off x="10533888" y="484632"/>
            <a:ext cx="475488" cy="274320"/>
          </a:xfrm>
          <a:prstGeom prst="rect">
            <a:avLst/>
          </a:prstGeom>
          <a:noFill/>
          <a:ln/>
        </p:spPr>
        <p:txBody>
          <a:bodyPr wrap="square" lIns="0" tIns="0" rIns="0" bIns="0" rtlCol="0" anchor="ctr"/>
          <a:lstStyle/>
          <a:p>
            <a:pPr marL="0" indent="0" algn="ctr">
              <a:buNone/>
            </a:pPr>
            <a:r>
              <a:rPr lang="en-US" sz="1050" b="1">
                <a:solidFill>
                  <a:srgbClr val="5D7186"/>
                </a:solidFill>
                <a:latin typeface="Calibri" pitchFamily="34" charset="0"/>
                <a:ea typeface="Calibri" pitchFamily="34" charset="-122"/>
                <a:cs typeface="Calibri" pitchFamily="34" charset="-120"/>
              </a:rPr>
              <a:t>L3</a:t>
            </a:r>
            <a:endParaRPr lang="en-US" sz="1050"/>
          </a:p>
        </p:txBody>
      </p:sp>
      <p:sp>
        <p:nvSpPr>
          <p:cNvPr id="93" name="Text 10">
            <a:extLst>
              <a:ext uri="{FF2B5EF4-FFF2-40B4-BE49-F238E27FC236}">
                <a16:creationId xmlns:a16="http://schemas.microsoft.com/office/drawing/2014/main" id="{4C1D7830-F990-1296-1B20-CF6736D4A8A0}"/>
              </a:ext>
            </a:extLst>
          </p:cNvPr>
          <p:cNvSpPr/>
          <p:nvPr/>
        </p:nvSpPr>
        <p:spPr>
          <a:xfrm>
            <a:off x="11009376" y="484632"/>
            <a:ext cx="146304" cy="274320"/>
          </a:xfrm>
          <a:prstGeom prst="rect">
            <a:avLst/>
          </a:prstGeom>
          <a:noFill/>
          <a:ln/>
        </p:spPr>
        <p:txBody>
          <a:bodyPr wrap="square" lIns="0" tIns="0" rIns="0" bIns="0" rtlCol="0" anchor="ctr"/>
          <a:lstStyle/>
          <a:p>
            <a:pPr marL="0" indent="0" algn="ctr">
              <a:buNone/>
            </a:pPr>
            <a:r>
              <a:rPr lang="en-US" sz="1100">
                <a:solidFill>
                  <a:srgbClr val="DDE5EE"/>
                </a:solidFill>
                <a:latin typeface="Calibri" pitchFamily="34" charset="0"/>
                <a:ea typeface="Calibri" pitchFamily="34" charset="-122"/>
                <a:cs typeface="Calibri" pitchFamily="34" charset="-120"/>
              </a:rPr>
              <a:t>›</a:t>
            </a:r>
            <a:endParaRPr lang="en-US" sz="1100"/>
          </a:p>
        </p:txBody>
      </p:sp>
      <p:sp>
        <p:nvSpPr>
          <p:cNvPr id="95" name="Shape 11">
            <a:extLst>
              <a:ext uri="{FF2B5EF4-FFF2-40B4-BE49-F238E27FC236}">
                <a16:creationId xmlns:a16="http://schemas.microsoft.com/office/drawing/2014/main" id="{35D4F1B4-4E21-C885-5C14-7EA8549EEF73}"/>
              </a:ext>
            </a:extLst>
          </p:cNvPr>
          <p:cNvSpPr/>
          <p:nvPr/>
        </p:nvSpPr>
        <p:spPr>
          <a:xfrm>
            <a:off x="11155680" y="484632"/>
            <a:ext cx="475488" cy="274320"/>
          </a:xfrm>
          <a:prstGeom prst="roundRect">
            <a:avLst>
              <a:gd name="adj" fmla="val 46667"/>
            </a:avLst>
          </a:prstGeom>
          <a:solidFill>
            <a:srgbClr val="F5F7FA"/>
          </a:solidFill>
          <a:ln w="12700">
            <a:solidFill>
              <a:srgbClr val="DDE5EE"/>
            </a:solidFill>
            <a:prstDash val="solid"/>
          </a:ln>
        </p:spPr>
        <p:txBody>
          <a:bodyPr/>
          <a:lstStyle/>
          <a:p>
            <a:endParaRPr lang="de-CH"/>
          </a:p>
        </p:txBody>
      </p:sp>
      <p:sp>
        <p:nvSpPr>
          <p:cNvPr id="97" name="Text 12">
            <a:extLst>
              <a:ext uri="{FF2B5EF4-FFF2-40B4-BE49-F238E27FC236}">
                <a16:creationId xmlns:a16="http://schemas.microsoft.com/office/drawing/2014/main" id="{75FF232B-8F16-9A23-DD8F-3ACA6C960543}"/>
              </a:ext>
            </a:extLst>
          </p:cNvPr>
          <p:cNvSpPr/>
          <p:nvPr/>
        </p:nvSpPr>
        <p:spPr>
          <a:xfrm>
            <a:off x="11155680" y="484632"/>
            <a:ext cx="475488" cy="274320"/>
          </a:xfrm>
          <a:prstGeom prst="rect">
            <a:avLst/>
          </a:prstGeom>
          <a:noFill/>
          <a:ln/>
        </p:spPr>
        <p:txBody>
          <a:bodyPr wrap="square" lIns="0" tIns="0" rIns="0" bIns="0" rtlCol="0" anchor="ctr"/>
          <a:lstStyle/>
          <a:p>
            <a:pPr marL="0" indent="0" algn="ctr">
              <a:buNone/>
            </a:pPr>
            <a:r>
              <a:rPr lang="en-US" sz="1050" b="1">
                <a:solidFill>
                  <a:srgbClr val="5D7186"/>
                </a:solidFill>
                <a:latin typeface="Calibri" pitchFamily="34" charset="0"/>
                <a:ea typeface="Calibri" pitchFamily="34" charset="-122"/>
                <a:cs typeface="Calibri" pitchFamily="34" charset="-120"/>
              </a:rPr>
              <a:t>L4</a:t>
            </a:r>
            <a:endParaRPr lang="en-US" sz="1050"/>
          </a:p>
        </p:txBody>
      </p:sp>
      <p:sp>
        <p:nvSpPr>
          <p:cNvPr id="99" name="Shape 5">
            <a:extLst>
              <a:ext uri="{FF2B5EF4-FFF2-40B4-BE49-F238E27FC236}">
                <a16:creationId xmlns:a16="http://schemas.microsoft.com/office/drawing/2014/main" id="{F37A456F-5D0D-A6F1-32D2-4B509CFBC06C}"/>
              </a:ext>
            </a:extLst>
          </p:cNvPr>
          <p:cNvSpPr/>
          <p:nvPr/>
        </p:nvSpPr>
        <p:spPr>
          <a:xfrm>
            <a:off x="9290304" y="484632"/>
            <a:ext cx="475488" cy="274320"/>
          </a:xfrm>
          <a:prstGeom prst="roundRect">
            <a:avLst>
              <a:gd name="adj" fmla="val 46667"/>
            </a:avLst>
          </a:prstGeom>
          <a:solidFill>
            <a:srgbClr val="F5F7FA"/>
          </a:solidFill>
          <a:ln w="12700">
            <a:solidFill>
              <a:srgbClr val="C9D6E4"/>
            </a:solidFill>
            <a:prstDash val="solid"/>
          </a:ln>
        </p:spPr>
        <p:txBody>
          <a:bodyPr/>
          <a:lstStyle/>
          <a:p>
            <a:endParaRPr lang="de-CH">
              <a:ln>
                <a:solidFill>
                  <a:schemeClr val="bg1"/>
                </a:solidFill>
              </a:ln>
              <a:solidFill>
                <a:srgbClr val="C9D6E4"/>
              </a:solidFill>
            </a:endParaRPr>
          </a:p>
        </p:txBody>
      </p:sp>
      <p:sp>
        <p:nvSpPr>
          <p:cNvPr id="101" name="Text 6">
            <a:extLst>
              <a:ext uri="{FF2B5EF4-FFF2-40B4-BE49-F238E27FC236}">
                <a16:creationId xmlns:a16="http://schemas.microsoft.com/office/drawing/2014/main" id="{1CC0F9BB-6BD5-E54B-8320-ADAE3610E8BC}"/>
              </a:ext>
            </a:extLst>
          </p:cNvPr>
          <p:cNvSpPr/>
          <p:nvPr/>
        </p:nvSpPr>
        <p:spPr>
          <a:xfrm>
            <a:off x="9290304" y="484632"/>
            <a:ext cx="475488" cy="274320"/>
          </a:xfrm>
          <a:prstGeom prst="rect">
            <a:avLst/>
          </a:prstGeom>
          <a:noFill/>
          <a:ln/>
        </p:spPr>
        <p:txBody>
          <a:bodyPr wrap="square" lIns="0" tIns="0" rIns="0" bIns="0" rtlCol="0" anchor="ctr"/>
          <a:lstStyle/>
          <a:p>
            <a:pPr algn="ctr"/>
            <a:r>
              <a:rPr lang="en-US" sz="1050" b="1">
                <a:solidFill>
                  <a:srgbClr val="5D7186"/>
                </a:solidFill>
                <a:latin typeface="Calibri" pitchFamily="34" charset="0"/>
                <a:ea typeface="Calibri" pitchFamily="34" charset="-122"/>
                <a:cs typeface="Calibri" pitchFamily="34" charset="-120"/>
              </a:rPr>
              <a:t>L1</a:t>
            </a:r>
            <a:endParaRPr lang="en-US" sz="105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7680960" cy="219456"/>
          </a:xfrm>
          <a:prstGeom prst="rect">
            <a:avLst/>
          </a:prstGeom>
          <a:noFill/>
          <a:ln/>
        </p:spPr>
        <p:txBody>
          <a:bodyPr wrap="square" lIns="0" tIns="0" rIns="0" bIns="0" rtlCol="0" anchor="ctr"/>
          <a:lstStyle/>
          <a:p>
            <a:pPr marL="0" indent="0">
              <a:buNone/>
            </a:pPr>
            <a:r>
              <a:rPr lang="en-US" sz="1050" b="1" kern="0" spc="160" dirty="0">
                <a:solidFill>
                  <a:srgbClr val="5D7186"/>
                </a:solidFill>
                <a:latin typeface="Calibri" pitchFamily="34" charset="0"/>
                <a:ea typeface="Calibri" pitchFamily="34" charset="-122"/>
                <a:cs typeface="Calibri" pitchFamily="34" charset="-120"/>
              </a:rPr>
              <a:t>L2 · HIGH-LEVEL WORKFLOW (BPMN)</a:t>
            </a:r>
            <a:endParaRPr lang="en-US" sz="1050" dirty="0"/>
          </a:p>
        </p:txBody>
      </p:sp>
      <p:sp>
        <p:nvSpPr>
          <p:cNvPr id="3" name="Text 1"/>
          <p:cNvSpPr/>
          <p:nvPr/>
        </p:nvSpPr>
        <p:spPr>
          <a:xfrm>
            <a:off x="566928" y="640080"/>
            <a:ext cx="8869680" cy="658368"/>
          </a:xfrm>
          <a:prstGeom prst="rect">
            <a:avLst/>
          </a:prstGeom>
          <a:noFill/>
          <a:ln/>
        </p:spPr>
        <p:txBody>
          <a:bodyPr wrap="square" lIns="0" tIns="0" rIns="0" bIns="0" rtlCol="0" anchor="t"/>
          <a:lstStyle/>
          <a:p>
            <a:r>
              <a:rPr lang="de-DE" sz="2700" b="1" dirty="0">
                <a:latin typeface="Cambria" panose="02040503050406030204" pitchFamily="18" charset="0"/>
                <a:ea typeface="Cambria" panose="02040503050406030204" pitchFamily="18" charset="0"/>
              </a:rPr>
              <a:t>Clinical </a:t>
            </a:r>
            <a:r>
              <a:rPr lang="de-DE" sz="2700" b="1" dirty="0" err="1">
                <a:latin typeface="Cambria" panose="02040503050406030204" pitchFamily="18" charset="0"/>
                <a:ea typeface="Cambria" panose="02040503050406030204" pitchFamily="18" charset="0"/>
              </a:rPr>
              <a:t>decision</a:t>
            </a:r>
            <a:r>
              <a:rPr lang="de-DE" sz="2700" b="1" dirty="0">
                <a:latin typeface="Cambria" panose="02040503050406030204" pitchFamily="18" charset="0"/>
                <a:ea typeface="Cambria" panose="02040503050406030204" pitchFamily="18" charset="0"/>
              </a:rPr>
              <a:t> </a:t>
            </a:r>
            <a:r>
              <a:rPr lang="de-DE" sz="2700" b="1" dirty="0" err="1">
                <a:latin typeface="Cambria" panose="02040503050406030204" pitchFamily="18" charset="0"/>
                <a:ea typeface="Cambria" panose="02040503050406030204" pitchFamily="18" charset="0"/>
              </a:rPr>
              <a:t>logic</a:t>
            </a:r>
            <a:r>
              <a:rPr lang="de-DE" sz="2700" b="1" dirty="0">
                <a:latin typeface="Cambria" panose="02040503050406030204" pitchFamily="18" charset="0"/>
                <a:ea typeface="Cambria" panose="02040503050406030204" pitchFamily="18" charset="0"/>
              </a:rPr>
              <a:t> </a:t>
            </a:r>
            <a:r>
              <a:rPr lang="de-DE" sz="2700" b="1" dirty="0" err="1">
                <a:latin typeface="Cambria" panose="02040503050406030204" pitchFamily="18" charset="0"/>
                <a:ea typeface="Cambria" panose="02040503050406030204" pitchFamily="18" charset="0"/>
              </a:rPr>
              <a:t>is</a:t>
            </a:r>
            <a:r>
              <a:rPr lang="de-DE" sz="2700" b="1" dirty="0">
                <a:latin typeface="Cambria" panose="02040503050406030204" pitchFamily="18" charset="0"/>
                <a:ea typeface="Cambria" panose="02040503050406030204" pitchFamily="18" charset="0"/>
              </a:rPr>
              <a:t> </a:t>
            </a:r>
            <a:r>
              <a:rPr lang="de-DE" sz="2700" b="1" dirty="0" err="1">
                <a:latin typeface="Cambria" panose="02040503050406030204" pitchFamily="18" charset="0"/>
                <a:ea typeface="Cambria" panose="02040503050406030204" pitchFamily="18" charset="0"/>
              </a:rPr>
              <a:t>separated</a:t>
            </a:r>
            <a:endParaRPr lang="de-DE" sz="2700" b="1" dirty="0">
              <a:latin typeface="Cambria" panose="02040503050406030204" pitchFamily="18" charset="0"/>
              <a:ea typeface="Cambria" panose="02040503050406030204" pitchFamily="18" charset="0"/>
            </a:endParaRPr>
          </a:p>
          <a:p>
            <a:r>
              <a:rPr lang="de-DE" sz="2000" i="1" dirty="0" err="1">
                <a:latin typeface="Cambria" panose="02040503050406030204" pitchFamily="18" charset="0"/>
                <a:ea typeface="Cambria" panose="02040503050406030204" pitchFamily="18" charset="0"/>
              </a:rPr>
              <a:t>from</a:t>
            </a:r>
            <a:r>
              <a:rPr lang="de-DE" sz="2000" i="1" dirty="0">
                <a:latin typeface="Cambria" panose="02040503050406030204" pitchFamily="18" charset="0"/>
                <a:ea typeface="Cambria" panose="02040503050406030204" pitchFamily="18" charset="0"/>
              </a:rPr>
              <a:t> the </a:t>
            </a:r>
            <a:r>
              <a:rPr lang="de-DE" sz="2000" i="1" dirty="0" err="1">
                <a:latin typeface="Cambria" panose="02040503050406030204" pitchFamily="18" charset="0"/>
                <a:ea typeface="Cambria" panose="02040503050406030204" pitchFamily="18" charset="0"/>
              </a:rPr>
              <a:t>user</a:t>
            </a:r>
            <a:r>
              <a:rPr lang="de-DE" sz="2000" i="1" dirty="0">
                <a:latin typeface="Cambria" panose="02040503050406030204" pitchFamily="18" charset="0"/>
                <a:ea typeface="Cambria" panose="02040503050406030204" pitchFamily="18" charset="0"/>
              </a:rPr>
              <a:t> interface</a:t>
            </a:r>
          </a:p>
          <a:p>
            <a:pPr marL="0" indent="0">
              <a:buNone/>
            </a:pPr>
            <a:endParaRPr lang="en-US" sz="2000" i="1" dirty="0"/>
          </a:p>
        </p:txBody>
      </p:sp>
      <p:sp>
        <p:nvSpPr>
          <p:cNvPr id="4" name="Shape 2"/>
          <p:cNvSpPr/>
          <p:nvPr/>
        </p:nvSpPr>
        <p:spPr>
          <a:xfrm>
            <a:off x="9290304" y="475488"/>
            <a:ext cx="475488" cy="274320"/>
          </a:xfrm>
          <a:prstGeom prst="roundRect">
            <a:avLst>
              <a:gd name="adj" fmla="val 46667"/>
            </a:avLst>
          </a:prstGeom>
          <a:solidFill>
            <a:srgbClr val="F5F7FA"/>
          </a:solidFill>
          <a:ln w="12700">
            <a:solidFill>
              <a:srgbClr val="DDE5EE"/>
            </a:solidFill>
            <a:prstDash val="solid"/>
          </a:ln>
        </p:spPr>
        <p:txBody>
          <a:bodyPr/>
          <a:lstStyle/>
          <a:p>
            <a:endParaRPr lang="de-CH"/>
          </a:p>
        </p:txBody>
      </p:sp>
      <p:sp>
        <p:nvSpPr>
          <p:cNvPr id="5" name="Text 3"/>
          <p:cNvSpPr/>
          <p:nvPr/>
        </p:nvSpPr>
        <p:spPr>
          <a:xfrm>
            <a:off x="9290304" y="475488"/>
            <a:ext cx="475488" cy="274320"/>
          </a:xfrm>
          <a:prstGeom prst="rect">
            <a:avLst/>
          </a:prstGeom>
          <a:noFill/>
          <a:ln/>
        </p:spPr>
        <p:txBody>
          <a:bodyPr wrap="square" lIns="0" tIns="0" rIns="0" bIns="0" rtlCol="0" anchor="ctr"/>
          <a:lstStyle/>
          <a:p>
            <a:pPr marL="0" indent="0" algn="ctr">
              <a:buNone/>
            </a:pPr>
            <a:r>
              <a:rPr lang="en-US" sz="1050" b="1" dirty="0">
                <a:solidFill>
                  <a:srgbClr val="5D7186"/>
                </a:solidFill>
                <a:latin typeface="Calibri" pitchFamily="34" charset="0"/>
                <a:ea typeface="Calibri" pitchFamily="34" charset="-122"/>
                <a:cs typeface="Calibri" pitchFamily="34" charset="-120"/>
              </a:rPr>
              <a:t>L1</a:t>
            </a:r>
            <a:endParaRPr lang="en-US" sz="1050" dirty="0"/>
          </a:p>
        </p:txBody>
      </p:sp>
      <p:sp>
        <p:nvSpPr>
          <p:cNvPr id="6" name="Text 4"/>
          <p:cNvSpPr/>
          <p:nvPr/>
        </p:nvSpPr>
        <p:spPr>
          <a:xfrm>
            <a:off x="9765792" y="475488"/>
            <a:ext cx="146304" cy="274320"/>
          </a:xfrm>
          <a:prstGeom prst="rect">
            <a:avLst/>
          </a:prstGeom>
          <a:noFill/>
          <a:ln/>
        </p:spPr>
        <p:txBody>
          <a:bodyPr wrap="square" lIns="0" tIns="0" rIns="0" bIns="0" rtlCol="0" anchor="ctr"/>
          <a:lstStyle/>
          <a:p>
            <a:pPr marL="0" indent="0" algn="ctr">
              <a:buNone/>
            </a:pPr>
            <a:r>
              <a:rPr lang="en-US" sz="1100" dirty="0">
                <a:solidFill>
                  <a:srgbClr val="DDE5EE"/>
                </a:solidFill>
                <a:latin typeface="Calibri" pitchFamily="34" charset="0"/>
                <a:ea typeface="Calibri" pitchFamily="34" charset="-122"/>
                <a:cs typeface="Calibri" pitchFamily="34" charset="-120"/>
              </a:rPr>
              <a:t>›</a:t>
            </a:r>
            <a:endParaRPr lang="en-US" sz="1100" dirty="0"/>
          </a:p>
        </p:txBody>
      </p:sp>
      <p:sp>
        <p:nvSpPr>
          <p:cNvPr id="7" name="Shape 5"/>
          <p:cNvSpPr/>
          <p:nvPr/>
        </p:nvSpPr>
        <p:spPr>
          <a:xfrm>
            <a:off x="9912096" y="475488"/>
            <a:ext cx="475488" cy="274320"/>
          </a:xfrm>
          <a:prstGeom prst="roundRect">
            <a:avLst>
              <a:gd name="adj" fmla="val 46667"/>
            </a:avLst>
          </a:prstGeom>
          <a:solidFill>
            <a:srgbClr val="12202E"/>
          </a:solidFill>
          <a:ln w="12700">
            <a:solidFill>
              <a:srgbClr val="12202E"/>
            </a:solidFill>
            <a:prstDash val="solid"/>
          </a:ln>
        </p:spPr>
        <p:txBody>
          <a:bodyPr/>
          <a:lstStyle/>
          <a:p>
            <a:endParaRPr lang="de-CH"/>
          </a:p>
        </p:txBody>
      </p:sp>
      <p:sp>
        <p:nvSpPr>
          <p:cNvPr id="8" name="Text 6"/>
          <p:cNvSpPr/>
          <p:nvPr/>
        </p:nvSpPr>
        <p:spPr>
          <a:xfrm>
            <a:off x="9912096" y="475488"/>
            <a:ext cx="475488"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L2</a:t>
            </a:r>
            <a:endParaRPr lang="en-US" sz="1050" dirty="0"/>
          </a:p>
        </p:txBody>
      </p:sp>
      <p:sp>
        <p:nvSpPr>
          <p:cNvPr id="9" name="Text 7"/>
          <p:cNvSpPr/>
          <p:nvPr/>
        </p:nvSpPr>
        <p:spPr>
          <a:xfrm>
            <a:off x="10387584" y="475488"/>
            <a:ext cx="146304" cy="274320"/>
          </a:xfrm>
          <a:prstGeom prst="rect">
            <a:avLst/>
          </a:prstGeom>
          <a:noFill/>
          <a:ln/>
        </p:spPr>
        <p:txBody>
          <a:bodyPr wrap="square" lIns="0" tIns="0" rIns="0" bIns="0" rtlCol="0" anchor="ctr"/>
          <a:lstStyle/>
          <a:p>
            <a:pPr marL="0" indent="0" algn="ctr">
              <a:buNone/>
            </a:pPr>
            <a:r>
              <a:rPr lang="en-US" sz="1100" dirty="0">
                <a:solidFill>
                  <a:srgbClr val="DDE5EE"/>
                </a:solidFill>
                <a:latin typeface="Calibri" pitchFamily="34" charset="0"/>
                <a:ea typeface="Calibri" pitchFamily="34" charset="-122"/>
                <a:cs typeface="Calibri" pitchFamily="34" charset="-120"/>
              </a:rPr>
              <a:t>›</a:t>
            </a:r>
            <a:endParaRPr lang="en-US" sz="1100" dirty="0"/>
          </a:p>
        </p:txBody>
      </p:sp>
      <p:sp>
        <p:nvSpPr>
          <p:cNvPr id="10" name="Shape 8"/>
          <p:cNvSpPr/>
          <p:nvPr/>
        </p:nvSpPr>
        <p:spPr>
          <a:xfrm>
            <a:off x="10533888" y="475488"/>
            <a:ext cx="475488" cy="274320"/>
          </a:xfrm>
          <a:prstGeom prst="roundRect">
            <a:avLst>
              <a:gd name="adj" fmla="val 46667"/>
            </a:avLst>
          </a:prstGeom>
          <a:solidFill>
            <a:srgbClr val="F5F7FA"/>
          </a:solidFill>
          <a:ln w="12700">
            <a:solidFill>
              <a:srgbClr val="DDE5EE"/>
            </a:solidFill>
            <a:prstDash val="solid"/>
          </a:ln>
        </p:spPr>
        <p:txBody>
          <a:bodyPr/>
          <a:lstStyle/>
          <a:p>
            <a:endParaRPr lang="de-CH"/>
          </a:p>
        </p:txBody>
      </p:sp>
      <p:sp>
        <p:nvSpPr>
          <p:cNvPr id="11" name="Text 9"/>
          <p:cNvSpPr/>
          <p:nvPr/>
        </p:nvSpPr>
        <p:spPr>
          <a:xfrm>
            <a:off x="10533888" y="475488"/>
            <a:ext cx="475488" cy="274320"/>
          </a:xfrm>
          <a:prstGeom prst="rect">
            <a:avLst/>
          </a:prstGeom>
          <a:noFill/>
          <a:ln/>
        </p:spPr>
        <p:txBody>
          <a:bodyPr wrap="square" lIns="0" tIns="0" rIns="0" bIns="0" rtlCol="0" anchor="ctr"/>
          <a:lstStyle/>
          <a:p>
            <a:pPr marL="0" indent="0" algn="ctr">
              <a:buNone/>
            </a:pPr>
            <a:r>
              <a:rPr lang="en-US" sz="1050" b="1" dirty="0">
                <a:solidFill>
                  <a:srgbClr val="5D7186"/>
                </a:solidFill>
                <a:latin typeface="Calibri" pitchFamily="34" charset="0"/>
                <a:ea typeface="Calibri" pitchFamily="34" charset="-122"/>
                <a:cs typeface="Calibri" pitchFamily="34" charset="-120"/>
              </a:rPr>
              <a:t>L3</a:t>
            </a:r>
            <a:endParaRPr lang="en-US" sz="1050" dirty="0"/>
          </a:p>
        </p:txBody>
      </p:sp>
      <p:sp>
        <p:nvSpPr>
          <p:cNvPr id="12" name="Text 10"/>
          <p:cNvSpPr/>
          <p:nvPr/>
        </p:nvSpPr>
        <p:spPr>
          <a:xfrm>
            <a:off x="11009376" y="475488"/>
            <a:ext cx="146304" cy="274320"/>
          </a:xfrm>
          <a:prstGeom prst="rect">
            <a:avLst/>
          </a:prstGeom>
          <a:noFill/>
          <a:ln/>
        </p:spPr>
        <p:txBody>
          <a:bodyPr wrap="square" lIns="0" tIns="0" rIns="0" bIns="0" rtlCol="0" anchor="ctr"/>
          <a:lstStyle/>
          <a:p>
            <a:pPr marL="0" indent="0" algn="ctr">
              <a:buNone/>
            </a:pPr>
            <a:r>
              <a:rPr lang="en-US" sz="1100" dirty="0">
                <a:solidFill>
                  <a:srgbClr val="DDE5EE"/>
                </a:solidFill>
                <a:latin typeface="Calibri" pitchFamily="34" charset="0"/>
                <a:ea typeface="Calibri" pitchFamily="34" charset="-122"/>
                <a:cs typeface="Calibri" pitchFamily="34" charset="-120"/>
              </a:rPr>
              <a:t>›</a:t>
            </a:r>
            <a:endParaRPr lang="en-US" sz="1100" dirty="0"/>
          </a:p>
        </p:txBody>
      </p:sp>
      <p:sp>
        <p:nvSpPr>
          <p:cNvPr id="13" name="Shape 11"/>
          <p:cNvSpPr/>
          <p:nvPr/>
        </p:nvSpPr>
        <p:spPr>
          <a:xfrm>
            <a:off x="11155680" y="475488"/>
            <a:ext cx="475488" cy="274320"/>
          </a:xfrm>
          <a:prstGeom prst="roundRect">
            <a:avLst>
              <a:gd name="adj" fmla="val 46667"/>
            </a:avLst>
          </a:prstGeom>
          <a:solidFill>
            <a:srgbClr val="F5F7FA"/>
          </a:solidFill>
          <a:ln w="12700">
            <a:solidFill>
              <a:srgbClr val="DDE5EE"/>
            </a:solidFill>
            <a:prstDash val="solid"/>
          </a:ln>
        </p:spPr>
        <p:txBody>
          <a:bodyPr/>
          <a:lstStyle/>
          <a:p>
            <a:endParaRPr lang="de-CH"/>
          </a:p>
        </p:txBody>
      </p:sp>
      <p:sp>
        <p:nvSpPr>
          <p:cNvPr id="14" name="Text 12"/>
          <p:cNvSpPr/>
          <p:nvPr/>
        </p:nvSpPr>
        <p:spPr>
          <a:xfrm>
            <a:off x="11155680" y="475488"/>
            <a:ext cx="475488" cy="274320"/>
          </a:xfrm>
          <a:prstGeom prst="rect">
            <a:avLst/>
          </a:prstGeom>
          <a:noFill/>
          <a:ln/>
        </p:spPr>
        <p:txBody>
          <a:bodyPr wrap="square" lIns="0" tIns="0" rIns="0" bIns="0" rtlCol="0" anchor="ctr"/>
          <a:lstStyle/>
          <a:p>
            <a:pPr marL="0" indent="0" algn="ctr">
              <a:buNone/>
            </a:pPr>
            <a:r>
              <a:rPr lang="en-US" sz="1050" b="1" dirty="0">
                <a:solidFill>
                  <a:srgbClr val="5D7186"/>
                </a:solidFill>
                <a:latin typeface="Calibri" pitchFamily="34" charset="0"/>
                <a:ea typeface="Calibri" pitchFamily="34" charset="-122"/>
                <a:cs typeface="Calibri" pitchFamily="34" charset="-120"/>
              </a:rPr>
              <a:t>L4</a:t>
            </a:r>
            <a:endParaRPr lang="en-US" sz="1050" dirty="0"/>
          </a:p>
        </p:txBody>
      </p:sp>
      <p:pic>
        <p:nvPicPr>
          <p:cNvPr id="15" name="Image 0" descr="workflow-highlevel.png"/>
          <p:cNvPicPr>
            <a:picLocks noChangeAspect="1"/>
          </p:cNvPicPr>
          <p:nvPr/>
        </p:nvPicPr>
        <p:blipFill>
          <a:blip r:embed="rId3"/>
          <a:stretch>
            <a:fillRect/>
          </a:stretch>
        </p:blipFill>
        <p:spPr>
          <a:xfrm>
            <a:off x="1202436" y="1499616"/>
            <a:ext cx="9784080" cy="4926526"/>
          </a:xfrm>
          <a:prstGeom prst="rect">
            <a:avLst/>
          </a:prstGeom>
        </p:spPr>
      </p:pic>
      <p:sp>
        <p:nvSpPr>
          <p:cNvPr id="17" name="Text 11">
            <a:extLst>
              <a:ext uri="{FF2B5EF4-FFF2-40B4-BE49-F238E27FC236}">
                <a16:creationId xmlns:a16="http://schemas.microsoft.com/office/drawing/2014/main" id="{8ED1CECA-5761-B054-1CBD-876832BF1162}"/>
              </a:ext>
            </a:extLst>
          </p:cNvPr>
          <p:cNvSpPr/>
          <p:nvPr/>
        </p:nvSpPr>
        <p:spPr>
          <a:xfrm>
            <a:off x="57709" y="6568124"/>
            <a:ext cx="8229600" cy="274320"/>
          </a:xfrm>
          <a:prstGeom prst="rect">
            <a:avLst/>
          </a:prstGeom>
          <a:noFill/>
          <a:ln/>
        </p:spPr>
        <p:txBody>
          <a:bodyPr wrap="square" lIns="0" tIns="0" rIns="0" bIns="0" rtlCol="0" anchor="ctr"/>
          <a:lstStyle/>
          <a:p>
            <a:pPr marL="0" indent="0">
              <a:buNone/>
            </a:pPr>
            <a:r>
              <a:rPr lang="en-US" sz="900">
                <a:solidFill>
                  <a:srgbClr val="8FA3B8"/>
                </a:solidFill>
                <a:latin typeface="Calibri" pitchFamily="34" charset="0"/>
                <a:ea typeface="Calibri" pitchFamily="34" charset="-122"/>
                <a:cs typeface="Calibri" pitchFamily="34" charset="-120"/>
              </a:rPr>
              <a:t>FHNW  ·  MSc Medical Informatics  ·  Clinical Decision Support Systems 2026</a:t>
            </a:r>
            <a:endParaRPr lang="en-US" sz="900"/>
          </a:p>
        </p:txBody>
      </p:sp>
      <p:pic>
        <p:nvPicPr>
          <p:cNvPr id="19" name="Grafik 18">
            <a:extLst>
              <a:ext uri="{FF2B5EF4-FFF2-40B4-BE49-F238E27FC236}">
                <a16:creationId xmlns:a16="http://schemas.microsoft.com/office/drawing/2014/main" id="{709BB3B8-5E39-5260-6B07-03E4381678C9}"/>
              </a:ext>
            </a:extLst>
          </p:cNvPr>
          <p:cNvPicPr>
            <a:picLocks noChangeAspect="1"/>
          </p:cNvPicPr>
          <p:nvPr/>
        </p:nvPicPr>
        <p:blipFill>
          <a:blip r:embed="rId4">
            <a:duotone>
              <a:schemeClr val="accent3">
                <a:shade val="45000"/>
                <a:satMod val="135000"/>
              </a:schemeClr>
              <a:prstClr val="white"/>
            </a:duotone>
          </a:blip>
          <a:stretch>
            <a:fillRect/>
          </a:stretch>
        </p:blipFill>
        <p:spPr>
          <a:xfrm>
            <a:off x="57709" y="47504"/>
            <a:ext cx="1012490" cy="23624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7680960" cy="219456"/>
          </a:xfrm>
          <a:prstGeom prst="rect">
            <a:avLst/>
          </a:prstGeom>
          <a:noFill/>
          <a:ln/>
        </p:spPr>
        <p:txBody>
          <a:bodyPr wrap="square" lIns="0" tIns="0" rIns="0" bIns="0" rtlCol="0" anchor="ctr"/>
          <a:lstStyle/>
          <a:p>
            <a:pPr marL="0" indent="0">
              <a:buNone/>
            </a:pPr>
            <a:r>
              <a:rPr lang="en-US" sz="1050" b="1" kern="0" spc="160" dirty="0">
                <a:solidFill>
                  <a:srgbClr val="5D7186"/>
                </a:solidFill>
                <a:latin typeface="Calibri" pitchFamily="34" charset="0"/>
                <a:ea typeface="Calibri" pitchFamily="34" charset="-122"/>
                <a:cs typeface="Calibri" pitchFamily="34" charset="-120"/>
              </a:rPr>
              <a:t>L2 · DATA DICTIONARY</a:t>
            </a:r>
            <a:endParaRPr lang="en-US" sz="1050" dirty="0"/>
          </a:p>
        </p:txBody>
      </p:sp>
      <p:sp>
        <p:nvSpPr>
          <p:cNvPr id="3" name="Text 1"/>
          <p:cNvSpPr/>
          <p:nvPr/>
        </p:nvSpPr>
        <p:spPr>
          <a:xfrm>
            <a:off x="566928" y="640080"/>
            <a:ext cx="8412480" cy="658368"/>
          </a:xfrm>
          <a:prstGeom prst="rect">
            <a:avLst/>
          </a:prstGeom>
          <a:noFill/>
          <a:ln/>
        </p:spPr>
        <p:txBody>
          <a:bodyPr wrap="square" lIns="0" tIns="0" rIns="0" bIns="0" rtlCol="0" anchor="t"/>
          <a:lstStyle/>
          <a:p>
            <a:pPr marL="0" indent="0">
              <a:buNone/>
            </a:pPr>
            <a:r>
              <a:rPr lang="en-US" sz="2700" b="1">
                <a:solidFill>
                  <a:srgbClr val="12202E"/>
                </a:solidFill>
                <a:latin typeface="Cambria" pitchFamily="34" charset="0"/>
                <a:ea typeface="Cambria" pitchFamily="34" charset="-122"/>
                <a:cs typeface="Cambria" pitchFamily="34" charset="-120"/>
              </a:rPr>
              <a:t>49</a:t>
            </a:r>
            <a:r>
              <a:rPr lang="en-US" sz="2700" b="1" dirty="0">
                <a:solidFill>
                  <a:srgbClr val="12202E"/>
                </a:solidFill>
                <a:latin typeface="Cambria" pitchFamily="34" charset="0"/>
                <a:ea typeface="Cambria" pitchFamily="34" charset="-122"/>
                <a:cs typeface="Cambria" pitchFamily="34" charset="-120"/>
              </a:rPr>
              <a:t> data elements — </a:t>
            </a:r>
          </a:p>
          <a:p>
            <a:pPr marL="0" indent="0">
              <a:buNone/>
            </a:pPr>
            <a:r>
              <a:rPr lang="en-US" sz="2000" i="1" dirty="0">
                <a:solidFill>
                  <a:srgbClr val="12202E"/>
                </a:solidFill>
                <a:latin typeface="Cambria" pitchFamily="34" charset="0"/>
                <a:ea typeface="Cambria" pitchFamily="34" charset="-122"/>
                <a:cs typeface="Cambria" pitchFamily="34" charset="-120"/>
              </a:rPr>
              <a:t>everything traceable to a guideline</a:t>
            </a:r>
            <a:endParaRPr lang="en-US" sz="2000" i="1" dirty="0"/>
          </a:p>
        </p:txBody>
      </p:sp>
      <p:sp>
        <p:nvSpPr>
          <p:cNvPr id="4" name="Shape 2"/>
          <p:cNvSpPr/>
          <p:nvPr/>
        </p:nvSpPr>
        <p:spPr>
          <a:xfrm>
            <a:off x="9290304" y="475488"/>
            <a:ext cx="475488" cy="274320"/>
          </a:xfrm>
          <a:prstGeom prst="roundRect">
            <a:avLst>
              <a:gd name="adj" fmla="val 46667"/>
            </a:avLst>
          </a:prstGeom>
          <a:solidFill>
            <a:srgbClr val="F5F7FA"/>
          </a:solidFill>
          <a:ln w="12700">
            <a:solidFill>
              <a:srgbClr val="DDE5EE"/>
            </a:solidFill>
            <a:prstDash val="solid"/>
          </a:ln>
        </p:spPr>
        <p:txBody>
          <a:bodyPr/>
          <a:lstStyle/>
          <a:p>
            <a:endParaRPr lang="de-CH"/>
          </a:p>
        </p:txBody>
      </p:sp>
      <p:sp>
        <p:nvSpPr>
          <p:cNvPr id="5" name="Text 3"/>
          <p:cNvSpPr/>
          <p:nvPr/>
        </p:nvSpPr>
        <p:spPr>
          <a:xfrm>
            <a:off x="9290304" y="475488"/>
            <a:ext cx="475488" cy="274320"/>
          </a:xfrm>
          <a:prstGeom prst="rect">
            <a:avLst/>
          </a:prstGeom>
          <a:noFill/>
          <a:ln/>
        </p:spPr>
        <p:txBody>
          <a:bodyPr wrap="square" lIns="0" tIns="0" rIns="0" bIns="0" rtlCol="0" anchor="ctr"/>
          <a:lstStyle/>
          <a:p>
            <a:pPr marL="0" indent="0" algn="ctr">
              <a:buNone/>
            </a:pPr>
            <a:r>
              <a:rPr lang="en-US" sz="1050" b="1" dirty="0">
                <a:solidFill>
                  <a:srgbClr val="5D7186"/>
                </a:solidFill>
                <a:latin typeface="Calibri" pitchFamily="34" charset="0"/>
                <a:ea typeface="Calibri" pitchFamily="34" charset="-122"/>
                <a:cs typeface="Calibri" pitchFamily="34" charset="-120"/>
              </a:rPr>
              <a:t>L1</a:t>
            </a:r>
            <a:endParaRPr lang="en-US" sz="1050" dirty="0"/>
          </a:p>
        </p:txBody>
      </p:sp>
      <p:sp>
        <p:nvSpPr>
          <p:cNvPr id="6" name="Text 4"/>
          <p:cNvSpPr/>
          <p:nvPr/>
        </p:nvSpPr>
        <p:spPr>
          <a:xfrm>
            <a:off x="9765792" y="475488"/>
            <a:ext cx="146304" cy="274320"/>
          </a:xfrm>
          <a:prstGeom prst="rect">
            <a:avLst/>
          </a:prstGeom>
          <a:noFill/>
          <a:ln/>
        </p:spPr>
        <p:txBody>
          <a:bodyPr wrap="square" lIns="0" tIns="0" rIns="0" bIns="0" rtlCol="0" anchor="ctr"/>
          <a:lstStyle/>
          <a:p>
            <a:pPr marL="0" indent="0" algn="ctr">
              <a:buNone/>
            </a:pPr>
            <a:r>
              <a:rPr lang="en-US" sz="1100" dirty="0">
                <a:solidFill>
                  <a:srgbClr val="DDE5EE"/>
                </a:solidFill>
                <a:latin typeface="Calibri" pitchFamily="34" charset="0"/>
                <a:ea typeface="Calibri" pitchFamily="34" charset="-122"/>
                <a:cs typeface="Calibri" pitchFamily="34" charset="-120"/>
              </a:rPr>
              <a:t>›</a:t>
            </a:r>
            <a:endParaRPr lang="en-US" sz="1100" dirty="0"/>
          </a:p>
        </p:txBody>
      </p:sp>
      <p:sp>
        <p:nvSpPr>
          <p:cNvPr id="7" name="Shape 5"/>
          <p:cNvSpPr/>
          <p:nvPr/>
        </p:nvSpPr>
        <p:spPr>
          <a:xfrm>
            <a:off x="9912096" y="475488"/>
            <a:ext cx="475488" cy="274320"/>
          </a:xfrm>
          <a:prstGeom prst="roundRect">
            <a:avLst>
              <a:gd name="adj" fmla="val 46667"/>
            </a:avLst>
          </a:prstGeom>
          <a:solidFill>
            <a:srgbClr val="12202E"/>
          </a:solidFill>
          <a:ln w="12700">
            <a:solidFill>
              <a:srgbClr val="12202E"/>
            </a:solidFill>
            <a:prstDash val="solid"/>
          </a:ln>
        </p:spPr>
        <p:txBody>
          <a:bodyPr/>
          <a:lstStyle/>
          <a:p>
            <a:endParaRPr lang="de-CH"/>
          </a:p>
        </p:txBody>
      </p:sp>
      <p:sp>
        <p:nvSpPr>
          <p:cNvPr id="8" name="Text 6"/>
          <p:cNvSpPr/>
          <p:nvPr/>
        </p:nvSpPr>
        <p:spPr>
          <a:xfrm>
            <a:off x="9912096" y="475488"/>
            <a:ext cx="475488"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L2</a:t>
            </a:r>
            <a:endParaRPr lang="en-US" sz="1050" dirty="0"/>
          </a:p>
        </p:txBody>
      </p:sp>
      <p:sp>
        <p:nvSpPr>
          <p:cNvPr id="9" name="Text 7"/>
          <p:cNvSpPr/>
          <p:nvPr/>
        </p:nvSpPr>
        <p:spPr>
          <a:xfrm>
            <a:off x="10387584" y="475488"/>
            <a:ext cx="146304" cy="274320"/>
          </a:xfrm>
          <a:prstGeom prst="rect">
            <a:avLst/>
          </a:prstGeom>
          <a:noFill/>
          <a:ln/>
        </p:spPr>
        <p:txBody>
          <a:bodyPr wrap="square" lIns="0" tIns="0" rIns="0" bIns="0" rtlCol="0" anchor="ctr"/>
          <a:lstStyle/>
          <a:p>
            <a:pPr marL="0" indent="0" algn="ctr">
              <a:buNone/>
            </a:pPr>
            <a:r>
              <a:rPr lang="en-US" sz="1100" dirty="0">
                <a:solidFill>
                  <a:srgbClr val="DDE5EE"/>
                </a:solidFill>
                <a:latin typeface="Calibri" pitchFamily="34" charset="0"/>
                <a:ea typeface="Calibri" pitchFamily="34" charset="-122"/>
                <a:cs typeface="Calibri" pitchFamily="34" charset="-120"/>
              </a:rPr>
              <a:t>›</a:t>
            </a:r>
            <a:endParaRPr lang="en-US" sz="1100" dirty="0"/>
          </a:p>
        </p:txBody>
      </p:sp>
      <p:sp>
        <p:nvSpPr>
          <p:cNvPr id="10" name="Shape 8"/>
          <p:cNvSpPr/>
          <p:nvPr/>
        </p:nvSpPr>
        <p:spPr>
          <a:xfrm>
            <a:off x="10533888" y="475488"/>
            <a:ext cx="475488" cy="274320"/>
          </a:xfrm>
          <a:prstGeom prst="roundRect">
            <a:avLst>
              <a:gd name="adj" fmla="val 46667"/>
            </a:avLst>
          </a:prstGeom>
          <a:solidFill>
            <a:srgbClr val="F5F7FA"/>
          </a:solidFill>
          <a:ln w="12700">
            <a:solidFill>
              <a:srgbClr val="DDE5EE"/>
            </a:solidFill>
            <a:prstDash val="solid"/>
          </a:ln>
        </p:spPr>
        <p:txBody>
          <a:bodyPr/>
          <a:lstStyle/>
          <a:p>
            <a:endParaRPr lang="de-CH"/>
          </a:p>
        </p:txBody>
      </p:sp>
      <p:sp>
        <p:nvSpPr>
          <p:cNvPr id="11" name="Text 9"/>
          <p:cNvSpPr/>
          <p:nvPr/>
        </p:nvSpPr>
        <p:spPr>
          <a:xfrm>
            <a:off x="10533888" y="475488"/>
            <a:ext cx="475488" cy="274320"/>
          </a:xfrm>
          <a:prstGeom prst="rect">
            <a:avLst/>
          </a:prstGeom>
          <a:noFill/>
          <a:ln/>
        </p:spPr>
        <p:txBody>
          <a:bodyPr wrap="square" lIns="0" tIns="0" rIns="0" bIns="0" rtlCol="0" anchor="ctr"/>
          <a:lstStyle/>
          <a:p>
            <a:pPr marL="0" indent="0" algn="ctr">
              <a:buNone/>
            </a:pPr>
            <a:r>
              <a:rPr lang="en-US" sz="1050" b="1" dirty="0">
                <a:solidFill>
                  <a:srgbClr val="5D7186"/>
                </a:solidFill>
                <a:latin typeface="Calibri" pitchFamily="34" charset="0"/>
                <a:ea typeface="Calibri" pitchFamily="34" charset="-122"/>
                <a:cs typeface="Calibri" pitchFamily="34" charset="-120"/>
              </a:rPr>
              <a:t>L3</a:t>
            </a:r>
            <a:endParaRPr lang="en-US" sz="1050" dirty="0"/>
          </a:p>
        </p:txBody>
      </p:sp>
      <p:sp>
        <p:nvSpPr>
          <p:cNvPr id="12" name="Text 10"/>
          <p:cNvSpPr/>
          <p:nvPr/>
        </p:nvSpPr>
        <p:spPr>
          <a:xfrm>
            <a:off x="11009376" y="475488"/>
            <a:ext cx="146304" cy="274320"/>
          </a:xfrm>
          <a:prstGeom prst="rect">
            <a:avLst/>
          </a:prstGeom>
          <a:noFill/>
          <a:ln/>
        </p:spPr>
        <p:txBody>
          <a:bodyPr wrap="square" lIns="0" tIns="0" rIns="0" bIns="0" rtlCol="0" anchor="ctr"/>
          <a:lstStyle/>
          <a:p>
            <a:pPr marL="0" indent="0" algn="ctr">
              <a:buNone/>
            </a:pPr>
            <a:r>
              <a:rPr lang="en-US" sz="1100" dirty="0">
                <a:solidFill>
                  <a:srgbClr val="DDE5EE"/>
                </a:solidFill>
                <a:latin typeface="Calibri" pitchFamily="34" charset="0"/>
                <a:ea typeface="Calibri" pitchFamily="34" charset="-122"/>
                <a:cs typeface="Calibri" pitchFamily="34" charset="-120"/>
              </a:rPr>
              <a:t>›</a:t>
            </a:r>
            <a:endParaRPr lang="en-US" sz="1100" dirty="0"/>
          </a:p>
        </p:txBody>
      </p:sp>
      <p:sp>
        <p:nvSpPr>
          <p:cNvPr id="13" name="Shape 11"/>
          <p:cNvSpPr/>
          <p:nvPr/>
        </p:nvSpPr>
        <p:spPr>
          <a:xfrm>
            <a:off x="11155680" y="475488"/>
            <a:ext cx="475488" cy="274320"/>
          </a:xfrm>
          <a:prstGeom prst="roundRect">
            <a:avLst>
              <a:gd name="adj" fmla="val 46667"/>
            </a:avLst>
          </a:prstGeom>
          <a:solidFill>
            <a:srgbClr val="F5F7FA"/>
          </a:solidFill>
          <a:ln w="12700">
            <a:solidFill>
              <a:srgbClr val="DDE5EE"/>
            </a:solidFill>
            <a:prstDash val="solid"/>
          </a:ln>
        </p:spPr>
        <p:txBody>
          <a:bodyPr/>
          <a:lstStyle/>
          <a:p>
            <a:endParaRPr lang="de-CH"/>
          </a:p>
        </p:txBody>
      </p:sp>
      <p:sp>
        <p:nvSpPr>
          <p:cNvPr id="14" name="Text 12"/>
          <p:cNvSpPr/>
          <p:nvPr/>
        </p:nvSpPr>
        <p:spPr>
          <a:xfrm>
            <a:off x="11155680" y="475488"/>
            <a:ext cx="475488" cy="274320"/>
          </a:xfrm>
          <a:prstGeom prst="rect">
            <a:avLst/>
          </a:prstGeom>
          <a:noFill/>
          <a:ln/>
        </p:spPr>
        <p:txBody>
          <a:bodyPr wrap="square" lIns="0" tIns="0" rIns="0" bIns="0" rtlCol="0" anchor="ctr"/>
          <a:lstStyle/>
          <a:p>
            <a:pPr marL="0" indent="0" algn="ctr">
              <a:buNone/>
            </a:pPr>
            <a:r>
              <a:rPr lang="en-US" sz="1050" b="1" dirty="0">
                <a:solidFill>
                  <a:srgbClr val="5D7186"/>
                </a:solidFill>
                <a:latin typeface="Calibri" pitchFamily="34" charset="0"/>
                <a:ea typeface="Calibri" pitchFamily="34" charset="-122"/>
                <a:cs typeface="Calibri" pitchFamily="34" charset="-120"/>
              </a:rPr>
              <a:t>L4</a:t>
            </a:r>
            <a:endParaRPr lang="en-US" sz="1050" dirty="0"/>
          </a:p>
        </p:txBody>
      </p:sp>
      <p:sp>
        <p:nvSpPr>
          <p:cNvPr id="15" name="Shape 13"/>
          <p:cNvSpPr/>
          <p:nvPr/>
        </p:nvSpPr>
        <p:spPr>
          <a:xfrm>
            <a:off x="566928" y="1627632"/>
            <a:ext cx="2606040" cy="1170432"/>
          </a:xfrm>
          <a:prstGeom prst="roundRect">
            <a:avLst>
              <a:gd name="adj" fmla="val 7031"/>
            </a:avLst>
          </a:prstGeom>
          <a:solidFill>
            <a:srgbClr val="F5F7FA"/>
          </a:solidFill>
          <a:ln w="12700">
            <a:solidFill>
              <a:srgbClr val="DDE5EE"/>
            </a:solidFill>
            <a:prstDash val="solid"/>
          </a:ln>
        </p:spPr>
        <p:txBody>
          <a:bodyPr/>
          <a:lstStyle/>
          <a:p>
            <a:endParaRPr lang="de-CH"/>
          </a:p>
        </p:txBody>
      </p:sp>
      <p:sp>
        <p:nvSpPr>
          <p:cNvPr id="16" name="Text 14"/>
          <p:cNvSpPr/>
          <p:nvPr/>
        </p:nvSpPr>
        <p:spPr>
          <a:xfrm>
            <a:off x="804672" y="1755648"/>
            <a:ext cx="2103120" cy="603504"/>
          </a:xfrm>
          <a:prstGeom prst="rect">
            <a:avLst/>
          </a:prstGeom>
          <a:noFill/>
          <a:ln/>
        </p:spPr>
        <p:txBody>
          <a:bodyPr wrap="square" lIns="0" tIns="0" rIns="0" bIns="0" rtlCol="0" anchor="ctr"/>
          <a:lstStyle/>
          <a:p>
            <a:pPr marL="0" indent="0">
              <a:buNone/>
            </a:pPr>
            <a:r>
              <a:rPr lang="en-US" sz="3600" b="1">
                <a:solidFill>
                  <a:srgbClr val="12202E"/>
                </a:solidFill>
                <a:latin typeface="Cambria" pitchFamily="34" charset="0"/>
                <a:ea typeface="Cambria" pitchFamily="34" charset="-122"/>
                <a:cs typeface="Cambria" pitchFamily="34" charset="-120"/>
              </a:rPr>
              <a:t>49</a:t>
            </a:r>
            <a:endParaRPr lang="en-US" sz="3600" dirty="0"/>
          </a:p>
        </p:txBody>
      </p:sp>
      <p:sp>
        <p:nvSpPr>
          <p:cNvPr id="17" name="Text 15"/>
          <p:cNvSpPr/>
          <p:nvPr/>
        </p:nvSpPr>
        <p:spPr>
          <a:xfrm>
            <a:off x="804672" y="2377440"/>
            <a:ext cx="2103120" cy="274320"/>
          </a:xfrm>
          <a:prstGeom prst="rect">
            <a:avLst/>
          </a:prstGeom>
          <a:noFill/>
          <a:ln/>
        </p:spPr>
        <p:txBody>
          <a:bodyPr wrap="square" lIns="0" tIns="0" rIns="0" bIns="0" rtlCol="0" anchor="ctr"/>
          <a:lstStyle/>
          <a:p>
            <a:pPr marL="0" indent="0">
              <a:buNone/>
            </a:pPr>
            <a:r>
              <a:rPr lang="en-US" sz="1100" dirty="0">
                <a:solidFill>
                  <a:srgbClr val="5D7186"/>
                </a:solidFill>
                <a:latin typeface="Calibri" pitchFamily="34" charset="0"/>
                <a:ea typeface="Calibri" pitchFamily="34" charset="-122"/>
                <a:cs typeface="Calibri" pitchFamily="34" charset="-120"/>
              </a:rPr>
              <a:t>data elements</a:t>
            </a:r>
            <a:endParaRPr lang="en-US" sz="1100" dirty="0"/>
          </a:p>
        </p:txBody>
      </p:sp>
      <p:sp>
        <p:nvSpPr>
          <p:cNvPr id="18" name="Shape 16"/>
          <p:cNvSpPr/>
          <p:nvPr/>
        </p:nvSpPr>
        <p:spPr>
          <a:xfrm>
            <a:off x="3355848" y="1627632"/>
            <a:ext cx="2606040" cy="1170432"/>
          </a:xfrm>
          <a:prstGeom prst="roundRect">
            <a:avLst>
              <a:gd name="adj" fmla="val 7031"/>
            </a:avLst>
          </a:prstGeom>
          <a:solidFill>
            <a:srgbClr val="F5F7FA"/>
          </a:solidFill>
          <a:ln w="12700">
            <a:solidFill>
              <a:srgbClr val="DDE5EE"/>
            </a:solidFill>
            <a:prstDash val="solid"/>
          </a:ln>
        </p:spPr>
        <p:txBody>
          <a:bodyPr/>
          <a:lstStyle/>
          <a:p>
            <a:endParaRPr lang="de-CH"/>
          </a:p>
        </p:txBody>
      </p:sp>
      <p:sp>
        <p:nvSpPr>
          <p:cNvPr id="19" name="Text 17"/>
          <p:cNvSpPr/>
          <p:nvPr/>
        </p:nvSpPr>
        <p:spPr>
          <a:xfrm>
            <a:off x="3593592" y="1755648"/>
            <a:ext cx="2103120" cy="603504"/>
          </a:xfrm>
          <a:prstGeom prst="rect">
            <a:avLst/>
          </a:prstGeom>
          <a:noFill/>
          <a:ln/>
        </p:spPr>
        <p:txBody>
          <a:bodyPr wrap="square" lIns="0" tIns="0" rIns="0" bIns="0" rtlCol="0" anchor="ctr"/>
          <a:lstStyle/>
          <a:p>
            <a:pPr marL="0" indent="0">
              <a:buNone/>
            </a:pPr>
            <a:r>
              <a:rPr lang="en-US" sz="3600" b="1">
                <a:solidFill>
                  <a:srgbClr val="12202E"/>
                </a:solidFill>
                <a:latin typeface="Cambria" pitchFamily="34" charset="0"/>
                <a:ea typeface="Cambria" pitchFamily="34" charset="-122"/>
                <a:cs typeface="Cambria" pitchFamily="34" charset="-120"/>
              </a:rPr>
              <a:t>10</a:t>
            </a:r>
            <a:endParaRPr lang="en-US" sz="3600" dirty="0"/>
          </a:p>
        </p:txBody>
      </p:sp>
      <p:sp>
        <p:nvSpPr>
          <p:cNvPr id="20" name="Text 18"/>
          <p:cNvSpPr/>
          <p:nvPr/>
        </p:nvSpPr>
        <p:spPr>
          <a:xfrm>
            <a:off x="3593592" y="2377440"/>
            <a:ext cx="2103120" cy="274320"/>
          </a:xfrm>
          <a:prstGeom prst="rect">
            <a:avLst/>
          </a:prstGeom>
          <a:noFill/>
          <a:ln/>
        </p:spPr>
        <p:txBody>
          <a:bodyPr wrap="square" lIns="0" tIns="0" rIns="0" bIns="0" rtlCol="0" anchor="ctr"/>
          <a:lstStyle/>
          <a:p>
            <a:pPr marL="0" indent="0">
              <a:buNone/>
            </a:pPr>
            <a:r>
              <a:rPr lang="en-US" sz="1100" dirty="0">
                <a:solidFill>
                  <a:srgbClr val="5D7186"/>
                </a:solidFill>
                <a:latin typeface="Calibri" pitchFamily="34" charset="0"/>
                <a:ea typeface="Calibri" pitchFamily="34" charset="-122"/>
                <a:cs typeface="Calibri" pitchFamily="34" charset="-120"/>
              </a:rPr>
              <a:t>derived</a:t>
            </a:r>
            <a:endParaRPr lang="en-US" sz="1100" dirty="0"/>
          </a:p>
        </p:txBody>
      </p:sp>
      <p:sp>
        <p:nvSpPr>
          <p:cNvPr id="21" name="Shape 19"/>
          <p:cNvSpPr/>
          <p:nvPr/>
        </p:nvSpPr>
        <p:spPr>
          <a:xfrm>
            <a:off x="6144768" y="1627632"/>
            <a:ext cx="2606040" cy="1170432"/>
          </a:xfrm>
          <a:prstGeom prst="roundRect">
            <a:avLst>
              <a:gd name="adj" fmla="val 7031"/>
            </a:avLst>
          </a:prstGeom>
          <a:solidFill>
            <a:srgbClr val="F5F7FA"/>
          </a:solidFill>
          <a:ln w="12700">
            <a:solidFill>
              <a:srgbClr val="DDE5EE"/>
            </a:solidFill>
            <a:prstDash val="solid"/>
          </a:ln>
        </p:spPr>
        <p:txBody>
          <a:bodyPr/>
          <a:lstStyle/>
          <a:p>
            <a:endParaRPr lang="de-CH"/>
          </a:p>
        </p:txBody>
      </p:sp>
      <p:sp>
        <p:nvSpPr>
          <p:cNvPr id="22" name="Text 20"/>
          <p:cNvSpPr/>
          <p:nvPr/>
        </p:nvSpPr>
        <p:spPr>
          <a:xfrm>
            <a:off x="6382512" y="1755648"/>
            <a:ext cx="2103120" cy="603504"/>
          </a:xfrm>
          <a:prstGeom prst="rect">
            <a:avLst/>
          </a:prstGeom>
          <a:noFill/>
          <a:ln/>
        </p:spPr>
        <p:txBody>
          <a:bodyPr wrap="square" lIns="0" tIns="0" rIns="0" bIns="0" rtlCol="0" anchor="ctr"/>
          <a:lstStyle/>
          <a:p>
            <a:pPr marL="0" indent="0">
              <a:buNone/>
            </a:pPr>
            <a:r>
              <a:rPr lang="en-US" sz="3600" b="1" dirty="0">
                <a:solidFill>
                  <a:srgbClr val="12202E"/>
                </a:solidFill>
                <a:latin typeface="Cambria" pitchFamily="34" charset="0"/>
                <a:ea typeface="Cambria" pitchFamily="34" charset="-122"/>
                <a:cs typeface="Cambria" pitchFamily="34" charset="-120"/>
              </a:rPr>
              <a:t>38</a:t>
            </a:r>
            <a:endParaRPr lang="en-US" sz="3600" dirty="0"/>
          </a:p>
        </p:txBody>
      </p:sp>
      <p:sp>
        <p:nvSpPr>
          <p:cNvPr id="23" name="Text 21"/>
          <p:cNvSpPr/>
          <p:nvPr/>
        </p:nvSpPr>
        <p:spPr>
          <a:xfrm>
            <a:off x="6382512" y="2377440"/>
            <a:ext cx="2103120" cy="274320"/>
          </a:xfrm>
          <a:prstGeom prst="rect">
            <a:avLst/>
          </a:prstGeom>
          <a:noFill/>
          <a:ln/>
        </p:spPr>
        <p:txBody>
          <a:bodyPr wrap="square" lIns="0" tIns="0" rIns="0" bIns="0" rtlCol="0" anchor="ctr"/>
          <a:lstStyle/>
          <a:p>
            <a:pPr marL="0" indent="0">
              <a:buNone/>
            </a:pPr>
            <a:r>
              <a:rPr lang="en-US" sz="1100" dirty="0">
                <a:solidFill>
                  <a:srgbClr val="5D7186"/>
                </a:solidFill>
                <a:latin typeface="Calibri" pitchFamily="34" charset="0"/>
                <a:ea typeface="Calibri" pitchFamily="34" charset="-122"/>
                <a:cs typeface="Calibri" pitchFamily="34" charset="-120"/>
              </a:rPr>
              <a:t>terminology-bound</a:t>
            </a:r>
            <a:endParaRPr lang="en-US" sz="1100" dirty="0"/>
          </a:p>
        </p:txBody>
      </p:sp>
      <p:sp>
        <p:nvSpPr>
          <p:cNvPr id="24" name="Shape 22"/>
          <p:cNvSpPr/>
          <p:nvPr/>
        </p:nvSpPr>
        <p:spPr>
          <a:xfrm>
            <a:off x="8933688" y="1627632"/>
            <a:ext cx="2606040" cy="1170432"/>
          </a:xfrm>
          <a:prstGeom prst="roundRect">
            <a:avLst>
              <a:gd name="adj" fmla="val 7031"/>
            </a:avLst>
          </a:prstGeom>
          <a:solidFill>
            <a:srgbClr val="F5F7FA"/>
          </a:solidFill>
          <a:ln w="12700">
            <a:solidFill>
              <a:srgbClr val="DDE5EE"/>
            </a:solidFill>
            <a:prstDash val="solid"/>
          </a:ln>
        </p:spPr>
        <p:txBody>
          <a:bodyPr/>
          <a:lstStyle/>
          <a:p>
            <a:endParaRPr lang="de-CH"/>
          </a:p>
        </p:txBody>
      </p:sp>
      <p:sp>
        <p:nvSpPr>
          <p:cNvPr id="25" name="Text 23"/>
          <p:cNvSpPr/>
          <p:nvPr/>
        </p:nvSpPr>
        <p:spPr>
          <a:xfrm>
            <a:off x="9171432" y="1755648"/>
            <a:ext cx="2103120" cy="603504"/>
          </a:xfrm>
          <a:prstGeom prst="rect">
            <a:avLst/>
          </a:prstGeom>
          <a:noFill/>
          <a:ln/>
        </p:spPr>
        <p:txBody>
          <a:bodyPr wrap="square" lIns="0" tIns="0" rIns="0" bIns="0" rtlCol="0" anchor="ctr"/>
          <a:lstStyle/>
          <a:p>
            <a:pPr marL="0" indent="0">
              <a:buNone/>
            </a:pPr>
            <a:r>
              <a:rPr lang="en-US" sz="3600" b="1">
                <a:solidFill>
                  <a:srgbClr val="12202E"/>
                </a:solidFill>
                <a:latin typeface="Cambria" pitchFamily="34" charset="0"/>
                <a:ea typeface="Cambria" pitchFamily="34" charset="-122"/>
                <a:cs typeface="Cambria" pitchFamily="34" charset="-120"/>
              </a:rPr>
              <a:t>48</a:t>
            </a:r>
            <a:endParaRPr lang="en-US" sz="3600" dirty="0"/>
          </a:p>
        </p:txBody>
      </p:sp>
      <p:sp>
        <p:nvSpPr>
          <p:cNvPr id="26" name="Text 24"/>
          <p:cNvSpPr/>
          <p:nvPr/>
        </p:nvSpPr>
        <p:spPr>
          <a:xfrm>
            <a:off x="9171432" y="2377440"/>
            <a:ext cx="2103120" cy="274320"/>
          </a:xfrm>
          <a:prstGeom prst="rect">
            <a:avLst/>
          </a:prstGeom>
          <a:noFill/>
          <a:ln/>
        </p:spPr>
        <p:txBody>
          <a:bodyPr wrap="square" lIns="0" tIns="0" rIns="0" bIns="0" rtlCol="0" anchor="ctr"/>
          <a:lstStyle/>
          <a:p>
            <a:pPr marL="0" indent="0">
              <a:buNone/>
            </a:pPr>
            <a:r>
              <a:rPr lang="en-US" sz="1100" dirty="0">
                <a:solidFill>
                  <a:srgbClr val="5D7186"/>
                </a:solidFill>
                <a:latin typeface="Calibri" pitchFamily="34" charset="0"/>
                <a:ea typeface="Calibri" pitchFamily="34" charset="-122"/>
                <a:cs typeface="Calibri" pitchFamily="34" charset="-120"/>
              </a:rPr>
              <a:t>FHIR-mapped</a:t>
            </a:r>
            <a:endParaRPr lang="en-US" sz="1100" dirty="0"/>
          </a:p>
        </p:txBody>
      </p:sp>
      <p:sp>
        <p:nvSpPr>
          <p:cNvPr id="27" name="Text 25"/>
          <p:cNvSpPr/>
          <p:nvPr/>
        </p:nvSpPr>
        <p:spPr>
          <a:xfrm>
            <a:off x="566928" y="3072384"/>
            <a:ext cx="777240" cy="237744"/>
          </a:xfrm>
          <a:prstGeom prst="rect">
            <a:avLst/>
          </a:prstGeom>
          <a:noFill/>
          <a:ln/>
        </p:spPr>
        <p:txBody>
          <a:bodyPr wrap="square" lIns="0" tIns="0" rIns="0" bIns="0" rtlCol="0" anchor="ctr"/>
          <a:lstStyle/>
          <a:p>
            <a:pPr marL="0" indent="0">
              <a:buNone/>
            </a:pPr>
            <a:r>
              <a:rPr lang="en-US" sz="900" b="1" kern="0" spc="100" dirty="0">
                <a:solidFill>
                  <a:srgbClr val="5D7186"/>
                </a:solidFill>
                <a:latin typeface="Calibri" pitchFamily="34" charset="0"/>
                <a:ea typeface="Calibri" pitchFamily="34" charset="-122"/>
                <a:cs typeface="Calibri" pitchFamily="34" charset="-120"/>
              </a:rPr>
              <a:t>ID</a:t>
            </a:r>
            <a:endParaRPr lang="en-US" sz="900" dirty="0"/>
          </a:p>
        </p:txBody>
      </p:sp>
      <p:sp>
        <p:nvSpPr>
          <p:cNvPr id="28" name="Text 26"/>
          <p:cNvSpPr/>
          <p:nvPr/>
        </p:nvSpPr>
        <p:spPr>
          <a:xfrm>
            <a:off x="1399032" y="3072384"/>
            <a:ext cx="2331720" cy="237744"/>
          </a:xfrm>
          <a:prstGeom prst="rect">
            <a:avLst/>
          </a:prstGeom>
          <a:noFill/>
          <a:ln/>
        </p:spPr>
        <p:txBody>
          <a:bodyPr wrap="square" lIns="0" tIns="0" rIns="0" bIns="0" rtlCol="0" anchor="ctr"/>
          <a:lstStyle/>
          <a:p>
            <a:pPr marL="0" indent="0">
              <a:buNone/>
            </a:pPr>
            <a:r>
              <a:rPr lang="en-US" sz="900" b="1" kern="0" spc="100" dirty="0">
                <a:solidFill>
                  <a:srgbClr val="5D7186"/>
                </a:solidFill>
                <a:latin typeface="Calibri" pitchFamily="34" charset="0"/>
                <a:ea typeface="Calibri" pitchFamily="34" charset="-122"/>
                <a:cs typeface="Calibri" pitchFamily="34" charset="-120"/>
              </a:rPr>
              <a:t>ELEMENT</a:t>
            </a:r>
            <a:endParaRPr lang="en-US" sz="900" dirty="0"/>
          </a:p>
        </p:txBody>
      </p:sp>
      <p:sp>
        <p:nvSpPr>
          <p:cNvPr id="29" name="Text 27"/>
          <p:cNvSpPr/>
          <p:nvPr/>
        </p:nvSpPr>
        <p:spPr>
          <a:xfrm>
            <a:off x="3785616" y="3072384"/>
            <a:ext cx="1234440" cy="237744"/>
          </a:xfrm>
          <a:prstGeom prst="rect">
            <a:avLst/>
          </a:prstGeom>
          <a:noFill/>
          <a:ln/>
        </p:spPr>
        <p:txBody>
          <a:bodyPr wrap="square" lIns="0" tIns="0" rIns="0" bIns="0" rtlCol="0" anchor="ctr"/>
          <a:lstStyle/>
          <a:p>
            <a:pPr marL="0" indent="0">
              <a:buNone/>
            </a:pPr>
            <a:r>
              <a:rPr lang="en-US" sz="900" b="1" kern="0" spc="100" dirty="0">
                <a:solidFill>
                  <a:srgbClr val="5D7186"/>
                </a:solidFill>
                <a:latin typeface="Calibri" pitchFamily="34" charset="0"/>
                <a:ea typeface="Calibri" pitchFamily="34" charset="-122"/>
                <a:cs typeface="Calibri" pitchFamily="34" charset="-120"/>
              </a:rPr>
              <a:t>TYPE</a:t>
            </a:r>
            <a:endParaRPr lang="en-US" sz="900" dirty="0"/>
          </a:p>
        </p:txBody>
      </p:sp>
      <p:sp>
        <p:nvSpPr>
          <p:cNvPr id="30" name="Text 28"/>
          <p:cNvSpPr/>
          <p:nvPr/>
        </p:nvSpPr>
        <p:spPr>
          <a:xfrm>
            <a:off x="5074920" y="3072384"/>
            <a:ext cx="1691640" cy="237744"/>
          </a:xfrm>
          <a:prstGeom prst="rect">
            <a:avLst/>
          </a:prstGeom>
          <a:noFill/>
          <a:ln/>
        </p:spPr>
        <p:txBody>
          <a:bodyPr wrap="square" lIns="0" tIns="0" rIns="0" bIns="0" rtlCol="0" anchor="ctr"/>
          <a:lstStyle/>
          <a:p>
            <a:pPr marL="0" indent="0">
              <a:buNone/>
            </a:pPr>
            <a:r>
              <a:rPr lang="en-US" sz="900" b="1" kern="0" spc="100" dirty="0">
                <a:solidFill>
                  <a:srgbClr val="5D7186"/>
                </a:solidFill>
                <a:latin typeface="Calibri" pitchFamily="34" charset="0"/>
                <a:ea typeface="Calibri" pitchFamily="34" charset="-122"/>
                <a:cs typeface="Calibri" pitchFamily="34" charset="-120"/>
              </a:rPr>
              <a:t>TERMINOLOGY</a:t>
            </a:r>
            <a:endParaRPr lang="en-US" sz="900" dirty="0"/>
          </a:p>
        </p:txBody>
      </p:sp>
      <p:sp>
        <p:nvSpPr>
          <p:cNvPr id="31" name="Text 29"/>
          <p:cNvSpPr/>
          <p:nvPr/>
        </p:nvSpPr>
        <p:spPr>
          <a:xfrm>
            <a:off x="6821424" y="3072384"/>
            <a:ext cx="2240280" cy="237744"/>
          </a:xfrm>
          <a:prstGeom prst="rect">
            <a:avLst/>
          </a:prstGeom>
          <a:noFill/>
          <a:ln/>
        </p:spPr>
        <p:txBody>
          <a:bodyPr wrap="square" lIns="0" tIns="0" rIns="0" bIns="0" rtlCol="0" anchor="ctr"/>
          <a:lstStyle/>
          <a:p>
            <a:pPr marL="0" indent="0">
              <a:buNone/>
            </a:pPr>
            <a:r>
              <a:rPr lang="en-US" sz="900" b="1" kern="0" spc="100" dirty="0">
                <a:solidFill>
                  <a:srgbClr val="5D7186"/>
                </a:solidFill>
                <a:latin typeface="Calibri" pitchFamily="34" charset="0"/>
                <a:ea typeface="Calibri" pitchFamily="34" charset="-122"/>
                <a:cs typeface="Calibri" pitchFamily="34" charset="-120"/>
              </a:rPr>
              <a:t>FHIR</a:t>
            </a:r>
            <a:endParaRPr lang="en-US" sz="900" dirty="0"/>
          </a:p>
        </p:txBody>
      </p:sp>
      <p:sp>
        <p:nvSpPr>
          <p:cNvPr id="32" name="Text 30"/>
          <p:cNvSpPr/>
          <p:nvPr/>
        </p:nvSpPr>
        <p:spPr>
          <a:xfrm>
            <a:off x="9116568" y="3072384"/>
            <a:ext cx="2651760" cy="237744"/>
          </a:xfrm>
          <a:prstGeom prst="rect">
            <a:avLst/>
          </a:prstGeom>
          <a:noFill/>
          <a:ln/>
        </p:spPr>
        <p:txBody>
          <a:bodyPr wrap="square" lIns="0" tIns="0" rIns="0" bIns="0" rtlCol="0" anchor="ctr"/>
          <a:lstStyle/>
          <a:p>
            <a:pPr marL="0" indent="0">
              <a:buNone/>
            </a:pPr>
            <a:r>
              <a:rPr lang="en-US" sz="900" b="1" kern="0" spc="100" dirty="0">
                <a:solidFill>
                  <a:srgbClr val="5D7186"/>
                </a:solidFill>
                <a:latin typeface="Calibri" pitchFamily="34" charset="0"/>
                <a:ea typeface="Calibri" pitchFamily="34" charset="-122"/>
                <a:cs typeface="Calibri" pitchFamily="34" charset="-120"/>
              </a:rPr>
              <a:t>L1 SOURCE</a:t>
            </a:r>
            <a:endParaRPr lang="en-US" sz="900" dirty="0"/>
          </a:p>
        </p:txBody>
      </p:sp>
      <p:sp>
        <p:nvSpPr>
          <p:cNvPr id="33" name="Shape 31"/>
          <p:cNvSpPr/>
          <p:nvPr/>
        </p:nvSpPr>
        <p:spPr>
          <a:xfrm>
            <a:off x="566928" y="3364992"/>
            <a:ext cx="11064240" cy="384048"/>
          </a:xfrm>
          <a:prstGeom prst="roundRect">
            <a:avLst>
              <a:gd name="adj" fmla="val 21429"/>
            </a:avLst>
          </a:prstGeom>
          <a:solidFill>
            <a:srgbClr val="F5F7FA"/>
          </a:solidFill>
          <a:ln w="12700">
            <a:solidFill>
              <a:srgbClr val="DDE5EE"/>
            </a:solidFill>
            <a:prstDash val="solid"/>
          </a:ln>
        </p:spPr>
        <p:txBody>
          <a:bodyPr/>
          <a:lstStyle/>
          <a:p>
            <a:endParaRPr lang="de-CH"/>
          </a:p>
        </p:txBody>
      </p:sp>
      <p:sp>
        <p:nvSpPr>
          <p:cNvPr id="34" name="Text 32"/>
          <p:cNvSpPr/>
          <p:nvPr/>
        </p:nvSpPr>
        <p:spPr>
          <a:xfrm>
            <a:off x="585216" y="3364992"/>
            <a:ext cx="777240" cy="384048"/>
          </a:xfrm>
          <a:prstGeom prst="rect">
            <a:avLst/>
          </a:prstGeom>
          <a:noFill/>
          <a:ln/>
        </p:spPr>
        <p:txBody>
          <a:bodyPr wrap="square" lIns="0" tIns="0" rIns="0" bIns="0" rtlCol="0" anchor="ctr"/>
          <a:lstStyle/>
          <a:p>
            <a:pPr marL="0" indent="0">
              <a:buNone/>
            </a:pPr>
            <a:r>
              <a:rPr lang="en-US" sz="1000" b="1" dirty="0">
                <a:solidFill>
                  <a:srgbClr val="12202E"/>
                </a:solidFill>
                <a:latin typeface="Calibri" pitchFamily="34" charset="0"/>
                <a:ea typeface="Calibri" pitchFamily="34" charset="-122"/>
                <a:cs typeface="Calibri" pitchFamily="34" charset="-120"/>
              </a:rPr>
              <a:t>DE-020</a:t>
            </a:r>
            <a:endParaRPr lang="en-US" sz="1000" dirty="0"/>
          </a:p>
        </p:txBody>
      </p:sp>
      <p:sp>
        <p:nvSpPr>
          <p:cNvPr id="35" name="Text 33"/>
          <p:cNvSpPr/>
          <p:nvPr/>
        </p:nvSpPr>
        <p:spPr>
          <a:xfrm>
            <a:off x="1417320" y="3364992"/>
            <a:ext cx="2331720" cy="384048"/>
          </a:xfrm>
          <a:prstGeom prst="rect">
            <a:avLst/>
          </a:prstGeom>
          <a:noFill/>
          <a:ln/>
        </p:spPr>
        <p:txBody>
          <a:bodyPr wrap="square" lIns="0" tIns="0" rIns="0" bIns="0" rtlCol="0" anchor="ctr"/>
          <a:lstStyle/>
          <a:p>
            <a:pPr marL="0" indent="0">
              <a:buNone/>
            </a:pPr>
            <a:r>
              <a:rPr lang="en-US" sz="1000" dirty="0">
                <a:solidFill>
                  <a:srgbClr val="12202E"/>
                </a:solidFill>
                <a:latin typeface="Calibri" pitchFamily="34" charset="0"/>
                <a:ea typeface="Calibri" pitchFamily="34" charset="-122"/>
                <a:cs typeface="Calibri" pitchFamily="34" charset="-120"/>
              </a:rPr>
              <a:t>Body temperature</a:t>
            </a:r>
            <a:endParaRPr lang="en-US" sz="1000" dirty="0"/>
          </a:p>
        </p:txBody>
      </p:sp>
      <p:sp>
        <p:nvSpPr>
          <p:cNvPr id="36" name="Text 34"/>
          <p:cNvSpPr/>
          <p:nvPr/>
        </p:nvSpPr>
        <p:spPr>
          <a:xfrm>
            <a:off x="3803904" y="3364992"/>
            <a:ext cx="1234440" cy="384048"/>
          </a:xfrm>
          <a:prstGeom prst="rect">
            <a:avLst/>
          </a:prstGeom>
          <a:noFill/>
          <a:ln/>
        </p:spPr>
        <p:txBody>
          <a:bodyPr wrap="square" lIns="0" tIns="0" rIns="0" bIns="0" rtlCol="0" anchor="ctr"/>
          <a:lstStyle/>
          <a:p>
            <a:pPr marL="0" indent="0">
              <a:buNone/>
            </a:pPr>
            <a:r>
              <a:rPr lang="en-US" sz="1000" dirty="0">
                <a:solidFill>
                  <a:srgbClr val="12202E"/>
                </a:solidFill>
                <a:latin typeface="Calibri" pitchFamily="34" charset="0"/>
                <a:ea typeface="Calibri" pitchFamily="34" charset="-122"/>
                <a:cs typeface="Calibri" pitchFamily="34" charset="-120"/>
              </a:rPr>
              <a:t>decimal</a:t>
            </a:r>
            <a:endParaRPr lang="en-US" sz="1000" dirty="0"/>
          </a:p>
        </p:txBody>
      </p:sp>
      <p:sp>
        <p:nvSpPr>
          <p:cNvPr id="37" name="Text 35"/>
          <p:cNvSpPr/>
          <p:nvPr/>
        </p:nvSpPr>
        <p:spPr>
          <a:xfrm>
            <a:off x="5093208" y="3364992"/>
            <a:ext cx="1691640" cy="384048"/>
          </a:xfrm>
          <a:prstGeom prst="rect">
            <a:avLst/>
          </a:prstGeom>
          <a:noFill/>
          <a:ln/>
        </p:spPr>
        <p:txBody>
          <a:bodyPr wrap="square" lIns="0" tIns="0" rIns="0" bIns="0" rtlCol="0" anchor="ctr"/>
          <a:lstStyle/>
          <a:p>
            <a:pPr marL="0" indent="0">
              <a:buNone/>
            </a:pPr>
            <a:r>
              <a:rPr lang="en-US" sz="1000" dirty="0">
                <a:solidFill>
                  <a:srgbClr val="5D7186"/>
                </a:solidFill>
                <a:latin typeface="Calibri" pitchFamily="34" charset="0"/>
                <a:ea typeface="Calibri" pitchFamily="34" charset="-122"/>
                <a:cs typeface="Calibri" pitchFamily="34" charset="-120"/>
              </a:rPr>
              <a:t>LOINC 8310-5</a:t>
            </a:r>
            <a:endParaRPr lang="en-US" sz="1000" dirty="0"/>
          </a:p>
        </p:txBody>
      </p:sp>
      <p:sp>
        <p:nvSpPr>
          <p:cNvPr id="38" name="Text 36"/>
          <p:cNvSpPr/>
          <p:nvPr/>
        </p:nvSpPr>
        <p:spPr>
          <a:xfrm>
            <a:off x="6839712" y="3364992"/>
            <a:ext cx="2240280" cy="384048"/>
          </a:xfrm>
          <a:prstGeom prst="rect">
            <a:avLst/>
          </a:prstGeom>
          <a:noFill/>
          <a:ln/>
        </p:spPr>
        <p:txBody>
          <a:bodyPr wrap="square" lIns="0" tIns="0" rIns="0" bIns="0" rtlCol="0" anchor="ctr"/>
          <a:lstStyle/>
          <a:p>
            <a:pPr marL="0" indent="0">
              <a:buNone/>
            </a:pPr>
            <a:r>
              <a:rPr lang="en-US" sz="1000" dirty="0">
                <a:solidFill>
                  <a:srgbClr val="5D7186"/>
                </a:solidFill>
                <a:latin typeface="Calibri" pitchFamily="34" charset="0"/>
                <a:ea typeface="Calibri" pitchFamily="34" charset="-122"/>
                <a:cs typeface="Calibri" pitchFamily="34" charset="-120"/>
              </a:rPr>
              <a:t>Observation.valueQuantity</a:t>
            </a:r>
            <a:endParaRPr lang="en-US" sz="1000" dirty="0"/>
          </a:p>
        </p:txBody>
      </p:sp>
      <p:sp>
        <p:nvSpPr>
          <p:cNvPr id="39" name="Text 37"/>
          <p:cNvSpPr/>
          <p:nvPr/>
        </p:nvSpPr>
        <p:spPr>
          <a:xfrm>
            <a:off x="9134856" y="3364992"/>
            <a:ext cx="2651760" cy="384048"/>
          </a:xfrm>
          <a:prstGeom prst="rect">
            <a:avLst/>
          </a:prstGeom>
          <a:noFill/>
          <a:ln/>
        </p:spPr>
        <p:txBody>
          <a:bodyPr wrap="square" lIns="0" tIns="0" rIns="0" bIns="0" rtlCol="0" anchor="ctr"/>
          <a:lstStyle/>
          <a:p>
            <a:pPr marL="0" indent="0">
              <a:buNone/>
            </a:pPr>
            <a:r>
              <a:rPr lang="en-US" sz="1000" dirty="0">
                <a:solidFill>
                  <a:srgbClr val="5D7186"/>
                </a:solidFill>
                <a:latin typeface="Calibri" pitchFamily="34" charset="0"/>
                <a:ea typeface="Calibri" pitchFamily="34" charset="-122"/>
                <a:cs typeface="Calibri" pitchFamily="34" charset="-120"/>
              </a:rPr>
              <a:t>CDC — fever &gt; 38 °C</a:t>
            </a:r>
            <a:endParaRPr lang="en-US" sz="1000" dirty="0"/>
          </a:p>
        </p:txBody>
      </p:sp>
      <p:sp>
        <p:nvSpPr>
          <p:cNvPr id="40" name="Shape 38"/>
          <p:cNvSpPr/>
          <p:nvPr/>
        </p:nvSpPr>
        <p:spPr>
          <a:xfrm>
            <a:off x="566928" y="3822192"/>
            <a:ext cx="11064240" cy="384048"/>
          </a:xfrm>
          <a:prstGeom prst="roundRect">
            <a:avLst>
              <a:gd name="adj" fmla="val 21429"/>
            </a:avLst>
          </a:prstGeom>
          <a:solidFill>
            <a:srgbClr val="FFFFFF"/>
          </a:solidFill>
          <a:ln w="12700">
            <a:solidFill>
              <a:srgbClr val="FFFFFF"/>
            </a:solidFill>
            <a:prstDash val="solid"/>
          </a:ln>
        </p:spPr>
        <p:txBody>
          <a:bodyPr/>
          <a:lstStyle/>
          <a:p>
            <a:endParaRPr lang="de-CH"/>
          </a:p>
        </p:txBody>
      </p:sp>
      <p:sp>
        <p:nvSpPr>
          <p:cNvPr id="41" name="Text 39"/>
          <p:cNvSpPr/>
          <p:nvPr/>
        </p:nvSpPr>
        <p:spPr>
          <a:xfrm>
            <a:off x="585216" y="3822192"/>
            <a:ext cx="777240" cy="384048"/>
          </a:xfrm>
          <a:prstGeom prst="rect">
            <a:avLst/>
          </a:prstGeom>
          <a:noFill/>
          <a:ln/>
        </p:spPr>
        <p:txBody>
          <a:bodyPr wrap="square" lIns="0" tIns="0" rIns="0" bIns="0" rtlCol="0" anchor="ctr"/>
          <a:lstStyle/>
          <a:p>
            <a:pPr marL="0" indent="0">
              <a:buNone/>
            </a:pPr>
            <a:r>
              <a:rPr lang="en-US" sz="1000" b="1" dirty="0">
                <a:solidFill>
                  <a:srgbClr val="12202E"/>
                </a:solidFill>
                <a:latin typeface="Calibri" pitchFamily="34" charset="0"/>
                <a:ea typeface="Calibri" pitchFamily="34" charset="-122"/>
                <a:cs typeface="Calibri" pitchFamily="34" charset="-120"/>
              </a:rPr>
              <a:t>DE-030</a:t>
            </a:r>
            <a:endParaRPr lang="en-US" sz="1000" dirty="0"/>
          </a:p>
        </p:txBody>
      </p:sp>
      <p:sp>
        <p:nvSpPr>
          <p:cNvPr id="42" name="Text 40"/>
          <p:cNvSpPr/>
          <p:nvPr/>
        </p:nvSpPr>
        <p:spPr>
          <a:xfrm>
            <a:off x="1417320" y="3822192"/>
            <a:ext cx="2331720" cy="384048"/>
          </a:xfrm>
          <a:prstGeom prst="rect">
            <a:avLst/>
          </a:prstGeom>
          <a:noFill/>
          <a:ln/>
        </p:spPr>
        <p:txBody>
          <a:bodyPr wrap="square" lIns="0" tIns="0" rIns="0" bIns="0" rtlCol="0" anchor="ctr"/>
          <a:lstStyle/>
          <a:p>
            <a:pPr marL="0" indent="0">
              <a:buNone/>
            </a:pPr>
            <a:r>
              <a:rPr lang="en-US" sz="1000" dirty="0">
                <a:solidFill>
                  <a:srgbClr val="12202E"/>
                </a:solidFill>
                <a:latin typeface="Calibri" pitchFamily="34" charset="0"/>
                <a:ea typeface="Calibri" pitchFamily="34" charset="-122"/>
                <a:cs typeface="Calibri" pitchFamily="34" charset="-120"/>
              </a:rPr>
              <a:t>Wound appearance</a:t>
            </a:r>
            <a:endParaRPr lang="en-US" sz="1000" dirty="0"/>
          </a:p>
        </p:txBody>
      </p:sp>
      <p:sp>
        <p:nvSpPr>
          <p:cNvPr id="43" name="Text 41"/>
          <p:cNvSpPr/>
          <p:nvPr/>
        </p:nvSpPr>
        <p:spPr>
          <a:xfrm>
            <a:off x="3803904" y="3822192"/>
            <a:ext cx="1234440" cy="384048"/>
          </a:xfrm>
          <a:prstGeom prst="rect">
            <a:avLst/>
          </a:prstGeom>
          <a:noFill/>
          <a:ln/>
        </p:spPr>
        <p:txBody>
          <a:bodyPr wrap="square" lIns="0" tIns="0" rIns="0" bIns="0" rtlCol="0" anchor="ctr"/>
          <a:lstStyle/>
          <a:p>
            <a:pPr marL="0" indent="0">
              <a:buNone/>
            </a:pPr>
            <a:r>
              <a:rPr lang="en-US" sz="1000" dirty="0">
                <a:solidFill>
                  <a:srgbClr val="12202E"/>
                </a:solidFill>
                <a:latin typeface="Calibri" pitchFamily="34" charset="0"/>
                <a:ea typeface="Calibri" pitchFamily="34" charset="-122"/>
                <a:cs typeface="Calibri" pitchFamily="34" charset="-120"/>
              </a:rPr>
              <a:t>select_one</a:t>
            </a:r>
            <a:endParaRPr lang="en-US" sz="1000" dirty="0"/>
          </a:p>
        </p:txBody>
      </p:sp>
      <p:sp>
        <p:nvSpPr>
          <p:cNvPr id="44" name="Text 42"/>
          <p:cNvSpPr/>
          <p:nvPr/>
        </p:nvSpPr>
        <p:spPr>
          <a:xfrm>
            <a:off x="5093208" y="3822192"/>
            <a:ext cx="1691640" cy="384048"/>
          </a:xfrm>
          <a:prstGeom prst="rect">
            <a:avLst/>
          </a:prstGeom>
          <a:noFill/>
          <a:ln/>
        </p:spPr>
        <p:txBody>
          <a:bodyPr wrap="square" lIns="0" tIns="0" rIns="0" bIns="0" rtlCol="0" anchor="ctr"/>
          <a:lstStyle/>
          <a:p>
            <a:pPr marL="0" indent="0">
              <a:buNone/>
            </a:pPr>
            <a:r>
              <a:rPr lang="en-US" sz="1000" dirty="0">
                <a:solidFill>
                  <a:srgbClr val="5D7186"/>
                </a:solidFill>
                <a:latin typeface="Calibri" pitchFamily="34" charset="0"/>
                <a:ea typeface="Calibri" pitchFamily="34" charset="-122"/>
                <a:cs typeface="Calibri" pitchFamily="34" charset="-120"/>
              </a:rPr>
              <a:t>SNOMED 225552003</a:t>
            </a:r>
            <a:endParaRPr lang="en-US" sz="1000" dirty="0"/>
          </a:p>
        </p:txBody>
      </p:sp>
      <p:sp>
        <p:nvSpPr>
          <p:cNvPr id="45" name="Text 43"/>
          <p:cNvSpPr/>
          <p:nvPr/>
        </p:nvSpPr>
        <p:spPr>
          <a:xfrm>
            <a:off x="6839712" y="3822192"/>
            <a:ext cx="2240280" cy="384048"/>
          </a:xfrm>
          <a:prstGeom prst="rect">
            <a:avLst/>
          </a:prstGeom>
          <a:noFill/>
          <a:ln/>
        </p:spPr>
        <p:txBody>
          <a:bodyPr wrap="square" lIns="0" tIns="0" rIns="0" bIns="0" rtlCol="0" anchor="ctr"/>
          <a:lstStyle/>
          <a:p>
            <a:pPr marL="0" indent="0">
              <a:buNone/>
            </a:pPr>
            <a:r>
              <a:rPr lang="en-US" sz="1000" dirty="0">
                <a:solidFill>
                  <a:srgbClr val="5D7186"/>
                </a:solidFill>
                <a:latin typeface="Calibri" pitchFamily="34" charset="0"/>
                <a:ea typeface="Calibri" pitchFamily="34" charset="-122"/>
                <a:cs typeface="Calibri" pitchFamily="34" charset="-120"/>
              </a:rPr>
              <a:t>Observation.valueCodeable</a:t>
            </a:r>
            <a:endParaRPr lang="en-US" sz="1000" dirty="0"/>
          </a:p>
        </p:txBody>
      </p:sp>
      <p:sp>
        <p:nvSpPr>
          <p:cNvPr id="46" name="Text 44"/>
          <p:cNvSpPr/>
          <p:nvPr/>
        </p:nvSpPr>
        <p:spPr>
          <a:xfrm>
            <a:off x="9134856" y="3822192"/>
            <a:ext cx="2651760" cy="384048"/>
          </a:xfrm>
          <a:prstGeom prst="rect">
            <a:avLst/>
          </a:prstGeom>
          <a:noFill/>
          <a:ln/>
        </p:spPr>
        <p:txBody>
          <a:bodyPr wrap="square" lIns="0" tIns="0" rIns="0" bIns="0" rtlCol="0" anchor="ctr"/>
          <a:lstStyle/>
          <a:p>
            <a:pPr marL="0" indent="0">
              <a:buNone/>
            </a:pPr>
            <a:r>
              <a:rPr lang="en-US" sz="1000" dirty="0">
                <a:solidFill>
                  <a:srgbClr val="5D7186"/>
                </a:solidFill>
                <a:latin typeface="Calibri" pitchFamily="34" charset="0"/>
                <a:ea typeface="Calibri" pitchFamily="34" charset="-122"/>
                <a:cs typeface="Calibri" pitchFamily="34" charset="-120"/>
              </a:rPr>
              <a:t>Southampton 0–V</a:t>
            </a:r>
            <a:endParaRPr lang="en-US" sz="1000" dirty="0"/>
          </a:p>
        </p:txBody>
      </p:sp>
      <p:sp>
        <p:nvSpPr>
          <p:cNvPr id="47" name="Shape 45"/>
          <p:cNvSpPr/>
          <p:nvPr/>
        </p:nvSpPr>
        <p:spPr>
          <a:xfrm>
            <a:off x="566928" y="4279392"/>
            <a:ext cx="11064240" cy="384048"/>
          </a:xfrm>
          <a:prstGeom prst="roundRect">
            <a:avLst>
              <a:gd name="adj" fmla="val 21429"/>
            </a:avLst>
          </a:prstGeom>
          <a:solidFill>
            <a:srgbClr val="F5F7FA"/>
          </a:solidFill>
          <a:ln w="12700">
            <a:solidFill>
              <a:srgbClr val="DDE5EE"/>
            </a:solidFill>
            <a:prstDash val="solid"/>
          </a:ln>
        </p:spPr>
        <p:txBody>
          <a:bodyPr/>
          <a:lstStyle/>
          <a:p>
            <a:endParaRPr lang="de-CH"/>
          </a:p>
        </p:txBody>
      </p:sp>
      <p:sp>
        <p:nvSpPr>
          <p:cNvPr id="48" name="Text 46"/>
          <p:cNvSpPr/>
          <p:nvPr/>
        </p:nvSpPr>
        <p:spPr>
          <a:xfrm>
            <a:off x="585216" y="4279392"/>
            <a:ext cx="777240" cy="384048"/>
          </a:xfrm>
          <a:prstGeom prst="rect">
            <a:avLst/>
          </a:prstGeom>
          <a:noFill/>
          <a:ln/>
        </p:spPr>
        <p:txBody>
          <a:bodyPr wrap="square" lIns="0" tIns="0" rIns="0" bIns="0" rtlCol="0" anchor="ctr"/>
          <a:lstStyle/>
          <a:p>
            <a:pPr marL="0" indent="0">
              <a:buNone/>
            </a:pPr>
            <a:r>
              <a:rPr lang="en-US" sz="1000" b="1" dirty="0">
                <a:solidFill>
                  <a:srgbClr val="12202E"/>
                </a:solidFill>
                <a:latin typeface="Calibri" pitchFamily="34" charset="0"/>
                <a:ea typeface="Calibri" pitchFamily="34" charset="-122"/>
                <a:cs typeface="Calibri" pitchFamily="34" charset="-120"/>
              </a:rPr>
              <a:t>DE-032</a:t>
            </a:r>
            <a:endParaRPr lang="en-US" sz="1000" dirty="0"/>
          </a:p>
        </p:txBody>
      </p:sp>
      <p:sp>
        <p:nvSpPr>
          <p:cNvPr id="49" name="Text 47"/>
          <p:cNvSpPr/>
          <p:nvPr/>
        </p:nvSpPr>
        <p:spPr>
          <a:xfrm>
            <a:off x="1417320" y="4279392"/>
            <a:ext cx="2331720" cy="384048"/>
          </a:xfrm>
          <a:prstGeom prst="rect">
            <a:avLst/>
          </a:prstGeom>
          <a:noFill/>
          <a:ln/>
        </p:spPr>
        <p:txBody>
          <a:bodyPr wrap="square" lIns="0" tIns="0" rIns="0" bIns="0" rtlCol="0" anchor="ctr"/>
          <a:lstStyle/>
          <a:p>
            <a:pPr marL="0" indent="0">
              <a:buNone/>
            </a:pPr>
            <a:r>
              <a:rPr lang="en-US" sz="1000" dirty="0">
                <a:solidFill>
                  <a:srgbClr val="12202E"/>
                </a:solidFill>
                <a:latin typeface="Calibri" pitchFamily="34" charset="0"/>
                <a:ea typeface="Calibri" pitchFamily="34" charset="-122"/>
                <a:cs typeface="Calibri" pitchFamily="34" charset="-120"/>
              </a:rPr>
              <a:t>Red streak</a:t>
            </a:r>
            <a:endParaRPr lang="en-US" sz="1000" dirty="0"/>
          </a:p>
        </p:txBody>
      </p:sp>
      <p:sp>
        <p:nvSpPr>
          <p:cNvPr id="50" name="Text 48"/>
          <p:cNvSpPr/>
          <p:nvPr/>
        </p:nvSpPr>
        <p:spPr>
          <a:xfrm>
            <a:off x="3803904" y="4279392"/>
            <a:ext cx="1234440" cy="384048"/>
          </a:xfrm>
          <a:prstGeom prst="rect">
            <a:avLst/>
          </a:prstGeom>
          <a:noFill/>
          <a:ln/>
        </p:spPr>
        <p:txBody>
          <a:bodyPr wrap="square" lIns="0" tIns="0" rIns="0" bIns="0" rtlCol="0" anchor="ctr"/>
          <a:lstStyle/>
          <a:p>
            <a:pPr marL="0" indent="0">
              <a:buNone/>
            </a:pPr>
            <a:r>
              <a:rPr lang="en-US" sz="1000" dirty="0">
                <a:solidFill>
                  <a:srgbClr val="12202E"/>
                </a:solidFill>
                <a:latin typeface="Calibri" pitchFamily="34" charset="0"/>
                <a:ea typeface="Calibri" pitchFamily="34" charset="-122"/>
                <a:cs typeface="Calibri" pitchFamily="34" charset="-120"/>
              </a:rPr>
              <a:t>select_one</a:t>
            </a:r>
            <a:endParaRPr lang="en-US" sz="1000" dirty="0"/>
          </a:p>
        </p:txBody>
      </p:sp>
      <p:sp>
        <p:nvSpPr>
          <p:cNvPr id="51" name="Text 49"/>
          <p:cNvSpPr/>
          <p:nvPr/>
        </p:nvSpPr>
        <p:spPr>
          <a:xfrm>
            <a:off x="5093208" y="4279392"/>
            <a:ext cx="1691640" cy="384048"/>
          </a:xfrm>
          <a:prstGeom prst="rect">
            <a:avLst/>
          </a:prstGeom>
          <a:noFill/>
          <a:ln/>
        </p:spPr>
        <p:txBody>
          <a:bodyPr wrap="square" lIns="0" tIns="0" rIns="0" bIns="0" rtlCol="0" anchor="ctr"/>
          <a:lstStyle/>
          <a:p>
            <a:pPr marL="0" indent="0">
              <a:buNone/>
            </a:pPr>
            <a:r>
              <a:rPr lang="en-US" sz="1000" dirty="0">
                <a:solidFill>
                  <a:srgbClr val="5D7186"/>
                </a:solidFill>
                <a:latin typeface="Calibri" pitchFamily="34" charset="0"/>
                <a:ea typeface="Calibri" pitchFamily="34" charset="-122"/>
                <a:cs typeface="Calibri" pitchFamily="34" charset="-120"/>
              </a:rPr>
              <a:t>SNOMED 46117009</a:t>
            </a:r>
            <a:endParaRPr lang="en-US" sz="1000" dirty="0"/>
          </a:p>
        </p:txBody>
      </p:sp>
      <p:sp>
        <p:nvSpPr>
          <p:cNvPr id="52" name="Text 50"/>
          <p:cNvSpPr/>
          <p:nvPr/>
        </p:nvSpPr>
        <p:spPr>
          <a:xfrm>
            <a:off x="6839712" y="4279392"/>
            <a:ext cx="2240280" cy="384048"/>
          </a:xfrm>
          <a:prstGeom prst="rect">
            <a:avLst/>
          </a:prstGeom>
          <a:noFill/>
          <a:ln/>
        </p:spPr>
        <p:txBody>
          <a:bodyPr wrap="square" lIns="0" tIns="0" rIns="0" bIns="0" rtlCol="0" anchor="ctr"/>
          <a:lstStyle/>
          <a:p>
            <a:pPr marL="0" indent="0">
              <a:buNone/>
            </a:pPr>
            <a:r>
              <a:rPr lang="en-US" sz="1000" dirty="0">
                <a:solidFill>
                  <a:srgbClr val="5D7186"/>
                </a:solidFill>
                <a:latin typeface="Calibri" pitchFamily="34" charset="0"/>
                <a:ea typeface="Calibri" pitchFamily="34" charset="-122"/>
                <a:cs typeface="Calibri" pitchFamily="34" charset="-120"/>
              </a:rPr>
              <a:t>Observation.valueCodeable</a:t>
            </a:r>
            <a:endParaRPr lang="en-US" sz="1000" dirty="0"/>
          </a:p>
        </p:txBody>
      </p:sp>
      <p:sp>
        <p:nvSpPr>
          <p:cNvPr id="53" name="Text 51"/>
          <p:cNvSpPr/>
          <p:nvPr/>
        </p:nvSpPr>
        <p:spPr>
          <a:xfrm>
            <a:off x="9134856" y="4279392"/>
            <a:ext cx="2651760" cy="384048"/>
          </a:xfrm>
          <a:prstGeom prst="rect">
            <a:avLst/>
          </a:prstGeom>
          <a:noFill/>
          <a:ln/>
        </p:spPr>
        <p:txBody>
          <a:bodyPr wrap="square" lIns="0" tIns="0" rIns="0" bIns="0" rtlCol="0" anchor="ctr"/>
          <a:lstStyle/>
          <a:p>
            <a:pPr marL="0" indent="0">
              <a:buNone/>
            </a:pPr>
            <a:r>
              <a:rPr lang="en-US" sz="1000" dirty="0">
                <a:solidFill>
                  <a:srgbClr val="5D7186"/>
                </a:solidFill>
                <a:latin typeface="Calibri" pitchFamily="34" charset="0"/>
                <a:ea typeface="Calibri" pitchFamily="34" charset="-122"/>
                <a:cs typeface="Calibri" pitchFamily="34" charset="-120"/>
              </a:rPr>
              <a:t>NICE NG125 §1.4.9</a:t>
            </a:r>
            <a:endParaRPr lang="en-US" sz="1000" dirty="0"/>
          </a:p>
        </p:txBody>
      </p:sp>
      <p:sp>
        <p:nvSpPr>
          <p:cNvPr id="54" name="Shape 52"/>
          <p:cNvSpPr/>
          <p:nvPr/>
        </p:nvSpPr>
        <p:spPr>
          <a:xfrm>
            <a:off x="566928" y="4736592"/>
            <a:ext cx="11064240" cy="384048"/>
          </a:xfrm>
          <a:prstGeom prst="roundRect">
            <a:avLst>
              <a:gd name="adj" fmla="val 21429"/>
            </a:avLst>
          </a:prstGeom>
          <a:solidFill>
            <a:srgbClr val="FFFFFF"/>
          </a:solidFill>
          <a:ln w="12700">
            <a:solidFill>
              <a:srgbClr val="FFFFFF"/>
            </a:solidFill>
            <a:prstDash val="solid"/>
          </a:ln>
        </p:spPr>
        <p:txBody>
          <a:bodyPr/>
          <a:lstStyle/>
          <a:p>
            <a:endParaRPr lang="de-CH"/>
          </a:p>
        </p:txBody>
      </p:sp>
      <p:sp>
        <p:nvSpPr>
          <p:cNvPr id="55" name="Text 53"/>
          <p:cNvSpPr/>
          <p:nvPr/>
        </p:nvSpPr>
        <p:spPr>
          <a:xfrm>
            <a:off x="585216" y="4736592"/>
            <a:ext cx="777240" cy="384048"/>
          </a:xfrm>
          <a:prstGeom prst="rect">
            <a:avLst/>
          </a:prstGeom>
          <a:noFill/>
          <a:ln/>
        </p:spPr>
        <p:txBody>
          <a:bodyPr wrap="square" lIns="0" tIns="0" rIns="0" bIns="0" rtlCol="0" anchor="ctr"/>
          <a:lstStyle/>
          <a:p>
            <a:pPr marL="0" indent="0">
              <a:buNone/>
            </a:pPr>
            <a:r>
              <a:rPr lang="en-US" sz="1000" b="1" dirty="0">
                <a:solidFill>
                  <a:srgbClr val="12202E"/>
                </a:solidFill>
                <a:latin typeface="Calibri" pitchFamily="34" charset="0"/>
                <a:ea typeface="Calibri" pitchFamily="34" charset="-122"/>
                <a:cs typeface="Calibri" pitchFamily="34" charset="-120"/>
              </a:rPr>
              <a:t>DE-035</a:t>
            </a:r>
            <a:endParaRPr lang="en-US" sz="1000" dirty="0"/>
          </a:p>
        </p:txBody>
      </p:sp>
      <p:sp>
        <p:nvSpPr>
          <p:cNvPr id="56" name="Text 54"/>
          <p:cNvSpPr/>
          <p:nvPr/>
        </p:nvSpPr>
        <p:spPr>
          <a:xfrm>
            <a:off x="1417320" y="4736592"/>
            <a:ext cx="2331720" cy="384048"/>
          </a:xfrm>
          <a:prstGeom prst="rect">
            <a:avLst/>
          </a:prstGeom>
          <a:noFill/>
          <a:ln/>
        </p:spPr>
        <p:txBody>
          <a:bodyPr wrap="square" lIns="0" tIns="0" rIns="0" bIns="0" rtlCol="0" anchor="ctr"/>
          <a:lstStyle/>
          <a:p>
            <a:pPr marL="0" indent="0">
              <a:buNone/>
            </a:pPr>
            <a:r>
              <a:rPr lang="en-US" sz="1000" dirty="0">
                <a:solidFill>
                  <a:srgbClr val="12202E"/>
                </a:solidFill>
                <a:latin typeface="Calibri" pitchFamily="34" charset="0"/>
                <a:ea typeface="Calibri" pitchFamily="34" charset="-122"/>
                <a:cs typeface="Calibri" pitchFamily="34" charset="-120"/>
              </a:rPr>
              <a:t>Discharge</a:t>
            </a:r>
            <a:endParaRPr lang="en-US" sz="1000" dirty="0"/>
          </a:p>
        </p:txBody>
      </p:sp>
      <p:sp>
        <p:nvSpPr>
          <p:cNvPr id="57" name="Text 55"/>
          <p:cNvSpPr/>
          <p:nvPr/>
        </p:nvSpPr>
        <p:spPr>
          <a:xfrm>
            <a:off x="3803904" y="4736592"/>
            <a:ext cx="1234440" cy="384048"/>
          </a:xfrm>
          <a:prstGeom prst="rect">
            <a:avLst/>
          </a:prstGeom>
          <a:noFill/>
          <a:ln/>
        </p:spPr>
        <p:txBody>
          <a:bodyPr wrap="square" lIns="0" tIns="0" rIns="0" bIns="0" rtlCol="0" anchor="ctr"/>
          <a:lstStyle/>
          <a:p>
            <a:pPr marL="0" indent="0">
              <a:buNone/>
            </a:pPr>
            <a:r>
              <a:rPr lang="en-US" sz="1000" dirty="0">
                <a:solidFill>
                  <a:srgbClr val="12202E"/>
                </a:solidFill>
                <a:latin typeface="Calibri" pitchFamily="34" charset="0"/>
                <a:ea typeface="Calibri" pitchFamily="34" charset="-122"/>
                <a:cs typeface="Calibri" pitchFamily="34" charset="-120"/>
              </a:rPr>
              <a:t>select_one</a:t>
            </a:r>
            <a:endParaRPr lang="en-US" sz="1000" dirty="0"/>
          </a:p>
        </p:txBody>
      </p:sp>
      <p:sp>
        <p:nvSpPr>
          <p:cNvPr id="58" name="Text 56"/>
          <p:cNvSpPr/>
          <p:nvPr/>
        </p:nvSpPr>
        <p:spPr>
          <a:xfrm>
            <a:off x="5093208" y="4736592"/>
            <a:ext cx="1691640" cy="384048"/>
          </a:xfrm>
          <a:prstGeom prst="rect">
            <a:avLst/>
          </a:prstGeom>
          <a:noFill/>
          <a:ln/>
        </p:spPr>
        <p:txBody>
          <a:bodyPr wrap="square" lIns="0" tIns="0" rIns="0" bIns="0" rtlCol="0" anchor="ctr"/>
          <a:lstStyle/>
          <a:p>
            <a:pPr marL="0" indent="0">
              <a:buNone/>
            </a:pPr>
            <a:r>
              <a:rPr lang="en-US" sz="1000" dirty="0">
                <a:solidFill>
                  <a:srgbClr val="5D7186"/>
                </a:solidFill>
                <a:latin typeface="Calibri" pitchFamily="34" charset="0"/>
                <a:ea typeface="Calibri" pitchFamily="34" charset="-122"/>
                <a:cs typeface="Calibri" pitchFamily="34" charset="-120"/>
              </a:rPr>
              <a:t>SNOMED 449736006</a:t>
            </a:r>
            <a:endParaRPr lang="en-US" sz="1000" dirty="0"/>
          </a:p>
        </p:txBody>
      </p:sp>
      <p:sp>
        <p:nvSpPr>
          <p:cNvPr id="59" name="Text 57"/>
          <p:cNvSpPr/>
          <p:nvPr/>
        </p:nvSpPr>
        <p:spPr>
          <a:xfrm>
            <a:off x="6839712" y="4736592"/>
            <a:ext cx="2240280" cy="384048"/>
          </a:xfrm>
          <a:prstGeom prst="rect">
            <a:avLst/>
          </a:prstGeom>
          <a:noFill/>
          <a:ln/>
        </p:spPr>
        <p:txBody>
          <a:bodyPr wrap="square" lIns="0" tIns="0" rIns="0" bIns="0" rtlCol="0" anchor="ctr"/>
          <a:lstStyle/>
          <a:p>
            <a:pPr marL="0" indent="0">
              <a:buNone/>
            </a:pPr>
            <a:r>
              <a:rPr lang="en-US" sz="1000" dirty="0">
                <a:solidFill>
                  <a:srgbClr val="5D7186"/>
                </a:solidFill>
                <a:latin typeface="Calibri" pitchFamily="34" charset="0"/>
                <a:ea typeface="Calibri" pitchFamily="34" charset="-122"/>
                <a:cs typeface="Calibri" pitchFamily="34" charset="-120"/>
              </a:rPr>
              <a:t>Observation.valueCodeable</a:t>
            </a:r>
            <a:endParaRPr lang="en-US" sz="1000" dirty="0"/>
          </a:p>
        </p:txBody>
      </p:sp>
      <p:sp>
        <p:nvSpPr>
          <p:cNvPr id="60" name="Text 58"/>
          <p:cNvSpPr/>
          <p:nvPr/>
        </p:nvSpPr>
        <p:spPr>
          <a:xfrm>
            <a:off x="9134856" y="4736592"/>
            <a:ext cx="2651760" cy="384048"/>
          </a:xfrm>
          <a:prstGeom prst="rect">
            <a:avLst/>
          </a:prstGeom>
          <a:noFill/>
          <a:ln/>
        </p:spPr>
        <p:txBody>
          <a:bodyPr wrap="square" lIns="0" tIns="0" rIns="0" bIns="0" rtlCol="0" anchor="ctr"/>
          <a:lstStyle/>
          <a:p>
            <a:pPr marL="0" indent="0">
              <a:buNone/>
            </a:pPr>
            <a:r>
              <a:rPr lang="en-US" sz="1000" dirty="0">
                <a:solidFill>
                  <a:srgbClr val="5D7186"/>
                </a:solidFill>
                <a:latin typeface="Calibri" pitchFamily="34" charset="0"/>
                <a:ea typeface="Calibri" pitchFamily="34" charset="-122"/>
                <a:cs typeface="Calibri" pitchFamily="34" charset="-120"/>
              </a:rPr>
              <a:t>CDC — purulent drainage</a:t>
            </a:r>
            <a:endParaRPr lang="en-US" sz="1000" dirty="0"/>
          </a:p>
        </p:txBody>
      </p:sp>
      <p:sp>
        <p:nvSpPr>
          <p:cNvPr id="61" name="Shape 59"/>
          <p:cNvSpPr/>
          <p:nvPr/>
        </p:nvSpPr>
        <p:spPr>
          <a:xfrm>
            <a:off x="566928" y="5193792"/>
            <a:ext cx="11064240" cy="384048"/>
          </a:xfrm>
          <a:prstGeom prst="roundRect">
            <a:avLst>
              <a:gd name="adj" fmla="val 21429"/>
            </a:avLst>
          </a:prstGeom>
          <a:solidFill>
            <a:srgbClr val="F5F7FA"/>
          </a:solidFill>
          <a:ln w="12700">
            <a:solidFill>
              <a:srgbClr val="DDE5EE"/>
            </a:solidFill>
            <a:prstDash val="solid"/>
          </a:ln>
        </p:spPr>
        <p:txBody>
          <a:bodyPr/>
          <a:lstStyle/>
          <a:p>
            <a:endParaRPr lang="de-CH"/>
          </a:p>
        </p:txBody>
      </p:sp>
      <p:sp>
        <p:nvSpPr>
          <p:cNvPr id="62" name="Text 60"/>
          <p:cNvSpPr/>
          <p:nvPr/>
        </p:nvSpPr>
        <p:spPr>
          <a:xfrm>
            <a:off x="585216" y="5193792"/>
            <a:ext cx="777240" cy="384048"/>
          </a:xfrm>
          <a:prstGeom prst="rect">
            <a:avLst/>
          </a:prstGeom>
          <a:noFill/>
          <a:ln/>
        </p:spPr>
        <p:txBody>
          <a:bodyPr wrap="square" lIns="0" tIns="0" rIns="0" bIns="0" rtlCol="0" anchor="ctr"/>
          <a:lstStyle/>
          <a:p>
            <a:pPr marL="0" indent="0">
              <a:buNone/>
            </a:pPr>
            <a:r>
              <a:rPr lang="en-US" sz="1000" b="1" dirty="0">
                <a:solidFill>
                  <a:srgbClr val="12202E"/>
                </a:solidFill>
                <a:latin typeface="Calibri" pitchFamily="34" charset="0"/>
                <a:ea typeface="Calibri" pitchFamily="34" charset="-122"/>
                <a:cs typeface="Calibri" pitchFamily="34" charset="-120"/>
              </a:rPr>
              <a:t>DE-045</a:t>
            </a:r>
            <a:endParaRPr lang="en-US" sz="1000" dirty="0"/>
          </a:p>
        </p:txBody>
      </p:sp>
      <p:sp>
        <p:nvSpPr>
          <p:cNvPr id="63" name="Text 61"/>
          <p:cNvSpPr/>
          <p:nvPr/>
        </p:nvSpPr>
        <p:spPr>
          <a:xfrm>
            <a:off x="1417320" y="5193792"/>
            <a:ext cx="2331720" cy="384048"/>
          </a:xfrm>
          <a:prstGeom prst="rect">
            <a:avLst/>
          </a:prstGeom>
          <a:noFill/>
          <a:ln/>
        </p:spPr>
        <p:txBody>
          <a:bodyPr wrap="square" lIns="0" tIns="0" rIns="0" bIns="0" rtlCol="0" anchor="ctr"/>
          <a:lstStyle/>
          <a:p>
            <a:pPr marL="0" indent="0">
              <a:buNone/>
            </a:pPr>
            <a:r>
              <a:rPr lang="en-US" sz="1000" dirty="0">
                <a:solidFill>
                  <a:srgbClr val="12202E"/>
                </a:solidFill>
                <a:latin typeface="Calibri" pitchFamily="34" charset="0"/>
                <a:ea typeface="Calibri" pitchFamily="34" charset="-122"/>
                <a:cs typeface="Calibri" pitchFamily="34" charset="-120"/>
              </a:rPr>
              <a:t>Southampton grade</a:t>
            </a:r>
            <a:endParaRPr lang="en-US" sz="1000" dirty="0"/>
          </a:p>
        </p:txBody>
      </p:sp>
      <p:sp>
        <p:nvSpPr>
          <p:cNvPr id="64" name="Text 62"/>
          <p:cNvSpPr/>
          <p:nvPr/>
        </p:nvSpPr>
        <p:spPr>
          <a:xfrm>
            <a:off x="3803904" y="5193792"/>
            <a:ext cx="1234440" cy="384048"/>
          </a:xfrm>
          <a:prstGeom prst="rect">
            <a:avLst/>
          </a:prstGeom>
          <a:noFill/>
          <a:ln/>
        </p:spPr>
        <p:txBody>
          <a:bodyPr wrap="square" lIns="0" tIns="0" rIns="0" bIns="0" rtlCol="0" anchor="ctr"/>
          <a:lstStyle/>
          <a:p>
            <a:pPr marL="0" indent="0">
              <a:buNone/>
            </a:pPr>
            <a:r>
              <a:rPr lang="en-US" sz="1000" dirty="0">
                <a:solidFill>
                  <a:srgbClr val="12202E"/>
                </a:solidFill>
                <a:latin typeface="Calibri" pitchFamily="34" charset="0"/>
                <a:ea typeface="Calibri" pitchFamily="34" charset="-122"/>
                <a:cs typeface="Calibri" pitchFamily="34" charset="-120"/>
              </a:rPr>
              <a:t>calculated</a:t>
            </a:r>
            <a:endParaRPr lang="en-US" sz="1000" dirty="0"/>
          </a:p>
        </p:txBody>
      </p:sp>
      <p:sp>
        <p:nvSpPr>
          <p:cNvPr id="65" name="Text 63"/>
          <p:cNvSpPr/>
          <p:nvPr/>
        </p:nvSpPr>
        <p:spPr>
          <a:xfrm>
            <a:off x="5093208" y="5193792"/>
            <a:ext cx="1691640" cy="384048"/>
          </a:xfrm>
          <a:prstGeom prst="rect">
            <a:avLst/>
          </a:prstGeom>
          <a:noFill/>
          <a:ln/>
        </p:spPr>
        <p:txBody>
          <a:bodyPr wrap="square" lIns="0" tIns="0" rIns="0" bIns="0" rtlCol="0" anchor="ctr"/>
          <a:lstStyle/>
          <a:p>
            <a:pPr marL="0" indent="0">
              <a:buNone/>
            </a:pPr>
            <a:r>
              <a:rPr lang="en-US" sz="1000" dirty="0">
                <a:solidFill>
                  <a:srgbClr val="5D7186"/>
                </a:solidFill>
                <a:latin typeface="Calibri" pitchFamily="34" charset="0"/>
                <a:ea typeface="Calibri" pitchFamily="34" charset="-122"/>
                <a:cs typeface="Calibri" pitchFamily="34" charset="-120"/>
              </a:rPr>
              <a:t>SNOMED 225552003</a:t>
            </a:r>
            <a:endParaRPr lang="en-US" sz="1000" dirty="0"/>
          </a:p>
        </p:txBody>
      </p:sp>
      <p:sp>
        <p:nvSpPr>
          <p:cNvPr id="66" name="Text 64"/>
          <p:cNvSpPr/>
          <p:nvPr/>
        </p:nvSpPr>
        <p:spPr>
          <a:xfrm>
            <a:off x="6839712" y="5193792"/>
            <a:ext cx="2240280" cy="384048"/>
          </a:xfrm>
          <a:prstGeom prst="rect">
            <a:avLst/>
          </a:prstGeom>
          <a:noFill/>
          <a:ln/>
        </p:spPr>
        <p:txBody>
          <a:bodyPr wrap="square" lIns="0" tIns="0" rIns="0" bIns="0" rtlCol="0" anchor="ctr"/>
          <a:lstStyle/>
          <a:p>
            <a:pPr marL="0" indent="0">
              <a:buNone/>
            </a:pPr>
            <a:r>
              <a:rPr lang="en-US" sz="1000" dirty="0">
                <a:solidFill>
                  <a:srgbClr val="5D7186"/>
                </a:solidFill>
                <a:latin typeface="Calibri" pitchFamily="34" charset="0"/>
                <a:ea typeface="Calibri" pitchFamily="34" charset="-122"/>
                <a:cs typeface="Calibri" pitchFamily="34" charset="-120"/>
              </a:rPr>
              <a:t>Observation.valueCodeable</a:t>
            </a:r>
            <a:endParaRPr lang="en-US" sz="1000" dirty="0"/>
          </a:p>
        </p:txBody>
      </p:sp>
      <p:sp>
        <p:nvSpPr>
          <p:cNvPr id="67" name="Text 65"/>
          <p:cNvSpPr/>
          <p:nvPr/>
        </p:nvSpPr>
        <p:spPr>
          <a:xfrm>
            <a:off x="9134856" y="5193792"/>
            <a:ext cx="2651760" cy="384048"/>
          </a:xfrm>
          <a:prstGeom prst="rect">
            <a:avLst/>
          </a:prstGeom>
          <a:noFill/>
          <a:ln/>
        </p:spPr>
        <p:txBody>
          <a:bodyPr wrap="square" lIns="0" tIns="0" rIns="0" bIns="0" rtlCol="0" anchor="ctr"/>
          <a:lstStyle/>
          <a:p>
            <a:pPr marL="0" indent="0">
              <a:buNone/>
            </a:pPr>
            <a:r>
              <a:rPr lang="en-US" sz="1000" dirty="0">
                <a:solidFill>
                  <a:srgbClr val="5D7186"/>
                </a:solidFill>
                <a:latin typeface="Calibri" pitchFamily="34" charset="0"/>
                <a:ea typeface="Calibri" pitchFamily="34" charset="-122"/>
                <a:cs typeface="Calibri" pitchFamily="34" charset="-120"/>
              </a:rPr>
              <a:t>Southampton</a:t>
            </a:r>
            <a:endParaRPr lang="en-US" sz="1000" dirty="0"/>
          </a:p>
        </p:txBody>
      </p:sp>
      <p:sp>
        <p:nvSpPr>
          <p:cNvPr id="71" name="Text 11">
            <a:extLst>
              <a:ext uri="{FF2B5EF4-FFF2-40B4-BE49-F238E27FC236}">
                <a16:creationId xmlns:a16="http://schemas.microsoft.com/office/drawing/2014/main" id="{C8E62043-959F-85D9-9FB7-3EE89F7EF2C1}"/>
              </a:ext>
            </a:extLst>
          </p:cNvPr>
          <p:cNvSpPr/>
          <p:nvPr/>
        </p:nvSpPr>
        <p:spPr>
          <a:xfrm>
            <a:off x="57709" y="6568124"/>
            <a:ext cx="8229600" cy="274320"/>
          </a:xfrm>
          <a:prstGeom prst="rect">
            <a:avLst/>
          </a:prstGeom>
          <a:noFill/>
          <a:ln/>
        </p:spPr>
        <p:txBody>
          <a:bodyPr wrap="square" lIns="0" tIns="0" rIns="0" bIns="0" rtlCol="0" anchor="ctr"/>
          <a:lstStyle/>
          <a:p>
            <a:pPr marL="0" indent="0">
              <a:buNone/>
            </a:pPr>
            <a:r>
              <a:rPr lang="en-US" sz="900">
                <a:solidFill>
                  <a:srgbClr val="8FA3B8"/>
                </a:solidFill>
                <a:latin typeface="Calibri" pitchFamily="34" charset="0"/>
                <a:ea typeface="Calibri" pitchFamily="34" charset="-122"/>
                <a:cs typeface="Calibri" pitchFamily="34" charset="-120"/>
              </a:rPr>
              <a:t>FHNW  ·  MSc Medical Informatics  ·  Clinical Decision Support Systems 2026</a:t>
            </a:r>
            <a:endParaRPr lang="en-US" sz="900"/>
          </a:p>
        </p:txBody>
      </p:sp>
      <p:pic>
        <p:nvPicPr>
          <p:cNvPr id="73" name="Grafik 72">
            <a:extLst>
              <a:ext uri="{FF2B5EF4-FFF2-40B4-BE49-F238E27FC236}">
                <a16:creationId xmlns:a16="http://schemas.microsoft.com/office/drawing/2014/main" id="{4052E7EF-6C17-3048-580E-BD5DC3DCBF16}"/>
              </a:ext>
            </a:extLst>
          </p:cNvPr>
          <p:cNvPicPr>
            <a:picLocks noChangeAspect="1"/>
          </p:cNvPicPr>
          <p:nvPr/>
        </p:nvPicPr>
        <p:blipFill>
          <a:blip r:embed="rId3">
            <a:duotone>
              <a:schemeClr val="accent3">
                <a:shade val="45000"/>
                <a:satMod val="135000"/>
              </a:schemeClr>
              <a:prstClr val="white"/>
            </a:duotone>
          </a:blip>
          <a:stretch>
            <a:fillRect/>
          </a:stretch>
        </p:blipFill>
        <p:spPr>
          <a:xfrm>
            <a:off x="57709" y="47504"/>
            <a:ext cx="1012490" cy="23624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7680960" cy="219456"/>
          </a:xfrm>
          <a:prstGeom prst="rect">
            <a:avLst/>
          </a:prstGeom>
          <a:noFill/>
          <a:ln/>
        </p:spPr>
        <p:txBody>
          <a:bodyPr wrap="square" lIns="0" tIns="0" rIns="0" bIns="0" rtlCol="0" anchor="ctr"/>
          <a:lstStyle/>
          <a:p>
            <a:pPr marL="0" indent="0">
              <a:buNone/>
            </a:pPr>
            <a:r>
              <a:rPr lang="en-US" sz="1050" b="1" kern="0" spc="160" dirty="0">
                <a:solidFill>
                  <a:srgbClr val="5D7186"/>
                </a:solidFill>
                <a:latin typeface="Calibri" pitchFamily="34" charset="0"/>
                <a:ea typeface="Calibri" pitchFamily="34" charset="-122"/>
                <a:cs typeface="Calibri" pitchFamily="34" charset="-120"/>
              </a:rPr>
              <a:t>L2 · DECISION LOGIC</a:t>
            </a:r>
            <a:endParaRPr lang="en-US" sz="1050" dirty="0"/>
          </a:p>
        </p:txBody>
      </p:sp>
      <p:sp>
        <p:nvSpPr>
          <p:cNvPr id="3" name="Text 1"/>
          <p:cNvSpPr/>
          <p:nvPr/>
        </p:nvSpPr>
        <p:spPr>
          <a:xfrm>
            <a:off x="566928" y="640080"/>
            <a:ext cx="8412480" cy="658368"/>
          </a:xfrm>
          <a:prstGeom prst="rect">
            <a:avLst/>
          </a:prstGeom>
          <a:noFill/>
          <a:ln/>
        </p:spPr>
        <p:txBody>
          <a:bodyPr wrap="square" lIns="0" tIns="0" rIns="0" bIns="0" rtlCol="0" anchor="t"/>
          <a:lstStyle/>
          <a:p>
            <a:pPr marL="0" indent="0">
              <a:buNone/>
            </a:pPr>
            <a:r>
              <a:rPr lang="en-US" sz="2700" b="1" dirty="0">
                <a:solidFill>
                  <a:srgbClr val="12202E"/>
                </a:solidFill>
                <a:latin typeface="Cambria" pitchFamily="34" charset="0"/>
                <a:ea typeface="Cambria" pitchFamily="34" charset="-122"/>
                <a:cs typeface="Cambria" pitchFamily="34" charset="-120"/>
              </a:rPr>
              <a:t>“Worst-first”: a reassuring finding can never overwrite a warning</a:t>
            </a:r>
            <a:endParaRPr lang="en-US" sz="2700" dirty="0"/>
          </a:p>
        </p:txBody>
      </p:sp>
      <p:sp>
        <p:nvSpPr>
          <p:cNvPr id="4" name="Shape 2"/>
          <p:cNvSpPr/>
          <p:nvPr/>
        </p:nvSpPr>
        <p:spPr>
          <a:xfrm>
            <a:off x="9290304" y="475488"/>
            <a:ext cx="475488" cy="274320"/>
          </a:xfrm>
          <a:prstGeom prst="roundRect">
            <a:avLst>
              <a:gd name="adj" fmla="val 46667"/>
            </a:avLst>
          </a:prstGeom>
          <a:solidFill>
            <a:srgbClr val="F5F7FA"/>
          </a:solidFill>
          <a:ln w="12700">
            <a:solidFill>
              <a:srgbClr val="DDE5EE"/>
            </a:solidFill>
            <a:prstDash val="solid"/>
          </a:ln>
        </p:spPr>
        <p:txBody>
          <a:bodyPr/>
          <a:lstStyle/>
          <a:p>
            <a:endParaRPr lang="de-CH"/>
          </a:p>
        </p:txBody>
      </p:sp>
      <p:sp>
        <p:nvSpPr>
          <p:cNvPr id="5" name="Text 3"/>
          <p:cNvSpPr/>
          <p:nvPr/>
        </p:nvSpPr>
        <p:spPr>
          <a:xfrm>
            <a:off x="9290304" y="475488"/>
            <a:ext cx="475488" cy="274320"/>
          </a:xfrm>
          <a:prstGeom prst="rect">
            <a:avLst/>
          </a:prstGeom>
          <a:noFill/>
          <a:ln/>
        </p:spPr>
        <p:txBody>
          <a:bodyPr wrap="square" lIns="0" tIns="0" rIns="0" bIns="0" rtlCol="0" anchor="ctr"/>
          <a:lstStyle/>
          <a:p>
            <a:pPr marL="0" indent="0" algn="ctr">
              <a:buNone/>
            </a:pPr>
            <a:r>
              <a:rPr lang="en-US" sz="1050" b="1" dirty="0">
                <a:solidFill>
                  <a:srgbClr val="5D7186"/>
                </a:solidFill>
                <a:latin typeface="Calibri" pitchFamily="34" charset="0"/>
                <a:ea typeface="Calibri" pitchFamily="34" charset="-122"/>
                <a:cs typeface="Calibri" pitchFamily="34" charset="-120"/>
              </a:rPr>
              <a:t>L1</a:t>
            </a:r>
            <a:endParaRPr lang="en-US" sz="1050" dirty="0"/>
          </a:p>
        </p:txBody>
      </p:sp>
      <p:sp>
        <p:nvSpPr>
          <p:cNvPr id="6" name="Text 4"/>
          <p:cNvSpPr/>
          <p:nvPr/>
        </p:nvSpPr>
        <p:spPr>
          <a:xfrm>
            <a:off x="9765792" y="475488"/>
            <a:ext cx="146304" cy="274320"/>
          </a:xfrm>
          <a:prstGeom prst="rect">
            <a:avLst/>
          </a:prstGeom>
          <a:noFill/>
          <a:ln/>
        </p:spPr>
        <p:txBody>
          <a:bodyPr wrap="square" lIns="0" tIns="0" rIns="0" bIns="0" rtlCol="0" anchor="ctr"/>
          <a:lstStyle/>
          <a:p>
            <a:pPr marL="0" indent="0" algn="ctr">
              <a:buNone/>
            </a:pPr>
            <a:r>
              <a:rPr lang="en-US" sz="1100" dirty="0">
                <a:solidFill>
                  <a:srgbClr val="DDE5EE"/>
                </a:solidFill>
                <a:latin typeface="Calibri" pitchFamily="34" charset="0"/>
                <a:ea typeface="Calibri" pitchFamily="34" charset="-122"/>
                <a:cs typeface="Calibri" pitchFamily="34" charset="-120"/>
              </a:rPr>
              <a:t>›</a:t>
            </a:r>
            <a:endParaRPr lang="en-US" sz="1100" dirty="0"/>
          </a:p>
        </p:txBody>
      </p:sp>
      <p:sp>
        <p:nvSpPr>
          <p:cNvPr id="7" name="Shape 5"/>
          <p:cNvSpPr/>
          <p:nvPr/>
        </p:nvSpPr>
        <p:spPr>
          <a:xfrm>
            <a:off x="9912096" y="475488"/>
            <a:ext cx="475488" cy="274320"/>
          </a:xfrm>
          <a:prstGeom prst="roundRect">
            <a:avLst>
              <a:gd name="adj" fmla="val 46667"/>
            </a:avLst>
          </a:prstGeom>
          <a:solidFill>
            <a:srgbClr val="12202E"/>
          </a:solidFill>
          <a:ln w="12700">
            <a:solidFill>
              <a:srgbClr val="12202E"/>
            </a:solidFill>
            <a:prstDash val="solid"/>
          </a:ln>
        </p:spPr>
        <p:txBody>
          <a:bodyPr/>
          <a:lstStyle/>
          <a:p>
            <a:endParaRPr lang="de-CH"/>
          </a:p>
        </p:txBody>
      </p:sp>
      <p:sp>
        <p:nvSpPr>
          <p:cNvPr id="8" name="Text 6"/>
          <p:cNvSpPr/>
          <p:nvPr/>
        </p:nvSpPr>
        <p:spPr>
          <a:xfrm>
            <a:off x="9912096" y="475488"/>
            <a:ext cx="475488"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L2</a:t>
            </a:r>
            <a:endParaRPr lang="en-US" sz="1050" dirty="0"/>
          </a:p>
        </p:txBody>
      </p:sp>
      <p:sp>
        <p:nvSpPr>
          <p:cNvPr id="9" name="Text 7"/>
          <p:cNvSpPr/>
          <p:nvPr/>
        </p:nvSpPr>
        <p:spPr>
          <a:xfrm>
            <a:off x="10387584" y="475488"/>
            <a:ext cx="146304" cy="274320"/>
          </a:xfrm>
          <a:prstGeom prst="rect">
            <a:avLst/>
          </a:prstGeom>
          <a:noFill/>
          <a:ln/>
        </p:spPr>
        <p:txBody>
          <a:bodyPr wrap="square" lIns="0" tIns="0" rIns="0" bIns="0" rtlCol="0" anchor="ctr"/>
          <a:lstStyle/>
          <a:p>
            <a:pPr marL="0" indent="0" algn="ctr">
              <a:buNone/>
            </a:pPr>
            <a:r>
              <a:rPr lang="en-US" sz="1100" dirty="0">
                <a:solidFill>
                  <a:srgbClr val="DDE5EE"/>
                </a:solidFill>
                <a:latin typeface="Calibri" pitchFamily="34" charset="0"/>
                <a:ea typeface="Calibri" pitchFamily="34" charset="-122"/>
                <a:cs typeface="Calibri" pitchFamily="34" charset="-120"/>
              </a:rPr>
              <a:t>›</a:t>
            </a:r>
            <a:endParaRPr lang="en-US" sz="1100" dirty="0"/>
          </a:p>
        </p:txBody>
      </p:sp>
      <p:sp>
        <p:nvSpPr>
          <p:cNvPr id="10" name="Shape 8"/>
          <p:cNvSpPr/>
          <p:nvPr/>
        </p:nvSpPr>
        <p:spPr>
          <a:xfrm>
            <a:off x="10533888" y="475488"/>
            <a:ext cx="475488" cy="274320"/>
          </a:xfrm>
          <a:prstGeom prst="roundRect">
            <a:avLst>
              <a:gd name="adj" fmla="val 46667"/>
            </a:avLst>
          </a:prstGeom>
          <a:solidFill>
            <a:srgbClr val="F5F7FA"/>
          </a:solidFill>
          <a:ln w="12700">
            <a:solidFill>
              <a:srgbClr val="DDE5EE"/>
            </a:solidFill>
            <a:prstDash val="solid"/>
          </a:ln>
        </p:spPr>
        <p:txBody>
          <a:bodyPr/>
          <a:lstStyle/>
          <a:p>
            <a:endParaRPr lang="de-CH"/>
          </a:p>
        </p:txBody>
      </p:sp>
      <p:sp>
        <p:nvSpPr>
          <p:cNvPr id="11" name="Text 9"/>
          <p:cNvSpPr/>
          <p:nvPr/>
        </p:nvSpPr>
        <p:spPr>
          <a:xfrm>
            <a:off x="10533888" y="475488"/>
            <a:ext cx="475488" cy="274320"/>
          </a:xfrm>
          <a:prstGeom prst="rect">
            <a:avLst/>
          </a:prstGeom>
          <a:noFill/>
          <a:ln/>
        </p:spPr>
        <p:txBody>
          <a:bodyPr wrap="square" lIns="0" tIns="0" rIns="0" bIns="0" rtlCol="0" anchor="ctr"/>
          <a:lstStyle/>
          <a:p>
            <a:pPr marL="0" indent="0" algn="ctr">
              <a:buNone/>
            </a:pPr>
            <a:r>
              <a:rPr lang="en-US" sz="1050" b="1" dirty="0">
                <a:solidFill>
                  <a:srgbClr val="5D7186"/>
                </a:solidFill>
                <a:latin typeface="Calibri" pitchFamily="34" charset="0"/>
                <a:ea typeface="Calibri" pitchFamily="34" charset="-122"/>
                <a:cs typeface="Calibri" pitchFamily="34" charset="-120"/>
              </a:rPr>
              <a:t>L3</a:t>
            </a:r>
            <a:endParaRPr lang="en-US" sz="1050" dirty="0"/>
          </a:p>
        </p:txBody>
      </p:sp>
      <p:sp>
        <p:nvSpPr>
          <p:cNvPr id="12" name="Text 10"/>
          <p:cNvSpPr/>
          <p:nvPr/>
        </p:nvSpPr>
        <p:spPr>
          <a:xfrm>
            <a:off x="11009376" y="475488"/>
            <a:ext cx="146304" cy="274320"/>
          </a:xfrm>
          <a:prstGeom prst="rect">
            <a:avLst/>
          </a:prstGeom>
          <a:noFill/>
          <a:ln/>
        </p:spPr>
        <p:txBody>
          <a:bodyPr wrap="square" lIns="0" tIns="0" rIns="0" bIns="0" rtlCol="0" anchor="ctr"/>
          <a:lstStyle/>
          <a:p>
            <a:pPr marL="0" indent="0" algn="ctr">
              <a:buNone/>
            </a:pPr>
            <a:r>
              <a:rPr lang="en-US" sz="1100" dirty="0">
                <a:solidFill>
                  <a:srgbClr val="DDE5EE"/>
                </a:solidFill>
                <a:latin typeface="Calibri" pitchFamily="34" charset="0"/>
                <a:ea typeface="Calibri" pitchFamily="34" charset="-122"/>
                <a:cs typeface="Calibri" pitchFamily="34" charset="-120"/>
              </a:rPr>
              <a:t>›</a:t>
            </a:r>
            <a:endParaRPr lang="en-US" sz="1100" dirty="0"/>
          </a:p>
        </p:txBody>
      </p:sp>
      <p:sp>
        <p:nvSpPr>
          <p:cNvPr id="13" name="Shape 11"/>
          <p:cNvSpPr/>
          <p:nvPr/>
        </p:nvSpPr>
        <p:spPr>
          <a:xfrm>
            <a:off x="11155680" y="475488"/>
            <a:ext cx="475488" cy="274320"/>
          </a:xfrm>
          <a:prstGeom prst="roundRect">
            <a:avLst>
              <a:gd name="adj" fmla="val 46667"/>
            </a:avLst>
          </a:prstGeom>
          <a:solidFill>
            <a:srgbClr val="F5F7FA"/>
          </a:solidFill>
          <a:ln w="12700">
            <a:solidFill>
              <a:srgbClr val="DDE5EE"/>
            </a:solidFill>
            <a:prstDash val="solid"/>
          </a:ln>
        </p:spPr>
        <p:txBody>
          <a:bodyPr/>
          <a:lstStyle/>
          <a:p>
            <a:endParaRPr lang="de-CH"/>
          </a:p>
        </p:txBody>
      </p:sp>
      <p:sp>
        <p:nvSpPr>
          <p:cNvPr id="14" name="Text 12"/>
          <p:cNvSpPr/>
          <p:nvPr/>
        </p:nvSpPr>
        <p:spPr>
          <a:xfrm>
            <a:off x="11155680" y="475488"/>
            <a:ext cx="475488" cy="274320"/>
          </a:xfrm>
          <a:prstGeom prst="rect">
            <a:avLst/>
          </a:prstGeom>
          <a:noFill/>
          <a:ln/>
        </p:spPr>
        <p:txBody>
          <a:bodyPr wrap="square" lIns="0" tIns="0" rIns="0" bIns="0" rtlCol="0" anchor="ctr"/>
          <a:lstStyle/>
          <a:p>
            <a:pPr marL="0" indent="0" algn="ctr">
              <a:buNone/>
            </a:pPr>
            <a:r>
              <a:rPr lang="en-US" sz="1050" b="1" dirty="0">
                <a:solidFill>
                  <a:srgbClr val="5D7186"/>
                </a:solidFill>
                <a:latin typeface="Calibri" pitchFamily="34" charset="0"/>
                <a:ea typeface="Calibri" pitchFamily="34" charset="-122"/>
                <a:cs typeface="Calibri" pitchFamily="34" charset="-120"/>
              </a:rPr>
              <a:t>L4</a:t>
            </a:r>
            <a:endParaRPr lang="en-US" sz="1050" dirty="0"/>
          </a:p>
        </p:txBody>
      </p:sp>
      <p:sp>
        <p:nvSpPr>
          <p:cNvPr id="15" name="Shape 13"/>
          <p:cNvSpPr/>
          <p:nvPr/>
        </p:nvSpPr>
        <p:spPr>
          <a:xfrm>
            <a:off x="566928" y="1645920"/>
            <a:ext cx="7589520" cy="786384"/>
          </a:xfrm>
          <a:prstGeom prst="roundRect">
            <a:avLst>
              <a:gd name="adj" fmla="val 10465"/>
            </a:avLst>
          </a:prstGeom>
          <a:solidFill>
            <a:srgbClr val="FBE7E5"/>
          </a:solidFill>
          <a:ln w="12700">
            <a:solidFill>
              <a:srgbClr val="FBE7E5"/>
            </a:solidFill>
            <a:prstDash val="solid"/>
          </a:ln>
        </p:spPr>
        <p:txBody>
          <a:bodyPr/>
          <a:lstStyle/>
          <a:p>
            <a:endParaRPr lang="de-CH"/>
          </a:p>
        </p:txBody>
      </p:sp>
      <p:sp>
        <p:nvSpPr>
          <p:cNvPr id="16" name="Text 14"/>
          <p:cNvSpPr/>
          <p:nvPr/>
        </p:nvSpPr>
        <p:spPr>
          <a:xfrm>
            <a:off x="841248" y="1719072"/>
            <a:ext cx="2286000" cy="292608"/>
          </a:xfrm>
          <a:prstGeom prst="rect">
            <a:avLst/>
          </a:prstGeom>
          <a:noFill/>
          <a:ln/>
        </p:spPr>
        <p:txBody>
          <a:bodyPr wrap="square" lIns="0" tIns="0" rIns="0" bIns="0" rtlCol="0" anchor="ctr"/>
          <a:lstStyle/>
          <a:p>
            <a:pPr marL="0" indent="0">
              <a:buNone/>
            </a:pPr>
            <a:r>
              <a:rPr lang="en-US" sz="1300" b="1" dirty="0">
                <a:solidFill>
                  <a:srgbClr val="C0281C"/>
                </a:solidFill>
                <a:latin typeface="Calibri" pitchFamily="34" charset="0"/>
                <a:ea typeface="Calibri" pitchFamily="34" charset="-122"/>
                <a:cs typeface="Calibri" pitchFamily="34" charset="-120"/>
              </a:rPr>
              <a:t>RED · emergency</a:t>
            </a:r>
            <a:endParaRPr lang="en-US" sz="1300" dirty="0"/>
          </a:p>
        </p:txBody>
      </p:sp>
      <p:sp>
        <p:nvSpPr>
          <p:cNvPr id="17" name="Text 15"/>
          <p:cNvSpPr/>
          <p:nvPr/>
        </p:nvSpPr>
        <p:spPr>
          <a:xfrm>
            <a:off x="841248" y="2048256"/>
            <a:ext cx="2286000" cy="274320"/>
          </a:xfrm>
          <a:prstGeom prst="rect">
            <a:avLst/>
          </a:prstGeom>
          <a:noFill/>
          <a:ln/>
        </p:spPr>
        <p:txBody>
          <a:bodyPr wrap="square" lIns="0" tIns="0" rIns="0" bIns="0" rtlCol="0" anchor="ctr"/>
          <a:lstStyle/>
          <a:p>
            <a:pPr marL="0" indent="0">
              <a:buNone/>
            </a:pPr>
            <a:r>
              <a:rPr lang="en-US" sz="1050" dirty="0">
                <a:solidFill>
                  <a:srgbClr val="C0281C"/>
                </a:solidFill>
                <a:latin typeface="Calibri" pitchFamily="34" charset="0"/>
                <a:ea typeface="Calibri" pitchFamily="34" charset="-122"/>
                <a:cs typeface="Calibri" pitchFamily="34" charset="-120"/>
              </a:rPr>
              <a:t>R1  R2  R3</a:t>
            </a:r>
            <a:endParaRPr lang="en-US" sz="1050" dirty="0"/>
          </a:p>
        </p:txBody>
      </p:sp>
      <p:sp>
        <p:nvSpPr>
          <p:cNvPr id="18" name="Text 16"/>
          <p:cNvSpPr/>
          <p:nvPr/>
        </p:nvSpPr>
        <p:spPr>
          <a:xfrm>
            <a:off x="3310128" y="1645920"/>
            <a:ext cx="4663440" cy="786384"/>
          </a:xfrm>
          <a:prstGeom prst="rect">
            <a:avLst/>
          </a:prstGeom>
          <a:noFill/>
          <a:ln/>
        </p:spPr>
        <p:txBody>
          <a:bodyPr wrap="square" lIns="0" tIns="0" rIns="0" bIns="0" rtlCol="0" anchor="ctr"/>
          <a:lstStyle/>
          <a:p>
            <a:pPr marL="0" indent="0">
              <a:buNone/>
            </a:pPr>
            <a:r>
              <a:rPr lang="en-US" sz="1150" dirty="0">
                <a:solidFill>
                  <a:srgbClr val="12202E"/>
                </a:solidFill>
                <a:latin typeface="Calibri" pitchFamily="34" charset="0"/>
                <a:ea typeface="Calibri" pitchFamily="34" charset="-122"/>
                <a:cs typeface="Calibri" pitchFamily="34" charset="-120"/>
              </a:rPr>
              <a:t>Systemic signs · lymphangitis · dehiscence or pus</a:t>
            </a:r>
            <a:endParaRPr lang="en-US" sz="1150" dirty="0"/>
          </a:p>
        </p:txBody>
      </p:sp>
      <p:sp>
        <p:nvSpPr>
          <p:cNvPr id="19" name="Text 17"/>
          <p:cNvSpPr/>
          <p:nvPr/>
        </p:nvSpPr>
        <p:spPr>
          <a:xfrm>
            <a:off x="4133088" y="2432304"/>
            <a:ext cx="365760" cy="146304"/>
          </a:xfrm>
          <a:prstGeom prst="rect">
            <a:avLst/>
          </a:prstGeom>
          <a:noFill/>
          <a:ln/>
        </p:spPr>
        <p:txBody>
          <a:bodyPr wrap="square" lIns="0" tIns="0" rIns="0" bIns="0" rtlCol="0" anchor="ctr"/>
          <a:lstStyle/>
          <a:p>
            <a:pPr marL="0" indent="0" algn="ctr">
              <a:buNone/>
            </a:pPr>
            <a:r>
              <a:rPr lang="en-US" sz="800" dirty="0">
                <a:solidFill>
                  <a:srgbClr val="5D7186"/>
                </a:solidFill>
                <a:latin typeface="Calibri" pitchFamily="34" charset="0"/>
                <a:ea typeface="Calibri" pitchFamily="34" charset="-122"/>
                <a:cs typeface="Calibri" pitchFamily="34" charset="-120"/>
              </a:rPr>
              <a:t>▼</a:t>
            </a:r>
            <a:endParaRPr lang="en-US" sz="800" dirty="0"/>
          </a:p>
        </p:txBody>
      </p:sp>
      <p:sp>
        <p:nvSpPr>
          <p:cNvPr id="20" name="Shape 18"/>
          <p:cNvSpPr/>
          <p:nvPr/>
        </p:nvSpPr>
        <p:spPr>
          <a:xfrm>
            <a:off x="566928" y="2578608"/>
            <a:ext cx="7589520" cy="786384"/>
          </a:xfrm>
          <a:prstGeom prst="roundRect">
            <a:avLst>
              <a:gd name="adj" fmla="val 10465"/>
            </a:avLst>
          </a:prstGeom>
          <a:solidFill>
            <a:srgbClr val="FCEADB"/>
          </a:solidFill>
          <a:ln w="12700">
            <a:solidFill>
              <a:srgbClr val="FCEADB"/>
            </a:solidFill>
            <a:prstDash val="solid"/>
          </a:ln>
        </p:spPr>
        <p:txBody>
          <a:bodyPr/>
          <a:lstStyle/>
          <a:p>
            <a:endParaRPr lang="de-CH"/>
          </a:p>
        </p:txBody>
      </p:sp>
      <p:sp>
        <p:nvSpPr>
          <p:cNvPr id="21" name="Text 19"/>
          <p:cNvSpPr/>
          <p:nvPr/>
        </p:nvSpPr>
        <p:spPr>
          <a:xfrm>
            <a:off x="841248" y="2651760"/>
            <a:ext cx="2286000" cy="292608"/>
          </a:xfrm>
          <a:prstGeom prst="rect">
            <a:avLst/>
          </a:prstGeom>
          <a:noFill/>
          <a:ln/>
        </p:spPr>
        <p:txBody>
          <a:bodyPr wrap="square" lIns="0" tIns="0" rIns="0" bIns="0" rtlCol="0" anchor="ctr"/>
          <a:lstStyle/>
          <a:p>
            <a:pPr marL="0" indent="0">
              <a:buNone/>
            </a:pPr>
            <a:r>
              <a:rPr lang="en-US" sz="1300" b="1" dirty="0">
                <a:solidFill>
                  <a:srgbClr val="C25C07"/>
                </a:solidFill>
                <a:latin typeface="Calibri" pitchFamily="34" charset="0"/>
                <a:ea typeface="Calibri" pitchFamily="34" charset="-122"/>
                <a:cs typeface="Calibri" pitchFamily="34" charset="-120"/>
              </a:rPr>
              <a:t>ORANGE · suspected</a:t>
            </a:r>
            <a:endParaRPr lang="en-US" sz="1300" dirty="0"/>
          </a:p>
        </p:txBody>
      </p:sp>
      <p:sp>
        <p:nvSpPr>
          <p:cNvPr id="22" name="Text 20"/>
          <p:cNvSpPr/>
          <p:nvPr/>
        </p:nvSpPr>
        <p:spPr>
          <a:xfrm>
            <a:off x="841248" y="2980944"/>
            <a:ext cx="2286000" cy="274320"/>
          </a:xfrm>
          <a:prstGeom prst="rect">
            <a:avLst/>
          </a:prstGeom>
          <a:noFill/>
          <a:ln/>
        </p:spPr>
        <p:txBody>
          <a:bodyPr wrap="square" lIns="0" tIns="0" rIns="0" bIns="0" rtlCol="0" anchor="ctr"/>
          <a:lstStyle/>
          <a:p>
            <a:pPr marL="0" indent="0">
              <a:buNone/>
            </a:pPr>
            <a:r>
              <a:rPr lang="en-US" sz="1050" dirty="0">
                <a:solidFill>
                  <a:srgbClr val="C25C07"/>
                </a:solidFill>
                <a:latin typeface="Calibri" pitchFamily="34" charset="0"/>
                <a:ea typeface="Calibri" pitchFamily="34" charset="-122"/>
                <a:cs typeface="Calibri" pitchFamily="34" charset="-120"/>
              </a:rPr>
              <a:t>R9  R4  R5  R11  R12</a:t>
            </a:r>
            <a:endParaRPr lang="en-US" sz="1050" dirty="0"/>
          </a:p>
        </p:txBody>
      </p:sp>
      <p:sp>
        <p:nvSpPr>
          <p:cNvPr id="23" name="Text 21"/>
          <p:cNvSpPr/>
          <p:nvPr/>
        </p:nvSpPr>
        <p:spPr>
          <a:xfrm>
            <a:off x="3310128" y="2578608"/>
            <a:ext cx="4663440" cy="786384"/>
          </a:xfrm>
          <a:prstGeom prst="rect">
            <a:avLst/>
          </a:prstGeom>
          <a:noFill/>
          <a:ln/>
        </p:spPr>
        <p:txBody>
          <a:bodyPr wrap="square" lIns="0" tIns="0" rIns="0" bIns="0" rtlCol="0" anchor="ctr"/>
          <a:lstStyle/>
          <a:p>
            <a:pPr marL="0" indent="0">
              <a:buNone/>
            </a:pPr>
            <a:r>
              <a:rPr lang="en-US" sz="1150" dirty="0">
                <a:solidFill>
                  <a:srgbClr val="12202E"/>
                </a:solidFill>
                <a:latin typeface="Calibri" pitchFamily="34" charset="0"/>
                <a:ea typeface="Calibri" pitchFamily="34" charset="-122"/>
                <a:cs typeface="Calibri" pitchFamily="34" charset="-120"/>
              </a:rPr>
              <a:t>Feeling unwell · purulent discharge · fever · persistence</a:t>
            </a:r>
            <a:endParaRPr lang="en-US" sz="1150" dirty="0"/>
          </a:p>
        </p:txBody>
      </p:sp>
      <p:sp>
        <p:nvSpPr>
          <p:cNvPr id="24" name="Text 22"/>
          <p:cNvSpPr/>
          <p:nvPr/>
        </p:nvSpPr>
        <p:spPr>
          <a:xfrm>
            <a:off x="4133088" y="3364992"/>
            <a:ext cx="365760" cy="146304"/>
          </a:xfrm>
          <a:prstGeom prst="rect">
            <a:avLst/>
          </a:prstGeom>
          <a:noFill/>
          <a:ln/>
        </p:spPr>
        <p:txBody>
          <a:bodyPr wrap="square" lIns="0" tIns="0" rIns="0" bIns="0" rtlCol="0" anchor="ctr"/>
          <a:lstStyle/>
          <a:p>
            <a:pPr marL="0" indent="0" algn="ctr">
              <a:buNone/>
            </a:pPr>
            <a:r>
              <a:rPr lang="en-US" sz="800" dirty="0">
                <a:solidFill>
                  <a:srgbClr val="5D7186"/>
                </a:solidFill>
                <a:latin typeface="Calibri" pitchFamily="34" charset="0"/>
                <a:ea typeface="Calibri" pitchFamily="34" charset="-122"/>
                <a:cs typeface="Calibri" pitchFamily="34" charset="-120"/>
              </a:rPr>
              <a:t>▼</a:t>
            </a:r>
            <a:endParaRPr lang="en-US" sz="800" dirty="0"/>
          </a:p>
        </p:txBody>
      </p:sp>
      <p:sp>
        <p:nvSpPr>
          <p:cNvPr id="25" name="Shape 23"/>
          <p:cNvSpPr/>
          <p:nvPr/>
        </p:nvSpPr>
        <p:spPr>
          <a:xfrm>
            <a:off x="566928" y="3511296"/>
            <a:ext cx="7589520" cy="786384"/>
          </a:xfrm>
          <a:prstGeom prst="roundRect">
            <a:avLst>
              <a:gd name="adj" fmla="val 10465"/>
            </a:avLst>
          </a:prstGeom>
          <a:solidFill>
            <a:srgbClr val="FBF2DC"/>
          </a:solidFill>
          <a:ln w="12700">
            <a:solidFill>
              <a:srgbClr val="FBF2DC"/>
            </a:solidFill>
            <a:prstDash val="solid"/>
          </a:ln>
        </p:spPr>
        <p:txBody>
          <a:bodyPr/>
          <a:lstStyle/>
          <a:p>
            <a:endParaRPr lang="de-CH"/>
          </a:p>
        </p:txBody>
      </p:sp>
      <p:sp>
        <p:nvSpPr>
          <p:cNvPr id="26" name="Text 24"/>
          <p:cNvSpPr/>
          <p:nvPr/>
        </p:nvSpPr>
        <p:spPr>
          <a:xfrm>
            <a:off x="841248" y="3584448"/>
            <a:ext cx="2286000" cy="292608"/>
          </a:xfrm>
          <a:prstGeom prst="rect">
            <a:avLst/>
          </a:prstGeom>
          <a:noFill/>
          <a:ln/>
        </p:spPr>
        <p:txBody>
          <a:bodyPr wrap="square" lIns="0" tIns="0" rIns="0" bIns="0" rtlCol="0" anchor="ctr"/>
          <a:lstStyle/>
          <a:p>
            <a:pPr marL="0" indent="0">
              <a:buNone/>
            </a:pPr>
            <a:r>
              <a:rPr lang="en-US" sz="1300" b="1" dirty="0">
                <a:solidFill>
                  <a:srgbClr val="9C6D00"/>
                </a:solidFill>
                <a:latin typeface="Calibri" pitchFamily="34" charset="0"/>
                <a:ea typeface="Calibri" pitchFamily="34" charset="-122"/>
                <a:cs typeface="Calibri" pitchFamily="34" charset="-120"/>
              </a:rPr>
              <a:t>YELLOW · abnormal</a:t>
            </a:r>
            <a:endParaRPr lang="en-US" sz="1300" dirty="0"/>
          </a:p>
        </p:txBody>
      </p:sp>
      <p:sp>
        <p:nvSpPr>
          <p:cNvPr id="27" name="Text 25"/>
          <p:cNvSpPr/>
          <p:nvPr/>
        </p:nvSpPr>
        <p:spPr>
          <a:xfrm>
            <a:off x="841248" y="3913632"/>
            <a:ext cx="2286000" cy="274320"/>
          </a:xfrm>
          <a:prstGeom prst="rect">
            <a:avLst/>
          </a:prstGeom>
          <a:noFill/>
          <a:ln/>
        </p:spPr>
        <p:txBody>
          <a:bodyPr wrap="square" lIns="0" tIns="0" rIns="0" bIns="0" rtlCol="0" anchor="ctr"/>
          <a:lstStyle/>
          <a:p>
            <a:pPr marL="0" indent="0">
              <a:buNone/>
            </a:pPr>
            <a:r>
              <a:rPr lang="en-US" sz="1050" dirty="0">
                <a:solidFill>
                  <a:srgbClr val="9C6D00"/>
                </a:solidFill>
                <a:latin typeface="Calibri" pitchFamily="34" charset="0"/>
                <a:ea typeface="Calibri" pitchFamily="34" charset="-122"/>
                <a:cs typeface="Calibri" pitchFamily="34" charset="-120"/>
              </a:rPr>
              <a:t>R6b  R6a  R7  R10</a:t>
            </a:r>
            <a:endParaRPr lang="en-US" sz="1050" dirty="0"/>
          </a:p>
        </p:txBody>
      </p:sp>
      <p:sp>
        <p:nvSpPr>
          <p:cNvPr id="28" name="Text 26"/>
          <p:cNvSpPr/>
          <p:nvPr/>
        </p:nvSpPr>
        <p:spPr>
          <a:xfrm>
            <a:off x="3310128" y="3511296"/>
            <a:ext cx="4663440" cy="786384"/>
          </a:xfrm>
          <a:prstGeom prst="rect">
            <a:avLst/>
          </a:prstGeom>
          <a:noFill/>
          <a:ln/>
        </p:spPr>
        <p:txBody>
          <a:bodyPr wrap="square" lIns="0" tIns="0" rIns="0" bIns="0" rtlCol="0" anchor="ctr"/>
          <a:lstStyle/>
          <a:p>
            <a:pPr marL="0" indent="0">
              <a:buNone/>
            </a:pPr>
            <a:r>
              <a:rPr lang="en-US" sz="1150" dirty="0">
                <a:solidFill>
                  <a:srgbClr val="12202E"/>
                </a:solidFill>
                <a:latin typeface="Calibri" pitchFamily="34" charset="0"/>
                <a:ea typeface="Calibri" pitchFamily="34" charset="-122"/>
                <a:cs typeface="Calibri" pitchFamily="34" charset="-120"/>
              </a:rPr>
              <a:t>Inflammation · wound gap · bleeding on anticoagulants</a:t>
            </a:r>
            <a:endParaRPr lang="en-US" sz="1150" dirty="0"/>
          </a:p>
        </p:txBody>
      </p:sp>
      <p:sp>
        <p:nvSpPr>
          <p:cNvPr id="29" name="Text 27"/>
          <p:cNvSpPr/>
          <p:nvPr/>
        </p:nvSpPr>
        <p:spPr>
          <a:xfrm>
            <a:off x="4133088" y="4297680"/>
            <a:ext cx="365760" cy="146304"/>
          </a:xfrm>
          <a:prstGeom prst="rect">
            <a:avLst/>
          </a:prstGeom>
          <a:noFill/>
          <a:ln/>
        </p:spPr>
        <p:txBody>
          <a:bodyPr wrap="square" lIns="0" tIns="0" rIns="0" bIns="0" rtlCol="0" anchor="ctr"/>
          <a:lstStyle/>
          <a:p>
            <a:pPr marL="0" indent="0" algn="ctr">
              <a:buNone/>
            </a:pPr>
            <a:r>
              <a:rPr lang="en-US" sz="800" dirty="0">
                <a:solidFill>
                  <a:srgbClr val="5D7186"/>
                </a:solidFill>
                <a:latin typeface="Calibri" pitchFamily="34" charset="0"/>
                <a:ea typeface="Calibri" pitchFamily="34" charset="-122"/>
                <a:cs typeface="Calibri" pitchFamily="34" charset="-120"/>
              </a:rPr>
              <a:t>▼</a:t>
            </a:r>
            <a:endParaRPr lang="en-US" sz="800" dirty="0"/>
          </a:p>
        </p:txBody>
      </p:sp>
      <p:sp>
        <p:nvSpPr>
          <p:cNvPr id="30" name="Shape 28"/>
          <p:cNvSpPr/>
          <p:nvPr/>
        </p:nvSpPr>
        <p:spPr>
          <a:xfrm>
            <a:off x="566928" y="4443984"/>
            <a:ext cx="7589520" cy="786384"/>
          </a:xfrm>
          <a:prstGeom prst="roundRect">
            <a:avLst>
              <a:gd name="adj" fmla="val 10465"/>
            </a:avLst>
          </a:prstGeom>
          <a:solidFill>
            <a:srgbClr val="E8F6EE"/>
          </a:solidFill>
          <a:ln w="12700">
            <a:solidFill>
              <a:srgbClr val="E8F6EE"/>
            </a:solidFill>
            <a:prstDash val="solid"/>
          </a:ln>
        </p:spPr>
        <p:txBody>
          <a:bodyPr/>
          <a:lstStyle/>
          <a:p>
            <a:endParaRPr lang="de-CH"/>
          </a:p>
        </p:txBody>
      </p:sp>
      <p:sp>
        <p:nvSpPr>
          <p:cNvPr id="31" name="Text 29"/>
          <p:cNvSpPr/>
          <p:nvPr/>
        </p:nvSpPr>
        <p:spPr>
          <a:xfrm>
            <a:off x="841248" y="4517136"/>
            <a:ext cx="2286000" cy="292608"/>
          </a:xfrm>
          <a:prstGeom prst="rect">
            <a:avLst/>
          </a:prstGeom>
          <a:noFill/>
          <a:ln/>
        </p:spPr>
        <p:txBody>
          <a:bodyPr wrap="square" lIns="0" tIns="0" rIns="0" bIns="0" rtlCol="0" anchor="ctr"/>
          <a:lstStyle/>
          <a:p>
            <a:pPr marL="0" indent="0">
              <a:buNone/>
            </a:pPr>
            <a:r>
              <a:rPr lang="en-US" sz="1300" b="1" dirty="0">
                <a:solidFill>
                  <a:srgbClr val="1A7F4B"/>
                </a:solidFill>
                <a:latin typeface="Calibri" pitchFamily="34" charset="0"/>
                <a:ea typeface="Calibri" pitchFamily="34" charset="-122"/>
                <a:cs typeface="Calibri" pitchFamily="34" charset="-120"/>
              </a:rPr>
              <a:t>GREEN · all clear</a:t>
            </a:r>
            <a:endParaRPr lang="en-US" sz="1300" dirty="0"/>
          </a:p>
        </p:txBody>
      </p:sp>
      <p:sp>
        <p:nvSpPr>
          <p:cNvPr id="32" name="Text 30"/>
          <p:cNvSpPr/>
          <p:nvPr/>
        </p:nvSpPr>
        <p:spPr>
          <a:xfrm>
            <a:off x="841248" y="4846320"/>
            <a:ext cx="2286000" cy="274320"/>
          </a:xfrm>
          <a:prstGeom prst="rect">
            <a:avLst/>
          </a:prstGeom>
          <a:noFill/>
          <a:ln/>
        </p:spPr>
        <p:txBody>
          <a:bodyPr wrap="square" lIns="0" tIns="0" rIns="0" bIns="0" rtlCol="0" anchor="ctr"/>
          <a:lstStyle/>
          <a:p>
            <a:pPr marL="0" indent="0">
              <a:buNone/>
            </a:pPr>
            <a:r>
              <a:rPr lang="en-US" sz="1050" dirty="0">
                <a:solidFill>
                  <a:srgbClr val="1A7F4B"/>
                </a:solidFill>
                <a:latin typeface="Calibri" pitchFamily="34" charset="0"/>
                <a:ea typeface="Calibri" pitchFamily="34" charset="-122"/>
                <a:cs typeface="Calibri" pitchFamily="34" charset="-120"/>
              </a:rPr>
              <a:t>R8</a:t>
            </a:r>
            <a:endParaRPr lang="en-US" sz="1050" dirty="0"/>
          </a:p>
        </p:txBody>
      </p:sp>
      <p:sp>
        <p:nvSpPr>
          <p:cNvPr id="33" name="Text 31"/>
          <p:cNvSpPr/>
          <p:nvPr/>
        </p:nvSpPr>
        <p:spPr>
          <a:xfrm>
            <a:off x="3310128" y="4443984"/>
            <a:ext cx="4663440" cy="786384"/>
          </a:xfrm>
          <a:prstGeom prst="rect">
            <a:avLst/>
          </a:prstGeom>
          <a:noFill/>
          <a:ln/>
        </p:spPr>
        <p:txBody>
          <a:bodyPr wrap="square" lIns="0" tIns="0" rIns="0" bIns="0" rtlCol="0" anchor="ctr"/>
          <a:lstStyle/>
          <a:p>
            <a:pPr marL="0" indent="0">
              <a:buNone/>
            </a:pPr>
            <a:r>
              <a:rPr lang="en-US" sz="1150" dirty="0">
                <a:solidFill>
                  <a:srgbClr val="12202E"/>
                </a:solidFill>
                <a:latin typeface="Calibri" pitchFamily="34" charset="0"/>
                <a:ea typeface="Calibri" pitchFamily="34" charset="-122"/>
                <a:cs typeface="Calibri" pitchFamily="34" charset="-120"/>
              </a:rPr>
              <a:t>Catch-all — never “everything is fine” without a contact hint</a:t>
            </a:r>
            <a:endParaRPr lang="en-US" sz="1150" dirty="0"/>
          </a:p>
        </p:txBody>
      </p:sp>
      <p:sp>
        <p:nvSpPr>
          <p:cNvPr id="34" name="Shape 32"/>
          <p:cNvSpPr/>
          <p:nvPr/>
        </p:nvSpPr>
        <p:spPr>
          <a:xfrm>
            <a:off x="8430768" y="1645920"/>
            <a:ext cx="3200400" cy="1737360"/>
          </a:xfrm>
          <a:prstGeom prst="roundRect">
            <a:avLst>
              <a:gd name="adj" fmla="val 4737"/>
            </a:avLst>
          </a:prstGeom>
          <a:solidFill>
            <a:srgbClr val="F5F7FA"/>
          </a:solidFill>
          <a:ln w="12700">
            <a:solidFill>
              <a:srgbClr val="DDE5EE"/>
            </a:solidFill>
            <a:prstDash val="solid"/>
          </a:ln>
        </p:spPr>
        <p:txBody>
          <a:bodyPr/>
          <a:lstStyle/>
          <a:p>
            <a:endParaRPr lang="de-CH"/>
          </a:p>
        </p:txBody>
      </p:sp>
      <p:sp>
        <p:nvSpPr>
          <p:cNvPr id="35" name="Text 33"/>
          <p:cNvSpPr/>
          <p:nvPr/>
        </p:nvSpPr>
        <p:spPr>
          <a:xfrm>
            <a:off x="8668512" y="1810512"/>
            <a:ext cx="2743200" cy="256032"/>
          </a:xfrm>
          <a:prstGeom prst="rect">
            <a:avLst/>
          </a:prstGeom>
          <a:noFill/>
          <a:ln/>
        </p:spPr>
        <p:txBody>
          <a:bodyPr wrap="square" lIns="0" tIns="0" rIns="0" bIns="0" rtlCol="0" anchor="ctr"/>
          <a:lstStyle/>
          <a:p>
            <a:pPr marL="0" indent="0">
              <a:buNone/>
            </a:pPr>
            <a:r>
              <a:rPr lang="en-US" sz="1200" b="1" dirty="0">
                <a:solidFill>
                  <a:srgbClr val="12202E"/>
                </a:solidFill>
                <a:latin typeface="Calibri" pitchFamily="34" charset="0"/>
                <a:ea typeface="Calibri" pitchFamily="34" charset="-122"/>
                <a:cs typeface="Calibri" pitchFamily="34" charset="-120"/>
              </a:rPr>
              <a:t>Why worst-first</a:t>
            </a:r>
            <a:endParaRPr lang="en-US" sz="1200" dirty="0"/>
          </a:p>
        </p:txBody>
      </p:sp>
      <p:sp>
        <p:nvSpPr>
          <p:cNvPr id="36" name="Text 34"/>
          <p:cNvSpPr/>
          <p:nvPr/>
        </p:nvSpPr>
        <p:spPr>
          <a:xfrm>
            <a:off x="8668512" y="2139696"/>
            <a:ext cx="2743200" cy="1234440"/>
          </a:xfrm>
          <a:prstGeom prst="rect">
            <a:avLst/>
          </a:prstGeom>
          <a:noFill/>
          <a:ln/>
        </p:spPr>
        <p:txBody>
          <a:bodyPr wrap="square" lIns="0" tIns="0" rIns="0" bIns="0" rtlCol="0" anchor="t"/>
          <a:lstStyle/>
          <a:p>
            <a:pPr marL="0" indent="0">
              <a:lnSpc>
                <a:spcPts val="1500"/>
              </a:lnSpc>
              <a:buNone/>
            </a:pPr>
            <a:r>
              <a:rPr lang="en-US" sz="1100" dirty="0">
                <a:solidFill>
                  <a:srgbClr val="5D7186"/>
                </a:solidFill>
                <a:latin typeface="Calibri" pitchFamily="34" charset="0"/>
                <a:ea typeface="Calibri" pitchFamily="34" charset="-122"/>
                <a:cs typeface="Calibri" pitchFamily="34" charset="-120"/>
              </a:rPr>
              <a:t>A false alarm costs a phone call. False reassurance can delay an infection by days. We accept a higher false-alarm rate on purpose.</a:t>
            </a:r>
            <a:endParaRPr lang="en-US" sz="1100" dirty="0"/>
          </a:p>
        </p:txBody>
      </p:sp>
      <p:sp>
        <p:nvSpPr>
          <p:cNvPr id="37" name="Shape 35"/>
          <p:cNvSpPr/>
          <p:nvPr/>
        </p:nvSpPr>
        <p:spPr>
          <a:xfrm>
            <a:off x="8430768" y="3566160"/>
            <a:ext cx="3200400" cy="1755648"/>
          </a:xfrm>
          <a:prstGeom prst="roundRect">
            <a:avLst>
              <a:gd name="adj" fmla="val 4688"/>
            </a:avLst>
          </a:prstGeom>
          <a:solidFill>
            <a:srgbClr val="FFFFFF"/>
          </a:solidFill>
          <a:ln w="12700">
            <a:solidFill>
              <a:srgbClr val="DDE5EE"/>
            </a:solidFill>
            <a:prstDash val="solid"/>
          </a:ln>
        </p:spPr>
        <p:txBody>
          <a:bodyPr/>
          <a:lstStyle/>
          <a:p>
            <a:endParaRPr lang="de-CH"/>
          </a:p>
        </p:txBody>
      </p:sp>
      <p:sp>
        <p:nvSpPr>
          <p:cNvPr id="38" name="Text 36"/>
          <p:cNvSpPr/>
          <p:nvPr/>
        </p:nvSpPr>
        <p:spPr>
          <a:xfrm>
            <a:off x="8668512" y="3730752"/>
            <a:ext cx="2743200" cy="256032"/>
          </a:xfrm>
          <a:prstGeom prst="rect">
            <a:avLst/>
          </a:prstGeom>
          <a:noFill/>
          <a:ln/>
        </p:spPr>
        <p:txBody>
          <a:bodyPr wrap="square" lIns="0" tIns="0" rIns="0" bIns="0" rtlCol="0" anchor="ctr"/>
          <a:lstStyle/>
          <a:p>
            <a:pPr marL="0" indent="0">
              <a:buNone/>
            </a:pPr>
            <a:r>
              <a:rPr lang="en-US" sz="1200" b="1" dirty="0">
                <a:solidFill>
                  <a:srgbClr val="12202E"/>
                </a:solidFill>
                <a:latin typeface="Calibri" pitchFamily="34" charset="0"/>
                <a:ea typeface="Calibri" pitchFamily="34" charset="-122"/>
                <a:cs typeface="Calibri" pitchFamily="34" charset="-120"/>
              </a:rPr>
              <a:t>Two-pass evaluation (Same day)</a:t>
            </a:r>
            <a:endParaRPr lang="en-US" sz="1200" dirty="0"/>
          </a:p>
        </p:txBody>
      </p:sp>
      <p:sp>
        <p:nvSpPr>
          <p:cNvPr id="39" name="Text 37"/>
          <p:cNvSpPr/>
          <p:nvPr/>
        </p:nvSpPr>
        <p:spPr>
          <a:xfrm>
            <a:off x="8668512" y="4059936"/>
            <a:ext cx="2743200" cy="1188720"/>
          </a:xfrm>
          <a:prstGeom prst="rect">
            <a:avLst/>
          </a:prstGeom>
          <a:noFill/>
          <a:ln/>
        </p:spPr>
        <p:txBody>
          <a:bodyPr wrap="square" lIns="0" tIns="0" rIns="0" bIns="0" rtlCol="0" anchor="t"/>
          <a:lstStyle/>
          <a:p>
            <a:pPr>
              <a:lnSpc>
                <a:spcPts val="1500"/>
              </a:lnSpc>
            </a:pPr>
            <a:r>
              <a:rPr lang="de-DE" sz="1100" dirty="0"/>
              <a:t>Some </a:t>
            </a:r>
            <a:r>
              <a:rPr lang="de-DE" sz="1100" dirty="0" err="1"/>
              <a:t>rules</a:t>
            </a:r>
            <a:r>
              <a:rPr lang="de-DE" sz="1100" dirty="0"/>
              <a:t> </a:t>
            </a:r>
            <a:r>
              <a:rPr lang="de-DE" sz="1100" dirty="0" err="1"/>
              <a:t>depend</a:t>
            </a:r>
            <a:r>
              <a:rPr lang="de-DE" sz="1100" dirty="0"/>
              <a:t> on </a:t>
            </a:r>
            <a:r>
              <a:rPr lang="de-DE" sz="1100" dirty="0" err="1"/>
              <a:t>previous</a:t>
            </a:r>
            <a:r>
              <a:rPr lang="de-DE" sz="1100" dirty="0"/>
              <a:t> </a:t>
            </a:r>
            <a:r>
              <a:rPr lang="de-DE" sz="1100" dirty="0" err="1"/>
              <a:t>results</a:t>
            </a:r>
            <a:r>
              <a:rPr lang="de-DE" sz="1100" dirty="0"/>
              <a:t> (e.g. </a:t>
            </a:r>
            <a:r>
              <a:rPr lang="de-DE" sz="1100" dirty="0" err="1"/>
              <a:t>two</a:t>
            </a:r>
            <a:r>
              <a:rPr lang="de-DE" sz="1100" dirty="0"/>
              <a:t> </a:t>
            </a:r>
            <a:r>
              <a:rPr lang="de-DE" sz="1100" dirty="0" err="1"/>
              <a:t>consecutive</a:t>
            </a:r>
            <a:r>
              <a:rPr lang="de-DE" sz="1100" dirty="0"/>
              <a:t> </a:t>
            </a:r>
            <a:r>
              <a:rPr lang="de-DE" sz="1100" dirty="0" err="1"/>
              <a:t>yellow</a:t>
            </a:r>
            <a:r>
              <a:rPr lang="de-DE" sz="1100" dirty="0"/>
              <a:t> </a:t>
            </a:r>
            <a:r>
              <a:rPr lang="de-DE" sz="1100" dirty="0" err="1"/>
              <a:t>days</a:t>
            </a:r>
            <a:r>
              <a:rPr lang="de-DE" sz="1100" dirty="0"/>
              <a:t>). </a:t>
            </a:r>
            <a:r>
              <a:rPr lang="de-DE" sz="1100" dirty="0" err="1"/>
              <a:t>Therefore</a:t>
            </a:r>
            <a:r>
              <a:rPr lang="de-DE" sz="1100" dirty="0"/>
              <a:t>, the </a:t>
            </a:r>
            <a:r>
              <a:rPr lang="de-DE" sz="1100" dirty="0" err="1"/>
              <a:t>decision</a:t>
            </a:r>
            <a:r>
              <a:rPr lang="de-DE" sz="1100" dirty="0"/>
              <a:t> </a:t>
            </a:r>
            <a:r>
              <a:rPr lang="de-DE" sz="1100" dirty="0" err="1"/>
              <a:t>table</a:t>
            </a:r>
            <a:r>
              <a:rPr lang="de-DE" sz="1100" dirty="0"/>
              <a:t> </a:t>
            </a:r>
            <a:r>
              <a:rPr lang="de-DE" sz="1100" dirty="0" err="1"/>
              <a:t>is</a:t>
            </a:r>
            <a:r>
              <a:rPr lang="de-DE" sz="1100" dirty="0"/>
              <a:t> </a:t>
            </a:r>
            <a:r>
              <a:rPr lang="de-DE" sz="1100" dirty="0" err="1"/>
              <a:t>evaluated</a:t>
            </a:r>
            <a:r>
              <a:rPr lang="de-DE" sz="1100" dirty="0"/>
              <a:t> </a:t>
            </a:r>
            <a:r>
              <a:rPr lang="de-DE" sz="1100" dirty="0" err="1"/>
              <a:t>twice</a:t>
            </a:r>
            <a:r>
              <a:rPr lang="de-DE" sz="1100" dirty="0"/>
              <a:t>. The second pass </a:t>
            </a:r>
            <a:r>
              <a:rPr lang="de-DE" sz="1100" dirty="0" err="1"/>
              <a:t>can</a:t>
            </a:r>
            <a:r>
              <a:rPr lang="de-DE" sz="1100" dirty="0"/>
              <a:t> </a:t>
            </a:r>
            <a:r>
              <a:rPr lang="de-DE" sz="1100" dirty="0" err="1"/>
              <a:t>only</a:t>
            </a:r>
            <a:r>
              <a:rPr lang="de-DE" sz="1100" dirty="0"/>
              <a:t> </a:t>
            </a:r>
            <a:r>
              <a:rPr lang="de-DE" sz="1100" dirty="0" err="1"/>
              <a:t>escalate</a:t>
            </a:r>
            <a:r>
              <a:rPr lang="de-DE" sz="1100" dirty="0"/>
              <a:t> the </a:t>
            </a:r>
            <a:r>
              <a:rPr lang="de-DE" sz="1100" dirty="0" err="1"/>
              <a:t>urgency</a:t>
            </a:r>
            <a:r>
              <a:rPr lang="de-DE" sz="1100" dirty="0"/>
              <a:t> </a:t>
            </a:r>
            <a:r>
              <a:rPr lang="de-DE" sz="1100" dirty="0" err="1"/>
              <a:t>level</a:t>
            </a:r>
            <a:r>
              <a:rPr lang="de-DE" sz="1100" dirty="0"/>
              <a:t>.</a:t>
            </a:r>
            <a:endParaRPr lang="en-US" sz="1100" dirty="0"/>
          </a:p>
        </p:txBody>
      </p:sp>
      <p:sp>
        <p:nvSpPr>
          <p:cNvPr id="40" name="Text 38"/>
          <p:cNvSpPr/>
          <p:nvPr/>
        </p:nvSpPr>
        <p:spPr>
          <a:xfrm>
            <a:off x="566928" y="5577840"/>
            <a:ext cx="11064240" cy="365760"/>
          </a:xfrm>
          <a:prstGeom prst="rect">
            <a:avLst/>
          </a:prstGeom>
          <a:noFill/>
          <a:ln/>
        </p:spPr>
        <p:txBody>
          <a:bodyPr wrap="square" lIns="0" tIns="0" rIns="0" bIns="0" rtlCol="0" anchor="ctr"/>
          <a:lstStyle/>
          <a:p>
            <a:pPr marL="0" indent="0">
              <a:buNone/>
            </a:pPr>
            <a:r>
              <a:rPr lang="en-US" sz="1150" i="1" dirty="0">
                <a:solidFill>
                  <a:srgbClr val="5D7186"/>
                </a:solidFill>
                <a:latin typeface="Calibri" pitchFamily="34" charset="0"/>
                <a:ea typeface="Calibri" pitchFamily="34" charset="-122"/>
                <a:cs typeface="Calibri" pitchFamily="34" charset="-120"/>
              </a:rPr>
              <a:t>All thresholds are named constants in the L3 with their source — a guideline change is one line, not a release.</a:t>
            </a:r>
            <a:endParaRPr lang="en-US" sz="1150" dirty="0"/>
          </a:p>
        </p:txBody>
      </p:sp>
      <p:sp>
        <p:nvSpPr>
          <p:cNvPr id="42" name="Text 11">
            <a:extLst>
              <a:ext uri="{FF2B5EF4-FFF2-40B4-BE49-F238E27FC236}">
                <a16:creationId xmlns:a16="http://schemas.microsoft.com/office/drawing/2014/main" id="{6A65F156-F433-8659-5012-969E5CD7E5E5}"/>
              </a:ext>
            </a:extLst>
          </p:cNvPr>
          <p:cNvSpPr/>
          <p:nvPr/>
        </p:nvSpPr>
        <p:spPr>
          <a:xfrm>
            <a:off x="57709" y="6568124"/>
            <a:ext cx="8229600" cy="274320"/>
          </a:xfrm>
          <a:prstGeom prst="rect">
            <a:avLst/>
          </a:prstGeom>
          <a:noFill/>
          <a:ln/>
        </p:spPr>
        <p:txBody>
          <a:bodyPr wrap="square" lIns="0" tIns="0" rIns="0" bIns="0" rtlCol="0" anchor="ctr"/>
          <a:lstStyle/>
          <a:p>
            <a:pPr marL="0" indent="0">
              <a:buNone/>
            </a:pPr>
            <a:r>
              <a:rPr lang="en-US" sz="900">
                <a:solidFill>
                  <a:srgbClr val="8FA3B8"/>
                </a:solidFill>
                <a:latin typeface="Calibri" pitchFamily="34" charset="0"/>
                <a:ea typeface="Calibri" pitchFamily="34" charset="-122"/>
                <a:cs typeface="Calibri" pitchFamily="34" charset="-120"/>
              </a:rPr>
              <a:t>FHNW  ·  MSc Medical Informatics  ·  Clinical Decision Support Systems 2026</a:t>
            </a:r>
            <a:endParaRPr lang="en-US" sz="900"/>
          </a:p>
        </p:txBody>
      </p:sp>
      <p:pic>
        <p:nvPicPr>
          <p:cNvPr id="44" name="Grafik 43">
            <a:extLst>
              <a:ext uri="{FF2B5EF4-FFF2-40B4-BE49-F238E27FC236}">
                <a16:creationId xmlns:a16="http://schemas.microsoft.com/office/drawing/2014/main" id="{25B63C49-7186-4F54-52FE-63257949D89A}"/>
              </a:ext>
            </a:extLst>
          </p:cNvPr>
          <p:cNvPicPr>
            <a:picLocks noChangeAspect="1"/>
          </p:cNvPicPr>
          <p:nvPr/>
        </p:nvPicPr>
        <p:blipFill>
          <a:blip r:embed="rId3">
            <a:duotone>
              <a:schemeClr val="accent3">
                <a:shade val="45000"/>
                <a:satMod val="135000"/>
              </a:schemeClr>
              <a:prstClr val="white"/>
            </a:duotone>
          </a:blip>
          <a:stretch>
            <a:fillRect/>
          </a:stretch>
        </p:blipFill>
        <p:spPr>
          <a:xfrm>
            <a:off x="57709" y="47504"/>
            <a:ext cx="1012490" cy="23624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7680960" cy="219456"/>
          </a:xfrm>
          <a:prstGeom prst="rect">
            <a:avLst/>
          </a:prstGeom>
          <a:noFill/>
          <a:ln/>
        </p:spPr>
        <p:txBody>
          <a:bodyPr wrap="square" lIns="0" tIns="0" rIns="0" bIns="0" rtlCol="0" anchor="ctr"/>
          <a:lstStyle/>
          <a:p>
            <a:pPr marL="0" indent="0">
              <a:buNone/>
            </a:pPr>
            <a:r>
              <a:rPr lang="en-US" sz="1050" b="1" kern="0" spc="160" dirty="0">
                <a:solidFill>
                  <a:srgbClr val="5D7186"/>
                </a:solidFill>
                <a:latin typeface="Calibri" pitchFamily="34" charset="0"/>
                <a:ea typeface="Calibri" pitchFamily="34" charset="-122"/>
                <a:cs typeface="Calibri" pitchFamily="34" charset="-120"/>
              </a:rPr>
              <a:t>L1 → L2 · TRANSLATION CHALLENGES</a:t>
            </a:r>
            <a:endParaRPr lang="en-US" sz="1050" dirty="0"/>
          </a:p>
        </p:txBody>
      </p:sp>
      <p:sp>
        <p:nvSpPr>
          <p:cNvPr id="3" name="Text 1"/>
          <p:cNvSpPr/>
          <p:nvPr/>
        </p:nvSpPr>
        <p:spPr>
          <a:xfrm>
            <a:off x="566928" y="640080"/>
            <a:ext cx="8412480" cy="658368"/>
          </a:xfrm>
          <a:prstGeom prst="rect">
            <a:avLst/>
          </a:prstGeom>
          <a:noFill/>
          <a:ln/>
        </p:spPr>
        <p:txBody>
          <a:bodyPr wrap="square" lIns="0" tIns="0" rIns="0" bIns="0" rtlCol="0" anchor="t"/>
          <a:lstStyle/>
          <a:p>
            <a:pPr marL="0" indent="0">
              <a:buNone/>
            </a:pPr>
            <a:r>
              <a:rPr lang="en-US" sz="2700" b="1" dirty="0">
                <a:solidFill>
                  <a:srgbClr val="12202E"/>
                </a:solidFill>
                <a:latin typeface="Cambria" pitchFamily="34" charset="0"/>
                <a:ea typeface="Cambria" pitchFamily="34" charset="-122"/>
                <a:cs typeface="Cambria" pitchFamily="34" charset="-120"/>
              </a:rPr>
              <a:t>Nine places where the guideline left us on our own</a:t>
            </a:r>
            <a:endParaRPr lang="en-US" sz="2700" dirty="0"/>
          </a:p>
        </p:txBody>
      </p:sp>
      <p:sp>
        <p:nvSpPr>
          <p:cNvPr id="4" name="Shape 2"/>
          <p:cNvSpPr/>
          <p:nvPr/>
        </p:nvSpPr>
        <p:spPr>
          <a:xfrm>
            <a:off x="9290304" y="475488"/>
            <a:ext cx="475488" cy="274320"/>
          </a:xfrm>
          <a:prstGeom prst="roundRect">
            <a:avLst>
              <a:gd name="adj" fmla="val 46667"/>
            </a:avLst>
          </a:prstGeom>
          <a:solidFill>
            <a:srgbClr val="F5F7FA"/>
          </a:solidFill>
          <a:ln w="12700">
            <a:solidFill>
              <a:srgbClr val="DDE5EE"/>
            </a:solidFill>
            <a:prstDash val="solid"/>
          </a:ln>
        </p:spPr>
        <p:txBody>
          <a:bodyPr/>
          <a:lstStyle/>
          <a:p>
            <a:endParaRPr lang="de-CH"/>
          </a:p>
        </p:txBody>
      </p:sp>
      <p:sp>
        <p:nvSpPr>
          <p:cNvPr id="5" name="Text 3"/>
          <p:cNvSpPr/>
          <p:nvPr/>
        </p:nvSpPr>
        <p:spPr>
          <a:xfrm>
            <a:off x="9290304" y="475488"/>
            <a:ext cx="475488" cy="274320"/>
          </a:xfrm>
          <a:prstGeom prst="rect">
            <a:avLst/>
          </a:prstGeom>
          <a:noFill/>
          <a:ln/>
        </p:spPr>
        <p:txBody>
          <a:bodyPr wrap="square" lIns="0" tIns="0" rIns="0" bIns="0" rtlCol="0" anchor="ctr"/>
          <a:lstStyle/>
          <a:p>
            <a:pPr marL="0" indent="0" algn="ctr">
              <a:buNone/>
            </a:pPr>
            <a:r>
              <a:rPr lang="en-US" sz="1050" b="1" dirty="0">
                <a:solidFill>
                  <a:srgbClr val="5D7186"/>
                </a:solidFill>
                <a:latin typeface="Calibri" pitchFamily="34" charset="0"/>
                <a:ea typeface="Calibri" pitchFamily="34" charset="-122"/>
                <a:cs typeface="Calibri" pitchFamily="34" charset="-120"/>
              </a:rPr>
              <a:t>L1</a:t>
            </a:r>
            <a:endParaRPr lang="en-US" sz="1050" dirty="0"/>
          </a:p>
        </p:txBody>
      </p:sp>
      <p:sp>
        <p:nvSpPr>
          <p:cNvPr id="6" name="Text 4"/>
          <p:cNvSpPr/>
          <p:nvPr/>
        </p:nvSpPr>
        <p:spPr>
          <a:xfrm>
            <a:off x="9765792" y="475488"/>
            <a:ext cx="146304" cy="274320"/>
          </a:xfrm>
          <a:prstGeom prst="rect">
            <a:avLst/>
          </a:prstGeom>
          <a:noFill/>
          <a:ln/>
        </p:spPr>
        <p:txBody>
          <a:bodyPr wrap="square" lIns="0" tIns="0" rIns="0" bIns="0" rtlCol="0" anchor="ctr"/>
          <a:lstStyle/>
          <a:p>
            <a:pPr marL="0" indent="0" algn="ctr">
              <a:buNone/>
            </a:pPr>
            <a:r>
              <a:rPr lang="en-US" sz="1100" dirty="0">
                <a:solidFill>
                  <a:srgbClr val="DDE5EE"/>
                </a:solidFill>
                <a:latin typeface="Calibri" pitchFamily="34" charset="0"/>
                <a:ea typeface="Calibri" pitchFamily="34" charset="-122"/>
                <a:cs typeface="Calibri" pitchFamily="34" charset="-120"/>
              </a:rPr>
              <a:t>›</a:t>
            </a:r>
            <a:endParaRPr lang="en-US" sz="1100" dirty="0"/>
          </a:p>
        </p:txBody>
      </p:sp>
      <p:sp>
        <p:nvSpPr>
          <p:cNvPr id="7" name="Shape 5"/>
          <p:cNvSpPr/>
          <p:nvPr/>
        </p:nvSpPr>
        <p:spPr>
          <a:xfrm>
            <a:off x="9912096" y="475488"/>
            <a:ext cx="475488" cy="274320"/>
          </a:xfrm>
          <a:prstGeom prst="roundRect">
            <a:avLst>
              <a:gd name="adj" fmla="val 46667"/>
            </a:avLst>
          </a:prstGeom>
          <a:solidFill>
            <a:srgbClr val="12202E"/>
          </a:solidFill>
          <a:ln w="12700">
            <a:solidFill>
              <a:srgbClr val="12202E"/>
            </a:solidFill>
            <a:prstDash val="solid"/>
          </a:ln>
        </p:spPr>
        <p:txBody>
          <a:bodyPr/>
          <a:lstStyle/>
          <a:p>
            <a:endParaRPr lang="de-CH"/>
          </a:p>
        </p:txBody>
      </p:sp>
      <p:sp>
        <p:nvSpPr>
          <p:cNvPr id="8" name="Text 6"/>
          <p:cNvSpPr/>
          <p:nvPr/>
        </p:nvSpPr>
        <p:spPr>
          <a:xfrm>
            <a:off x="9912096" y="475488"/>
            <a:ext cx="475488"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L2</a:t>
            </a:r>
            <a:endParaRPr lang="en-US" sz="1050" dirty="0"/>
          </a:p>
        </p:txBody>
      </p:sp>
      <p:sp>
        <p:nvSpPr>
          <p:cNvPr id="9" name="Text 7"/>
          <p:cNvSpPr/>
          <p:nvPr/>
        </p:nvSpPr>
        <p:spPr>
          <a:xfrm>
            <a:off x="10387584" y="475488"/>
            <a:ext cx="146304" cy="274320"/>
          </a:xfrm>
          <a:prstGeom prst="rect">
            <a:avLst/>
          </a:prstGeom>
          <a:noFill/>
          <a:ln/>
        </p:spPr>
        <p:txBody>
          <a:bodyPr wrap="square" lIns="0" tIns="0" rIns="0" bIns="0" rtlCol="0" anchor="ctr"/>
          <a:lstStyle/>
          <a:p>
            <a:pPr marL="0" indent="0" algn="ctr">
              <a:buNone/>
            </a:pPr>
            <a:r>
              <a:rPr lang="en-US" sz="1100" dirty="0">
                <a:solidFill>
                  <a:srgbClr val="DDE5EE"/>
                </a:solidFill>
                <a:latin typeface="Calibri" pitchFamily="34" charset="0"/>
                <a:ea typeface="Calibri" pitchFamily="34" charset="-122"/>
                <a:cs typeface="Calibri" pitchFamily="34" charset="-120"/>
              </a:rPr>
              <a:t>›</a:t>
            </a:r>
            <a:endParaRPr lang="en-US" sz="1100" dirty="0"/>
          </a:p>
        </p:txBody>
      </p:sp>
      <p:sp>
        <p:nvSpPr>
          <p:cNvPr id="10" name="Shape 8"/>
          <p:cNvSpPr/>
          <p:nvPr/>
        </p:nvSpPr>
        <p:spPr>
          <a:xfrm>
            <a:off x="10533888" y="475488"/>
            <a:ext cx="475488" cy="274320"/>
          </a:xfrm>
          <a:prstGeom prst="roundRect">
            <a:avLst>
              <a:gd name="adj" fmla="val 46667"/>
            </a:avLst>
          </a:prstGeom>
          <a:solidFill>
            <a:srgbClr val="F5F7FA"/>
          </a:solidFill>
          <a:ln w="12700">
            <a:solidFill>
              <a:srgbClr val="DDE5EE"/>
            </a:solidFill>
            <a:prstDash val="solid"/>
          </a:ln>
        </p:spPr>
        <p:txBody>
          <a:bodyPr/>
          <a:lstStyle/>
          <a:p>
            <a:endParaRPr lang="de-CH"/>
          </a:p>
        </p:txBody>
      </p:sp>
      <p:sp>
        <p:nvSpPr>
          <p:cNvPr id="11" name="Text 9"/>
          <p:cNvSpPr/>
          <p:nvPr/>
        </p:nvSpPr>
        <p:spPr>
          <a:xfrm>
            <a:off x="10533888" y="475488"/>
            <a:ext cx="475488" cy="274320"/>
          </a:xfrm>
          <a:prstGeom prst="rect">
            <a:avLst/>
          </a:prstGeom>
          <a:noFill/>
          <a:ln/>
        </p:spPr>
        <p:txBody>
          <a:bodyPr wrap="square" lIns="0" tIns="0" rIns="0" bIns="0" rtlCol="0" anchor="ctr"/>
          <a:lstStyle/>
          <a:p>
            <a:pPr marL="0" indent="0" algn="ctr">
              <a:buNone/>
            </a:pPr>
            <a:r>
              <a:rPr lang="en-US" sz="1050" b="1" dirty="0">
                <a:solidFill>
                  <a:srgbClr val="5D7186"/>
                </a:solidFill>
                <a:latin typeface="Calibri" pitchFamily="34" charset="0"/>
                <a:ea typeface="Calibri" pitchFamily="34" charset="-122"/>
                <a:cs typeface="Calibri" pitchFamily="34" charset="-120"/>
              </a:rPr>
              <a:t>L3</a:t>
            </a:r>
            <a:endParaRPr lang="en-US" sz="1050" dirty="0"/>
          </a:p>
        </p:txBody>
      </p:sp>
      <p:sp>
        <p:nvSpPr>
          <p:cNvPr id="12" name="Text 10"/>
          <p:cNvSpPr/>
          <p:nvPr/>
        </p:nvSpPr>
        <p:spPr>
          <a:xfrm>
            <a:off x="11009376" y="475488"/>
            <a:ext cx="146304" cy="274320"/>
          </a:xfrm>
          <a:prstGeom prst="rect">
            <a:avLst/>
          </a:prstGeom>
          <a:noFill/>
          <a:ln/>
        </p:spPr>
        <p:txBody>
          <a:bodyPr wrap="square" lIns="0" tIns="0" rIns="0" bIns="0" rtlCol="0" anchor="ctr"/>
          <a:lstStyle/>
          <a:p>
            <a:pPr marL="0" indent="0" algn="ctr">
              <a:buNone/>
            </a:pPr>
            <a:r>
              <a:rPr lang="en-US" sz="1100" dirty="0">
                <a:solidFill>
                  <a:srgbClr val="DDE5EE"/>
                </a:solidFill>
                <a:latin typeface="Calibri" pitchFamily="34" charset="0"/>
                <a:ea typeface="Calibri" pitchFamily="34" charset="-122"/>
                <a:cs typeface="Calibri" pitchFamily="34" charset="-120"/>
              </a:rPr>
              <a:t>›</a:t>
            </a:r>
            <a:endParaRPr lang="en-US" sz="1100" dirty="0"/>
          </a:p>
        </p:txBody>
      </p:sp>
      <p:sp>
        <p:nvSpPr>
          <p:cNvPr id="13" name="Shape 11"/>
          <p:cNvSpPr/>
          <p:nvPr/>
        </p:nvSpPr>
        <p:spPr>
          <a:xfrm>
            <a:off x="11155680" y="475488"/>
            <a:ext cx="475488" cy="274320"/>
          </a:xfrm>
          <a:prstGeom prst="roundRect">
            <a:avLst>
              <a:gd name="adj" fmla="val 46667"/>
            </a:avLst>
          </a:prstGeom>
          <a:solidFill>
            <a:srgbClr val="F5F7FA"/>
          </a:solidFill>
          <a:ln w="12700">
            <a:solidFill>
              <a:srgbClr val="DDE5EE"/>
            </a:solidFill>
            <a:prstDash val="solid"/>
          </a:ln>
        </p:spPr>
        <p:txBody>
          <a:bodyPr/>
          <a:lstStyle/>
          <a:p>
            <a:endParaRPr lang="de-CH"/>
          </a:p>
        </p:txBody>
      </p:sp>
      <p:sp>
        <p:nvSpPr>
          <p:cNvPr id="14" name="Text 12"/>
          <p:cNvSpPr/>
          <p:nvPr/>
        </p:nvSpPr>
        <p:spPr>
          <a:xfrm>
            <a:off x="11155680" y="475488"/>
            <a:ext cx="475488" cy="274320"/>
          </a:xfrm>
          <a:prstGeom prst="rect">
            <a:avLst/>
          </a:prstGeom>
          <a:noFill/>
          <a:ln/>
        </p:spPr>
        <p:txBody>
          <a:bodyPr wrap="square" lIns="0" tIns="0" rIns="0" bIns="0" rtlCol="0" anchor="ctr"/>
          <a:lstStyle/>
          <a:p>
            <a:pPr marL="0" indent="0" algn="ctr">
              <a:buNone/>
            </a:pPr>
            <a:r>
              <a:rPr lang="en-US" sz="1050" b="1" dirty="0">
                <a:solidFill>
                  <a:srgbClr val="5D7186"/>
                </a:solidFill>
                <a:latin typeface="Calibri" pitchFamily="34" charset="0"/>
                <a:ea typeface="Calibri" pitchFamily="34" charset="-122"/>
                <a:cs typeface="Calibri" pitchFamily="34" charset="-120"/>
              </a:rPr>
              <a:t>L4</a:t>
            </a:r>
            <a:endParaRPr lang="en-US" sz="1050" dirty="0"/>
          </a:p>
        </p:txBody>
      </p:sp>
      <p:sp>
        <p:nvSpPr>
          <p:cNvPr id="15" name="Shape 13"/>
          <p:cNvSpPr/>
          <p:nvPr/>
        </p:nvSpPr>
        <p:spPr>
          <a:xfrm>
            <a:off x="566928" y="1645920"/>
            <a:ext cx="3474720" cy="640080"/>
          </a:xfrm>
          <a:prstGeom prst="roundRect">
            <a:avLst>
              <a:gd name="adj" fmla="val 12857"/>
            </a:avLst>
          </a:prstGeom>
          <a:solidFill>
            <a:srgbClr val="FBE7E5"/>
          </a:solidFill>
          <a:ln w="12700">
            <a:solidFill>
              <a:srgbClr val="F0ACA6"/>
            </a:solidFill>
            <a:prstDash val="solid"/>
          </a:ln>
        </p:spPr>
        <p:txBody>
          <a:bodyPr/>
          <a:lstStyle/>
          <a:p>
            <a:endParaRPr lang="de-CH"/>
          </a:p>
        </p:txBody>
      </p:sp>
      <p:sp>
        <p:nvSpPr>
          <p:cNvPr id="16" name="Text 14"/>
          <p:cNvSpPr/>
          <p:nvPr/>
        </p:nvSpPr>
        <p:spPr>
          <a:xfrm>
            <a:off x="768096" y="1700784"/>
            <a:ext cx="640080" cy="256032"/>
          </a:xfrm>
          <a:prstGeom prst="rect">
            <a:avLst/>
          </a:prstGeom>
          <a:noFill/>
          <a:ln/>
        </p:spPr>
        <p:txBody>
          <a:bodyPr wrap="square" lIns="0" tIns="0" rIns="0" bIns="0" rtlCol="0" anchor="ctr"/>
          <a:lstStyle/>
          <a:p>
            <a:pPr marL="0" indent="0">
              <a:buNone/>
            </a:pPr>
            <a:r>
              <a:rPr lang="en-US" sz="1000" b="1" dirty="0">
                <a:solidFill>
                  <a:srgbClr val="C0281C"/>
                </a:solidFill>
                <a:latin typeface="Calibri" pitchFamily="34" charset="0"/>
                <a:ea typeface="Calibri" pitchFamily="34" charset="-122"/>
                <a:cs typeface="Calibri" pitchFamily="34" charset="-120"/>
              </a:rPr>
              <a:t>C-01</a:t>
            </a:r>
            <a:endParaRPr lang="en-US" sz="1000" dirty="0"/>
          </a:p>
        </p:txBody>
      </p:sp>
      <p:sp>
        <p:nvSpPr>
          <p:cNvPr id="17" name="Text 15"/>
          <p:cNvSpPr/>
          <p:nvPr/>
        </p:nvSpPr>
        <p:spPr>
          <a:xfrm>
            <a:off x="768096" y="1920240"/>
            <a:ext cx="3108960" cy="310896"/>
          </a:xfrm>
          <a:prstGeom prst="rect">
            <a:avLst/>
          </a:prstGeom>
          <a:noFill/>
          <a:ln/>
        </p:spPr>
        <p:txBody>
          <a:bodyPr wrap="square" lIns="0" tIns="0" rIns="0" bIns="0" rtlCol="0" anchor="ctr"/>
          <a:lstStyle/>
          <a:p>
            <a:pPr marL="0" indent="0">
              <a:buNone/>
            </a:pPr>
            <a:r>
              <a:rPr lang="en-US" sz="1100" dirty="0">
                <a:solidFill>
                  <a:srgbClr val="12202E"/>
                </a:solidFill>
                <a:latin typeface="Calibri" pitchFamily="34" charset="0"/>
                <a:ea typeface="Calibri" pitchFamily="34" charset="-122"/>
                <a:cs typeface="Calibri" pitchFamily="34" charset="-120"/>
              </a:rPr>
              <a:t>Professional instrument → layperson instrument</a:t>
            </a:r>
            <a:endParaRPr lang="en-US" sz="1100" dirty="0"/>
          </a:p>
        </p:txBody>
      </p:sp>
      <p:sp>
        <p:nvSpPr>
          <p:cNvPr id="18" name="Shape 16"/>
          <p:cNvSpPr/>
          <p:nvPr/>
        </p:nvSpPr>
        <p:spPr>
          <a:xfrm>
            <a:off x="4279392" y="1645920"/>
            <a:ext cx="3474720" cy="640080"/>
          </a:xfrm>
          <a:prstGeom prst="roundRect">
            <a:avLst>
              <a:gd name="adj" fmla="val 12857"/>
            </a:avLst>
          </a:prstGeom>
          <a:solidFill>
            <a:srgbClr val="FFFFFF"/>
          </a:solidFill>
          <a:ln w="12700">
            <a:solidFill>
              <a:srgbClr val="DDE5EE"/>
            </a:solidFill>
            <a:prstDash val="solid"/>
          </a:ln>
        </p:spPr>
        <p:txBody>
          <a:bodyPr/>
          <a:lstStyle/>
          <a:p>
            <a:endParaRPr lang="de-CH"/>
          </a:p>
        </p:txBody>
      </p:sp>
      <p:sp>
        <p:nvSpPr>
          <p:cNvPr id="19" name="Text 17"/>
          <p:cNvSpPr/>
          <p:nvPr/>
        </p:nvSpPr>
        <p:spPr>
          <a:xfrm>
            <a:off x="4480560" y="1700784"/>
            <a:ext cx="640080" cy="256032"/>
          </a:xfrm>
          <a:prstGeom prst="rect">
            <a:avLst/>
          </a:prstGeom>
          <a:noFill/>
          <a:ln/>
        </p:spPr>
        <p:txBody>
          <a:bodyPr wrap="square" lIns="0" tIns="0" rIns="0" bIns="0" rtlCol="0" anchor="ctr"/>
          <a:lstStyle/>
          <a:p>
            <a:pPr marL="0" indent="0">
              <a:buNone/>
            </a:pPr>
            <a:r>
              <a:rPr lang="en-US" sz="1000" b="1" dirty="0">
                <a:solidFill>
                  <a:srgbClr val="5D7186"/>
                </a:solidFill>
                <a:latin typeface="Calibri" pitchFamily="34" charset="0"/>
                <a:ea typeface="Calibri" pitchFamily="34" charset="-122"/>
                <a:cs typeface="Calibri" pitchFamily="34" charset="-120"/>
              </a:rPr>
              <a:t>C-02</a:t>
            </a:r>
            <a:endParaRPr lang="en-US" sz="1000" dirty="0"/>
          </a:p>
        </p:txBody>
      </p:sp>
      <p:sp>
        <p:nvSpPr>
          <p:cNvPr id="20" name="Text 18"/>
          <p:cNvSpPr/>
          <p:nvPr/>
        </p:nvSpPr>
        <p:spPr>
          <a:xfrm>
            <a:off x="4480560" y="1920240"/>
            <a:ext cx="3108960" cy="310896"/>
          </a:xfrm>
          <a:prstGeom prst="rect">
            <a:avLst/>
          </a:prstGeom>
          <a:noFill/>
          <a:ln/>
        </p:spPr>
        <p:txBody>
          <a:bodyPr wrap="square" lIns="0" tIns="0" rIns="0" bIns="0" rtlCol="0" anchor="ctr"/>
          <a:lstStyle/>
          <a:p>
            <a:pPr marL="0" indent="0">
              <a:buNone/>
            </a:pPr>
            <a:r>
              <a:rPr lang="en-US" sz="1100" dirty="0">
                <a:solidFill>
                  <a:srgbClr val="12202E"/>
                </a:solidFill>
                <a:latin typeface="Calibri" pitchFamily="34" charset="0"/>
                <a:ea typeface="Calibri" pitchFamily="34" charset="-122"/>
                <a:cs typeface="Calibri" pitchFamily="34" charset="-120"/>
              </a:rPr>
              <a:t>Sub-grades without centimetres</a:t>
            </a:r>
            <a:endParaRPr lang="en-US" sz="1100" dirty="0"/>
          </a:p>
        </p:txBody>
      </p:sp>
      <p:sp>
        <p:nvSpPr>
          <p:cNvPr id="21" name="Shape 19"/>
          <p:cNvSpPr/>
          <p:nvPr/>
        </p:nvSpPr>
        <p:spPr>
          <a:xfrm>
            <a:off x="7991856" y="1645920"/>
            <a:ext cx="3474720" cy="640080"/>
          </a:xfrm>
          <a:prstGeom prst="roundRect">
            <a:avLst>
              <a:gd name="adj" fmla="val 12857"/>
            </a:avLst>
          </a:prstGeom>
          <a:solidFill>
            <a:srgbClr val="FBE7E5"/>
          </a:solidFill>
          <a:ln w="12700">
            <a:solidFill>
              <a:srgbClr val="F0ACA6"/>
            </a:solidFill>
            <a:prstDash val="solid"/>
          </a:ln>
        </p:spPr>
        <p:txBody>
          <a:bodyPr/>
          <a:lstStyle/>
          <a:p>
            <a:endParaRPr lang="de-CH"/>
          </a:p>
        </p:txBody>
      </p:sp>
      <p:sp>
        <p:nvSpPr>
          <p:cNvPr id="22" name="Text 20"/>
          <p:cNvSpPr/>
          <p:nvPr/>
        </p:nvSpPr>
        <p:spPr>
          <a:xfrm>
            <a:off x="8193024" y="1700784"/>
            <a:ext cx="640080" cy="256032"/>
          </a:xfrm>
          <a:prstGeom prst="rect">
            <a:avLst/>
          </a:prstGeom>
          <a:noFill/>
          <a:ln/>
        </p:spPr>
        <p:txBody>
          <a:bodyPr wrap="square" lIns="0" tIns="0" rIns="0" bIns="0" rtlCol="0" anchor="ctr"/>
          <a:lstStyle/>
          <a:p>
            <a:pPr marL="0" indent="0">
              <a:buNone/>
            </a:pPr>
            <a:r>
              <a:rPr lang="en-US" sz="1000" b="1" dirty="0">
                <a:solidFill>
                  <a:srgbClr val="C0281C"/>
                </a:solidFill>
                <a:latin typeface="Calibri" pitchFamily="34" charset="0"/>
                <a:ea typeface="Calibri" pitchFamily="34" charset="-122"/>
                <a:cs typeface="Calibri" pitchFamily="34" charset="-120"/>
              </a:rPr>
              <a:t>C-03</a:t>
            </a:r>
            <a:endParaRPr lang="en-US" sz="1000" dirty="0"/>
          </a:p>
        </p:txBody>
      </p:sp>
      <p:sp>
        <p:nvSpPr>
          <p:cNvPr id="23" name="Text 21"/>
          <p:cNvSpPr/>
          <p:nvPr/>
        </p:nvSpPr>
        <p:spPr>
          <a:xfrm>
            <a:off x="8193024" y="1920240"/>
            <a:ext cx="3108960" cy="310896"/>
          </a:xfrm>
          <a:prstGeom prst="rect">
            <a:avLst/>
          </a:prstGeom>
          <a:noFill/>
          <a:ln/>
        </p:spPr>
        <p:txBody>
          <a:bodyPr wrap="square" lIns="0" tIns="0" rIns="0" bIns="0" rtlCol="0" anchor="ctr"/>
          <a:lstStyle/>
          <a:p>
            <a:pPr marL="0" indent="0">
              <a:buNone/>
            </a:pPr>
            <a:r>
              <a:rPr lang="en-US" sz="1100" dirty="0">
                <a:solidFill>
                  <a:srgbClr val="12202E"/>
                </a:solidFill>
                <a:latin typeface="Calibri" pitchFamily="34" charset="0"/>
                <a:ea typeface="Calibri" pitchFamily="34" charset="-122"/>
                <a:cs typeface="Calibri" pitchFamily="34" charset="-120"/>
              </a:rPr>
              <a:t>When does redness stop being normal?</a:t>
            </a:r>
            <a:endParaRPr lang="en-US" sz="1100" dirty="0"/>
          </a:p>
        </p:txBody>
      </p:sp>
      <p:sp>
        <p:nvSpPr>
          <p:cNvPr id="24" name="Shape 22"/>
          <p:cNvSpPr/>
          <p:nvPr/>
        </p:nvSpPr>
        <p:spPr>
          <a:xfrm>
            <a:off x="566928" y="2395728"/>
            <a:ext cx="3474720" cy="640080"/>
          </a:xfrm>
          <a:prstGeom prst="roundRect">
            <a:avLst>
              <a:gd name="adj" fmla="val 12857"/>
            </a:avLst>
          </a:prstGeom>
          <a:solidFill>
            <a:srgbClr val="FFFFFF"/>
          </a:solidFill>
          <a:ln w="12700">
            <a:solidFill>
              <a:srgbClr val="DDE5EE"/>
            </a:solidFill>
            <a:prstDash val="solid"/>
          </a:ln>
        </p:spPr>
        <p:txBody>
          <a:bodyPr/>
          <a:lstStyle/>
          <a:p>
            <a:endParaRPr lang="de-CH"/>
          </a:p>
        </p:txBody>
      </p:sp>
      <p:sp>
        <p:nvSpPr>
          <p:cNvPr id="25" name="Text 23"/>
          <p:cNvSpPr/>
          <p:nvPr/>
        </p:nvSpPr>
        <p:spPr>
          <a:xfrm>
            <a:off x="768096" y="2450592"/>
            <a:ext cx="640080" cy="256032"/>
          </a:xfrm>
          <a:prstGeom prst="rect">
            <a:avLst/>
          </a:prstGeom>
          <a:noFill/>
          <a:ln/>
        </p:spPr>
        <p:txBody>
          <a:bodyPr wrap="square" lIns="0" tIns="0" rIns="0" bIns="0" rtlCol="0" anchor="ctr"/>
          <a:lstStyle/>
          <a:p>
            <a:pPr marL="0" indent="0">
              <a:buNone/>
            </a:pPr>
            <a:r>
              <a:rPr lang="en-US" sz="1000" b="1" dirty="0">
                <a:solidFill>
                  <a:srgbClr val="5D7186"/>
                </a:solidFill>
                <a:latin typeface="Calibri" pitchFamily="34" charset="0"/>
                <a:ea typeface="Calibri" pitchFamily="34" charset="-122"/>
                <a:cs typeface="Calibri" pitchFamily="34" charset="-120"/>
              </a:rPr>
              <a:t>C-04</a:t>
            </a:r>
            <a:endParaRPr lang="en-US" sz="1000" dirty="0"/>
          </a:p>
        </p:txBody>
      </p:sp>
      <p:sp>
        <p:nvSpPr>
          <p:cNvPr id="26" name="Text 24"/>
          <p:cNvSpPr/>
          <p:nvPr/>
        </p:nvSpPr>
        <p:spPr>
          <a:xfrm>
            <a:off x="768096" y="2670048"/>
            <a:ext cx="3108960" cy="310896"/>
          </a:xfrm>
          <a:prstGeom prst="rect">
            <a:avLst/>
          </a:prstGeom>
          <a:noFill/>
          <a:ln/>
        </p:spPr>
        <p:txBody>
          <a:bodyPr wrap="square" lIns="0" tIns="0" rIns="0" bIns="0" rtlCol="0" anchor="ctr"/>
          <a:lstStyle/>
          <a:p>
            <a:pPr marL="0" indent="0">
              <a:buNone/>
            </a:pPr>
            <a:r>
              <a:rPr lang="en-US" sz="1100" dirty="0">
                <a:solidFill>
                  <a:srgbClr val="12202E"/>
                </a:solidFill>
                <a:latin typeface="Calibri" pitchFamily="34" charset="0"/>
                <a:ea typeface="Calibri" pitchFamily="34" charset="-122"/>
                <a:cs typeface="Calibri" pitchFamily="34" charset="-120"/>
              </a:rPr>
              <a:t>Scab: warning or reassurance?</a:t>
            </a:r>
            <a:endParaRPr lang="en-US" sz="1100" dirty="0"/>
          </a:p>
        </p:txBody>
      </p:sp>
      <p:sp>
        <p:nvSpPr>
          <p:cNvPr id="27" name="Shape 25"/>
          <p:cNvSpPr/>
          <p:nvPr/>
        </p:nvSpPr>
        <p:spPr>
          <a:xfrm>
            <a:off x="4279392" y="2395728"/>
            <a:ext cx="3474720" cy="640080"/>
          </a:xfrm>
          <a:prstGeom prst="roundRect">
            <a:avLst>
              <a:gd name="adj" fmla="val 12857"/>
            </a:avLst>
          </a:prstGeom>
          <a:solidFill>
            <a:srgbClr val="FFFFFF"/>
          </a:solidFill>
          <a:ln w="12700">
            <a:solidFill>
              <a:srgbClr val="DDE5EE"/>
            </a:solidFill>
            <a:prstDash val="solid"/>
          </a:ln>
        </p:spPr>
        <p:txBody>
          <a:bodyPr/>
          <a:lstStyle/>
          <a:p>
            <a:endParaRPr lang="de-CH"/>
          </a:p>
        </p:txBody>
      </p:sp>
      <p:sp>
        <p:nvSpPr>
          <p:cNvPr id="28" name="Text 26"/>
          <p:cNvSpPr/>
          <p:nvPr/>
        </p:nvSpPr>
        <p:spPr>
          <a:xfrm>
            <a:off x="4480560" y="2450592"/>
            <a:ext cx="640080" cy="256032"/>
          </a:xfrm>
          <a:prstGeom prst="rect">
            <a:avLst/>
          </a:prstGeom>
          <a:noFill/>
          <a:ln/>
        </p:spPr>
        <p:txBody>
          <a:bodyPr wrap="square" lIns="0" tIns="0" rIns="0" bIns="0" rtlCol="0" anchor="ctr"/>
          <a:lstStyle/>
          <a:p>
            <a:pPr marL="0" indent="0">
              <a:buNone/>
            </a:pPr>
            <a:r>
              <a:rPr lang="en-US" sz="1000" b="1" dirty="0">
                <a:solidFill>
                  <a:srgbClr val="5D7186"/>
                </a:solidFill>
                <a:latin typeface="Calibri" pitchFamily="34" charset="0"/>
                <a:ea typeface="Calibri" pitchFamily="34" charset="-122"/>
                <a:cs typeface="Calibri" pitchFamily="34" charset="-120"/>
              </a:rPr>
              <a:t>C-05</a:t>
            </a:r>
            <a:endParaRPr lang="en-US" sz="1000" dirty="0"/>
          </a:p>
        </p:txBody>
      </p:sp>
      <p:sp>
        <p:nvSpPr>
          <p:cNvPr id="29" name="Text 27"/>
          <p:cNvSpPr/>
          <p:nvPr/>
        </p:nvSpPr>
        <p:spPr>
          <a:xfrm>
            <a:off x="4480560" y="2670048"/>
            <a:ext cx="3108960" cy="310896"/>
          </a:xfrm>
          <a:prstGeom prst="rect">
            <a:avLst/>
          </a:prstGeom>
          <a:noFill/>
          <a:ln/>
        </p:spPr>
        <p:txBody>
          <a:bodyPr wrap="square" lIns="0" tIns="0" rIns="0" bIns="0" rtlCol="0" anchor="ctr"/>
          <a:lstStyle/>
          <a:p>
            <a:pPr marL="0" indent="0">
              <a:buNone/>
            </a:pPr>
            <a:r>
              <a:rPr lang="en-US" sz="1100" dirty="0">
                <a:solidFill>
                  <a:srgbClr val="12202E"/>
                </a:solidFill>
                <a:latin typeface="Calibri" pitchFamily="34" charset="0"/>
                <a:ea typeface="Calibri" pitchFamily="34" charset="-122"/>
                <a:cs typeface="Calibri" pitchFamily="34" charset="-120"/>
              </a:rPr>
              <a:t>CDC criteria assume a clinical examination</a:t>
            </a:r>
            <a:endParaRPr lang="en-US" sz="1100" dirty="0"/>
          </a:p>
        </p:txBody>
      </p:sp>
      <p:sp>
        <p:nvSpPr>
          <p:cNvPr id="30" name="Shape 28"/>
          <p:cNvSpPr/>
          <p:nvPr/>
        </p:nvSpPr>
        <p:spPr>
          <a:xfrm>
            <a:off x="7991856" y="2395728"/>
            <a:ext cx="3474720" cy="640080"/>
          </a:xfrm>
          <a:prstGeom prst="roundRect">
            <a:avLst>
              <a:gd name="adj" fmla="val 12857"/>
            </a:avLst>
          </a:prstGeom>
          <a:solidFill>
            <a:srgbClr val="FFFFFF"/>
          </a:solidFill>
          <a:ln w="12700">
            <a:solidFill>
              <a:srgbClr val="DDE5EE"/>
            </a:solidFill>
            <a:prstDash val="solid"/>
          </a:ln>
        </p:spPr>
        <p:txBody>
          <a:bodyPr/>
          <a:lstStyle/>
          <a:p>
            <a:endParaRPr lang="de-CH"/>
          </a:p>
        </p:txBody>
      </p:sp>
      <p:sp>
        <p:nvSpPr>
          <p:cNvPr id="31" name="Text 29"/>
          <p:cNvSpPr/>
          <p:nvPr/>
        </p:nvSpPr>
        <p:spPr>
          <a:xfrm>
            <a:off x="8193024" y="2450592"/>
            <a:ext cx="640080" cy="256032"/>
          </a:xfrm>
          <a:prstGeom prst="rect">
            <a:avLst/>
          </a:prstGeom>
          <a:noFill/>
          <a:ln/>
        </p:spPr>
        <p:txBody>
          <a:bodyPr wrap="square" lIns="0" tIns="0" rIns="0" bIns="0" rtlCol="0" anchor="ctr"/>
          <a:lstStyle/>
          <a:p>
            <a:pPr marL="0" indent="0">
              <a:buNone/>
            </a:pPr>
            <a:r>
              <a:rPr lang="en-US" sz="1000" b="1" dirty="0">
                <a:solidFill>
                  <a:srgbClr val="5D7186"/>
                </a:solidFill>
                <a:latin typeface="Calibri" pitchFamily="34" charset="0"/>
                <a:ea typeface="Calibri" pitchFamily="34" charset="-122"/>
                <a:cs typeface="Calibri" pitchFamily="34" charset="-120"/>
              </a:rPr>
              <a:t>C-06</a:t>
            </a:r>
            <a:endParaRPr lang="en-US" sz="1000" dirty="0"/>
          </a:p>
        </p:txBody>
      </p:sp>
      <p:sp>
        <p:nvSpPr>
          <p:cNvPr id="32" name="Text 30"/>
          <p:cNvSpPr/>
          <p:nvPr/>
        </p:nvSpPr>
        <p:spPr>
          <a:xfrm>
            <a:off x="8193024" y="2670048"/>
            <a:ext cx="3108960" cy="310896"/>
          </a:xfrm>
          <a:prstGeom prst="rect">
            <a:avLst/>
          </a:prstGeom>
          <a:noFill/>
          <a:ln/>
        </p:spPr>
        <p:txBody>
          <a:bodyPr wrap="square" lIns="0" tIns="0" rIns="0" bIns="0" rtlCol="0" anchor="ctr"/>
          <a:lstStyle/>
          <a:p>
            <a:pPr marL="0" indent="0">
              <a:buNone/>
            </a:pPr>
            <a:r>
              <a:rPr lang="en-US" sz="1100" dirty="0">
                <a:solidFill>
                  <a:srgbClr val="12202E"/>
                </a:solidFill>
                <a:latin typeface="Calibri" pitchFamily="34" charset="0"/>
                <a:ea typeface="Calibri" pitchFamily="34" charset="-122"/>
                <a:cs typeface="Calibri" pitchFamily="34" charset="-120"/>
              </a:rPr>
              <a:t>Southampton as triage, not prognosis</a:t>
            </a:r>
            <a:endParaRPr lang="en-US" sz="1100" dirty="0"/>
          </a:p>
        </p:txBody>
      </p:sp>
      <p:sp>
        <p:nvSpPr>
          <p:cNvPr id="33" name="Shape 31"/>
          <p:cNvSpPr/>
          <p:nvPr/>
        </p:nvSpPr>
        <p:spPr>
          <a:xfrm>
            <a:off x="566928" y="3145536"/>
            <a:ext cx="3474720" cy="640080"/>
          </a:xfrm>
          <a:prstGeom prst="roundRect">
            <a:avLst>
              <a:gd name="adj" fmla="val 12857"/>
            </a:avLst>
          </a:prstGeom>
          <a:solidFill>
            <a:srgbClr val="FFFFFF"/>
          </a:solidFill>
          <a:ln w="12700">
            <a:solidFill>
              <a:srgbClr val="DDE5EE"/>
            </a:solidFill>
            <a:prstDash val="solid"/>
          </a:ln>
        </p:spPr>
        <p:txBody>
          <a:bodyPr/>
          <a:lstStyle/>
          <a:p>
            <a:endParaRPr lang="de-CH"/>
          </a:p>
        </p:txBody>
      </p:sp>
      <p:sp>
        <p:nvSpPr>
          <p:cNvPr id="34" name="Text 32"/>
          <p:cNvSpPr/>
          <p:nvPr/>
        </p:nvSpPr>
        <p:spPr>
          <a:xfrm>
            <a:off x="768096" y="3200400"/>
            <a:ext cx="640080" cy="256032"/>
          </a:xfrm>
          <a:prstGeom prst="rect">
            <a:avLst/>
          </a:prstGeom>
          <a:noFill/>
          <a:ln/>
        </p:spPr>
        <p:txBody>
          <a:bodyPr wrap="square" lIns="0" tIns="0" rIns="0" bIns="0" rtlCol="0" anchor="ctr"/>
          <a:lstStyle/>
          <a:p>
            <a:pPr marL="0" indent="0">
              <a:buNone/>
            </a:pPr>
            <a:r>
              <a:rPr lang="en-US" sz="1000" b="1" dirty="0">
                <a:solidFill>
                  <a:srgbClr val="5D7186"/>
                </a:solidFill>
                <a:latin typeface="Calibri" pitchFamily="34" charset="0"/>
                <a:ea typeface="Calibri" pitchFamily="34" charset="-122"/>
                <a:cs typeface="Calibri" pitchFamily="34" charset="-120"/>
              </a:rPr>
              <a:t>C-07</a:t>
            </a:r>
            <a:endParaRPr lang="en-US" sz="1000" dirty="0"/>
          </a:p>
        </p:txBody>
      </p:sp>
      <p:sp>
        <p:nvSpPr>
          <p:cNvPr id="35" name="Text 33"/>
          <p:cNvSpPr/>
          <p:nvPr/>
        </p:nvSpPr>
        <p:spPr>
          <a:xfrm>
            <a:off x="768096" y="3419856"/>
            <a:ext cx="3108960" cy="310896"/>
          </a:xfrm>
          <a:prstGeom prst="rect">
            <a:avLst/>
          </a:prstGeom>
          <a:noFill/>
          <a:ln/>
        </p:spPr>
        <p:txBody>
          <a:bodyPr wrap="square" lIns="0" tIns="0" rIns="0" bIns="0" rtlCol="0" anchor="ctr"/>
          <a:lstStyle/>
          <a:p>
            <a:pPr marL="0" indent="0">
              <a:buNone/>
            </a:pPr>
            <a:r>
              <a:rPr lang="en-US" sz="1100" dirty="0">
                <a:solidFill>
                  <a:srgbClr val="12202E"/>
                </a:solidFill>
                <a:latin typeface="Calibri" pitchFamily="34" charset="0"/>
                <a:ea typeface="Calibri" pitchFamily="34" charset="-122"/>
                <a:cs typeface="Calibri" pitchFamily="34" charset="-120"/>
              </a:rPr>
              <a:t>Two fever thresholds instead of one</a:t>
            </a:r>
            <a:endParaRPr lang="en-US" sz="1100" dirty="0"/>
          </a:p>
        </p:txBody>
      </p:sp>
      <p:sp>
        <p:nvSpPr>
          <p:cNvPr id="36" name="Shape 34"/>
          <p:cNvSpPr/>
          <p:nvPr/>
        </p:nvSpPr>
        <p:spPr>
          <a:xfrm>
            <a:off x="4279392" y="3145536"/>
            <a:ext cx="3474720" cy="640080"/>
          </a:xfrm>
          <a:prstGeom prst="roundRect">
            <a:avLst>
              <a:gd name="adj" fmla="val 12857"/>
            </a:avLst>
          </a:prstGeom>
          <a:solidFill>
            <a:srgbClr val="FFFFFF"/>
          </a:solidFill>
          <a:ln w="12700">
            <a:solidFill>
              <a:srgbClr val="DDE5EE"/>
            </a:solidFill>
            <a:prstDash val="solid"/>
          </a:ln>
        </p:spPr>
        <p:txBody>
          <a:bodyPr/>
          <a:lstStyle/>
          <a:p>
            <a:endParaRPr lang="de-CH"/>
          </a:p>
        </p:txBody>
      </p:sp>
      <p:sp>
        <p:nvSpPr>
          <p:cNvPr id="37" name="Text 35"/>
          <p:cNvSpPr/>
          <p:nvPr/>
        </p:nvSpPr>
        <p:spPr>
          <a:xfrm>
            <a:off x="4480560" y="3200400"/>
            <a:ext cx="640080" cy="256032"/>
          </a:xfrm>
          <a:prstGeom prst="rect">
            <a:avLst/>
          </a:prstGeom>
          <a:noFill/>
          <a:ln/>
        </p:spPr>
        <p:txBody>
          <a:bodyPr wrap="square" lIns="0" tIns="0" rIns="0" bIns="0" rtlCol="0" anchor="ctr"/>
          <a:lstStyle/>
          <a:p>
            <a:pPr marL="0" indent="0">
              <a:buNone/>
            </a:pPr>
            <a:r>
              <a:rPr lang="en-US" sz="1000" b="1" dirty="0">
                <a:solidFill>
                  <a:srgbClr val="5D7186"/>
                </a:solidFill>
                <a:latin typeface="Calibri" pitchFamily="34" charset="0"/>
                <a:ea typeface="Calibri" pitchFamily="34" charset="-122"/>
                <a:cs typeface="Calibri" pitchFamily="34" charset="-120"/>
              </a:rPr>
              <a:t>C-08</a:t>
            </a:r>
            <a:endParaRPr lang="en-US" sz="1000" dirty="0"/>
          </a:p>
        </p:txBody>
      </p:sp>
      <p:sp>
        <p:nvSpPr>
          <p:cNvPr id="38" name="Text 36"/>
          <p:cNvSpPr/>
          <p:nvPr/>
        </p:nvSpPr>
        <p:spPr>
          <a:xfrm>
            <a:off x="4480560" y="3419856"/>
            <a:ext cx="3108960" cy="310896"/>
          </a:xfrm>
          <a:prstGeom prst="rect">
            <a:avLst/>
          </a:prstGeom>
          <a:noFill/>
          <a:ln/>
        </p:spPr>
        <p:txBody>
          <a:bodyPr wrap="square" lIns="0" tIns="0" rIns="0" bIns="0" rtlCol="0" anchor="ctr"/>
          <a:lstStyle/>
          <a:p>
            <a:pPr marL="0" indent="0">
              <a:buNone/>
            </a:pPr>
            <a:r>
              <a:rPr lang="en-US" sz="1100" dirty="0">
                <a:solidFill>
                  <a:srgbClr val="12202E"/>
                </a:solidFill>
                <a:latin typeface="Calibri" pitchFamily="34" charset="0"/>
                <a:ea typeface="Calibri" pitchFamily="34" charset="-122"/>
                <a:cs typeface="Calibri" pitchFamily="34" charset="-120"/>
              </a:rPr>
              <a:t>No trajectory on the first day</a:t>
            </a:r>
            <a:endParaRPr lang="en-US" sz="1100" dirty="0"/>
          </a:p>
        </p:txBody>
      </p:sp>
      <p:sp>
        <p:nvSpPr>
          <p:cNvPr id="39" name="Shape 37"/>
          <p:cNvSpPr/>
          <p:nvPr/>
        </p:nvSpPr>
        <p:spPr>
          <a:xfrm>
            <a:off x="7991856" y="3145536"/>
            <a:ext cx="3474720" cy="640080"/>
          </a:xfrm>
          <a:prstGeom prst="roundRect">
            <a:avLst>
              <a:gd name="adj" fmla="val 12857"/>
            </a:avLst>
          </a:prstGeom>
          <a:solidFill>
            <a:srgbClr val="FFFFFF"/>
          </a:solidFill>
          <a:ln w="12700">
            <a:solidFill>
              <a:srgbClr val="DDE5EE"/>
            </a:solidFill>
            <a:prstDash val="solid"/>
          </a:ln>
        </p:spPr>
        <p:txBody>
          <a:bodyPr/>
          <a:lstStyle/>
          <a:p>
            <a:endParaRPr lang="de-CH"/>
          </a:p>
        </p:txBody>
      </p:sp>
      <p:sp>
        <p:nvSpPr>
          <p:cNvPr id="40" name="Text 38"/>
          <p:cNvSpPr/>
          <p:nvPr/>
        </p:nvSpPr>
        <p:spPr>
          <a:xfrm>
            <a:off x="8193024" y="3200400"/>
            <a:ext cx="640080" cy="256032"/>
          </a:xfrm>
          <a:prstGeom prst="rect">
            <a:avLst/>
          </a:prstGeom>
          <a:noFill/>
          <a:ln/>
        </p:spPr>
        <p:txBody>
          <a:bodyPr wrap="square" lIns="0" tIns="0" rIns="0" bIns="0" rtlCol="0" anchor="ctr"/>
          <a:lstStyle/>
          <a:p>
            <a:pPr marL="0" indent="0">
              <a:buNone/>
            </a:pPr>
            <a:r>
              <a:rPr lang="en-US" sz="1000" b="1" dirty="0">
                <a:solidFill>
                  <a:srgbClr val="5D7186"/>
                </a:solidFill>
                <a:latin typeface="Calibri" pitchFamily="34" charset="0"/>
                <a:ea typeface="Calibri" pitchFamily="34" charset="-122"/>
                <a:cs typeface="Calibri" pitchFamily="34" charset="-120"/>
              </a:rPr>
              <a:t>C-09</a:t>
            </a:r>
            <a:endParaRPr lang="en-US" sz="1000" dirty="0"/>
          </a:p>
        </p:txBody>
      </p:sp>
      <p:sp>
        <p:nvSpPr>
          <p:cNvPr id="41" name="Text 39"/>
          <p:cNvSpPr/>
          <p:nvPr/>
        </p:nvSpPr>
        <p:spPr>
          <a:xfrm>
            <a:off x="8193024" y="3419856"/>
            <a:ext cx="3108960" cy="310896"/>
          </a:xfrm>
          <a:prstGeom prst="rect">
            <a:avLst/>
          </a:prstGeom>
          <a:noFill/>
          <a:ln/>
        </p:spPr>
        <p:txBody>
          <a:bodyPr wrap="square" lIns="0" tIns="0" rIns="0" bIns="0" rtlCol="0" anchor="ctr"/>
          <a:lstStyle/>
          <a:p>
            <a:pPr marL="0" indent="0">
              <a:buNone/>
            </a:pPr>
            <a:r>
              <a:rPr lang="en-US" sz="1100" dirty="0">
                <a:solidFill>
                  <a:srgbClr val="12202E"/>
                </a:solidFill>
                <a:latin typeface="Calibri" pitchFamily="34" charset="0"/>
                <a:ea typeface="Calibri" pitchFamily="34" charset="-122"/>
                <a:cs typeface="Calibri" pitchFamily="34" charset="-120"/>
              </a:rPr>
              <a:t>Severity scale ≠ urgency of action</a:t>
            </a:r>
            <a:endParaRPr lang="en-US" sz="1100" dirty="0"/>
          </a:p>
        </p:txBody>
      </p:sp>
      <p:sp>
        <p:nvSpPr>
          <p:cNvPr id="42" name="Shape 40"/>
          <p:cNvSpPr/>
          <p:nvPr/>
        </p:nvSpPr>
        <p:spPr>
          <a:xfrm>
            <a:off x="566928" y="4041648"/>
            <a:ext cx="11064240" cy="1810512"/>
          </a:xfrm>
          <a:prstGeom prst="roundRect">
            <a:avLst>
              <a:gd name="adj" fmla="val 4545"/>
            </a:avLst>
          </a:prstGeom>
          <a:solidFill>
            <a:srgbClr val="12202E"/>
          </a:solidFill>
          <a:ln w="12700">
            <a:solidFill>
              <a:srgbClr val="12202E"/>
            </a:solidFill>
            <a:prstDash val="solid"/>
          </a:ln>
        </p:spPr>
        <p:txBody>
          <a:bodyPr/>
          <a:lstStyle/>
          <a:p>
            <a:endParaRPr lang="de-CH"/>
          </a:p>
        </p:txBody>
      </p:sp>
      <p:sp>
        <p:nvSpPr>
          <p:cNvPr id="43" name="Text 41"/>
          <p:cNvSpPr/>
          <p:nvPr/>
        </p:nvSpPr>
        <p:spPr>
          <a:xfrm>
            <a:off x="859536" y="4206240"/>
            <a:ext cx="1042416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The two highest-risk decisions sit in the same place</a:t>
            </a:r>
            <a:endParaRPr lang="en-US" sz="1300" dirty="0"/>
          </a:p>
        </p:txBody>
      </p:sp>
      <p:sp>
        <p:nvSpPr>
          <p:cNvPr id="44" name="Text 42"/>
          <p:cNvSpPr/>
          <p:nvPr/>
        </p:nvSpPr>
        <p:spPr>
          <a:xfrm>
            <a:off x="859536" y="4480560"/>
            <a:ext cx="10424160" cy="603504"/>
          </a:xfrm>
          <a:prstGeom prst="rect">
            <a:avLst/>
          </a:prstGeom>
          <a:noFill/>
          <a:ln/>
        </p:spPr>
        <p:txBody>
          <a:bodyPr wrap="square" lIns="0" tIns="0" rIns="0" bIns="0" rtlCol="0" anchor="t"/>
          <a:lstStyle/>
          <a:p>
            <a:pPr marL="0" indent="0">
              <a:lnSpc>
                <a:spcPts val="1600"/>
              </a:lnSpc>
              <a:buNone/>
            </a:pPr>
            <a:r>
              <a:rPr lang="en-US" sz="1150" b="1" dirty="0">
                <a:solidFill>
                  <a:srgbClr val="FFFFFF"/>
                </a:solidFill>
                <a:latin typeface="Calibri" pitchFamily="34" charset="0"/>
                <a:ea typeface="Calibri" pitchFamily="34" charset="-122"/>
                <a:cs typeface="Calibri" pitchFamily="34" charset="-120"/>
              </a:rPr>
              <a:t>C-01   </a:t>
            </a:r>
            <a:r>
              <a:rPr lang="en-US" sz="1150" dirty="0">
                <a:solidFill>
                  <a:srgbClr val="C9D6E4"/>
                </a:solidFill>
                <a:latin typeface="Calibri" pitchFamily="34" charset="0"/>
                <a:ea typeface="Calibri" pitchFamily="34" charset="-122"/>
                <a:cs typeface="Calibri" pitchFamily="34" charset="-120"/>
              </a:rPr>
              <a:t>Southampton was built for trained staff. We turned it into an image selection for patients without medical knowledge. That is our core idea — and it is unvalidated.</a:t>
            </a:r>
            <a:endParaRPr lang="en-US" sz="1150" dirty="0"/>
          </a:p>
        </p:txBody>
      </p:sp>
      <p:sp>
        <p:nvSpPr>
          <p:cNvPr id="45" name="Text 43"/>
          <p:cNvSpPr/>
          <p:nvPr/>
        </p:nvSpPr>
        <p:spPr>
          <a:xfrm>
            <a:off x="859536" y="5084064"/>
            <a:ext cx="10424160" cy="603504"/>
          </a:xfrm>
          <a:prstGeom prst="rect">
            <a:avLst/>
          </a:prstGeom>
          <a:noFill/>
          <a:ln/>
        </p:spPr>
        <p:txBody>
          <a:bodyPr wrap="square" lIns="0" tIns="0" rIns="0" bIns="0" rtlCol="0" anchor="t"/>
          <a:lstStyle/>
          <a:p>
            <a:pPr marL="0" indent="0">
              <a:lnSpc>
                <a:spcPts val="1600"/>
              </a:lnSpc>
              <a:buNone/>
            </a:pPr>
            <a:r>
              <a:rPr lang="en-US" sz="1150" b="1" dirty="0">
                <a:solidFill>
                  <a:srgbClr val="FFFFFF"/>
                </a:solidFill>
                <a:latin typeface="Calibri" pitchFamily="34" charset="0"/>
                <a:ea typeface="Calibri" pitchFamily="34" charset="-122"/>
                <a:cs typeface="Calibri" pitchFamily="34" charset="-120"/>
              </a:rPr>
              <a:t>C-03   </a:t>
            </a:r>
            <a:r>
              <a:rPr lang="en-US" sz="1150" dirty="0">
                <a:solidFill>
                  <a:srgbClr val="C9D6E4"/>
                </a:solidFill>
                <a:latin typeface="Calibri" pitchFamily="34" charset="0"/>
                <a:ea typeface="Calibri" pitchFamily="34" charset="-122"/>
                <a:cs typeface="Calibri" pitchFamily="34" charset="-120"/>
              </a:rPr>
              <a:t>No source defines the day on which redness stops being physiological. We set day 3. Too early means false alarms; too late means delayed detection.</a:t>
            </a:r>
            <a:endParaRPr lang="en-US" sz="1150" dirty="0"/>
          </a:p>
        </p:txBody>
      </p:sp>
      <p:sp>
        <p:nvSpPr>
          <p:cNvPr id="46" name="Text 44"/>
          <p:cNvSpPr/>
          <p:nvPr/>
        </p:nvSpPr>
        <p:spPr>
          <a:xfrm>
            <a:off x="566928" y="5998464"/>
            <a:ext cx="11064240" cy="274320"/>
          </a:xfrm>
          <a:prstGeom prst="rect">
            <a:avLst/>
          </a:prstGeom>
          <a:noFill/>
          <a:ln/>
        </p:spPr>
        <p:txBody>
          <a:bodyPr wrap="square" lIns="0" tIns="0" rIns="0" bIns="0" rtlCol="0" anchor="ctr"/>
          <a:lstStyle/>
          <a:p>
            <a:pPr marL="0" indent="0">
              <a:buNone/>
            </a:pPr>
            <a:r>
              <a:rPr lang="en-US" sz="1150" i="1" dirty="0">
                <a:solidFill>
                  <a:srgbClr val="5D7186"/>
                </a:solidFill>
                <a:latin typeface="Calibri" pitchFamily="34" charset="0"/>
                <a:ea typeface="Calibri" pitchFamily="34" charset="-122"/>
                <a:cs typeface="Calibri" pitchFamily="34" charset="-120"/>
              </a:rPr>
              <a:t>All nine would need clinical sign-off. We do not have it — and we list that as a limitation.</a:t>
            </a:r>
            <a:endParaRPr lang="en-US" sz="1150" dirty="0"/>
          </a:p>
        </p:txBody>
      </p:sp>
      <p:sp>
        <p:nvSpPr>
          <p:cNvPr id="48" name="Text 11">
            <a:extLst>
              <a:ext uri="{FF2B5EF4-FFF2-40B4-BE49-F238E27FC236}">
                <a16:creationId xmlns:a16="http://schemas.microsoft.com/office/drawing/2014/main" id="{81564FAB-9497-B1B6-90DD-BCE1BC45B760}"/>
              </a:ext>
            </a:extLst>
          </p:cNvPr>
          <p:cNvSpPr/>
          <p:nvPr/>
        </p:nvSpPr>
        <p:spPr>
          <a:xfrm>
            <a:off x="57709" y="6568124"/>
            <a:ext cx="8229600" cy="274320"/>
          </a:xfrm>
          <a:prstGeom prst="rect">
            <a:avLst/>
          </a:prstGeom>
          <a:noFill/>
          <a:ln/>
        </p:spPr>
        <p:txBody>
          <a:bodyPr wrap="square" lIns="0" tIns="0" rIns="0" bIns="0" rtlCol="0" anchor="ctr"/>
          <a:lstStyle/>
          <a:p>
            <a:pPr marL="0" indent="0">
              <a:buNone/>
            </a:pPr>
            <a:r>
              <a:rPr lang="en-US" sz="900">
                <a:solidFill>
                  <a:srgbClr val="8FA3B8"/>
                </a:solidFill>
                <a:latin typeface="Calibri" pitchFamily="34" charset="0"/>
                <a:ea typeface="Calibri" pitchFamily="34" charset="-122"/>
                <a:cs typeface="Calibri" pitchFamily="34" charset="-120"/>
              </a:rPr>
              <a:t>FHNW  ·  MSc Medical Informatics  ·  Clinical Decision Support Systems 2026</a:t>
            </a:r>
            <a:endParaRPr lang="en-US" sz="900"/>
          </a:p>
        </p:txBody>
      </p:sp>
      <p:pic>
        <p:nvPicPr>
          <p:cNvPr id="50" name="Grafik 49">
            <a:extLst>
              <a:ext uri="{FF2B5EF4-FFF2-40B4-BE49-F238E27FC236}">
                <a16:creationId xmlns:a16="http://schemas.microsoft.com/office/drawing/2014/main" id="{F8A65A0B-BBCB-D930-126A-24EA9E900F5C}"/>
              </a:ext>
            </a:extLst>
          </p:cNvPr>
          <p:cNvPicPr>
            <a:picLocks noChangeAspect="1"/>
          </p:cNvPicPr>
          <p:nvPr/>
        </p:nvPicPr>
        <p:blipFill>
          <a:blip r:embed="rId3">
            <a:duotone>
              <a:schemeClr val="accent3">
                <a:shade val="45000"/>
                <a:satMod val="135000"/>
              </a:schemeClr>
              <a:prstClr val="white"/>
            </a:duotone>
          </a:blip>
          <a:stretch>
            <a:fillRect/>
          </a:stretch>
        </p:blipFill>
        <p:spPr>
          <a:xfrm>
            <a:off x="57709" y="47504"/>
            <a:ext cx="1012490" cy="23624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7680960" cy="219456"/>
          </a:xfrm>
          <a:prstGeom prst="rect">
            <a:avLst/>
          </a:prstGeom>
          <a:noFill/>
          <a:ln/>
        </p:spPr>
        <p:txBody>
          <a:bodyPr wrap="square" lIns="0" tIns="0" rIns="0" bIns="0" rtlCol="0" anchor="ctr"/>
          <a:lstStyle/>
          <a:p>
            <a:pPr marL="0" indent="0">
              <a:buNone/>
            </a:pPr>
            <a:r>
              <a:rPr lang="en-US" sz="1050" b="1" kern="0" spc="160" dirty="0">
                <a:solidFill>
                  <a:srgbClr val="5D7186"/>
                </a:solidFill>
                <a:latin typeface="Calibri" pitchFamily="34" charset="0"/>
                <a:ea typeface="Calibri" pitchFamily="34" charset="-122"/>
                <a:cs typeface="Calibri" pitchFamily="34" charset="-120"/>
              </a:rPr>
              <a:t>L3 · ARCHITECTURE DECISION</a:t>
            </a:r>
            <a:endParaRPr lang="en-US" sz="1050" dirty="0"/>
          </a:p>
        </p:txBody>
      </p:sp>
      <p:sp>
        <p:nvSpPr>
          <p:cNvPr id="3" name="Text 1"/>
          <p:cNvSpPr/>
          <p:nvPr/>
        </p:nvSpPr>
        <p:spPr>
          <a:xfrm>
            <a:off x="566928" y="640080"/>
            <a:ext cx="8412480" cy="658368"/>
          </a:xfrm>
          <a:prstGeom prst="rect">
            <a:avLst/>
          </a:prstGeom>
          <a:noFill/>
          <a:ln/>
        </p:spPr>
        <p:txBody>
          <a:bodyPr wrap="square" lIns="0" tIns="0" rIns="0" bIns="0" rtlCol="0" anchor="t"/>
          <a:lstStyle/>
          <a:p>
            <a:pPr marL="0" indent="0">
              <a:buNone/>
            </a:pPr>
            <a:r>
              <a:rPr lang="en-US" sz="2700" b="1" dirty="0">
                <a:solidFill>
                  <a:srgbClr val="12202E"/>
                </a:solidFill>
                <a:latin typeface="Cambria" pitchFamily="34" charset="0"/>
                <a:ea typeface="Cambria" pitchFamily="34" charset="-122"/>
                <a:cs typeface="Cambria" pitchFamily="34" charset="-120"/>
              </a:rPr>
              <a:t>Author in readable JSON, speak standards at the interface</a:t>
            </a:r>
            <a:endParaRPr lang="en-US" sz="2700" dirty="0"/>
          </a:p>
        </p:txBody>
      </p:sp>
      <p:sp>
        <p:nvSpPr>
          <p:cNvPr id="4" name="Shape 2"/>
          <p:cNvSpPr/>
          <p:nvPr/>
        </p:nvSpPr>
        <p:spPr>
          <a:xfrm>
            <a:off x="9290304" y="475488"/>
            <a:ext cx="475488" cy="274320"/>
          </a:xfrm>
          <a:prstGeom prst="roundRect">
            <a:avLst>
              <a:gd name="adj" fmla="val 46667"/>
            </a:avLst>
          </a:prstGeom>
          <a:solidFill>
            <a:srgbClr val="F5F7FA"/>
          </a:solidFill>
          <a:ln w="12700">
            <a:solidFill>
              <a:srgbClr val="DDE5EE"/>
            </a:solidFill>
            <a:prstDash val="solid"/>
          </a:ln>
        </p:spPr>
        <p:txBody>
          <a:bodyPr/>
          <a:lstStyle/>
          <a:p>
            <a:endParaRPr lang="de-CH"/>
          </a:p>
        </p:txBody>
      </p:sp>
      <p:sp>
        <p:nvSpPr>
          <p:cNvPr id="5" name="Text 3"/>
          <p:cNvSpPr/>
          <p:nvPr/>
        </p:nvSpPr>
        <p:spPr>
          <a:xfrm>
            <a:off x="9290304" y="475488"/>
            <a:ext cx="475488" cy="274320"/>
          </a:xfrm>
          <a:prstGeom prst="rect">
            <a:avLst/>
          </a:prstGeom>
          <a:noFill/>
          <a:ln/>
        </p:spPr>
        <p:txBody>
          <a:bodyPr wrap="square" lIns="0" tIns="0" rIns="0" bIns="0" rtlCol="0" anchor="ctr"/>
          <a:lstStyle/>
          <a:p>
            <a:pPr marL="0" indent="0" algn="ctr">
              <a:buNone/>
            </a:pPr>
            <a:r>
              <a:rPr lang="en-US" sz="1050" b="1" dirty="0">
                <a:solidFill>
                  <a:srgbClr val="5D7186"/>
                </a:solidFill>
                <a:latin typeface="Calibri" pitchFamily="34" charset="0"/>
                <a:ea typeface="Calibri" pitchFamily="34" charset="-122"/>
                <a:cs typeface="Calibri" pitchFamily="34" charset="-120"/>
              </a:rPr>
              <a:t>L1</a:t>
            </a:r>
            <a:endParaRPr lang="en-US" sz="1050" dirty="0"/>
          </a:p>
        </p:txBody>
      </p:sp>
      <p:sp>
        <p:nvSpPr>
          <p:cNvPr id="6" name="Text 4"/>
          <p:cNvSpPr/>
          <p:nvPr/>
        </p:nvSpPr>
        <p:spPr>
          <a:xfrm>
            <a:off x="9765792" y="475488"/>
            <a:ext cx="146304" cy="274320"/>
          </a:xfrm>
          <a:prstGeom prst="rect">
            <a:avLst/>
          </a:prstGeom>
          <a:noFill/>
          <a:ln/>
        </p:spPr>
        <p:txBody>
          <a:bodyPr wrap="square" lIns="0" tIns="0" rIns="0" bIns="0" rtlCol="0" anchor="ctr"/>
          <a:lstStyle/>
          <a:p>
            <a:pPr marL="0" indent="0" algn="ctr">
              <a:buNone/>
            </a:pPr>
            <a:r>
              <a:rPr lang="en-US" sz="1100" dirty="0">
                <a:solidFill>
                  <a:srgbClr val="DDE5EE"/>
                </a:solidFill>
                <a:latin typeface="Calibri" pitchFamily="34" charset="0"/>
                <a:ea typeface="Calibri" pitchFamily="34" charset="-122"/>
                <a:cs typeface="Calibri" pitchFamily="34" charset="-120"/>
              </a:rPr>
              <a:t>›</a:t>
            </a:r>
            <a:endParaRPr lang="en-US" sz="1100" dirty="0"/>
          </a:p>
        </p:txBody>
      </p:sp>
      <p:sp>
        <p:nvSpPr>
          <p:cNvPr id="7" name="Shape 5"/>
          <p:cNvSpPr/>
          <p:nvPr/>
        </p:nvSpPr>
        <p:spPr>
          <a:xfrm>
            <a:off x="9912096" y="475488"/>
            <a:ext cx="475488" cy="274320"/>
          </a:xfrm>
          <a:prstGeom prst="roundRect">
            <a:avLst>
              <a:gd name="adj" fmla="val 46667"/>
            </a:avLst>
          </a:prstGeom>
          <a:solidFill>
            <a:srgbClr val="F5F7FA"/>
          </a:solidFill>
          <a:ln w="12700">
            <a:solidFill>
              <a:srgbClr val="DDE5EE"/>
            </a:solidFill>
            <a:prstDash val="solid"/>
          </a:ln>
        </p:spPr>
        <p:txBody>
          <a:bodyPr/>
          <a:lstStyle/>
          <a:p>
            <a:endParaRPr lang="de-CH"/>
          </a:p>
        </p:txBody>
      </p:sp>
      <p:sp>
        <p:nvSpPr>
          <p:cNvPr id="8" name="Text 6"/>
          <p:cNvSpPr/>
          <p:nvPr/>
        </p:nvSpPr>
        <p:spPr>
          <a:xfrm>
            <a:off x="9912096" y="475488"/>
            <a:ext cx="475488" cy="274320"/>
          </a:xfrm>
          <a:prstGeom prst="rect">
            <a:avLst/>
          </a:prstGeom>
          <a:noFill/>
          <a:ln/>
        </p:spPr>
        <p:txBody>
          <a:bodyPr wrap="square" lIns="0" tIns="0" rIns="0" bIns="0" rtlCol="0" anchor="ctr"/>
          <a:lstStyle/>
          <a:p>
            <a:pPr marL="0" indent="0" algn="ctr">
              <a:buNone/>
            </a:pPr>
            <a:r>
              <a:rPr lang="en-US" sz="1050" b="1" dirty="0">
                <a:solidFill>
                  <a:srgbClr val="5D7186"/>
                </a:solidFill>
                <a:latin typeface="Calibri" pitchFamily="34" charset="0"/>
                <a:ea typeface="Calibri" pitchFamily="34" charset="-122"/>
                <a:cs typeface="Calibri" pitchFamily="34" charset="-120"/>
              </a:rPr>
              <a:t>L2</a:t>
            </a:r>
            <a:endParaRPr lang="en-US" sz="1050" dirty="0"/>
          </a:p>
        </p:txBody>
      </p:sp>
      <p:sp>
        <p:nvSpPr>
          <p:cNvPr id="9" name="Text 7"/>
          <p:cNvSpPr/>
          <p:nvPr/>
        </p:nvSpPr>
        <p:spPr>
          <a:xfrm>
            <a:off x="10387584" y="475488"/>
            <a:ext cx="146304" cy="274320"/>
          </a:xfrm>
          <a:prstGeom prst="rect">
            <a:avLst/>
          </a:prstGeom>
          <a:noFill/>
          <a:ln/>
        </p:spPr>
        <p:txBody>
          <a:bodyPr wrap="square" lIns="0" tIns="0" rIns="0" bIns="0" rtlCol="0" anchor="ctr"/>
          <a:lstStyle/>
          <a:p>
            <a:pPr marL="0" indent="0" algn="ctr">
              <a:buNone/>
            </a:pPr>
            <a:r>
              <a:rPr lang="en-US" sz="1100" dirty="0">
                <a:solidFill>
                  <a:srgbClr val="DDE5EE"/>
                </a:solidFill>
                <a:latin typeface="Calibri" pitchFamily="34" charset="0"/>
                <a:ea typeface="Calibri" pitchFamily="34" charset="-122"/>
                <a:cs typeface="Calibri" pitchFamily="34" charset="-120"/>
              </a:rPr>
              <a:t>›</a:t>
            </a:r>
            <a:endParaRPr lang="en-US" sz="1100" dirty="0"/>
          </a:p>
        </p:txBody>
      </p:sp>
      <p:sp>
        <p:nvSpPr>
          <p:cNvPr id="10" name="Shape 8"/>
          <p:cNvSpPr/>
          <p:nvPr/>
        </p:nvSpPr>
        <p:spPr>
          <a:xfrm>
            <a:off x="10533888" y="475488"/>
            <a:ext cx="475488" cy="274320"/>
          </a:xfrm>
          <a:prstGeom prst="roundRect">
            <a:avLst>
              <a:gd name="adj" fmla="val 46667"/>
            </a:avLst>
          </a:prstGeom>
          <a:solidFill>
            <a:srgbClr val="12202E"/>
          </a:solidFill>
          <a:ln w="12700">
            <a:solidFill>
              <a:srgbClr val="12202E"/>
            </a:solidFill>
            <a:prstDash val="solid"/>
          </a:ln>
        </p:spPr>
        <p:txBody>
          <a:bodyPr/>
          <a:lstStyle/>
          <a:p>
            <a:endParaRPr lang="de-CH"/>
          </a:p>
        </p:txBody>
      </p:sp>
      <p:sp>
        <p:nvSpPr>
          <p:cNvPr id="11" name="Text 9"/>
          <p:cNvSpPr/>
          <p:nvPr/>
        </p:nvSpPr>
        <p:spPr>
          <a:xfrm>
            <a:off x="10533888" y="475488"/>
            <a:ext cx="475488"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L3</a:t>
            </a:r>
            <a:endParaRPr lang="en-US" sz="1050" dirty="0"/>
          </a:p>
        </p:txBody>
      </p:sp>
      <p:sp>
        <p:nvSpPr>
          <p:cNvPr id="12" name="Text 10"/>
          <p:cNvSpPr/>
          <p:nvPr/>
        </p:nvSpPr>
        <p:spPr>
          <a:xfrm>
            <a:off x="11009376" y="475488"/>
            <a:ext cx="146304" cy="274320"/>
          </a:xfrm>
          <a:prstGeom prst="rect">
            <a:avLst/>
          </a:prstGeom>
          <a:noFill/>
          <a:ln/>
        </p:spPr>
        <p:txBody>
          <a:bodyPr wrap="square" lIns="0" tIns="0" rIns="0" bIns="0" rtlCol="0" anchor="ctr"/>
          <a:lstStyle/>
          <a:p>
            <a:pPr marL="0" indent="0" algn="ctr">
              <a:buNone/>
            </a:pPr>
            <a:r>
              <a:rPr lang="en-US" sz="1100" dirty="0">
                <a:solidFill>
                  <a:srgbClr val="DDE5EE"/>
                </a:solidFill>
                <a:latin typeface="Calibri" pitchFamily="34" charset="0"/>
                <a:ea typeface="Calibri" pitchFamily="34" charset="-122"/>
                <a:cs typeface="Calibri" pitchFamily="34" charset="-120"/>
              </a:rPr>
              <a:t>›</a:t>
            </a:r>
            <a:endParaRPr lang="en-US" sz="1100" dirty="0"/>
          </a:p>
        </p:txBody>
      </p:sp>
      <p:sp>
        <p:nvSpPr>
          <p:cNvPr id="13" name="Shape 11"/>
          <p:cNvSpPr/>
          <p:nvPr/>
        </p:nvSpPr>
        <p:spPr>
          <a:xfrm>
            <a:off x="11155680" y="475488"/>
            <a:ext cx="475488" cy="274320"/>
          </a:xfrm>
          <a:prstGeom prst="roundRect">
            <a:avLst>
              <a:gd name="adj" fmla="val 46667"/>
            </a:avLst>
          </a:prstGeom>
          <a:solidFill>
            <a:srgbClr val="F5F7FA"/>
          </a:solidFill>
          <a:ln w="12700">
            <a:solidFill>
              <a:srgbClr val="DDE5EE"/>
            </a:solidFill>
            <a:prstDash val="solid"/>
          </a:ln>
        </p:spPr>
        <p:txBody>
          <a:bodyPr/>
          <a:lstStyle/>
          <a:p>
            <a:endParaRPr lang="de-CH"/>
          </a:p>
        </p:txBody>
      </p:sp>
      <p:sp>
        <p:nvSpPr>
          <p:cNvPr id="14" name="Text 12"/>
          <p:cNvSpPr/>
          <p:nvPr/>
        </p:nvSpPr>
        <p:spPr>
          <a:xfrm>
            <a:off x="11155680" y="475488"/>
            <a:ext cx="475488" cy="274320"/>
          </a:xfrm>
          <a:prstGeom prst="rect">
            <a:avLst/>
          </a:prstGeom>
          <a:noFill/>
          <a:ln/>
        </p:spPr>
        <p:txBody>
          <a:bodyPr wrap="square" lIns="0" tIns="0" rIns="0" bIns="0" rtlCol="0" anchor="ctr"/>
          <a:lstStyle/>
          <a:p>
            <a:pPr marL="0" indent="0" algn="ctr">
              <a:buNone/>
            </a:pPr>
            <a:r>
              <a:rPr lang="en-US" sz="1050" b="1" dirty="0">
                <a:solidFill>
                  <a:srgbClr val="5D7186"/>
                </a:solidFill>
                <a:latin typeface="Calibri" pitchFamily="34" charset="0"/>
                <a:ea typeface="Calibri" pitchFamily="34" charset="-122"/>
                <a:cs typeface="Calibri" pitchFamily="34" charset="-120"/>
              </a:rPr>
              <a:t>L4</a:t>
            </a:r>
            <a:endParaRPr lang="en-US" sz="1050" dirty="0"/>
          </a:p>
        </p:txBody>
      </p:sp>
      <p:sp>
        <p:nvSpPr>
          <p:cNvPr id="15" name="Shape 13"/>
          <p:cNvSpPr/>
          <p:nvPr/>
        </p:nvSpPr>
        <p:spPr>
          <a:xfrm>
            <a:off x="566928" y="1645920"/>
            <a:ext cx="11064240" cy="749808"/>
          </a:xfrm>
          <a:prstGeom prst="roundRect">
            <a:avLst>
              <a:gd name="adj" fmla="val 10976"/>
            </a:avLst>
          </a:prstGeom>
          <a:solidFill>
            <a:srgbClr val="FFFFFF"/>
          </a:solidFill>
          <a:ln w="12700">
            <a:solidFill>
              <a:srgbClr val="DDE5EE"/>
            </a:solidFill>
            <a:prstDash val="solid"/>
          </a:ln>
        </p:spPr>
        <p:txBody>
          <a:bodyPr/>
          <a:lstStyle/>
          <a:p>
            <a:endParaRPr lang="de-CH"/>
          </a:p>
        </p:txBody>
      </p:sp>
      <p:sp>
        <p:nvSpPr>
          <p:cNvPr id="16" name="Text 14"/>
          <p:cNvSpPr/>
          <p:nvPr/>
        </p:nvSpPr>
        <p:spPr>
          <a:xfrm>
            <a:off x="804672" y="1645920"/>
            <a:ext cx="2651760" cy="749808"/>
          </a:xfrm>
          <a:prstGeom prst="rect">
            <a:avLst/>
          </a:prstGeom>
          <a:noFill/>
          <a:ln/>
        </p:spPr>
        <p:txBody>
          <a:bodyPr wrap="square" lIns="0" tIns="0" rIns="0" bIns="0" rtlCol="0" anchor="ctr"/>
          <a:lstStyle/>
          <a:p>
            <a:pPr marL="0" indent="0">
              <a:buNone/>
            </a:pPr>
            <a:r>
              <a:rPr lang="en-US" sz="1200" b="1" dirty="0">
                <a:solidFill>
                  <a:srgbClr val="12202E"/>
                </a:solidFill>
                <a:latin typeface="Calibri" pitchFamily="34" charset="0"/>
                <a:ea typeface="Calibri" pitchFamily="34" charset="-122"/>
                <a:cs typeface="Calibri" pitchFamily="34" charset="-120"/>
              </a:rPr>
              <a:t>XLSForm / ODK</a:t>
            </a:r>
            <a:endParaRPr lang="en-US" sz="1200" dirty="0"/>
          </a:p>
        </p:txBody>
      </p:sp>
      <p:sp>
        <p:nvSpPr>
          <p:cNvPr id="17" name="Text 15"/>
          <p:cNvSpPr/>
          <p:nvPr/>
        </p:nvSpPr>
        <p:spPr>
          <a:xfrm>
            <a:off x="3584448" y="1645920"/>
            <a:ext cx="3337560" cy="749808"/>
          </a:xfrm>
          <a:prstGeom prst="rect">
            <a:avLst/>
          </a:prstGeom>
          <a:noFill/>
          <a:ln/>
        </p:spPr>
        <p:txBody>
          <a:bodyPr wrap="square" lIns="0" tIns="0" rIns="0" bIns="0" rtlCol="0" anchor="ctr"/>
          <a:lstStyle/>
          <a:p>
            <a:pPr marL="0" indent="0">
              <a:buNone/>
            </a:pPr>
            <a:r>
              <a:rPr lang="en-US" sz="1050" dirty="0">
                <a:solidFill>
                  <a:srgbClr val="5D7186"/>
                </a:solidFill>
                <a:latin typeface="Calibri" pitchFamily="34" charset="0"/>
                <a:ea typeface="Calibri" pitchFamily="34" charset="-122"/>
                <a:cs typeface="Calibri" pitchFamily="34" charset="-120"/>
              </a:rPr>
              <a:t>Established, executable by existing engines</a:t>
            </a:r>
            <a:endParaRPr lang="en-US" sz="1050" dirty="0"/>
          </a:p>
        </p:txBody>
      </p:sp>
      <p:sp>
        <p:nvSpPr>
          <p:cNvPr id="18" name="Text 16"/>
          <p:cNvSpPr/>
          <p:nvPr/>
        </p:nvSpPr>
        <p:spPr>
          <a:xfrm>
            <a:off x="7470648" y="1645920"/>
            <a:ext cx="3657600" cy="749808"/>
          </a:xfrm>
          <a:prstGeom prst="rect">
            <a:avLst/>
          </a:prstGeom>
          <a:noFill/>
          <a:ln/>
        </p:spPr>
        <p:txBody>
          <a:bodyPr wrap="square" lIns="0" tIns="0" rIns="0" bIns="0" rtlCol="0" anchor="ctr"/>
          <a:lstStyle/>
          <a:p>
            <a:pPr marL="0" indent="0">
              <a:buNone/>
            </a:pPr>
            <a:r>
              <a:rPr lang="en-US" sz="1050" dirty="0">
                <a:solidFill>
                  <a:srgbClr val="5D7186"/>
                </a:solidFill>
                <a:latin typeface="Calibri" pitchFamily="34" charset="0"/>
                <a:ea typeface="Calibri" pitchFamily="34" charset="-122"/>
                <a:cs typeface="Calibri" pitchFamily="34" charset="-120"/>
              </a:rPr>
              <a:t>Standard widgets cannot carry our image cards — the L4 would dictate the UX</a:t>
            </a:r>
            <a:endParaRPr lang="en-US" sz="1050" dirty="0"/>
          </a:p>
        </p:txBody>
      </p:sp>
      <p:sp>
        <p:nvSpPr>
          <p:cNvPr id="19" name="Shape 17"/>
          <p:cNvSpPr/>
          <p:nvPr/>
        </p:nvSpPr>
        <p:spPr>
          <a:xfrm>
            <a:off x="566928" y="2505456"/>
            <a:ext cx="11064240" cy="749808"/>
          </a:xfrm>
          <a:prstGeom prst="roundRect">
            <a:avLst>
              <a:gd name="adj" fmla="val 10976"/>
            </a:avLst>
          </a:prstGeom>
          <a:solidFill>
            <a:srgbClr val="FFFFFF"/>
          </a:solidFill>
          <a:ln w="12700">
            <a:solidFill>
              <a:srgbClr val="DDE5EE"/>
            </a:solidFill>
            <a:prstDash val="solid"/>
          </a:ln>
        </p:spPr>
        <p:txBody>
          <a:bodyPr/>
          <a:lstStyle/>
          <a:p>
            <a:endParaRPr lang="de-CH"/>
          </a:p>
        </p:txBody>
      </p:sp>
      <p:sp>
        <p:nvSpPr>
          <p:cNvPr id="20" name="Text 18"/>
          <p:cNvSpPr/>
          <p:nvPr/>
        </p:nvSpPr>
        <p:spPr>
          <a:xfrm>
            <a:off x="804672" y="2505456"/>
            <a:ext cx="2651760" cy="749808"/>
          </a:xfrm>
          <a:prstGeom prst="rect">
            <a:avLst/>
          </a:prstGeom>
          <a:noFill/>
          <a:ln/>
        </p:spPr>
        <p:txBody>
          <a:bodyPr wrap="square" lIns="0" tIns="0" rIns="0" bIns="0" rtlCol="0" anchor="ctr"/>
          <a:lstStyle/>
          <a:p>
            <a:pPr marL="0" indent="0">
              <a:buNone/>
            </a:pPr>
            <a:r>
              <a:rPr lang="en-US" sz="1200" b="1" dirty="0">
                <a:solidFill>
                  <a:srgbClr val="12202E"/>
                </a:solidFill>
                <a:latin typeface="Calibri" pitchFamily="34" charset="0"/>
                <a:ea typeface="Calibri" pitchFamily="34" charset="-122"/>
                <a:cs typeface="Calibri" pitchFamily="34" charset="-120"/>
              </a:rPr>
              <a:t>FHIR Questionnaire + CQL</a:t>
            </a:r>
            <a:endParaRPr lang="en-US" sz="1200" dirty="0"/>
          </a:p>
        </p:txBody>
      </p:sp>
      <p:sp>
        <p:nvSpPr>
          <p:cNvPr id="21" name="Text 19"/>
          <p:cNvSpPr/>
          <p:nvPr/>
        </p:nvSpPr>
        <p:spPr>
          <a:xfrm>
            <a:off x="3584448" y="2505456"/>
            <a:ext cx="3337560" cy="749808"/>
          </a:xfrm>
          <a:prstGeom prst="rect">
            <a:avLst/>
          </a:prstGeom>
          <a:noFill/>
          <a:ln/>
        </p:spPr>
        <p:txBody>
          <a:bodyPr wrap="square" lIns="0" tIns="0" rIns="0" bIns="0" rtlCol="0" anchor="ctr"/>
          <a:lstStyle/>
          <a:p>
            <a:pPr marL="0" indent="0">
              <a:buNone/>
            </a:pPr>
            <a:r>
              <a:rPr lang="en-US" sz="1050" dirty="0">
                <a:solidFill>
                  <a:srgbClr val="5D7186"/>
                </a:solidFill>
                <a:latin typeface="Calibri" pitchFamily="34" charset="0"/>
                <a:ea typeface="Calibri" pitchFamily="34" charset="-122"/>
                <a:cs typeface="Calibri" pitchFamily="34" charset="-120"/>
              </a:rPr>
              <a:t>Full standard, WHO SMART compliant</a:t>
            </a:r>
            <a:endParaRPr lang="en-US" sz="1050" dirty="0"/>
          </a:p>
        </p:txBody>
      </p:sp>
      <p:sp>
        <p:nvSpPr>
          <p:cNvPr id="22" name="Text 20"/>
          <p:cNvSpPr/>
          <p:nvPr/>
        </p:nvSpPr>
        <p:spPr>
          <a:xfrm>
            <a:off x="7470648" y="2505456"/>
            <a:ext cx="3657600" cy="749808"/>
          </a:xfrm>
          <a:prstGeom prst="rect">
            <a:avLst/>
          </a:prstGeom>
          <a:noFill/>
          <a:ln/>
        </p:spPr>
        <p:txBody>
          <a:bodyPr wrap="square" lIns="0" tIns="0" rIns="0" bIns="0" rtlCol="0" anchor="ctr"/>
          <a:lstStyle/>
          <a:p>
            <a:pPr marL="0" indent="0">
              <a:buNone/>
            </a:pPr>
            <a:r>
              <a:rPr lang="en-US" sz="1050" dirty="0">
                <a:solidFill>
                  <a:srgbClr val="5D7186"/>
                </a:solidFill>
                <a:latin typeface="Calibri" pitchFamily="34" charset="0"/>
                <a:ea typeface="Calibri" pitchFamily="34" charset="-122"/>
                <a:cs typeface="Calibri" pitchFamily="34" charset="-120"/>
              </a:rPr>
              <a:t>“FHIR resources are not human readable” — not reviewable by our clinical lead in six days</a:t>
            </a:r>
            <a:endParaRPr lang="en-US" sz="1050" dirty="0"/>
          </a:p>
        </p:txBody>
      </p:sp>
      <p:sp>
        <p:nvSpPr>
          <p:cNvPr id="23" name="Shape 21"/>
          <p:cNvSpPr/>
          <p:nvPr/>
        </p:nvSpPr>
        <p:spPr>
          <a:xfrm>
            <a:off x="566928" y="3364992"/>
            <a:ext cx="11064240" cy="749808"/>
          </a:xfrm>
          <a:prstGeom prst="roundRect">
            <a:avLst>
              <a:gd name="adj" fmla="val 10976"/>
            </a:avLst>
          </a:prstGeom>
          <a:solidFill>
            <a:srgbClr val="FFFFFF"/>
          </a:solidFill>
          <a:ln w="12700">
            <a:solidFill>
              <a:srgbClr val="DDE5EE"/>
            </a:solidFill>
            <a:prstDash val="solid"/>
          </a:ln>
        </p:spPr>
        <p:txBody>
          <a:bodyPr/>
          <a:lstStyle/>
          <a:p>
            <a:endParaRPr lang="de-CH"/>
          </a:p>
        </p:txBody>
      </p:sp>
      <p:sp>
        <p:nvSpPr>
          <p:cNvPr id="24" name="Text 22"/>
          <p:cNvSpPr/>
          <p:nvPr/>
        </p:nvSpPr>
        <p:spPr>
          <a:xfrm>
            <a:off x="804672" y="3364992"/>
            <a:ext cx="2651760" cy="749808"/>
          </a:xfrm>
          <a:prstGeom prst="rect">
            <a:avLst/>
          </a:prstGeom>
          <a:noFill/>
          <a:ln/>
        </p:spPr>
        <p:txBody>
          <a:bodyPr wrap="square" lIns="0" tIns="0" rIns="0" bIns="0" rtlCol="0" anchor="ctr"/>
          <a:lstStyle/>
          <a:p>
            <a:pPr marL="0" indent="0">
              <a:buNone/>
            </a:pPr>
            <a:r>
              <a:rPr lang="en-US" sz="1200" b="1" dirty="0">
                <a:solidFill>
                  <a:srgbClr val="12202E"/>
                </a:solidFill>
                <a:latin typeface="Calibri" pitchFamily="34" charset="0"/>
                <a:ea typeface="Calibri" pitchFamily="34" charset="-122"/>
                <a:cs typeface="Calibri" pitchFamily="34" charset="-120"/>
              </a:rPr>
              <a:t>Hardcoding in the app</a:t>
            </a:r>
            <a:endParaRPr lang="en-US" sz="1200" dirty="0"/>
          </a:p>
        </p:txBody>
      </p:sp>
      <p:sp>
        <p:nvSpPr>
          <p:cNvPr id="25" name="Text 23"/>
          <p:cNvSpPr/>
          <p:nvPr/>
        </p:nvSpPr>
        <p:spPr>
          <a:xfrm>
            <a:off x="3584448" y="3364992"/>
            <a:ext cx="3337560" cy="749808"/>
          </a:xfrm>
          <a:prstGeom prst="rect">
            <a:avLst/>
          </a:prstGeom>
          <a:noFill/>
          <a:ln/>
        </p:spPr>
        <p:txBody>
          <a:bodyPr wrap="square" lIns="0" tIns="0" rIns="0" bIns="0" rtlCol="0" anchor="ctr"/>
          <a:lstStyle/>
          <a:p>
            <a:pPr marL="0" indent="0">
              <a:buNone/>
            </a:pPr>
            <a:r>
              <a:rPr lang="en-US" sz="1050" dirty="0">
                <a:solidFill>
                  <a:srgbClr val="5D7186"/>
                </a:solidFill>
                <a:latin typeface="Calibri" pitchFamily="34" charset="0"/>
                <a:ea typeface="Calibri" pitchFamily="34" charset="-122"/>
                <a:cs typeface="Calibri" pitchFamily="34" charset="-120"/>
              </a:rPr>
              <a:t>Fastest to a prototype</a:t>
            </a:r>
            <a:endParaRPr lang="en-US" sz="1050" dirty="0"/>
          </a:p>
        </p:txBody>
      </p:sp>
      <p:sp>
        <p:nvSpPr>
          <p:cNvPr id="26" name="Text 24"/>
          <p:cNvSpPr/>
          <p:nvPr/>
        </p:nvSpPr>
        <p:spPr>
          <a:xfrm>
            <a:off x="7470648" y="3364992"/>
            <a:ext cx="3657600" cy="749808"/>
          </a:xfrm>
          <a:prstGeom prst="rect">
            <a:avLst/>
          </a:prstGeom>
          <a:noFill/>
          <a:ln/>
        </p:spPr>
        <p:txBody>
          <a:bodyPr wrap="square" lIns="0" tIns="0" rIns="0" bIns="0" rtlCol="0" anchor="ctr"/>
          <a:lstStyle/>
          <a:p>
            <a:pPr marL="0" indent="0">
              <a:buNone/>
            </a:pPr>
            <a:r>
              <a:rPr lang="en-US" sz="1050" dirty="0">
                <a:solidFill>
                  <a:srgbClr val="5D7186"/>
                </a:solidFill>
                <a:latin typeface="Calibri" pitchFamily="34" charset="0"/>
                <a:ea typeface="Calibri" pitchFamily="34" charset="-122"/>
                <a:cs typeface="Calibri" pitchFamily="34" charset="-120"/>
              </a:rPr>
              <a:t>Every rule change needs a developer and a rebuild</a:t>
            </a:r>
            <a:endParaRPr lang="en-US" sz="1050" dirty="0"/>
          </a:p>
        </p:txBody>
      </p:sp>
      <p:sp>
        <p:nvSpPr>
          <p:cNvPr id="27" name="Shape 25"/>
          <p:cNvSpPr/>
          <p:nvPr/>
        </p:nvSpPr>
        <p:spPr>
          <a:xfrm>
            <a:off x="566928" y="4224528"/>
            <a:ext cx="11064240" cy="749808"/>
          </a:xfrm>
          <a:prstGeom prst="roundRect">
            <a:avLst>
              <a:gd name="adj" fmla="val 10976"/>
            </a:avLst>
          </a:prstGeom>
          <a:solidFill>
            <a:srgbClr val="E8F6EE"/>
          </a:solidFill>
          <a:ln w="12700">
            <a:solidFill>
              <a:srgbClr val="A8D9BF"/>
            </a:solidFill>
            <a:prstDash val="solid"/>
          </a:ln>
        </p:spPr>
        <p:txBody>
          <a:bodyPr/>
          <a:lstStyle/>
          <a:p>
            <a:endParaRPr lang="de-CH"/>
          </a:p>
        </p:txBody>
      </p:sp>
      <p:sp>
        <p:nvSpPr>
          <p:cNvPr id="28" name="Text 26"/>
          <p:cNvSpPr/>
          <p:nvPr/>
        </p:nvSpPr>
        <p:spPr>
          <a:xfrm>
            <a:off x="804672" y="4224528"/>
            <a:ext cx="2651760" cy="749808"/>
          </a:xfrm>
          <a:prstGeom prst="rect">
            <a:avLst/>
          </a:prstGeom>
          <a:noFill/>
          <a:ln/>
        </p:spPr>
        <p:txBody>
          <a:bodyPr wrap="square" lIns="0" tIns="0" rIns="0" bIns="0" rtlCol="0" anchor="ctr"/>
          <a:lstStyle/>
          <a:p>
            <a:pPr marL="0" indent="0">
              <a:buNone/>
            </a:pPr>
            <a:r>
              <a:rPr lang="en-US" sz="1200" b="1" dirty="0">
                <a:solidFill>
                  <a:srgbClr val="1A7F4B"/>
                </a:solidFill>
                <a:latin typeface="Calibri" pitchFamily="34" charset="0"/>
                <a:ea typeface="Calibri" pitchFamily="34" charset="-122"/>
                <a:cs typeface="Calibri" pitchFamily="34" charset="-120"/>
              </a:rPr>
              <a:t>Custom JSON + FHIR at the edge</a:t>
            </a:r>
            <a:endParaRPr lang="en-US" sz="1200" dirty="0"/>
          </a:p>
        </p:txBody>
      </p:sp>
      <p:sp>
        <p:nvSpPr>
          <p:cNvPr id="29" name="Text 27"/>
          <p:cNvSpPr/>
          <p:nvPr/>
        </p:nvSpPr>
        <p:spPr>
          <a:xfrm>
            <a:off x="3584448" y="4224528"/>
            <a:ext cx="3337560" cy="749808"/>
          </a:xfrm>
          <a:prstGeom prst="rect">
            <a:avLst/>
          </a:prstGeom>
          <a:noFill/>
          <a:ln/>
        </p:spPr>
        <p:txBody>
          <a:bodyPr wrap="square" lIns="0" tIns="0" rIns="0" bIns="0" rtlCol="0" anchor="ctr"/>
          <a:lstStyle/>
          <a:p>
            <a:pPr marL="0" indent="0">
              <a:buNone/>
            </a:pPr>
            <a:r>
              <a:rPr lang="en-US" sz="1050" dirty="0">
                <a:solidFill>
                  <a:srgbClr val="5D7186"/>
                </a:solidFill>
                <a:latin typeface="Calibri" pitchFamily="34" charset="0"/>
                <a:ea typeface="Calibri" pitchFamily="34" charset="-122"/>
                <a:cs typeface="Calibri" pitchFamily="34" charset="-120"/>
              </a:rPr>
              <a:t>Reads like the L2; full control of the UX; standards where they count</a:t>
            </a:r>
            <a:endParaRPr lang="en-US" sz="1050" dirty="0"/>
          </a:p>
        </p:txBody>
      </p:sp>
      <p:sp>
        <p:nvSpPr>
          <p:cNvPr id="30" name="Text 28"/>
          <p:cNvSpPr/>
          <p:nvPr/>
        </p:nvSpPr>
        <p:spPr>
          <a:xfrm>
            <a:off x="7470648" y="4224528"/>
            <a:ext cx="3657600" cy="749808"/>
          </a:xfrm>
          <a:prstGeom prst="rect">
            <a:avLst/>
          </a:prstGeom>
          <a:noFill/>
          <a:ln/>
        </p:spPr>
        <p:txBody>
          <a:bodyPr wrap="square" lIns="0" tIns="0" rIns="0" bIns="0" rtlCol="0" anchor="ctr"/>
          <a:lstStyle/>
          <a:p>
            <a:pPr marL="0" indent="0">
              <a:buNone/>
            </a:pPr>
            <a:r>
              <a:rPr lang="en-US" sz="1050" dirty="0">
                <a:solidFill>
                  <a:srgbClr val="5D7186"/>
                </a:solidFill>
                <a:latin typeface="Calibri" pitchFamily="34" charset="0"/>
                <a:ea typeface="Calibri" pitchFamily="34" charset="-122"/>
                <a:cs typeface="Calibri" pitchFamily="34" charset="-120"/>
              </a:rPr>
              <a:t>No existing engine runs it directly; expression language is not CQL</a:t>
            </a:r>
            <a:endParaRPr lang="en-US" sz="1050" dirty="0"/>
          </a:p>
        </p:txBody>
      </p:sp>
      <p:sp>
        <p:nvSpPr>
          <p:cNvPr id="31" name="Text 29"/>
          <p:cNvSpPr/>
          <p:nvPr/>
        </p:nvSpPr>
        <p:spPr>
          <a:xfrm>
            <a:off x="11173968" y="4224528"/>
            <a:ext cx="365760" cy="749808"/>
          </a:xfrm>
          <a:prstGeom prst="rect">
            <a:avLst/>
          </a:prstGeom>
          <a:noFill/>
          <a:ln/>
        </p:spPr>
        <p:txBody>
          <a:bodyPr wrap="square" lIns="0" tIns="0" rIns="0" bIns="0" rtlCol="0" anchor="ctr"/>
          <a:lstStyle/>
          <a:p>
            <a:pPr marL="0" indent="0" algn="ctr">
              <a:buNone/>
            </a:pPr>
            <a:r>
              <a:rPr lang="en-US" sz="1600" b="1" dirty="0">
                <a:solidFill>
                  <a:srgbClr val="1A7F4B"/>
                </a:solidFill>
                <a:latin typeface="Calibri" pitchFamily="34" charset="0"/>
                <a:ea typeface="Calibri" pitchFamily="34" charset="-122"/>
                <a:cs typeface="Calibri" pitchFamily="34" charset="-120"/>
              </a:rPr>
              <a:t>✓</a:t>
            </a:r>
            <a:endParaRPr lang="en-US" sz="1600" dirty="0"/>
          </a:p>
        </p:txBody>
      </p:sp>
      <p:sp>
        <p:nvSpPr>
          <p:cNvPr id="32" name="Shape 30"/>
          <p:cNvSpPr/>
          <p:nvPr/>
        </p:nvSpPr>
        <p:spPr>
          <a:xfrm>
            <a:off x="566928" y="5120640"/>
            <a:ext cx="11064240" cy="960120"/>
          </a:xfrm>
          <a:prstGeom prst="roundRect">
            <a:avLst>
              <a:gd name="adj" fmla="val 8571"/>
            </a:avLst>
          </a:prstGeom>
          <a:solidFill>
            <a:srgbClr val="12202E"/>
          </a:solidFill>
          <a:ln w="12700">
            <a:solidFill>
              <a:srgbClr val="12202E"/>
            </a:solidFill>
            <a:prstDash val="solid"/>
          </a:ln>
        </p:spPr>
        <p:txBody>
          <a:bodyPr/>
          <a:lstStyle/>
          <a:p>
            <a:endParaRPr lang="de-CH"/>
          </a:p>
        </p:txBody>
      </p:sp>
      <p:sp>
        <p:nvSpPr>
          <p:cNvPr id="33" name="Text 31"/>
          <p:cNvSpPr/>
          <p:nvPr/>
        </p:nvSpPr>
        <p:spPr>
          <a:xfrm>
            <a:off x="859536" y="5120640"/>
            <a:ext cx="10515600" cy="96012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And we can prove it: a check scans the app source for every element id, threshold, code system and endpoint. Any clinical content in the L4 fails the build.</a:t>
            </a:r>
            <a:endParaRPr lang="en-US" sz="1250" dirty="0"/>
          </a:p>
        </p:txBody>
      </p:sp>
      <p:sp>
        <p:nvSpPr>
          <p:cNvPr id="35" name="Text 11">
            <a:extLst>
              <a:ext uri="{FF2B5EF4-FFF2-40B4-BE49-F238E27FC236}">
                <a16:creationId xmlns:a16="http://schemas.microsoft.com/office/drawing/2014/main" id="{A19280E5-9680-01C1-136B-E412207F2EF7}"/>
              </a:ext>
            </a:extLst>
          </p:cNvPr>
          <p:cNvSpPr/>
          <p:nvPr/>
        </p:nvSpPr>
        <p:spPr>
          <a:xfrm>
            <a:off x="57709" y="6568124"/>
            <a:ext cx="8229600" cy="274320"/>
          </a:xfrm>
          <a:prstGeom prst="rect">
            <a:avLst/>
          </a:prstGeom>
          <a:noFill/>
          <a:ln/>
        </p:spPr>
        <p:txBody>
          <a:bodyPr wrap="square" lIns="0" tIns="0" rIns="0" bIns="0" rtlCol="0" anchor="ctr"/>
          <a:lstStyle/>
          <a:p>
            <a:pPr marL="0" indent="0">
              <a:buNone/>
            </a:pPr>
            <a:r>
              <a:rPr lang="en-US" sz="900">
                <a:solidFill>
                  <a:srgbClr val="8FA3B8"/>
                </a:solidFill>
                <a:latin typeface="Calibri" pitchFamily="34" charset="0"/>
                <a:ea typeface="Calibri" pitchFamily="34" charset="-122"/>
                <a:cs typeface="Calibri" pitchFamily="34" charset="-120"/>
              </a:rPr>
              <a:t>FHNW  ·  MSc Medical Informatics  ·  Clinical Decision Support Systems 2026</a:t>
            </a:r>
            <a:endParaRPr lang="en-US" sz="900"/>
          </a:p>
        </p:txBody>
      </p:sp>
      <p:pic>
        <p:nvPicPr>
          <p:cNvPr id="37" name="Grafik 36">
            <a:extLst>
              <a:ext uri="{FF2B5EF4-FFF2-40B4-BE49-F238E27FC236}">
                <a16:creationId xmlns:a16="http://schemas.microsoft.com/office/drawing/2014/main" id="{BFD29B04-3DF1-77B5-2481-493DA708075F}"/>
              </a:ext>
            </a:extLst>
          </p:cNvPr>
          <p:cNvPicPr>
            <a:picLocks noChangeAspect="1"/>
          </p:cNvPicPr>
          <p:nvPr/>
        </p:nvPicPr>
        <p:blipFill>
          <a:blip r:embed="rId3">
            <a:duotone>
              <a:schemeClr val="accent3">
                <a:shade val="45000"/>
                <a:satMod val="135000"/>
              </a:schemeClr>
              <a:prstClr val="white"/>
            </a:duotone>
          </a:blip>
          <a:stretch>
            <a:fillRect/>
          </a:stretch>
        </p:blipFill>
        <p:spPr>
          <a:xfrm>
            <a:off x="57709" y="47504"/>
            <a:ext cx="1012490" cy="23624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202E"/>
        </a:solidFill>
        <a:effectLst/>
      </p:bgPr>
    </p:bg>
    <p:spTree>
      <p:nvGrpSpPr>
        <p:cNvPr id="1" name=""/>
        <p:cNvGrpSpPr/>
        <p:nvPr/>
      </p:nvGrpSpPr>
      <p:grpSpPr>
        <a:xfrm>
          <a:off x="0" y="0"/>
          <a:ext cx="0" cy="0"/>
          <a:chOff x="0" y="0"/>
          <a:chExt cx="0" cy="0"/>
        </a:xfrm>
      </p:grpSpPr>
      <p:sp>
        <p:nvSpPr>
          <p:cNvPr id="2" name="Text 0"/>
          <p:cNvSpPr/>
          <p:nvPr/>
        </p:nvSpPr>
        <p:spPr>
          <a:xfrm>
            <a:off x="566928" y="384048"/>
            <a:ext cx="5486400" cy="274320"/>
          </a:xfrm>
          <a:prstGeom prst="rect">
            <a:avLst/>
          </a:prstGeom>
          <a:noFill/>
          <a:ln/>
        </p:spPr>
        <p:txBody>
          <a:bodyPr wrap="square" lIns="0" tIns="0" rIns="0" bIns="0" rtlCol="0" anchor="ctr"/>
          <a:lstStyle/>
          <a:p>
            <a:pPr marL="0" indent="0">
              <a:buNone/>
            </a:pPr>
            <a:r>
              <a:rPr lang="en-US" sz="1050" b="1" kern="0" spc="160" dirty="0">
                <a:solidFill>
                  <a:srgbClr val="8FA3B8"/>
                </a:solidFill>
                <a:latin typeface="Calibri" pitchFamily="34" charset="0"/>
                <a:ea typeface="Calibri" pitchFamily="34" charset="-122"/>
                <a:cs typeface="Calibri" pitchFamily="34" charset="-120"/>
              </a:rPr>
              <a:t>DEMO</a:t>
            </a:r>
            <a:endParaRPr lang="en-US" sz="1050" dirty="0"/>
          </a:p>
        </p:txBody>
      </p:sp>
      <p:sp>
        <p:nvSpPr>
          <p:cNvPr id="3" name="Text 1"/>
          <p:cNvSpPr/>
          <p:nvPr/>
        </p:nvSpPr>
        <p:spPr>
          <a:xfrm>
            <a:off x="566928" y="640079"/>
            <a:ext cx="10515600" cy="752951"/>
          </a:xfrm>
          <a:prstGeom prst="rect">
            <a:avLst/>
          </a:prstGeom>
          <a:noFill/>
          <a:ln/>
        </p:spPr>
        <p:txBody>
          <a:bodyPr wrap="square" lIns="0" tIns="0" rIns="0" bIns="0" rtlCol="0" anchor="ctr"/>
          <a:lstStyle/>
          <a:p>
            <a:pPr marL="0" indent="0">
              <a:buNone/>
            </a:pPr>
            <a:r>
              <a:rPr lang="en-US" sz="2500" b="1">
                <a:solidFill>
                  <a:srgbClr val="FFFFFF"/>
                </a:solidFill>
                <a:latin typeface="Cambria" pitchFamily="34" charset="0"/>
                <a:ea typeface="Cambria" pitchFamily="34" charset="-122"/>
                <a:cs typeface="Cambria" pitchFamily="34" charset="-120"/>
              </a:rPr>
              <a:t>Short Demo</a:t>
            </a:r>
          </a:p>
        </p:txBody>
      </p:sp>
      <p:sp>
        <p:nvSpPr>
          <p:cNvPr id="23" name="Text 11">
            <a:extLst>
              <a:ext uri="{FF2B5EF4-FFF2-40B4-BE49-F238E27FC236}">
                <a16:creationId xmlns:a16="http://schemas.microsoft.com/office/drawing/2014/main" id="{D56F5EE8-5BF2-E3F5-F6F1-9901C91A1157}"/>
              </a:ext>
            </a:extLst>
          </p:cNvPr>
          <p:cNvSpPr/>
          <p:nvPr/>
        </p:nvSpPr>
        <p:spPr>
          <a:xfrm>
            <a:off x="57709" y="6568124"/>
            <a:ext cx="8229600" cy="274320"/>
          </a:xfrm>
          <a:prstGeom prst="rect">
            <a:avLst/>
          </a:prstGeom>
          <a:noFill/>
          <a:ln/>
        </p:spPr>
        <p:txBody>
          <a:bodyPr wrap="square" lIns="0" tIns="0" rIns="0" bIns="0" rtlCol="0" anchor="ctr"/>
          <a:lstStyle/>
          <a:p>
            <a:pPr marL="0" indent="0">
              <a:buNone/>
            </a:pPr>
            <a:r>
              <a:rPr lang="en-US" sz="900">
                <a:solidFill>
                  <a:srgbClr val="8FA3B8"/>
                </a:solidFill>
                <a:latin typeface="Calibri" pitchFamily="34" charset="0"/>
                <a:ea typeface="Calibri" pitchFamily="34" charset="-122"/>
                <a:cs typeface="Calibri" pitchFamily="34" charset="-120"/>
              </a:rPr>
              <a:t>FHNW  ·  MSc Medical Informatics  ·  Clinical Decision Support Systems 2026</a:t>
            </a:r>
            <a:endParaRPr lang="en-US" sz="900"/>
          </a:p>
        </p:txBody>
      </p:sp>
      <p:pic>
        <p:nvPicPr>
          <p:cNvPr id="25" name="Grafik 24">
            <a:extLst>
              <a:ext uri="{FF2B5EF4-FFF2-40B4-BE49-F238E27FC236}">
                <a16:creationId xmlns:a16="http://schemas.microsoft.com/office/drawing/2014/main" id="{CE7ECD4E-9FA2-8C27-2577-1351C6E3FBE0}"/>
              </a:ext>
            </a:extLst>
          </p:cNvPr>
          <p:cNvPicPr>
            <a:picLocks noChangeAspect="1"/>
          </p:cNvPicPr>
          <p:nvPr/>
        </p:nvPicPr>
        <p:blipFill>
          <a:blip r:embed="rId3">
            <a:duotone>
              <a:schemeClr val="accent3">
                <a:shade val="45000"/>
                <a:satMod val="135000"/>
              </a:schemeClr>
              <a:prstClr val="white"/>
            </a:duotone>
          </a:blip>
          <a:stretch>
            <a:fillRect/>
          </a:stretch>
        </p:blipFill>
        <p:spPr>
          <a:xfrm>
            <a:off x="57709" y="47504"/>
            <a:ext cx="1012490" cy="236248"/>
          </a:xfrm>
          <a:prstGeom prst="rect">
            <a:avLst/>
          </a:prstGeom>
        </p:spPr>
      </p:pic>
      <p:sp>
        <p:nvSpPr>
          <p:cNvPr id="24" name="Shape 11">
            <a:extLst>
              <a:ext uri="{FF2B5EF4-FFF2-40B4-BE49-F238E27FC236}">
                <a16:creationId xmlns:a16="http://schemas.microsoft.com/office/drawing/2014/main" id="{1B926037-B73B-A66E-064C-0E25EDDF84EB}"/>
              </a:ext>
            </a:extLst>
          </p:cNvPr>
          <p:cNvSpPr/>
          <p:nvPr/>
        </p:nvSpPr>
        <p:spPr>
          <a:xfrm>
            <a:off x="566933" y="1794112"/>
            <a:ext cx="2680901" cy="2661253"/>
          </a:xfrm>
          <a:prstGeom prst="roundRect">
            <a:avLst>
              <a:gd name="adj" fmla="val 2927"/>
            </a:avLst>
          </a:prstGeom>
          <a:solidFill>
            <a:srgbClr val="FFFFFF"/>
          </a:solidFill>
          <a:ln w="127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C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7" name="Image 0">
            <a:extLst>
              <a:ext uri="{FF2B5EF4-FFF2-40B4-BE49-F238E27FC236}">
                <a16:creationId xmlns:a16="http://schemas.microsoft.com/office/drawing/2014/main" id="{25C6BF4A-FE0F-F5B5-77A5-0D78B3664995}"/>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861178" y="1936976"/>
            <a:ext cx="2092410" cy="2092410"/>
          </a:xfrm>
          <a:prstGeom prst="rect">
            <a:avLst/>
          </a:prstGeom>
        </p:spPr>
      </p:pic>
      <p:sp>
        <p:nvSpPr>
          <p:cNvPr id="29" name="Text 12">
            <a:extLst>
              <a:ext uri="{FF2B5EF4-FFF2-40B4-BE49-F238E27FC236}">
                <a16:creationId xmlns:a16="http://schemas.microsoft.com/office/drawing/2014/main" id="{53E56DB5-F336-3FFB-80BA-9B702A160CEC}"/>
              </a:ext>
            </a:extLst>
          </p:cNvPr>
          <p:cNvSpPr/>
          <p:nvPr/>
        </p:nvSpPr>
        <p:spPr>
          <a:xfrm>
            <a:off x="566928" y="3975461"/>
            <a:ext cx="2680906" cy="1938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a:ln>
                  <a:noFill/>
                </a:ln>
                <a:solidFill>
                  <a:srgbClr val="12202E"/>
                </a:solidFill>
                <a:effectLst/>
                <a:uLnTx/>
                <a:uFillTx/>
                <a:latin typeface="Calibri" pitchFamily="34" charset="0"/>
                <a:ea typeface="Calibri" pitchFamily="34" charset="-122"/>
                <a:cs typeface="Calibri" pitchFamily="34" charset="-120"/>
              </a:rPr>
              <a:t>Scan for the </a:t>
            </a:r>
            <a:r>
              <a:rPr lang="en-US" sz="1150" b="1">
                <a:solidFill>
                  <a:srgbClr val="12202E"/>
                </a:solidFill>
                <a:latin typeface="Calibri" pitchFamily="34" charset="0"/>
                <a:ea typeface="Calibri" pitchFamily="34" charset="-122"/>
                <a:cs typeface="Calibri" pitchFamily="34" charset="-120"/>
              </a:rPr>
              <a:t>Demo</a:t>
            </a:r>
            <a:endParaRPr kumimoji="0" lang="en-US" sz="11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13">
            <a:extLst>
              <a:ext uri="{FF2B5EF4-FFF2-40B4-BE49-F238E27FC236}">
                <a16:creationId xmlns:a16="http://schemas.microsoft.com/office/drawing/2014/main" id="{9AABF297-19F9-E811-8288-17A2604F801E}"/>
              </a:ext>
            </a:extLst>
          </p:cNvPr>
          <p:cNvSpPr/>
          <p:nvPr/>
        </p:nvSpPr>
        <p:spPr>
          <a:xfrm>
            <a:off x="566928" y="4175575"/>
            <a:ext cx="2680906" cy="1938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5D7186"/>
                </a:solidFill>
                <a:effectLst/>
                <a:uLnTx/>
                <a:uFillTx/>
                <a:latin typeface="Calibri" pitchFamily="34" charset="0"/>
                <a:ea typeface="Calibri" pitchFamily="34" charset="-122"/>
                <a:cs typeface="Calibri" pitchFamily="34" charset="-120"/>
              </a:rPr>
              <a:t>Study prototype — not for clinical use.</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7680960" cy="219456"/>
          </a:xfrm>
          <a:prstGeom prst="rect">
            <a:avLst/>
          </a:prstGeom>
          <a:noFill/>
          <a:ln/>
        </p:spPr>
        <p:txBody>
          <a:bodyPr wrap="square" lIns="0" tIns="0" rIns="0" bIns="0" rtlCol="0" anchor="ctr"/>
          <a:lstStyle/>
          <a:p>
            <a:pPr marL="0" indent="0">
              <a:buNone/>
            </a:pPr>
            <a:r>
              <a:rPr lang="en-US" sz="1050" b="1" kern="0" spc="160" dirty="0">
                <a:solidFill>
                  <a:srgbClr val="5D7186"/>
                </a:solidFill>
                <a:latin typeface="Calibri" pitchFamily="34" charset="0"/>
                <a:ea typeface="Calibri" pitchFamily="34" charset="-122"/>
                <a:cs typeface="Calibri" pitchFamily="34" charset="-120"/>
              </a:rPr>
              <a:t>QUALITY ASSURANCE</a:t>
            </a:r>
            <a:endParaRPr lang="en-US" sz="1050" dirty="0"/>
          </a:p>
        </p:txBody>
      </p:sp>
      <p:sp>
        <p:nvSpPr>
          <p:cNvPr id="3" name="Text 1"/>
          <p:cNvSpPr/>
          <p:nvPr/>
        </p:nvSpPr>
        <p:spPr>
          <a:xfrm>
            <a:off x="566928" y="640080"/>
            <a:ext cx="10607040" cy="658368"/>
          </a:xfrm>
          <a:prstGeom prst="rect">
            <a:avLst/>
          </a:prstGeom>
          <a:noFill/>
          <a:ln/>
        </p:spPr>
        <p:txBody>
          <a:bodyPr wrap="square" lIns="0" tIns="0" rIns="0" bIns="0" rtlCol="0" anchor="t"/>
          <a:lstStyle/>
          <a:p>
            <a:pPr marL="0" indent="0">
              <a:buNone/>
            </a:pPr>
            <a:r>
              <a:rPr lang="en-US" sz="2700" b="1" dirty="0">
                <a:solidFill>
                  <a:srgbClr val="12202E"/>
                </a:solidFill>
                <a:latin typeface="Cambria" pitchFamily="34" charset="0"/>
                <a:ea typeface="Cambria" pitchFamily="34" charset="-122"/>
                <a:cs typeface="Cambria" pitchFamily="34" charset="-120"/>
              </a:rPr>
              <a:t>Two defects were invisible until the rules actually ran</a:t>
            </a:r>
            <a:endParaRPr lang="en-US" sz="2700" dirty="0"/>
          </a:p>
        </p:txBody>
      </p:sp>
      <p:sp>
        <p:nvSpPr>
          <p:cNvPr id="4" name="Shape 2"/>
          <p:cNvSpPr/>
          <p:nvPr/>
        </p:nvSpPr>
        <p:spPr>
          <a:xfrm>
            <a:off x="566928" y="1627632"/>
            <a:ext cx="7132320" cy="457200"/>
          </a:xfrm>
          <a:prstGeom prst="roundRect">
            <a:avLst>
              <a:gd name="adj" fmla="val 18000"/>
            </a:avLst>
          </a:prstGeom>
          <a:solidFill>
            <a:srgbClr val="FFFFFF"/>
          </a:solidFill>
          <a:ln w="12700">
            <a:solidFill>
              <a:srgbClr val="FFFFFF"/>
            </a:solidFill>
            <a:prstDash val="solid"/>
          </a:ln>
        </p:spPr>
        <p:txBody>
          <a:bodyPr/>
          <a:lstStyle/>
          <a:p>
            <a:endParaRPr lang="de-CH"/>
          </a:p>
        </p:txBody>
      </p:sp>
      <p:sp>
        <p:nvSpPr>
          <p:cNvPr id="5" name="Shape 3"/>
          <p:cNvSpPr/>
          <p:nvPr/>
        </p:nvSpPr>
        <p:spPr>
          <a:xfrm>
            <a:off x="749808" y="1783080"/>
            <a:ext cx="146304" cy="146304"/>
          </a:xfrm>
          <a:prstGeom prst="ellipse">
            <a:avLst/>
          </a:prstGeom>
          <a:solidFill>
            <a:srgbClr val="C0281C"/>
          </a:solidFill>
          <a:ln w="12700">
            <a:solidFill>
              <a:srgbClr val="C0281C"/>
            </a:solidFill>
            <a:prstDash val="solid"/>
          </a:ln>
        </p:spPr>
        <p:txBody>
          <a:bodyPr/>
          <a:lstStyle/>
          <a:p>
            <a:endParaRPr lang="de-CH"/>
          </a:p>
        </p:txBody>
      </p:sp>
      <p:sp>
        <p:nvSpPr>
          <p:cNvPr id="6" name="Text 4"/>
          <p:cNvSpPr/>
          <p:nvPr/>
        </p:nvSpPr>
        <p:spPr>
          <a:xfrm>
            <a:off x="1024128" y="1627632"/>
            <a:ext cx="594360" cy="457200"/>
          </a:xfrm>
          <a:prstGeom prst="rect">
            <a:avLst/>
          </a:prstGeom>
          <a:noFill/>
          <a:ln/>
        </p:spPr>
        <p:txBody>
          <a:bodyPr wrap="square" lIns="0" tIns="0" rIns="0" bIns="0" rtlCol="0" anchor="ctr"/>
          <a:lstStyle/>
          <a:p>
            <a:pPr marL="0" indent="0">
              <a:buNone/>
            </a:pPr>
            <a:r>
              <a:rPr lang="en-US" sz="1050" b="1" dirty="0">
                <a:solidFill>
                  <a:srgbClr val="12202E"/>
                </a:solidFill>
                <a:latin typeface="Calibri" pitchFamily="34" charset="0"/>
                <a:ea typeface="Calibri" pitchFamily="34" charset="-122"/>
                <a:cs typeface="Calibri" pitchFamily="34" charset="-120"/>
              </a:rPr>
              <a:t>B-01</a:t>
            </a:r>
            <a:endParaRPr lang="en-US" sz="1050" dirty="0"/>
          </a:p>
        </p:txBody>
      </p:sp>
      <p:sp>
        <p:nvSpPr>
          <p:cNvPr id="7" name="Text 5"/>
          <p:cNvSpPr/>
          <p:nvPr/>
        </p:nvSpPr>
        <p:spPr>
          <a:xfrm>
            <a:off x="1664208" y="1627632"/>
            <a:ext cx="5303520" cy="457200"/>
          </a:xfrm>
          <a:prstGeom prst="rect">
            <a:avLst/>
          </a:prstGeom>
          <a:noFill/>
          <a:ln/>
        </p:spPr>
        <p:txBody>
          <a:bodyPr wrap="square" lIns="0" tIns="0" rIns="0" bIns="0" rtlCol="0" anchor="ctr"/>
          <a:lstStyle/>
          <a:p>
            <a:pPr marL="0" indent="0">
              <a:buNone/>
            </a:pPr>
            <a:r>
              <a:rPr lang="en-US" sz="1100" dirty="0">
                <a:solidFill>
                  <a:srgbClr val="12202E"/>
                </a:solidFill>
                <a:latin typeface="Calibri" pitchFamily="34" charset="0"/>
                <a:ea typeface="Calibri" pitchFamily="34" charset="-122"/>
                <a:cs typeface="Calibri" pitchFamily="34" charset="-120"/>
              </a:rPr>
              <a:t>Marked inflammation on day 1–2 classified GREEN</a:t>
            </a:r>
            <a:endParaRPr lang="en-US" sz="1100" dirty="0"/>
          </a:p>
        </p:txBody>
      </p:sp>
      <p:sp>
        <p:nvSpPr>
          <p:cNvPr id="8" name="Text 6"/>
          <p:cNvSpPr/>
          <p:nvPr/>
        </p:nvSpPr>
        <p:spPr>
          <a:xfrm>
            <a:off x="6876288" y="1627632"/>
            <a:ext cx="685800" cy="457200"/>
          </a:xfrm>
          <a:prstGeom prst="rect">
            <a:avLst/>
          </a:prstGeom>
          <a:noFill/>
          <a:ln/>
        </p:spPr>
        <p:txBody>
          <a:bodyPr wrap="square" lIns="0" tIns="0" rIns="0" bIns="0" rtlCol="0" anchor="ctr"/>
          <a:lstStyle/>
          <a:p>
            <a:pPr marL="0" indent="0" algn="r">
              <a:buNone/>
            </a:pPr>
            <a:r>
              <a:rPr lang="en-US" sz="950" dirty="0">
                <a:solidFill>
                  <a:srgbClr val="5D7186"/>
                </a:solidFill>
                <a:latin typeface="Calibri" pitchFamily="34" charset="0"/>
                <a:ea typeface="Calibri" pitchFamily="34" charset="-122"/>
                <a:cs typeface="Calibri" pitchFamily="34" charset="-120"/>
              </a:rPr>
              <a:t>L2</a:t>
            </a:r>
            <a:endParaRPr lang="en-US" sz="950" dirty="0"/>
          </a:p>
        </p:txBody>
      </p:sp>
      <p:sp>
        <p:nvSpPr>
          <p:cNvPr id="9" name="Shape 7"/>
          <p:cNvSpPr/>
          <p:nvPr/>
        </p:nvSpPr>
        <p:spPr>
          <a:xfrm>
            <a:off x="566928" y="2176272"/>
            <a:ext cx="7132320" cy="457200"/>
          </a:xfrm>
          <a:prstGeom prst="roundRect">
            <a:avLst>
              <a:gd name="adj" fmla="val 18000"/>
            </a:avLst>
          </a:prstGeom>
          <a:solidFill>
            <a:srgbClr val="F5F7FA"/>
          </a:solidFill>
          <a:ln w="12700">
            <a:solidFill>
              <a:srgbClr val="DDE5EE"/>
            </a:solidFill>
            <a:prstDash val="solid"/>
          </a:ln>
        </p:spPr>
        <p:txBody>
          <a:bodyPr/>
          <a:lstStyle/>
          <a:p>
            <a:endParaRPr lang="de-CH"/>
          </a:p>
        </p:txBody>
      </p:sp>
      <p:sp>
        <p:nvSpPr>
          <p:cNvPr id="10" name="Shape 8"/>
          <p:cNvSpPr/>
          <p:nvPr/>
        </p:nvSpPr>
        <p:spPr>
          <a:xfrm>
            <a:off x="749808" y="2331720"/>
            <a:ext cx="146304" cy="146304"/>
          </a:xfrm>
          <a:prstGeom prst="ellipse">
            <a:avLst/>
          </a:prstGeom>
          <a:solidFill>
            <a:srgbClr val="C0281C"/>
          </a:solidFill>
          <a:ln w="12700">
            <a:solidFill>
              <a:srgbClr val="C0281C"/>
            </a:solidFill>
            <a:prstDash val="solid"/>
          </a:ln>
        </p:spPr>
        <p:txBody>
          <a:bodyPr/>
          <a:lstStyle/>
          <a:p>
            <a:endParaRPr lang="de-CH"/>
          </a:p>
        </p:txBody>
      </p:sp>
      <p:sp>
        <p:nvSpPr>
          <p:cNvPr id="11" name="Text 9"/>
          <p:cNvSpPr/>
          <p:nvPr/>
        </p:nvSpPr>
        <p:spPr>
          <a:xfrm>
            <a:off x="1024128" y="2176272"/>
            <a:ext cx="594360" cy="457200"/>
          </a:xfrm>
          <a:prstGeom prst="rect">
            <a:avLst/>
          </a:prstGeom>
          <a:noFill/>
          <a:ln/>
        </p:spPr>
        <p:txBody>
          <a:bodyPr wrap="square" lIns="0" tIns="0" rIns="0" bIns="0" rtlCol="0" anchor="ctr"/>
          <a:lstStyle/>
          <a:p>
            <a:pPr marL="0" indent="0">
              <a:buNone/>
            </a:pPr>
            <a:r>
              <a:rPr lang="en-US" sz="1050" b="1" dirty="0">
                <a:solidFill>
                  <a:srgbClr val="12202E"/>
                </a:solidFill>
                <a:latin typeface="Calibri" pitchFamily="34" charset="0"/>
                <a:ea typeface="Calibri" pitchFamily="34" charset="-122"/>
                <a:cs typeface="Calibri" pitchFamily="34" charset="-120"/>
              </a:rPr>
              <a:t>B-02</a:t>
            </a:r>
            <a:endParaRPr lang="en-US" sz="1050" dirty="0"/>
          </a:p>
        </p:txBody>
      </p:sp>
      <p:sp>
        <p:nvSpPr>
          <p:cNvPr id="12" name="Text 10"/>
          <p:cNvSpPr/>
          <p:nvPr/>
        </p:nvSpPr>
        <p:spPr>
          <a:xfrm>
            <a:off x="1664208" y="2176272"/>
            <a:ext cx="5303520" cy="457200"/>
          </a:xfrm>
          <a:prstGeom prst="rect">
            <a:avLst/>
          </a:prstGeom>
          <a:noFill/>
          <a:ln/>
        </p:spPr>
        <p:txBody>
          <a:bodyPr wrap="square" lIns="0" tIns="0" rIns="0" bIns="0" rtlCol="0" anchor="ctr"/>
          <a:lstStyle/>
          <a:p>
            <a:pPr marL="0" indent="0">
              <a:buNone/>
            </a:pPr>
            <a:r>
              <a:rPr lang="en-US" sz="1100" dirty="0">
                <a:solidFill>
                  <a:srgbClr val="12202E"/>
                </a:solidFill>
                <a:latin typeface="Calibri" pitchFamily="34" charset="0"/>
                <a:ea typeface="Calibri" pitchFamily="34" charset="-122"/>
                <a:cs typeface="Calibri" pitchFamily="34" charset="-120"/>
              </a:rPr>
              <a:t>“I feel really unwell” triggered nothing at all</a:t>
            </a:r>
            <a:endParaRPr lang="en-US" sz="1100" dirty="0"/>
          </a:p>
        </p:txBody>
      </p:sp>
      <p:sp>
        <p:nvSpPr>
          <p:cNvPr id="13" name="Text 11"/>
          <p:cNvSpPr/>
          <p:nvPr/>
        </p:nvSpPr>
        <p:spPr>
          <a:xfrm>
            <a:off x="6876288" y="2176272"/>
            <a:ext cx="685800" cy="457200"/>
          </a:xfrm>
          <a:prstGeom prst="rect">
            <a:avLst/>
          </a:prstGeom>
          <a:noFill/>
          <a:ln/>
        </p:spPr>
        <p:txBody>
          <a:bodyPr wrap="square" lIns="0" tIns="0" rIns="0" bIns="0" rtlCol="0" anchor="ctr"/>
          <a:lstStyle/>
          <a:p>
            <a:pPr marL="0" indent="0" algn="r">
              <a:buNone/>
            </a:pPr>
            <a:r>
              <a:rPr lang="en-US" sz="950" dirty="0">
                <a:solidFill>
                  <a:srgbClr val="5D7186"/>
                </a:solidFill>
                <a:latin typeface="Calibri" pitchFamily="34" charset="0"/>
                <a:ea typeface="Calibri" pitchFamily="34" charset="-122"/>
                <a:cs typeface="Calibri" pitchFamily="34" charset="-120"/>
              </a:rPr>
              <a:t>L2</a:t>
            </a:r>
            <a:endParaRPr lang="en-US" sz="950" dirty="0"/>
          </a:p>
        </p:txBody>
      </p:sp>
      <p:sp>
        <p:nvSpPr>
          <p:cNvPr id="14" name="Shape 12"/>
          <p:cNvSpPr/>
          <p:nvPr/>
        </p:nvSpPr>
        <p:spPr>
          <a:xfrm>
            <a:off x="566928" y="2724912"/>
            <a:ext cx="7132320" cy="457200"/>
          </a:xfrm>
          <a:prstGeom prst="roundRect">
            <a:avLst>
              <a:gd name="adj" fmla="val 18000"/>
            </a:avLst>
          </a:prstGeom>
          <a:solidFill>
            <a:srgbClr val="FFFFFF"/>
          </a:solidFill>
          <a:ln w="12700">
            <a:solidFill>
              <a:srgbClr val="FFFFFF"/>
            </a:solidFill>
            <a:prstDash val="solid"/>
          </a:ln>
        </p:spPr>
        <p:txBody>
          <a:bodyPr/>
          <a:lstStyle/>
          <a:p>
            <a:endParaRPr lang="de-CH"/>
          </a:p>
        </p:txBody>
      </p:sp>
      <p:sp>
        <p:nvSpPr>
          <p:cNvPr id="15" name="Shape 13"/>
          <p:cNvSpPr/>
          <p:nvPr/>
        </p:nvSpPr>
        <p:spPr>
          <a:xfrm>
            <a:off x="749808" y="2880360"/>
            <a:ext cx="146304" cy="146304"/>
          </a:xfrm>
          <a:prstGeom prst="ellipse">
            <a:avLst/>
          </a:prstGeom>
          <a:solidFill>
            <a:srgbClr val="C0281C"/>
          </a:solidFill>
          <a:ln w="12700">
            <a:solidFill>
              <a:srgbClr val="C0281C"/>
            </a:solidFill>
            <a:prstDash val="solid"/>
          </a:ln>
        </p:spPr>
        <p:txBody>
          <a:bodyPr/>
          <a:lstStyle/>
          <a:p>
            <a:endParaRPr lang="de-CH"/>
          </a:p>
        </p:txBody>
      </p:sp>
      <p:sp>
        <p:nvSpPr>
          <p:cNvPr id="16" name="Text 14"/>
          <p:cNvSpPr/>
          <p:nvPr/>
        </p:nvSpPr>
        <p:spPr>
          <a:xfrm>
            <a:off x="1024128" y="2724912"/>
            <a:ext cx="594360" cy="457200"/>
          </a:xfrm>
          <a:prstGeom prst="rect">
            <a:avLst/>
          </a:prstGeom>
          <a:noFill/>
          <a:ln/>
        </p:spPr>
        <p:txBody>
          <a:bodyPr wrap="square" lIns="0" tIns="0" rIns="0" bIns="0" rtlCol="0" anchor="ctr"/>
          <a:lstStyle/>
          <a:p>
            <a:pPr marL="0" indent="0">
              <a:buNone/>
            </a:pPr>
            <a:r>
              <a:rPr lang="en-US" sz="1050" b="1" dirty="0">
                <a:solidFill>
                  <a:srgbClr val="12202E"/>
                </a:solidFill>
                <a:latin typeface="Calibri" pitchFamily="34" charset="0"/>
                <a:ea typeface="Calibri" pitchFamily="34" charset="-122"/>
                <a:cs typeface="Calibri" pitchFamily="34" charset="-120"/>
              </a:rPr>
              <a:t>B-03</a:t>
            </a:r>
            <a:endParaRPr lang="en-US" sz="1050" dirty="0"/>
          </a:p>
        </p:txBody>
      </p:sp>
      <p:sp>
        <p:nvSpPr>
          <p:cNvPr id="17" name="Text 15"/>
          <p:cNvSpPr/>
          <p:nvPr/>
        </p:nvSpPr>
        <p:spPr>
          <a:xfrm>
            <a:off x="1664208" y="2724912"/>
            <a:ext cx="5303520" cy="457200"/>
          </a:xfrm>
          <a:prstGeom prst="rect">
            <a:avLst/>
          </a:prstGeom>
          <a:noFill/>
          <a:ln/>
        </p:spPr>
        <p:txBody>
          <a:bodyPr wrap="square" lIns="0" tIns="0" rIns="0" bIns="0" rtlCol="0" anchor="ctr"/>
          <a:lstStyle/>
          <a:p>
            <a:pPr marL="0" indent="0">
              <a:buNone/>
            </a:pPr>
            <a:r>
              <a:rPr lang="en-US" sz="1100" dirty="0">
                <a:solidFill>
                  <a:srgbClr val="12202E"/>
                </a:solidFill>
                <a:latin typeface="Calibri" pitchFamily="34" charset="0"/>
                <a:ea typeface="Calibri" pitchFamily="34" charset="-122"/>
                <a:cs typeface="Calibri" pitchFamily="34" charset="-120"/>
              </a:rPr>
              <a:t>Emergency rule unreachable behind conditional logic</a:t>
            </a:r>
            <a:endParaRPr lang="en-US" sz="1100" dirty="0"/>
          </a:p>
        </p:txBody>
      </p:sp>
      <p:sp>
        <p:nvSpPr>
          <p:cNvPr id="18" name="Text 16"/>
          <p:cNvSpPr/>
          <p:nvPr/>
        </p:nvSpPr>
        <p:spPr>
          <a:xfrm>
            <a:off x="6876288" y="2724912"/>
            <a:ext cx="685800" cy="457200"/>
          </a:xfrm>
          <a:prstGeom prst="rect">
            <a:avLst/>
          </a:prstGeom>
          <a:noFill/>
          <a:ln/>
        </p:spPr>
        <p:txBody>
          <a:bodyPr wrap="square" lIns="0" tIns="0" rIns="0" bIns="0" rtlCol="0" anchor="ctr"/>
          <a:lstStyle/>
          <a:p>
            <a:pPr marL="0" indent="0" algn="r">
              <a:buNone/>
            </a:pPr>
            <a:r>
              <a:rPr lang="en-US" sz="950" dirty="0">
                <a:solidFill>
                  <a:srgbClr val="5D7186"/>
                </a:solidFill>
                <a:latin typeface="Calibri" pitchFamily="34" charset="0"/>
                <a:ea typeface="Calibri" pitchFamily="34" charset="-122"/>
                <a:cs typeface="Calibri" pitchFamily="34" charset="-120"/>
              </a:rPr>
              <a:t>L2/L3</a:t>
            </a:r>
            <a:endParaRPr lang="en-US" sz="950" dirty="0"/>
          </a:p>
        </p:txBody>
      </p:sp>
      <p:sp>
        <p:nvSpPr>
          <p:cNvPr id="19" name="Shape 17"/>
          <p:cNvSpPr/>
          <p:nvPr/>
        </p:nvSpPr>
        <p:spPr>
          <a:xfrm>
            <a:off x="566928" y="3273552"/>
            <a:ext cx="7132320" cy="457200"/>
          </a:xfrm>
          <a:prstGeom prst="roundRect">
            <a:avLst>
              <a:gd name="adj" fmla="val 18000"/>
            </a:avLst>
          </a:prstGeom>
          <a:solidFill>
            <a:srgbClr val="F5F7FA"/>
          </a:solidFill>
          <a:ln w="12700">
            <a:solidFill>
              <a:srgbClr val="DDE5EE"/>
            </a:solidFill>
            <a:prstDash val="solid"/>
          </a:ln>
        </p:spPr>
        <p:txBody>
          <a:bodyPr/>
          <a:lstStyle/>
          <a:p>
            <a:endParaRPr lang="de-CH"/>
          </a:p>
        </p:txBody>
      </p:sp>
      <p:sp>
        <p:nvSpPr>
          <p:cNvPr id="20" name="Shape 18"/>
          <p:cNvSpPr/>
          <p:nvPr/>
        </p:nvSpPr>
        <p:spPr>
          <a:xfrm>
            <a:off x="749808" y="3429000"/>
            <a:ext cx="146304" cy="146304"/>
          </a:xfrm>
          <a:prstGeom prst="ellipse">
            <a:avLst/>
          </a:prstGeom>
          <a:solidFill>
            <a:srgbClr val="9C6D00"/>
          </a:solidFill>
          <a:ln w="12700">
            <a:solidFill>
              <a:srgbClr val="9C6D00"/>
            </a:solidFill>
            <a:prstDash val="solid"/>
          </a:ln>
        </p:spPr>
        <p:txBody>
          <a:bodyPr/>
          <a:lstStyle/>
          <a:p>
            <a:endParaRPr lang="de-CH"/>
          </a:p>
        </p:txBody>
      </p:sp>
      <p:sp>
        <p:nvSpPr>
          <p:cNvPr id="21" name="Text 19"/>
          <p:cNvSpPr/>
          <p:nvPr/>
        </p:nvSpPr>
        <p:spPr>
          <a:xfrm>
            <a:off x="1024128" y="3273552"/>
            <a:ext cx="594360" cy="457200"/>
          </a:xfrm>
          <a:prstGeom prst="rect">
            <a:avLst/>
          </a:prstGeom>
          <a:noFill/>
          <a:ln/>
        </p:spPr>
        <p:txBody>
          <a:bodyPr wrap="square" lIns="0" tIns="0" rIns="0" bIns="0" rtlCol="0" anchor="ctr"/>
          <a:lstStyle/>
          <a:p>
            <a:pPr marL="0" indent="0">
              <a:buNone/>
            </a:pPr>
            <a:r>
              <a:rPr lang="en-US" sz="1050" b="1" dirty="0">
                <a:solidFill>
                  <a:srgbClr val="12202E"/>
                </a:solidFill>
                <a:latin typeface="Calibri" pitchFamily="34" charset="0"/>
                <a:ea typeface="Calibri" pitchFamily="34" charset="-122"/>
                <a:cs typeface="Calibri" pitchFamily="34" charset="-120"/>
              </a:rPr>
              <a:t>B-04</a:t>
            </a:r>
            <a:endParaRPr lang="en-US" sz="1050" dirty="0"/>
          </a:p>
        </p:txBody>
      </p:sp>
      <p:sp>
        <p:nvSpPr>
          <p:cNvPr id="22" name="Text 20"/>
          <p:cNvSpPr/>
          <p:nvPr/>
        </p:nvSpPr>
        <p:spPr>
          <a:xfrm>
            <a:off x="1664208" y="3273552"/>
            <a:ext cx="5303520" cy="457200"/>
          </a:xfrm>
          <a:prstGeom prst="rect">
            <a:avLst/>
          </a:prstGeom>
          <a:noFill/>
          <a:ln/>
        </p:spPr>
        <p:txBody>
          <a:bodyPr wrap="square" lIns="0" tIns="0" rIns="0" bIns="0" rtlCol="0" anchor="ctr"/>
          <a:lstStyle/>
          <a:p>
            <a:pPr marL="0" indent="0">
              <a:buNone/>
            </a:pPr>
            <a:r>
              <a:rPr lang="en-US" sz="1100" dirty="0">
                <a:solidFill>
                  <a:srgbClr val="12202E"/>
                </a:solidFill>
                <a:latin typeface="Calibri" pitchFamily="34" charset="0"/>
                <a:ea typeface="Calibri" pitchFamily="34" charset="-122"/>
                <a:cs typeface="Calibri" pitchFamily="34" charset="-120"/>
              </a:rPr>
              <a:t>Fever threshold duplicated in two places</a:t>
            </a:r>
            <a:endParaRPr lang="en-US" sz="1100" dirty="0"/>
          </a:p>
        </p:txBody>
      </p:sp>
      <p:sp>
        <p:nvSpPr>
          <p:cNvPr id="23" name="Text 21"/>
          <p:cNvSpPr/>
          <p:nvPr/>
        </p:nvSpPr>
        <p:spPr>
          <a:xfrm>
            <a:off x="6876288" y="3273552"/>
            <a:ext cx="685800" cy="457200"/>
          </a:xfrm>
          <a:prstGeom prst="rect">
            <a:avLst/>
          </a:prstGeom>
          <a:noFill/>
          <a:ln/>
        </p:spPr>
        <p:txBody>
          <a:bodyPr wrap="square" lIns="0" tIns="0" rIns="0" bIns="0" rtlCol="0" anchor="ctr"/>
          <a:lstStyle/>
          <a:p>
            <a:pPr marL="0" indent="0" algn="r">
              <a:buNone/>
            </a:pPr>
            <a:r>
              <a:rPr lang="en-US" sz="950" dirty="0">
                <a:solidFill>
                  <a:srgbClr val="5D7186"/>
                </a:solidFill>
                <a:latin typeface="Calibri" pitchFamily="34" charset="0"/>
                <a:ea typeface="Calibri" pitchFamily="34" charset="-122"/>
                <a:cs typeface="Calibri" pitchFamily="34" charset="-120"/>
              </a:rPr>
              <a:t>L3</a:t>
            </a:r>
            <a:endParaRPr lang="en-US" sz="950" dirty="0"/>
          </a:p>
        </p:txBody>
      </p:sp>
      <p:sp>
        <p:nvSpPr>
          <p:cNvPr id="24" name="Shape 22"/>
          <p:cNvSpPr/>
          <p:nvPr/>
        </p:nvSpPr>
        <p:spPr>
          <a:xfrm>
            <a:off x="566928" y="3822192"/>
            <a:ext cx="7132320" cy="457200"/>
          </a:xfrm>
          <a:prstGeom prst="roundRect">
            <a:avLst>
              <a:gd name="adj" fmla="val 18000"/>
            </a:avLst>
          </a:prstGeom>
          <a:solidFill>
            <a:srgbClr val="FFFFFF"/>
          </a:solidFill>
          <a:ln w="12700">
            <a:solidFill>
              <a:srgbClr val="FFFFFF"/>
            </a:solidFill>
            <a:prstDash val="solid"/>
          </a:ln>
        </p:spPr>
        <p:txBody>
          <a:bodyPr/>
          <a:lstStyle/>
          <a:p>
            <a:endParaRPr lang="de-CH"/>
          </a:p>
        </p:txBody>
      </p:sp>
      <p:sp>
        <p:nvSpPr>
          <p:cNvPr id="25" name="Shape 23"/>
          <p:cNvSpPr/>
          <p:nvPr/>
        </p:nvSpPr>
        <p:spPr>
          <a:xfrm>
            <a:off x="749808" y="3977640"/>
            <a:ext cx="146304" cy="146304"/>
          </a:xfrm>
          <a:prstGeom prst="ellipse">
            <a:avLst/>
          </a:prstGeom>
          <a:solidFill>
            <a:srgbClr val="1A7F4B"/>
          </a:solidFill>
          <a:ln w="12700">
            <a:solidFill>
              <a:srgbClr val="1A7F4B"/>
            </a:solidFill>
            <a:prstDash val="solid"/>
          </a:ln>
        </p:spPr>
        <p:txBody>
          <a:bodyPr/>
          <a:lstStyle/>
          <a:p>
            <a:endParaRPr lang="de-CH"/>
          </a:p>
        </p:txBody>
      </p:sp>
      <p:sp>
        <p:nvSpPr>
          <p:cNvPr id="26" name="Text 24"/>
          <p:cNvSpPr/>
          <p:nvPr/>
        </p:nvSpPr>
        <p:spPr>
          <a:xfrm>
            <a:off x="1024128" y="3822192"/>
            <a:ext cx="594360" cy="457200"/>
          </a:xfrm>
          <a:prstGeom prst="rect">
            <a:avLst/>
          </a:prstGeom>
          <a:noFill/>
          <a:ln/>
        </p:spPr>
        <p:txBody>
          <a:bodyPr wrap="square" lIns="0" tIns="0" rIns="0" bIns="0" rtlCol="0" anchor="ctr"/>
          <a:lstStyle/>
          <a:p>
            <a:pPr marL="0" indent="0">
              <a:buNone/>
            </a:pPr>
            <a:r>
              <a:rPr lang="en-US" sz="1050" b="1" dirty="0">
                <a:solidFill>
                  <a:srgbClr val="12202E"/>
                </a:solidFill>
                <a:latin typeface="Calibri" pitchFamily="34" charset="0"/>
                <a:ea typeface="Calibri" pitchFamily="34" charset="-122"/>
                <a:cs typeface="Calibri" pitchFamily="34" charset="-120"/>
              </a:rPr>
              <a:t>B-05</a:t>
            </a:r>
            <a:endParaRPr lang="en-US" sz="1050" dirty="0"/>
          </a:p>
        </p:txBody>
      </p:sp>
      <p:sp>
        <p:nvSpPr>
          <p:cNvPr id="27" name="Text 25"/>
          <p:cNvSpPr/>
          <p:nvPr/>
        </p:nvSpPr>
        <p:spPr>
          <a:xfrm>
            <a:off x="1664208" y="3822192"/>
            <a:ext cx="5303520" cy="457200"/>
          </a:xfrm>
          <a:prstGeom prst="rect">
            <a:avLst/>
          </a:prstGeom>
          <a:noFill/>
          <a:ln/>
        </p:spPr>
        <p:txBody>
          <a:bodyPr wrap="square" lIns="0" tIns="0" rIns="0" bIns="0" rtlCol="0" anchor="ctr"/>
          <a:lstStyle/>
          <a:p>
            <a:pPr marL="0" indent="0">
              <a:buNone/>
            </a:pPr>
            <a:r>
              <a:rPr lang="en-US" sz="1100" dirty="0">
                <a:solidFill>
                  <a:srgbClr val="12202E"/>
                </a:solidFill>
                <a:latin typeface="Calibri" pitchFamily="34" charset="0"/>
                <a:ea typeface="Calibri" pitchFamily="34" charset="-122"/>
                <a:cs typeface="Calibri" pitchFamily="34" charset="-120"/>
              </a:rPr>
              <a:t>Anticoagulant status collected but never used</a:t>
            </a:r>
            <a:endParaRPr lang="en-US" sz="1100" dirty="0"/>
          </a:p>
        </p:txBody>
      </p:sp>
      <p:sp>
        <p:nvSpPr>
          <p:cNvPr id="28" name="Text 26"/>
          <p:cNvSpPr/>
          <p:nvPr/>
        </p:nvSpPr>
        <p:spPr>
          <a:xfrm>
            <a:off x="6876288" y="3822192"/>
            <a:ext cx="685800" cy="457200"/>
          </a:xfrm>
          <a:prstGeom prst="rect">
            <a:avLst/>
          </a:prstGeom>
          <a:noFill/>
          <a:ln/>
        </p:spPr>
        <p:txBody>
          <a:bodyPr wrap="square" lIns="0" tIns="0" rIns="0" bIns="0" rtlCol="0" anchor="ctr"/>
          <a:lstStyle/>
          <a:p>
            <a:pPr marL="0" indent="0" algn="r">
              <a:buNone/>
            </a:pPr>
            <a:r>
              <a:rPr lang="en-US" sz="950" dirty="0">
                <a:solidFill>
                  <a:srgbClr val="5D7186"/>
                </a:solidFill>
                <a:latin typeface="Calibri" pitchFamily="34" charset="0"/>
                <a:ea typeface="Calibri" pitchFamily="34" charset="-122"/>
                <a:cs typeface="Calibri" pitchFamily="34" charset="-120"/>
              </a:rPr>
              <a:t>L2</a:t>
            </a:r>
            <a:endParaRPr lang="en-US" sz="950" dirty="0"/>
          </a:p>
        </p:txBody>
      </p:sp>
      <p:sp>
        <p:nvSpPr>
          <p:cNvPr id="29" name="Shape 27"/>
          <p:cNvSpPr/>
          <p:nvPr/>
        </p:nvSpPr>
        <p:spPr>
          <a:xfrm>
            <a:off x="566928" y="4370832"/>
            <a:ext cx="7132320" cy="457200"/>
          </a:xfrm>
          <a:prstGeom prst="roundRect">
            <a:avLst>
              <a:gd name="adj" fmla="val 18000"/>
            </a:avLst>
          </a:prstGeom>
          <a:solidFill>
            <a:srgbClr val="F5F7FA"/>
          </a:solidFill>
          <a:ln w="12700">
            <a:solidFill>
              <a:srgbClr val="DDE5EE"/>
            </a:solidFill>
            <a:prstDash val="solid"/>
          </a:ln>
        </p:spPr>
        <p:txBody>
          <a:bodyPr/>
          <a:lstStyle/>
          <a:p>
            <a:endParaRPr lang="de-CH"/>
          </a:p>
        </p:txBody>
      </p:sp>
      <p:sp>
        <p:nvSpPr>
          <p:cNvPr id="30" name="Shape 28"/>
          <p:cNvSpPr/>
          <p:nvPr/>
        </p:nvSpPr>
        <p:spPr>
          <a:xfrm>
            <a:off x="749808" y="4526280"/>
            <a:ext cx="146304" cy="146304"/>
          </a:xfrm>
          <a:prstGeom prst="ellipse">
            <a:avLst/>
          </a:prstGeom>
          <a:solidFill>
            <a:srgbClr val="9C6D00"/>
          </a:solidFill>
          <a:ln w="12700">
            <a:solidFill>
              <a:srgbClr val="9C6D00"/>
            </a:solidFill>
            <a:prstDash val="solid"/>
          </a:ln>
        </p:spPr>
        <p:txBody>
          <a:bodyPr/>
          <a:lstStyle/>
          <a:p>
            <a:endParaRPr lang="de-CH"/>
          </a:p>
        </p:txBody>
      </p:sp>
      <p:sp>
        <p:nvSpPr>
          <p:cNvPr id="31" name="Text 29"/>
          <p:cNvSpPr/>
          <p:nvPr/>
        </p:nvSpPr>
        <p:spPr>
          <a:xfrm>
            <a:off x="1024128" y="4370832"/>
            <a:ext cx="594360" cy="457200"/>
          </a:xfrm>
          <a:prstGeom prst="rect">
            <a:avLst/>
          </a:prstGeom>
          <a:noFill/>
          <a:ln/>
        </p:spPr>
        <p:txBody>
          <a:bodyPr wrap="square" lIns="0" tIns="0" rIns="0" bIns="0" rtlCol="0" anchor="ctr"/>
          <a:lstStyle/>
          <a:p>
            <a:pPr marL="0" indent="0">
              <a:buNone/>
            </a:pPr>
            <a:r>
              <a:rPr lang="en-US" sz="1050" b="1" dirty="0">
                <a:solidFill>
                  <a:srgbClr val="12202E"/>
                </a:solidFill>
                <a:latin typeface="Calibri" pitchFamily="34" charset="0"/>
                <a:ea typeface="Calibri" pitchFamily="34" charset="-122"/>
                <a:cs typeface="Calibri" pitchFamily="34" charset="-120"/>
              </a:rPr>
              <a:t>B-06</a:t>
            </a:r>
            <a:endParaRPr lang="en-US" sz="1050" dirty="0"/>
          </a:p>
        </p:txBody>
      </p:sp>
      <p:sp>
        <p:nvSpPr>
          <p:cNvPr id="32" name="Text 30"/>
          <p:cNvSpPr/>
          <p:nvPr/>
        </p:nvSpPr>
        <p:spPr>
          <a:xfrm>
            <a:off x="1664208" y="4370832"/>
            <a:ext cx="5303520" cy="457200"/>
          </a:xfrm>
          <a:prstGeom prst="rect">
            <a:avLst/>
          </a:prstGeom>
          <a:noFill/>
          <a:ln/>
        </p:spPr>
        <p:txBody>
          <a:bodyPr wrap="square" lIns="0" tIns="0" rIns="0" bIns="0" rtlCol="0" anchor="ctr"/>
          <a:lstStyle/>
          <a:p>
            <a:pPr marL="0" indent="0">
              <a:buNone/>
            </a:pPr>
            <a:r>
              <a:rPr lang="en-US" sz="1100" dirty="0">
                <a:solidFill>
                  <a:srgbClr val="12202E"/>
                </a:solidFill>
                <a:latin typeface="Calibri" pitchFamily="34" charset="0"/>
                <a:ea typeface="Calibri" pitchFamily="34" charset="-122"/>
                <a:cs typeface="Calibri" pitchFamily="34" charset="-120"/>
              </a:rPr>
              <a:t>Southampton IV mapped RED in one doc, ORANGE in another</a:t>
            </a:r>
            <a:endParaRPr lang="en-US" sz="1100" dirty="0"/>
          </a:p>
        </p:txBody>
      </p:sp>
      <p:sp>
        <p:nvSpPr>
          <p:cNvPr id="33" name="Text 31"/>
          <p:cNvSpPr/>
          <p:nvPr/>
        </p:nvSpPr>
        <p:spPr>
          <a:xfrm>
            <a:off x="6876288" y="4370832"/>
            <a:ext cx="685800" cy="457200"/>
          </a:xfrm>
          <a:prstGeom prst="rect">
            <a:avLst/>
          </a:prstGeom>
          <a:noFill/>
          <a:ln/>
        </p:spPr>
        <p:txBody>
          <a:bodyPr wrap="square" lIns="0" tIns="0" rIns="0" bIns="0" rtlCol="0" anchor="ctr"/>
          <a:lstStyle/>
          <a:p>
            <a:pPr marL="0" indent="0" algn="r">
              <a:buNone/>
            </a:pPr>
            <a:r>
              <a:rPr lang="en-US" sz="950" dirty="0">
                <a:solidFill>
                  <a:srgbClr val="5D7186"/>
                </a:solidFill>
                <a:latin typeface="Calibri" pitchFamily="34" charset="0"/>
                <a:ea typeface="Calibri" pitchFamily="34" charset="-122"/>
                <a:cs typeface="Calibri" pitchFamily="34" charset="-120"/>
              </a:rPr>
              <a:t>L2</a:t>
            </a:r>
            <a:endParaRPr lang="en-US" sz="950" dirty="0"/>
          </a:p>
        </p:txBody>
      </p:sp>
      <p:sp>
        <p:nvSpPr>
          <p:cNvPr id="34" name="Shape 32"/>
          <p:cNvSpPr/>
          <p:nvPr/>
        </p:nvSpPr>
        <p:spPr>
          <a:xfrm>
            <a:off x="566928" y="4919472"/>
            <a:ext cx="7132320" cy="457200"/>
          </a:xfrm>
          <a:prstGeom prst="roundRect">
            <a:avLst>
              <a:gd name="adj" fmla="val 18000"/>
            </a:avLst>
          </a:prstGeom>
          <a:solidFill>
            <a:srgbClr val="FFFFFF"/>
          </a:solidFill>
          <a:ln w="12700">
            <a:solidFill>
              <a:srgbClr val="FFFFFF"/>
            </a:solidFill>
            <a:prstDash val="solid"/>
          </a:ln>
        </p:spPr>
        <p:txBody>
          <a:bodyPr/>
          <a:lstStyle/>
          <a:p>
            <a:endParaRPr lang="de-CH"/>
          </a:p>
        </p:txBody>
      </p:sp>
      <p:sp>
        <p:nvSpPr>
          <p:cNvPr id="35" name="Shape 33"/>
          <p:cNvSpPr/>
          <p:nvPr/>
        </p:nvSpPr>
        <p:spPr>
          <a:xfrm>
            <a:off x="749808" y="5074920"/>
            <a:ext cx="146304" cy="146304"/>
          </a:xfrm>
          <a:prstGeom prst="ellipse">
            <a:avLst/>
          </a:prstGeom>
          <a:solidFill>
            <a:srgbClr val="C0281C"/>
          </a:solidFill>
          <a:ln w="12700">
            <a:solidFill>
              <a:srgbClr val="C0281C"/>
            </a:solidFill>
            <a:prstDash val="solid"/>
          </a:ln>
        </p:spPr>
        <p:txBody>
          <a:bodyPr/>
          <a:lstStyle/>
          <a:p>
            <a:endParaRPr lang="de-CH"/>
          </a:p>
        </p:txBody>
      </p:sp>
      <p:sp>
        <p:nvSpPr>
          <p:cNvPr id="36" name="Text 34"/>
          <p:cNvSpPr/>
          <p:nvPr/>
        </p:nvSpPr>
        <p:spPr>
          <a:xfrm>
            <a:off x="1024128" y="4919472"/>
            <a:ext cx="594360" cy="457200"/>
          </a:xfrm>
          <a:prstGeom prst="rect">
            <a:avLst/>
          </a:prstGeom>
          <a:noFill/>
          <a:ln/>
        </p:spPr>
        <p:txBody>
          <a:bodyPr wrap="square" lIns="0" tIns="0" rIns="0" bIns="0" rtlCol="0" anchor="ctr"/>
          <a:lstStyle/>
          <a:p>
            <a:pPr marL="0" indent="0">
              <a:buNone/>
            </a:pPr>
            <a:r>
              <a:rPr lang="en-US" sz="1050" b="1" dirty="0">
                <a:solidFill>
                  <a:srgbClr val="12202E"/>
                </a:solidFill>
                <a:latin typeface="Calibri" pitchFamily="34" charset="0"/>
                <a:ea typeface="Calibri" pitchFamily="34" charset="-122"/>
                <a:cs typeface="Calibri" pitchFamily="34" charset="-120"/>
              </a:rPr>
              <a:t>B-07</a:t>
            </a:r>
            <a:endParaRPr lang="en-US" sz="1050" dirty="0"/>
          </a:p>
        </p:txBody>
      </p:sp>
      <p:sp>
        <p:nvSpPr>
          <p:cNvPr id="37" name="Text 35"/>
          <p:cNvSpPr/>
          <p:nvPr/>
        </p:nvSpPr>
        <p:spPr>
          <a:xfrm>
            <a:off x="1664208" y="4919472"/>
            <a:ext cx="5303520" cy="457200"/>
          </a:xfrm>
          <a:prstGeom prst="rect">
            <a:avLst/>
          </a:prstGeom>
          <a:noFill/>
          <a:ln/>
        </p:spPr>
        <p:txBody>
          <a:bodyPr wrap="square" lIns="0" tIns="0" rIns="0" bIns="0" rtlCol="0" anchor="ctr"/>
          <a:lstStyle/>
          <a:p>
            <a:pPr marL="0" indent="0">
              <a:buNone/>
            </a:pPr>
            <a:r>
              <a:rPr lang="en-US" sz="1100" dirty="0">
                <a:solidFill>
                  <a:srgbClr val="12202E"/>
                </a:solidFill>
                <a:latin typeface="Calibri" pitchFamily="34" charset="0"/>
                <a:ea typeface="Calibri" pitchFamily="34" charset="-122"/>
                <a:cs typeface="Calibri" pitchFamily="34" charset="-120"/>
              </a:rPr>
              <a:t>Trend rule could never fire — circular dependency</a:t>
            </a:r>
            <a:endParaRPr lang="en-US" sz="1100" dirty="0"/>
          </a:p>
        </p:txBody>
      </p:sp>
      <p:sp>
        <p:nvSpPr>
          <p:cNvPr id="38" name="Text 36"/>
          <p:cNvSpPr/>
          <p:nvPr/>
        </p:nvSpPr>
        <p:spPr>
          <a:xfrm>
            <a:off x="6876288" y="4919472"/>
            <a:ext cx="685800" cy="457200"/>
          </a:xfrm>
          <a:prstGeom prst="rect">
            <a:avLst/>
          </a:prstGeom>
          <a:noFill/>
          <a:ln/>
        </p:spPr>
        <p:txBody>
          <a:bodyPr wrap="square" lIns="0" tIns="0" rIns="0" bIns="0" rtlCol="0" anchor="ctr"/>
          <a:lstStyle/>
          <a:p>
            <a:pPr marL="0" indent="0" algn="r">
              <a:buNone/>
            </a:pPr>
            <a:r>
              <a:rPr lang="en-US" sz="950" dirty="0">
                <a:solidFill>
                  <a:srgbClr val="5D7186"/>
                </a:solidFill>
                <a:latin typeface="Calibri" pitchFamily="34" charset="0"/>
                <a:ea typeface="Calibri" pitchFamily="34" charset="-122"/>
                <a:cs typeface="Calibri" pitchFamily="34" charset="-120"/>
              </a:rPr>
              <a:t>L3/L4</a:t>
            </a:r>
            <a:endParaRPr lang="en-US" sz="950" dirty="0"/>
          </a:p>
        </p:txBody>
      </p:sp>
      <p:sp>
        <p:nvSpPr>
          <p:cNvPr id="39" name="Shape 37"/>
          <p:cNvSpPr/>
          <p:nvPr/>
        </p:nvSpPr>
        <p:spPr>
          <a:xfrm>
            <a:off x="566928" y="5468112"/>
            <a:ext cx="7132320" cy="457200"/>
          </a:xfrm>
          <a:prstGeom prst="roundRect">
            <a:avLst>
              <a:gd name="adj" fmla="val 18000"/>
            </a:avLst>
          </a:prstGeom>
          <a:solidFill>
            <a:srgbClr val="F5F7FA"/>
          </a:solidFill>
          <a:ln w="12700">
            <a:solidFill>
              <a:srgbClr val="DDE5EE"/>
            </a:solidFill>
            <a:prstDash val="solid"/>
          </a:ln>
        </p:spPr>
        <p:txBody>
          <a:bodyPr/>
          <a:lstStyle/>
          <a:p>
            <a:endParaRPr lang="de-CH"/>
          </a:p>
        </p:txBody>
      </p:sp>
      <p:sp>
        <p:nvSpPr>
          <p:cNvPr id="40" name="Shape 38"/>
          <p:cNvSpPr/>
          <p:nvPr/>
        </p:nvSpPr>
        <p:spPr>
          <a:xfrm>
            <a:off x="749808" y="5623560"/>
            <a:ext cx="146304" cy="146304"/>
          </a:xfrm>
          <a:prstGeom prst="ellipse">
            <a:avLst/>
          </a:prstGeom>
          <a:solidFill>
            <a:srgbClr val="9C6D00"/>
          </a:solidFill>
          <a:ln w="12700">
            <a:solidFill>
              <a:srgbClr val="9C6D00"/>
            </a:solidFill>
            <a:prstDash val="solid"/>
          </a:ln>
        </p:spPr>
        <p:txBody>
          <a:bodyPr/>
          <a:lstStyle/>
          <a:p>
            <a:endParaRPr lang="de-CH"/>
          </a:p>
        </p:txBody>
      </p:sp>
      <p:sp>
        <p:nvSpPr>
          <p:cNvPr id="41" name="Text 39"/>
          <p:cNvSpPr/>
          <p:nvPr/>
        </p:nvSpPr>
        <p:spPr>
          <a:xfrm>
            <a:off x="1024128" y="5468112"/>
            <a:ext cx="594360" cy="457200"/>
          </a:xfrm>
          <a:prstGeom prst="rect">
            <a:avLst/>
          </a:prstGeom>
          <a:noFill/>
          <a:ln/>
        </p:spPr>
        <p:txBody>
          <a:bodyPr wrap="square" lIns="0" tIns="0" rIns="0" bIns="0" rtlCol="0" anchor="ctr"/>
          <a:lstStyle/>
          <a:p>
            <a:pPr marL="0" indent="0">
              <a:buNone/>
            </a:pPr>
            <a:r>
              <a:rPr lang="en-US" sz="1050" b="1" dirty="0">
                <a:solidFill>
                  <a:srgbClr val="12202E"/>
                </a:solidFill>
                <a:latin typeface="Calibri" pitchFamily="34" charset="0"/>
                <a:ea typeface="Calibri" pitchFamily="34" charset="-122"/>
                <a:cs typeface="Calibri" pitchFamily="34" charset="-120"/>
              </a:rPr>
              <a:t>B-08</a:t>
            </a:r>
            <a:endParaRPr lang="en-US" sz="1050" dirty="0"/>
          </a:p>
        </p:txBody>
      </p:sp>
      <p:sp>
        <p:nvSpPr>
          <p:cNvPr id="42" name="Text 40"/>
          <p:cNvSpPr/>
          <p:nvPr/>
        </p:nvSpPr>
        <p:spPr>
          <a:xfrm>
            <a:off x="1664208" y="5468112"/>
            <a:ext cx="5303520" cy="457200"/>
          </a:xfrm>
          <a:prstGeom prst="rect">
            <a:avLst/>
          </a:prstGeom>
          <a:noFill/>
          <a:ln/>
        </p:spPr>
        <p:txBody>
          <a:bodyPr wrap="square" lIns="0" tIns="0" rIns="0" bIns="0" rtlCol="0" anchor="ctr"/>
          <a:lstStyle/>
          <a:p>
            <a:pPr marL="0" indent="0">
              <a:buNone/>
            </a:pPr>
            <a:r>
              <a:rPr lang="en-US" sz="1100" dirty="0">
                <a:solidFill>
                  <a:srgbClr val="12202E"/>
                </a:solidFill>
                <a:latin typeface="Calibri" pitchFamily="34" charset="0"/>
                <a:ea typeface="Calibri" pitchFamily="34" charset="-122"/>
                <a:cs typeface="Calibri" pitchFamily="34" charset="-120"/>
              </a:rPr>
              <a:t>That same rule was unreachable even after the fix</a:t>
            </a:r>
            <a:endParaRPr lang="en-US" sz="1100" dirty="0"/>
          </a:p>
        </p:txBody>
      </p:sp>
      <p:sp>
        <p:nvSpPr>
          <p:cNvPr id="43" name="Text 41"/>
          <p:cNvSpPr/>
          <p:nvPr/>
        </p:nvSpPr>
        <p:spPr>
          <a:xfrm>
            <a:off x="6876288" y="5468112"/>
            <a:ext cx="685800" cy="457200"/>
          </a:xfrm>
          <a:prstGeom prst="rect">
            <a:avLst/>
          </a:prstGeom>
          <a:noFill/>
          <a:ln/>
        </p:spPr>
        <p:txBody>
          <a:bodyPr wrap="square" lIns="0" tIns="0" rIns="0" bIns="0" rtlCol="0" anchor="ctr"/>
          <a:lstStyle/>
          <a:p>
            <a:pPr marL="0" indent="0" algn="r">
              <a:buNone/>
            </a:pPr>
            <a:r>
              <a:rPr lang="en-US" sz="950" dirty="0">
                <a:solidFill>
                  <a:srgbClr val="5D7186"/>
                </a:solidFill>
                <a:latin typeface="Calibri" pitchFamily="34" charset="0"/>
                <a:ea typeface="Calibri" pitchFamily="34" charset="-122"/>
                <a:cs typeface="Calibri" pitchFamily="34" charset="-120"/>
              </a:rPr>
              <a:t>L2</a:t>
            </a:r>
            <a:endParaRPr lang="en-US" sz="950" dirty="0"/>
          </a:p>
        </p:txBody>
      </p:sp>
      <p:sp>
        <p:nvSpPr>
          <p:cNvPr id="44" name="Shape 42"/>
          <p:cNvSpPr/>
          <p:nvPr/>
        </p:nvSpPr>
        <p:spPr>
          <a:xfrm>
            <a:off x="8293608" y="1627632"/>
            <a:ext cx="3337560" cy="786384"/>
          </a:xfrm>
          <a:prstGeom prst="roundRect">
            <a:avLst>
              <a:gd name="adj" fmla="val 10465"/>
            </a:avLst>
          </a:prstGeom>
          <a:solidFill>
            <a:srgbClr val="F5F7FA"/>
          </a:solidFill>
          <a:ln w="12700">
            <a:solidFill>
              <a:srgbClr val="DDE5EE"/>
            </a:solidFill>
            <a:prstDash val="solid"/>
          </a:ln>
        </p:spPr>
        <p:txBody>
          <a:bodyPr/>
          <a:lstStyle/>
          <a:p>
            <a:endParaRPr lang="de-CH"/>
          </a:p>
        </p:txBody>
      </p:sp>
      <p:sp>
        <p:nvSpPr>
          <p:cNvPr id="45" name="Text 43"/>
          <p:cNvSpPr/>
          <p:nvPr/>
        </p:nvSpPr>
        <p:spPr>
          <a:xfrm>
            <a:off x="8531352" y="1627632"/>
            <a:ext cx="1371600" cy="786384"/>
          </a:xfrm>
          <a:prstGeom prst="rect">
            <a:avLst/>
          </a:prstGeom>
          <a:noFill/>
          <a:ln/>
        </p:spPr>
        <p:txBody>
          <a:bodyPr wrap="square" lIns="0" tIns="0" rIns="0" bIns="0" rtlCol="0" anchor="ctr"/>
          <a:lstStyle/>
          <a:p>
            <a:pPr marL="0" indent="0">
              <a:buNone/>
            </a:pPr>
            <a:r>
              <a:rPr lang="en-US" sz="2200" b="1" dirty="0">
                <a:solidFill>
                  <a:srgbClr val="12202E"/>
                </a:solidFill>
                <a:latin typeface="Cambria" pitchFamily="34" charset="0"/>
                <a:ea typeface="Cambria" pitchFamily="34" charset="-122"/>
                <a:cs typeface="Cambria" pitchFamily="34" charset="-120"/>
              </a:rPr>
              <a:t>19/19</a:t>
            </a:r>
            <a:endParaRPr lang="en-US" sz="2200" dirty="0"/>
          </a:p>
        </p:txBody>
      </p:sp>
      <p:sp>
        <p:nvSpPr>
          <p:cNvPr id="46" name="Text 44"/>
          <p:cNvSpPr/>
          <p:nvPr/>
        </p:nvSpPr>
        <p:spPr>
          <a:xfrm>
            <a:off x="9893808" y="1627632"/>
            <a:ext cx="1691640" cy="786384"/>
          </a:xfrm>
          <a:prstGeom prst="rect">
            <a:avLst/>
          </a:prstGeom>
          <a:noFill/>
          <a:ln/>
        </p:spPr>
        <p:txBody>
          <a:bodyPr wrap="square" lIns="0" tIns="0" rIns="0" bIns="0" rtlCol="0" anchor="ctr"/>
          <a:lstStyle/>
          <a:p>
            <a:pPr marL="0" indent="0">
              <a:buNone/>
            </a:pPr>
            <a:r>
              <a:rPr lang="en-US" sz="1050" dirty="0">
                <a:solidFill>
                  <a:srgbClr val="5D7186"/>
                </a:solidFill>
                <a:latin typeface="Calibri" pitchFamily="34" charset="0"/>
                <a:ea typeface="Calibri" pitchFamily="34" charset="-122"/>
                <a:cs typeface="Calibri" pitchFamily="34" charset="-120"/>
              </a:rPr>
              <a:t>decision-logic tests</a:t>
            </a:r>
            <a:endParaRPr lang="en-US" sz="1050" dirty="0"/>
          </a:p>
        </p:txBody>
      </p:sp>
      <p:sp>
        <p:nvSpPr>
          <p:cNvPr id="47" name="Shape 45"/>
          <p:cNvSpPr/>
          <p:nvPr/>
        </p:nvSpPr>
        <p:spPr>
          <a:xfrm>
            <a:off x="8293608" y="2542032"/>
            <a:ext cx="3337560" cy="786384"/>
          </a:xfrm>
          <a:prstGeom prst="roundRect">
            <a:avLst>
              <a:gd name="adj" fmla="val 10465"/>
            </a:avLst>
          </a:prstGeom>
          <a:solidFill>
            <a:srgbClr val="F5F7FA"/>
          </a:solidFill>
          <a:ln w="12700">
            <a:solidFill>
              <a:srgbClr val="DDE5EE"/>
            </a:solidFill>
            <a:prstDash val="solid"/>
          </a:ln>
        </p:spPr>
        <p:txBody>
          <a:bodyPr/>
          <a:lstStyle/>
          <a:p>
            <a:endParaRPr lang="de-CH"/>
          </a:p>
        </p:txBody>
      </p:sp>
      <p:sp>
        <p:nvSpPr>
          <p:cNvPr id="48" name="Text 46"/>
          <p:cNvSpPr/>
          <p:nvPr/>
        </p:nvSpPr>
        <p:spPr>
          <a:xfrm>
            <a:off x="8531352" y="2542032"/>
            <a:ext cx="1371600" cy="786384"/>
          </a:xfrm>
          <a:prstGeom prst="rect">
            <a:avLst/>
          </a:prstGeom>
          <a:noFill/>
          <a:ln/>
        </p:spPr>
        <p:txBody>
          <a:bodyPr wrap="square" lIns="0" tIns="0" rIns="0" bIns="0" rtlCol="0" anchor="ctr"/>
          <a:lstStyle/>
          <a:p>
            <a:pPr marL="0" indent="0">
              <a:buNone/>
            </a:pPr>
            <a:r>
              <a:rPr lang="en-US" sz="2200" b="1" dirty="0">
                <a:solidFill>
                  <a:srgbClr val="12202E"/>
                </a:solidFill>
                <a:latin typeface="Cambria" pitchFamily="34" charset="0"/>
                <a:ea typeface="Cambria" pitchFamily="34" charset="-122"/>
                <a:cs typeface="Cambria" pitchFamily="34" charset="-120"/>
              </a:rPr>
              <a:t>20/20</a:t>
            </a:r>
            <a:endParaRPr lang="en-US" sz="2200" dirty="0"/>
          </a:p>
        </p:txBody>
      </p:sp>
      <p:sp>
        <p:nvSpPr>
          <p:cNvPr id="49" name="Text 47"/>
          <p:cNvSpPr/>
          <p:nvPr/>
        </p:nvSpPr>
        <p:spPr>
          <a:xfrm>
            <a:off x="9893808" y="2542032"/>
            <a:ext cx="1691640" cy="786384"/>
          </a:xfrm>
          <a:prstGeom prst="rect">
            <a:avLst/>
          </a:prstGeom>
          <a:noFill/>
          <a:ln/>
        </p:spPr>
        <p:txBody>
          <a:bodyPr wrap="square" lIns="0" tIns="0" rIns="0" bIns="0" rtlCol="0" anchor="ctr"/>
          <a:lstStyle/>
          <a:p>
            <a:pPr marL="0" indent="0">
              <a:buNone/>
            </a:pPr>
            <a:r>
              <a:rPr lang="en-US" sz="1050" dirty="0">
                <a:solidFill>
                  <a:srgbClr val="5D7186"/>
                </a:solidFill>
                <a:latin typeface="Calibri" pitchFamily="34" charset="0"/>
                <a:ea typeface="Calibri" pitchFamily="34" charset="-122"/>
                <a:cs typeface="Calibri" pitchFamily="34" charset="-120"/>
              </a:rPr>
              <a:t>FHIR conformance checks</a:t>
            </a:r>
            <a:endParaRPr lang="en-US" sz="1050" dirty="0"/>
          </a:p>
        </p:txBody>
      </p:sp>
      <p:sp>
        <p:nvSpPr>
          <p:cNvPr id="50" name="Shape 48"/>
          <p:cNvSpPr/>
          <p:nvPr/>
        </p:nvSpPr>
        <p:spPr>
          <a:xfrm>
            <a:off x="8293608" y="3456432"/>
            <a:ext cx="3337560" cy="786384"/>
          </a:xfrm>
          <a:prstGeom prst="roundRect">
            <a:avLst>
              <a:gd name="adj" fmla="val 10465"/>
            </a:avLst>
          </a:prstGeom>
          <a:solidFill>
            <a:srgbClr val="F5F7FA"/>
          </a:solidFill>
          <a:ln w="12700">
            <a:solidFill>
              <a:srgbClr val="DDE5EE"/>
            </a:solidFill>
            <a:prstDash val="solid"/>
          </a:ln>
        </p:spPr>
        <p:txBody>
          <a:bodyPr/>
          <a:lstStyle/>
          <a:p>
            <a:endParaRPr lang="de-CH"/>
          </a:p>
        </p:txBody>
      </p:sp>
      <p:sp>
        <p:nvSpPr>
          <p:cNvPr id="51" name="Text 49"/>
          <p:cNvSpPr/>
          <p:nvPr/>
        </p:nvSpPr>
        <p:spPr>
          <a:xfrm>
            <a:off x="8531352" y="3456432"/>
            <a:ext cx="1371600" cy="786384"/>
          </a:xfrm>
          <a:prstGeom prst="rect">
            <a:avLst/>
          </a:prstGeom>
          <a:noFill/>
          <a:ln/>
        </p:spPr>
        <p:txBody>
          <a:bodyPr wrap="square" lIns="0" tIns="0" rIns="0" bIns="0" rtlCol="0" anchor="ctr"/>
          <a:lstStyle/>
          <a:p>
            <a:pPr marL="0" indent="0">
              <a:buNone/>
            </a:pPr>
            <a:r>
              <a:rPr lang="en-US" sz="2200" b="1" dirty="0">
                <a:solidFill>
                  <a:srgbClr val="12202E"/>
                </a:solidFill>
                <a:latin typeface="Cambria" pitchFamily="34" charset="0"/>
                <a:ea typeface="Cambria" pitchFamily="34" charset="-122"/>
                <a:cs typeface="Cambria" pitchFamily="34" charset="-120"/>
              </a:rPr>
              <a:t>6</a:t>
            </a:r>
            <a:endParaRPr lang="en-US" sz="2200" dirty="0"/>
          </a:p>
        </p:txBody>
      </p:sp>
      <p:sp>
        <p:nvSpPr>
          <p:cNvPr id="52" name="Text 50"/>
          <p:cNvSpPr/>
          <p:nvPr/>
        </p:nvSpPr>
        <p:spPr>
          <a:xfrm>
            <a:off x="9893808" y="3456432"/>
            <a:ext cx="1691640" cy="786384"/>
          </a:xfrm>
          <a:prstGeom prst="rect">
            <a:avLst/>
          </a:prstGeom>
          <a:noFill/>
          <a:ln/>
        </p:spPr>
        <p:txBody>
          <a:bodyPr wrap="square" lIns="0" tIns="0" rIns="0" bIns="0" rtlCol="0" anchor="ctr"/>
          <a:lstStyle/>
          <a:p>
            <a:pPr marL="0" indent="0">
              <a:buNone/>
            </a:pPr>
            <a:r>
              <a:rPr lang="en-US" sz="1050" dirty="0">
                <a:solidFill>
                  <a:srgbClr val="5D7186"/>
                </a:solidFill>
                <a:latin typeface="Calibri" pitchFamily="34" charset="0"/>
                <a:ea typeface="Calibri" pitchFamily="34" charset="-122"/>
                <a:cs typeface="Calibri" pitchFamily="34" charset="-120"/>
              </a:rPr>
              <a:t>hazards ranked</a:t>
            </a:r>
            <a:endParaRPr lang="en-US" sz="1050" dirty="0"/>
          </a:p>
        </p:txBody>
      </p:sp>
      <p:sp>
        <p:nvSpPr>
          <p:cNvPr id="53" name="Shape 51"/>
          <p:cNvSpPr/>
          <p:nvPr/>
        </p:nvSpPr>
        <p:spPr>
          <a:xfrm>
            <a:off x="8293608" y="4370832"/>
            <a:ext cx="3337560" cy="1664208"/>
          </a:xfrm>
          <a:prstGeom prst="roundRect">
            <a:avLst>
              <a:gd name="adj" fmla="val 4945"/>
            </a:avLst>
          </a:prstGeom>
          <a:solidFill>
            <a:srgbClr val="12202E"/>
          </a:solidFill>
          <a:ln w="12700">
            <a:solidFill>
              <a:srgbClr val="12202E"/>
            </a:solidFill>
            <a:prstDash val="solid"/>
          </a:ln>
        </p:spPr>
        <p:txBody>
          <a:bodyPr/>
          <a:lstStyle/>
          <a:p>
            <a:endParaRPr lang="de-CH"/>
          </a:p>
        </p:txBody>
      </p:sp>
      <p:sp>
        <p:nvSpPr>
          <p:cNvPr id="54" name="Text 52"/>
          <p:cNvSpPr/>
          <p:nvPr/>
        </p:nvSpPr>
        <p:spPr>
          <a:xfrm>
            <a:off x="8531352" y="4535424"/>
            <a:ext cx="283464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Residual risk</a:t>
            </a:r>
            <a:endParaRPr lang="en-US" sz="1200" dirty="0"/>
          </a:p>
        </p:txBody>
      </p:sp>
      <p:sp>
        <p:nvSpPr>
          <p:cNvPr id="55" name="Text 53"/>
          <p:cNvSpPr/>
          <p:nvPr/>
        </p:nvSpPr>
        <p:spPr>
          <a:xfrm>
            <a:off x="8531352" y="4846320"/>
            <a:ext cx="2834640" cy="1097280"/>
          </a:xfrm>
          <a:prstGeom prst="rect">
            <a:avLst/>
          </a:prstGeom>
          <a:noFill/>
          <a:ln/>
        </p:spPr>
        <p:txBody>
          <a:bodyPr wrap="square" lIns="0" tIns="0" rIns="0" bIns="0" rtlCol="0" anchor="t"/>
          <a:lstStyle/>
          <a:p>
            <a:pPr marL="0" indent="0">
              <a:lnSpc>
                <a:spcPts val="1400"/>
              </a:lnSpc>
              <a:buNone/>
            </a:pPr>
            <a:r>
              <a:rPr lang="en-US" sz="1050" dirty="0">
                <a:solidFill>
                  <a:srgbClr val="C9D6E4"/>
                </a:solidFill>
                <a:latin typeface="Calibri" pitchFamily="34" charset="0"/>
                <a:ea typeface="Calibri" pitchFamily="34" charset="-122"/>
                <a:cs typeface="Calibri" pitchFamily="34" charset="-120"/>
              </a:rPr>
              <a:t>We never tested the one thing our whole approach rests on: whether laypeople assign the images correctly. That is monitored after deployment — GREEN cases that still present to a physician within 72 h.</a:t>
            </a:r>
            <a:endParaRPr lang="en-US" sz="1050" dirty="0"/>
          </a:p>
        </p:txBody>
      </p:sp>
      <p:sp>
        <p:nvSpPr>
          <p:cNvPr id="56" name="Text 54"/>
          <p:cNvSpPr/>
          <p:nvPr/>
        </p:nvSpPr>
        <p:spPr>
          <a:xfrm>
            <a:off x="566928" y="6089904"/>
            <a:ext cx="7132320" cy="274320"/>
          </a:xfrm>
          <a:prstGeom prst="rect">
            <a:avLst/>
          </a:prstGeom>
          <a:noFill/>
          <a:ln/>
        </p:spPr>
        <p:txBody>
          <a:bodyPr wrap="square" lIns="0" tIns="0" rIns="0" bIns="0" rtlCol="0" anchor="ctr"/>
          <a:lstStyle/>
          <a:p>
            <a:pPr marL="0" indent="0">
              <a:buNone/>
            </a:pPr>
            <a:r>
              <a:rPr lang="en-US" sz="1100" i="1" dirty="0">
                <a:solidFill>
                  <a:srgbClr val="5D7186"/>
                </a:solidFill>
                <a:latin typeface="Calibri" pitchFamily="34" charset="0"/>
                <a:ea typeface="Calibri" pitchFamily="34" charset="-122"/>
                <a:cs typeface="Calibri" pitchFamily="34" charset="-120"/>
              </a:rPr>
              <a:t>Risk-based testing per Day 5: identify hazards → rank by risk → test critical paths first → document residual risk.</a:t>
            </a:r>
            <a:endParaRPr lang="en-US" sz="1100" dirty="0"/>
          </a:p>
        </p:txBody>
      </p:sp>
      <p:sp>
        <p:nvSpPr>
          <p:cNvPr id="58" name="Text 11">
            <a:extLst>
              <a:ext uri="{FF2B5EF4-FFF2-40B4-BE49-F238E27FC236}">
                <a16:creationId xmlns:a16="http://schemas.microsoft.com/office/drawing/2014/main" id="{82604AB6-910A-9753-1B24-5B475870379D}"/>
              </a:ext>
            </a:extLst>
          </p:cNvPr>
          <p:cNvSpPr/>
          <p:nvPr/>
        </p:nvSpPr>
        <p:spPr>
          <a:xfrm>
            <a:off x="57709" y="6568124"/>
            <a:ext cx="8229600" cy="274320"/>
          </a:xfrm>
          <a:prstGeom prst="rect">
            <a:avLst/>
          </a:prstGeom>
          <a:noFill/>
          <a:ln/>
        </p:spPr>
        <p:txBody>
          <a:bodyPr wrap="square" lIns="0" tIns="0" rIns="0" bIns="0" rtlCol="0" anchor="ctr"/>
          <a:lstStyle/>
          <a:p>
            <a:pPr marL="0" indent="0">
              <a:buNone/>
            </a:pPr>
            <a:r>
              <a:rPr lang="en-US" sz="900">
                <a:solidFill>
                  <a:srgbClr val="8FA3B8"/>
                </a:solidFill>
                <a:latin typeface="Calibri" pitchFamily="34" charset="0"/>
                <a:ea typeface="Calibri" pitchFamily="34" charset="-122"/>
                <a:cs typeface="Calibri" pitchFamily="34" charset="-120"/>
              </a:rPr>
              <a:t>FHNW  ·  MSc Medical Informatics  ·  Clinical Decision Support Systems 2026</a:t>
            </a:r>
            <a:endParaRPr lang="en-US" sz="900"/>
          </a:p>
        </p:txBody>
      </p:sp>
      <p:pic>
        <p:nvPicPr>
          <p:cNvPr id="60" name="Grafik 59">
            <a:extLst>
              <a:ext uri="{FF2B5EF4-FFF2-40B4-BE49-F238E27FC236}">
                <a16:creationId xmlns:a16="http://schemas.microsoft.com/office/drawing/2014/main" id="{924748A3-D1AC-0616-0CC7-1852AA70FEA2}"/>
              </a:ext>
            </a:extLst>
          </p:cNvPr>
          <p:cNvPicPr>
            <a:picLocks noChangeAspect="1"/>
          </p:cNvPicPr>
          <p:nvPr/>
        </p:nvPicPr>
        <p:blipFill>
          <a:blip r:embed="rId3">
            <a:duotone>
              <a:schemeClr val="accent3">
                <a:shade val="45000"/>
                <a:satMod val="135000"/>
              </a:schemeClr>
              <a:prstClr val="white"/>
            </a:duotone>
          </a:blip>
          <a:stretch>
            <a:fillRect/>
          </a:stretch>
        </p:blipFill>
        <p:spPr>
          <a:xfrm>
            <a:off x="57709" y="47504"/>
            <a:ext cx="1012490" cy="23624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7680960" cy="219456"/>
          </a:xfrm>
          <a:prstGeom prst="rect">
            <a:avLst/>
          </a:prstGeom>
          <a:noFill/>
          <a:ln/>
        </p:spPr>
        <p:txBody>
          <a:bodyPr wrap="square" lIns="0" tIns="0" rIns="0" bIns="0" rtlCol="0" anchor="ctr"/>
          <a:lstStyle/>
          <a:p>
            <a:pPr marL="0" indent="0">
              <a:buNone/>
            </a:pPr>
            <a:r>
              <a:rPr lang="en-US" sz="1050" b="1" kern="0" spc="160" dirty="0">
                <a:solidFill>
                  <a:srgbClr val="5D7186"/>
                </a:solidFill>
                <a:latin typeface="Calibri" pitchFamily="34" charset="0"/>
                <a:ea typeface="Calibri" pitchFamily="34" charset="-122"/>
                <a:cs typeface="Calibri" pitchFamily="34" charset="-120"/>
              </a:rPr>
              <a:t>IMPLEMENTATION, MONITORING &amp; EVALUATION</a:t>
            </a:r>
            <a:endParaRPr lang="en-US" sz="1050" dirty="0"/>
          </a:p>
        </p:txBody>
      </p:sp>
      <p:sp>
        <p:nvSpPr>
          <p:cNvPr id="3" name="Text 1"/>
          <p:cNvSpPr/>
          <p:nvPr/>
        </p:nvSpPr>
        <p:spPr>
          <a:xfrm>
            <a:off x="566928" y="640080"/>
            <a:ext cx="10607040" cy="658368"/>
          </a:xfrm>
          <a:prstGeom prst="rect">
            <a:avLst/>
          </a:prstGeom>
          <a:noFill/>
          <a:ln/>
        </p:spPr>
        <p:txBody>
          <a:bodyPr wrap="square" lIns="0" tIns="0" rIns="0" bIns="0" rtlCol="0" anchor="t"/>
          <a:lstStyle/>
          <a:p>
            <a:pPr marL="0" indent="0">
              <a:buNone/>
            </a:pPr>
            <a:r>
              <a:rPr lang="en-US" sz="2700" b="1" dirty="0">
                <a:solidFill>
                  <a:srgbClr val="12202E"/>
                </a:solidFill>
                <a:latin typeface="Cambria" pitchFamily="34" charset="0"/>
                <a:ea typeface="Cambria" pitchFamily="34" charset="-122"/>
                <a:cs typeface="Cambria" pitchFamily="34" charset="-120"/>
              </a:rPr>
              <a:t>How it reaches users, how it is maintained &amp;</a:t>
            </a:r>
          </a:p>
          <a:p>
            <a:pPr marL="0" indent="0">
              <a:buNone/>
            </a:pPr>
            <a:r>
              <a:rPr lang="en-US" sz="2700" b="1" dirty="0">
                <a:solidFill>
                  <a:srgbClr val="12202E"/>
                </a:solidFill>
                <a:latin typeface="Cambria" pitchFamily="34" charset="0"/>
                <a:ea typeface="Cambria" pitchFamily="34" charset="-122"/>
                <a:cs typeface="Cambria" pitchFamily="34" charset="-120"/>
              </a:rPr>
              <a:t>how we would know it works</a:t>
            </a:r>
            <a:endParaRPr lang="en-US" sz="2700" dirty="0"/>
          </a:p>
        </p:txBody>
      </p:sp>
      <p:sp>
        <p:nvSpPr>
          <p:cNvPr id="4" name="Shape 2"/>
          <p:cNvSpPr/>
          <p:nvPr/>
        </p:nvSpPr>
        <p:spPr>
          <a:xfrm>
            <a:off x="566928" y="1609344"/>
            <a:ext cx="1956816" cy="969264"/>
          </a:xfrm>
          <a:prstGeom prst="roundRect">
            <a:avLst>
              <a:gd name="adj" fmla="val 8491"/>
            </a:avLst>
          </a:prstGeom>
          <a:solidFill>
            <a:srgbClr val="FFFFFF"/>
          </a:solidFill>
          <a:ln w="12700">
            <a:solidFill>
              <a:srgbClr val="DDE5EE"/>
            </a:solidFill>
            <a:prstDash val="solid"/>
          </a:ln>
        </p:spPr>
        <p:txBody>
          <a:bodyPr/>
          <a:lstStyle/>
          <a:p>
            <a:endParaRPr lang="de-CH"/>
          </a:p>
        </p:txBody>
      </p:sp>
      <p:sp>
        <p:nvSpPr>
          <p:cNvPr id="5" name="Text 3"/>
          <p:cNvSpPr/>
          <p:nvPr/>
        </p:nvSpPr>
        <p:spPr>
          <a:xfrm>
            <a:off x="731520" y="1682496"/>
            <a:ext cx="1691640" cy="256032"/>
          </a:xfrm>
          <a:prstGeom prst="rect">
            <a:avLst/>
          </a:prstGeom>
          <a:noFill/>
          <a:ln/>
        </p:spPr>
        <p:txBody>
          <a:bodyPr wrap="square" lIns="0" tIns="0" rIns="0" bIns="0" rtlCol="0" anchor="ctr"/>
          <a:lstStyle/>
          <a:p>
            <a:pPr marL="0" indent="0">
              <a:buNone/>
            </a:pPr>
            <a:r>
              <a:rPr lang="en-US" sz="1150" b="1" dirty="0">
                <a:solidFill>
                  <a:srgbClr val="12202E"/>
                </a:solidFill>
                <a:latin typeface="Calibri" pitchFamily="34" charset="0"/>
                <a:ea typeface="Calibri" pitchFamily="34" charset="-122"/>
                <a:cs typeface="Calibri" pitchFamily="34" charset="-120"/>
              </a:rPr>
              <a:t>0 · Preparation</a:t>
            </a:r>
            <a:endParaRPr lang="en-US" sz="1150" dirty="0"/>
          </a:p>
        </p:txBody>
      </p:sp>
      <p:sp>
        <p:nvSpPr>
          <p:cNvPr id="6" name="Text 4"/>
          <p:cNvSpPr/>
          <p:nvPr/>
        </p:nvSpPr>
        <p:spPr>
          <a:xfrm>
            <a:off x="731520" y="1920240"/>
            <a:ext cx="1691640" cy="384048"/>
          </a:xfrm>
          <a:prstGeom prst="rect">
            <a:avLst/>
          </a:prstGeom>
          <a:noFill/>
          <a:ln/>
        </p:spPr>
        <p:txBody>
          <a:bodyPr wrap="square" lIns="0" tIns="0" rIns="0" bIns="0" rtlCol="0" anchor="ctr"/>
          <a:lstStyle/>
          <a:p>
            <a:pPr marL="0" indent="0">
              <a:lnSpc>
                <a:spcPts val="1200"/>
              </a:lnSpc>
              <a:buNone/>
            </a:pPr>
            <a:r>
              <a:rPr lang="en-US" sz="950" dirty="0">
                <a:solidFill>
                  <a:srgbClr val="5D7186"/>
                </a:solidFill>
                <a:latin typeface="Calibri" pitchFamily="34" charset="0"/>
                <a:ea typeface="Calibri" pitchFamily="34" charset="-122"/>
                <a:cs typeface="Calibri" pitchFamily="34" charset="-120"/>
              </a:rPr>
              <a:t>clinical sign-off</a:t>
            </a:r>
            <a:endParaRPr lang="en-US" sz="950" dirty="0"/>
          </a:p>
        </p:txBody>
      </p:sp>
      <p:sp>
        <p:nvSpPr>
          <p:cNvPr id="7" name="Text 5"/>
          <p:cNvSpPr/>
          <p:nvPr/>
        </p:nvSpPr>
        <p:spPr>
          <a:xfrm>
            <a:off x="731520" y="2304288"/>
            <a:ext cx="1691640" cy="201168"/>
          </a:xfrm>
          <a:prstGeom prst="rect">
            <a:avLst/>
          </a:prstGeom>
          <a:noFill/>
          <a:ln/>
        </p:spPr>
        <p:txBody>
          <a:bodyPr wrap="square" lIns="0" tIns="0" rIns="0" bIns="0" rtlCol="0" anchor="ctr"/>
          <a:lstStyle/>
          <a:p>
            <a:pPr marL="0" indent="0">
              <a:buNone/>
            </a:pPr>
            <a:r>
              <a:rPr lang="en-US" sz="900" i="1" dirty="0">
                <a:solidFill>
                  <a:srgbClr val="5D7186"/>
                </a:solidFill>
                <a:latin typeface="Calibri" pitchFamily="34" charset="0"/>
                <a:ea typeface="Calibri" pitchFamily="34" charset="-122"/>
                <a:cs typeface="Calibri" pitchFamily="34" charset="-120"/>
              </a:rPr>
              <a:t>4 wk</a:t>
            </a:r>
            <a:endParaRPr lang="en-US" sz="900" dirty="0"/>
          </a:p>
        </p:txBody>
      </p:sp>
      <p:sp>
        <p:nvSpPr>
          <p:cNvPr id="8" name="Shape 6"/>
          <p:cNvSpPr/>
          <p:nvPr/>
        </p:nvSpPr>
        <p:spPr>
          <a:xfrm>
            <a:off x="2843784" y="1609344"/>
            <a:ext cx="1956816" cy="969264"/>
          </a:xfrm>
          <a:prstGeom prst="roundRect">
            <a:avLst>
              <a:gd name="adj" fmla="val 8491"/>
            </a:avLst>
          </a:prstGeom>
          <a:solidFill>
            <a:srgbClr val="12202E"/>
          </a:solidFill>
          <a:ln w="12700">
            <a:solidFill>
              <a:srgbClr val="12202E"/>
            </a:solidFill>
            <a:prstDash val="solid"/>
          </a:ln>
        </p:spPr>
        <p:txBody>
          <a:bodyPr/>
          <a:lstStyle/>
          <a:p>
            <a:endParaRPr lang="de-CH"/>
          </a:p>
        </p:txBody>
      </p:sp>
      <p:sp>
        <p:nvSpPr>
          <p:cNvPr id="9" name="Text 7"/>
          <p:cNvSpPr/>
          <p:nvPr/>
        </p:nvSpPr>
        <p:spPr>
          <a:xfrm>
            <a:off x="3008376" y="1682496"/>
            <a:ext cx="1691640" cy="256032"/>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1 · Pilot</a:t>
            </a:r>
            <a:endParaRPr lang="en-US" sz="1150" dirty="0"/>
          </a:p>
        </p:txBody>
      </p:sp>
      <p:sp>
        <p:nvSpPr>
          <p:cNvPr id="10" name="Text 8"/>
          <p:cNvSpPr/>
          <p:nvPr/>
        </p:nvSpPr>
        <p:spPr>
          <a:xfrm>
            <a:off x="3008376" y="1920240"/>
            <a:ext cx="1691640" cy="384048"/>
          </a:xfrm>
          <a:prstGeom prst="rect">
            <a:avLst/>
          </a:prstGeom>
          <a:noFill/>
          <a:ln/>
        </p:spPr>
        <p:txBody>
          <a:bodyPr wrap="square" lIns="0" tIns="0" rIns="0" bIns="0" rtlCol="0" anchor="ctr"/>
          <a:lstStyle/>
          <a:p>
            <a:pPr marL="0" indent="0">
              <a:lnSpc>
                <a:spcPts val="1200"/>
              </a:lnSpc>
              <a:buNone/>
            </a:pPr>
            <a:r>
              <a:rPr lang="en-US" sz="950" dirty="0">
                <a:solidFill>
                  <a:srgbClr val="C9D6E4"/>
                </a:solidFill>
                <a:latin typeface="Calibri" pitchFamily="34" charset="0"/>
                <a:ea typeface="Calibri" pitchFamily="34" charset="-122"/>
                <a:cs typeface="Calibri" pitchFamily="34" charset="-120"/>
              </a:rPr>
              <a:t>1 hospital, 30 patients</a:t>
            </a:r>
            <a:endParaRPr lang="en-US" sz="950" dirty="0"/>
          </a:p>
        </p:txBody>
      </p:sp>
      <p:sp>
        <p:nvSpPr>
          <p:cNvPr id="11" name="Text 9"/>
          <p:cNvSpPr/>
          <p:nvPr/>
        </p:nvSpPr>
        <p:spPr>
          <a:xfrm>
            <a:off x="3008376" y="2304288"/>
            <a:ext cx="1691640" cy="201168"/>
          </a:xfrm>
          <a:prstGeom prst="rect">
            <a:avLst/>
          </a:prstGeom>
          <a:noFill/>
          <a:ln/>
        </p:spPr>
        <p:txBody>
          <a:bodyPr wrap="square" lIns="0" tIns="0" rIns="0" bIns="0" rtlCol="0" anchor="ctr"/>
          <a:lstStyle/>
          <a:p>
            <a:pPr marL="0" indent="0">
              <a:buNone/>
            </a:pPr>
            <a:r>
              <a:rPr lang="en-US" sz="900" i="1" dirty="0">
                <a:solidFill>
                  <a:srgbClr val="8FA3B8"/>
                </a:solidFill>
                <a:latin typeface="Calibri" pitchFamily="34" charset="0"/>
                <a:ea typeface="Calibri" pitchFamily="34" charset="-122"/>
                <a:cs typeface="Calibri" pitchFamily="34" charset="-120"/>
              </a:rPr>
              <a:t>3 mo</a:t>
            </a:r>
            <a:endParaRPr lang="en-US" sz="900" dirty="0"/>
          </a:p>
        </p:txBody>
      </p:sp>
      <p:sp>
        <p:nvSpPr>
          <p:cNvPr id="12" name="Shape 10"/>
          <p:cNvSpPr/>
          <p:nvPr/>
        </p:nvSpPr>
        <p:spPr>
          <a:xfrm>
            <a:off x="5120640" y="1609344"/>
            <a:ext cx="1956816" cy="969264"/>
          </a:xfrm>
          <a:prstGeom prst="roundRect">
            <a:avLst>
              <a:gd name="adj" fmla="val 8491"/>
            </a:avLst>
          </a:prstGeom>
          <a:solidFill>
            <a:srgbClr val="FFFFFF"/>
          </a:solidFill>
          <a:ln w="12700">
            <a:solidFill>
              <a:srgbClr val="DDE5EE"/>
            </a:solidFill>
            <a:prstDash val="solid"/>
          </a:ln>
        </p:spPr>
        <p:txBody>
          <a:bodyPr/>
          <a:lstStyle/>
          <a:p>
            <a:endParaRPr lang="de-CH"/>
          </a:p>
        </p:txBody>
      </p:sp>
      <p:sp>
        <p:nvSpPr>
          <p:cNvPr id="13" name="Text 11"/>
          <p:cNvSpPr/>
          <p:nvPr/>
        </p:nvSpPr>
        <p:spPr>
          <a:xfrm>
            <a:off x="5285232" y="1682496"/>
            <a:ext cx="1691640" cy="256032"/>
          </a:xfrm>
          <a:prstGeom prst="rect">
            <a:avLst/>
          </a:prstGeom>
          <a:noFill/>
          <a:ln/>
        </p:spPr>
        <p:txBody>
          <a:bodyPr wrap="square" lIns="0" tIns="0" rIns="0" bIns="0" rtlCol="0" anchor="ctr"/>
          <a:lstStyle/>
          <a:p>
            <a:pPr marL="0" indent="0">
              <a:buNone/>
            </a:pPr>
            <a:r>
              <a:rPr lang="en-US" sz="1150" b="1" dirty="0">
                <a:solidFill>
                  <a:srgbClr val="12202E"/>
                </a:solidFill>
                <a:latin typeface="Calibri" pitchFamily="34" charset="0"/>
                <a:ea typeface="Calibri" pitchFamily="34" charset="-122"/>
                <a:cs typeface="Calibri" pitchFamily="34" charset="-120"/>
              </a:rPr>
              <a:t>2 · Evaluation</a:t>
            </a:r>
            <a:endParaRPr lang="en-US" sz="1150" dirty="0"/>
          </a:p>
        </p:txBody>
      </p:sp>
      <p:sp>
        <p:nvSpPr>
          <p:cNvPr id="14" name="Text 12"/>
          <p:cNvSpPr/>
          <p:nvPr/>
        </p:nvSpPr>
        <p:spPr>
          <a:xfrm>
            <a:off x="5285232" y="1920240"/>
            <a:ext cx="1691640" cy="384048"/>
          </a:xfrm>
          <a:prstGeom prst="rect">
            <a:avLst/>
          </a:prstGeom>
          <a:noFill/>
          <a:ln/>
        </p:spPr>
        <p:txBody>
          <a:bodyPr wrap="square" lIns="0" tIns="0" rIns="0" bIns="0" rtlCol="0" anchor="ctr"/>
          <a:lstStyle/>
          <a:p>
            <a:pPr marL="0" indent="0">
              <a:lnSpc>
                <a:spcPts val="1200"/>
              </a:lnSpc>
              <a:buNone/>
            </a:pPr>
            <a:r>
              <a:rPr lang="en-US" sz="950" dirty="0">
                <a:solidFill>
                  <a:srgbClr val="5D7186"/>
                </a:solidFill>
                <a:latin typeface="Calibri" pitchFamily="34" charset="0"/>
                <a:ea typeface="Calibri" pitchFamily="34" charset="-122"/>
                <a:cs typeface="Calibri" pitchFamily="34" charset="-120"/>
              </a:rPr>
              <a:t>rule revision, UX rework</a:t>
            </a:r>
            <a:endParaRPr lang="en-US" sz="950" dirty="0"/>
          </a:p>
        </p:txBody>
      </p:sp>
      <p:sp>
        <p:nvSpPr>
          <p:cNvPr id="15" name="Text 13"/>
          <p:cNvSpPr/>
          <p:nvPr/>
        </p:nvSpPr>
        <p:spPr>
          <a:xfrm>
            <a:off x="5285232" y="2304288"/>
            <a:ext cx="1691640" cy="201168"/>
          </a:xfrm>
          <a:prstGeom prst="rect">
            <a:avLst/>
          </a:prstGeom>
          <a:noFill/>
          <a:ln/>
        </p:spPr>
        <p:txBody>
          <a:bodyPr wrap="square" lIns="0" tIns="0" rIns="0" bIns="0" rtlCol="0" anchor="ctr"/>
          <a:lstStyle/>
          <a:p>
            <a:pPr marL="0" indent="0">
              <a:buNone/>
            </a:pPr>
            <a:r>
              <a:rPr lang="en-US" sz="900" i="1" dirty="0">
                <a:solidFill>
                  <a:srgbClr val="5D7186"/>
                </a:solidFill>
                <a:latin typeface="Calibri" pitchFamily="34" charset="0"/>
                <a:ea typeface="Calibri" pitchFamily="34" charset="-122"/>
                <a:cs typeface="Calibri" pitchFamily="34" charset="-120"/>
              </a:rPr>
              <a:t>2 mo</a:t>
            </a:r>
            <a:endParaRPr lang="en-US" sz="900" dirty="0"/>
          </a:p>
        </p:txBody>
      </p:sp>
      <p:sp>
        <p:nvSpPr>
          <p:cNvPr id="16" name="Shape 14"/>
          <p:cNvSpPr/>
          <p:nvPr/>
        </p:nvSpPr>
        <p:spPr>
          <a:xfrm>
            <a:off x="7397496" y="1609344"/>
            <a:ext cx="1956816" cy="969264"/>
          </a:xfrm>
          <a:prstGeom prst="roundRect">
            <a:avLst>
              <a:gd name="adj" fmla="val 8491"/>
            </a:avLst>
          </a:prstGeom>
          <a:solidFill>
            <a:srgbClr val="FFFFFF"/>
          </a:solidFill>
          <a:ln w="12700">
            <a:solidFill>
              <a:srgbClr val="DDE5EE"/>
            </a:solidFill>
            <a:prstDash val="solid"/>
          </a:ln>
        </p:spPr>
        <p:txBody>
          <a:bodyPr/>
          <a:lstStyle/>
          <a:p>
            <a:endParaRPr lang="de-CH"/>
          </a:p>
        </p:txBody>
      </p:sp>
      <p:sp>
        <p:nvSpPr>
          <p:cNvPr id="17" name="Text 15"/>
          <p:cNvSpPr/>
          <p:nvPr/>
        </p:nvSpPr>
        <p:spPr>
          <a:xfrm>
            <a:off x="7562088" y="1682496"/>
            <a:ext cx="1691640" cy="256032"/>
          </a:xfrm>
          <a:prstGeom prst="rect">
            <a:avLst/>
          </a:prstGeom>
          <a:noFill/>
          <a:ln/>
        </p:spPr>
        <p:txBody>
          <a:bodyPr wrap="square" lIns="0" tIns="0" rIns="0" bIns="0" rtlCol="0" anchor="ctr"/>
          <a:lstStyle/>
          <a:p>
            <a:pPr marL="0" indent="0">
              <a:buNone/>
            </a:pPr>
            <a:r>
              <a:rPr lang="en-US" sz="1150" b="1" dirty="0">
                <a:solidFill>
                  <a:srgbClr val="12202E"/>
                </a:solidFill>
                <a:latin typeface="Calibri" pitchFamily="34" charset="0"/>
                <a:ea typeface="Calibri" pitchFamily="34" charset="-122"/>
                <a:cs typeface="Calibri" pitchFamily="34" charset="-120"/>
              </a:rPr>
              <a:t>3 · Expansion</a:t>
            </a:r>
            <a:endParaRPr lang="en-US" sz="1150" dirty="0"/>
          </a:p>
        </p:txBody>
      </p:sp>
      <p:sp>
        <p:nvSpPr>
          <p:cNvPr id="18" name="Text 16"/>
          <p:cNvSpPr/>
          <p:nvPr/>
        </p:nvSpPr>
        <p:spPr>
          <a:xfrm>
            <a:off x="7562088" y="1920240"/>
            <a:ext cx="1691640" cy="384048"/>
          </a:xfrm>
          <a:prstGeom prst="rect">
            <a:avLst/>
          </a:prstGeom>
          <a:noFill/>
          <a:ln/>
        </p:spPr>
        <p:txBody>
          <a:bodyPr wrap="square" lIns="0" tIns="0" rIns="0" bIns="0" rtlCol="0" anchor="ctr"/>
          <a:lstStyle/>
          <a:p>
            <a:pPr marL="0" indent="0">
              <a:lnSpc>
                <a:spcPts val="1200"/>
              </a:lnSpc>
              <a:buNone/>
            </a:pPr>
            <a:r>
              <a:rPr lang="en-US" sz="950" dirty="0">
                <a:solidFill>
                  <a:srgbClr val="5D7186"/>
                </a:solidFill>
                <a:latin typeface="Calibri" pitchFamily="34" charset="0"/>
                <a:ea typeface="Calibri" pitchFamily="34" charset="-122"/>
                <a:cs typeface="Calibri" pitchFamily="34" charset="-120"/>
              </a:rPr>
              <a:t>HIS integration live</a:t>
            </a:r>
            <a:endParaRPr lang="en-US" sz="950" dirty="0"/>
          </a:p>
        </p:txBody>
      </p:sp>
      <p:sp>
        <p:nvSpPr>
          <p:cNvPr id="19" name="Text 17"/>
          <p:cNvSpPr/>
          <p:nvPr/>
        </p:nvSpPr>
        <p:spPr>
          <a:xfrm>
            <a:off x="7562088" y="2304288"/>
            <a:ext cx="1691640" cy="201168"/>
          </a:xfrm>
          <a:prstGeom prst="rect">
            <a:avLst/>
          </a:prstGeom>
          <a:noFill/>
          <a:ln/>
        </p:spPr>
        <p:txBody>
          <a:bodyPr wrap="square" lIns="0" tIns="0" rIns="0" bIns="0" rtlCol="0" anchor="ctr"/>
          <a:lstStyle/>
          <a:p>
            <a:pPr marL="0" indent="0">
              <a:buNone/>
            </a:pPr>
            <a:r>
              <a:rPr lang="en-US" sz="900" i="1" dirty="0">
                <a:solidFill>
                  <a:srgbClr val="5D7186"/>
                </a:solidFill>
                <a:latin typeface="Calibri" pitchFamily="34" charset="0"/>
                <a:ea typeface="Calibri" pitchFamily="34" charset="-122"/>
                <a:cs typeface="Calibri" pitchFamily="34" charset="-120"/>
              </a:rPr>
              <a:t>6 mo</a:t>
            </a:r>
            <a:endParaRPr lang="en-US" sz="900" dirty="0"/>
          </a:p>
        </p:txBody>
      </p:sp>
      <p:sp>
        <p:nvSpPr>
          <p:cNvPr id="20" name="Shape 18"/>
          <p:cNvSpPr/>
          <p:nvPr/>
        </p:nvSpPr>
        <p:spPr>
          <a:xfrm>
            <a:off x="9674352" y="1609344"/>
            <a:ext cx="1956816" cy="969264"/>
          </a:xfrm>
          <a:prstGeom prst="roundRect">
            <a:avLst>
              <a:gd name="adj" fmla="val 8491"/>
            </a:avLst>
          </a:prstGeom>
          <a:solidFill>
            <a:srgbClr val="FFFFFF"/>
          </a:solidFill>
          <a:ln w="12700">
            <a:solidFill>
              <a:srgbClr val="DDE5EE"/>
            </a:solidFill>
            <a:prstDash val="solid"/>
          </a:ln>
        </p:spPr>
        <p:txBody>
          <a:bodyPr/>
          <a:lstStyle/>
          <a:p>
            <a:endParaRPr lang="de-CH"/>
          </a:p>
        </p:txBody>
      </p:sp>
      <p:sp>
        <p:nvSpPr>
          <p:cNvPr id="21" name="Text 19"/>
          <p:cNvSpPr/>
          <p:nvPr/>
        </p:nvSpPr>
        <p:spPr>
          <a:xfrm>
            <a:off x="9838944" y="1682496"/>
            <a:ext cx="1691640" cy="256032"/>
          </a:xfrm>
          <a:prstGeom prst="rect">
            <a:avLst/>
          </a:prstGeom>
          <a:noFill/>
          <a:ln/>
        </p:spPr>
        <p:txBody>
          <a:bodyPr wrap="square" lIns="0" tIns="0" rIns="0" bIns="0" rtlCol="0" anchor="ctr"/>
          <a:lstStyle/>
          <a:p>
            <a:pPr marL="0" indent="0">
              <a:buNone/>
            </a:pPr>
            <a:r>
              <a:rPr lang="en-US" sz="1150" b="1" dirty="0">
                <a:solidFill>
                  <a:srgbClr val="12202E"/>
                </a:solidFill>
                <a:latin typeface="Calibri" pitchFamily="34" charset="0"/>
                <a:ea typeface="Calibri" pitchFamily="34" charset="-122"/>
                <a:cs typeface="Calibri" pitchFamily="34" charset="-120"/>
              </a:rPr>
              <a:t>4 · Scaling</a:t>
            </a:r>
            <a:endParaRPr lang="en-US" sz="1150" dirty="0"/>
          </a:p>
        </p:txBody>
      </p:sp>
      <p:sp>
        <p:nvSpPr>
          <p:cNvPr id="22" name="Text 20"/>
          <p:cNvSpPr/>
          <p:nvPr/>
        </p:nvSpPr>
        <p:spPr>
          <a:xfrm>
            <a:off x="9838944" y="1920240"/>
            <a:ext cx="1691640" cy="384048"/>
          </a:xfrm>
          <a:prstGeom prst="rect">
            <a:avLst/>
          </a:prstGeom>
          <a:noFill/>
          <a:ln/>
        </p:spPr>
        <p:txBody>
          <a:bodyPr wrap="square" lIns="0" tIns="0" rIns="0" bIns="0" rtlCol="0" anchor="ctr"/>
          <a:lstStyle/>
          <a:p>
            <a:pPr marL="0" indent="0">
              <a:lnSpc>
                <a:spcPts val="1200"/>
              </a:lnSpc>
              <a:buNone/>
            </a:pPr>
            <a:r>
              <a:rPr lang="en-US" sz="950" dirty="0">
                <a:solidFill>
                  <a:srgbClr val="5D7186"/>
                </a:solidFill>
                <a:latin typeface="Calibri" pitchFamily="34" charset="0"/>
                <a:ea typeface="Calibri" pitchFamily="34" charset="-122"/>
                <a:cs typeface="Calibri" pitchFamily="34" charset="-120"/>
              </a:rPr>
              <a:t>further sites, languages</a:t>
            </a:r>
            <a:endParaRPr lang="en-US" sz="950" dirty="0"/>
          </a:p>
        </p:txBody>
      </p:sp>
      <p:sp>
        <p:nvSpPr>
          <p:cNvPr id="23" name="Text 21"/>
          <p:cNvSpPr/>
          <p:nvPr/>
        </p:nvSpPr>
        <p:spPr>
          <a:xfrm>
            <a:off x="9838944" y="2304288"/>
            <a:ext cx="1691640" cy="201168"/>
          </a:xfrm>
          <a:prstGeom prst="rect">
            <a:avLst/>
          </a:prstGeom>
          <a:noFill/>
          <a:ln/>
        </p:spPr>
        <p:txBody>
          <a:bodyPr wrap="square" lIns="0" tIns="0" rIns="0" bIns="0" rtlCol="0" anchor="ctr"/>
          <a:lstStyle/>
          <a:p>
            <a:pPr marL="0" indent="0">
              <a:buNone/>
            </a:pPr>
            <a:r>
              <a:rPr lang="en-US" sz="900" i="1" dirty="0">
                <a:solidFill>
                  <a:srgbClr val="5D7186"/>
                </a:solidFill>
                <a:latin typeface="Calibri" pitchFamily="34" charset="0"/>
                <a:ea typeface="Calibri" pitchFamily="34" charset="-122"/>
                <a:cs typeface="Calibri" pitchFamily="34" charset="-120"/>
              </a:rPr>
              <a:t>open</a:t>
            </a:r>
            <a:endParaRPr lang="en-US" sz="900" dirty="0"/>
          </a:p>
        </p:txBody>
      </p:sp>
      <p:sp>
        <p:nvSpPr>
          <p:cNvPr id="24" name="Text 22"/>
          <p:cNvSpPr/>
          <p:nvPr/>
        </p:nvSpPr>
        <p:spPr>
          <a:xfrm>
            <a:off x="566928" y="2798064"/>
            <a:ext cx="3474720" cy="274320"/>
          </a:xfrm>
          <a:prstGeom prst="rect">
            <a:avLst/>
          </a:prstGeom>
          <a:noFill/>
          <a:ln/>
        </p:spPr>
        <p:txBody>
          <a:bodyPr wrap="square" lIns="0" tIns="0" rIns="0" bIns="0" rtlCol="0" anchor="ctr"/>
          <a:lstStyle/>
          <a:p>
            <a:pPr marL="0" indent="0">
              <a:buNone/>
            </a:pPr>
            <a:r>
              <a:rPr lang="en-US" sz="1300" b="1" dirty="0">
                <a:solidFill>
                  <a:srgbClr val="12202E"/>
                </a:solidFill>
                <a:latin typeface="Calibri" pitchFamily="34" charset="0"/>
                <a:ea typeface="Calibri" pitchFamily="34" charset="-122"/>
                <a:cs typeface="Calibri" pitchFamily="34" charset="-120"/>
              </a:rPr>
              <a:t>Implementation</a:t>
            </a:r>
            <a:endParaRPr lang="en-US" sz="1300" dirty="0"/>
          </a:p>
        </p:txBody>
      </p:sp>
      <p:sp>
        <p:nvSpPr>
          <p:cNvPr id="25" name="Shape 23"/>
          <p:cNvSpPr/>
          <p:nvPr/>
        </p:nvSpPr>
        <p:spPr>
          <a:xfrm>
            <a:off x="566928" y="3145536"/>
            <a:ext cx="3538728" cy="658368"/>
          </a:xfrm>
          <a:prstGeom prst="roundRect">
            <a:avLst>
              <a:gd name="adj" fmla="val 12500"/>
            </a:avLst>
          </a:prstGeom>
          <a:solidFill>
            <a:srgbClr val="F5F7FA"/>
          </a:solidFill>
          <a:ln w="12700">
            <a:solidFill>
              <a:srgbClr val="DDE5EE"/>
            </a:solidFill>
            <a:prstDash val="solid"/>
          </a:ln>
        </p:spPr>
        <p:txBody>
          <a:bodyPr/>
          <a:lstStyle/>
          <a:p>
            <a:endParaRPr lang="de-CH"/>
          </a:p>
        </p:txBody>
      </p:sp>
      <p:sp>
        <p:nvSpPr>
          <p:cNvPr id="26" name="Text 24"/>
          <p:cNvSpPr/>
          <p:nvPr/>
        </p:nvSpPr>
        <p:spPr>
          <a:xfrm>
            <a:off x="768096" y="3191256"/>
            <a:ext cx="3108960" cy="219456"/>
          </a:xfrm>
          <a:prstGeom prst="rect">
            <a:avLst/>
          </a:prstGeom>
          <a:noFill/>
          <a:ln/>
        </p:spPr>
        <p:txBody>
          <a:bodyPr wrap="square" lIns="0" tIns="0" rIns="0" bIns="0" rtlCol="0" anchor="ctr"/>
          <a:lstStyle/>
          <a:p>
            <a:pPr marL="0" indent="0">
              <a:buNone/>
            </a:pPr>
            <a:r>
              <a:rPr lang="en-US" sz="1100" b="1" dirty="0">
                <a:solidFill>
                  <a:srgbClr val="12202E"/>
                </a:solidFill>
                <a:latin typeface="Calibri" pitchFamily="34" charset="0"/>
                <a:ea typeface="Calibri" pitchFamily="34" charset="-122"/>
                <a:cs typeface="Calibri" pitchFamily="34" charset="-120"/>
              </a:rPr>
              <a:t>Provision</a:t>
            </a:r>
            <a:endParaRPr lang="en-US" sz="1100" dirty="0"/>
          </a:p>
        </p:txBody>
      </p:sp>
      <p:sp>
        <p:nvSpPr>
          <p:cNvPr id="27" name="Text 25"/>
          <p:cNvSpPr/>
          <p:nvPr/>
        </p:nvSpPr>
        <p:spPr>
          <a:xfrm>
            <a:off x="768096" y="3401568"/>
            <a:ext cx="3108960" cy="384048"/>
          </a:xfrm>
          <a:prstGeom prst="rect">
            <a:avLst/>
          </a:prstGeom>
          <a:noFill/>
          <a:ln/>
        </p:spPr>
        <p:txBody>
          <a:bodyPr wrap="square" lIns="0" tIns="0" rIns="0" bIns="0" rtlCol="0" anchor="ctr"/>
          <a:lstStyle/>
          <a:p>
            <a:pPr marL="0" indent="0">
              <a:lnSpc>
                <a:spcPts val="1200"/>
              </a:lnSpc>
              <a:buNone/>
            </a:pPr>
            <a:r>
              <a:rPr lang="en-US" sz="950" dirty="0">
                <a:solidFill>
                  <a:srgbClr val="5D7186"/>
                </a:solidFill>
                <a:latin typeface="Calibri" pitchFamily="34" charset="0"/>
                <a:ea typeface="Calibri" pitchFamily="34" charset="-122"/>
                <a:cs typeface="Calibri" pitchFamily="34" charset="-120"/>
              </a:rPr>
              <a:t>QR code on the discharge sheet — no app store, no account, no install</a:t>
            </a:r>
            <a:endParaRPr lang="en-US" sz="950" dirty="0"/>
          </a:p>
        </p:txBody>
      </p:sp>
      <p:sp>
        <p:nvSpPr>
          <p:cNvPr id="28" name="Shape 26"/>
          <p:cNvSpPr/>
          <p:nvPr/>
        </p:nvSpPr>
        <p:spPr>
          <a:xfrm>
            <a:off x="566928" y="3895344"/>
            <a:ext cx="3538728" cy="658368"/>
          </a:xfrm>
          <a:prstGeom prst="roundRect">
            <a:avLst>
              <a:gd name="adj" fmla="val 12500"/>
            </a:avLst>
          </a:prstGeom>
          <a:solidFill>
            <a:srgbClr val="F5F7FA"/>
          </a:solidFill>
          <a:ln w="12700">
            <a:solidFill>
              <a:srgbClr val="DDE5EE"/>
            </a:solidFill>
            <a:prstDash val="solid"/>
          </a:ln>
        </p:spPr>
        <p:txBody>
          <a:bodyPr/>
          <a:lstStyle/>
          <a:p>
            <a:endParaRPr lang="de-CH"/>
          </a:p>
        </p:txBody>
      </p:sp>
      <p:sp>
        <p:nvSpPr>
          <p:cNvPr id="29" name="Text 27"/>
          <p:cNvSpPr/>
          <p:nvPr/>
        </p:nvSpPr>
        <p:spPr>
          <a:xfrm>
            <a:off x="768096" y="3941064"/>
            <a:ext cx="3108960" cy="219456"/>
          </a:xfrm>
          <a:prstGeom prst="rect">
            <a:avLst/>
          </a:prstGeom>
          <a:noFill/>
          <a:ln/>
        </p:spPr>
        <p:txBody>
          <a:bodyPr wrap="square" lIns="0" tIns="0" rIns="0" bIns="0" rtlCol="0" anchor="ctr"/>
          <a:lstStyle/>
          <a:p>
            <a:pPr marL="0" indent="0">
              <a:buNone/>
            </a:pPr>
            <a:r>
              <a:rPr lang="en-US" sz="1100" b="1" dirty="0">
                <a:solidFill>
                  <a:srgbClr val="12202E"/>
                </a:solidFill>
                <a:latin typeface="Calibri" pitchFamily="34" charset="0"/>
                <a:ea typeface="Calibri" pitchFamily="34" charset="-122"/>
                <a:cs typeface="Calibri" pitchFamily="34" charset="-120"/>
              </a:rPr>
              <a:t>Training</a:t>
            </a:r>
            <a:endParaRPr lang="en-US" sz="1100" dirty="0"/>
          </a:p>
        </p:txBody>
      </p:sp>
      <p:sp>
        <p:nvSpPr>
          <p:cNvPr id="30" name="Text 28"/>
          <p:cNvSpPr/>
          <p:nvPr/>
        </p:nvSpPr>
        <p:spPr>
          <a:xfrm>
            <a:off x="768096" y="4151376"/>
            <a:ext cx="3108960" cy="384048"/>
          </a:xfrm>
          <a:prstGeom prst="rect">
            <a:avLst/>
          </a:prstGeom>
          <a:noFill/>
          <a:ln/>
        </p:spPr>
        <p:txBody>
          <a:bodyPr wrap="square" lIns="0" tIns="0" rIns="0" bIns="0" rtlCol="0" anchor="ctr"/>
          <a:lstStyle/>
          <a:p>
            <a:pPr marL="0" indent="0">
              <a:lnSpc>
                <a:spcPts val="1200"/>
              </a:lnSpc>
              <a:buNone/>
            </a:pPr>
            <a:r>
              <a:rPr lang="en-US" sz="950" dirty="0">
                <a:solidFill>
                  <a:srgbClr val="5D7186"/>
                </a:solidFill>
                <a:latin typeface="Calibri" pitchFamily="34" charset="0"/>
                <a:ea typeface="Calibri" pitchFamily="34" charset="-122"/>
                <a:cs typeface="Calibri" pitchFamily="34" charset="-120"/>
              </a:rPr>
              <a:t>Patient 5 min at discharge (first check done together) · practice 30 min · onboarding module for new staff</a:t>
            </a:r>
            <a:endParaRPr lang="en-US" sz="950" dirty="0"/>
          </a:p>
        </p:txBody>
      </p:sp>
      <p:sp>
        <p:nvSpPr>
          <p:cNvPr id="31" name="Shape 29"/>
          <p:cNvSpPr/>
          <p:nvPr/>
        </p:nvSpPr>
        <p:spPr>
          <a:xfrm>
            <a:off x="566928" y="4645152"/>
            <a:ext cx="3538728" cy="658368"/>
          </a:xfrm>
          <a:prstGeom prst="roundRect">
            <a:avLst>
              <a:gd name="adj" fmla="val 12500"/>
            </a:avLst>
          </a:prstGeom>
          <a:solidFill>
            <a:srgbClr val="F5F7FA"/>
          </a:solidFill>
          <a:ln w="12700">
            <a:solidFill>
              <a:srgbClr val="DDE5EE"/>
            </a:solidFill>
            <a:prstDash val="solid"/>
          </a:ln>
        </p:spPr>
        <p:txBody>
          <a:bodyPr/>
          <a:lstStyle/>
          <a:p>
            <a:endParaRPr lang="de-CH"/>
          </a:p>
        </p:txBody>
      </p:sp>
      <p:sp>
        <p:nvSpPr>
          <p:cNvPr id="32" name="Text 30"/>
          <p:cNvSpPr/>
          <p:nvPr/>
        </p:nvSpPr>
        <p:spPr>
          <a:xfrm>
            <a:off x="768096" y="4690872"/>
            <a:ext cx="3108960" cy="219456"/>
          </a:xfrm>
          <a:prstGeom prst="rect">
            <a:avLst/>
          </a:prstGeom>
          <a:noFill/>
          <a:ln/>
        </p:spPr>
        <p:txBody>
          <a:bodyPr wrap="square" lIns="0" tIns="0" rIns="0" bIns="0" rtlCol="0" anchor="ctr"/>
          <a:lstStyle/>
          <a:p>
            <a:pPr marL="0" indent="0">
              <a:buNone/>
            </a:pPr>
            <a:r>
              <a:rPr lang="en-US" sz="1100" b="1" dirty="0">
                <a:solidFill>
                  <a:srgbClr val="12202E"/>
                </a:solidFill>
                <a:latin typeface="Calibri" pitchFamily="34" charset="0"/>
                <a:ea typeface="Calibri" pitchFamily="34" charset="-122"/>
                <a:cs typeface="Calibri" pitchFamily="34" charset="-120"/>
              </a:rPr>
              <a:t>Maintenance</a:t>
            </a:r>
            <a:endParaRPr lang="en-US" sz="1100" dirty="0"/>
          </a:p>
        </p:txBody>
      </p:sp>
      <p:sp>
        <p:nvSpPr>
          <p:cNvPr id="33" name="Text 31"/>
          <p:cNvSpPr/>
          <p:nvPr/>
        </p:nvSpPr>
        <p:spPr>
          <a:xfrm>
            <a:off x="768096" y="4901184"/>
            <a:ext cx="3108960" cy="384048"/>
          </a:xfrm>
          <a:prstGeom prst="rect">
            <a:avLst/>
          </a:prstGeom>
          <a:noFill/>
          <a:ln/>
        </p:spPr>
        <p:txBody>
          <a:bodyPr wrap="square" lIns="0" tIns="0" rIns="0" bIns="0" rtlCol="0" anchor="ctr"/>
          <a:lstStyle/>
          <a:p>
            <a:pPr marL="0" indent="0">
              <a:lnSpc>
                <a:spcPts val="1200"/>
              </a:lnSpc>
              <a:buNone/>
            </a:pPr>
            <a:r>
              <a:rPr lang="en-US" sz="950" dirty="0">
                <a:solidFill>
                  <a:srgbClr val="5D7186"/>
                </a:solidFill>
                <a:latin typeface="Calibri" pitchFamily="34" charset="0"/>
                <a:ea typeface="Calibri" pitchFamily="34" charset="-122"/>
                <a:cs typeface="Calibri" pitchFamily="34" charset="-120"/>
              </a:rPr>
              <a:t>Clinical department owns the content; four-eyes sign-off; guideline update to live in ≤ 4 weeks</a:t>
            </a:r>
            <a:endParaRPr lang="en-US" sz="950" dirty="0"/>
          </a:p>
        </p:txBody>
      </p:sp>
      <p:sp>
        <p:nvSpPr>
          <p:cNvPr id="34" name="Shape 32"/>
          <p:cNvSpPr/>
          <p:nvPr/>
        </p:nvSpPr>
        <p:spPr>
          <a:xfrm>
            <a:off x="566928" y="5394960"/>
            <a:ext cx="3538728" cy="658368"/>
          </a:xfrm>
          <a:prstGeom prst="roundRect">
            <a:avLst>
              <a:gd name="adj" fmla="val 12500"/>
            </a:avLst>
          </a:prstGeom>
          <a:solidFill>
            <a:srgbClr val="F5F7FA"/>
          </a:solidFill>
          <a:ln w="12700">
            <a:solidFill>
              <a:srgbClr val="DDE5EE"/>
            </a:solidFill>
            <a:prstDash val="solid"/>
          </a:ln>
        </p:spPr>
        <p:txBody>
          <a:bodyPr/>
          <a:lstStyle/>
          <a:p>
            <a:endParaRPr lang="de-CH"/>
          </a:p>
        </p:txBody>
      </p:sp>
      <p:sp>
        <p:nvSpPr>
          <p:cNvPr id="35" name="Text 33"/>
          <p:cNvSpPr/>
          <p:nvPr/>
        </p:nvSpPr>
        <p:spPr>
          <a:xfrm>
            <a:off x="768096" y="5440680"/>
            <a:ext cx="3108960" cy="219456"/>
          </a:xfrm>
          <a:prstGeom prst="rect">
            <a:avLst/>
          </a:prstGeom>
          <a:noFill/>
          <a:ln/>
        </p:spPr>
        <p:txBody>
          <a:bodyPr wrap="square" lIns="0" tIns="0" rIns="0" bIns="0" rtlCol="0" anchor="ctr"/>
          <a:lstStyle/>
          <a:p>
            <a:pPr marL="0" indent="0">
              <a:buNone/>
            </a:pPr>
            <a:r>
              <a:rPr lang="en-US" sz="1100" b="1" dirty="0">
                <a:solidFill>
                  <a:srgbClr val="12202E"/>
                </a:solidFill>
                <a:latin typeface="Calibri" pitchFamily="34" charset="0"/>
                <a:ea typeface="Calibri" pitchFamily="34" charset="-122"/>
                <a:cs typeface="Calibri" pitchFamily="34" charset="-120"/>
              </a:rPr>
              <a:t>Integration</a:t>
            </a:r>
            <a:endParaRPr lang="en-US" sz="1100" dirty="0"/>
          </a:p>
        </p:txBody>
      </p:sp>
      <p:sp>
        <p:nvSpPr>
          <p:cNvPr id="36" name="Text 34"/>
          <p:cNvSpPr/>
          <p:nvPr/>
        </p:nvSpPr>
        <p:spPr>
          <a:xfrm>
            <a:off x="768096" y="5650992"/>
            <a:ext cx="3108960" cy="384048"/>
          </a:xfrm>
          <a:prstGeom prst="rect">
            <a:avLst/>
          </a:prstGeom>
          <a:noFill/>
          <a:ln/>
        </p:spPr>
        <p:txBody>
          <a:bodyPr wrap="square" lIns="0" tIns="0" rIns="0" bIns="0" rtlCol="0" anchor="ctr"/>
          <a:lstStyle/>
          <a:p>
            <a:pPr marL="0" indent="0">
              <a:lnSpc>
                <a:spcPts val="1200"/>
              </a:lnSpc>
              <a:buNone/>
            </a:pPr>
            <a:r>
              <a:rPr lang="en-US" sz="950" dirty="0">
                <a:solidFill>
                  <a:srgbClr val="5D7186"/>
                </a:solidFill>
                <a:latin typeface="Calibri" pitchFamily="34" charset="0"/>
                <a:ea typeface="Calibri" pitchFamily="34" charset="-122"/>
                <a:cs typeface="Calibri" pitchFamily="34" charset="-120"/>
              </a:rPr>
              <a:t>FHIR R4 to the HIS / Swiss EPD; endpoint is L3 configuration</a:t>
            </a:r>
            <a:endParaRPr lang="en-US" sz="950" dirty="0"/>
          </a:p>
        </p:txBody>
      </p:sp>
      <p:sp>
        <p:nvSpPr>
          <p:cNvPr id="37" name="Text 35"/>
          <p:cNvSpPr/>
          <p:nvPr/>
        </p:nvSpPr>
        <p:spPr>
          <a:xfrm>
            <a:off x="4279392" y="2798064"/>
            <a:ext cx="3474720" cy="274320"/>
          </a:xfrm>
          <a:prstGeom prst="rect">
            <a:avLst/>
          </a:prstGeom>
          <a:noFill/>
          <a:ln/>
        </p:spPr>
        <p:txBody>
          <a:bodyPr wrap="square" lIns="0" tIns="0" rIns="0" bIns="0" rtlCol="0" anchor="ctr"/>
          <a:lstStyle/>
          <a:p>
            <a:pPr marL="0" indent="0">
              <a:buNone/>
            </a:pPr>
            <a:r>
              <a:rPr lang="en-US" sz="1300" b="1" dirty="0">
                <a:solidFill>
                  <a:srgbClr val="5D7186"/>
                </a:solidFill>
                <a:latin typeface="Calibri" pitchFamily="34" charset="0"/>
                <a:ea typeface="Calibri" pitchFamily="34" charset="-122"/>
                <a:cs typeface="Calibri" pitchFamily="34" charset="-120"/>
              </a:rPr>
              <a:t>Monitoring</a:t>
            </a:r>
            <a:endParaRPr lang="en-US" sz="1300" dirty="0"/>
          </a:p>
        </p:txBody>
      </p:sp>
      <p:sp>
        <p:nvSpPr>
          <p:cNvPr id="38" name="Shape 36"/>
          <p:cNvSpPr/>
          <p:nvPr/>
        </p:nvSpPr>
        <p:spPr>
          <a:xfrm>
            <a:off x="4279392" y="3145536"/>
            <a:ext cx="3538728" cy="658368"/>
          </a:xfrm>
          <a:prstGeom prst="roundRect">
            <a:avLst>
              <a:gd name="adj" fmla="val 12500"/>
            </a:avLst>
          </a:prstGeom>
          <a:solidFill>
            <a:srgbClr val="FFFFFF"/>
          </a:solidFill>
          <a:ln w="12700">
            <a:solidFill>
              <a:srgbClr val="DDE5EE"/>
            </a:solidFill>
            <a:prstDash val="solid"/>
          </a:ln>
        </p:spPr>
        <p:txBody>
          <a:bodyPr/>
          <a:lstStyle/>
          <a:p>
            <a:endParaRPr lang="de-CH"/>
          </a:p>
        </p:txBody>
      </p:sp>
      <p:sp>
        <p:nvSpPr>
          <p:cNvPr id="39" name="Text 37"/>
          <p:cNvSpPr/>
          <p:nvPr/>
        </p:nvSpPr>
        <p:spPr>
          <a:xfrm>
            <a:off x="4480560" y="3191256"/>
            <a:ext cx="3108960" cy="219456"/>
          </a:xfrm>
          <a:prstGeom prst="rect">
            <a:avLst/>
          </a:prstGeom>
          <a:noFill/>
          <a:ln/>
        </p:spPr>
        <p:txBody>
          <a:bodyPr wrap="square" lIns="0" tIns="0" rIns="0" bIns="0" rtlCol="0" anchor="ctr"/>
          <a:lstStyle/>
          <a:p>
            <a:pPr marL="0" indent="0">
              <a:buNone/>
            </a:pPr>
            <a:r>
              <a:rPr lang="en-US" sz="1100" b="1" dirty="0">
                <a:solidFill>
                  <a:srgbClr val="12202E"/>
                </a:solidFill>
                <a:latin typeface="Calibri" pitchFamily="34" charset="0"/>
                <a:ea typeface="Calibri" pitchFamily="34" charset="-122"/>
                <a:cs typeface="Calibri" pitchFamily="34" charset="-120"/>
              </a:rPr>
              <a:t>Functionality</a:t>
            </a:r>
            <a:endParaRPr lang="en-US" sz="1100" dirty="0"/>
          </a:p>
        </p:txBody>
      </p:sp>
      <p:sp>
        <p:nvSpPr>
          <p:cNvPr id="40" name="Text 38"/>
          <p:cNvSpPr/>
          <p:nvPr/>
        </p:nvSpPr>
        <p:spPr>
          <a:xfrm>
            <a:off x="4480560" y="3401568"/>
            <a:ext cx="3108960" cy="384048"/>
          </a:xfrm>
          <a:prstGeom prst="rect">
            <a:avLst/>
          </a:prstGeom>
          <a:noFill/>
          <a:ln/>
        </p:spPr>
        <p:txBody>
          <a:bodyPr wrap="square" lIns="0" tIns="0" rIns="0" bIns="0" rtlCol="0" anchor="ctr"/>
          <a:lstStyle/>
          <a:p>
            <a:pPr marL="0" indent="0">
              <a:lnSpc>
                <a:spcPts val="1200"/>
              </a:lnSpc>
              <a:buNone/>
            </a:pPr>
            <a:r>
              <a:rPr lang="en-US" sz="950" dirty="0">
                <a:solidFill>
                  <a:srgbClr val="5D7186"/>
                </a:solidFill>
                <a:latin typeface="Calibri" pitchFamily="34" charset="0"/>
                <a:ea typeface="Calibri" pitchFamily="34" charset="-122"/>
                <a:cs typeface="Calibri" pitchFamily="34" charset="-120"/>
              </a:rPr>
              <a:t>&gt; 99 % error-free runs</a:t>
            </a:r>
            <a:endParaRPr lang="en-US" sz="950" dirty="0"/>
          </a:p>
        </p:txBody>
      </p:sp>
      <p:sp>
        <p:nvSpPr>
          <p:cNvPr id="41" name="Shape 39"/>
          <p:cNvSpPr/>
          <p:nvPr/>
        </p:nvSpPr>
        <p:spPr>
          <a:xfrm>
            <a:off x="4279392" y="3895344"/>
            <a:ext cx="3538728" cy="658368"/>
          </a:xfrm>
          <a:prstGeom prst="roundRect">
            <a:avLst>
              <a:gd name="adj" fmla="val 12500"/>
            </a:avLst>
          </a:prstGeom>
          <a:solidFill>
            <a:srgbClr val="FFFFFF"/>
          </a:solidFill>
          <a:ln w="12700">
            <a:solidFill>
              <a:srgbClr val="DDE5EE"/>
            </a:solidFill>
            <a:prstDash val="solid"/>
          </a:ln>
        </p:spPr>
        <p:txBody>
          <a:bodyPr/>
          <a:lstStyle/>
          <a:p>
            <a:endParaRPr lang="de-CH"/>
          </a:p>
        </p:txBody>
      </p:sp>
      <p:sp>
        <p:nvSpPr>
          <p:cNvPr id="42" name="Text 40"/>
          <p:cNvSpPr/>
          <p:nvPr/>
        </p:nvSpPr>
        <p:spPr>
          <a:xfrm>
            <a:off x="4480560" y="3941064"/>
            <a:ext cx="3108960" cy="219456"/>
          </a:xfrm>
          <a:prstGeom prst="rect">
            <a:avLst/>
          </a:prstGeom>
          <a:noFill/>
          <a:ln/>
        </p:spPr>
        <p:txBody>
          <a:bodyPr wrap="square" lIns="0" tIns="0" rIns="0" bIns="0" rtlCol="0" anchor="ctr"/>
          <a:lstStyle/>
          <a:p>
            <a:pPr marL="0" indent="0">
              <a:buNone/>
            </a:pPr>
            <a:r>
              <a:rPr lang="en-US" sz="1100" b="1" dirty="0">
                <a:solidFill>
                  <a:srgbClr val="12202E"/>
                </a:solidFill>
                <a:latin typeface="Calibri" pitchFamily="34" charset="0"/>
                <a:ea typeface="Calibri" pitchFamily="34" charset="-122"/>
                <a:cs typeface="Calibri" pitchFamily="34" charset="-120"/>
              </a:rPr>
              <a:t>Stability</a:t>
            </a:r>
            <a:endParaRPr lang="en-US" sz="1100" dirty="0"/>
          </a:p>
        </p:txBody>
      </p:sp>
      <p:sp>
        <p:nvSpPr>
          <p:cNvPr id="43" name="Text 41"/>
          <p:cNvSpPr/>
          <p:nvPr/>
        </p:nvSpPr>
        <p:spPr>
          <a:xfrm>
            <a:off x="4480560" y="4151376"/>
            <a:ext cx="3108960" cy="384048"/>
          </a:xfrm>
          <a:prstGeom prst="rect">
            <a:avLst/>
          </a:prstGeom>
          <a:noFill/>
          <a:ln/>
        </p:spPr>
        <p:txBody>
          <a:bodyPr wrap="square" lIns="0" tIns="0" rIns="0" bIns="0" rtlCol="0" anchor="ctr"/>
          <a:lstStyle/>
          <a:p>
            <a:pPr marL="0" indent="0">
              <a:lnSpc>
                <a:spcPts val="1200"/>
              </a:lnSpc>
              <a:buNone/>
            </a:pPr>
            <a:r>
              <a:rPr lang="en-US" sz="950" dirty="0">
                <a:solidFill>
                  <a:srgbClr val="5D7186"/>
                </a:solidFill>
                <a:latin typeface="Calibri" pitchFamily="34" charset="0"/>
                <a:ea typeface="Calibri" pitchFamily="34" charset="-122"/>
                <a:cs typeface="Calibri" pitchFamily="34" charset="-120"/>
              </a:rPr>
              <a:t>zero data loss on network drop</a:t>
            </a:r>
            <a:endParaRPr lang="en-US" sz="950" dirty="0"/>
          </a:p>
        </p:txBody>
      </p:sp>
      <p:sp>
        <p:nvSpPr>
          <p:cNvPr id="44" name="Shape 42"/>
          <p:cNvSpPr/>
          <p:nvPr/>
        </p:nvSpPr>
        <p:spPr>
          <a:xfrm>
            <a:off x="4279392" y="4645152"/>
            <a:ext cx="3538728" cy="658368"/>
          </a:xfrm>
          <a:prstGeom prst="roundRect">
            <a:avLst>
              <a:gd name="adj" fmla="val 12500"/>
            </a:avLst>
          </a:prstGeom>
          <a:solidFill>
            <a:srgbClr val="FFFFFF"/>
          </a:solidFill>
          <a:ln w="12700">
            <a:solidFill>
              <a:srgbClr val="DDE5EE"/>
            </a:solidFill>
            <a:prstDash val="solid"/>
          </a:ln>
        </p:spPr>
        <p:txBody>
          <a:bodyPr/>
          <a:lstStyle/>
          <a:p>
            <a:endParaRPr lang="de-CH"/>
          </a:p>
        </p:txBody>
      </p:sp>
      <p:sp>
        <p:nvSpPr>
          <p:cNvPr id="45" name="Text 43"/>
          <p:cNvSpPr/>
          <p:nvPr/>
        </p:nvSpPr>
        <p:spPr>
          <a:xfrm>
            <a:off x="4480560" y="4690872"/>
            <a:ext cx="3108960" cy="219456"/>
          </a:xfrm>
          <a:prstGeom prst="rect">
            <a:avLst/>
          </a:prstGeom>
          <a:noFill/>
          <a:ln/>
        </p:spPr>
        <p:txBody>
          <a:bodyPr wrap="square" lIns="0" tIns="0" rIns="0" bIns="0" rtlCol="0" anchor="ctr"/>
          <a:lstStyle/>
          <a:p>
            <a:pPr marL="0" indent="0">
              <a:buNone/>
            </a:pPr>
            <a:r>
              <a:rPr lang="en-US" sz="1100" b="1" dirty="0">
                <a:solidFill>
                  <a:srgbClr val="12202E"/>
                </a:solidFill>
                <a:latin typeface="Calibri" pitchFamily="34" charset="0"/>
                <a:ea typeface="Calibri" pitchFamily="34" charset="-122"/>
                <a:cs typeface="Calibri" pitchFamily="34" charset="-120"/>
              </a:rPr>
              <a:t>Fidelity</a:t>
            </a:r>
            <a:endParaRPr lang="en-US" sz="1100" dirty="0"/>
          </a:p>
        </p:txBody>
      </p:sp>
      <p:sp>
        <p:nvSpPr>
          <p:cNvPr id="46" name="Text 44"/>
          <p:cNvSpPr/>
          <p:nvPr/>
        </p:nvSpPr>
        <p:spPr>
          <a:xfrm>
            <a:off x="4480560" y="4901184"/>
            <a:ext cx="3108960" cy="384048"/>
          </a:xfrm>
          <a:prstGeom prst="rect">
            <a:avLst/>
          </a:prstGeom>
          <a:noFill/>
          <a:ln/>
        </p:spPr>
        <p:txBody>
          <a:bodyPr wrap="square" lIns="0" tIns="0" rIns="0" bIns="0" rtlCol="0" anchor="ctr"/>
          <a:lstStyle/>
          <a:p>
            <a:pPr marL="0" indent="0">
              <a:lnSpc>
                <a:spcPts val="1200"/>
              </a:lnSpc>
              <a:buNone/>
            </a:pPr>
            <a:r>
              <a:rPr lang="en-US" sz="950" dirty="0">
                <a:solidFill>
                  <a:srgbClr val="5D7186"/>
                </a:solidFill>
                <a:latin typeface="Calibri" pitchFamily="34" charset="0"/>
                <a:ea typeface="Calibri" pitchFamily="34" charset="-122"/>
                <a:cs typeface="Calibri" pitchFamily="34" charset="-120"/>
              </a:rPr>
              <a:t>&gt; 70 % of days checked</a:t>
            </a:r>
            <a:endParaRPr lang="en-US" sz="950" dirty="0"/>
          </a:p>
        </p:txBody>
      </p:sp>
      <p:sp>
        <p:nvSpPr>
          <p:cNvPr id="47" name="Shape 45"/>
          <p:cNvSpPr/>
          <p:nvPr/>
        </p:nvSpPr>
        <p:spPr>
          <a:xfrm>
            <a:off x="4279392" y="5394960"/>
            <a:ext cx="3538728" cy="658368"/>
          </a:xfrm>
          <a:prstGeom prst="roundRect">
            <a:avLst>
              <a:gd name="adj" fmla="val 12500"/>
            </a:avLst>
          </a:prstGeom>
          <a:solidFill>
            <a:srgbClr val="FFFFFF"/>
          </a:solidFill>
          <a:ln w="12700">
            <a:solidFill>
              <a:srgbClr val="DDE5EE"/>
            </a:solidFill>
            <a:prstDash val="solid"/>
          </a:ln>
        </p:spPr>
        <p:txBody>
          <a:bodyPr/>
          <a:lstStyle/>
          <a:p>
            <a:endParaRPr lang="de-CH"/>
          </a:p>
        </p:txBody>
      </p:sp>
      <p:sp>
        <p:nvSpPr>
          <p:cNvPr id="48" name="Text 46"/>
          <p:cNvSpPr/>
          <p:nvPr/>
        </p:nvSpPr>
        <p:spPr>
          <a:xfrm>
            <a:off x="4480560" y="5440680"/>
            <a:ext cx="3108960" cy="219456"/>
          </a:xfrm>
          <a:prstGeom prst="rect">
            <a:avLst/>
          </a:prstGeom>
          <a:noFill/>
          <a:ln/>
        </p:spPr>
        <p:txBody>
          <a:bodyPr wrap="square" lIns="0" tIns="0" rIns="0" bIns="0" rtlCol="0" anchor="ctr"/>
          <a:lstStyle/>
          <a:p>
            <a:pPr marL="0" indent="0">
              <a:buNone/>
            </a:pPr>
            <a:r>
              <a:rPr lang="en-US" sz="1100" b="1" dirty="0">
                <a:solidFill>
                  <a:srgbClr val="12202E"/>
                </a:solidFill>
                <a:latin typeface="Calibri" pitchFamily="34" charset="0"/>
                <a:ea typeface="Calibri" pitchFamily="34" charset="-122"/>
                <a:cs typeface="Calibri" pitchFamily="34" charset="-120"/>
              </a:rPr>
              <a:t>Data quality</a:t>
            </a:r>
            <a:endParaRPr lang="en-US" sz="1100" dirty="0"/>
          </a:p>
        </p:txBody>
      </p:sp>
      <p:sp>
        <p:nvSpPr>
          <p:cNvPr id="49" name="Text 47"/>
          <p:cNvSpPr/>
          <p:nvPr/>
        </p:nvSpPr>
        <p:spPr>
          <a:xfrm>
            <a:off x="4480560" y="5650992"/>
            <a:ext cx="3108960" cy="384048"/>
          </a:xfrm>
          <a:prstGeom prst="rect">
            <a:avLst/>
          </a:prstGeom>
          <a:noFill/>
          <a:ln/>
        </p:spPr>
        <p:txBody>
          <a:bodyPr wrap="square" lIns="0" tIns="0" rIns="0" bIns="0" rtlCol="0" anchor="ctr"/>
          <a:lstStyle/>
          <a:p>
            <a:pPr marL="0" indent="0">
              <a:lnSpc>
                <a:spcPts val="1200"/>
              </a:lnSpc>
              <a:buNone/>
            </a:pPr>
            <a:r>
              <a:rPr lang="en-US" sz="950" dirty="0">
                <a:solidFill>
                  <a:srgbClr val="5D7186"/>
                </a:solidFill>
                <a:latin typeface="Calibri" pitchFamily="34" charset="0"/>
                <a:ea typeface="Calibri" pitchFamily="34" charset="-122"/>
                <a:cs typeface="Calibri" pitchFamily="34" charset="-120"/>
              </a:rPr>
              <a:t>&lt; 5 % incomplete entries</a:t>
            </a:r>
            <a:endParaRPr lang="en-US" sz="950" dirty="0"/>
          </a:p>
        </p:txBody>
      </p:sp>
      <p:sp>
        <p:nvSpPr>
          <p:cNvPr id="50" name="Text 48"/>
          <p:cNvSpPr/>
          <p:nvPr/>
        </p:nvSpPr>
        <p:spPr>
          <a:xfrm>
            <a:off x="7991856" y="2798064"/>
            <a:ext cx="3474720" cy="274320"/>
          </a:xfrm>
          <a:prstGeom prst="rect">
            <a:avLst/>
          </a:prstGeom>
          <a:noFill/>
          <a:ln/>
        </p:spPr>
        <p:txBody>
          <a:bodyPr wrap="square" lIns="0" tIns="0" rIns="0" bIns="0" rtlCol="0" anchor="ctr"/>
          <a:lstStyle/>
          <a:p>
            <a:pPr marL="0" indent="0">
              <a:buNone/>
            </a:pPr>
            <a:r>
              <a:rPr lang="en-US" sz="1300" b="1" dirty="0">
                <a:solidFill>
                  <a:srgbClr val="5D7186"/>
                </a:solidFill>
                <a:latin typeface="Calibri" pitchFamily="34" charset="0"/>
                <a:ea typeface="Calibri" pitchFamily="34" charset="-122"/>
                <a:cs typeface="Calibri" pitchFamily="34" charset="-120"/>
              </a:rPr>
              <a:t>Evaluation</a:t>
            </a:r>
            <a:endParaRPr lang="en-US" sz="1300" dirty="0"/>
          </a:p>
        </p:txBody>
      </p:sp>
      <p:sp>
        <p:nvSpPr>
          <p:cNvPr id="51" name="Shape 49"/>
          <p:cNvSpPr/>
          <p:nvPr/>
        </p:nvSpPr>
        <p:spPr>
          <a:xfrm>
            <a:off x="7991856" y="3145536"/>
            <a:ext cx="3538728" cy="658368"/>
          </a:xfrm>
          <a:prstGeom prst="roundRect">
            <a:avLst>
              <a:gd name="adj" fmla="val 12500"/>
            </a:avLst>
          </a:prstGeom>
          <a:solidFill>
            <a:srgbClr val="FFFFFF"/>
          </a:solidFill>
          <a:ln w="12700">
            <a:solidFill>
              <a:srgbClr val="DDE5EE"/>
            </a:solidFill>
            <a:prstDash val="solid"/>
          </a:ln>
        </p:spPr>
        <p:txBody>
          <a:bodyPr/>
          <a:lstStyle/>
          <a:p>
            <a:endParaRPr lang="de-CH"/>
          </a:p>
        </p:txBody>
      </p:sp>
      <p:sp>
        <p:nvSpPr>
          <p:cNvPr id="52" name="Text 50"/>
          <p:cNvSpPr/>
          <p:nvPr/>
        </p:nvSpPr>
        <p:spPr>
          <a:xfrm>
            <a:off x="8193024" y="3191256"/>
            <a:ext cx="3108960" cy="219456"/>
          </a:xfrm>
          <a:prstGeom prst="rect">
            <a:avLst/>
          </a:prstGeom>
          <a:noFill/>
          <a:ln/>
        </p:spPr>
        <p:txBody>
          <a:bodyPr wrap="square" lIns="0" tIns="0" rIns="0" bIns="0" rtlCol="0" anchor="ctr"/>
          <a:lstStyle/>
          <a:p>
            <a:pPr marL="0" indent="0">
              <a:buNone/>
            </a:pPr>
            <a:r>
              <a:rPr lang="en-US" sz="1100" b="1" dirty="0">
                <a:solidFill>
                  <a:srgbClr val="12202E"/>
                </a:solidFill>
                <a:latin typeface="Calibri" pitchFamily="34" charset="0"/>
                <a:ea typeface="Calibri" pitchFamily="34" charset="-122"/>
                <a:cs typeface="Calibri" pitchFamily="34" charset="-120"/>
              </a:rPr>
              <a:t>Pilot</a:t>
            </a:r>
            <a:endParaRPr lang="en-US" sz="1100" dirty="0"/>
          </a:p>
        </p:txBody>
      </p:sp>
      <p:sp>
        <p:nvSpPr>
          <p:cNvPr id="53" name="Text 51"/>
          <p:cNvSpPr/>
          <p:nvPr/>
        </p:nvSpPr>
        <p:spPr>
          <a:xfrm>
            <a:off x="8193024" y="3401568"/>
            <a:ext cx="3108960" cy="384048"/>
          </a:xfrm>
          <a:prstGeom prst="rect">
            <a:avLst/>
          </a:prstGeom>
          <a:noFill/>
          <a:ln/>
        </p:spPr>
        <p:txBody>
          <a:bodyPr wrap="square" lIns="0" tIns="0" rIns="0" bIns="0" rtlCol="0" anchor="ctr"/>
          <a:lstStyle/>
          <a:p>
            <a:pPr marL="0" indent="0">
              <a:lnSpc>
                <a:spcPts val="1200"/>
              </a:lnSpc>
              <a:buNone/>
            </a:pPr>
            <a:r>
              <a:rPr lang="en-US" sz="950" dirty="0">
                <a:solidFill>
                  <a:srgbClr val="5D7186"/>
                </a:solidFill>
                <a:latin typeface="Calibri" pitchFamily="34" charset="0"/>
                <a:ea typeface="Calibri" pitchFamily="34" charset="-122"/>
                <a:cs typeface="Calibri" pitchFamily="34" charset="-120"/>
              </a:rPr>
              <a:t>SUS + patient-vs-clinician agreement (κ)</a:t>
            </a:r>
            <a:endParaRPr lang="en-US" sz="950" dirty="0"/>
          </a:p>
        </p:txBody>
      </p:sp>
      <p:sp>
        <p:nvSpPr>
          <p:cNvPr id="54" name="Shape 52"/>
          <p:cNvSpPr/>
          <p:nvPr/>
        </p:nvSpPr>
        <p:spPr>
          <a:xfrm>
            <a:off x="7991856" y="3895344"/>
            <a:ext cx="3538728" cy="658368"/>
          </a:xfrm>
          <a:prstGeom prst="roundRect">
            <a:avLst>
              <a:gd name="adj" fmla="val 12500"/>
            </a:avLst>
          </a:prstGeom>
          <a:solidFill>
            <a:srgbClr val="FFFFFF"/>
          </a:solidFill>
          <a:ln w="12700">
            <a:solidFill>
              <a:srgbClr val="DDE5EE"/>
            </a:solidFill>
            <a:prstDash val="solid"/>
          </a:ln>
        </p:spPr>
        <p:txBody>
          <a:bodyPr/>
          <a:lstStyle/>
          <a:p>
            <a:endParaRPr lang="de-CH"/>
          </a:p>
        </p:txBody>
      </p:sp>
      <p:sp>
        <p:nvSpPr>
          <p:cNvPr id="55" name="Text 53"/>
          <p:cNvSpPr/>
          <p:nvPr/>
        </p:nvSpPr>
        <p:spPr>
          <a:xfrm>
            <a:off x="8193024" y="3941064"/>
            <a:ext cx="3108960" cy="219456"/>
          </a:xfrm>
          <a:prstGeom prst="rect">
            <a:avLst/>
          </a:prstGeom>
          <a:noFill/>
          <a:ln/>
        </p:spPr>
        <p:txBody>
          <a:bodyPr wrap="square" lIns="0" tIns="0" rIns="0" bIns="0" rtlCol="0" anchor="ctr"/>
          <a:lstStyle/>
          <a:p>
            <a:pPr marL="0" indent="0">
              <a:buNone/>
            </a:pPr>
            <a:r>
              <a:rPr lang="en-US" sz="1100" b="1" dirty="0">
                <a:solidFill>
                  <a:srgbClr val="12202E"/>
                </a:solidFill>
                <a:latin typeface="Calibri" pitchFamily="34" charset="0"/>
                <a:ea typeface="Calibri" pitchFamily="34" charset="-122"/>
                <a:cs typeface="Calibri" pitchFamily="34" charset="-120"/>
              </a:rPr>
              <a:t>Demonstration</a:t>
            </a:r>
            <a:endParaRPr lang="en-US" sz="1100" dirty="0"/>
          </a:p>
        </p:txBody>
      </p:sp>
      <p:sp>
        <p:nvSpPr>
          <p:cNvPr id="56" name="Text 54"/>
          <p:cNvSpPr/>
          <p:nvPr/>
        </p:nvSpPr>
        <p:spPr>
          <a:xfrm>
            <a:off x="8193024" y="4151376"/>
            <a:ext cx="3108960" cy="384048"/>
          </a:xfrm>
          <a:prstGeom prst="rect">
            <a:avLst/>
          </a:prstGeom>
          <a:noFill/>
          <a:ln/>
        </p:spPr>
        <p:txBody>
          <a:bodyPr wrap="square" lIns="0" tIns="0" rIns="0" bIns="0" rtlCol="0" anchor="ctr"/>
          <a:lstStyle/>
          <a:p>
            <a:pPr marL="0" indent="0">
              <a:lnSpc>
                <a:spcPts val="1200"/>
              </a:lnSpc>
              <a:buNone/>
            </a:pPr>
            <a:r>
              <a:rPr lang="en-US" sz="950" dirty="0">
                <a:solidFill>
                  <a:srgbClr val="5D7186"/>
                </a:solidFill>
                <a:latin typeface="Calibri" pitchFamily="34" charset="0"/>
                <a:ea typeface="Calibri" pitchFamily="34" charset="-122"/>
                <a:cs typeface="Calibri" pitchFamily="34" charset="-120"/>
              </a:rPr>
              <a:t>chart review — time to medical contact</a:t>
            </a:r>
            <a:endParaRPr lang="en-US" sz="950" dirty="0"/>
          </a:p>
        </p:txBody>
      </p:sp>
      <p:sp>
        <p:nvSpPr>
          <p:cNvPr id="57" name="Shape 55"/>
          <p:cNvSpPr/>
          <p:nvPr/>
        </p:nvSpPr>
        <p:spPr>
          <a:xfrm>
            <a:off x="7991856" y="4645152"/>
            <a:ext cx="3538728" cy="658368"/>
          </a:xfrm>
          <a:prstGeom prst="roundRect">
            <a:avLst>
              <a:gd name="adj" fmla="val 12500"/>
            </a:avLst>
          </a:prstGeom>
          <a:solidFill>
            <a:srgbClr val="FFFFFF"/>
          </a:solidFill>
          <a:ln w="12700">
            <a:solidFill>
              <a:srgbClr val="DDE5EE"/>
            </a:solidFill>
            <a:prstDash val="solid"/>
          </a:ln>
        </p:spPr>
        <p:txBody>
          <a:bodyPr/>
          <a:lstStyle/>
          <a:p>
            <a:endParaRPr lang="de-CH"/>
          </a:p>
        </p:txBody>
      </p:sp>
      <p:sp>
        <p:nvSpPr>
          <p:cNvPr id="58" name="Text 56"/>
          <p:cNvSpPr/>
          <p:nvPr/>
        </p:nvSpPr>
        <p:spPr>
          <a:xfrm>
            <a:off x="8193024" y="4690872"/>
            <a:ext cx="3108960" cy="219456"/>
          </a:xfrm>
          <a:prstGeom prst="rect">
            <a:avLst/>
          </a:prstGeom>
          <a:noFill/>
          <a:ln/>
        </p:spPr>
        <p:txBody>
          <a:bodyPr wrap="square" lIns="0" tIns="0" rIns="0" bIns="0" rtlCol="0" anchor="ctr"/>
          <a:lstStyle/>
          <a:p>
            <a:pPr marL="0" indent="0">
              <a:buNone/>
            </a:pPr>
            <a:r>
              <a:rPr lang="en-US" sz="1100" b="1" dirty="0">
                <a:solidFill>
                  <a:srgbClr val="12202E"/>
                </a:solidFill>
                <a:latin typeface="Calibri" pitchFamily="34" charset="0"/>
                <a:ea typeface="Calibri" pitchFamily="34" charset="-122"/>
                <a:cs typeface="Calibri" pitchFamily="34" charset="-120"/>
              </a:rPr>
              <a:t>Scale-up</a:t>
            </a:r>
            <a:endParaRPr lang="en-US" sz="1100" dirty="0"/>
          </a:p>
        </p:txBody>
      </p:sp>
      <p:sp>
        <p:nvSpPr>
          <p:cNvPr id="59" name="Text 57"/>
          <p:cNvSpPr/>
          <p:nvPr/>
        </p:nvSpPr>
        <p:spPr>
          <a:xfrm>
            <a:off x="8193024" y="4901184"/>
            <a:ext cx="3108960" cy="384048"/>
          </a:xfrm>
          <a:prstGeom prst="rect">
            <a:avLst/>
          </a:prstGeom>
          <a:noFill/>
          <a:ln/>
        </p:spPr>
        <p:txBody>
          <a:bodyPr wrap="square" lIns="0" tIns="0" rIns="0" bIns="0" rtlCol="0" anchor="ctr"/>
          <a:lstStyle/>
          <a:p>
            <a:pPr marL="0" indent="0">
              <a:lnSpc>
                <a:spcPts val="1200"/>
              </a:lnSpc>
              <a:buNone/>
            </a:pPr>
            <a:r>
              <a:rPr lang="en-US" sz="950" dirty="0">
                <a:solidFill>
                  <a:srgbClr val="5D7186"/>
                </a:solidFill>
                <a:latin typeface="Calibri" pitchFamily="34" charset="0"/>
                <a:ea typeface="Calibri" pitchFamily="34" charset="-122"/>
                <a:cs typeface="Calibri" pitchFamily="34" charset="-120"/>
              </a:rPr>
              <a:t>stepped-wedge; SSI rate, readmissions</a:t>
            </a:r>
            <a:endParaRPr lang="en-US" sz="950" dirty="0"/>
          </a:p>
        </p:txBody>
      </p:sp>
      <p:sp>
        <p:nvSpPr>
          <p:cNvPr id="60" name="Shape 58"/>
          <p:cNvSpPr/>
          <p:nvPr/>
        </p:nvSpPr>
        <p:spPr>
          <a:xfrm>
            <a:off x="7991856" y="5394960"/>
            <a:ext cx="3538728" cy="658368"/>
          </a:xfrm>
          <a:prstGeom prst="roundRect">
            <a:avLst>
              <a:gd name="adj" fmla="val 12500"/>
            </a:avLst>
          </a:prstGeom>
          <a:solidFill>
            <a:srgbClr val="FFFFFF"/>
          </a:solidFill>
          <a:ln w="12700">
            <a:solidFill>
              <a:srgbClr val="DDE5EE"/>
            </a:solidFill>
            <a:prstDash val="solid"/>
          </a:ln>
        </p:spPr>
        <p:txBody>
          <a:bodyPr/>
          <a:lstStyle/>
          <a:p>
            <a:endParaRPr lang="de-CH"/>
          </a:p>
        </p:txBody>
      </p:sp>
      <p:sp>
        <p:nvSpPr>
          <p:cNvPr id="61" name="Text 59"/>
          <p:cNvSpPr/>
          <p:nvPr/>
        </p:nvSpPr>
        <p:spPr>
          <a:xfrm>
            <a:off x="8193024" y="5440680"/>
            <a:ext cx="3108960" cy="219456"/>
          </a:xfrm>
          <a:prstGeom prst="rect">
            <a:avLst/>
          </a:prstGeom>
          <a:noFill/>
          <a:ln/>
        </p:spPr>
        <p:txBody>
          <a:bodyPr wrap="square" lIns="0" tIns="0" rIns="0" bIns="0" rtlCol="0" anchor="ctr"/>
          <a:lstStyle/>
          <a:p>
            <a:pPr marL="0" indent="0">
              <a:buNone/>
            </a:pPr>
            <a:r>
              <a:rPr lang="en-US" sz="1100" b="1" dirty="0">
                <a:solidFill>
                  <a:srgbClr val="12202E"/>
                </a:solidFill>
                <a:latin typeface="Calibri" pitchFamily="34" charset="0"/>
                <a:ea typeface="Calibri" pitchFamily="34" charset="-122"/>
                <a:cs typeface="Calibri" pitchFamily="34" charset="-120"/>
              </a:rPr>
              <a:t>Adverse effects</a:t>
            </a:r>
            <a:endParaRPr lang="en-US" sz="1100" dirty="0"/>
          </a:p>
        </p:txBody>
      </p:sp>
      <p:sp>
        <p:nvSpPr>
          <p:cNvPr id="62" name="Text 60"/>
          <p:cNvSpPr/>
          <p:nvPr/>
        </p:nvSpPr>
        <p:spPr>
          <a:xfrm>
            <a:off x="8193024" y="5650992"/>
            <a:ext cx="3108960" cy="384048"/>
          </a:xfrm>
          <a:prstGeom prst="rect">
            <a:avLst/>
          </a:prstGeom>
          <a:noFill/>
          <a:ln/>
        </p:spPr>
        <p:txBody>
          <a:bodyPr wrap="square" lIns="0" tIns="0" rIns="0" bIns="0" rtlCol="0" anchor="ctr"/>
          <a:lstStyle/>
          <a:p>
            <a:pPr marL="0" indent="0">
              <a:lnSpc>
                <a:spcPts val="1200"/>
              </a:lnSpc>
              <a:buNone/>
            </a:pPr>
            <a:r>
              <a:rPr lang="en-US" sz="950" dirty="0">
                <a:solidFill>
                  <a:srgbClr val="5D7186"/>
                </a:solidFill>
                <a:latin typeface="Calibri" pitchFamily="34" charset="0"/>
                <a:ea typeface="Calibri" pitchFamily="34" charset="-122"/>
                <a:cs typeface="Calibri" pitchFamily="34" charset="-120"/>
              </a:rPr>
              <a:t>false alarms, alert overrides, equity</a:t>
            </a:r>
            <a:endParaRPr lang="en-US" sz="950" dirty="0"/>
          </a:p>
        </p:txBody>
      </p:sp>
      <p:sp>
        <p:nvSpPr>
          <p:cNvPr id="63" name="Text 61"/>
          <p:cNvSpPr/>
          <p:nvPr/>
        </p:nvSpPr>
        <p:spPr>
          <a:xfrm>
            <a:off x="566928" y="6181344"/>
            <a:ext cx="11064240" cy="274320"/>
          </a:xfrm>
          <a:prstGeom prst="rect">
            <a:avLst/>
          </a:prstGeom>
          <a:noFill/>
          <a:ln/>
        </p:spPr>
        <p:txBody>
          <a:bodyPr wrap="square" lIns="0" tIns="0" rIns="0" bIns="0" rtlCol="0" anchor="ctr"/>
          <a:lstStyle/>
          <a:p>
            <a:pPr marL="0" indent="0">
              <a:buNone/>
            </a:pPr>
            <a:r>
              <a:rPr lang="en-US" sz="1000" i="1" dirty="0">
                <a:solidFill>
                  <a:srgbClr val="5D7186"/>
                </a:solidFill>
                <a:latin typeface="Calibri" pitchFamily="34" charset="0"/>
                <a:ea typeface="Calibri" pitchFamily="34" charset="-122"/>
                <a:cs typeface="Calibri" pitchFamily="34" charset="-120"/>
              </a:rPr>
              <a:t>Interoperability reached: structural yes · semantic partly · organisational no.  ·  Most important safety indicator: GREEN cases that still present to a physician within 72 h.</a:t>
            </a:r>
            <a:endParaRPr lang="en-US" sz="1000" dirty="0"/>
          </a:p>
        </p:txBody>
      </p:sp>
      <p:sp>
        <p:nvSpPr>
          <p:cNvPr id="65" name="Text 11">
            <a:extLst>
              <a:ext uri="{FF2B5EF4-FFF2-40B4-BE49-F238E27FC236}">
                <a16:creationId xmlns:a16="http://schemas.microsoft.com/office/drawing/2014/main" id="{AF5085CC-92CE-C189-E7DA-E140391C8FB1}"/>
              </a:ext>
            </a:extLst>
          </p:cNvPr>
          <p:cNvSpPr/>
          <p:nvPr/>
        </p:nvSpPr>
        <p:spPr>
          <a:xfrm>
            <a:off x="57709" y="6568124"/>
            <a:ext cx="8229600" cy="274320"/>
          </a:xfrm>
          <a:prstGeom prst="rect">
            <a:avLst/>
          </a:prstGeom>
          <a:noFill/>
          <a:ln/>
        </p:spPr>
        <p:txBody>
          <a:bodyPr wrap="square" lIns="0" tIns="0" rIns="0" bIns="0" rtlCol="0" anchor="ctr"/>
          <a:lstStyle/>
          <a:p>
            <a:pPr marL="0" indent="0">
              <a:buNone/>
            </a:pPr>
            <a:r>
              <a:rPr lang="en-US" sz="900">
                <a:solidFill>
                  <a:srgbClr val="8FA3B8"/>
                </a:solidFill>
                <a:latin typeface="Calibri" pitchFamily="34" charset="0"/>
                <a:ea typeface="Calibri" pitchFamily="34" charset="-122"/>
                <a:cs typeface="Calibri" pitchFamily="34" charset="-120"/>
              </a:rPr>
              <a:t>FHNW  ·  MSc Medical Informatics  ·  Clinical Decision Support Systems 2026</a:t>
            </a:r>
            <a:endParaRPr lang="en-US" sz="900"/>
          </a:p>
        </p:txBody>
      </p:sp>
      <p:pic>
        <p:nvPicPr>
          <p:cNvPr id="67" name="Grafik 66">
            <a:extLst>
              <a:ext uri="{FF2B5EF4-FFF2-40B4-BE49-F238E27FC236}">
                <a16:creationId xmlns:a16="http://schemas.microsoft.com/office/drawing/2014/main" id="{48D5043B-817A-2ABD-7D4F-65C2811D5515}"/>
              </a:ext>
            </a:extLst>
          </p:cNvPr>
          <p:cNvPicPr>
            <a:picLocks noChangeAspect="1"/>
          </p:cNvPicPr>
          <p:nvPr/>
        </p:nvPicPr>
        <p:blipFill>
          <a:blip r:embed="rId3">
            <a:duotone>
              <a:schemeClr val="accent3">
                <a:shade val="45000"/>
                <a:satMod val="135000"/>
              </a:schemeClr>
              <a:prstClr val="white"/>
            </a:duotone>
          </a:blip>
          <a:stretch>
            <a:fillRect/>
          </a:stretch>
        </p:blipFill>
        <p:spPr>
          <a:xfrm>
            <a:off x="57709" y="47504"/>
            <a:ext cx="1012490" cy="23624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7680960" cy="219456"/>
          </a:xfrm>
          <a:prstGeom prst="rect">
            <a:avLst/>
          </a:prstGeom>
          <a:noFill/>
          <a:ln/>
        </p:spPr>
        <p:txBody>
          <a:bodyPr wrap="square" lIns="0" tIns="0" rIns="0" bIns="0" rtlCol="0" anchor="ctr"/>
          <a:lstStyle/>
          <a:p>
            <a:pPr marL="0" indent="0">
              <a:buNone/>
            </a:pPr>
            <a:r>
              <a:rPr lang="en-US" sz="1050" b="1" kern="0" spc="160" dirty="0">
                <a:solidFill>
                  <a:srgbClr val="5D7186"/>
                </a:solidFill>
                <a:latin typeface="Calibri" pitchFamily="34" charset="0"/>
                <a:ea typeface="Calibri" pitchFamily="34" charset="-122"/>
                <a:cs typeface="Calibri" pitchFamily="34" charset="-120"/>
              </a:rPr>
              <a:t>EXPECTED IMPACT &amp; REGULATION</a:t>
            </a:r>
            <a:endParaRPr lang="en-US" sz="1050" dirty="0"/>
          </a:p>
        </p:txBody>
      </p:sp>
      <p:sp>
        <p:nvSpPr>
          <p:cNvPr id="3" name="Text 1"/>
          <p:cNvSpPr/>
          <p:nvPr/>
        </p:nvSpPr>
        <p:spPr>
          <a:xfrm>
            <a:off x="566928" y="640080"/>
            <a:ext cx="10607040" cy="658368"/>
          </a:xfrm>
          <a:prstGeom prst="rect">
            <a:avLst/>
          </a:prstGeom>
          <a:noFill/>
          <a:ln/>
        </p:spPr>
        <p:txBody>
          <a:bodyPr wrap="square" lIns="0" tIns="0" rIns="0" bIns="0" rtlCol="0" anchor="t"/>
          <a:lstStyle/>
          <a:p>
            <a:pPr marL="0" indent="0">
              <a:buNone/>
            </a:pPr>
            <a:r>
              <a:rPr lang="en-US" sz="2700" b="1" dirty="0">
                <a:solidFill>
                  <a:srgbClr val="12202E"/>
                </a:solidFill>
                <a:latin typeface="Cambria" pitchFamily="34" charset="0"/>
                <a:ea typeface="Cambria" pitchFamily="34" charset="-122"/>
                <a:cs typeface="Cambria" pitchFamily="34" charset="-120"/>
              </a:rPr>
              <a:t>False reassurance weighs more than a false alarm</a:t>
            </a:r>
            <a:endParaRPr lang="en-US" sz="2700" dirty="0"/>
          </a:p>
        </p:txBody>
      </p:sp>
      <p:sp>
        <p:nvSpPr>
          <p:cNvPr id="4" name="Shape 2"/>
          <p:cNvSpPr/>
          <p:nvPr/>
        </p:nvSpPr>
        <p:spPr>
          <a:xfrm>
            <a:off x="566928" y="1645920"/>
            <a:ext cx="5394960" cy="2377440"/>
          </a:xfrm>
          <a:prstGeom prst="roundRect">
            <a:avLst>
              <a:gd name="adj" fmla="val 3462"/>
            </a:avLst>
          </a:prstGeom>
          <a:solidFill>
            <a:srgbClr val="E8F6EE"/>
          </a:solidFill>
          <a:ln w="12700">
            <a:solidFill>
              <a:srgbClr val="A8D9BF"/>
            </a:solidFill>
            <a:prstDash val="solid"/>
          </a:ln>
        </p:spPr>
        <p:txBody>
          <a:bodyPr/>
          <a:lstStyle/>
          <a:p>
            <a:endParaRPr lang="de-CH"/>
          </a:p>
        </p:txBody>
      </p:sp>
      <p:sp>
        <p:nvSpPr>
          <p:cNvPr id="5" name="Text 3"/>
          <p:cNvSpPr/>
          <p:nvPr/>
        </p:nvSpPr>
        <p:spPr>
          <a:xfrm>
            <a:off x="822960" y="1810512"/>
            <a:ext cx="2743200" cy="256032"/>
          </a:xfrm>
          <a:prstGeom prst="rect">
            <a:avLst/>
          </a:prstGeom>
          <a:noFill/>
          <a:ln/>
        </p:spPr>
        <p:txBody>
          <a:bodyPr wrap="square" lIns="0" tIns="0" rIns="0" bIns="0" rtlCol="0" anchor="ctr"/>
          <a:lstStyle/>
          <a:p>
            <a:pPr marL="0" indent="0">
              <a:buNone/>
            </a:pPr>
            <a:r>
              <a:rPr lang="en-US" sz="1300" b="1" dirty="0">
                <a:solidFill>
                  <a:srgbClr val="1A7F4B"/>
                </a:solidFill>
                <a:latin typeface="Calibri" pitchFamily="34" charset="0"/>
                <a:ea typeface="Calibri" pitchFamily="34" charset="-122"/>
                <a:cs typeface="Calibri" pitchFamily="34" charset="-120"/>
              </a:rPr>
              <a:t>Benefits</a:t>
            </a:r>
            <a:endParaRPr lang="en-US" sz="1300" dirty="0"/>
          </a:p>
        </p:txBody>
      </p:sp>
      <p:sp>
        <p:nvSpPr>
          <p:cNvPr id="6" name="Text 4"/>
          <p:cNvSpPr/>
          <p:nvPr/>
        </p:nvSpPr>
        <p:spPr>
          <a:xfrm>
            <a:off x="822960" y="2084832"/>
            <a:ext cx="4892040" cy="1783080"/>
          </a:xfrm>
          <a:prstGeom prst="rect">
            <a:avLst/>
          </a:prstGeom>
          <a:noFill/>
          <a:ln/>
        </p:spPr>
        <p:txBody>
          <a:bodyPr wrap="square" lIns="0" tIns="0" rIns="0" bIns="0" rtlCol="0" anchor="t"/>
          <a:lstStyle/>
          <a:p>
            <a:pPr marL="177800" indent="-177800">
              <a:lnSpc>
                <a:spcPts val="1500"/>
              </a:lnSpc>
              <a:spcAft>
                <a:spcPts val="600"/>
              </a:spcAft>
              <a:buSzPct val="100000"/>
              <a:buChar char="•"/>
            </a:pPr>
            <a:r>
              <a:rPr lang="en-US" sz="1150" dirty="0">
                <a:solidFill>
                  <a:srgbClr val="12202E"/>
                </a:solidFill>
                <a:latin typeface="Calibri" pitchFamily="34" charset="0"/>
                <a:ea typeface="Calibri" pitchFamily="34" charset="-122"/>
                <a:cs typeface="Calibri" pitchFamily="34" charset="-120"/>
              </a:rPr>
              <a:t>Earlier treatment when an infection develops</a:t>
            </a:r>
            <a:endParaRPr lang="en-US" sz="1150" dirty="0"/>
          </a:p>
          <a:p>
            <a:pPr marL="177800" indent="-177800">
              <a:lnSpc>
                <a:spcPts val="1500"/>
              </a:lnSpc>
              <a:spcAft>
                <a:spcPts val="600"/>
              </a:spcAft>
              <a:buSzPct val="100000"/>
              <a:buChar char="•"/>
            </a:pPr>
            <a:r>
              <a:rPr lang="en-US" sz="1150" dirty="0">
                <a:solidFill>
                  <a:srgbClr val="12202E"/>
                </a:solidFill>
                <a:latin typeface="Calibri" pitchFamily="34" charset="0"/>
                <a:ea typeface="Calibri" pitchFamily="34" charset="-122"/>
                <a:cs typeface="Calibri" pitchFamily="34" charset="-120"/>
              </a:rPr>
              <a:t>Fewer contacts without clinical consequence</a:t>
            </a:r>
            <a:endParaRPr lang="en-US" sz="1150" dirty="0"/>
          </a:p>
          <a:p>
            <a:pPr marL="177800" indent="-177800">
              <a:lnSpc>
                <a:spcPts val="1500"/>
              </a:lnSpc>
              <a:spcAft>
                <a:spcPts val="600"/>
              </a:spcAft>
              <a:buSzPct val="100000"/>
              <a:buChar char="•"/>
            </a:pPr>
            <a:r>
              <a:rPr lang="en-US" sz="1150" dirty="0">
                <a:solidFill>
                  <a:srgbClr val="12202E"/>
                </a:solidFill>
                <a:latin typeface="Calibri" pitchFamily="34" charset="0"/>
                <a:ea typeface="Calibri" pitchFamily="34" charset="-122"/>
                <a:cs typeface="Calibri" pitchFamily="34" charset="-120"/>
              </a:rPr>
              <a:t>Complete trajectory for the follow-up appointment</a:t>
            </a:r>
            <a:endParaRPr lang="en-US" sz="1150" dirty="0"/>
          </a:p>
          <a:p>
            <a:pPr marL="177800" indent="-177800">
              <a:lnSpc>
                <a:spcPts val="1500"/>
              </a:lnSpc>
              <a:spcAft>
                <a:spcPts val="600"/>
              </a:spcAft>
              <a:buSzPct val="100000"/>
              <a:buChar char="•"/>
            </a:pPr>
            <a:r>
              <a:rPr lang="en-US" sz="1150" dirty="0">
                <a:solidFill>
                  <a:srgbClr val="12202E"/>
                </a:solidFill>
                <a:latin typeface="Calibri" pitchFamily="34" charset="0"/>
                <a:ea typeface="Calibri" pitchFamily="34" charset="-122"/>
                <a:cs typeface="Calibri" pitchFamily="34" charset="-120"/>
              </a:rPr>
              <a:t>Structured, standardised follow-up data</a:t>
            </a:r>
            <a:endParaRPr lang="en-US" sz="1150" dirty="0"/>
          </a:p>
        </p:txBody>
      </p:sp>
      <p:sp>
        <p:nvSpPr>
          <p:cNvPr id="7" name="Shape 5"/>
          <p:cNvSpPr/>
          <p:nvPr/>
        </p:nvSpPr>
        <p:spPr>
          <a:xfrm>
            <a:off x="6236208" y="1645920"/>
            <a:ext cx="5394960" cy="2377440"/>
          </a:xfrm>
          <a:prstGeom prst="roundRect">
            <a:avLst>
              <a:gd name="adj" fmla="val 3462"/>
            </a:avLst>
          </a:prstGeom>
          <a:solidFill>
            <a:srgbClr val="FBE7E5"/>
          </a:solidFill>
          <a:ln w="12700">
            <a:solidFill>
              <a:srgbClr val="F0ACA6"/>
            </a:solidFill>
            <a:prstDash val="solid"/>
          </a:ln>
        </p:spPr>
        <p:txBody>
          <a:bodyPr/>
          <a:lstStyle/>
          <a:p>
            <a:endParaRPr lang="de-CH"/>
          </a:p>
        </p:txBody>
      </p:sp>
      <p:sp>
        <p:nvSpPr>
          <p:cNvPr id="8" name="Text 6"/>
          <p:cNvSpPr/>
          <p:nvPr/>
        </p:nvSpPr>
        <p:spPr>
          <a:xfrm>
            <a:off x="6492240" y="1810512"/>
            <a:ext cx="2743200" cy="256032"/>
          </a:xfrm>
          <a:prstGeom prst="rect">
            <a:avLst/>
          </a:prstGeom>
          <a:noFill/>
          <a:ln/>
        </p:spPr>
        <p:txBody>
          <a:bodyPr wrap="square" lIns="0" tIns="0" rIns="0" bIns="0" rtlCol="0" anchor="ctr"/>
          <a:lstStyle/>
          <a:p>
            <a:pPr marL="0" indent="0">
              <a:buNone/>
            </a:pPr>
            <a:r>
              <a:rPr lang="en-US" sz="1300" b="1" dirty="0">
                <a:solidFill>
                  <a:srgbClr val="C0281C"/>
                </a:solidFill>
                <a:latin typeface="Calibri" pitchFamily="34" charset="0"/>
                <a:ea typeface="Calibri" pitchFamily="34" charset="-122"/>
                <a:cs typeface="Calibri" pitchFamily="34" charset="-120"/>
              </a:rPr>
              <a:t>Risks</a:t>
            </a:r>
            <a:endParaRPr lang="en-US" sz="1300" dirty="0"/>
          </a:p>
        </p:txBody>
      </p:sp>
      <p:sp>
        <p:nvSpPr>
          <p:cNvPr id="9" name="Text 7"/>
          <p:cNvSpPr/>
          <p:nvPr/>
        </p:nvSpPr>
        <p:spPr>
          <a:xfrm>
            <a:off x="6492240" y="2084832"/>
            <a:ext cx="4892040" cy="1783080"/>
          </a:xfrm>
          <a:prstGeom prst="rect">
            <a:avLst/>
          </a:prstGeom>
          <a:noFill/>
          <a:ln/>
        </p:spPr>
        <p:txBody>
          <a:bodyPr wrap="square" lIns="0" tIns="0" rIns="0" bIns="0" rtlCol="0" anchor="t"/>
          <a:lstStyle/>
          <a:p>
            <a:pPr marL="177800" indent="-177800">
              <a:lnSpc>
                <a:spcPts val="1500"/>
              </a:lnSpc>
              <a:spcAft>
                <a:spcPts val="600"/>
              </a:spcAft>
              <a:buSzPct val="100000"/>
              <a:buChar char="•"/>
            </a:pPr>
            <a:r>
              <a:rPr lang="en-US" sz="1150" dirty="0">
                <a:solidFill>
                  <a:srgbClr val="12202E"/>
                </a:solidFill>
                <a:latin typeface="Calibri" pitchFamily="34" charset="0"/>
                <a:ea typeface="Calibri" pitchFamily="34" charset="-122"/>
                <a:cs typeface="Calibri" pitchFamily="34" charset="-120"/>
              </a:rPr>
              <a:t>Automation bias — the patient stops observing</a:t>
            </a:r>
            <a:endParaRPr lang="en-US" sz="1150" dirty="0"/>
          </a:p>
          <a:p>
            <a:pPr marL="177800" indent="-177800">
              <a:lnSpc>
                <a:spcPts val="1500"/>
              </a:lnSpc>
              <a:spcAft>
                <a:spcPts val="600"/>
              </a:spcAft>
              <a:buSzPct val="100000"/>
              <a:buChar char="•"/>
            </a:pPr>
            <a:r>
              <a:rPr lang="en-US" sz="1150" dirty="0">
                <a:solidFill>
                  <a:srgbClr val="12202E"/>
                </a:solidFill>
                <a:latin typeface="Calibri" pitchFamily="34" charset="0"/>
                <a:ea typeface="Calibri" pitchFamily="34" charset="-122"/>
                <a:cs typeface="Calibri" pitchFamily="34" charset="-120"/>
              </a:rPr>
              <a:t>Alert fatigue in the practice</a:t>
            </a:r>
            <a:endParaRPr lang="en-US" sz="1150" dirty="0"/>
          </a:p>
          <a:p>
            <a:pPr marL="177800" indent="-177800">
              <a:lnSpc>
                <a:spcPts val="1500"/>
              </a:lnSpc>
              <a:spcAft>
                <a:spcPts val="600"/>
              </a:spcAft>
              <a:buSzPct val="100000"/>
              <a:buChar char="•"/>
            </a:pPr>
            <a:r>
              <a:rPr lang="en-US" sz="1150" dirty="0">
                <a:solidFill>
                  <a:srgbClr val="12202E"/>
                </a:solidFill>
                <a:latin typeface="Calibri" pitchFamily="34" charset="0"/>
                <a:ea typeface="Calibri" pitchFamily="34" charset="-122"/>
                <a:cs typeface="Calibri" pitchFamily="34" charset="-120"/>
              </a:rPr>
              <a:t>Scaling our own errors consistently, at volume</a:t>
            </a:r>
            <a:endParaRPr lang="en-US" sz="1150" dirty="0"/>
          </a:p>
          <a:p>
            <a:pPr marL="177800" indent="-177800">
              <a:lnSpc>
                <a:spcPts val="1500"/>
              </a:lnSpc>
              <a:spcAft>
                <a:spcPts val="600"/>
              </a:spcAft>
              <a:buSzPct val="100000"/>
              <a:buChar char="•"/>
            </a:pPr>
            <a:r>
              <a:rPr lang="en-US" sz="1150" dirty="0">
                <a:solidFill>
                  <a:srgbClr val="12202E"/>
                </a:solidFill>
                <a:latin typeface="Calibri" pitchFamily="34" charset="0"/>
                <a:ea typeface="Calibri" pitchFamily="34" charset="-122"/>
                <a:cs typeface="Calibri" pitchFamily="34" charset="-120"/>
              </a:rPr>
              <a:t>Digital divide — the gap may widen</a:t>
            </a:r>
            <a:endParaRPr lang="en-US" sz="1150" dirty="0"/>
          </a:p>
        </p:txBody>
      </p:sp>
      <p:sp>
        <p:nvSpPr>
          <p:cNvPr id="10" name="Text 8"/>
          <p:cNvSpPr/>
          <p:nvPr/>
        </p:nvSpPr>
        <p:spPr>
          <a:xfrm>
            <a:off x="566928" y="4224528"/>
            <a:ext cx="6766560" cy="310896"/>
          </a:xfrm>
          <a:prstGeom prst="rect">
            <a:avLst/>
          </a:prstGeom>
          <a:noFill/>
          <a:ln/>
        </p:spPr>
        <p:txBody>
          <a:bodyPr wrap="square" lIns="0" tIns="0" rIns="0" bIns="0" rtlCol="0" anchor="ctr"/>
          <a:lstStyle/>
          <a:p>
            <a:pPr marL="0" indent="0">
              <a:buNone/>
            </a:pPr>
            <a:r>
              <a:rPr lang="en-US" sz="1400" b="1" dirty="0">
                <a:solidFill>
                  <a:srgbClr val="12202E"/>
                </a:solidFill>
                <a:latin typeface="Calibri" pitchFamily="34" charset="0"/>
                <a:ea typeface="Calibri" pitchFamily="34" charset="-122"/>
                <a:cs typeface="Calibri" pitchFamily="34" charset="-120"/>
              </a:rPr>
              <a:t>Is WundCheck a medical device?  Yes — SaMD, IMDRF Category II</a:t>
            </a:r>
            <a:endParaRPr lang="en-US" sz="1400" dirty="0"/>
          </a:p>
        </p:txBody>
      </p:sp>
      <p:sp>
        <p:nvSpPr>
          <p:cNvPr id="11" name="Text 9"/>
          <p:cNvSpPr/>
          <p:nvPr/>
        </p:nvSpPr>
        <p:spPr>
          <a:xfrm>
            <a:off x="566928" y="4590288"/>
            <a:ext cx="6766560" cy="1554480"/>
          </a:xfrm>
          <a:prstGeom prst="rect">
            <a:avLst/>
          </a:prstGeom>
          <a:noFill/>
          <a:ln/>
        </p:spPr>
        <p:txBody>
          <a:bodyPr wrap="square" lIns="0" tIns="0" rIns="0" bIns="0" rtlCol="0" anchor="t"/>
          <a:lstStyle/>
          <a:p>
            <a:pPr marL="0" indent="0">
              <a:lnSpc>
                <a:spcPts val="1600"/>
              </a:lnSpc>
              <a:buNone/>
            </a:pPr>
            <a:r>
              <a:rPr lang="en-US" sz="1150" dirty="0">
                <a:solidFill>
                  <a:srgbClr val="5D7186"/>
                </a:solidFill>
                <a:latin typeface="Calibri" pitchFamily="34" charset="0"/>
                <a:ea typeface="Calibri" pitchFamily="34" charset="-122"/>
                <a:cs typeface="Calibri" pitchFamily="34" charset="-120"/>
              </a:rPr>
              <a:t>State of the healthcare situation = serious: an untreated SSI is not self-limiting and can lead to sepsis or revision surgery. Significance of information = drive clinical management: we neither diagnose nor treat, but we determine whether and when clinical action is taken.</a:t>
            </a:r>
            <a:endParaRPr lang="en-US" sz="1150" dirty="0"/>
          </a:p>
          <a:p>
            <a:pPr marL="0" indent="0">
              <a:lnSpc>
                <a:spcPts val="1600"/>
              </a:lnSpc>
              <a:buNone/>
            </a:pPr>
            <a:endParaRPr lang="en-US" sz="1150" dirty="0"/>
          </a:p>
          <a:p>
            <a:pPr marL="0" indent="0">
              <a:lnSpc>
                <a:spcPts val="1600"/>
              </a:lnSpc>
              <a:buNone/>
            </a:pPr>
            <a:r>
              <a:rPr lang="en-US" sz="1150" dirty="0">
                <a:solidFill>
                  <a:srgbClr val="5D7186"/>
                </a:solidFill>
                <a:latin typeface="Calibri" pitchFamily="34" charset="0"/>
                <a:ea typeface="Calibri" pitchFamily="34" charset="-122"/>
                <a:cs typeface="Calibri" pitchFamily="34" charset="-120"/>
              </a:rPr>
              <a:t>Standards that would apply: ISO 14971 · IEC 62304 · IEC 62366 · ISO 13485. The EU AI Act does not — the system is rule-based, a deliberate consequence of avoiding image analysis.</a:t>
            </a:r>
            <a:endParaRPr lang="en-US" sz="1150" dirty="0"/>
          </a:p>
        </p:txBody>
      </p:sp>
      <p:sp>
        <p:nvSpPr>
          <p:cNvPr id="12" name="Text 10"/>
          <p:cNvSpPr/>
          <p:nvPr/>
        </p:nvSpPr>
        <p:spPr>
          <a:xfrm>
            <a:off x="7790688" y="4224528"/>
            <a:ext cx="932688" cy="347472"/>
          </a:xfrm>
          <a:prstGeom prst="rect">
            <a:avLst/>
          </a:prstGeom>
          <a:noFill/>
          <a:ln/>
        </p:spPr>
        <p:txBody>
          <a:bodyPr wrap="square" lIns="0" tIns="0" rIns="0" bIns="0" rtlCol="0" anchor="ctr"/>
          <a:lstStyle/>
          <a:p>
            <a:pPr marL="0" indent="0" algn="l">
              <a:buNone/>
            </a:pPr>
            <a:endParaRPr lang="en-US" sz="950" dirty="0"/>
          </a:p>
        </p:txBody>
      </p:sp>
      <p:sp>
        <p:nvSpPr>
          <p:cNvPr id="13" name="Text 11"/>
          <p:cNvSpPr/>
          <p:nvPr/>
        </p:nvSpPr>
        <p:spPr>
          <a:xfrm>
            <a:off x="8759952" y="4224528"/>
            <a:ext cx="932688" cy="347472"/>
          </a:xfrm>
          <a:prstGeom prst="rect">
            <a:avLst/>
          </a:prstGeom>
          <a:noFill/>
          <a:ln/>
        </p:spPr>
        <p:txBody>
          <a:bodyPr wrap="square" lIns="0" tIns="0" rIns="0" bIns="0" rtlCol="0" anchor="ctr"/>
          <a:lstStyle/>
          <a:p>
            <a:pPr marL="0" indent="0" algn="ctr">
              <a:buNone/>
            </a:pPr>
            <a:r>
              <a:rPr lang="en-US" sz="950" b="1" dirty="0">
                <a:solidFill>
                  <a:srgbClr val="5D7186"/>
                </a:solidFill>
                <a:latin typeface="Calibri" pitchFamily="34" charset="0"/>
                <a:ea typeface="Calibri" pitchFamily="34" charset="-122"/>
                <a:cs typeface="Calibri" pitchFamily="34" charset="-120"/>
              </a:rPr>
              <a:t>Inform</a:t>
            </a:r>
            <a:endParaRPr lang="en-US" sz="950" dirty="0"/>
          </a:p>
        </p:txBody>
      </p:sp>
      <p:sp>
        <p:nvSpPr>
          <p:cNvPr id="14" name="Text 12"/>
          <p:cNvSpPr/>
          <p:nvPr/>
        </p:nvSpPr>
        <p:spPr>
          <a:xfrm>
            <a:off x="9729216" y="4224528"/>
            <a:ext cx="932688" cy="347472"/>
          </a:xfrm>
          <a:prstGeom prst="rect">
            <a:avLst/>
          </a:prstGeom>
          <a:noFill/>
          <a:ln/>
        </p:spPr>
        <p:txBody>
          <a:bodyPr wrap="square" lIns="0" tIns="0" rIns="0" bIns="0" rtlCol="0" anchor="ctr"/>
          <a:lstStyle/>
          <a:p>
            <a:pPr marL="0" indent="0" algn="ctr">
              <a:buNone/>
            </a:pPr>
            <a:r>
              <a:rPr lang="en-US" sz="950" b="1" dirty="0">
                <a:solidFill>
                  <a:srgbClr val="5D7186"/>
                </a:solidFill>
                <a:latin typeface="Calibri" pitchFamily="34" charset="0"/>
                <a:ea typeface="Calibri" pitchFamily="34" charset="-122"/>
                <a:cs typeface="Calibri" pitchFamily="34" charset="-120"/>
              </a:rPr>
              <a:t>Drive</a:t>
            </a:r>
            <a:endParaRPr lang="en-US" sz="950" dirty="0"/>
          </a:p>
        </p:txBody>
      </p:sp>
      <p:sp>
        <p:nvSpPr>
          <p:cNvPr id="15" name="Text 13"/>
          <p:cNvSpPr/>
          <p:nvPr/>
        </p:nvSpPr>
        <p:spPr>
          <a:xfrm>
            <a:off x="10698480" y="4224528"/>
            <a:ext cx="932688" cy="347472"/>
          </a:xfrm>
          <a:prstGeom prst="rect">
            <a:avLst/>
          </a:prstGeom>
          <a:noFill/>
          <a:ln/>
        </p:spPr>
        <p:txBody>
          <a:bodyPr wrap="square" lIns="0" tIns="0" rIns="0" bIns="0" rtlCol="0" anchor="ctr"/>
          <a:lstStyle/>
          <a:p>
            <a:pPr marL="0" indent="0" algn="ctr">
              <a:buNone/>
            </a:pPr>
            <a:r>
              <a:rPr lang="en-US" sz="950" b="1" dirty="0">
                <a:solidFill>
                  <a:srgbClr val="5D7186"/>
                </a:solidFill>
                <a:latin typeface="Calibri" pitchFamily="34" charset="0"/>
                <a:ea typeface="Calibri" pitchFamily="34" charset="-122"/>
                <a:cs typeface="Calibri" pitchFamily="34" charset="-120"/>
              </a:rPr>
              <a:t>Treat/dx</a:t>
            </a:r>
            <a:endParaRPr lang="en-US" sz="950" dirty="0"/>
          </a:p>
        </p:txBody>
      </p:sp>
      <p:sp>
        <p:nvSpPr>
          <p:cNvPr id="16" name="Text 14"/>
          <p:cNvSpPr/>
          <p:nvPr/>
        </p:nvSpPr>
        <p:spPr>
          <a:xfrm>
            <a:off x="7790688" y="4608576"/>
            <a:ext cx="932688" cy="347472"/>
          </a:xfrm>
          <a:prstGeom prst="rect">
            <a:avLst/>
          </a:prstGeom>
          <a:noFill/>
          <a:ln/>
        </p:spPr>
        <p:txBody>
          <a:bodyPr wrap="square" lIns="0" tIns="0" rIns="0" bIns="0" rtlCol="0" anchor="ctr"/>
          <a:lstStyle/>
          <a:p>
            <a:pPr marL="0" indent="0" algn="l">
              <a:buNone/>
            </a:pPr>
            <a:r>
              <a:rPr lang="en-US" sz="950" b="1" dirty="0">
                <a:solidFill>
                  <a:srgbClr val="5D7186"/>
                </a:solidFill>
                <a:latin typeface="Calibri" pitchFamily="34" charset="0"/>
                <a:ea typeface="Calibri" pitchFamily="34" charset="-122"/>
                <a:cs typeface="Calibri" pitchFamily="34" charset="-120"/>
              </a:rPr>
              <a:t>Critical</a:t>
            </a:r>
            <a:endParaRPr lang="en-US" sz="950" dirty="0"/>
          </a:p>
        </p:txBody>
      </p:sp>
      <p:sp>
        <p:nvSpPr>
          <p:cNvPr id="17" name="Shape 15"/>
          <p:cNvSpPr/>
          <p:nvPr/>
        </p:nvSpPr>
        <p:spPr>
          <a:xfrm>
            <a:off x="8759952" y="4608576"/>
            <a:ext cx="932688" cy="347472"/>
          </a:xfrm>
          <a:prstGeom prst="rect">
            <a:avLst/>
          </a:prstGeom>
          <a:solidFill>
            <a:srgbClr val="F5F7FA"/>
          </a:solidFill>
          <a:ln w="12700">
            <a:solidFill>
              <a:srgbClr val="DDE5EE"/>
            </a:solidFill>
            <a:prstDash val="solid"/>
          </a:ln>
        </p:spPr>
        <p:txBody>
          <a:bodyPr/>
          <a:lstStyle/>
          <a:p>
            <a:endParaRPr lang="de-CH"/>
          </a:p>
        </p:txBody>
      </p:sp>
      <p:sp>
        <p:nvSpPr>
          <p:cNvPr id="18" name="Text 16"/>
          <p:cNvSpPr/>
          <p:nvPr/>
        </p:nvSpPr>
        <p:spPr>
          <a:xfrm>
            <a:off x="8759952" y="4608576"/>
            <a:ext cx="932688" cy="347472"/>
          </a:xfrm>
          <a:prstGeom prst="rect">
            <a:avLst/>
          </a:prstGeom>
          <a:noFill/>
          <a:ln/>
        </p:spPr>
        <p:txBody>
          <a:bodyPr wrap="square" lIns="0" tIns="0" rIns="0" bIns="0" rtlCol="0" anchor="ctr"/>
          <a:lstStyle/>
          <a:p>
            <a:pPr marL="0" indent="0" algn="ctr">
              <a:buNone/>
            </a:pPr>
            <a:r>
              <a:rPr lang="en-US" sz="1100" dirty="0">
                <a:solidFill>
                  <a:srgbClr val="12202E"/>
                </a:solidFill>
                <a:latin typeface="Calibri" pitchFamily="34" charset="0"/>
                <a:ea typeface="Calibri" pitchFamily="34" charset="-122"/>
                <a:cs typeface="Calibri" pitchFamily="34" charset="-120"/>
              </a:rPr>
              <a:t>IV</a:t>
            </a:r>
            <a:endParaRPr lang="en-US" sz="1100" dirty="0"/>
          </a:p>
        </p:txBody>
      </p:sp>
      <p:sp>
        <p:nvSpPr>
          <p:cNvPr id="19" name="Shape 17"/>
          <p:cNvSpPr/>
          <p:nvPr/>
        </p:nvSpPr>
        <p:spPr>
          <a:xfrm>
            <a:off x="9729216" y="4608576"/>
            <a:ext cx="932688" cy="347472"/>
          </a:xfrm>
          <a:prstGeom prst="rect">
            <a:avLst/>
          </a:prstGeom>
          <a:solidFill>
            <a:srgbClr val="F5F7FA"/>
          </a:solidFill>
          <a:ln w="12700">
            <a:solidFill>
              <a:srgbClr val="DDE5EE"/>
            </a:solidFill>
            <a:prstDash val="solid"/>
          </a:ln>
        </p:spPr>
        <p:txBody>
          <a:bodyPr/>
          <a:lstStyle/>
          <a:p>
            <a:endParaRPr lang="de-CH"/>
          </a:p>
        </p:txBody>
      </p:sp>
      <p:sp>
        <p:nvSpPr>
          <p:cNvPr id="20" name="Text 18"/>
          <p:cNvSpPr/>
          <p:nvPr/>
        </p:nvSpPr>
        <p:spPr>
          <a:xfrm>
            <a:off x="9729216" y="4608576"/>
            <a:ext cx="932688" cy="347472"/>
          </a:xfrm>
          <a:prstGeom prst="rect">
            <a:avLst/>
          </a:prstGeom>
          <a:noFill/>
          <a:ln/>
        </p:spPr>
        <p:txBody>
          <a:bodyPr wrap="square" lIns="0" tIns="0" rIns="0" bIns="0" rtlCol="0" anchor="ctr"/>
          <a:lstStyle/>
          <a:p>
            <a:pPr marL="0" indent="0" algn="ctr">
              <a:buNone/>
            </a:pPr>
            <a:r>
              <a:rPr lang="en-US" sz="1100" dirty="0">
                <a:solidFill>
                  <a:srgbClr val="12202E"/>
                </a:solidFill>
                <a:latin typeface="Calibri" pitchFamily="34" charset="0"/>
                <a:ea typeface="Calibri" pitchFamily="34" charset="-122"/>
                <a:cs typeface="Calibri" pitchFamily="34" charset="-120"/>
              </a:rPr>
              <a:t>III</a:t>
            </a:r>
            <a:endParaRPr lang="en-US" sz="1100" dirty="0"/>
          </a:p>
        </p:txBody>
      </p:sp>
      <p:sp>
        <p:nvSpPr>
          <p:cNvPr id="21" name="Shape 19"/>
          <p:cNvSpPr/>
          <p:nvPr/>
        </p:nvSpPr>
        <p:spPr>
          <a:xfrm>
            <a:off x="10698480" y="4608576"/>
            <a:ext cx="932688" cy="347472"/>
          </a:xfrm>
          <a:prstGeom prst="rect">
            <a:avLst/>
          </a:prstGeom>
          <a:solidFill>
            <a:srgbClr val="F5F7FA"/>
          </a:solidFill>
          <a:ln w="12700">
            <a:solidFill>
              <a:srgbClr val="DDE5EE"/>
            </a:solidFill>
            <a:prstDash val="solid"/>
          </a:ln>
        </p:spPr>
        <p:txBody>
          <a:bodyPr/>
          <a:lstStyle/>
          <a:p>
            <a:endParaRPr lang="de-CH"/>
          </a:p>
        </p:txBody>
      </p:sp>
      <p:sp>
        <p:nvSpPr>
          <p:cNvPr id="22" name="Text 20"/>
          <p:cNvSpPr/>
          <p:nvPr/>
        </p:nvSpPr>
        <p:spPr>
          <a:xfrm>
            <a:off x="10698480" y="4608576"/>
            <a:ext cx="932688" cy="347472"/>
          </a:xfrm>
          <a:prstGeom prst="rect">
            <a:avLst/>
          </a:prstGeom>
          <a:noFill/>
          <a:ln/>
        </p:spPr>
        <p:txBody>
          <a:bodyPr wrap="square" lIns="0" tIns="0" rIns="0" bIns="0" rtlCol="0" anchor="ctr"/>
          <a:lstStyle/>
          <a:p>
            <a:pPr marL="0" indent="0" algn="ctr">
              <a:buNone/>
            </a:pPr>
            <a:r>
              <a:rPr lang="en-US" sz="1100" dirty="0">
                <a:solidFill>
                  <a:srgbClr val="12202E"/>
                </a:solidFill>
                <a:latin typeface="Calibri" pitchFamily="34" charset="0"/>
                <a:ea typeface="Calibri" pitchFamily="34" charset="-122"/>
                <a:cs typeface="Calibri" pitchFamily="34" charset="-120"/>
              </a:rPr>
              <a:t>II</a:t>
            </a:r>
            <a:endParaRPr lang="en-US" sz="1100" dirty="0"/>
          </a:p>
        </p:txBody>
      </p:sp>
      <p:sp>
        <p:nvSpPr>
          <p:cNvPr id="23" name="Text 21"/>
          <p:cNvSpPr/>
          <p:nvPr/>
        </p:nvSpPr>
        <p:spPr>
          <a:xfrm>
            <a:off x="7790688" y="4992624"/>
            <a:ext cx="932688" cy="347472"/>
          </a:xfrm>
          <a:prstGeom prst="rect">
            <a:avLst/>
          </a:prstGeom>
          <a:noFill/>
          <a:ln/>
        </p:spPr>
        <p:txBody>
          <a:bodyPr wrap="square" lIns="0" tIns="0" rIns="0" bIns="0" rtlCol="0" anchor="ctr"/>
          <a:lstStyle/>
          <a:p>
            <a:pPr marL="0" indent="0" algn="l">
              <a:buNone/>
            </a:pPr>
            <a:r>
              <a:rPr lang="en-US" sz="950" b="1" dirty="0">
                <a:solidFill>
                  <a:srgbClr val="5D7186"/>
                </a:solidFill>
                <a:latin typeface="Calibri" pitchFamily="34" charset="0"/>
                <a:ea typeface="Calibri" pitchFamily="34" charset="-122"/>
                <a:cs typeface="Calibri" pitchFamily="34" charset="-120"/>
              </a:rPr>
              <a:t>Serious</a:t>
            </a:r>
            <a:endParaRPr lang="en-US" sz="950" dirty="0"/>
          </a:p>
        </p:txBody>
      </p:sp>
      <p:sp>
        <p:nvSpPr>
          <p:cNvPr id="24" name="Shape 22"/>
          <p:cNvSpPr/>
          <p:nvPr/>
        </p:nvSpPr>
        <p:spPr>
          <a:xfrm>
            <a:off x="8759952" y="4992624"/>
            <a:ext cx="932688" cy="347472"/>
          </a:xfrm>
          <a:prstGeom prst="rect">
            <a:avLst/>
          </a:prstGeom>
          <a:solidFill>
            <a:srgbClr val="F5F7FA"/>
          </a:solidFill>
          <a:ln w="12700">
            <a:solidFill>
              <a:srgbClr val="DDE5EE"/>
            </a:solidFill>
            <a:prstDash val="solid"/>
          </a:ln>
        </p:spPr>
        <p:txBody>
          <a:bodyPr/>
          <a:lstStyle/>
          <a:p>
            <a:endParaRPr lang="de-CH"/>
          </a:p>
        </p:txBody>
      </p:sp>
      <p:sp>
        <p:nvSpPr>
          <p:cNvPr id="25" name="Text 23"/>
          <p:cNvSpPr/>
          <p:nvPr/>
        </p:nvSpPr>
        <p:spPr>
          <a:xfrm>
            <a:off x="8759952" y="4992624"/>
            <a:ext cx="932688" cy="347472"/>
          </a:xfrm>
          <a:prstGeom prst="rect">
            <a:avLst/>
          </a:prstGeom>
          <a:noFill/>
          <a:ln/>
        </p:spPr>
        <p:txBody>
          <a:bodyPr wrap="square" lIns="0" tIns="0" rIns="0" bIns="0" rtlCol="0" anchor="ctr"/>
          <a:lstStyle/>
          <a:p>
            <a:pPr marL="0" indent="0" algn="ctr">
              <a:buNone/>
            </a:pPr>
            <a:r>
              <a:rPr lang="en-US" sz="1100" dirty="0">
                <a:solidFill>
                  <a:srgbClr val="12202E"/>
                </a:solidFill>
                <a:latin typeface="Calibri" pitchFamily="34" charset="0"/>
                <a:ea typeface="Calibri" pitchFamily="34" charset="-122"/>
                <a:cs typeface="Calibri" pitchFamily="34" charset="-120"/>
              </a:rPr>
              <a:t>III</a:t>
            </a:r>
            <a:endParaRPr lang="en-US" sz="1100" dirty="0"/>
          </a:p>
        </p:txBody>
      </p:sp>
      <p:sp>
        <p:nvSpPr>
          <p:cNvPr id="26" name="Shape 24"/>
          <p:cNvSpPr/>
          <p:nvPr/>
        </p:nvSpPr>
        <p:spPr>
          <a:xfrm>
            <a:off x="9729216" y="4992624"/>
            <a:ext cx="932688" cy="347472"/>
          </a:xfrm>
          <a:prstGeom prst="rect">
            <a:avLst/>
          </a:prstGeom>
          <a:solidFill>
            <a:srgbClr val="12202E"/>
          </a:solidFill>
          <a:ln w="12700">
            <a:solidFill>
              <a:srgbClr val="12202E"/>
            </a:solidFill>
            <a:prstDash val="solid"/>
          </a:ln>
        </p:spPr>
        <p:txBody>
          <a:bodyPr/>
          <a:lstStyle/>
          <a:p>
            <a:endParaRPr lang="de-CH"/>
          </a:p>
        </p:txBody>
      </p:sp>
      <p:sp>
        <p:nvSpPr>
          <p:cNvPr id="27" name="Text 25"/>
          <p:cNvSpPr/>
          <p:nvPr/>
        </p:nvSpPr>
        <p:spPr>
          <a:xfrm>
            <a:off x="9729216" y="4992624"/>
            <a:ext cx="932688"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II</a:t>
            </a:r>
            <a:endParaRPr lang="en-US" sz="1100" dirty="0"/>
          </a:p>
        </p:txBody>
      </p:sp>
      <p:sp>
        <p:nvSpPr>
          <p:cNvPr id="28" name="Shape 26"/>
          <p:cNvSpPr/>
          <p:nvPr/>
        </p:nvSpPr>
        <p:spPr>
          <a:xfrm>
            <a:off x="10698480" y="4992624"/>
            <a:ext cx="932688" cy="347472"/>
          </a:xfrm>
          <a:prstGeom prst="rect">
            <a:avLst/>
          </a:prstGeom>
          <a:solidFill>
            <a:srgbClr val="F5F7FA"/>
          </a:solidFill>
          <a:ln w="12700">
            <a:solidFill>
              <a:srgbClr val="DDE5EE"/>
            </a:solidFill>
            <a:prstDash val="solid"/>
          </a:ln>
        </p:spPr>
        <p:txBody>
          <a:bodyPr/>
          <a:lstStyle/>
          <a:p>
            <a:endParaRPr lang="de-CH"/>
          </a:p>
        </p:txBody>
      </p:sp>
      <p:sp>
        <p:nvSpPr>
          <p:cNvPr id="29" name="Text 27"/>
          <p:cNvSpPr/>
          <p:nvPr/>
        </p:nvSpPr>
        <p:spPr>
          <a:xfrm>
            <a:off x="10698480" y="4992624"/>
            <a:ext cx="932688" cy="347472"/>
          </a:xfrm>
          <a:prstGeom prst="rect">
            <a:avLst/>
          </a:prstGeom>
          <a:noFill/>
          <a:ln/>
        </p:spPr>
        <p:txBody>
          <a:bodyPr wrap="square" lIns="0" tIns="0" rIns="0" bIns="0" rtlCol="0" anchor="ctr"/>
          <a:lstStyle/>
          <a:p>
            <a:pPr marL="0" indent="0" algn="ctr">
              <a:buNone/>
            </a:pPr>
            <a:r>
              <a:rPr lang="en-US" sz="1100" dirty="0">
                <a:solidFill>
                  <a:srgbClr val="12202E"/>
                </a:solidFill>
                <a:latin typeface="Calibri" pitchFamily="34" charset="0"/>
                <a:ea typeface="Calibri" pitchFamily="34" charset="-122"/>
                <a:cs typeface="Calibri" pitchFamily="34" charset="-120"/>
              </a:rPr>
              <a:t>I</a:t>
            </a:r>
            <a:endParaRPr lang="en-US" sz="1100" dirty="0"/>
          </a:p>
        </p:txBody>
      </p:sp>
      <p:sp>
        <p:nvSpPr>
          <p:cNvPr id="30" name="Text 28"/>
          <p:cNvSpPr/>
          <p:nvPr/>
        </p:nvSpPr>
        <p:spPr>
          <a:xfrm>
            <a:off x="7790688" y="5376672"/>
            <a:ext cx="932688" cy="347472"/>
          </a:xfrm>
          <a:prstGeom prst="rect">
            <a:avLst/>
          </a:prstGeom>
          <a:noFill/>
          <a:ln/>
        </p:spPr>
        <p:txBody>
          <a:bodyPr wrap="square" lIns="0" tIns="0" rIns="0" bIns="0" rtlCol="0" anchor="ctr"/>
          <a:lstStyle/>
          <a:p>
            <a:pPr marL="0" indent="0" algn="l">
              <a:buNone/>
            </a:pPr>
            <a:r>
              <a:rPr lang="en-US" sz="950" b="1" dirty="0">
                <a:solidFill>
                  <a:srgbClr val="5D7186"/>
                </a:solidFill>
                <a:latin typeface="Calibri" pitchFamily="34" charset="0"/>
                <a:ea typeface="Calibri" pitchFamily="34" charset="-122"/>
                <a:cs typeface="Calibri" pitchFamily="34" charset="-120"/>
              </a:rPr>
              <a:t>Non-serious</a:t>
            </a:r>
            <a:endParaRPr lang="en-US" sz="950" dirty="0"/>
          </a:p>
        </p:txBody>
      </p:sp>
      <p:sp>
        <p:nvSpPr>
          <p:cNvPr id="31" name="Shape 29"/>
          <p:cNvSpPr/>
          <p:nvPr/>
        </p:nvSpPr>
        <p:spPr>
          <a:xfrm>
            <a:off x="8759952" y="5376672"/>
            <a:ext cx="932688" cy="347472"/>
          </a:xfrm>
          <a:prstGeom prst="rect">
            <a:avLst/>
          </a:prstGeom>
          <a:solidFill>
            <a:srgbClr val="F5F7FA"/>
          </a:solidFill>
          <a:ln w="12700">
            <a:solidFill>
              <a:srgbClr val="DDE5EE"/>
            </a:solidFill>
            <a:prstDash val="solid"/>
          </a:ln>
        </p:spPr>
        <p:txBody>
          <a:bodyPr/>
          <a:lstStyle/>
          <a:p>
            <a:endParaRPr lang="de-CH"/>
          </a:p>
        </p:txBody>
      </p:sp>
      <p:sp>
        <p:nvSpPr>
          <p:cNvPr id="32" name="Text 30"/>
          <p:cNvSpPr/>
          <p:nvPr/>
        </p:nvSpPr>
        <p:spPr>
          <a:xfrm>
            <a:off x="8759952" y="5376672"/>
            <a:ext cx="932688" cy="347472"/>
          </a:xfrm>
          <a:prstGeom prst="rect">
            <a:avLst/>
          </a:prstGeom>
          <a:noFill/>
          <a:ln/>
        </p:spPr>
        <p:txBody>
          <a:bodyPr wrap="square" lIns="0" tIns="0" rIns="0" bIns="0" rtlCol="0" anchor="ctr"/>
          <a:lstStyle/>
          <a:p>
            <a:pPr marL="0" indent="0" algn="ctr">
              <a:buNone/>
            </a:pPr>
            <a:r>
              <a:rPr lang="en-US" sz="1100" dirty="0">
                <a:solidFill>
                  <a:srgbClr val="12202E"/>
                </a:solidFill>
                <a:latin typeface="Calibri" pitchFamily="34" charset="0"/>
                <a:ea typeface="Calibri" pitchFamily="34" charset="-122"/>
                <a:cs typeface="Calibri" pitchFamily="34" charset="-120"/>
              </a:rPr>
              <a:t>II</a:t>
            </a:r>
            <a:endParaRPr lang="en-US" sz="1100" dirty="0"/>
          </a:p>
        </p:txBody>
      </p:sp>
      <p:sp>
        <p:nvSpPr>
          <p:cNvPr id="33" name="Shape 31"/>
          <p:cNvSpPr/>
          <p:nvPr/>
        </p:nvSpPr>
        <p:spPr>
          <a:xfrm>
            <a:off x="9729216" y="5376672"/>
            <a:ext cx="932688" cy="347472"/>
          </a:xfrm>
          <a:prstGeom prst="rect">
            <a:avLst/>
          </a:prstGeom>
          <a:solidFill>
            <a:srgbClr val="F5F7FA"/>
          </a:solidFill>
          <a:ln w="12700">
            <a:solidFill>
              <a:srgbClr val="DDE5EE"/>
            </a:solidFill>
            <a:prstDash val="solid"/>
          </a:ln>
        </p:spPr>
        <p:txBody>
          <a:bodyPr/>
          <a:lstStyle/>
          <a:p>
            <a:endParaRPr lang="de-CH"/>
          </a:p>
        </p:txBody>
      </p:sp>
      <p:sp>
        <p:nvSpPr>
          <p:cNvPr id="34" name="Text 32"/>
          <p:cNvSpPr/>
          <p:nvPr/>
        </p:nvSpPr>
        <p:spPr>
          <a:xfrm>
            <a:off x="9729216" y="5376672"/>
            <a:ext cx="932688" cy="347472"/>
          </a:xfrm>
          <a:prstGeom prst="rect">
            <a:avLst/>
          </a:prstGeom>
          <a:noFill/>
          <a:ln/>
        </p:spPr>
        <p:txBody>
          <a:bodyPr wrap="square" lIns="0" tIns="0" rIns="0" bIns="0" rtlCol="0" anchor="ctr"/>
          <a:lstStyle/>
          <a:p>
            <a:pPr marL="0" indent="0" algn="ctr">
              <a:buNone/>
            </a:pPr>
            <a:r>
              <a:rPr lang="en-US" sz="1100" dirty="0">
                <a:solidFill>
                  <a:srgbClr val="12202E"/>
                </a:solidFill>
                <a:latin typeface="Calibri" pitchFamily="34" charset="0"/>
                <a:ea typeface="Calibri" pitchFamily="34" charset="-122"/>
                <a:cs typeface="Calibri" pitchFamily="34" charset="-120"/>
              </a:rPr>
              <a:t>I</a:t>
            </a:r>
            <a:endParaRPr lang="en-US" sz="1100" dirty="0"/>
          </a:p>
        </p:txBody>
      </p:sp>
      <p:sp>
        <p:nvSpPr>
          <p:cNvPr id="35" name="Shape 33"/>
          <p:cNvSpPr/>
          <p:nvPr/>
        </p:nvSpPr>
        <p:spPr>
          <a:xfrm>
            <a:off x="10698480" y="5376672"/>
            <a:ext cx="932688" cy="347472"/>
          </a:xfrm>
          <a:prstGeom prst="rect">
            <a:avLst/>
          </a:prstGeom>
          <a:solidFill>
            <a:srgbClr val="F5F7FA"/>
          </a:solidFill>
          <a:ln w="12700">
            <a:solidFill>
              <a:srgbClr val="DDE5EE"/>
            </a:solidFill>
            <a:prstDash val="solid"/>
          </a:ln>
        </p:spPr>
        <p:txBody>
          <a:bodyPr/>
          <a:lstStyle/>
          <a:p>
            <a:endParaRPr lang="de-CH"/>
          </a:p>
        </p:txBody>
      </p:sp>
      <p:sp>
        <p:nvSpPr>
          <p:cNvPr id="36" name="Text 34"/>
          <p:cNvSpPr/>
          <p:nvPr/>
        </p:nvSpPr>
        <p:spPr>
          <a:xfrm>
            <a:off x="10698480" y="5376672"/>
            <a:ext cx="932688" cy="347472"/>
          </a:xfrm>
          <a:prstGeom prst="rect">
            <a:avLst/>
          </a:prstGeom>
          <a:noFill/>
          <a:ln/>
        </p:spPr>
        <p:txBody>
          <a:bodyPr wrap="square" lIns="0" tIns="0" rIns="0" bIns="0" rtlCol="0" anchor="ctr"/>
          <a:lstStyle/>
          <a:p>
            <a:pPr marL="0" indent="0" algn="ctr">
              <a:buNone/>
            </a:pPr>
            <a:r>
              <a:rPr lang="en-US" sz="1100" dirty="0">
                <a:solidFill>
                  <a:srgbClr val="12202E"/>
                </a:solidFill>
                <a:latin typeface="Calibri" pitchFamily="34" charset="0"/>
                <a:ea typeface="Calibri" pitchFamily="34" charset="-122"/>
                <a:cs typeface="Calibri" pitchFamily="34" charset="-120"/>
              </a:rPr>
              <a:t>I</a:t>
            </a:r>
            <a:endParaRPr lang="en-US" sz="1100" dirty="0"/>
          </a:p>
        </p:txBody>
      </p:sp>
      <p:sp>
        <p:nvSpPr>
          <p:cNvPr id="37" name="Text 35"/>
          <p:cNvSpPr/>
          <p:nvPr/>
        </p:nvSpPr>
        <p:spPr>
          <a:xfrm>
            <a:off x="7790688" y="5760720"/>
            <a:ext cx="3840480" cy="237744"/>
          </a:xfrm>
          <a:prstGeom prst="rect">
            <a:avLst/>
          </a:prstGeom>
          <a:noFill/>
          <a:ln/>
        </p:spPr>
        <p:txBody>
          <a:bodyPr wrap="square" lIns="0" tIns="0" rIns="0" bIns="0" rtlCol="0" anchor="ctr"/>
          <a:lstStyle/>
          <a:p>
            <a:pPr marL="0" indent="0">
              <a:buNone/>
            </a:pPr>
            <a:r>
              <a:rPr lang="en-US" sz="1000" i="1" dirty="0">
                <a:solidFill>
                  <a:srgbClr val="5D7186"/>
                </a:solidFill>
                <a:latin typeface="Calibri" pitchFamily="34" charset="0"/>
                <a:ea typeface="Calibri" pitchFamily="34" charset="-122"/>
                <a:cs typeface="Calibri" pitchFamily="34" charset="-120"/>
              </a:rPr>
              <a:t>IMDRF risk categorisation</a:t>
            </a:r>
            <a:endParaRPr lang="en-US" sz="1000" dirty="0"/>
          </a:p>
        </p:txBody>
      </p:sp>
      <p:sp>
        <p:nvSpPr>
          <p:cNvPr id="39" name="Text 11">
            <a:extLst>
              <a:ext uri="{FF2B5EF4-FFF2-40B4-BE49-F238E27FC236}">
                <a16:creationId xmlns:a16="http://schemas.microsoft.com/office/drawing/2014/main" id="{C1C766C5-1A26-C0A6-08C7-94F527CECF60}"/>
              </a:ext>
            </a:extLst>
          </p:cNvPr>
          <p:cNvSpPr/>
          <p:nvPr/>
        </p:nvSpPr>
        <p:spPr>
          <a:xfrm>
            <a:off x="57709" y="6568124"/>
            <a:ext cx="8229600" cy="274320"/>
          </a:xfrm>
          <a:prstGeom prst="rect">
            <a:avLst/>
          </a:prstGeom>
          <a:noFill/>
          <a:ln/>
        </p:spPr>
        <p:txBody>
          <a:bodyPr wrap="square" lIns="0" tIns="0" rIns="0" bIns="0" rtlCol="0" anchor="ctr"/>
          <a:lstStyle/>
          <a:p>
            <a:pPr marL="0" indent="0">
              <a:buNone/>
            </a:pPr>
            <a:r>
              <a:rPr lang="en-US" sz="900">
                <a:solidFill>
                  <a:srgbClr val="8FA3B8"/>
                </a:solidFill>
                <a:latin typeface="Calibri" pitchFamily="34" charset="0"/>
                <a:ea typeface="Calibri" pitchFamily="34" charset="-122"/>
                <a:cs typeface="Calibri" pitchFamily="34" charset="-120"/>
              </a:rPr>
              <a:t>FHNW  ·  MSc Medical Informatics  ·  Clinical Decision Support Systems 2026</a:t>
            </a:r>
            <a:endParaRPr lang="en-US" sz="900"/>
          </a:p>
        </p:txBody>
      </p:sp>
      <p:pic>
        <p:nvPicPr>
          <p:cNvPr id="41" name="Grafik 40">
            <a:extLst>
              <a:ext uri="{FF2B5EF4-FFF2-40B4-BE49-F238E27FC236}">
                <a16:creationId xmlns:a16="http://schemas.microsoft.com/office/drawing/2014/main" id="{7E88C939-4149-3B51-B274-6076B39C95E8}"/>
              </a:ext>
            </a:extLst>
          </p:cNvPr>
          <p:cNvPicPr>
            <a:picLocks noChangeAspect="1"/>
          </p:cNvPicPr>
          <p:nvPr/>
        </p:nvPicPr>
        <p:blipFill>
          <a:blip r:embed="rId3">
            <a:duotone>
              <a:schemeClr val="accent3">
                <a:shade val="45000"/>
                <a:satMod val="135000"/>
              </a:schemeClr>
              <a:prstClr val="white"/>
            </a:duotone>
          </a:blip>
          <a:stretch>
            <a:fillRect/>
          </a:stretch>
        </p:blipFill>
        <p:spPr>
          <a:xfrm>
            <a:off x="57709" y="47504"/>
            <a:ext cx="1012490" cy="23624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2202E"/>
        </a:solidFill>
        <a:effectLst/>
      </p:bgPr>
    </p:bg>
    <p:spTree>
      <p:nvGrpSpPr>
        <p:cNvPr id="1" name=""/>
        <p:cNvGrpSpPr/>
        <p:nvPr/>
      </p:nvGrpSpPr>
      <p:grpSpPr>
        <a:xfrm>
          <a:off x="0" y="0"/>
          <a:ext cx="0" cy="0"/>
          <a:chOff x="0" y="0"/>
          <a:chExt cx="0" cy="0"/>
        </a:xfrm>
      </p:grpSpPr>
      <p:pic>
        <p:nvPicPr>
          <p:cNvPr id="16" name="Grafik 15">
            <a:extLst>
              <a:ext uri="{FF2B5EF4-FFF2-40B4-BE49-F238E27FC236}">
                <a16:creationId xmlns:a16="http://schemas.microsoft.com/office/drawing/2014/main" id="{3DDF7258-75DC-CCB4-A8ED-3EA8EA400661}"/>
              </a:ext>
            </a:extLst>
          </p:cNvPr>
          <p:cNvPicPr>
            <a:picLocks noChangeAspect="1"/>
          </p:cNvPicPr>
          <p:nvPr/>
        </p:nvPicPr>
        <p:blipFill>
          <a:blip r:embed="rId3"/>
          <a:srcRect t="18163" r="15072" b="20387"/>
          <a:stretch>
            <a:fillRect/>
          </a:stretch>
        </p:blipFill>
        <p:spPr>
          <a:xfrm rot="2366010">
            <a:off x="8795853" y="625232"/>
            <a:ext cx="4384913" cy="3172726"/>
          </a:xfrm>
          <a:prstGeom prst="rect">
            <a:avLst/>
          </a:prstGeom>
        </p:spPr>
      </p:pic>
      <p:sp>
        <p:nvSpPr>
          <p:cNvPr id="2" name="Text 0"/>
          <p:cNvSpPr/>
          <p:nvPr/>
        </p:nvSpPr>
        <p:spPr>
          <a:xfrm>
            <a:off x="566928" y="658368"/>
            <a:ext cx="822960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a:ln>
                  <a:noFill/>
                </a:ln>
                <a:solidFill>
                  <a:srgbClr val="FFFFFF"/>
                </a:solidFill>
                <a:effectLst/>
                <a:uLnTx/>
                <a:uFillTx/>
                <a:latin typeface="Cambria" pitchFamily="34" charset="0"/>
                <a:ea typeface="Cambria" pitchFamily="34" charset="-122"/>
                <a:cs typeface="Cambria" pitchFamily="34" charset="-120"/>
              </a:rPr>
              <a:t>Individual contributions</a:t>
            </a:r>
            <a:endParaRPr kumimoji="0" lang="en-US" sz="3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566928" y="1481328"/>
            <a:ext cx="11064240" cy="1938528"/>
          </a:xfrm>
          <a:prstGeom prst="roundRect">
            <a:avLst>
              <a:gd name="adj" fmla="val 4245"/>
            </a:avLst>
          </a:prstGeom>
          <a:solidFill>
            <a:srgbClr val="1D3148"/>
          </a:solidFill>
          <a:ln w="12700">
            <a:solidFill>
              <a:srgbClr val="1D314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C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877824" y="2562984"/>
            <a:ext cx="3291840"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Feline Weger</a:t>
            </a:r>
            <a:endParaRPr kumimoji="0" lang="en-US" sz="15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p:cNvSpPr/>
          <p:nvPr/>
        </p:nvSpPr>
        <p:spPr>
          <a:xfrm>
            <a:off x="877824" y="2787000"/>
            <a:ext cx="3291840" cy="457200"/>
          </a:xfrm>
          <a:prstGeom prst="rect">
            <a:avLst/>
          </a:prstGeom>
          <a:noFill/>
          <a:ln/>
        </p:spPr>
        <p:txBody>
          <a:bodyPr wrap="square" lIns="0" tIns="0" rIns="0" bIns="0" rtlCol="0" anchor="ctr"/>
          <a:lstStyle/>
          <a:p>
            <a:pPr marL="0" marR="0" lvl="0" indent="0" algn="l" defTabSz="914400" rtl="0" eaLnBrk="1" fontAlgn="auto" latinLnBrk="0" hangingPunct="1">
              <a:lnSpc>
                <a:spcPts val="14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BSc Biomedical Engineer · clinical lead &amp; L2</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4402118" y="1928712"/>
            <a:ext cx="6949440" cy="1144166"/>
          </a:xfrm>
          <a:prstGeom prst="rect">
            <a:avLst/>
          </a:prstGeom>
          <a:noFill/>
          <a:ln/>
        </p:spPr>
        <p:txBody>
          <a:bodyPr wrap="square" lIns="0" tIns="0" rIns="0" bIns="0" rtlCol="0" anchor="t"/>
          <a:lstStyle/>
          <a:p>
            <a:pPr marL="165100" marR="0" lvl="0" indent="-165100" algn="l" defTabSz="914400" rtl="0" eaLnBrk="1" fontAlgn="auto" latinLnBrk="0" hangingPunct="1">
              <a:lnSpc>
                <a:spcPts val="1500"/>
              </a:lnSpc>
              <a:spcBef>
                <a:spcPts val="0"/>
              </a:spcBef>
              <a:spcAft>
                <a:spcPts val="500"/>
              </a:spcAft>
              <a:buClrTx/>
              <a:buSzPct val="100000"/>
              <a:buFontTx/>
              <a:buChar char="•"/>
              <a:tabLst/>
              <a:defRPr/>
            </a:pPr>
            <a:r>
              <a:rPr kumimoji="0" lang="en-US" sz="1100" b="0" i="0" u="none" strike="noStrike" kern="1200" cap="none" spc="0" normalizeH="0" baseline="0" noProof="0">
                <a:ln>
                  <a:noFill/>
                </a:ln>
                <a:solidFill>
                  <a:srgbClr val="D6E2EE"/>
                </a:solidFill>
                <a:effectLst/>
                <a:uLnTx/>
                <a:uFillTx/>
                <a:latin typeface="Calibri" pitchFamily="34" charset="0"/>
                <a:ea typeface="Calibri" pitchFamily="34" charset="-122"/>
                <a:cs typeface="Calibri" pitchFamily="34" charset="-120"/>
              </a:rPr>
              <a:t>L1 source research and evidence appraisal — CDC, NICE NG125, Southampton, </a:t>
            </a:r>
            <a:r>
              <a:rPr kumimoji="0" lang="en-US" sz="1100" b="0" i="0" u="none" strike="noStrike" kern="1200" cap="none" spc="0" normalizeH="0" baseline="0" noProof="0" err="1">
                <a:ln>
                  <a:noFill/>
                </a:ln>
                <a:solidFill>
                  <a:srgbClr val="D6E2EE"/>
                </a:solidFill>
                <a:effectLst/>
                <a:uLnTx/>
                <a:uFillTx/>
                <a:latin typeface="Calibri" pitchFamily="34" charset="0"/>
                <a:ea typeface="Calibri" pitchFamily="34" charset="-122"/>
                <a:cs typeface="Calibri" pitchFamily="34" charset="-120"/>
              </a:rPr>
              <a:t>Campwala</a:t>
            </a:r>
            <a:r>
              <a:rPr kumimoji="0" lang="en-US" sz="1100" b="0" i="0" u="none" strike="noStrike" kern="1200" cap="none" spc="0" normalizeH="0" baseline="0" noProof="0">
                <a:ln>
                  <a:noFill/>
                </a:ln>
                <a:solidFill>
                  <a:srgbClr val="D6E2EE"/>
                </a:solidFill>
                <a:effectLst/>
                <a:uLnTx/>
                <a:uFillTx/>
                <a:latin typeface="Calibri" pitchFamily="34" charset="0"/>
                <a:ea typeface="Calibri" pitchFamily="34" charset="-122"/>
                <a:cs typeface="Calibri" pitchFamily="34" charset="-120"/>
              </a:rPr>
              <a:t> et al.</a:t>
            </a: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a:p>
            <a:pPr marL="165100" marR="0" lvl="0" indent="-165100" algn="l" defTabSz="914400" rtl="0" eaLnBrk="1" fontAlgn="auto" latinLnBrk="0" hangingPunct="1">
              <a:lnSpc>
                <a:spcPts val="1500"/>
              </a:lnSpc>
              <a:spcBef>
                <a:spcPts val="0"/>
              </a:spcBef>
              <a:spcAft>
                <a:spcPts val="500"/>
              </a:spcAft>
              <a:buClrTx/>
              <a:buSzPct val="100000"/>
              <a:buFontTx/>
              <a:buChar char="•"/>
              <a:tabLst/>
              <a:defRPr/>
            </a:pPr>
            <a:r>
              <a:rPr kumimoji="0" lang="en-US" sz="1100" b="0" i="0" u="none" strike="noStrike" kern="1200" cap="none" spc="0" normalizeH="0" baseline="0" noProof="0">
                <a:ln>
                  <a:noFill/>
                </a:ln>
                <a:solidFill>
                  <a:srgbClr val="D6E2EE"/>
                </a:solidFill>
                <a:effectLst/>
                <a:uLnTx/>
                <a:uFillTx/>
                <a:latin typeface="Calibri" pitchFamily="34" charset="0"/>
                <a:ea typeface="Calibri" pitchFamily="34" charset="-122"/>
                <a:cs typeface="Calibri" pitchFamily="34" charset="-120"/>
              </a:rPr>
              <a:t>Health system need, scope decision, three personas and the scenarios</a:t>
            </a: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a:p>
            <a:pPr marL="165100" marR="0" lvl="0" indent="-165100" algn="l" defTabSz="914400" rtl="0" eaLnBrk="1" fontAlgn="auto" latinLnBrk="0" hangingPunct="1">
              <a:lnSpc>
                <a:spcPts val="1500"/>
              </a:lnSpc>
              <a:spcBef>
                <a:spcPts val="0"/>
              </a:spcBef>
              <a:spcAft>
                <a:spcPts val="500"/>
              </a:spcAft>
              <a:buClrTx/>
              <a:buSzPct val="100000"/>
              <a:buFontTx/>
              <a:buChar char="•"/>
              <a:tabLst/>
              <a:defRPr/>
            </a:pPr>
            <a:r>
              <a:rPr kumimoji="0" lang="en-US" sz="1100" b="0" i="0" u="none" strike="noStrike" kern="1200" cap="none" spc="0" normalizeH="0" baseline="0" noProof="0">
                <a:ln>
                  <a:noFill/>
                </a:ln>
                <a:solidFill>
                  <a:srgbClr val="D6E2EE"/>
                </a:solidFill>
                <a:effectLst/>
                <a:uLnTx/>
                <a:uFillTx/>
                <a:latin typeface="Calibri" pitchFamily="34" charset="0"/>
                <a:ea typeface="Calibri" pitchFamily="34" charset="-122"/>
                <a:cs typeface="Calibri" pitchFamily="34" charset="-120"/>
              </a:rPr>
              <a:t>Southampton → image-card mapping; the nine documented L1 → L2 translation decisions</a:t>
            </a: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a:p>
            <a:pPr marL="165100" marR="0" lvl="0" indent="-165100" algn="l" defTabSz="914400" rtl="0" eaLnBrk="1" fontAlgn="auto" latinLnBrk="0" hangingPunct="1">
              <a:lnSpc>
                <a:spcPts val="1500"/>
              </a:lnSpc>
              <a:spcBef>
                <a:spcPts val="0"/>
              </a:spcBef>
              <a:spcAft>
                <a:spcPts val="500"/>
              </a:spcAft>
              <a:buClrTx/>
              <a:buSzPct val="100000"/>
              <a:buFontTx/>
              <a:buChar char="•"/>
              <a:tabLst/>
              <a:defRPr/>
            </a:pPr>
            <a:r>
              <a:rPr kumimoji="0" lang="en-US" sz="1100" b="0" i="0" u="none" strike="noStrike" kern="1200" cap="none" spc="0" normalizeH="0" baseline="0" noProof="0">
                <a:ln>
                  <a:noFill/>
                </a:ln>
                <a:solidFill>
                  <a:srgbClr val="D6E2EE"/>
                </a:solidFill>
                <a:effectLst/>
                <a:uLnTx/>
                <a:uFillTx/>
                <a:latin typeface="Calibri" pitchFamily="34" charset="0"/>
                <a:ea typeface="Calibri" pitchFamily="34" charset="-122"/>
                <a:cs typeface="Calibri" pitchFamily="34" charset="-120"/>
              </a:rPr>
              <a:t>BPMN high-level and detail process · data dictionary (49 elements) · decision table (18 rules)</a:t>
            </a: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566928" y="3602736"/>
            <a:ext cx="11064240" cy="1938528"/>
          </a:xfrm>
          <a:prstGeom prst="roundRect">
            <a:avLst>
              <a:gd name="adj" fmla="val 4245"/>
            </a:avLst>
          </a:prstGeom>
          <a:solidFill>
            <a:srgbClr val="1D3148"/>
          </a:solidFill>
          <a:ln w="12700">
            <a:solidFill>
              <a:srgbClr val="1D314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C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877824" y="4690006"/>
            <a:ext cx="3291840"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Sivanajani Sivakumar</a:t>
            </a:r>
            <a:endParaRPr kumimoji="0" lang="en-US" sz="15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877824" y="4889316"/>
            <a:ext cx="3291840" cy="457200"/>
          </a:xfrm>
          <a:prstGeom prst="rect">
            <a:avLst/>
          </a:prstGeom>
          <a:noFill/>
          <a:ln/>
        </p:spPr>
        <p:txBody>
          <a:bodyPr wrap="square" lIns="0" tIns="0" rIns="0" bIns="0" rtlCol="0" anchor="ctr"/>
          <a:lstStyle/>
          <a:p>
            <a:pPr marL="0" marR="0" lvl="0" indent="0" algn="l" defTabSz="914400" rtl="0" eaLnBrk="1" fontAlgn="auto" latinLnBrk="0" hangingPunct="1">
              <a:lnSpc>
                <a:spcPts val="1400"/>
              </a:lnSpc>
              <a:spcBef>
                <a:spcPts val="0"/>
              </a:spcBef>
              <a:spcAft>
                <a:spcPts val="0"/>
              </a:spcAft>
              <a:buClrTx/>
              <a:buSzTx/>
              <a:buFontTx/>
              <a:buNone/>
              <a:tabLst/>
              <a:defRPr/>
            </a:pPr>
            <a:r>
              <a:rPr kumimoji="0" lang="en-US" sz="1050" b="0" i="0" u="none" strike="noStrike" kern="1200" cap="none" spc="0" normalizeH="0" baseline="0" noProof="0">
                <a:ln>
                  <a:noFill/>
                </a:ln>
                <a:solidFill>
                  <a:srgbClr val="8FA3B8"/>
                </a:solidFill>
                <a:effectLst/>
                <a:uLnTx/>
                <a:uFillTx/>
                <a:latin typeface="Calibri" pitchFamily="34" charset="0"/>
                <a:ea typeface="Calibri" pitchFamily="34" charset="-122"/>
                <a:cs typeface="Calibri" pitchFamily="34" charset="-120"/>
              </a:rPr>
              <a:t>BSc Medical Informatics · technical lead &amp; QA</a:t>
            </a:r>
            <a:endParaRPr kumimoji="0" lang="en-US" sz="10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4402118" y="4115890"/>
            <a:ext cx="6949440" cy="1132736"/>
          </a:xfrm>
          <a:prstGeom prst="rect">
            <a:avLst/>
          </a:prstGeom>
          <a:noFill/>
          <a:ln/>
        </p:spPr>
        <p:txBody>
          <a:bodyPr wrap="square" lIns="0" tIns="0" rIns="0" bIns="0" rtlCol="0" anchor="t"/>
          <a:lstStyle/>
          <a:p>
            <a:pPr marL="165100" marR="0" lvl="0" indent="-165100" algn="l" defTabSz="914400" rtl="0" eaLnBrk="1" fontAlgn="auto" latinLnBrk="0" hangingPunct="1">
              <a:lnSpc>
                <a:spcPts val="1500"/>
              </a:lnSpc>
              <a:spcBef>
                <a:spcPts val="0"/>
              </a:spcBef>
              <a:spcAft>
                <a:spcPts val="500"/>
              </a:spcAft>
              <a:buClrTx/>
              <a:buSzPct val="100000"/>
              <a:buFontTx/>
              <a:buChar char="•"/>
              <a:tabLst/>
              <a:defRPr/>
            </a:pPr>
            <a:r>
              <a:rPr kumimoji="0" lang="en-US" sz="1100" b="0" i="0" u="none" strike="noStrike" kern="1200" cap="none" spc="0" normalizeH="0" baseline="0" noProof="0">
                <a:ln>
                  <a:noFill/>
                </a:ln>
                <a:solidFill>
                  <a:srgbClr val="D6E2EE"/>
                </a:solidFill>
                <a:effectLst/>
                <a:uLnTx/>
                <a:uFillTx/>
                <a:latin typeface="Calibri" pitchFamily="34" charset="0"/>
                <a:ea typeface="Calibri" pitchFamily="34" charset="-122"/>
                <a:cs typeface="Calibri" pitchFamily="34" charset="-120"/>
              </a:rPr>
              <a:t>L3 schema and authoring — thresholds, terminology bindings, FHIR mappings, versioning</a:t>
            </a: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a:p>
            <a:pPr marL="165100" marR="0" lvl="0" indent="-165100" algn="l" defTabSz="914400" rtl="0" eaLnBrk="1" fontAlgn="auto" latinLnBrk="0" hangingPunct="1">
              <a:lnSpc>
                <a:spcPts val="1500"/>
              </a:lnSpc>
              <a:spcBef>
                <a:spcPts val="0"/>
              </a:spcBef>
              <a:spcAft>
                <a:spcPts val="500"/>
              </a:spcAft>
              <a:buClrTx/>
              <a:buSzPct val="100000"/>
              <a:buFontTx/>
              <a:buChar char="•"/>
              <a:tabLst/>
              <a:defRPr/>
            </a:pPr>
            <a:r>
              <a:rPr kumimoji="0" lang="en-US" sz="1100" b="0" i="0" u="none" strike="noStrike" kern="1200" cap="none" spc="0" normalizeH="0" baseline="0" noProof="0">
                <a:ln>
                  <a:noFill/>
                </a:ln>
                <a:solidFill>
                  <a:srgbClr val="D6E2EE"/>
                </a:solidFill>
                <a:effectLst/>
                <a:uLnTx/>
                <a:uFillTx/>
                <a:latin typeface="Calibri" pitchFamily="34" charset="0"/>
                <a:ea typeface="Calibri" pitchFamily="34" charset="-122"/>
                <a:cs typeface="Calibri" pitchFamily="34" charset="-120"/>
              </a:rPr>
              <a:t>L4 application, expression engine, bilingual rendering, FHIR R4 transaction interface</a:t>
            </a: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a:p>
            <a:pPr marL="165100" marR="0" lvl="0" indent="-165100" algn="l" defTabSz="914400" rtl="0" eaLnBrk="1" fontAlgn="auto" latinLnBrk="0" hangingPunct="1">
              <a:lnSpc>
                <a:spcPts val="1500"/>
              </a:lnSpc>
              <a:spcBef>
                <a:spcPts val="0"/>
              </a:spcBef>
              <a:spcAft>
                <a:spcPts val="500"/>
              </a:spcAft>
              <a:buClrTx/>
              <a:buSzPct val="100000"/>
              <a:buFontTx/>
              <a:buChar char="•"/>
              <a:tabLst/>
              <a:defRPr/>
            </a:pPr>
            <a:r>
              <a:rPr kumimoji="0" lang="en-US" sz="1100" b="0" i="0" u="none" strike="noStrike" kern="1200" cap="none" spc="0" normalizeH="0" baseline="0" noProof="0">
                <a:ln>
                  <a:noFill/>
                </a:ln>
                <a:solidFill>
                  <a:srgbClr val="D6E2EE"/>
                </a:solidFill>
                <a:effectLst/>
                <a:uLnTx/>
                <a:uFillTx/>
                <a:latin typeface="Calibri" pitchFamily="34" charset="0"/>
                <a:ea typeface="Calibri" pitchFamily="34" charset="-122"/>
                <a:cs typeface="Calibri" pitchFamily="34" charset="-120"/>
              </a:rPr>
              <a:t>Hazard analysis, 19 decision-logic tests, 20 FHIR checks, the no-hardcoding check, bug log</a:t>
            </a: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a:p>
            <a:pPr marL="165100" marR="0" lvl="0" indent="-165100" algn="l" defTabSz="914400" rtl="0" eaLnBrk="1" fontAlgn="auto" latinLnBrk="0" hangingPunct="1">
              <a:lnSpc>
                <a:spcPts val="1500"/>
              </a:lnSpc>
              <a:spcBef>
                <a:spcPts val="0"/>
              </a:spcBef>
              <a:spcAft>
                <a:spcPts val="500"/>
              </a:spcAft>
              <a:buClrTx/>
              <a:buSzPct val="100000"/>
              <a:buFontTx/>
              <a:buChar char="•"/>
              <a:tabLst/>
              <a:defRPr/>
            </a:pPr>
            <a:r>
              <a:rPr kumimoji="0" lang="en-US" sz="1100" b="0" i="0" u="none" strike="noStrike" kern="1200" cap="none" spc="0" normalizeH="0" baseline="0" noProof="0">
                <a:ln>
                  <a:noFill/>
                </a:ln>
                <a:solidFill>
                  <a:srgbClr val="D6E2EE"/>
                </a:solidFill>
                <a:effectLst/>
                <a:uLnTx/>
                <a:uFillTx/>
                <a:latin typeface="Calibri" pitchFamily="34" charset="0"/>
                <a:ea typeface="Calibri" pitchFamily="34" charset="-122"/>
                <a:cs typeface="Calibri" pitchFamily="34" charset="-120"/>
              </a:rPr>
              <a:t>Implementation and M&amp;E strategy · expected impact · SaMD classification</a:t>
            </a: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1">
            <a:extLst>
              <a:ext uri="{FF2B5EF4-FFF2-40B4-BE49-F238E27FC236}">
                <a16:creationId xmlns:a16="http://schemas.microsoft.com/office/drawing/2014/main" id="{C9D83A0D-D096-7D15-257B-1978D239402E}"/>
              </a:ext>
            </a:extLst>
          </p:cNvPr>
          <p:cNvSpPr/>
          <p:nvPr/>
        </p:nvSpPr>
        <p:spPr>
          <a:xfrm>
            <a:off x="57709" y="6568124"/>
            <a:ext cx="8229600" cy="274320"/>
          </a:xfrm>
          <a:prstGeom prst="rect">
            <a:avLst/>
          </a:prstGeom>
          <a:noFill/>
          <a:ln/>
        </p:spPr>
        <p:txBody>
          <a:bodyPr wrap="square" lIns="0" tIns="0" rIns="0" bIns="0" rtlCol="0" anchor="ctr"/>
          <a:lstStyle/>
          <a:p>
            <a:pPr marL="0" indent="0">
              <a:buNone/>
            </a:pPr>
            <a:r>
              <a:rPr lang="en-US" sz="900">
                <a:solidFill>
                  <a:srgbClr val="8FA3B8"/>
                </a:solidFill>
                <a:latin typeface="Calibri" pitchFamily="34" charset="0"/>
                <a:ea typeface="Calibri" pitchFamily="34" charset="-122"/>
                <a:cs typeface="Calibri" pitchFamily="34" charset="-120"/>
              </a:rPr>
              <a:t>FHNW  ·  MSc Medical Informatics  ·  Clinical Decision Support Systems 2026</a:t>
            </a:r>
            <a:endParaRPr lang="en-US" sz="900"/>
          </a:p>
        </p:txBody>
      </p:sp>
      <p:pic>
        <p:nvPicPr>
          <p:cNvPr id="17" name="Grafik 16">
            <a:extLst>
              <a:ext uri="{FF2B5EF4-FFF2-40B4-BE49-F238E27FC236}">
                <a16:creationId xmlns:a16="http://schemas.microsoft.com/office/drawing/2014/main" id="{CC467638-FE78-FD10-255D-3F78FD815C76}"/>
              </a:ext>
            </a:extLst>
          </p:cNvPr>
          <p:cNvPicPr>
            <a:picLocks noChangeAspect="1"/>
          </p:cNvPicPr>
          <p:nvPr/>
        </p:nvPicPr>
        <p:blipFill>
          <a:blip r:embed="rId4">
            <a:duotone>
              <a:schemeClr val="accent3">
                <a:shade val="45000"/>
                <a:satMod val="135000"/>
              </a:schemeClr>
              <a:prstClr val="white"/>
            </a:duotone>
          </a:blip>
          <a:stretch>
            <a:fillRect/>
          </a:stretch>
        </p:blipFill>
        <p:spPr>
          <a:xfrm>
            <a:off x="57709" y="47504"/>
            <a:ext cx="1012490" cy="236248"/>
          </a:xfrm>
          <a:prstGeom prst="rect">
            <a:avLst/>
          </a:prstGeom>
        </p:spPr>
      </p:pic>
      <p:pic>
        <p:nvPicPr>
          <p:cNvPr id="21" name="Image 0" descr="preencoded.png">
            <a:extLst>
              <a:ext uri="{FF2B5EF4-FFF2-40B4-BE49-F238E27FC236}">
                <a16:creationId xmlns:a16="http://schemas.microsoft.com/office/drawing/2014/main" id="{EADCF5B5-1CC5-7C50-C766-8D3E81CAC365}"/>
              </a:ext>
            </a:extLst>
          </p:cNvPr>
          <p:cNvPicPr>
            <a:picLocks noChangeAspect="1"/>
          </p:cNvPicPr>
          <p:nvPr/>
        </p:nvPicPr>
        <p:blipFill>
          <a:blip r:embed="rId5"/>
          <a:srcRect t="2429" b="26737"/>
          <a:stretch>
            <a:fillRect/>
          </a:stretch>
        </p:blipFill>
        <p:spPr>
          <a:xfrm>
            <a:off x="877824" y="3812115"/>
            <a:ext cx="774612" cy="774612"/>
          </a:xfrm>
          <a:prstGeom prst="ellipse">
            <a:avLst/>
          </a:prstGeom>
        </p:spPr>
      </p:pic>
      <p:pic>
        <p:nvPicPr>
          <p:cNvPr id="25" name="Image 1" descr="preencoded.png">
            <a:extLst>
              <a:ext uri="{FF2B5EF4-FFF2-40B4-BE49-F238E27FC236}">
                <a16:creationId xmlns:a16="http://schemas.microsoft.com/office/drawing/2014/main" id="{D55A6461-DEDE-1C4E-3F44-2FEEEB6A00B9}"/>
              </a:ext>
            </a:extLst>
          </p:cNvPr>
          <p:cNvPicPr>
            <a:picLocks noChangeAspect="1"/>
          </p:cNvPicPr>
          <p:nvPr/>
        </p:nvPicPr>
        <p:blipFill>
          <a:blip r:embed="rId6"/>
          <a:srcRect l="10595" t="7251" r="15321" b="16700"/>
          <a:stretch>
            <a:fillRect/>
          </a:stretch>
        </p:blipFill>
        <p:spPr>
          <a:xfrm>
            <a:off x="877824" y="1611856"/>
            <a:ext cx="774611" cy="795184"/>
          </a:xfrm>
          <a:prstGeom prst="ellipse">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2202E"/>
        </a:solidFill>
        <a:effectLst/>
      </p:bgPr>
    </p:bg>
    <p:spTree>
      <p:nvGrpSpPr>
        <p:cNvPr id="1" name=""/>
        <p:cNvGrpSpPr/>
        <p:nvPr/>
      </p:nvGrpSpPr>
      <p:grpSpPr>
        <a:xfrm>
          <a:off x="0" y="0"/>
          <a:ext cx="0" cy="0"/>
          <a:chOff x="0" y="0"/>
          <a:chExt cx="0" cy="0"/>
        </a:xfrm>
      </p:grpSpPr>
      <p:sp>
        <p:nvSpPr>
          <p:cNvPr id="2" name="Text 0"/>
          <p:cNvSpPr/>
          <p:nvPr/>
        </p:nvSpPr>
        <p:spPr>
          <a:xfrm>
            <a:off x="566928" y="1417320"/>
            <a:ext cx="676656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a:ln>
                  <a:noFill/>
                </a:ln>
                <a:solidFill>
                  <a:srgbClr val="FFFFFF"/>
                </a:solidFill>
                <a:effectLst/>
                <a:uLnTx/>
                <a:uFillTx/>
                <a:latin typeface="Cambria" pitchFamily="34" charset="0"/>
                <a:ea typeface="Cambria" pitchFamily="34" charset="-122"/>
                <a:cs typeface="Cambria" pitchFamily="34" charset="-120"/>
              </a:rPr>
              <a:t>Everything is in the repository</a:t>
            </a:r>
            <a:endParaRPr kumimoji="0" lang="en-US" sz="3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566928" y="2029968"/>
            <a:ext cx="6400800" cy="640080"/>
          </a:xfrm>
          <a:prstGeom prst="rect">
            <a:avLst/>
          </a:prstGeom>
          <a:noFill/>
          <a:ln/>
        </p:spPr>
        <p:txBody>
          <a:bodyPr wrap="square" lIns="0" tIns="0" rIns="0" bIns="0" rtlCol="0" anchor="ctr"/>
          <a:lstStyle/>
          <a:p>
            <a:pPr marL="0" marR="0" lvl="0" indent="0" algn="l" defTabSz="914400" rtl="0" eaLnBrk="1" fontAlgn="auto" latinLnBrk="0" hangingPunct="1">
              <a:lnSpc>
                <a:spcPts val="1900"/>
              </a:lnSpc>
              <a:spcBef>
                <a:spcPts val="0"/>
              </a:spcBef>
              <a:spcAft>
                <a:spcPts val="0"/>
              </a:spcAft>
              <a:buClrTx/>
              <a:buSzTx/>
              <a:buFontTx/>
              <a:buNone/>
              <a:tabLst/>
              <a:defRPr/>
            </a:pPr>
            <a:r>
              <a:rPr kumimoji="0" lang="en-US" sz="1350" b="0" i="0" u="none" strike="noStrike" kern="1200" cap="none" spc="0" normalizeH="0" baseline="0" noProof="0">
                <a:ln>
                  <a:noFill/>
                </a:ln>
                <a:solidFill>
                  <a:srgbClr val="C9D6E4"/>
                </a:solidFill>
                <a:effectLst/>
                <a:uLnTx/>
                <a:uFillTx/>
                <a:latin typeface="Calibri" pitchFamily="34" charset="0"/>
                <a:ea typeface="Calibri" pitchFamily="34" charset="-122"/>
                <a:cs typeface="Calibri" pitchFamily="34" charset="-120"/>
              </a:rPr>
              <a:t>Documents, BPMN sources, the L3, the running L4, the test and conformance scripts — all of it, reproducible.</a:t>
            </a: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566928" y="2798064"/>
            <a:ext cx="64008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github.com/Sivanajani/smart-wound-guideline-app</a:t>
            </a:r>
            <a:endParaRPr kumimoji="0" lang="en-US" sz="15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p:cNvSpPr/>
          <p:nvPr/>
        </p:nvSpPr>
        <p:spPr>
          <a:xfrm>
            <a:off x="566928" y="3401568"/>
            <a:ext cx="26517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a:ln>
                  <a:noFill/>
                </a:ln>
                <a:solidFill>
                  <a:srgbClr val="AFC2D6"/>
                </a:solidFill>
                <a:effectLst/>
                <a:uLnTx/>
                <a:uFillTx/>
                <a:latin typeface="Calibri" pitchFamily="34" charset="0"/>
                <a:ea typeface="Calibri" pitchFamily="34" charset="-122"/>
                <a:cs typeface="Calibri" pitchFamily="34" charset="-120"/>
              </a:rPr>
              <a:t>docs/ 01–14</a:t>
            </a:r>
            <a:endParaRPr kumimoji="0" lang="en-US" sz="11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3310128" y="3401568"/>
            <a:ext cx="42062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8FA3B8"/>
                </a:solidFill>
                <a:effectLst/>
                <a:uLnTx/>
                <a:uFillTx/>
                <a:latin typeface="Calibri" pitchFamily="34" charset="0"/>
                <a:ea typeface="Calibri" pitchFamily="34" charset="-122"/>
                <a:cs typeface="Calibri" pitchFamily="34" charset="-120"/>
              </a:rPr>
              <a:t>every assignment item as its own document</a:t>
            </a: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p:nvPr/>
        </p:nvSpPr>
        <p:spPr>
          <a:xfrm>
            <a:off x="566928" y="3968496"/>
            <a:ext cx="26517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a:ln>
                  <a:noFill/>
                </a:ln>
                <a:solidFill>
                  <a:srgbClr val="AFC2D6"/>
                </a:solidFill>
                <a:effectLst/>
                <a:uLnTx/>
                <a:uFillTx/>
                <a:latin typeface="Calibri" pitchFamily="34" charset="0"/>
                <a:ea typeface="Calibri" pitchFamily="34" charset="-122"/>
                <a:cs typeface="Calibri" pitchFamily="34" charset="-120"/>
              </a:rPr>
              <a:t>l3/wundcheck-l3.json</a:t>
            </a:r>
            <a:endParaRPr kumimoji="0" lang="en-US" sz="11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3310128" y="3968496"/>
            <a:ext cx="42062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8FA3B8"/>
                </a:solidFill>
                <a:effectLst/>
                <a:uLnTx/>
                <a:uFillTx/>
                <a:latin typeface="Calibri" pitchFamily="34" charset="0"/>
                <a:ea typeface="Calibri" pitchFamily="34" charset="-122"/>
                <a:cs typeface="Calibri" pitchFamily="34" charset="-120"/>
              </a:rPr>
              <a:t>the machine-readable CDSS — 49 elements, 18 rules</a:t>
            </a: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566928" y="4535424"/>
            <a:ext cx="26517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a:ln>
                  <a:noFill/>
                </a:ln>
                <a:solidFill>
                  <a:srgbClr val="AFC2D6"/>
                </a:solidFill>
                <a:effectLst/>
                <a:uLnTx/>
                <a:uFillTx/>
                <a:latin typeface="Calibri" pitchFamily="34" charset="0"/>
                <a:ea typeface="Calibri" pitchFamily="34" charset="-122"/>
                <a:cs typeface="Calibri" pitchFamily="34" charset="-120"/>
              </a:rPr>
              <a:t>l4/wundcheck-app.html</a:t>
            </a:r>
            <a:endParaRPr kumimoji="0" lang="en-US" sz="11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3310128" y="4535424"/>
            <a:ext cx="42062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8FA3B8"/>
                </a:solidFill>
                <a:effectLst/>
                <a:uLnTx/>
                <a:uFillTx/>
                <a:latin typeface="Calibri" pitchFamily="34" charset="0"/>
                <a:ea typeface="Calibri" pitchFamily="34" charset="-122"/>
                <a:cs typeface="Calibri" pitchFamily="34" charset="-120"/>
              </a:rPr>
              <a:t>one file, opens offline in any browser</a:t>
            </a: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p:cNvSpPr/>
          <p:nvPr/>
        </p:nvSpPr>
        <p:spPr>
          <a:xfrm>
            <a:off x="566928" y="5102352"/>
            <a:ext cx="26517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a:ln>
                  <a:noFill/>
                </a:ln>
                <a:solidFill>
                  <a:srgbClr val="AFC2D6"/>
                </a:solidFill>
                <a:effectLst/>
                <a:uLnTx/>
                <a:uFillTx/>
                <a:latin typeface="Calibri" pitchFamily="34" charset="0"/>
                <a:ea typeface="Calibri" pitchFamily="34" charset="-122"/>
                <a:cs typeface="Calibri" pitchFamily="34" charset="-120"/>
              </a:rPr>
              <a:t>tools/</a:t>
            </a:r>
            <a:endParaRPr kumimoji="0" lang="en-US" sz="11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3310128" y="5102352"/>
            <a:ext cx="42062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8FA3B8"/>
                </a:solidFill>
                <a:effectLst/>
                <a:uLnTx/>
                <a:uFillTx/>
                <a:latin typeface="Calibri" pitchFamily="34" charset="0"/>
                <a:ea typeface="Calibri" pitchFamily="34" charset="-122"/>
                <a:cs typeface="Calibri" pitchFamily="34" charset="-120"/>
              </a:rPr>
              <a:t>19 logic tests · 20 FHIR checks · the no-hardcoding check</a:t>
            </a: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1"/>
          <p:cNvSpPr/>
          <p:nvPr/>
        </p:nvSpPr>
        <p:spPr>
          <a:xfrm>
            <a:off x="8410562" y="502571"/>
            <a:ext cx="2680901" cy="2661253"/>
          </a:xfrm>
          <a:prstGeom prst="roundRect">
            <a:avLst>
              <a:gd name="adj" fmla="val 2927"/>
            </a:avLst>
          </a:prstGeom>
          <a:solidFill>
            <a:srgbClr val="FFFFFF"/>
          </a:solidFill>
          <a:ln w="127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C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4" name="Image 0" descr="repo-qr.png"/>
          <p:cNvPicPr>
            <a:picLocks noChangeAspect="1"/>
          </p:cNvPicPr>
          <p:nvPr/>
        </p:nvPicPr>
        <p:blipFill>
          <a:blip r:embed="rId3"/>
          <a:stretch>
            <a:fillRect/>
          </a:stretch>
        </p:blipFill>
        <p:spPr>
          <a:xfrm>
            <a:off x="8704807" y="645435"/>
            <a:ext cx="2092410" cy="2092410"/>
          </a:xfrm>
          <a:prstGeom prst="rect">
            <a:avLst/>
          </a:prstGeom>
        </p:spPr>
      </p:pic>
      <p:sp>
        <p:nvSpPr>
          <p:cNvPr id="15" name="Text 12"/>
          <p:cNvSpPr/>
          <p:nvPr/>
        </p:nvSpPr>
        <p:spPr>
          <a:xfrm>
            <a:off x="8410557" y="2609714"/>
            <a:ext cx="2680906" cy="1938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a:ln>
                  <a:noFill/>
                </a:ln>
                <a:solidFill>
                  <a:srgbClr val="12202E"/>
                </a:solidFill>
                <a:effectLst/>
                <a:uLnTx/>
                <a:uFillTx/>
                <a:latin typeface="Calibri" pitchFamily="34" charset="0"/>
                <a:ea typeface="Calibri" pitchFamily="34" charset="-122"/>
                <a:cs typeface="Calibri" pitchFamily="34" charset="-120"/>
              </a:rPr>
              <a:t>Scan for the full project</a:t>
            </a:r>
            <a:endParaRPr kumimoji="0" lang="en-US" sz="11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3"/>
          <p:cNvSpPr/>
          <p:nvPr/>
        </p:nvSpPr>
        <p:spPr>
          <a:xfrm>
            <a:off x="8410557" y="2884034"/>
            <a:ext cx="2680906" cy="1938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5D7186"/>
                </a:solidFill>
                <a:effectLst/>
                <a:uLnTx/>
                <a:uFillTx/>
                <a:latin typeface="Calibri" pitchFamily="34" charset="0"/>
                <a:ea typeface="Calibri" pitchFamily="34" charset="-122"/>
                <a:cs typeface="Calibri" pitchFamily="34" charset="-120"/>
              </a:rPr>
              <a:t>Study prototype — not for clinical use.</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4"/>
          <p:cNvSpPr/>
          <p:nvPr/>
        </p:nvSpPr>
        <p:spPr>
          <a:xfrm>
            <a:off x="566928" y="5797296"/>
            <a:ext cx="6766560" cy="40233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a:ln>
                  <a:noFill/>
                </a:ln>
                <a:solidFill>
                  <a:srgbClr val="FFFFFF"/>
                </a:solidFill>
                <a:effectLst/>
                <a:uLnTx/>
                <a:uFillTx/>
                <a:latin typeface="Cambria" pitchFamily="34" charset="0"/>
                <a:ea typeface="Cambria" pitchFamily="34" charset="-122"/>
                <a:cs typeface="Cambria" pitchFamily="34" charset="-120"/>
              </a:rPr>
              <a:t>Thank you — questions?</a:t>
            </a:r>
            <a:endParaRPr kumimoji="0" lang="en-US" sz="19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0" name="Grafik 19">
            <a:extLst>
              <a:ext uri="{FF2B5EF4-FFF2-40B4-BE49-F238E27FC236}">
                <a16:creationId xmlns:a16="http://schemas.microsoft.com/office/drawing/2014/main" id="{3EE4F950-90AF-0834-923D-F9740E6572D0}"/>
              </a:ext>
            </a:extLst>
          </p:cNvPr>
          <p:cNvPicPr>
            <a:picLocks noChangeAspect="1"/>
          </p:cNvPicPr>
          <p:nvPr/>
        </p:nvPicPr>
        <p:blipFill>
          <a:blip r:embed="rId4"/>
          <a:srcRect t="18163" r="15072" b="20387"/>
          <a:stretch>
            <a:fillRect/>
          </a:stretch>
        </p:blipFill>
        <p:spPr>
          <a:xfrm rot="19735739">
            <a:off x="-207712" y="-137889"/>
            <a:ext cx="2630371" cy="1903219"/>
          </a:xfrm>
          <a:prstGeom prst="rect">
            <a:avLst/>
          </a:prstGeom>
        </p:spPr>
      </p:pic>
      <p:sp>
        <p:nvSpPr>
          <p:cNvPr id="29" name="Shape 11">
            <a:extLst>
              <a:ext uri="{FF2B5EF4-FFF2-40B4-BE49-F238E27FC236}">
                <a16:creationId xmlns:a16="http://schemas.microsoft.com/office/drawing/2014/main" id="{86E9E10E-C805-6F6E-1114-C5C2B5DB901A}"/>
              </a:ext>
            </a:extLst>
          </p:cNvPr>
          <p:cNvSpPr/>
          <p:nvPr/>
        </p:nvSpPr>
        <p:spPr>
          <a:xfrm>
            <a:off x="8410562" y="3580050"/>
            <a:ext cx="2680901" cy="2661253"/>
          </a:xfrm>
          <a:prstGeom prst="roundRect">
            <a:avLst>
              <a:gd name="adj" fmla="val 2927"/>
            </a:avLst>
          </a:prstGeom>
          <a:solidFill>
            <a:srgbClr val="FFFFFF"/>
          </a:solidFill>
          <a:ln w="127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C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1" name="Image 0">
            <a:extLst>
              <a:ext uri="{FF2B5EF4-FFF2-40B4-BE49-F238E27FC236}">
                <a16:creationId xmlns:a16="http://schemas.microsoft.com/office/drawing/2014/main" id="{D2F8189F-6F56-29CA-673E-656C9180BDCC}"/>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8704807" y="3722914"/>
            <a:ext cx="2092410" cy="2092410"/>
          </a:xfrm>
          <a:prstGeom prst="rect">
            <a:avLst/>
          </a:prstGeom>
        </p:spPr>
      </p:pic>
      <p:sp>
        <p:nvSpPr>
          <p:cNvPr id="33" name="Text 12">
            <a:extLst>
              <a:ext uri="{FF2B5EF4-FFF2-40B4-BE49-F238E27FC236}">
                <a16:creationId xmlns:a16="http://schemas.microsoft.com/office/drawing/2014/main" id="{6052C775-EE43-84DD-2B82-7E7D43132E36}"/>
              </a:ext>
            </a:extLst>
          </p:cNvPr>
          <p:cNvSpPr/>
          <p:nvPr/>
        </p:nvSpPr>
        <p:spPr>
          <a:xfrm>
            <a:off x="8410557" y="5761399"/>
            <a:ext cx="2680906" cy="1938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a:ln>
                  <a:noFill/>
                </a:ln>
                <a:solidFill>
                  <a:srgbClr val="12202E"/>
                </a:solidFill>
                <a:effectLst/>
                <a:uLnTx/>
                <a:uFillTx/>
                <a:latin typeface="Calibri" pitchFamily="34" charset="0"/>
                <a:ea typeface="Calibri" pitchFamily="34" charset="-122"/>
                <a:cs typeface="Calibri" pitchFamily="34" charset="-120"/>
              </a:rPr>
              <a:t>Scan for the </a:t>
            </a:r>
            <a:r>
              <a:rPr lang="en-US" sz="1150" b="1">
                <a:solidFill>
                  <a:srgbClr val="12202E"/>
                </a:solidFill>
                <a:latin typeface="Calibri" pitchFamily="34" charset="0"/>
                <a:ea typeface="Calibri" pitchFamily="34" charset="-122"/>
                <a:cs typeface="Calibri" pitchFamily="34" charset="-120"/>
              </a:rPr>
              <a:t>Demo</a:t>
            </a:r>
            <a:endParaRPr kumimoji="0" lang="en-US" sz="11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Text 13">
            <a:extLst>
              <a:ext uri="{FF2B5EF4-FFF2-40B4-BE49-F238E27FC236}">
                <a16:creationId xmlns:a16="http://schemas.microsoft.com/office/drawing/2014/main" id="{A37ACA4F-18CD-6407-34B7-61B0708812A9}"/>
              </a:ext>
            </a:extLst>
          </p:cNvPr>
          <p:cNvSpPr/>
          <p:nvPr/>
        </p:nvSpPr>
        <p:spPr>
          <a:xfrm>
            <a:off x="8410557" y="5961513"/>
            <a:ext cx="2680906" cy="1938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5D7186"/>
                </a:solidFill>
                <a:effectLst/>
                <a:uLnTx/>
                <a:uFillTx/>
                <a:latin typeface="Calibri" pitchFamily="34" charset="0"/>
                <a:ea typeface="Calibri" pitchFamily="34" charset="-122"/>
                <a:cs typeface="Calibri" pitchFamily="34" charset="-120"/>
              </a:rPr>
              <a:t>Study prototype — not for clinical use.</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7680960" cy="219456"/>
          </a:xfrm>
          <a:prstGeom prst="rect">
            <a:avLst/>
          </a:prstGeom>
          <a:noFill/>
          <a:ln/>
        </p:spPr>
        <p:txBody>
          <a:bodyPr wrap="square" lIns="0" tIns="0" rIns="0" bIns="0" rtlCol="0" anchor="ctr"/>
          <a:lstStyle/>
          <a:p>
            <a:pPr marL="0" indent="0">
              <a:buNone/>
            </a:pPr>
            <a:r>
              <a:rPr lang="en-US" sz="1050" b="1" kern="0" spc="160" dirty="0">
                <a:solidFill>
                  <a:srgbClr val="5D7186"/>
                </a:solidFill>
                <a:latin typeface="Calibri" pitchFamily="34" charset="0"/>
                <a:ea typeface="Calibri" pitchFamily="34" charset="-122"/>
                <a:cs typeface="Calibri" pitchFamily="34" charset="-120"/>
              </a:rPr>
              <a:t>BACKUP · REFERENCES</a:t>
            </a:r>
            <a:endParaRPr lang="en-US" sz="1050" dirty="0"/>
          </a:p>
        </p:txBody>
      </p:sp>
      <p:sp>
        <p:nvSpPr>
          <p:cNvPr id="3" name="Text 1"/>
          <p:cNvSpPr/>
          <p:nvPr/>
        </p:nvSpPr>
        <p:spPr>
          <a:xfrm>
            <a:off x="566928" y="640080"/>
            <a:ext cx="10607040" cy="658368"/>
          </a:xfrm>
          <a:prstGeom prst="rect">
            <a:avLst/>
          </a:prstGeom>
          <a:noFill/>
          <a:ln/>
        </p:spPr>
        <p:txBody>
          <a:bodyPr wrap="square" lIns="0" tIns="0" rIns="0" bIns="0" rtlCol="0" anchor="t"/>
          <a:lstStyle/>
          <a:p>
            <a:pPr marL="0" indent="0">
              <a:buNone/>
            </a:pPr>
            <a:r>
              <a:rPr lang="en-US" sz="2700" b="1" dirty="0">
                <a:solidFill>
                  <a:srgbClr val="12202E"/>
                </a:solidFill>
                <a:latin typeface="Cambria" pitchFamily="34" charset="0"/>
                <a:ea typeface="Cambria" pitchFamily="34" charset="-122"/>
                <a:cs typeface="Cambria" pitchFamily="34" charset="-120"/>
              </a:rPr>
              <a:t>Sources</a:t>
            </a:r>
            <a:endParaRPr lang="en-US" sz="2700" dirty="0"/>
          </a:p>
        </p:txBody>
      </p:sp>
      <p:sp>
        <p:nvSpPr>
          <p:cNvPr id="4" name="Shape 2"/>
          <p:cNvSpPr/>
          <p:nvPr/>
        </p:nvSpPr>
        <p:spPr>
          <a:xfrm>
            <a:off x="566928" y="1554480"/>
            <a:ext cx="11064240" cy="420624"/>
          </a:xfrm>
          <a:prstGeom prst="roundRect">
            <a:avLst>
              <a:gd name="adj" fmla="val 13043"/>
            </a:avLst>
          </a:prstGeom>
          <a:solidFill>
            <a:srgbClr val="F5F7FA"/>
          </a:solidFill>
          <a:ln w="12700">
            <a:solidFill>
              <a:srgbClr val="DDE5EE"/>
            </a:solidFill>
            <a:prstDash val="solid"/>
          </a:ln>
        </p:spPr>
        <p:txBody>
          <a:bodyPr/>
          <a:lstStyle/>
          <a:p>
            <a:endParaRPr lang="de-CH"/>
          </a:p>
        </p:txBody>
      </p:sp>
      <p:sp>
        <p:nvSpPr>
          <p:cNvPr id="5" name="Text 3"/>
          <p:cNvSpPr/>
          <p:nvPr/>
        </p:nvSpPr>
        <p:spPr>
          <a:xfrm>
            <a:off x="786384" y="1554480"/>
            <a:ext cx="2377440" cy="420624"/>
          </a:xfrm>
          <a:prstGeom prst="rect">
            <a:avLst/>
          </a:prstGeom>
          <a:noFill/>
          <a:ln/>
        </p:spPr>
        <p:txBody>
          <a:bodyPr wrap="square" lIns="0" tIns="0" rIns="0" bIns="0" rtlCol="0" anchor="ctr"/>
          <a:lstStyle/>
          <a:p>
            <a:pPr marL="0" indent="0">
              <a:buNone/>
            </a:pPr>
            <a:r>
              <a:rPr lang="en-US" sz="1100" b="1" dirty="0">
                <a:solidFill>
                  <a:srgbClr val="12202E"/>
                </a:solidFill>
                <a:latin typeface="Calibri" pitchFamily="34" charset="0"/>
                <a:ea typeface="Calibri" pitchFamily="34" charset="-122"/>
                <a:cs typeface="Calibri" pitchFamily="34" charset="-120"/>
              </a:rPr>
              <a:t>Woelber E et al.</a:t>
            </a:r>
            <a:endParaRPr lang="en-US" sz="1100" dirty="0"/>
          </a:p>
        </p:txBody>
      </p:sp>
      <p:sp>
        <p:nvSpPr>
          <p:cNvPr id="6" name="Text 4"/>
          <p:cNvSpPr/>
          <p:nvPr/>
        </p:nvSpPr>
        <p:spPr>
          <a:xfrm>
            <a:off x="3264408" y="1554480"/>
            <a:ext cx="6400800" cy="420624"/>
          </a:xfrm>
          <a:prstGeom prst="rect">
            <a:avLst/>
          </a:prstGeom>
          <a:noFill/>
          <a:ln/>
        </p:spPr>
        <p:txBody>
          <a:bodyPr wrap="square" lIns="0" tIns="0" rIns="0" bIns="0" rtlCol="0" anchor="ctr"/>
          <a:lstStyle/>
          <a:p>
            <a:pPr marL="0" indent="0">
              <a:buNone/>
            </a:pPr>
            <a:r>
              <a:rPr lang="en-US" sz="1000" dirty="0">
                <a:solidFill>
                  <a:srgbClr val="5D7186"/>
                </a:solidFill>
                <a:latin typeface="Calibri" pitchFamily="34" charset="0"/>
                <a:ea typeface="Calibri" pitchFamily="34" charset="-122"/>
                <a:cs typeface="Calibri" pitchFamily="34" charset="-120"/>
              </a:rPr>
              <a:t>Proportion of Surgical Site Infections Occurring after Hospital Discharge: A Systematic Review. Surg Infect 2016;17(5):510–19.</a:t>
            </a:r>
            <a:endParaRPr lang="en-US" sz="1000" dirty="0"/>
          </a:p>
        </p:txBody>
      </p:sp>
      <p:sp>
        <p:nvSpPr>
          <p:cNvPr id="7" name="Text 5"/>
          <p:cNvSpPr/>
          <p:nvPr/>
        </p:nvSpPr>
        <p:spPr>
          <a:xfrm>
            <a:off x="9802368" y="1554480"/>
            <a:ext cx="1691640" cy="420624"/>
          </a:xfrm>
          <a:prstGeom prst="rect">
            <a:avLst/>
          </a:prstGeom>
          <a:noFill/>
          <a:ln/>
        </p:spPr>
        <p:txBody>
          <a:bodyPr wrap="square" lIns="0" tIns="0" rIns="0" bIns="0" rtlCol="0" anchor="ctr"/>
          <a:lstStyle/>
          <a:p>
            <a:pPr marL="0" indent="0" algn="r">
              <a:buNone/>
            </a:pPr>
            <a:r>
              <a:rPr lang="en-US" sz="950" i="1" dirty="0">
                <a:solidFill>
                  <a:srgbClr val="5D7186"/>
                </a:solidFill>
                <a:latin typeface="Calibri" pitchFamily="34" charset="0"/>
                <a:ea typeface="Calibri" pitchFamily="34" charset="-122"/>
                <a:cs typeface="Calibri" pitchFamily="34" charset="-120"/>
              </a:rPr>
              <a:t>60.1 % post-discharge</a:t>
            </a:r>
            <a:endParaRPr lang="en-US" sz="950" dirty="0"/>
          </a:p>
        </p:txBody>
      </p:sp>
      <p:sp>
        <p:nvSpPr>
          <p:cNvPr id="8" name="Shape 6"/>
          <p:cNvSpPr/>
          <p:nvPr/>
        </p:nvSpPr>
        <p:spPr>
          <a:xfrm>
            <a:off x="566928" y="2029968"/>
            <a:ext cx="11064240" cy="420624"/>
          </a:xfrm>
          <a:prstGeom prst="roundRect">
            <a:avLst>
              <a:gd name="adj" fmla="val 13043"/>
            </a:avLst>
          </a:prstGeom>
          <a:solidFill>
            <a:srgbClr val="FFFFFF"/>
          </a:solidFill>
          <a:ln w="12700">
            <a:solidFill>
              <a:srgbClr val="DDE5EE"/>
            </a:solidFill>
            <a:prstDash val="solid"/>
          </a:ln>
        </p:spPr>
        <p:txBody>
          <a:bodyPr/>
          <a:lstStyle/>
          <a:p>
            <a:endParaRPr lang="de-CH"/>
          </a:p>
        </p:txBody>
      </p:sp>
      <p:sp>
        <p:nvSpPr>
          <p:cNvPr id="9" name="Text 7"/>
          <p:cNvSpPr/>
          <p:nvPr/>
        </p:nvSpPr>
        <p:spPr>
          <a:xfrm>
            <a:off x="786384" y="2029968"/>
            <a:ext cx="2377440" cy="420624"/>
          </a:xfrm>
          <a:prstGeom prst="rect">
            <a:avLst/>
          </a:prstGeom>
          <a:noFill/>
          <a:ln/>
        </p:spPr>
        <p:txBody>
          <a:bodyPr wrap="square" lIns="0" tIns="0" rIns="0" bIns="0" rtlCol="0" anchor="ctr"/>
          <a:lstStyle/>
          <a:p>
            <a:pPr marL="0" indent="0">
              <a:buNone/>
            </a:pPr>
            <a:r>
              <a:rPr lang="en-US" sz="1100" b="1" dirty="0">
                <a:solidFill>
                  <a:srgbClr val="12202E"/>
                </a:solidFill>
                <a:latin typeface="Calibri" pitchFamily="34" charset="0"/>
                <a:ea typeface="Calibri" pitchFamily="34" charset="-122"/>
                <a:cs typeface="Calibri" pitchFamily="34" charset="-120"/>
              </a:rPr>
              <a:t>ECDC</a:t>
            </a:r>
            <a:endParaRPr lang="en-US" sz="1100" dirty="0"/>
          </a:p>
        </p:txBody>
      </p:sp>
      <p:sp>
        <p:nvSpPr>
          <p:cNvPr id="10" name="Text 8"/>
          <p:cNvSpPr/>
          <p:nvPr/>
        </p:nvSpPr>
        <p:spPr>
          <a:xfrm>
            <a:off x="3264408" y="2029968"/>
            <a:ext cx="6400800" cy="420624"/>
          </a:xfrm>
          <a:prstGeom prst="rect">
            <a:avLst/>
          </a:prstGeom>
          <a:noFill/>
          <a:ln/>
        </p:spPr>
        <p:txBody>
          <a:bodyPr wrap="square" lIns="0" tIns="0" rIns="0" bIns="0" rtlCol="0" anchor="ctr"/>
          <a:lstStyle/>
          <a:p>
            <a:pPr marL="0" indent="0">
              <a:buNone/>
            </a:pPr>
            <a:r>
              <a:rPr lang="en-US" sz="1000" dirty="0">
                <a:solidFill>
                  <a:srgbClr val="5D7186"/>
                </a:solidFill>
                <a:latin typeface="Calibri" pitchFamily="34" charset="0"/>
                <a:ea typeface="Calibri" pitchFamily="34" charset="-122"/>
                <a:cs typeface="Calibri" pitchFamily="34" charset="-120"/>
              </a:rPr>
              <a:t>Healthcare-associated infections: surgical site infections — Annual Epidemiological Report 2017.</a:t>
            </a:r>
            <a:endParaRPr lang="en-US" sz="1000" dirty="0"/>
          </a:p>
        </p:txBody>
      </p:sp>
      <p:sp>
        <p:nvSpPr>
          <p:cNvPr id="11" name="Text 9"/>
          <p:cNvSpPr/>
          <p:nvPr/>
        </p:nvSpPr>
        <p:spPr>
          <a:xfrm>
            <a:off x="9802368" y="2029968"/>
            <a:ext cx="1691640" cy="420624"/>
          </a:xfrm>
          <a:prstGeom prst="rect">
            <a:avLst/>
          </a:prstGeom>
          <a:noFill/>
          <a:ln/>
        </p:spPr>
        <p:txBody>
          <a:bodyPr wrap="square" lIns="0" tIns="0" rIns="0" bIns="0" rtlCol="0" anchor="ctr"/>
          <a:lstStyle/>
          <a:p>
            <a:pPr marL="0" indent="0" algn="r">
              <a:buNone/>
            </a:pPr>
            <a:r>
              <a:rPr lang="en-US" sz="950" i="1" dirty="0">
                <a:solidFill>
                  <a:srgbClr val="5D7186"/>
                </a:solidFill>
                <a:latin typeface="Calibri" pitchFamily="34" charset="0"/>
                <a:ea typeface="Calibri" pitchFamily="34" charset="-122"/>
                <a:cs typeface="Calibri" pitchFamily="34" charset="-120"/>
              </a:rPr>
              <a:t>0.5–10.1 % by procedure</a:t>
            </a:r>
            <a:endParaRPr lang="en-US" sz="950" dirty="0"/>
          </a:p>
        </p:txBody>
      </p:sp>
      <p:sp>
        <p:nvSpPr>
          <p:cNvPr id="12" name="Shape 10"/>
          <p:cNvSpPr/>
          <p:nvPr/>
        </p:nvSpPr>
        <p:spPr>
          <a:xfrm>
            <a:off x="566928" y="2505456"/>
            <a:ext cx="11064240" cy="420624"/>
          </a:xfrm>
          <a:prstGeom prst="roundRect">
            <a:avLst>
              <a:gd name="adj" fmla="val 13043"/>
            </a:avLst>
          </a:prstGeom>
          <a:solidFill>
            <a:srgbClr val="F5F7FA"/>
          </a:solidFill>
          <a:ln w="12700">
            <a:solidFill>
              <a:srgbClr val="DDE5EE"/>
            </a:solidFill>
            <a:prstDash val="solid"/>
          </a:ln>
        </p:spPr>
        <p:txBody>
          <a:bodyPr/>
          <a:lstStyle/>
          <a:p>
            <a:endParaRPr lang="de-CH"/>
          </a:p>
        </p:txBody>
      </p:sp>
      <p:sp>
        <p:nvSpPr>
          <p:cNvPr id="13" name="Text 11"/>
          <p:cNvSpPr/>
          <p:nvPr/>
        </p:nvSpPr>
        <p:spPr>
          <a:xfrm>
            <a:off x="786384" y="2505456"/>
            <a:ext cx="2377440" cy="420624"/>
          </a:xfrm>
          <a:prstGeom prst="rect">
            <a:avLst/>
          </a:prstGeom>
          <a:noFill/>
          <a:ln/>
        </p:spPr>
        <p:txBody>
          <a:bodyPr wrap="square" lIns="0" tIns="0" rIns="0" bIns="0" rtlCol="0" anchor="ctr"/>
          <a:lstStyle/>
          <a:p>
            <a:pPr marL="0" indent="0">
              <a:buNone/>
            </a:pPr>
            <a:r>
              <a:rPr lang="en-US" sz="1100" b="1" dirty="0">
                <a:solidFill>
                  <a:srgbClr val="12202E"/>
                </a:solidFill>
                <a:latin typeface="Calibri" pitchFamily="34" charset="0"/>
                <a:ea typeface="Calibri" pitchFamily="34" charset="-122"/>
                <a:cs typeface="Calibri" pitchFamily="34" charset="-120"/>
              </a:rPr>
              <a:t>CDC / NHSN</a:t>
            </a:r>
            <a:endParaRPr lang="en-US" sz="1100" dirty="0"/>
          </a:p>
        </p:txBody>
      </p:sp>
      <p:sp>
        <p:nvSpPr>
          <p:cNvPr id="14" name="Text 12"/>
          <p:cNvSpPr/>
          <p:nvPr/>
        </p:nvSpPr>
        <p:spPr>
          <a:xfrm>
            <a:off x="3264408" y="2505456"/>
            <a:ext cx="6400800" cy="420624"/>
          </a:xfrm>
          <a:prstGeom prst="rect">
            <a:avLst/>
          </a:prstGeom>
          <a:noFill/>
          <a:ln/>
        </p:spPr>
        <p:txBody>
          <a:bodyPr wrap="square" lIns="0" tIns="0" rIns="0" bIns="0" rtlCol="0" anchor="ctr"/>
          <a:lstStyle/>
          <a:p>
            <a:pPr marL="0" indent="0">
              <a:buNone/>
            </a:pPr>
            <a:r>
              <a:rPr lang="en-US" sz="1000" dirty="0">
                <a:solidFill>
                  <a:srgbClr val="5D7186"/>
                </a:solidFill>
                <a:latin typeface="Calibri" pitchFamily="34" charset="0"/>
                <a:ea typeface="Calibri" pitchFamily="34" charset="-122"/>
                <a:cs typeface="Calibri" pitchFamily="34" charset="-120"/>
              </a:rPr>
              <a:t>Surgical Site Infection Event (SSI). Patient Safety Component Manual.</a:t>
            </a:r>
            <a:endParaRPr lang="en-US" sz="1000" dirty="0"/>
          </a:p>
        </p:txBody>
      </p:sp>
      <p:sp>
        <p:nvSpPr>
          <p:cNvPr id="15" name="Text 13"/>
          <p:cNvSpPr/>
          <p:nvPr/>
        </p:nvSpPr>
        <p:spPr>
          <a:xfrm>
            <a:off x="9802368" y="2505456"/>
            <a:ext cx="1691640" cy="420624"/>
          </a:xfrm>
          <a:prstGeom prst="rect">
            <a:avLst/>
          </a:prstGeom>
          <a:noFill/>
          <a:ln/>
        </p:spPr>
        <p:txBody>
          <a:bodyPr wrap="square" lIns="0" tIns="0" rIns="0" bIns="0" rtlCol="0" anchor="ctr"/>
          <a:lstStyle/>
          <a:p>
            <a:pPr marL="0" indent="0" algn="r">
              <a:buNone/>
            </a:pPr>
            <a:r>
              <a:rPr lang="en-US" sz="950" i="1" dirty="0">
                <a:solidFill>
                  <a:srgbClr val="5D7186"/>
                </a:solidFill>
                <a:latin typeface="Calibri" pitchFamily="34" charset="0"/>
                <a:ea typeface="Calibri" pitchFamily="34" charset="-122"/>
                <a:cs typeface="Calibri" pitchFamily="34" charset="-120"/>
              </a:rPr>
              <a:t>30 / 90-day window</a:t>
            </a:r>
            <a:endParaRPr lang="en-US" sz="950" dirty="0"/>
          </a:p>
        </p:txBody>
      </p:sp>
      <p:sp>
        <p:nvSpPr>
          <p:cNvPr id="16" name="Shape 14"/>
          <p:cNvSpPr/>
          <p:nvPr/>
        </p:nvSpPr>
        <p:spPr>
          <a:xfrm>
            <a:off x="566928" y="2980944"/>
            <a:ext cx="11064240" cy="420624"/>
          </a:xfrm>
          <a:prstGeom prst="roundRect">
            <a:avLst>
              <a:gd name="adj" fmla="val 13043"/>
            </a:avLst>
          </a:prstGeom>
          <a:solidFill>
            <a:srgbClr val="FFFFFF"/>
          </a:solidFill>
          <a:ln w="12700">
            <a:solidFill>
              <a:srgbClr val="DDE5EE"/>
            </a:solidFill>
            <a:prstDash val="solid"/>
          </a:ln>
        </p:spPr>
        <p:txBody>
          <a:bodyPr/>
          <a:lstStyle/>
          <a:p>
            <a:endParaRPr lang="de-CH"/>
          </a:p>
        </p:txBody>
      </p:sp>
      <p:sp>
        <p:nvSpPr>
          <p:cNvPr id="17" name="Text 15"/>
          <p:cNvSpPr/>
          <p:nvPr/>
        </p:nvSpPr>
        <p:spPr>
          <a:xfrm>
            <a:off x="786384" y="2980944"/>
            <a:ext cx="2377440" cy="420624"/>
          </a:xfrm>
          <a:prstGeom prst="rect">
            <a:avLst/>
          </a:prstGeom>
          <a:noFill/>
          <a:ln/>
        </p:spPr>
        <p:txBody>
          <a:bodyPr wrap="square" lIns="0" tIns="0" rIns="0" bIns="0" rtlCol="0" anchor="ctr"/>
          <a:lstStyle/>
          <a:p>
            <a:pPr marL="0" indent="0">
              <a:buNone/>
            </a:pPr>
            <a:r>
              <a:rPr lang="en-US" sz="1100" b="1" dirty="0">
                <a:solidFill>
                  <a:srgbClr val="12202E"/>
                </a:solidFill>
                <a:latin typeface="Calibri" pitchFamily="34" charset="0"/>
                <a:ea typeface="Calibri" pitchFamily="34" charset="-122"/>
                <a:cs typeface="Calibri" pitchFamily="34" charset="-120"/>
              </a:rPr>
              <a:t>NICE</a:t>
            </a:r>
            <a:endParaRPr lang="en-US" sz="1100" dirty="0"/>
          </a:p>
        </p:txBody>
      </p:sp>
      <p:sp>
        <p:nvSpPr>
          <p:cNvPr id="18" name="Text 16"/>
          <p:cNvSpPr/>
          <p:nvPr/>
        </p:nvSpPr>
        <p:spPr>
          <a:xfrm>
            <a:off x="3264408" y="2980944"/>
            <a:ext cx="6400800" cy="420624"/>
          </a:xfrm>
          <a:prstGeom prst="rect">
            <a:avLst/>
          </a:prstGeom>
          <a:noFill/>
          <a:ln/>
        </p:spPr>
        <p:txBody>
          <a:bodyPr wrap="square" lIns="0" tIns="0" rIns="0" bIns="0" rtlCol="0" anchor="ctr"/>
          <a:lstStyle/>
          <a:p>
            <a:pPr marL="0" indent="0">
              <a:buNone/>
            </a:pPr>
            <a:r>
              <a:rPr lang="en-US" sz="1000" dirty="0">
                <a:solidFill>
                  <a:srgbClr val="5D7186"/>
                </a:solidFill>
                <a:latin typeface="Calibri" pitchFamily="34" charset="0"/>
                <a:ea typeface="Calibri" pitchFamily="34" charset="-122"/>
                <a:cs typeface="Calibri" pitchFamily="34" charset="-120"/>
              </a:rPr>
              <a:t>Surgical site infections: prevention and treatment. NG125, 11 Apr 2019, upd. 19 Aug 2020.</a:t>
            </a:r>
            <a:endParaRPr lang="en-US" sz="1000" dirty="0"/>
          </a:p>
        </p:txBody>
      </p:sp>
      <p:sp>
        <p:nvSpPr>
          <p:cNvPr id="19" name="Text 17"/>
          <p:cNvSpPr/>
          <p:nvPr/>
        </p:nvSpPr>
        <p:spPr>
          <a:xfrm>
            <a:off x="9802368" y="2980944"/>
            <a:ext cx="1691640" cy="420624"/>
          </a:xfrm>
          <a:prstGeom prst="rect">
            <a:avLst/>
          </a:prstGeom>
          <a:noFill/>
          <a:ln/>
        </p:spPr>
        <p:txBody>
          <a:bodyPr wrap="square" lIns="0" tIns="0" rIns="0" bIns="0" rtlCol="0" anchor="ctr"/>
          <a:lstStyle/>
          <a:p>
            <a:pPr marL="0" indent="0" algn="r">
              <a:buNone/>
            </a:pPr>
            <a:r>
              <a:rPr lang="en-US" sz="950" i="1" dirty="0">
                <a:solidFill>
                  <a:srgbClr val="5D7186"/>
                </a:solidFill>
                <a:latin typeface="Calibri" pitchFamily="34" charset="0"/>
                <a:ea typeface="Calibri" pitchFamily="34" charset="-122"/>
                <a:cs typeface="Calibri" pitchFamily="34" charset="-120"/>
              </a:rPr>
              <a:t>nice.org.uk/guidance/ng125</a:t>
            </a:r>
            <a:endParaRPr lang="en-US" sz="950" dirty="0"/>
          </a:p>
        </p:txBody>
      </p:sp>
      <p:sp>
        <p:nvSpPr>
          <p:cNvPr id="20" name="Shape 18"/>
          <p:cNvSpPr/>
          <p:nvPr/>
        </p:nvSpPr>
        <p:spPr>
          <a:xfrm>
            <a:off x="566928" y="3456432"/>
            <a:ext cx="11064240" cy="420624"/>
          </a:xfrm>
          <a:prstGeom prst="roundRect">
            <a:avLst>
              <a:gd name="adj" fmla="val 13043"/>
            </a:avLst>
          </a:prstGeom>
          <a:solidFill>
            <a:srgbClr val="F5F7FA"/>
          </a:solidFill>
          <a:ln w="12700">
            <a:solidFill>
              <a:srgbClr val="DDE5EE"/>
            </a:solidFill>
            <a:prstDash val="solid"/>
          </a:ln>
        </p:spPr>
        <p:txBody>
          <a:bodyPr/>
          <a:lstStyle/>
          <a:p>
            <a:endParaRPr lang="de-CH"/>
          </a:p>
        </p:txBody>
      </p:sp>
      <p:sp>
        <p:nvSpPr>
          <p:cNvPr id="21" name="Text 19"/>
          <p:cNvSpPr/>
          <p:nvPr/>
        </p:nvSpPr>
        <p:spPr>
          <a:xfrm>
            <a:off x="786384" y="3456432"/>
            <a:ext cx="2377440" cy="420624"/>
          </a:xfrm>
          <a:prstGeom prst="rect">
            <a:avLst/>
          </a:prstGeom>
          <a:noFill/>
          <a:ln/>
        </p:spPr>
        <p:txBody>
          <a:bodyPr wrap="square" lIns="0" tIns="0" rIns="0" bIns="0" rtlCol="0" anchor="ctr"/>
          <a:lstStyle/>
          <a:p>
            <a:pPr marL="0" indent="0">
              <a:buNone/>
            </a:pPr>
            <a:r>
              <a:rPr lang="en-US" sz="1100" b="1" dirty="0">
                <a:solidFill>
                  <a:srgbClr val="12202E"/>
                </a:solidFill>
                <a:latin typeface="Calibri" pitchFamily="34" charset="0"/>
                <a:ea typeface="Calibri" pitchFamily="34" charset="-122"/>
                <a:cs typeface="Calibri" pitchFamily="34" charset="-120"/>
              </a:rPr>
              <a:t>Bailey IS et al.</a:t>
            </a:r>
            <a:endParaRPr lang="en-US" sz="1100" dirty="0"/>
          </a:p>
        </p:txBody>
      </p:sp>
      <p:sp>
        <p:nvSpPr>
          <p:cNvPr id="22" name="Text 20"/>
          <p:cNvSpPr/>
          <p:nvPr/>
        </p:nvSpPr>
        <p:spPr>
          <a:xfrm>
            <a:off x="3264408" y="3456432"/>
            <a:ext cx="6400800" cy="420624"/>
          </a:xfrm>
          <a:prstGeom prst="rect">
            <a:avLst/>
          </a:prstGeom>
          <a:noFill/>
          <a:ln/>
        </p:spPr>
        <p:txBody>
          <a:bodyPr wrap="square" lIns="0" tIns="0" rIns="0" bIns="0" rtlCol="0" anchor="ctr"/>
          <a:lstStyle/>
          <a:p>
            <a:pPr marL="0" indent="0">
              <a:buNone/>
            </a:pPr>
            <a:r>
              <a:rPr lang="en-US" sz="1000" dirty="0">
                <a:solidFill>
                  <a:srgbClr val="5D7186"/>
                </a:solidFill>
                <a:latin typeface="Calibri" pitchFamily="34" charset="0"/>
                <a:ea typeface="Calibri" pitchFamily="34" charset="-122"/>
                <a:cs typeface="Calibri" pitchFamily="34" charset="-120"/>
              </a:rPr>
              <a:t>Southampton Wound Scoring System.</a:t>
            </a:r>
            <a:endParaRPr lang="en-US" sz="1000" dirty="0"/>
          </a:p>
        </p:txBody>
      </p:sp>
      <p:sp>
        <p:nvSpPr>
          <p:cNvPr id="23" name="Text 21"/>
          <p:cNvSpPr/>
          <p:nvPr/>
        </p:nvSpPr>
        <p:spPr>
          <a:xfrm>
            <a:off x="9802368" y="3456432"/>
            <a:ext cx="1691640" cy="420624"/>
          </a:xfrm>
          <a:prstGeom prst="rect">
            <a:avLst/>
          </a:prstGeom>
          <a:noFill/>
          <a:ln/>
        </p:spPr>
        <p:txBody>
          <a:bodyPr wrap="square" lIns="0" tIns="0" rIns="0" bIns="0" rtlCol="0" anchor="ctr"/>
          <a:lstStyle/>
          <a:p>
            <a:pPr marL="0" indent="0" algn="r">
              <a:buNone/>
            </a:pPr>
            <a:r>
              <a:rPr lang="en-US" sz="950" i="1" dirty="0">
                <a:solidFill>
                  <a:srgbClr val="5D7186"/>
                </a:solidFill>
                <a:latin typeface="Calibri" pitchFamily="34" charset="0"/>
                <a:ea typeface="Calibri" pitchFamily="34" charset="-122"/>
                <a:cs typeface="Calibri" pitchFamily="34" charset="-120"/>
              </a:rPr>
              <a:t>grades 0–V</a:t>
            </a:r>
            <a:endParaRPr lang="en-US" sz="950" dirty="0"/>
          </a:p>
        </p:txBody>
      </p:sp>
      <p:sp>
        <p:nvSpPr>
          <p:cNvPr id="24" name="Shape 22"/>
          <p:cNvSpPr/>
          <p:nvPr/>
        </p:nvSpPr>
        <p:spPr>
          <a:xfrm>
            <a:off x="566928" y="3931920"/>
            <a:ext cx="11064240" cy="420624"/>
          </a:xfrm>
          <a:prstGeom prst="roundRect">
            <a:avLst>
              <a:gd name="adj" fmla="val 13043"/>
            </a:avLst>
          </a:prstGeom>
          <a:solidFill>
            <a:srgbClr val="FFFFFF"/>
          </a:solidFill>
          <a:ln w="12700">
            <a:solidFill>
              <a:srgbClr val="DDE5EE"/>
            </a:solidFill>
            <a:prstDash val="solid"/>
          </a:ln>
        </p:spPr>
        <p:txBody>
          <a:bodyPr/>
          <a:lstStyle/>
          <a:p>
            <a:endParaRPr lang="de-CH"/>
          </a:p>
        </p:txBody>
      </p:sp>
      <p:sp>
        <p:nvSpPr>
          <p:cNvPr id="25" name="Text 23"/>
          <p:cNvSpPr/>
          <p:nvPr/>
        </p:nvSpPr>
        <p:spPr>
          <a:xfrm>
            <a:off x="786384" y="3931920"/>
            <a:ext cx="2377440" cy="420624"/>
          </a:xfrm>
          <a:prstGeom prst="rect">
            <a:avLst/>
          </a:prstGeom>
          <a:noFill/>
          <a:ln/>
        </p:spPr>
        <p:txBody>
          <a:bodyPr wrap="square" lIns="0" tIns="0" rIns="0" bIns="0" rtlCol="0" anchor="ctr"/>
          <a:lstStyle/>
          <a:p>
            <a:pPr marL="0" indent="0">
              <a:buNone/>
            </a:pPr>
            <a:r>
              <a:rPr lang="en-US" sz="1100" b="1" dirty="0">
                <a:solidFill>
                  <a:srgbClr val="12202E"/>
                </a:solidFill>
                <a:latin typeface="Calibri" pitchFamily="34" charset="0"/>
                <a:ea typeface="Calibri" pitchFamily="34" charset="-122"/>
                <a:cs typeface="Calibri" pitchFamily="34" charset="-120"/>
              </a:rPr>
              <a:t>Campwala I, Unsell K, Gupta S</a:t>
            </a:r>
            <a:endParaRPr lang="en-US" sz="1100" dirty="0"/>
          </a:p>
        </p:txBody>
      </p:sp>
      <p:sp>
        <p:nvSpPr>
          <p:cNvPr id="26" name="Text 24"/>
          <p:cNvSpPr/>
          <p:nvPr/>
        </p:nvSpPr>
        <p:spPr>
          <a:xfrm>
            <a:off x="3264408" y="3931920"/>
            <a:ext cx="6400800" cy="420624"/>
          </a:xfrm>
          <a:prstGeom prst="rect">
            <a:avLst/>
          </a:prstGeom>
          <a:noFill/>
          <a:ln/>
        </p:spPr>
        <p:txBody>
          <a:bodyPr wrap="square" lIns="0" tIns="0" rIns="0" bIns="0" rtlCol="0" anchor="ctr"/>
          <a:lstStyle/>
          <a:p>
            <a:pPr marL="0" indent="0">
              <a:buNone/>
            </a:pPr>
            <a:r>
              <a:rPr lang="en-US" sz="1000" dirty="0">
                <a:solidFill>
                  <a:srgbClr val="5D7186"/>
                </a:solidFill>
                <a:latin typeface="Calibri" pitchFamily="34" charset="0"/>
                <a:ea typeface="Calibri" pitchFamily="34" charset="-122"/>
                <a:cs typeface="Calibri" pitchFamily="34" charset="-120"/>
              </a:rPr>
              <a:t>A Comparative Analysis of Surgical Wound Infection Methods: CDC, ASEPSIS and Southampton in breast reconstruction SSI. Plastic Surgery, 2019.</a:t>
            </a:r>
            <a:endParaRPr lang="en-US" sz="1000" dirty="0"/>
          </a:p>
        </p:txBody>
      </p:sp>
      <p:sp>
        <p:nvSpPr>
          <p:cNvPr id="27" name="Text 25"/>
          <p:cNvSpPr/>
          <p:nvPr/>
        </p:nvSpPr>
        <p:spPr>
          <a:xfrm>
            <a:off x="9802368" y="3931920"/>
            <a:ext cx="1691640" cy="420624"/>
          </a:xfrm>
          <a:prstGeom prst="rect">
            <a:avLst/>
          </a:prstGeom>
          <a:noFill/>
          <a:ln/>
        </p:spPr>
        <p:txBody>
          <a:bodyPr wrap="square" lIns="0" tIns="0" rIns="0" bIns="0" rtlCol="0" anchor="ctr"/>
          <a:lstStyle/>
          <a:p>
            <a:pPr marL="0" indent="0" algn="r">
              <a:buNone/>
            </a:pPr>
            <a:r>
              <a:rPr lang="en-US" sz="950" i="1" dirty="0">
                <a:solidFill>
                  <a:srgbClr val="5D7186"/>
                </a:solidFill>
                <a:latin typeface="Calibri" pitchFamily="34" charset="0"/>
                <a:ea typeface="Calibri" pitchFamily="34" charset="-122"/>
                <a:cs typeface="Calibri" pitchFamily="34" charset="-120"/>
              </a:rPr>
              <a:t>PMID 31106164</a:t>
            </a:r>
            <a:endParaRPr lang="en-US" sz="950" dirty="0"/>
          </a:p>
        </p:txBody>
      </p:sp>
      <p:sp>
        <p:nvSpPr>
          <p:cNvPr id="28" name="Shape 26"/>
          <p:cNvSpPr/>
          <p:nvPr/>
        </p:nvSpPr>
        <p:spPr>
          <a:xfrm>
            <a:off x="566928" y="4407408"/>
            <a:ext cx="11064240" cy="420624"/>
          </a:xfrm>
          <a:prstGeom prst="roundRect">
            <a:avLst>
              <a:gd name="adj" fmla="val 13043"/>
            </a:avLst>
          </a:prstGeom>
          <a:solidFill>
            <a:srgbClr val="F5F7FA"/>
          </a:solidFill>
          <a:ln w="12700">
            <a:solidFill>
              <a:srgbClr val="DDE5EE"/>
            </a:solidFill>
            <a:prstDash val="solid"/>
          </a:ln>
        </p:spPr>
        <p:txBody>
          <a:bodyPr/>
          <a:lstStyle/>
          <a:p>
            <a:endParaRPr lang="de-CH"/>
          </a:p>
        </p:txBody>
      </p:sp>
      <p:sp>
        <p:nvSpPr>
          <p:cNvPr id="29" name="Text 27"/>
          <p:cNvSpPr/>
          <p:nvPr/>
        </p:nvSpPr>
        <p:spPr>
          <a:xfrm>
            <a:off x="786384" y="4407408"/>
            <a:ext cx="2377440" cy="420624"/>
          </a:xfrm>
          <a:prstGeom prst="rect">
            <a:avLst/>
          </a:prstGeom>
          <a:noFill/>
          <a:ln/>
        </p:spPr>
        <p:txBody>
          <a:bodyPr wrap="square" lIns="0" tIns="0" rIns="0" bIns="0" rtlCol="0" anchor="ctr"/>
          <a:lstStyle/>
          <a:p>
            <a:pPr marL="0" indent="0">
              <a:buNone/>
            </a:pPr>
            <a:r>
              <a:rPr lang="en-US" sz="1100" b="1" dirty="0">
                <a:solidFill>
                  <a:srgbClr val="12202E"/>
                </a:solidFill>
                <a:latin typeface="Calibri" pitchFamily="34" charset="0"/>
                <a:ea typeface="Calibri" pitchFamily="34" charset="-122"/>
                <a:cs typeface="Calibri" pitchFamily="34" charset="-120"/>
              </a:rPr>
              <a:t>WHO</a:t>
            </a:r>
            <a:endParaRPr lang="en-US" sz="1100" dirty="0"/>
          </a:p>
        </p:txBody>
      </p:sp>
      <p:sp>
        <p:nvSpPr>
          <p:cNvPr id="30" name="Text 28"/>
          <p:cNvSpPr/>
          <p:nvPr/>
        </p:nvSpPr>
        <p:spPr>
          <a:xfrm>
            <a:off x="3264408" y="4407408"/>
            <a:ext cx="6400800" cy="420624"/>
          </a:xfrm>
          <a:prstGeom prst="rect">
            <a:avLst/>
          </a:prstGeom>
          <a:noFill/>
          <a:ln/>
        </p:spPr>
        <p:txBody>
          <a:bodyPr wrap="square" lIns="0" tIns="0" rIns="0" bIns="0" rtlCol="0" anchor="ctr"/>
          <a:lstStyle/>
          <a:p>
            <a:pPr marL="0" indent="0">
              <a:buNone/>
            </a:pPr>
            <a:r>
              <a:rPr lang="en-US" sz="1000" dirty="0">
                <a:solidFill>
                  <a:srgbClr val="5D7186"/>
                </a:solidFill>
                <a:latin typeface="Calibri" pitchFamily="34" charset="0"/>
                <a:ea typeface="Calibri" pitchFamily="34" charset="-122"/>
                <a:cs typeface="Calibri" pitchFamily="34" charset="-120"/>
              </a:rPr>
              <a:t>Monitoring and Evaluating Digital Health Interventions: a practical guide. 2016.</a:t>
            </a:r>
            <a:endParaRPr lang="en-US" sz="1000" dirty="0"/>
          </a:p>
        </p:txBody>
      </p:sp>
      <p:sp>
        <p:nvSpPr>
          <p:cNvPr id="31" name="Text 29"/>
          <p:cNvSpPr/>
          <p:nvPr/>
        </p:nvSpPr>
        <p:spPr>
          <a:xfrm>
            <a:off x="9802368" y="4407408"/>
            <a:ext cx="1691640" cy="420624"/>
          </a:xfrm>
          <a:prstGeom prst="rect">
            <a:avLst/>
          </a:prstGeom>
          <a:noFill/>
          <a:ln/>
        </p:spPr>
        <p:txBody>
          <a:bodyPr wrap="square" lIns="0" tIns="0" rIns="0" bIns="0" rtlCol="0" anchor="ctr"/>
          <a:lstStyle/>
          <a:p>
            <a:pPr marL="0" indent="0" algn="r">
              <a:buNone/>
            </a:pPr>
            <a:r>
              <a:rPr lang="en-US" sz="950" i="1" dirty="0">
                <a:solidFill>
                  <a:srgbClr val="5D7186"/>
                </a:solidFill>
                <a:latin typeface="Calibri" pitchFamily="34" charset="0"/>
                <a:ea typeface="Calibri" pitchFamily="34" charset="-122"/>
                <a:cs typeface="Calibri" pitchFamily="34" charset="-120"/>
              </a:rPr>
              <a:t>maturity stages</a:t>
            </a:r>
            <a:endParaRPr lang="en-US" sz="950" dirty="0"/>
          </a:p>
        </p:txBody>
      </p:sp>
      <p:sp>
        <p:nvSpPr>
          <p:cNvPr id="32" name="Shape 30"/>
          <p:cNvSpPr/>
          <p:nvPr/>
        </p:nvSpPr>
        <p:spPr>
          <a:xfrm>
            <a:off x="566928" y="4882896"/>
            <a:ext cx="11064240" cy="420624"/>
          </a:xfrm>
          <a:prstGeom prst="roundRect">
            <a:avLst>
              <a:gd name="adj" fmla="val 13043"/>
            </a:avLst>
          </a:prstGeom>
          <a:solidFill>
            <a:srgbClr val="FFFFFF"/>
          </a:solidFill>
          <a:ln w="12700">
            <a:solidFill>
              <a:srgbClr val="DDE5EE"/>
            </a:solidFill>
            <a:prstDash val="solid"/>
          </a:ln>
        </p:spPr>
        <p:txBody>
          <a:bodyPr/>
          <a:lstStyle/>
          <a:p>
            <a:endParaRPr lang="de-CH"/>
          </a:p>
        </p:txBody>
      </p:sp>
      <p:sp>
        <p:nvSpPr>
          <p:cNvPr id="33" name="Text 31"/>
          <p:cNvSpPr/>
          <p:nvPr/>
        </p:nvSpPr>
        <p:spPr>
          <a:xfrm>
            <a:off x="786384" y="4882896"/>
            <a:ext cx="2377440" cy="420624"/>
          </a:xfrm>
          <a:prstGeom prst="rect">
            <a:avLst/>
          </a:prstGeom>
          <a:noFill/>
          <a:ln/>
        </p:spPr>
        <p:txBody>
          <a:bodyPr wrap="square" lIns="0" tIns="0" rIns="0" bIns="0" rtlCol="0" anchor="ctr"/>
          <a:lstStyle/>
          <a:p>
            <a:pPr marL="0" indent="0">
              <a:buNone/>
            </a:pPr>
            <a:r>
              <a:rPr lang="en-US" sz="1100" b="1" dirty="0">
                <a:solidFill>
                  <a:srgbClr val="12202E"/>
                </a:solidFill>
                <a:latin typeface="Calibri" pitchFamily="34" charset="0"/>
                <a:ea typeface="Calibri" pitchFamily="34" charset="-122"/>
                <a:cs typeface="Calibri" pitchFamily="34" charset="-120"/>
              </a:rPr>
              <a:t>WHO</a:t>
            </a:r>
            <a:endParaRPr lang="en-US" sz="1100" dirty="0"/>
          </a:p>
        </p:txBody>
      </p:sp>
      <p:sp>
        <p:nvSpPr>
          <p:cNvPr id="34" name="Text 32"/>
          <p:cNvSpPr/>
          <p:nvPr/>
        </p:nvSpPr>
        <p:spPr>
          <a:xfrm>
            <a:off x="3264408" y="4882896"/>
            <a:ext cx="6400800" cy="420624"/>
          </a:xfrm>
          <a:prstGeom prst="rect">
            <a:avLst/>
          </a:prstGeom>
          <a:noFill/>
          <a:ln/>
        </p:spPr>
        <p:txBody>
          <a:bodyPr wrap="square" lIns="0" tIns="0" rIns="0" bIns="0" rtlCol="0" anchor="ctr"/>
          <a:lstStyle/>
          <a:p>
            <a:pPr marL="0" indent="0">
              <a:buNone/>
            </a:pPr>
            <a:r>
              <a:rPr lang="en-US" sz="1000" dirty="0">
                <a:solidFill>
                  <a:srgbClr val="5D7186"/>
                </a:solidFill>
                <a:latin typeface="Calibri" pitchFamily="34" charset="0"/>
                <a:ea typeface="Calibri" pitchFamily="34" charset="-122"/>
                <a:cs typeface="Calibri" pitchFamily="34" charset="-120"/>
              </a:rPr>
              <a:t>SMART Guidelines — the L1–L5 knowledge layers.</a:t>
            </a:r>
            <a:endParaRPr lang="en-US" sz="1000" dirty="0"/>
          </a:p>
        </p:txBody>
      </p:sp>
      <p:sp>
        <p:nvSpPr>
          <p:cNvPr id="35" name="Text 33"/>
          <p:cNvSpPr/>
          <p:nvPr/>
        </p:nvSpPr>
        <p:spPr>
          <a:xfrm>
            <a:off x="9802368" y="4882896"/>
            <a:ext cx="1691640" cy="420624"/>
          </a:xfrm>
          <a:prstGeom prst="rect">
            <a:avLst/>
          </a:prstGeom>
          <a:noFill/>
          <a:ln/>
        </p:spPr>
        <p:txBody>
          <a:bodyPr wrap="square" lIns="0" tIns="0" rIns="0" bIns="0" rtlCol="0" anchor="ctr"/>
          <a:lstStyle/>
          <a:p>
            <a:pPr marL="0" indent="0" algn="r">
              <a:buNone/>
            </a:pPr>
            <a:r>
              <a:rPr lang="en-US" sz="950" i="1" dirty="0">
                <a:solidFill>
                  <a:srgbClr val="5D7186"/>
                </a:solidFill>
                <a:latin typeface="Calibri" pitchFamily="34" charset="0"/>
                <a:ea typeface="Calibri" pitchFamily="34" charset="-122"/>
                <a:cs typeface="Calibri" pitchFamily="34" charset="-120"/>
              </a:rPr>
              <a:t>who.int</a:t>
            </a:r>
            <a:endParaRPr lang="en-US" sz="950" dirty="0"/>
          </a:p>
        </p:txBody>
      </p:sp>
      <p:sp>
        <p:nvSpPr>
          <p:cNvPr id="36" name="Shape 34"/>
          <p:cNvSpPr/>
          <p:nvPr/>
        </p:nvSpPr>
        <p:spPr>
          <a:xfrm>
            <a:off x="566928" y="5358384"/>
            <a:ext cx="11064240" cy="420624"/>
          </a:xfrm>
          <a:prstGeom prst="roundRect">
            <a:avLst>
              <a:gd name="adj" fmla="val 13043"/>
            </a:avLst>
          </a:prstGeom>
          <a:solidFill>
            <a:srgbClr val="F5F7FA"/>
          </a:solidFill>
          <a:ln w="12700">
            <a:solidFill>
              <a:srgbClr val="DDE5EE"/>
            </a:solidFill>
            <a:prstDash val="solid"/>
          </a:ln>
        </p:spPr>
        <p:txBody>
          <a:bodyPr/>
          <a:lstStyle/>
          <a:p>
            <a:endParaRPr lang="de-CH"/>
          </a:p>
        </p:txBody>
      </p:sp>
      <p:sp>
        <p:nvSpPr>
          <p:cNvPr id="37" name="Text 35"/>
          <p:cNvSpPr/>
          <p:nvPr/>
        </p:nvSpPr>
        <p:spPr>
          <a:xfrm>
            <a:off x="786384" y="5358384"/>
            <a:ext cx="2377440" cy="420624"/>
          </a:xfrm>
          <a:prstGeom prst="rect">
            <a:avLst/>
          </a:prstGeom>
          <a:noFill/>
          <a:ln/>
        </p:spPr>
        <p:txBody>
          <a:bodyPr wrap="square" lIns="0" tIns="0" rIns="0" bIns="0" rtlCol="0" anchor="ctr"/>
          <a:lstStyle/>
          <a:p>
            <a:pPr marL="0" indent="0">
              <a:buNone/>
            </a:pPr>
            <a:r>
              <a:rPr lang="en-US" sz="1100" b="1" dirty="0">
                <a:solidFill>
                  <a:srgbClr val="12202E"/>
                </a:solidFill>
                <a:latin typeface="Calibri" pitchFamily="34" charset="0"/>
                <a:ea typeface="Calibri" pitchFamily="34" charset="-122"/>
                <a:cs typeface="Calibri" pitchFamily="34" charset="-120"/>
              </a:rPr>
              <a:t>IMDRF</a:t>
            </a:r>
            <a:endParaRPr lang="en-US" sz="1100" dirty="0"/>
          </a:p>
        </p:txBody>
      </p:sp>
      <p:sp>
        <p:nvSpPr>
          <p:cNvPr id="38" name="Text 36"/>
          <p:cNvSpPr/>
          <p:nvPr/>
        </p:nvSpPr>
        <p:spPr>
          <a:xfrm>
            <a:off x="3264408" y="5358384"/>
            <a:ext cx="6400800" cy="420624"/>
          </a:xfrm>
          <a:prstGeom prst="rect">
            <a:avLst/>
          </a:prstGeom>
          <a:noFill/>
          <a:ln/>
        </p:spPr>
        <p:txBody>
          <a:bodyPr wrap="square" lIns="0" tIns="0" rIns="0" bIns="0" rtlCol="0" anchor="ctr"/>
          <a:lstStyle/>
          <a:p>
            <a:pPr marL="0" indent="0">
              <a:buNone/>
            </a:pPr>
            <a:r>
              <a:rPr lang="en-US" sz="1000" dirty="0">
                <a:solidFill>
                  <a:srgbClr val="5D7186"/>
                </a:solidFill>
                <a:latin typeface="Calibri" pitchFamily="34" charset="0"/>
                <a:ea typeface="Calibri" pitchFamily="34" charset="-122"/>
                <a:cs typeface="Calibri" pitchFamily="34" charset="-120"/>
              </a:rPr>
              <a:t>Software as a Medical Device: possible framework for risk categorisation.</a:t>
            </a:r>
            <a:endParaRPr lang="en-US" sz="1000" dirty="0"/>
          </a:p>
        </p:txBody>
      </p:sp>
      <p:sp>
        <p:nvSpPr>
          <p:cNvPr id="39" name="Text 37"/>
          <p:cNvSpPr/>
          <p:nvPr/>
        </p:nvSpPr>
        <p:spPr>
          <a:xfrm>
            <a:off x="9802368" y="5358384"/>
            <a:ext cx="1691640" cy="420624"/>
          </a:xfrm>
          <a:prstGeom prst="rect">
            <a:avLst/>
          </a:prstGeom>
          <a:noFill/>
          <a:ln/>
        </p:spPr>
        <p:txBody>
          <a:bodyPr wrap="square" lIns="0" tIns="0" rIns="0" bIns="0" rtlCol="0" anchor="ctr"/>
          <a:lstStyle/>
          <a:p>
            <a:pPr marL="0" indent="0" algn="r">
              <a:buNone/>
            </a:pPr>
            <a:r>
              <a:rPr lang="en-US" sz="950" i="1" dirty="0">
                <a:solidFill>
                  <a:srgbClr val="5D7186"/>
                </a:solidFill>
                <a:latin typeface="Calibri" pitchFamily="34" charset="0"/>
                <a:ea typeface="Calibri" pitchFamily="34" charset="-122"/>
                <a:cs typeface="Calibri" pitchFamily="34" charset="-120"/>
              </a:rPr>
              <a:t>categories I–IV</a:t>
            </a:r>
            <a:endParaRPr lang="en-US" sz="950" dirty="0"/>
          </a:p>
        </p:txBody>
      </p:sp>
      <p:sp>
        <p:nvSpPr>
          <p:cNvPr id="40" name="Shape 38"/>
          <p:cNvSpPr/>
          <p:nvPr/>
        </p:nvSpPr>
        <p:spPr>
          <a:xfrm>
            <a:off x="566928" y="5833872"/>
            <a:ext cx="11064240" cy="420624"/>
          </a:xfrm>
          <a:prstGeom prst="roundRect">
            <a:avLst>
              <a:gd name="adj" fmla="val 13043"/>
            </a:avLst>
          </a:prstGeom>
          <a:solidFill>
            <a:srgbClr val="FFFFFF"/>
          </a:solidFill>
          <a:ln w="12700">
            <a:solidFill>
              <a:srgbClr val="DDE5EE"/>
            </a:solidFill>
            <a:prstDash val="solid"/>
          </a:ln>
        </p:spPr>
        <p:txBody>
          <a:bodyPr/>
          <a:lstStyle/>
          <a:p>
            <a:endParaRPr lang="de-CH"/>
          </a:p>
        </p:txBody>
      </p:sp>
      <p:sp>
        <p:nvSpPr>
          <p:cNvPr id="41" name="Text 39"/>
          <p:cNvSpPr/>
          <p:nvPr/>
        </p:nvSpPr>
        <p:spPr>
          <a:xfrm>
            <a:off x="786384" y="5833872"/>
            <a:ext cx="2377440" cy="420624"/>
          </a:xfrm>
          <a:prstGeom prst="rect">
            <a:avLst/>
          </a:prstGeom>
          <a:noFill/>
          <a:ln/>
        </p:spPr>
        <p:txBody>
          <a:bodyPr wrap="square" lIns="0" tIns="0" rIns="0" bIns="0" rtlCol="0" anchor="ctr"/>
          <a:lstStyle/>
          <a:p>
            <a:pPr marL="0" indent="0">
              <a:buNone/>
            </a:pPr>
            <a:r>
              <a:rPr lang="en-US" sz="1100" b="1" dirty="0">
                <a:solidFill>
                  <a:srgbClr val="12202E"/>
                </a:solidFill>
                <a:latin typeface="Calibri" pitchFamily="34" charset="0"/>
                <a:ea typeface="Calibri" pitchFamily="34" charset="-122"/>
                <a:cs typeface="Calibri" pitchFamily="34" charset="-120"/>
              </a:rPr>
              <a:t>HL7</a:t>
            </a:r>
            <a:endParaRPr lang="en-US" sz="1100" dirty="0"/>
          </a:p>
        </p:txBody>
      </p:sp>
      <p:sp>
        <p:nvSpPr>
          <p:cNvPr id="42" name="Text 40"/>
          <p:cNvSpPr/>
          <p:nvPr/>
        </p:nvSpPr>
        <p:spPr>
          <a:xfrm>
            <a:off x="3264408" y="5833872"/>
            <a:ext cx="6400800" cy="420624"/>
          </a:xfrm>
          <a:prstGeom prst="rect">
            <a:avLst/>
          </a:prstGeom>
          <a:noFill/>
          <a:ln/>
        </p:spPr>
        <p:txBody>
          <a:bodyPr wrap="square" lIns="0" tIns="0" rIns="0" bIns="0" rtlCol="0" anchor="ctr"/>
          <a:lstStyle/>
          <a:p>
            <a:pPr marL="0" indent="0">
              <a:buNone/>
            </a:pPr>
            <a:r>
              <a:rPr lang="en-US" sz="1000" dirty="0">
                <a:solidFill>
                  <a:srgbClr val="5D7186"/>
                </a:solidFill>
                <a:latin typeface="Calibri" pitchFamily="34" charset="0"/>
                <a:ea typeface="Calibri" pitchFamily="34" charset="-122"/>
                <a:cs typeface="Calibri" pitchFamily="34" charset="-120"/>
              </a:rPr>
              <a:t>FHIR R4 — QuestionnaireResponse, Observation, Communication.</a:t>
            </a:r>
            <a:endParaRPr lang="en-US" sz="1000" dirty="0"/>
          </a:p>
        </p:txBody>
      </p:sp>
      <p:sp>
        <p:nvSpPr>
          <p:cNvPr id="43" name="Text 41"/>
          <p:cNvSpPr/>
          <p:nvPr/>
        </p:nvSpPr>
        <p:spPr>
          <a:xfrm>
            <a:off x="9802368" y="5833872"/>
            <a:ext cx="1691640" cy="420624"/>
          </a:xfrm>
          <a:prstGeom prst="rect">
            <a:avLst/>
          </a:prstGeom>
          <a:noFill/>
          <a:ln/>
        </p:spPr>
        <p:txBody>
          <a:bodyPr wrap="square" lIns="0" tIns="0" rIns="0" bIns="0" rtlCol="0" anchor="ctr"/>
          <a:lstStyle/>
          <a:p>
            <a:pPr marL="0" indent="0" algn="r">
              <a:buNone/>
            </a:pPr>
            <a:r>
              <a:rPr lang="en-US" sz="950" i="1" dirty="0">
                <a:solidFill>
                  <a:srgbClr val="5D7186"/>
                </a:solidFill>
                <a:latin typeface="Calibri" pitchFamily="34" charset="0"/>
                <a:ea typeface="Calibri" pitchFamily="34" charset="-122"/>
                <a:cs typeface="Calibri" pitchFamily="34" charset="-120"/>
              </a:rPr>
              <a:t>hl7.org/fhir/R4</a:t>
            </a:r>
            <a:endParaRPr lang="en-US" sz="950" dirty="0"/>
          </a:p>
        </p:txBody>
      </p:sp>
      <p:sp>
        <p:nvSpPr>
          <p:cNvPr id="45" name="Text 11">
            <a:extLst>
              <a:ext uri="{FF2B5EF4-FFF2-40B4-BE49-F238E27FC236}">
                <a16:creationId xmlns:a16="http://schemas.microsoft.com/office/drawing/2014/main" id="{8EE83D06-914E-53B5-C07E-46A19A29CB75}"/>
              </a:ext>
            </a:extLst>
          </p:cNvPr>
          <p:cNvSpPr/>
          <p:nvPr/>
        </p:nvSpPr>
        <p:spPr>
          <a:xfrm>
            <a:off x="57709" y="6568124"/>
            <a:ext cx="8229600" cy="274320"/>
          </a:xfrm>
          <a:prstGeom prst="rect">
            <a:avLst/>
          </a:prstGeom>
          <a:noFill/>
          <a:ln/>
        </p:spPr>
        <p:txBody>
          <a:bodyPr wrap="square" lIns="0" tIns="0" rIns="0" bIns="0" rtlCol="0" anchor="ctr"/>
          <a:lstStyle/>
          <a:p>
            <a:pPr marL="0" indent="0">
              <a:buNone/>
            </a:pPr>
            <a:r>
              <a:rPr lang="en-US" sz="900">
                <a:solidFill>
                  <a:srgbClr val="8FA3B8"/>
                </a:solidFill>
                <a:latin typeface="Calibri" pitchFamily="34" charset="0"/>
                <a:ea typeface="Calibri" pitchFamily="34" charset="-122"/>
                <a:cs typeface="Calibri" pitchFamily="34" charset="-120"/>
              </a:rPr>
              <a:t>FHNW  ·  MSc Medical Informatics  ·  Clinical Decision Support Systems 2026</a:t>
            </a:r>
            <a:endParaRPr lang="en-US" sz="900"/>
          </a:p>
        </p:txBody>
      </p:sp>
      <p:pic>
        <p:nvPicPr>
          <p:cNvPr id="47" name="Grafik 46">
            <a:extLst>
              <a:ext uri="{FF2B5EF4-FFF2-40B4-BE49-F238E27FC236}">
                <a16:creationId xmlns:a16="http://schemas.microsoft.com/office/drawing/2014/main" id="{F297E458-3E69-E323-E664-3D459043DB89}"/>
              </a:ext>
            </a:extLst>
          </p:cNvPr>
          <p:cNvPicPr>
            <a:picLocks noChangeAspect="1"/>
          </p:cNvPicPr>
          <p:nvPr/>
        </p:nvPicPr>
        <p:blipFill>
          <a:blip r:embed="rId3">
            <a:duotone>
              <a:schemeClr val="accent3">
                <a:shade val="45000"/>
                <a:satMod val="135000"/>
              </a:schemeClr>
              <a:prstClr val="white"/>
            </a:duotone>
          </a:blip>
          <a:stretch>
            <a:fillRect/>
          </a:stretch>
        </p:blipFill>
        <p:spPr>
          <a:xfrm>
            <a:off x="57709" y="47504"/>
            <a:ext cx="1012490" cy="23624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7680960" cy="219456"/>
          </a:xfrm>
          <a:prstGeom prst="rect">
            <a:avLst/>
          </a:prstGeom>
          <a:noFill/>
          <a:ln/>
        </p:spPr>
        <p:txBody>
          <a:bodyPr wrap="square" lIns="0" tIns="0" rIns="0" bIns="0" rtlCol="0" anchor="ctr"/>
          <a:lstStyle/>
          <a:p>
            <a:pPr marL="0" indent="0">
              <a:buNone/>
            </a:pPr>
            <a:r>
              <a:rPr lang="en-US" sz="1050" b="1" kern="0" spc="160" dirty="0">
                <a:solidFill>
                  <a:srgbClr val="5D7186"/>
                </a:solidFill>
                <a:latin typeface="Calibri" pitchFamily="34" charset="0"/>
                <a:ea typeface="Calibri" pitchFamily="34" charset="-122"/>
                <a:cs typeface="Calibri" pitchFamily="34" charset="-120"/>
              </a:rPr>
              <a:t>BACKUP · L2</a:t>
            </a:r>
            <a:endParaRPr lang="en-US" sz="1050" dirty="0"/>
          </a:p>
        </p:txBody>
      </p:sp>
      <p:sp>
        <p:nvSpPr>
          <p:cNvPr id="3" name="Text 1"/>
          <p:cNvSpPr/>
          <p:nvPr/>
        </p:nvSpPr>
        <p:spPr>
          <a:xfrm>
            <a:off x="566928" y="640080"/>
            <a:ext cx="10607040" cy="658368"/>
          </a:xfrm>
          <a:prstGeom prst="rect">
            <a:avLst/>
          </a:prstGeom>
          <a:noFill/>
          <a:ln/>
        </p:spPr>
        <p:txBody>
          <a:bodyPr wrap="square" lIns="0" tIns="0" rIns="0" bIns="0" rtlCol="0" anchor="t"/>
          <a:lstStyle/>
          <a:p>
            <a:pPr marL="0" indent="0">
              <a:buNone/>
            </a:pPr>
            <a:r>
              <a:rPr lang="en-US" sz="2700" b="1" dirty="0">
                <a:solidFill>
                  <a:srgbClr val="12202E"/>
                </a:solidFill>
                <a:latin typeface="Cambria" pitchFamily="34" charset="0"/>
                <a:ea typeface="Cambria" pitchFamily="34" charset="-122"/>
                <a:cs typeface="Cambria" pitchFamily="34" charset="-120"/>
              </a:rPr>
              <a:t>Decision table — all 18 rules</a:t>
            </a:r>
            <a:endParaRPr lang="en-US" sz="2700" dirty="0"/>
          </a:p>
        </p:txBody>
      </p:sp>
      <p:sp>
        <p:nvSpPr>
          <p:cNvPr id="4" name="Shape 2"/>
          <p:cNvSpPr/>
          <p:nvPr/>
        </p:nvSpPr>
        <p:spPr>
          <a:xfrm>
            <a:off x="566928" y="1572768"/>
            <a:ext cx="73152" cy="292608"/>
          </a:xfrm>
          <a:prstGeom prst="rect">
            <a:avLst/>
          </a:prstGeom>
          <a:solidFill>
            <a:srgbClr val="C0281C"/>
          </a:solidFill>
          <a:ln w="12700">
            <a:solidFill>
              <a:srgbClr val="C0281C"/>
            </a:solidFill>
            <a:prstDash val="solid"/>
          </a:ln>
        </p:spPr>
        <p:txBody>
          <a:bodyPr/>
          <a:lstStyle/>
          <a:p>
            <a:endParaRPr lang="de-CH"/>
          </a:p>
        </p:txBody>
      </p:sp>
      <p:sp>
        <p:nvSpPr>
          <p:cNvPr id="5" name="Text 3"/>
          <p:cNvSpPr/>
          <p:nvPr/>
        </p:nvSpPr>
        <p:spPr>
          <a:xfrm>
            <a:off x="768096" y="1572768"/>
            <a:ext cx="731520" cy="292608"/>
          </a:xfrm>
          <a:prstGeom prst="rect">
            <a:avLst/>
          </a:prstGeom>
          <a:noFill/>
          <a:ln/>
        </p:spPr>
        <p:txBody>
          <a:bodyPr wrap="square" lIns="0" tIns="0" rIns="0" bIns="0" rtlCol="0" anchor="ctr"/>
          <a:lstStyle/>
          <a:p>
            <a:pPr marL="0" indent="0">
              <a:buNone/>
            </a:pPr>
            <a:r>
              <a:rPr lang="en-US" sz="1000" b="1" dirty="0">
                <a:solidFill>
                  <a:srgbClr val="12202E"/>
                </a:solidFill>
                <a:latin typeface="Calibri" pitchFamily="34" charset="0"/>
                <a:ea typeface="Calibri" pitchFamily="34" charset="-122"/>
                <a:cs typeface="Calibri" pitchFamily="34" charset="-120"/>
              </a:rPr>
              <a:t>R1</a:t>
            </a:r>
            <a:endParaRPr lang="en-US" sz="1000" dirty="0"/>
          </a:p>
        </p:txBody>
      </p:sp>
      <p:sp>
        <p:nvSpPr>
          <p:cNvPr id="6" name="Text 4"/>
          <p:cNvSpPr/>
          <p:nvPr/>
        </p:nvSpPr>
        <p:spPr>
          <a:xfrm>
            <a:off x="1527048" y="1572768"/>
            <a:ext cx="7132320" cy="292608"/>
          </a:xfrm>
          <a:prstGeom prst="rect">
            <a:avLst/>
          </a:prstGeom>
          <a:noFill/>
          <a:ln/>
        </p:spPr>
        <p:txBody>
          <a:bodyPr wrap="square" lIns="0" tIns="0" rIns="0" bIns="0" rtlCol="0" anchor="ctr"/>
          <a:lstStyle/>
          <a:p>
            <a:pPr marL="0" indent="0">
              <a:buNone/>
            </a:pPr>
            <a:r>
              <a:rPr lang="en-US" sz="1000" dirty="0">
                <a:solidFill>
                  <a:srgbClr val="12202E"/>
                </a:solidFill>
                <a:latin typeface="Calibri" pitchFamily="34" charset="0"/>
                <a:ea typeface="Calibri" pitchFamily="34" charset="-122"/>
                <a:cs typeface="Calibri" pitchFamily="34" charset="-120"/>
              </a:rPr>
              <a:t>temp ≥ 39 OR chills = 1</a:t>
            </a:r>
            <a:endParaRPr lang="en-US" sz="1000" dirty="0"/>
          </a:p>
        </p:txBody>
      </p:sp>
      <p:sp>
        <p:nvSpPr>
          <p:cNvPr id="7" name="Text 5"/>
          <p:cNvSpPr/>
          <p:nvPr/>
        </p:nvSpPr>
        <p:spPr>
          <a:xfrm>
            <a:off x="8796528" y="1572768"/>
            <a:ext cx="2788920" cy="292608"/>
          </a:xfrm>
          <a:prstGeom prst="rect">
            <a:avLst/>
          </a:prstGeom>
          <a:noFill/>
          <a:ln/>
        </p:spPr>
        <p:txBody>
          <a:bodyPr wrap="square" lIns="0" tIns="0" rIns="0" bIns="0" rtlCol="0" anchor="ctr"/>
          <a:lstStyle/>
          <a:p>
            <a:pPr marL="0" indent="0">
              <a:buNone/>
            </a:pPr>
            <a:r>
              <a:rPr lang="en-US" sz="950" dirty="0">
                <a:solidFill>
                  <a:srgbClr val="5D7186"/>
                </a:solidFill>
                <a:latin typeface="Calibri" pitchFamily="34" charset="0"/>
                <a:ea typeface="Calibri" pitchFamily="34" charset="-122"/>
                <a:cs typeface="Calibri" pitchFamily="34" charset="-120"/>
              </a:rPr>
              <a:t>CDC · sepsis red flags</a:t>
            </a:r>
            <a:endParaRPr lang="en-US" sz="950" dirty="0"/>
          </a:p>
        </p:txBody>
      </p:sp>
      <p:sp>
        <p:nvSpPr>
          <p:cNvPr id="8" name="Shape 6"/>
          <p:cNvSpPr/>
          <p:nvPr/>
        </p:nvSpPr>
        <p:spPr>
          <a:xfrm>
            <a:off x="566928" y="1911096"/>
            <a:ext cx="73152" cy="292608"/>
          </a:xfrm>
          <a:prstGeom prst="rect">
            <a:avLst/>
          </a:prstGeom>
          <a:solidFill>
            <a:srgbClr val="C0281C"/>
          </a:solidFill>
          <a:ln w="12700">
            <a:solidFill>
              <a:srgbClr val="C0281C"/>
            </a:solidFill>
            <a:prstDash val="solid"/>
          </a:ln>
        </p:spPr>
        <p:txBody>
          <a:bodyPr/>
          <a:lstStyle/>
          <a:p>
            <a:endParaRPr lang="de-CH"/>
          </a:p>
        </p:txBody>
      </p:sp>
      <p:sp>
        <p:nvSpPr>
          <p:cNvPr id="9" name="Text 7"/>
          <p:cNvSpPr/>
          <p:nvPr/>
        </p:nvSpPr>
        <p:spPr>
          <a:xfrm>
            <a:off x="768096" y="1911096"/>
            <a:ext cx="731520" cy="292608"/>
          </a:xfrm>
          <a:prstGeom prst="rect">
            <a:avLst/>
          </a:prstGeom>
          <a:noFill/>
          <a:ln/>
        </p:spPr>
        <p:txBody>
          <a:bodyPr wrap="square" lIns="0" tIns="0" rIns="0" bIns="0" rtlCol="0" anchor="ctr"/>
          <a:lstStyle/>
          <a:p>
            <a:pPr marL="0" indent="0">
              <a:buNone/>
            </a:pPr>
            <a:r>
              <a:rPr lang="en-US" sz="1000" b="1" dirty="0">
                <a:solidFill>
                  <a:srgbClr val="12202E"/>
                </a:solidFill>
                <a:latin typeface="Calibri" pitchFamily="34" charset="0"/>
                <a:ea typeface="Calibri" pitchFamily="34" charset="-122"/>
                <a:cs typeface="Calibri" pitchFamily="34" charset="-120"/>
              </a:rPr>
              <a:t>R2</a:t>
            </a:r>
            <a:endParaRPr lang="en-US" sz="1000" dirty="0"/>
          </a:p>
        </p:txBody>
      </p:sp>
      <p:sp>
        <p:nvSpPr>
          <p:cNvPr id="10" name="Text 8"/>
          <p:cNvSpPr/>
          <p:nvPr/>
        </p:nvSpPr>
        <p:spPr>
          <a:xfrm>
            <a:off x="1527048" y="1911096"/>
            <a:ext cx="7132320" cy="292608"/>
          </a:xfrm>
          <a:prstGeom prst="rect">
            <a:avLst/>
          </a:prstGeom>
          <a:noFill/>
          <a:ln/>
        </p:spPr>
        <p:txBody>
          <a:bodyPr wrap="square" lIns="0" tIns="0" rIns="0" bIns="0" rtlCol="0" anchor="ctr"/>
          <a:lstStyle/>
          <a:p>
            <a:pPr marL="0" indent="0">
              <a:buNone/>
            </a:pPr>
            <a:r>
              <a:rPr lang="en-US" sz="1000" dirty="0">
                <a:solidFill>
                  <a:srgbClr val="12202E"/>
                </a:solidFill>
                <a:latin typeface="Calibri" pitchFamily="34" charset="0"/>
                <a:ea typeface="Calibri" pitchFamily="34" charset="-122"/>
                <a:cs typeface="Calibri" pitchFamily="34" charset="-120"/>
              </a:rPr>
              <a:t>red_streak = 1 OR redness_extent = 4</a:t>
            </a:r>
            <a:endParaRPr lang="en-US" sz="1000" dirty="0"/>
          </a:p>
        </p:txBody>
      </p:sp>
      <p:sp>
        <p:nvSpPr>
          <p:cNvPr id="11" name="Text 9"/>
          <p:cNvSpPr/>
          <p:nvPr/>
        </p:nvSpPr>
        <p:spPr>
          <a:xfrm>
            <a:off x="8796528" y="1911096"/>
            <a:ext cx="2788920" cy="292608"/>
          </a:xfrm>
          <a:prstGeom prst="rect">
            <a:avLst/>
          </a:prstGeom>
          <a:noFill/>
          <a:ln/>
        </p:spPr>
        <p:txBody>
          <a:bodyPr wrap="square" lIns="0" tIns="0" rIns="0" bIns="0" rtlCol="0" anchor="ctr"/>
          <a:lstStyle/>
          <a:p>
            <a:pPr marL="0" indent="0">
              <a:buNone/>
            </a:pPr>
            <a:r>
              <a:rPr lang="en-US" sz="950" dirty="0">
                <a:solidFill>
                  <a:srgbClr val="5D7186"/>
                </a:solidFill>
                <a:latin typeface="Calibri" pitchFamily="34" charset="0"/>
                <a:ea typeface="Calibri" pitchFamily="34" charset="-122"/>
                <a:cs typeface="Calibri" pitchFamily="34" charset="-120"/>
              </a:rPr>
              <a:t>NICE NG125 §1.4.9</a:t>
            </a:r>
            <a:endParaRPr lang="en-US" sz="950" dirty="0"/>
          </a:p>
        </p:txBody>
      </p:sp>
      <p:sp>
        <p:nvSpPr>
          <p:cNvPr id="12" name="Shape 10"/>
          <p:cNvSpPr/>
          <p:nvPr/>
        </p:nvSpPr>
        <p:spPr>
          <a:xfrm>
            <a:off x="566928" y="2249424"/>
            <a:ext cx="73152" cy="292608"/>
          </a:xfrm>
          <a:prstGeom prst="rect">
            <a:avLst/>
          </a:prstGeom>
          <a:solidFill>
            <a:srgbClr val="C0281C"/>
          </a:solidFill>
          <a:ln w="12700">
            <a:solidFill>
              <a:srgbClr val="C0281C"/>
            </a:solidFill>
            <a:prstDash val="solid"/>
          </a:ln>
        </p:spPr>
        <p:txBody>
          <a:bodyPr/>
          <a:lstStyle/>
          <a:p>
            <a:endParaRPr lang="de-CH"/>
          </a:p>
        </p:txBody>
      </p:sp>
      <p:sp>
        <p:nvSpPr>
          <p:cNvPr id="13" name="Text 11"/>
          <p:cNvSpPr/>
          <p:nvPr/>
        </p:nvSpPr>
        <p:spPr>
          <a:xfrm>
            <a:off x="768096" y="2249424"/>
            <a:ext cx="731520" cy="292608"/>
          </a:xfrm>
          <a:prstGeom prst="rect">
            <a:avLst/>
          </a:prstGeom>
          <a:noFill/>
          <a:ln/>
        </p:spPr>
        <p:txBody>
          <a:bodyPr wrap="square" lIns="0" tIns="0" rIns="0" bIns="0" rtlCol="0" anchor="ctr"/>
          <a:lstStyle/>
          <a:p>
            <a:pPr marL="0" indent="0">
              <a:buNone/>
            </a:pPr>
            <a:r>
              <a:rPr lang="en-US" sz="1000" b="1" dirty="0">
                <a:solidFill>
                  <a:srgbClr val="12202E"/>
                </a:solidFill>
                <a:latin typeface="Calibri" pitchFamily="34" charset="0"/>
                <a:ea typeface="Calibri" pitchFamily="34" charset="-122"/>
                <a:cs typeface="Calibri" pitchFamily="34" charset="-120"/>
              </a:rPr>
              <a:t>R3</a:t>
            </a:r>
            <a:endParaRPr lang="en-US" sz="1000" dirty="0"/>
          </a:p>
        </p:txBody>
      </p:sp>
      <p:sp>
        <p:nvSpPr>
          <p:cNvPr id="14" name="Text 12"/>
          <p:cNvSpPr/>
          <p:nvPr/>
        </p:nvSpPr>
        <p:spPr>
          <a:xfrm>
            <a:off x="1527048" y="2249424"/>
            <a:ext cx="7132320" cy="292608"/>
          </a:xfrm>
          <a:prstGeom prst="rect">
            <a:avLst/>
          </a:prstGeom>
          <a:noFill/>
          <a:ln/>
        </p:spPr>
        <p:txBody>
          <a:bodyPr wrap="square" lIns="0" tIns="0" rIns="0" bIns="0" rtlCol="0" anchor="ctr"/>
          <a:lstStyle/>
          <a:p>
            <a:pPr marL="0" indent="0">
              <a:buNone/>
            </a:pPr>
            <a:r>
              <a:rPr lang="en-US" sz="1000" dirty="0">
                <a:solidFill>
                  <a:srgbClr val="12202E"/>
                </a:solidFill>
                <a:latin typeface="Calibri" pitchFamily="34" charset="0"/>
                <a:ea typeface="Calibri" pitchFamily="34" charset="-122"/>
                <a:cs typeface="Calibri" pitchFamily="34" charset="-120"/>
              </a:rPr>
              <a:t>wound_open = 2 OR bleeding = 2 OR wound_state = 4</a:t>
            </a:r>
            <a:endParaRPr lang="en-US" sz="1000" dirty="0"/>
          </a:p>
        </p:txBody>
      </p:sp>
      <p:sp>
        <p:nvSpPr>
          <p:cNvPr id="15" name="Text 13"/>
          <p:cNvSpPr/>
          <p:nvPr/>
        </p:nvSpPr>
        <p:spPr>
          <a:xfrm>
            <a:off x="8796528" y="2249424"/>
            <a:ext cx="2788920" cy="292608"/>
          </a:xfrm>
          <a:prstGeom prst="rect">
            <a:avLst/>
          </a:prstGeom>
          <a:noFill/>
          <a:ln/>
        </p:spPr>
        <p:txBody>
          <a:bodyPr wrap="square" lIns="0" tIns="0" rIns="0" bIns="0" rtlCol="0" anchor="ctr"/>
          <a:lstStyle/>
          <a:p>
            <a:pPr marL="0" indent="0">
              <a:buNone/>
            </a:pPr>
            <a:r>
              <a:rPr lang="en-US" sz="950" dirty="0">
                <a:solidFill>
                  <a:srgbClr val="5D7186"/>
                </a:solidFill>
                <a:latin typeface="Calibri" pitchFamily="34" charset="0"/>
                <a:ea typeface="Calibri" pitchFamily="34" charset="-122"/>
                <a:cs typeface="Calibri" pitchFamily="34" charset="-120"/>
              </a:rPr>
              <a:t>CDC deep incisional</a:t>
            </a:r>
            <a:endParaRPr lang="en-US" sz="950" dirty="0"/>
          </a:p>
        </p:txBody>
      </p:sp>
      <p:sp>
        <p:nvSpPr>
          <p:cNvPr id="16" name="Shape 14"/>
          <p:cNvSpPr/>
          <p:nvPr/>
        </p:nvSpPr>
        <p:spPr>
          <a:xfrm>
            <a:off x="566928" y="2587752"/>
            <a:ext cx="73152" cy="292608"/>
          </a:xfrm>
          <a:prstGeom prst="rect">
            <a:avLst/>
          </a:prstGeom>
          <a:solidFill>
            <a:srgbClr val="C25C07"/>
          </a:solidFill>
          <a:ln w="12700">
            <a:solidFill>
              <a:srgbClr val="C25C07"/>
            </a:solidFill>
            <a:prstDash val="solid"/>
          </a:ln>
        </p:spPr>
        <p:txBody>
          <a:bodyPr/>
          <a:lstStyle/>
          <a:p>
            <a:endParaRPr lang="de-CH"/>
          </a:p>
        </p:txBody>
      </p:sp>
      <p:sp>
        <p:nvSpPr>
          <p:cNvPr id="17" name="Text 15"/>
          <p:cNvSpPr/>
          <p:nvPr/>
        </p:nvSpPr>
        <p:spPr>
          <a:xfrm>
            <a:off x="768096" y="2587752"/>
            <a:ext cx="731520" cy="292608"/>
          </a:xfrm>
          <a:prstGeom prst="rect">
            <a:avLst/>
          </a:prstGeom>
          <a:noFill/>
          <a:ln/>
        </p:spPr>
        <p:txBody>
          <a:bodyPr wrap="square" lIns="0" tIns="0" rIns="0" bIns="0" rtlCol="0" anchor="ctr"/>
          <a:lstStyle/>
          <a:p>
            <a:pPr marL="0" indent="0">
              <a:buNone/>
            </a:pPr>
            <a:r>
              <a:rPr lang="en-US" sz="1000" b="1" dirty="0">
                <a:solidFill>
                  <a:srgbClr val="12202E"/>
                </a:solidFill>
                <a:latin typeface="Calibri" pitchFamily="34" charset="0"/>
                <a:ea typeface="Calibri" pitchFamily="34" charset="-122"/>
                <a:cs typeface="Calibri" pitchFamily="34" charset="-120"/>
              </a:rPr>
              <a:t>R9</a:t>
            </a:r>
            <a:endParaRPr lang="en-US" sz="1000" dirty="0"/>
          </a:p>
        </p:txBody>
      </p:sp>
      <p:sp>
        <p:nvSpPr>
          <p:cNvPr id="18" name="Text 16"/>
          <p:cNvSpPr/>
          <p:nvPr/>
        </p:nvSpPr>
        <p:spPr>
          <a:xfrm>
            <a:off x="1527048" y="2587752"/>
            <a:ext cx="7132320" cy="292608"/>
          </a:xfrm>
          <a:prstGeom prst="rect">
            <a:avLst/>
          </a:prstGeom>
          <a:noFill/>
          <a:ln/>
        </p:spPr>
        <p:txBody>
          <a:bodyPr wrap="square" lIns="0" tIns="0" rIns="0" bIns="0" rtlCol="0" anchor="ctr"/>
          <a:lstStyle/>
          <a:p>
            <a:pPr marL="0" indent="0">
              <a:buNone/>
            </a:pPr>
            <a:r>
              <a:rPr lang="en-US" sz="1000" dirty="0">
                <a:solidFill>
                  <a:srgbClr val="12202E"/>
                </a:solidFill>
                <a:latin typeface="Calibri" pitchFamily="34" charset="0"/>
                <a:ea typeface="Calibri" pitchFamily="34" charset="-122"/>
                <a:cs typeface="Calibri" pitchFamily="34" charset="-120"/>
              </a:rPr>
              <a:t>wellbeing = 2 OR nausea_vomiting = 2</a:t>
            </a:r>
            <a:endParaRPr lang="en-US" sz="1000" dirty="0"/>
          </a:p>
        </p:txBody>
      </p:sp>
      <p:sp>
        <p:nvSpPr>
          <p:cNvPr id="19" name="Text 17"/>
          <p:cNvSpPr/>
          <p:nvPr/>
        </p:nvSpPr>
        <p:spPr>
          <a:xfrm>
            <a:off x="8796528" y="2587752"/>
            <a:ext cx="2788920" cy="292608"/>
          </a:xfrm>
          <a:prstGeom prst="rect">
            <a:avLst/>
          </a:prstGeom>
          <a:noFill/>
          <a:ln/>
        </p:spPr>
        <p:txBody>
          <a:bodyPr wrap="square" lIns="0" tIns="0" rIns="0" bIns="0" rtlCol="0" anchor="ctr"/>
          <a:lstStyle/>
          <a:p>
            <a:pPr marL="0" indent="0">
              <a:buNone/>
            </a:pPr>
            <a:r>
              <a:rPr lang="en-US" sz="950" dirty="0">
                <a:solidFill>
                  <a:srgbClr val="5D7186"/>
                </a:solidFill>
                <a:latin typeface="Calibri" pitchFamily="34" charset="0"/>
                <a:ea typeface="Calibri" pitchFamily="34" charset="-122"/>
                <a:cs typeface="Calibri" pitchFamily="34" charset="-120"/>
              </a:rPr>
              <a:t>systemic signs</a:t>
            </a:r>
            <a:endParaRPr lang="en-US" sz="950" dirty="0"/>
          </a:p>
        </p:txBody>
      </p:sp>
      <p:sp>
        <p:nvSpPr>
          <p:cNvPr id="20" name="Shape 18"/>
          <p:cNvSpPr/>
          <p:nvPr/>
        </p:nvSpPr>
        <p:spPr>
          <a:xfrm>
            <a:off x="566928" y="2926080"/>
            <a:ext cx="73152" cy="292608"/>
          </a:xfrm>
          <a:prstGeom prst="rect">
            <a:avLst/>
          </a:prstGeom>
          <a:solidFill>
            <a:srgbClr val="C25C07"/>
          </a:solidFill>
          <a:ln w="12700">
            <a:solidFill>
              <a:srgbClr val="C25C07"/>
            </a:solidFill>
            <a:prstDash val="solid"/>
          </a:ln>
        </p:spPr>
        <p:txBody>
          <a:bodyPr/>
          <a:lstStyle/>
          <a:p>
            <a:endParaRPr lang="de-CH"/>
          </a:p>
        </p:txBody>
      </p:sp>
      <p:sp>
        <p:nvSpPr>
          <p:cNvPr id="21" name="Text 19"/>
          <p:cNvSpPr/>
          <p:nvPr/>
        </p:nvSpPr>
        <p:spPr>
          <a:xfrm>
            <a:off x="768096" y="2926080"/>
            <a:ext cx="731520" cy="292608"/>
          </a:xfrm>
          <a:prstGeom prst="rect">
            <a:avLst/>
          </a:prstGeom>
          <a:noFill/>
          <a:ln/>
        </p:spPr>
        <p:txBody>
          <a:bodyPr wrap="square" lIns="0" tIns="0" rIns="0" bIns="0" rtlCol="0" anchor="ctr"/>
          <a:lstStyle/>
          <a:p>
            <a:pPr marL="0" indent="0">
              <a:buNone/>
            </a:pPr>
            <a:r>
              <a:rPr lang="en-US" sz="1000" b="1" dirty="0">
                <a:solidFill>
                  <a:srgbClr val="12202E"/>
                </a:solidFill>
                <a:latin typeface="Calibri" pitchFamily="34" charset="0"/>
                <a:ea typeface="Calibri" pitchFamily="34" charset="-122"/>
                <a:cs typeface="Calibri" pitchFamily="34" charset="-120"/>
              </a:rPr>
              <a:t>R4</a:t>
            </a:r>
            <a:endParaRPr lang="en-US" sz="1000" dirty="0"/>
          </a:p>
        </p:txBody>
      </p:sp>
      <p:sp>
        <p:nvSpPr>
          <p:cNvPr id="22" name="Text 20"/>
          <p:cNvSpPr/>
          <p:nvPr/>
        </p:nvSpPr>
        <p:spPr>
          <a:xfrm>
            <a:off x="1527048" y="2926080"/>
            <a:ext cx="7132320" cy="292608"/>
          </a:xfrm>
          <a:prstGeom prst="rect">
            <a:avLst/>
          </a:prstGeom>
          <a:noFill/>
          <a:ln/>
        </p:spPr>
        <p:txBody>
          <a:bodyPr wrap="square" lIns="0" tIns="0" rIns="0" bIns="0" rtlCol="0" anchor="ctr"/>
          <a:lstStyle/>
          <a:p>
            <a:pPr marL="0" indent="0">
              <a:buNone/>
            </a:pPr>
            <a:r>
              <a:rPr lang="en-US" sz="1000" dirty="0">
                <a:solidFill>
                  <a:srgbClr val="12202E"/>
                </a:solidFill>
                <a:latin typeface="Calibri" pitchFamily="34" charset="0"/>
                <a:ea typeface="Calibri" pitchFamily="34" charset="-122"/>
                <a:cs typeface="Calibri" pitchFamily="34" charset="-120"/>
              </a:rPr>
              <a:t>secretion = 3 OR secretion_smell = 1</a:t>
            </a:r>
            <a:endParaRPr lang="en-US" sz="1000" dirty="0"/>
          </a:p>
        </p:txBody>
      </p:sp>
      <p:sp>
        <p:nvSpPr>
          <p:cNvPr id="23" name="Text 21"/>
          <p:cNvSpPr/>
          <p:nvPr/>
        </p:nvSpPr>
        <p:spPr>
          <a:xfrm>
            <a:off x="8796528" y="2926080"/>
            <a:ext cx="2788920" cy="292608"/>
          </a:xfrm>
          <a:prstGeom prst="rect">
            <a:avLst/>
          </a:prstGeom>
          <a:noFill/>
          <a:ln/>
        </p:spPr>
        <p:txBody>
          <a:bodyPr wrap="square" lIns="0" tIns="0" rIns="0" bIns="0" rtlCol="0" anchor="ctr"/>
          <a:lstStyle/>
          <a:p>
            <a:pPr marL="0" indent="0">
              <a:buNone/>
            </a:pPr>
            <a:r>
              <a:rPr lang="en-US" sz="950" dirty="0">
                <a:solidFill>
                  <a:srgbClr val="5D7186"/>
                </a:solidFill>
                <a:latin typeface="Calibri" pitchFamily="34" charset="0"/>
                <a:ea typeface="Calibri" pitchFamily="34" charset="-122"/>
                <a:cs typeface="Calibri" pitchFamily="34" charset="-120"/>
              </a:rPr>
              <a:t>CDC superficial incisional</a:t>
            </a:r>
            <a:endParaRPr lang="en-US" sz="950" dirty="0"/>
          </a:p>
        </p:txBody>
      </p:sp>
      <p:sp>
        <p:nvSpPr>
          <p:cNvPr id="24" name="Shape 22"/>
          <p:cNvSpPr/>
          <p:nvPr/>
        </p:nvSpPr>
        <p:spPr>
          <a:xfrm>
            <a:off x="566928" y="3264408"/>
            <a:ext cx="73152" cy="292608"/>
          </a:xfrm>
          <a:prstGeom prst="rect">
            <a:avLst/>
          </a:prstGeom>
          <a:solidFill>
            <a:srgbClr val="C25C07"/>
          </a:solidFill>
          <a:ln w="12700">
            <a:solidFill>
              <a:srgbClr val="C25C07"/>
            </a:solidFill>
            <a:prstDash val="solid"/>
          </a:ln>
        </p:spPr>
        <p:txBody>
          <a:bodyPr/>
          <a:lstStyle/>
          <a:p>
            <a:endParaRPr lang="de-CH"/>
          </a:p>
        </p:txBody>
      </p:sp>
      <p:sp>
        <p:nvSpPr>
          <p:cNvPr id="25" name="Text 23"/>
          <p:cNvSpPr/>
          <p:nvPr/>
        </p:nvSpPr>
        <p:spPr>
          <a:xfrm>
            <a:off x="768096" y="3264408"/>
            <a:ext cx="731520" cy="292608"/>
          </a:xfrm>
          <a:prstGeom prst="rect">
            <a:avLst/>
          </a:prstGeom>
          <a:noFill/>
          <a:ln/>
        </p:spPr>
        <p:txBody>
          <a:bodyPr wrap="square" lIns="0" tIns="0" rIns="0" bIns="0" rtlCol="0" anchor="ctr"/>
          <a:lstStyle/>
          <a:p>
            <a:pPr marL="0" indent="0">
              <a:buNone/>
            </a:pPr>
            <a:r>
              <a:rPr lang="en-US" sz="1000" b="1" dirty="0">
                <a:solidFill>
                  <a:srgbClr val="12202E"/>
                </a:solidFill>
                <a:latin typeface="Calibri" pitchFamily="34" charset="0"/>
                <a:ea typeface="Calibri" pitchFamily="34" charset="-122"/>
                <a:cs typeface="Calibri" pitchFamily="34" charset="-120"/>
              </a:rPr>
              <a:t>R5</a:t>
            </a:r>
            <a:endParaRPr lang="en-US" sz="1000" dirty="0"/>
          </a:p>
        </p:txBody>
      </p:sp>
      <p:sp>
        <p:nvSpPr>
          <p:cNvPr id="26" name="Text 24"/>
          <p:cNvSpPr/>
          <p:nvPr/>
        </p:nvSpPr>
        <p:spPr>
          <a:xfrm>
            <a:off x="1527048" y="3264408"/>
            <a:ext cx="7132320" cy="292608"/>
          </a:xfrm>
          <a:prstGeom prst="rect">
            <a:avLst/>
          </a:prstGeom>
          <a:noFill/>
          <a:ln/>
        </p:spPr>
        <p:txBody>
          <a:bodyPr wrap="square" lIns="0" tIns="0" rIns="0" bIns="0" rtlCol="0" anchor="ctr"/>
          <a:lstStyle/>
          <a:p>
            <a:pPr marL="0" indent="0">
              <a:buNone/>
            </a:pPr>
            <a:r>
              <a:rPr lang="en-US" sz="1000" dirty="0">
                <a:solidFill>
                  <a:srgbClr val="12202E"/>
                </a:solidFill>
                <a:latin typeface="Calibri" pitchFamily="34" charset="0"/>
                <a:ea typeface="Calibri" pitchFamily="34" charset="-122"/>
                <a:cs typeface="Calibri" pitchFamily="34" charset="-120"/>
              </a:rPr>
              <a:t>fever OR (pain ≥ 7 AND worsening AND day ≥ 3)</a:t>
            </a:r>
            <a:endParaRPr lang="en-US" sz="1000" dirty="0"/>
          </a:p>
        </p:txBody>
      </p:sp>
      <p:sp>
        <p:nvSpPr>
          <p:cNvPr id="27" name="Text 25"/>
          <p:cNvSpPr/>
          <p:nvPr/>
        </p:nvSpPr>
        <p:spPr>
          <a:xfrm>
            <a:off x="8796528" y="3264408"/>
            <a:ext cx="2788920" cy="292608"/>
          </a:xfrm>
          <a:prstGeom prst="rect">
            <a:avLst/>
          </a:prstGeom>
          <a:noFill/>
          <a:ln/>
        </p:spPr>
        <p:txBody>
          <a:bodyPr wrap="square" lIns="0" tIns="0" rIns="0" bIns="0" rtlCol="0" anchor="ctr"/>
          <a:lstStyle/>
          <a:p>
            <a:pPr marL="0" indent="0">
              <a:buNone/>
            </a:pPr>
            <a:r>
              <a:rPr lang="en-US" sz="950" dirty="0">
                <a:solidFill>
                  <a:srgbClr val="5D7186"/>
                </a:solidFill>
                <a:latin typeface="Calibri" pitchFamily="34" charset="0"/>
                <a:ea typeface="Calibri" pitchFamily="34" charset="-122"/>
                <a:cs typeface="Calibri" pitchFamily="34" charset="-120"/>
              </a:rPr>
              <a:t>CDC · NICE</a:t>
            </a:r>
            <a:endParaRPr lang="en-US" sz="950" dirty="0"/>
          </a:p>
        </p:txBody>
      </p:sp>
      <p:sp>
        <p:nvSpPr>
          <p:cNvPr id="28" name="Shape 26"/>
          <p:cNvSpPr/>
          <p:nvPr/>
        </p:nvSpPr>
        <p:spPr>
          <a:xfrm>
            <a:off x="566928" y="3602736"/>
            <a:ext cx="73152" cy="292608"/>
          </a:xfrm>
          <a:prstGeom prst="rect">
            <a:avLst/>
          </a:prstGeom>
          <a:solidFill>
            <a:srgbClr val="C25C07"/>
          </a:solidFill>
          <a:ln w="12700">
            <a:solidFill>
              <a:srgbClr val="C25C07"/>
            </a:solidFill>
            <a:prstDash val="solid"/>
          </a:ln>
        </p:spPr>
        <p:txBody>
          <a:bodyPr/>
          <a:lstStyle/>
          <a:p>
            <a:endParaRPr lang="de-CH"/>
          </a:p>
        </p:txBody>
      </p:sp>
      <p:sp>
        <p:nvSpPr>
          <p:cNvPr id="29" name="Text 27"/>
          <p:cNvSpPr/>
          <p:nvPr/>
        </p:nvSpPr>
        <p:spPr>
          <a:xfrm>
            <a:off x="768096" y="3602736"/>
            <a:ext cx="731520" cy="292608"/>
          </a:xfrm>
          <a:prstGeom prst="rect">
            <a:avLst/>
          </a:prstGeom>
          <a:noFill/>
          <a:ln/>
        </p:spPr>
        <p:txBody>
          <a:bodyPr wrap="square" lIns="0" tIns="0" rIns="0" bIns="0" rtlCol="0" anchor="ctr"/>
          <a:lstStyle/>
          <a:p>
            <a:pPr marL="0" indent="0">
              <a:buNone/>
            </a:pPr>
            <a:r>
              <a:rPr lang="en-US" sz="1000" b="1" dirty="0">
                <a:solidFill>
                  <a:srgbClr val="12202E"/>
                </a:solidFill>
                <a:latin typeface="Calibri" pitchFamily="34" charset="0"/>
                <a:ea typeface="Calibri" pitchFamily="34" charset="-122"/>
                <a:cs typeface="Calibri" pitchFamily="34" charset="-120"/>
              </a:rPr>
              <a:t>R11</a:t>
            </a:r>
            <a:endParaRPr lang="en-US" sz="1000" dirty="0"/>
          </a:p>
        </p:txBody>
      </p:sp>
      <p:sp>
        <p:nvSpPr>
          <p:cNvPr id="30" name="Text 28"/>
          <p:cNvSpPr/>
          <p:nvPr/>
        </p:nvSpPr>
        <p:spPr>
          <a:xfrm>
            <a:off x="1527048" y="3602736"/>
            <a:ext cx="7132320" cy="292608"/>
          </a:xfrm>
          <a:prstGeom prst="rect">
            <a:avLst/>
          </a:prstGeom>
          <a:noFill/>
          <a:ln/>
        </p:spPr>
        <p:txBody>
          <a:bodyPr wrap="square" lIns="0" tIns="0" rIns="0" bIns="0" rtlCol="0" anchor="ctr"/>
          <a:lstStyle/>
          <a:p>
            <a:pPr marL="0" indent="0">
              <a:buNone/>
            </a:pPr>
            <a:r>
              <a:rPr lang="en-US" sz="1000" dirty="0">
                <a:solidFill>
                  <a:srgbClr val="12202E"/>
                </a:solidFill>
                <a:latin typeface="Calibri" pitchFamily="34" charset="0"/>
                <a:ea typeface="Calibri" pitchFamily="34" charset="-122"/>
                <a:cs typeface="Calibri" pitchFamily="34" charset="-120"/>
              </a:rPr>
              <a:t>secretion ≥ 1 AND discharge ≥ 3 days</a:t>
            </a:r>
            <a:endParaRPr lang="en-US" sz="1000" dirty="0"/>
          </a:p>
        </p:txBody>
      </p:sp>
      <p:sp>
        <p:nvSpPr>
          <p:cNvPr id="31" name="Text 29"/>
          <p:cNvSpPr/>
          <p:nvPr/>
        </p:nvSpPr>
        <p:spPr>
          <a:xfrm>
            <a:off x="8796528" y="3602736"/>
            <a:ext cx="2788920" cy="292608"/>
          </a:xfrm>
          <a:prstGeom prst="rect">
            <a:avLst/>
          </a:prstGeom>
          <a:noFill/>
          <a:ln/>
        </p:spPr>
        <p:txBody>
          <a:bodyPr wrap="square" lIns="0" tIns="0" rIns="0" bIns="0" rtlCol="0" anchor="ctr"/>
          <a:lstStyle/>
          <a:p>
            <a:pPr marL="0" indent="0">
              <a:buNone/>
            </a:pPr>
            <a:r>
              <a:rPr lang="en-US" sz="950" dirty="0">
                <a:solidFill>
                  <a:srgbClr val="5D7186"/>
                </a:solidFill>
                <a:latin typeface="Calibri" pitchFamily="34" charset="0"/>
                <a:ea typeface="Calibri" pitchFamily="34" charset="-122"/>
                <a:cs typeface="Calibri" pitchFamily="34" charset="-120"/>
              </a:rPr>
              <a:t>Southampton IIId</a:t>
            </a:r>
            <a:endParaRPr lang="en-US" sz="950" dirty="0"/>
          </a:p>
        </p:txBody>
      </p:sp>
      <p:sp>
        <p:nvSpPr>
          <p:cNvPr id="32" name="Shape 30"/>
          <p:cNvSpPr/>
          <p:nvPr/>
        </p:nvSpPr>
        <p:spPr>
          <a:xfrm>
            <a:off x="566928" y="3941064"/>
            <a:ext cx="73152" cy="292608"/>
          </a:xfrm>
          <a:prstGeom prst="rect">
            <a:avLst/>
          </a:prstGeom>
          <a:solidFill>
            <a:srgbClr val="C25C07"/>
          </a:solidFill>
          <a:ln w="12700">
            <a:solidFill>
              <a:srgbClr val="C25C07"/>
            </a:solidFill>
            <a:prstDash val="solid"/>
          </a:ln>
        </p:spPr>
        <p:txBody>
          <a:bodyPr/>
          <a:lstStyle/>
          <a:p>
            <a:endParaRPr lang="de-CH"/>
          </a:p>
        </p:txBody>
      </p:sp>
      <p:sp>
        <p:nvSpPr>
          <p:cNvPr id="33" name="Text 31"/>
          <p:cNvSpPr/>
          <p:nvPr/>
        </p:nvSpPr>
        <p:spPr>
          <a:xfrm>
            <a:off x="768096" y="3941064"/>
            <a:ext cx="731520" cy="292608"/>
          </a:xfrm>
          <a:prstGeom prst="rect">
            <a:avLst/>
          </a:prstGeom>
          <a:noFill/>
          <a:ln/>
        </p:spPr>
        <p:txBody>
          <a:bodyPr wrap="square" lIns="0" tIns="0" rIns="0" bIns="0" rtlCol="0" anchor="ctr"/>
          <a:lstStyle/>
          <a:p>
            <a:pPr marL="0" indent="0">
              <a:buNone/>
            </a:pPr>
            <a:r>
              <a:rPr lang="en-US" sz="1000" b="1" dirty="0">
                <a:solidFill>
                  <a:srgbClr val="12202E"/>
                </a:solidFill>
                <a:latin typeface="Calibri" pitchFamily="34" charset="0"/>
                <a:ea typeface="Calibri" pitchFamily="34" charset="-122"/>
                <a:cs typeface="Calibri" pitchFamily="34" charset="-120"/>
              </a:rPr>
              <a:t>R12</a:t>
            </a:r>
            <a:endParaRPr lang="en-US" sz="1000" dirty="0"/>
          </a:p>
        </p:txBody>
      </p:sp>
      <p:sp>
        <p:nvSpPr>
          <p:cNvPr id="34" name="Text 32"/>
          <p:cNvSpPr/>
          <p:nvPr/>
        </p:nvSpPr>
        <p:spPr>
          <a:xfrm>
            <a:off x="1527048" y="3941064"/>
            <a:ext cx="7132320" cy="292608"/>
          </a:xfrm>
          <a:prstGeom prst="rect">
            <a:avLst/>
          </a:prstGeom>
          <a:noFill/>
          <a:ln/>
        </p:spPr>
        <p:txBody>
          <a:bodyPr wrap="square" lIns="0" tIns="0" rIns="0" bIns="0" rtlCol="0" anchor="ctr"/>
          <a:lstStyle/>
          <a:p>
            <a:pPr marL="0" indent="0">
              <a:buNone/>
            </a:pPr>
            <a:r>
              <a:rPr lang="en-US" sz="1000" dirty="0">
                <a:solidFill>
                  <a:srgbClr val="12202E"/>
                </a:solidFill>
                <a:latin typeface="Calibri" pitchFamily="34" charset="0"/>
                <a:ea typeface="Calibri" pitchFamily="34" charset="-122"/>
                <a:cs typeface="Calibri" pitchFamily="34" charset="-120"/>
              </a:rPr>
              <a:t>classification = yellow AND yesterday = yellow</a:t>
            </a:r>
            <a:endParaRPr lang="en-US" sz="1000" dirty="0"/>
          </a:p>
        </p:txBody>
      </p:sp>
      <p:sp>
        <p:nvSpPr>
          <p:cNvPr id="35" name="Text 33"/>
          <p:cNvSpPr/>
          <p:nvPr/>
        </p:nvSpPr>
        <p:spPr>
          <a:xfrm>
            <a:off x="8796528" y="3941064"/>
            <a:ext cx="2788920" cy="292608"/>
          </a:xfrm>
          <a:prstGeom prst="rect">
            <a:avLst/>
          </a:prstGeom>
          <a:noFill/>
          <a:ln/>
        </p:spPr>
        <p:txBody>
          <a:bodyPr wrap="square" lIns="0" tIns="0" rIns="0" bIns="0" rtlCol="0" anchor="ctr"/>
          <a:lstStyle/>
          <a:p>
            <a:pPr marL="0" indent="0">
              <a:buNone/>
            </a:pPr>
            <a:r>
              <a:rPr lang="en-US" sz="950" dirty="0">
                <a:solidFill>
                  <a:srgbClr val="5D7186"/>
                </a:solidFill>
                <a:latin typeface="Calibri" pitchFamily="34" charset="0"/>
                <a:ea typeface="Calibri" pitchFamily="34" charset="-122"/>
                <a:cs typeface="Calibri" pitchFamily="34" charset="-120"/>
              </a:rPr>
              <a:t>persistence</a:t>
            </a:r>
            <a:endParaRPr lang="en-US" sz="950" dirty="0"/>
          </a:p>
        </p:txBody>
      </p:sp>
      <p:sp>
        <p:nvSpPr>
          <p:cNvPr id="36" name="Shape 34"/>
          <p:cNvSpPr/>
          <p:nvPr/>
        </p:nvSpPr>
        <p:spPr>
          <a:xfrm>
            <a:off x="566928" y="4279392"/>
            <a:ext cx="73152" cy="292608"/>
          </a:xfrm>
          <a:prstGeom prst="rect">
            <a:avLst/>
          </a:prstGeom>
          <a:solidFill>
            <a:srgbClr val="9C6D00"/>
          </a:solidFill>
          <a:ln w="12700">
            <a:solidFill>
              <a:srgbClr val="9C6D00"/>
            </a:solidFill>
            <a:prstDash val="solid"/>
          </a:ln>
        </p:spPr>
        <p:txBody>
          <a:bodyPr/>
          <a:lstStyle/>
          <a:p>
            <a:endParaRPr lang="de-CH"/>
          </a:p>
        </p:txBody>
      </p:sp>
      <p:sp>
        <p:nvSpPr>
          <p:cNvPr id="37" name="Text 35"/>
          <p:cNvSpPr/>
          <p:nvPr/>
        </p:nvSpPr>
        <p:spPr>
          <a:xfrm>
            <a:off x="768096" y="4279392"/>
            <a:ext cx="731520" cy="292608"/>
          </a:xfrm>
          <a:prstGeom prst="rect">
            <a:avLst/>
          </a:prstGeom>
          <a:noFill/>
          <a:ln/>
        </p:spPr>
        <p:txBody>
          <a:bodyPr wrap="square" lIns="0" tIns="0" rIns="0" bIns="0" rtlCol="0" anchor="ctr"/>
          <a:lstStyle/>
          <a:p>
            <a:pPr marL="0" indent="0">
              <a:buNone/>
            </a:pPr>
            <a:r>
              <a:rPr lang="en-US" sz="1000" b="1" dirty="0">
                <a:solidFill>
                  <a:srgbClr val="12202E"/>
                </a:solidFill>
                <a:latin typeface="Calibri" pitchFamily="34" charset="0"/>
                <a:ea typeface="Calibri" pitchFamily="34" charset="-122"/>
                <a:cs typeface="Calibri" pitchFamily="34" charset="-120"/>
              </a:rPr>
              <a:t>R6b</a:t>
            </a:r>
            <a:endParaRPr lang="en-US" sz="1000" dirty="0"/>
          </a:p>
        </p:txBody>
      </p:sp>
      <p:sp>
        <p:nvSpPr>
          <p:cNvPr id="38" name="Text 36"/>
          <p:cNvSpPr/>
          <p:nvPr/>
        </p:nvSpPr>
        <p:spPr>
          <a:xfrm>
            <a:off x="1527048" y="4279392"/>
            <a:ext cx="7132320" cy="292608"/>
          </a:xfrm>
          <a:prstGeom prst="rect">
            <a:avLst/>
          </a:prstGeom>
          <a:noFill/>
          <a:ln/>
        </p:spPr>
        <p:txBody>
          <a:bodyPr wrap="square" lIns="0" tIns="0" rIns="0" bIns="0" rtlCol="0" anchor="ctr"/>
          <a:lstStyle/>
          <a:p>
            <a:pPr marL="0" indent="0">
              <a:buNone/>
            </a:pPr>
            <a:r>
              <a:rPr lang="en-US" sz="1000" dirty="0">
                <a:solidFill>
                  <a:srgbClr val="12202E"/>
                </a:solidFill>
                <a:latin typeface="Calibri" pitchFamily="34" charset="0"/>
                <a:ea typeface="Calibri" pitchFamily="34" charset="-122"/>
                <a:cs typeface="Calibri" pitchFamily="34" charset="-120"/>
              </a:rPr>
              <a:t>Southampton II OR swelling = 3 (from day 1)</a:t>
            </a:r>
            <a:endParaRPr lang="en-US" sz="1000" dirty="0"/>
          </a:p>
        </p:txBody>
      </p:sp>
      <p:sp>
        <p:nvSpPr>
          <p:cNvPr id="39" name="Text 37"/>
          <p:cNvSpPr/>
          <p:nvPr/>
        </p:nvSpPr>
        <p:spPr>
          <a:xfrm>
            <a:off x="8796528" y="4279392"/>
            <a:ext cx="2788920" cy="292608"/>
          </a:xfrm>
          <a:prstGeom prst="rect">
            <a:avLst/>
          </a:prstGeom>
          <a:noFill/>
          <a:ln/>
        </p:spPr>
        <p:txBody>
          <a:bodyPr wrap="square" lIns="0" tIns="0" rIns="0" bIns="0" rtlCol="0" anchor="ctr"/>
          <a:lstStyle/>
          <a:p>
            <a:pPr marL="0" indent="0">
              <a:buNone/>
            </a:pPr>
            <a:r>
              <a:rPr lang="en-US" sz="950" dirty="0">
                <a:solidFill>
                  <a:srgbClr val="5D7186"/>
                </a:solidFill>
                <a:latin typeface="Calibri" pitchFamily="34" charset="0"/>
                <a:ea typeface="Calibri" pitchFamily="34" charset="-122"/>
                <a:cs typeface="Calibri" pitchFamily="34" charset="-120"/>
              </a:rPr>
              <a:t>Southampton II</a:t>
            </a:r>
            <a:endParaRPr lang="en-US" sz="950" dirty="0"/>
          </a:p>
        </p:txBody>
      </p:sp>
      <p:sp>
        <p:nvSpPr>
          <p:cNvPr id="40" name="Shape 38"/>
          <p:cNvSpPr/>
          <p:nvPr/>
        </p:nvSpPr>
        <p:spPr>
          <a:xfrm>
            <a:off x="566928" y="4617720"/>
            <a:ext cx="73152" cy="292608"/>
          </a:xfrm>
          <a:prstGeom prst="rect">
            <a:avLst/>
          </a:prstGeom>
          <a:solidFill>
            <a:srgbClr val="9C6D00"/>
          </a:solidFill>
          <a:ln w="12700">
            <a:solidFill>
              <a:srgbClr val="9C6D00"/>
            </a:solidFill>
            <a:prstDash val="solid"/>
          </a:ln>
        </p:spPr>
        <p:txBody>
          <a:bodyPr/>
          <a:lstStyle/>
          <a:p>
            <a:endParaRPr lang="de-CH"/>
          </a:p>
        </p:txBody>
      </p:sp>
      <p:sp>
        <p:nvSpPr>
          <p:cNvPr id="41" name="Text 39"/>
          <p:cNvSpPr/>
          <p:nvPr/>
        </p:nvSpPr>
        <p:spPr>
          <a:xfrm>
            <a:off x="768096" y="4617720"/>
            <a:ext cx="731520" cy="292608"/>
          </a:xfrm>
          <a:prstGeom prst="rect">
            <a:avLst/>
          </a:prstGeom>
          <a:noFill/>
          <a:ln/>
        </p:spPr>
        <p:txBody>
          <a:bodyPr wrap="square" lIns="0" tIns="0" rIns="0" bIns="0" rtlCol="0" anchor="ctr"/>
          <a:lstStyle/>
          <a:p>
            <a:pPr marL="0" indent="0">
              <a:buNone/>
            </a:pPr>
            <a:r>
              <a:rPr lang="en-US" sz="1000" b="1" dirty="0">
                <a:solidFill>
                  <a:srgbClr val="12202E"/>
                </a:solidFill>
                <a:latin typeface="Calibri" pitchFamily="34" charset="0"/>
                <a:ea typeface="Calibri" pitchFamily="34" charset="-122"/>
                <a:cs typeface="Calibri" pitchFamily="34" charset="-120"/>
              </a:rPr>
              <a:t>R6a</a:t>
            </a:r>
            <a:endParaRPr lang="en-US" sz="1000" dirty="0"/>
          </a:p>
        </p:txBody>
      </p:sp>
      <p:sp>
        <p:nvSpPr>
          <p:cNvPr id="42" name="Text 40"/>
          <p:cNvSpPr/>
          <p:nvPr/>
        </p:nvSpPr>
        <p:spPr>
          <a:xfrm>
            <a:off x="1527048" y="4617720"/>
            <a:ext cx="7132320" cy="292608"/>
          </a:xfrm>
          <a:prstGeom prst="rect">
            <a:avLst/>
          </a:prstGeom>
          <a:noFill/>
          <a:ln/>
        </p:spPr>
        <p:txBody>
          <a:bodyPr wrap="square" lIns="0" tIns="0" rIns="0" bIns="0" rtlCol="0" anchor="ctr"/>
          <a:lstStyle/>
          <a:p>
            <a:pPr marL="0" indent="0">
              <a:buNone/>
            </a:pPr>
            <a:r>
              <a:rPr lang="en-US" sz="1000" dirty="0">
                <a:solidFill>
                  <a:srgbClr val="12202E"/>
                </a:solidFill>
                <a:latin typeface="Calibri" pitchFamily="34" charset="0"/>
                <a:ea typeface="Calibri" pitchFamily="34" charset="-122"/>
                <a:cs typeface="Calibri" pitchFamily="34" charset="-120"/>
              </a:rPr>
              <a:t>Southampton I AND day ≥ 3</a:t>
            </a:r>
            <a:endParaRPr lang="en-US" sz="1000" dirty="0"/>
          </a:p>
        </p:txBody>
      </p:sp>
      <p:sp>
        <p:nvSpPr>
          <p:cNvPr id="43" name="Text 41"/>
          <p:cNvSpPr/>
          <p:nvPr/>
        </p:nvSpPr>
        <p:spPr>
          <a:xfrm>
            <a:off x="8796528" y="4617720"/>
            <a:ext cx="2788920" cy="292608"/>
          </a:xfrm>
          <a:prstGeom prst="rect">
            <a:avLst/>
          </a:prstGeom>
          <a:noFill/>
          <a:ln/>
        </p:spPr>
        <p:txBody>
          <a:bodyPr wrap="square" lIns="0" tIns="0" rIns="0" bIns="0" rtlCol="0" anchor="ctr"/>
          <a:lstStyle/>
          <a:p>
            <a:pPr marL="0" indent="0">
              <a:buNone/>
            </a:pPr>
            <a:r>
              <a:rPr lang="en-US" sz="950" dirty="0">
                <a:solidFill>
                  <a:srgbClr val="5D7186"/>
                </a:solidFill>
                <a:latin typeface="Calibri" pitchFamily="34" charset="0"/>
                <a:ea typeface="Calibri" pitchFamily="34" charset="-122"/>
                <a:cs typeface="Calibri" pitchFamily="34" charset="-120"/>
              </a:rPr>
              <a:t>wound healing phases</a:t>
            </a:r>
            <a:endParaRPr lang="en-US" sz="950" dirty="0"/>
          </a:p>
        </p:txBody>
      </p:sp>
      <p:sp>
        <p:nvSpPr>
          <p:cNvPr id="44" name="Shape 42"/>
          <p:cNvSpPr/>
          <p:nvPr/>
        </p:nvSpPr>
        <p:spPr>
          <a:xfrm>
            <a:off x="566928" y="4956048"/>
            <a:ext cx="73152" cy="292608"/>
          </a:xfrm>
          <a:prstGeom prst="rect">
            <a:avLst/>
          </a:prstGeom>
          <a:solidFill>
            <a:srgbClr val="9C6D00"/>
          </a:solidFill>
          <a:ln w="12700">
            <a:solidFill>
              <a:srgbClr val="9C6D00"/>
            </a:solidFill>
            <a:prstDash val="solid"/>
          </a:ln>
        </p:spPr>
        <p:txBody>
          <a:bodyPr/>
          <a:lstStyle/>
          <a:p>
            <a:endParaRPr lang="de-CH"/>
          </a:p>
        </p:txBody>
      </p:sp>
      <p:sp>
        <p:nvSpPr>
          <p:cNvPr id="45" name="Text 43"/>
          <p:cNvSpPr/>
          <p:nvPr/>
        </p:nvSpPr>
        <p:spPr>
          <a:xfrm>
            <a:off x="768096" y="4956048"/>
            <a:ext cx="731520" cy="292608"/>
          </a:xfrm>
          <a:prstGeom prst="rect">
            <a:avLst/>
          </a:prstGeom>
          <a:noFill/>
          <a:ln/>
        </p:spPr>
        <p:txBody>
          <a:bodyPr wrap="square" lIns="0" tIns="0" rIns="0" bIns="0" rtlCol="0" anchor="ctr"/>
          <a:lstStyle/>
          <a:p>
            <a:pPr marL="0" indent="0">
              <a:buNone/>
            </a:pPr>
            <a:r>
              <a:rPr lang="en-US" sz="1000" b="1" dirty="0">
                <a:solidFill>
                  <a:srgbClr val="12202E"/>
                </a:solidFill>
                <a:latin typeface="Calibri" pitchFamily="34" charset="0"/>
                <a:ea typeface="Calibri" pitchFamily="34" charset="-122"/>
                <a:cs typeface="Calibri" pitchFamily="34" charset="-120"/>
              </a:rPr>
              <a:t>R7</a:t>
            </a:r>
            <a:endParaRPr lang="en-US" sz="1000" dirty="0"/>
          </a:p>
        </p:txBody>
      </p:sp>
      <p:sp>
        <p:nvSpPr>
          <p:cNvPr id="46" name="Text 44"/>
          <p:cNvSpPr/>
          <p:nvPr/>
        </p:nvSpPr>
        <p:spPr>
          <a:xfrm>
            <a:off x="1527048" y="4956048"/>
            <a:ext cx="7132320" cy="292608"/>
          </a:xfrm>
          <a:prstGeom prst="rect">
            <a:avLst/>
          </a:prstGeom>
          <a:noFill/>
          <a:ln/>
        </p:spPr>
        <p:txBody>
          <a:bodyPr wrap="square" lIns="0" tIns="0" rIns="0" bIns="0" rtlCol="0" anchor="ctr"/>
          <a:lstStyle/>
          <a:p>
            <a:pPr marL="0" indent="0">
              <a:buNone/>
            </a:pPr>
            <a:r>
              <a:rPr lang="en-US" sz="1000" dirty="0">
                <a:solidFill>
                  <a:srgbClr val="12202E"/>
                </a:solidFill>
                <a:latin typeface="Calibri" pitchFamily="34" charset="0"/>
                <a:ea typeface="Calibri" pitchFamily="34" charset="-122"/>
                <a:cs typeface="Calibri" pitchFamily="34" charset="-120"/>
              </a:rPr>
              <a:t>wound_open = 1 OR numbness OR mobility change</a:t>
            </a:r>
            <a:endParaRPr lang="en-US" sz="1000" dirty="0"/>
          </a:p>
        </p:txBody>
      </p:sp>
      <p:sp>
        <p:nvSpPr>
          <p:cNvPr id="47" name="Text 45"/>
          <p:cNvSpPr/>
          <p:nvPr/>
        </p:nvSpPr>
        <p:spPr>
          <a:xfrm>
            <a:off x="8796528" y="4956048"/>
            <a:ext cx="2788920" cy="292608"/>
          </a:xfrm>
          <a:prstGeom prst="rect">
            <a:avLst/>
          </a:prstGeom>
          <a:noFill/>
          <a:ln/>
        </p:spPr>
        <p:txBody>
          <a:bodyPr wrap="square" lIns="0" tIns="0" rIns="0" bIns="0" rtlCol="0" anchor="ctr"/>
          <a:lstStyle/>
          <a:p>
            <a:pPr marL="0" indent="0">
              <a:buNone/>
            </a:pPr>
            <a:r>
              <a:rPr lang="en-US" sz="950" dirty="0">
                <a:solidFill>
                  <a:srgbClr val="5D7186"/>
                </a:solidFill>
                <a:latin typeface="Calibri" pitchFamily="34" charset="0"/>
                <a:ea typeface="Calibri" pitchFamily="34" charset="-122"/>
                <a:cs typeface="Calibri" pitchFamily="34" charset="-120"/>
              </a:rPr>
              <a:t>follow-up standards</a:t>
            </a:r>
            <a:endParaRPr lang="en-US" sz="950" dirty="0"/>
          </a:p>
        </p:txBody>
      </p:sp>
      <p:sp>
        <p:nvSpPr>
          <p:cNvPr id="48" name="Shape 46"/>
          <p:cNvSpPr/>
          <p:nvPr/>
        </p:nvSpPr>
        <p:spPr>
          <a:xfrm>
            <a:off x="566928" y="5294376"/>
            <a:ext cx="73152" cy="292608"/>
          </a:xfrm>
          <a:prstGeom prst="rect">
            <a:avLst/>
          </a:prstGeom>
          <a:solidFill>
            <a:srgbClr val="9C6D00"/>
          </a:solidFill>
          <a:ln w="12700">
            <a:solidFill>
              <a:srgbClr val="9C6D00"/>
            </a:solidFill>
            <a:prstDash val="solid"/>
          </a:ln>
        </p:spPr>
        <p:txBody>
          <a:bodyPr/>
          <a:lstStyle/>
          <a:p>
            <a:endParaRPr lang="de-CH"/>
          </a:p>
        </p:txBody>
      </p:sp>
      <p:sp>
        <p:nvSpPr>
          <p:cNvPr id="49" name="Text 47"/>
          <p:cNvSpPr/>
          <p:nvPr/>
        </p:nvSpPr>
        <p:spPr>
          <a:xfrm>
            <a:off x="768096" y="5294376"/>
            <a:ext cx="731520" cy="292608"/>
          </a:xfrm>
          <a:prstGeom prst="rect">
            <a:avLst/>
          </a:prstGeom>
          <a:noFill/>
          <a:ln/>
        </p:spPr>
        <p:txBody>
          <a:bodyPr wrap="square" lIns="0" tIns="0" rIns="0" bIns="0" rtlCol="0" anchor="ctr"/>
          <a:lstStyle/>
          <a:p>
            <a:pPr marL="0" indent="0">
              <a:buNone/>
            </a:pPr>
            <a:r>
              <a:rPr lang="en-US" sz="1000" b="1" dirty="0">
                <a:solidFill>
                  <a:srgbClr val="12202E"/>
                </a:solidFill>
                <a:latin typeface="Calibri" pitchFamily="34" charset="0"/>
                <a:ea typeface="Calibri" pitchFamily="34" charset="-122"/>
                <a:cs typeface="Calibri" pitchFamily="34" charset="-120"/>
              </a:rPr>
              <a:t>R10</a:t>
            </a:r>
            <a:endParaRPr lang="en-US" sz="1000" dirty="0"/>
          </a:p>
        </p:txBody>
      </p:sp>
      <p:sp>
        <p:nvSpPr>
          <p:cNvPr id="50" name="Text 48"/>
          <p:cNvSpPr/>
          <p:nvPr/>
        </p:nvSpPr>
        <p:spPr>
          <a:xfrm>
            <a:off x="1527048" y="5294376"/>
            <a:ext cx="7132320" cy="292608"/>
          </a:xfrm>
          <a:prstGeom prst="rect">
            <a:avLst/>
          </a:prstGeom>
          <a:noFill/>
          <a:ln/>
        </p:spPr>
        <p:txBody>
          <a:bodyPr wrap="square" lIns="0" tIns="0" rIns="0" bIns="0" rtlCol="0" anchor="ctr"/>
          <a:lstStyle/>
          <a:p>
            <a:pPr marL="0" indent="0">
              <a:buNone/>
            </a:pPr>
            <a:r>
              <a:rPr lang="en-US" sz="1000" dirty="0">
                <a:solidFill>
                  <a:srgbClr val="12202E"/>
                </a:solidFill>
                <a:latin typeface="Calibri" pitchFamily="34" charset="0"/>
                <a:ea typeface="Calibri" pitchFamily="34" charset="-122"/>
                <a:cs typeface="Calibri" pitchFamily="34" charset="-120"/>
              </a:rPr>
              <a:t>bleeding ≥ 1 AND anticoagulants</a:t>
            </a:r>
            <a:endParaRPr lang="en-US" sz="1000" dirty="0"/>
          </a:p>
        </p:txBody>
      </p:sp>
      <p:sp>
        <p:nvSpPr>
          <p:cNvPr id="51" name="Text 49"/>
          <p:cNvSpPr/>
          <p:nvPr/>
        </p:nvSpPr>
        <p:spPr>
          <a:xfrm>
            <a:off x="8796528" y="5294376"/>
            <a:ext cx="2788920" cy="292608"/>
          </a:xfrm>
          <a:prstGeom prst="rect">
            <a:avLst/>
          </a:prstGeom>
          <a:noFill/>
          <a:ln/>
        </p:spPr>
        <p:txBody>
          <a:bodyPr wrap="square" lIns="0" tIns="0" rIns="0" bIns="0" rtlCol="0" anchor="ctr"/>
          <a:lstStyle/>
          <a:p>
            <a:pPr marL="0" indent="0">
              <a:buNone/>
            </a:pPr>
            <a:r>
              <a:rPr lang="en-US" sz="950" dirty="0">
                <a:solidFill>
                  <a:srgbClr val="5D7186"/>
                </a:solidFill>
                <a:latin typeface="Calibri" pitchFamily="34" charset="0"/>
                <a:ea typeface="Calibri" pitchFamily="34" charset="-122"/>
                <a:cs typeface="Calibri" pitchFamily="34" charset="-120"/>
              </a:rPr>
              <a:t>bleeding assessment</a:t>
            </a:r>
            <a:endParaRPr lang="en-US" sz="950" dirty="0"/>
          </a:p>
        </p:txBody>
      </p:sp>
      <p:sp>
        <p:nvSpPr>
          <p:cNvPr id="52" name="Shape 50"/>
          <p:cNvSpPr/>
          <p:nvPr/>
        </p:nvSpPr>
        <p:spPr>
          <a:xfrm>
            <a:off x="566928" y="5632704"/>
            <a:ext cx="73152" cy="292608"/>
          </a:xfrm>
          <a:prstGeom prst="rect">
            <a:avLst/>
          </a:prstGeom>
          <a:solidFill>
            <a:srgbClr val="1A7F4B"/>
          </a:solidFill>
          <a:ln w="12700">
            <a:solidFill>
              <a:srgbClr val="1A7F4B"/>
            </a:solidFill>
            <a:prstDash val="solid"/>
          </a:ln>
        </p:spPr>
        <p:txBody>
          <a:bodyPr/>
          <a:lstStyle/>
          <a:p>
            <a:endParaRPr lang="de-CH"/>
          </a:p>
        </p:txBody>
      </p:sp>
      <p:sp>
        <p:nvSpPr>
          <p:cNvPr id="53" name="Text 51"/>
          <p:cNvSpPr/>
          <p:nvPr/>
        </p:nvSpPr>
        <p:spPr>
          <a:xfrm>
            <a:off x="768096" y="5632704"/>
            <a:ext cx="731520" cy="292608"/>
          </a:xfrm>
          <a:prstGeom prst="rect">
            <a:avLst/>
          </a:prstGeom>
          <a:noFill/>
          <a:ln/>
        </p:spPr>
        <p:txBody>
          <a:bodyPr wrap="square" lIns="0" tIns="0" rIns="0" bIns="0" rtlCol="0" anchor="ctr"/>
          <a:lstStyle/>
          <a:p>
            <a:pPr marL="0" indent="0">
              <a:buNone/>
            </a:pPr>
            <a:r>
              <a:rPr lang="en-US" sz="1000" b="1" dirty="0">
                <a:solidFill>
                  <a:srgbClr val="12202E"/>
                </a:solidFill>
                <a:latin typeface="Calibri" pitchFamily="34" charset="0"/>
                <a:ea typeface="Calibri" pitchFamily="34" charset="-122"/>
                <a:cs typeface="Calibri" pitchFamily="34" charset="-120"/>
              </a:rPr>
              <a:t>R8</a:t>
            </a:r>
            <a:endParaRPr lang="en-US" sz="1000" dirty="0"/>
          </a:p>
        </p:txBody>
      </p:sp>
      <p:sp>
        <p:nvSpPr>
          <p:cNvPr id="54" name="Text 52"/>
          <p:cNvSpPr/>
          <p:nvPr/>
        </p:nvSpPr>
        <p:spPr>
          <a:xfrm>
            <a:off x="1527048" y="5632704"/>
            <a:ext cx="7132320" cy="292608"/>
          </a:xfrm>
          <a:prstGeom prst="rect">
            <a:avLst/>
          </a:prstGeom>
          <a:noFill/>
          <a:ln/>
        </p:spPr>
        <p:txBody>
          <a:bodyPr wrap="square" lIns="0" tIns="0" rIns="0" bIns="0" rtlCol="0" anchor="ctr"/>
          <a:lstStyle/>
          <a:p>
            <a:pPr marL="0" indent="0">
              <a:buNone/>
            </a:pPr>
            <a:r>
              <a:rPr lang="en-US" sz="1000" dirty="0">
                <a:solidFill>
                  <a:srgbClr val="12202E"/>
                </a:solidFill>
                <a:latin typeface="Calibri" pitchFamily="34" charset="0"/>
                <a:ea typeface="Calibri" pitchFamily="34" charset="-122"/>
                <a:cs typeface="Calibri" pitchFamily="34" charset="-120"/>
              </a:rPr>
              <a:t>catch-all</a:t>
            </a:r>
            <a:endParaRPr lang="en-US" sz="1000" dirty="0"/>
          </a:p>
        </p:txBody>
      </p:sp>
      <p:sp>
        <p:nvSpPr>
          <p:cNvPr id="55" name="Text 53"/>
          <p:cNvSpPr/>
          <p:nvPr/>
        </p:nvSpPr>
        <p:spPr>
          <a:xfrm>
            <a:off x="8796528" y="5632704"/>
            <a:ext cx="2788920" cy="292608"/>
          </a:xfrm>
          <a:prstGeom prst="rect">
            <a:avLst/>
          </a:prstGeom>
          <a:noFill/>
          <a:ln/>
        </p:spPr>
        <p:txBody>
          <a:bodyPr wrap="square" lIns="0" tIns="0" rIns="0" bIns="0" rtlCol="0" anchor="ctr"/>
          <a:lstStyle/>
          <a:p>
            <a:pPr marL="0" indent="0">
              <a:buNone/>
            </a:pPr>
            <a:r>
              <a:rPr lang="en-US" sz="950" dirty="0">
                <a:solidFill>
                  <a:srgbClr val="5D7186"/>
                </a:solidFill>
                <a:latin typeface="Calibri" pitchFamily="34" charset="0"/>
                <a:ea typeface="Calibri" pitchFamily="34" charset="-122"/>
                <a:cs typeface="Calibri" pitchFamily="34" charset="-120"/>
              </a:rPr>
              <a:t>—</a:t>
            </a:r>
            <a:endParaRPr lang="en-US" sz="950" dirty="0"/>
          </a:p>
        </p:txBody>
      </p:sp>
      <p:sp>
        <p:nvSpPr>
          <p:cNvPr id="56" name="Shape 54"/>
          <p:cNvSpPr/>
          <p:nvPr/>
        </p:nvSpPr>
        <p:spPr>
          <a:xfrm>
            <a:off x="566928" y="5971032"/>
            <a:ext cx="73152" cy="292608"/>
          </a:xfrm>
          <a:prstGeom prst="rect">
            <a:avLst/>
          </a:prstGeom>
          <a:solidFill>
            <a:srgbClr val="5D7186"/>
          </a:solidFill>
          <a:ln w="12700">
            <a:solidFill>
              <a:srgbClr val="5D7186"/>
            </a:solidFill>
            <a:prstDash val="solid"/>
          </a:ln>
        </p:spPr>
        <p:txBody>
          <a:bodyPr/>
          <a:lstStyle/>
          <a:p>
            <a:endParaRPr lang="de-CH"/>
          </a:p>
        </p:txBody>
      </p:sp>
      <p:sp>
        <p:nvSpPr>
          <p:cNvPr id="57" name="Text 55"/>
          <p:cNvSpPr/>
          <p:nvPr/>
        </p:nvSpPr>
        <p:spPr>
          <a:xfrm>
            <a:off x="768096" y="5971032"/>
            <a:ext cx="731520" cy="292608"/>
          </a:xfrm>
          <a:prstGeom prst="rect">
            <a:avLst/>
          </a:prstGeom>
          <a:noFill/>
          <a:ln/>
        </p:spPr>
        <p:txBody>
          <a:bodyPr wrap="square" lIns="0" tIns="0" rIns="0" bIns="0" rtlCol="0" anchor="ctr"/>
          <a:lstStyle/>
          <a:p>
            <a:pPr marL="0" indent="0">
              <a:buNone/>
            </a:pPr>
            <a:r>
              <a:rPr lang="en-US" sz="1000" b="1" dirty="0">
                <a:solidFill>
                  <a:srgbClr val="12202E"/>
                </a:solidFill>
                <a:latin typeface="Calibri" pitchFamily="34" charset="0"/>
                <a:ea typeface="Calibri" pitchFamily="34" charset="-122"/>
                <a:cs typeface="Calibri" pitchFamily="34" charset="-120"/>
              </a:rPr>
              <a:t>I1–I5</a:t>
            </a:r>
            <a:endParaRPr lang="en-US" sz="1000" dirty="0"/>
          </a:p>
        </p:txBody>
      </p:sp>
      <p:sp>
        <p:nvSpPr>
          <p:cNvPr id="58" name="Text 56"/>
          <p:cNvSpPr/>
          <p:nvPr/>
        </p:nvSpPr>
        <p:spPr>
          <a:xfrm>
            <a:off x="1527048" y="5971032"/>
            <a:ext cx="7132320" cy="292608"/>
          </a:xfrm>
          <a:prstGeom prst="rect">
            <a:avLst/>
          </a:prstGeom>
          <a:noFill/>
          <a:ln/>
        </p:spPr>
        <p:txBody>
          <a:bodyPr wrap="square" lIns="0" tIns="0" rIns="0" bIns="0" rtlCol="0" anchor="ctr"/>
          <a:lstStyle/>
          <a:p>
            <a:pPr marL="0" indent="0">
              <a:buNone/>
            </a:pPr>
            <a:r>
              <a:rPr lang="en-US" sz="1000" dirty="0">
                <a:solidFill>
                  <a:srgbClr val="12202E"/>
                </a:solidFill>
                <a:latin typeface="Calibri" pitchFamily="34" charset="0"/>
                <a:ea typeface="Calibri" pitchFamily="34" charset="-122"/>
                <a:cs typeface="Calibri" pitchFamily="34" charset="-120"/>
              </a:rPr>
              <a:t>risk factors · medication · smoking · scab · high-risk procedure</a:t>
            </a:r>
            <a:endParaRPr lang="en-US" sz="1000" dirty="0"/>
          </a:p>
        </p:txBody>
      </p:sp>
      <p:sp>
        <p:nvSpPr>
          <p:cNvPr id="59" name="Text 57"/>
          <p:cNvSpPr/>
          <p:nvPr/>
        </p:nvSpPr>
        <p:spPr>
          <a:xfrm>
            <a:off x="8796528" y="5971032"/>
            <a:ext cx="2788920" cy="292608"/>
          </a:xfrm>
          <a:prstGeom prst="rect">
            <a:avLst/>
          </a:prstGeom>
          <a:noFill/>
          <a:ln/>
        </p:spPr>
        <p:txBody>
          <a:bodyPr wrap="square" lIns="0" tIns="0" rIns="0" bIns="0" rtlCol="0" anchor="ctr"/>
          <a:lstStyle/>
          <a:p>
            <a:pPr marL="0" indent="0">
              <a:buNone/>
            </a:pPr>
            <a:r>
              <a:rPr lang="en-US" sz="950" dirty="0">
                <a:solidFill>
                  <a:srgbClr val="5D7186"/>
                </a:solidFill>
                <a:latin typeface="Calibri" pitchFamily="34" charset="0"/>
                <a:ea typeface="Calibri" pitchFamily="34" charset="-122"/>
                <a:cs typeface="Calibri" pitchFamily="34" charset="-120"/>
              </a:rPr>
              <a:t>non-exclusive</a:t>
            </a:r>
            <a:endParaRPr lang="en-US" sz="950" dirty="0"/>
          </a:p>
        </p:txBody>
      </p:sp>
      <p:sp>
        <p:nvSpPr>
          <p:cNvPr id="61" name="Text 11">
            <a:extLst>
              <a:ext uri="{FF2B5EF4-FFF2-40B4-BE49-F238E27FC236}">
                <a16:creationId xmlns:a16="http://schemas.microsoft.com/office/drawing/2014/main" id="{92BFED29-40F2-CF9D-B07E-663FA368432F}"/>
              </a:ext>
            </a:extLst>
          </p:cNvPr>
          <p:cNvSpPr/>
          <p:nvPr/>
        </p:nvSpPr>
        <p:spPr>
          <a:xfrm>
            <a:off x="57709" y="6568124"/>
            <a:ext cx="8229600" cy="274320"/>
          </a:xfrm>
          <a:prstGeom prst="rect">
            <a:avLst/>
          </a:prstGeom>
          <a:noFill/>
          <a:ln/>
        </p:spPr>
        <p:txBody>
          <a:bodyPr wrap="square" lIns="0" tIns="0" rIns="0" bIns="0" rtlCol="0" anchor="ctr"/>
          <a:lstStyle/>
          <a:p>
            <a:pPr marL="0" indent="0">
              <a:buNone/>
            </a:pPr>
            <a:r>
              <a:rPr lang="en-US" sz="900">
                <a:solidFill>
                  <a:srgbClr val="8FA3B8"/>
                </a:solidFill>
                <a:latin typeface="Calibri" pitchFamily="34" charset="0"/>
                <a:ea typeface="Calibri" pitchFamily="34" charset="-122"/>
                <a:cs typeface="Calibri" pitchFamily="34" charset="-120"/>
              </a:rPr>
              <a:t>FHNW  ·  MSc Medical Informatics  ·  Clinical Decision Support Systems 2026</a:t>
            </a:r>
            <a:endParaRPr lang="en-US" sz="900"/>
          </a:p>
        </p:txBody>
      </p:sp>
      <p:pic>
        <p:nvPicPr>
          <p:cNvPr id="63" name="Grafik 62">
            <a:extLst>
              <a:ext uri="{FF2B5EF4-FFF2-40B4-BE49-F238E27FC236}">
                <a16:creationId xmlns:a16="http://schemas.microsoft.com/office/drawing/2014/main" id="{8EAB5C64-4040-E6C8-D6EE-C7062626CFF1}"/>
              </a:ext>
            </a:extLst>
          </p:cNvPr>
          <p:cNvPicPr>
            <a:picLocks noChangeAspect="1"/>
          </p:cNvPicPr>
          <p:nvPr/>
        </p:nvPicPr>
        <p:blipFill>
          <a:blip r:embed="rId3">
            <a:duotone>
              <a:schemeClr val="accent3">
                <a:shade val="45000"/>
                <a:satMod val="135000"/>
              </a:schemeClr>
              <a:prstClr val="white"/>
            </a:duotone>
          </a:blip>
          <a:stretch>
            <a:fillRect/>
          </a:stretch>
        </p:blipFill>
        <p:spPr>
          <a:xfrm>
            <a:off x="57709" y="47504"/>
            <a:ext cx="1012490" cy="23624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7680960" cy="219456"/>
          </a:xfrm>
          <a:prstGeom prst="rect">
            <a:avLst/>
          </a:prstGeom>
          <a:noFill/>
          <a:ln/>
        </p:spPr>
        <p:txBody>
          <a:bodyPr wrap="square" lIns="0" tIns="0" rIns="0" bIns="0" rtlCol="0" anchor="ctr"/>
          <a:lstStyle/>
          <a:p>
            <a:pPr marL="0" indent="0">
              <a:buNone/>
            </a:pPr>
            <a:r>
              <a:rPr lang="en-US" sz="1050" b="1" kern="0" spc="160" dirty="0">
                <a:solidFill>
                  <a:srgbClr val="5D7186"/>
                </a:solidFill>
                <a:latin typeface="Calibri" pitchFamily="34" charset="0"/>
                <a:ea typeface="Calibri" pitchFamily="34" charset="-122"/>
                <a:cs typeface="Calibri" pitchFamily="34" charset="-120"/>
              </a:rPr>
              <a:t>BACKUP · QA</a:t>
            </a:r>
            <a:endParaRPr lang="en-US" sz="1050" dirty="0"/>
          </a:p>
        </p:txBody>
      </p:sp>
      <p:sp>
        <p:nvSpPr>
          <p:cNvPr id="3" name="Text 1"/>
          <p:cNvSpPr/>
          <p:nvPr/>
        </p:nvSpPr>
        <p:spPr>
          <a:xfrm>
            <a:off x="566928" y="640080"/>
            <a:ext cx="10607040" cy="658368"/>
          </a:xfrm>
          <a:prstGeom prst="rect">
            <a:avLst/>
          </a:prstGeom>
          <a:noFill/>
          <a:ln/>
        </p:spPr>
        <p:txBody>
          <a:bodyPr wrap="square" lIns="0" tIns="0" rIns="0" bIns="0" rtlCol="0" anchor="t"/>
          <a:lstStyle/>
          <a:p>
            <a:pPr marL="0" indent="0">
              <a:buNone/>
            </a:pPr>
            <a:r>
              <a:rPr lang="en-US" sz="2700" b="1" dirty="0">
                <a:solidFill>
                  <a:srgbClr val="12202E"/>
                </a:solidFill>
                <a:latin typeface="Cambria" pitchFamily="34" charset="0"/>
                <a:ea typeface="Cambria" pitchFamily="34" charset="-122"/>
                <a:cs typeface="Cambria" pitchFamily="34" charset="-120"/>
              </a:rPr>
              <a:t>Test protocol — 19 decision-logic cases, all passing</a:t>
            </a:r>
            <a:endParaRPr lang="en-US" sz="2700" dirty="0"/>
          </a:p>
        </p:txBody>
      </p:sp>
      <p:sp>
        <p:nvSpPr>
          <p:cNvPr id="4" name="Shape 2"/>
          <p:cNvSpPr/>
          <p:nvPr/>
        </p:nvSpPr>
        <p:spPr>
          <a:xfrm>
            <a:off x="566928" y="1572768"/>
            <a:ext cx="5440680" cy="365760"/>
          </a:xfrm>
          <a:prstGeom prst="roundRect">
            <a:avLst>
              <a:gd name="adj" fmla="val 15000"/>
            </a:avLst>
          </a:prstGeom>
          <a:solidFill>
            <a:srgbClr val="F5F7FA"/>
          </a:solidFill>
          <a:ln w="12700">
            <a:solidFill>
              <a:srgbClr val="DDE5EE"/>
            </a:solidFill>
            <a:prstDash val="solid"/>
          </a:ln>
        </p:spPr>
        <p:txBody>
          <a:bodyPr/>
          <a:lstStyle/>
          <a:p>
            <a:endParaRPr lang="de-CH"/>
          </a:p>
        </p:txBody>
      </p:sp>
      <p:sp>
        <p:nvSpPr>
          <p:cNvPr id="5" name="Text 3"/>
          <p:cNvSpPr/>
          <p:nvPr/>
        </p:nvSpPr>
        <p:spPr>
          <a:xfrm>
            <a:off x="713232" y="1572768"/>
            <a:ext cx="548640" cy="365760"/>
          </a:xfrm>
          <a:prstGeom prst="rect">
            <a:avLst/>
          </a:prstGeom>
          <a:noFill/>
          <a:ln/>
        </p:spPr>
        <p:txBody>
          <a:bodyPr wrap="square" lIns="0" tIns="0" rIns="0" bIns="0" rtlCol="0" anchor="ctr"/>
          <a:lstStyle/>
          <a:p>
            <a:pPr marL="0" indent="0">
              <a:buNone/>
            </a:pPr>
            <a:r>
              <a:rPr lang="en-US" sz="1000" b="1" dirty="0">
                <a:solidFill>
                  <a:srgbClr val="12202E"/>
                </a:solidFill>
                <a:latin typeface="Calibri" pitchFamily="34" charset="0"/>
                <a:ea typeface="Calibri" pitchFamily="34" charset="-122"/>
                <a:cs typeface="Calibri" pitchFamily="34" charset="-120"/>
              </a:rPr>
              <a:t>T1</a:t>
            </a:r>
            <a:endParaRPr lang="en-US" sz="1000" dirty="0"/>
          </a:p>
        </p:txBody>
      </p:sp>
      <p:sp>
        <p:nvSpPr>
          <p:cNvPr id="6" name="Text 4"/>
          <p:cNvSpPr/>
          <p:nvPr/>
        </p:nvSpPr>
        <p:spPr>
          <a:xfrm>
            <a:off x="1280160" y="1572768"/>
            <a:ext cx="2743200" cy="365760"/>
          </a:xfrm>
          <a:prstGeom prst="rect">
            <a:avLst/>
          </a:prstGeom>
          <a:noFill/>
          <a:ln/>
        </p:spPr>
        <p:txBody>
          <a:bodyPr wrap="square" lIns="0" tIns="0" rIns="0" bIns="0" rtlCol="0" anchor="ctr"/>
          <a:lstStyle/>
          <a:p>
            <a:pPr marL="0" indent="0">
              <a:buNone/>
            </a:pPr>
            <a:r>
              <a:rPr lang="en-US" sz="950" dirty="0">
                <a:solidFill>
                  <a:srgbClr val="12202E"/>
                </a:solidFill>
                <a:latin typeface="Calibri" pitchFamily="34" charset="0"/>
                <a:ea typeface="Calibri" pitchFamily="34" charset="-122"/>
                <a:cs typeface="Calibri" pitchFamily="34" charset="-120"/>
              </a:rPr>
              <a:t>R1 fever · temp 39.2</a:t>
            </a:r>
            <a:endParaRPr lang="en-US" sz="950" dirty="0"/>
          </a:p>
        </p:txBody>
      </p:sp>
      <p:sp>
        <p:nvSpPr>
          <p:cNvPr id="7" name="Text 5"/>
          <p:cNvSpPr/>
          <p:nvPr/>
        </p:nvSpPr>
        <p:spPr>
          <a:xfrm>
            <a:off x="4059936" y="1572768"/>
            <a:ext cx="1645920" cy="365760"/>
          </a:xfrm>
          <a:prstGeom prst="rect">
            <a:avLst/>
          </a:prstGeom>
          <a:noFill/>
          <a:ln/>
        </p:spPr>
        <p:txBody>
          <a:bodyPr wrap="square" lIns="0" tIns="0" rIns="0" bIns="0" rtlCol="0" anchor="ctr"/>
          <a:lstStyle/>
          <a:p>
            <a:pPr marL="0" indent="0">
              <a:buNone/>
            </a:pPr>
            <a:r>
              <a:rPr lang="en-US" sz="950" dirty="0">
                <a:solidFill>
                  <a:srgbClr val="5D7186"/>
                </a:solidFill>
                <a:latin typeface="Calibri" pitchFamily="34" charset="0"/>
                <a:ea typeface="Calibri" pitchFamily="34" charset="-122"/>
                <a:cs typeface="Calibri" pitchFamily="34" charset="-120"/>
              </a:rPr>
              <a:t>RED (R1)</a:t>
            </a:r>
            <a:endParaRPr lang="en-US" sz="950" dirty="0"/>
          </a:p>
        </p:txBody>
      </p:sp>
      <p:sp>
        <p:nvSpPr>
          <p:cNvPr id="8" name="Text 6"/>
          <p:cNvSpPr/>
          <p:nvPr/>
        </p:nvSpPr>
        <p:spPr>
          <a:xfrm>
            <a:off x="5687568" y="1572768"/>
            <a:ext cx="274320" cy="365760"/>
          </a:xfrm>
          <a:prstGeom prst="rect">
            <a:avLst/>
          </a:prstGeom>
          <a:noFill/>
          <a:ln/>
        </p:spPr>
        <p:txBody>
          <a:bodyPr wrap="square" lIns="0" tIns="0" rIns="0" bIns="0" rtlCol="0" anchor="ctr"/>
          <a:lstStyle/>
          <a:p>
            <a:pPr marL="0" indent="0" algn="ctr">
              <a:buNone/>
            </a:pPr>
            <a:r>
              <a:rPr lang="en-US" sz="1100" b="1" dirty="0">
                <a:solidFill>
                  <a:srgbClr val="1A7F4B"/>
                </a:solidFill>
                <a:latin typeface="Calibri" pitchFamily="34" charset="0"/>
                <a:ea typeface="Calibri" pitchFamily="34" charset="-122"/>
                <a:cs typeface="Calibri" pitchFamily="34" charset="-120"/>
              </a:rPr>
              <a:t>✓</a:t>
            </a:r>
            <a:endParaRPr lang="en-US" sz="1100" dirty="0"/>
          </a:p>
        </p:txBody>
      </p:sp>
      <p:sp>
        <p:nvSpPr>
          <p:cNvPr id="9" name="Shape 7"/>
          <p:cNvSpPr/>
          <p:nvPr/>
        </p:nvSpPr>
        <p:spPr>
          <a:xfrm>
            <a:off x="566928" y="2011680"/>
            <a:ext cx="5440680" cy="365760"/>
          </a:xfrm>
          <a:prstGeom prst="roundRect">
            <a:avLst>
              <a:gd name="adj" fmla="val 15000"/>
            </a:avLst>
          </a:prstGeom>
          <a:solidFill>
            <a:srgbClr val="FFFFFF"/>
          </a:solidFill>
          <a:ln w="12700">
            <a:solidFill>
              <a:srgbClr val="DDE5EE"/>
            </a:solidFill>
            <a:prstDash val="solid"/>
          </a:ln>
        </p:spPr>
        <p:txBody>
          <a:bodyPr/>
          <a:lstStyle/>
          <a:p>
            <a:endParaRPr lang="de-CH"/>
          </a:p>
        </p:txBody>
      </p:sp>
      <p:sp>
        <p:nvSpPr>
          <p:cNvPr id="10" name="Text 8"/>
          <p:cNvSpPr/>
          <p:nvPr/>
        </p:nvSpPr>
        <p:spPr>
          <a:xfrm>
            <a:off x="713232" y="2011680"/>
            <a:ext cx="548640" cy="365760"/>
          </a:xfrm>
          <a:prstGeom prst="rect">
            <a:avLst/>
          </a:prstGeom>
          <a:noFill/>
          <a:ln/>
        </p:spPr>
        <p:txBody>
          <a:bodyPr wrap="square" lIns="0" tIns="0" rIns="0" bIns="0" rtlCol="0" anchor="ctr"/>
          <a:lstStyle/>
          <a:p>
            <a:pPr marL="0" indent="0">
              <a:buNone/>
            </a:pPr>
            <a:r>
              <a:rPr lang="en-US" sz="1000" b="1" dirty="0">
                <a:solidFill>
                  <a:srgbClr val="12202E"/>
                </a:solidFill>
                <a:latin typeface="Calibri" pitchFamily="34" charset="0"/>
                <a:ea typeface="Calibri" pitchFamily="34" charset="-122"/>
                <a:cs typeface="Calibri" pitchFamily="34" charset="-120"/>
              </a:rPr>
              <a:t>T2</a:t>
            </a:r>
            <a:endParaRPr lang="en-US" sz="1000" dirty="0"/>
          </a:p>
        </p:txBody>
      </p:sp>
      <p:sp>
        <p:nvSpPr>
          <p:cNvPr id="11" name="Text 9"/>
          <p:cNvSpPr/>
          <p:nvPr/>
        </p:nvSpPr>
        <p:spPr>
          <a:xfrm>
            <a:off x="1280160" y="2011680"/>
            <a:ext cx="2743200" cy="365760"/>
          </a:xfrm>
          <a:prstGeom prst="rect">
            <a:avLst/>
          </a:prstGeom>
          <a:noFill/>
          <a:ln/>
        </p:spPr>
        <p:txBody>
          <a:bodyPr wrap="square" lIns="0" tIns="0" rIns="0" bIns="0" rtlCol="0" anchor="ctr"/>
          <a:lstStyle/>
          <a:p>
            <a:pPr marL="0" indent="0">
              <a:buNone/>
            </a:pPr>
            <a:r>
              <a:rPr lang="en-US" sz="950" dirty="0">
                <a:solidFill>
                  <a:srgbClr val="12202E"/>
                </a:solidFill>
                <a:latin typeface="Calibri" pitchFamily="34" charset="0"/>
                <a:ea typeface="Calibri" pitchFamily="34" charset="-122"/>
                <a:cs typeface="Calibri" pitchFamily="34" charset="-120"/>
              </a:rPr>
              <a:t>R1 boundary · temp 39.0</a:t>
            </a:r>
            <a:endParaRPr lang="en-US" sz="950" dirty="0"/>
          </a:p>
        </p:txBody>
      </p:sp>
      <p:sp>
        <p:nvSpPr>
          <p:cNvPr id="12" name="Text 10"/>
          <p:cNvSpPr/>
          <p:nvPr/>
        </p:nvSpPr>
        <p:spPr>
          <a:xfrm>
            <a:off x="4059936" y="2011680"/>
            <a:ext cx="1645920" cy="365760"/>
          </a:xfrm>
          <a:prstGeom prst="rect">
            <a:avLst/>
          </a:prstGeom>
          <a:noFill/>
          <a:ln/>
        </p:spPr>
        <p:txBody>
          <a:bodyPr wrap="square" lIns="0" tIns="0" rIns="0" bIns="0" rtlCol="0" anchor="ctr"/>
          <a:lstStyle/>
          <a:p>
            <a:pPr marL="0" indent="0">
              <a:buNone/>
            </a:pPr>
            <a:r>
              <a:rPr lang="en-US" sz="950" dirty="0">
                <a:solidFill>
                  <a:srgbClr val="5D7186"/>
                </a:solidFill>
                <a:latin typeface="Calibri" pitchFamily="34" charset="0"/>
                <a:ea typeface="Calibri" pitchFamily="34" charset="-122"/>
                <a:cs typeface="Calibri" pitchFamily="34" charset="-120"/>
              </a:rPr>
              <a:t>RED — inclusive</a:t>
            </a:r>
            <a:endParaRPr lang="en-US" sz="950" dirty="0"/>
          </a:p>
        </p:txBody>
      </p:sp>
      <p:sp>
        <p:nvSpPr>
          <p:cNvPr id="13" name="Text 11"/>
          <p:cNvSpPr/>
          <p:nvPr/>
        </p:nvSpPr>
        <p:spPr>
          <a:xfrm>
            <a:off x="5687568" y="2011680"/>
            <a:ext cx="274320" cy="365760"/>
          </a:xfrm>
          <a:prstGeom prst="rect">
            <a:avLst/>
          </a:prstGeom>
          <a:noFill/>
          <a:ln/>
        </p:spPr>
        <p:txBody>
          <a:bodyPr wrap="square" lIns="0" tIns="0" rIns="0" bIns="0" rtlCol="0" anchor="ctr"/>
          <a:lstStyle/>
          <a:p>
            <a:pPr marL="0" indent="0" algn="ctr">
              <a:buNone/>
            </a:pPr>
            <a:r>
              <a:rPr lang="en-US" sz="1100" b="1" dirty="0">
                <a:solidFill>
                  <a:srgbClr val="1A7F4B"/>
                </a:solidFill>
                <a:latin typeface="Calibri" pitchFamily="34" charset="0"/>
                <a:ea typeface="Calibri" pitchFamily="34" charset="-122"/>
                <a:cs typeface="Calibri" pitchFamily="34" charset="-120"/>
              </a:rPr>
              <a:t>✓</a:t>
            </a:r>
            <a:endParaRPr lang="en-US" sz="1100" dirty="0"/>
          </a:p>
        </p:txBody>
      </p:sp>
      <p:sp>
        <p:nvSpPr>
          <p:cNvPr id="14" name="Shape 12"/>
          <p:cNvSpPr/>
          <p:nvPr/>
        </p:nvSpPr>
        <p:spPr>
          <a:xfrm>
            <a:off x="566928" y="2450592"/>
            <a:ext cx="5440680" cy="365760"/>
          </a:xfrm>
          <a:prstGeom prst="roundRect">
            <a:avLst>
              <a:gd name="adj" fmla="val 15000"/>
            </a:avLst>
          </a:prstGeom>
          <a:solidFill>
            <a:srgbClr val="F5F7FA"/>
          </a:solidFill>
          <a:ln w="12700">
            <a:solidFill>
              <a:srgbClr val="DDE5EE"/>
            </a:solidFill>
            <a:prstDash val="solid"/>
          </a:ln>
        </p:spPr>
        <p:txBody>
          <a:bodyPr/>
          <a:lstStyle/>
          <a:p>
            <a:endParaRPr lang="de-CH"/>
          </a:p>
        </p:txBody>
      </p:sp>
      <p:sp>
        <p:nvSpPr>
          <p:cNvPr id="15" name="Text 13"/>
          <p:cNvSpPr/>
          <p:nvPr/>
        </p:nvSpPr>
        <p:spPr>
          <a:xfrm>
            <a:off x="713232" y="2450592"/>
            <a:ext cx="548640" cy="365760"/>
          </a:xfrm>
          <a:prstGeom prst="rect">
            <a:avLst/>
          </a:prstGeom>
          <a:noFill/>
          <a:ln/>
        </p:spPr>
        <p:txBody>
          <a:bodyPr wrap="square" lIns="0" tIns="0" rIns="0" bIns="0" rtlCol="0" anchor="ctr"/>
          <a:lstStyle/>
          <a:p>
            <a:pPr marL="0" indent="0">
              <a:buNone/>
            </a:pPr>
            <a:r>
              <a:rPr lang="en-US" sz="1000" b="1" dirty="0">
                <a:solidFill>
                  <a:srgbClr val="12202E"/>
                </a:solidFill>
                <a:latin typeface="Calibri" pitchFamily="34" charset="0"/>
                <a:ea typeface="Calibri" pitchFamily="34" charset="-122"/>
                <a:cs typeface="Calibri" pitchFamily="34" charset="-120"/>
              </a:rPr>
              <a:t>T3</a:t>
            </a:r>
            <a:endParaRPr lang="en-US" sz="1000" dirty="0"/>
          </a:p>
        </p:txBody>
      </p:sp>
      <p:sp>
        <p:nvSpPr>
          <p:cNvPr id="16" name="Text 14"/>
          <p:cNvSpPr/>
          <p:nvPr/>
        </p:nvSpPr>
        <p:spPr>
          <a:xfrm>
            <a:off x="1280160" y="2450592"/>
            <a:ext cx="2743200" cy="365760"/>
          </a:xfrm>
          <a:prstGeom prst="rect">
            <a:avLst/>
          </a:prstGeom>
          <a:noFill/>
          <a:ln/>
        </p:spPr>
        <p:txBody>
          <a:bodyPr wrap="square" lIns="0" tIns="0" rIns="0" bIns="0" rtlCol="0" anchor="ctr"/>
          <a:lstStyle/>
          <a:p>
            <a:pPr marL="0" indent="0">
              <a:buNone/>
            </a:pPr>
            <a:r>
              <a:rPr lang="en-US" sz="950" dirty="0">
                <a:solidFill>
                  <a:srgbClr val="12202E"/>
                </a:solidFill>
                <a:latin typeface="Calibri" pitchFamily="34" charset="0"/>
                <a:ea typeface="Calibri" pitchFamily="34" charset="-122"/>
                <a:cs typeface="Calibri" pitchFamily="34" charset="-120"/>
              </a:rPr>
              <a:t>R3 safety · image “open/pus” alone</a:t>
            </a:r>
            <a:endParaRPr lang="en-US" sz="950" dirty="0"/>
          </a:p>
        </p:txBody>
      </p:sp>
      <p:sp>
        <p:nvSpPr>
          <p:cNvPr id="17" name="Text 15"/>
          <p:cNvSpPr/>
          <p:nvPr/>
        </p:nvSpPr>
        <p:spPr>
          <a:xfrm>
            <a:off x="4059936" y="2450592"/>
            <a:ext cx="1645920" cy="365760"/>
          </a:xfrm>
          <a:prstGeom prst="rect">
            <a:avLst/>
          </a:prstGeom>
          <a:noFill/>
          <a:ln/>
        </p:spPr>
        <p:txBody>
          <a:bodyPr wrap="square" lIns="0" tIns="0" rIns="0" bIns="0" rtlCol="0" anchor="ctr"/>
          <a:lstStyle/>
          <a:p>
            <a:pPr marL="0" indent="0">
              <a:buNone/>
            </a:pPr>
            <a:r>
              <a:rPr lang="en-US" sz="950" dirty="0">
                <a:solidFill>
                  <a:srgbClr val="5D7186"/>
                </a:solidFill>
                <a:latin typeface="Calibri" pitchFamily="34" charset="0"/>
                <a:ea typeface="Calibri" pitchFamily="34" charset="-122"/>
                <a:cs typeface="Calibri" pitchFamily="34" charset="-120"/>
              </a:rPr>
              <a:t>RED (R3)</a:t>
            </a:r>
            <a:endParaRPr lang="en-US" sz="950" dirty="0"/>
          </a:p>
        </p:txBody>
      </p:sp>
      <p:sp>
        <p:nvSpPr>
          <p:cNvPr id="18" name="Text 16"/>
          <p:cNvSpPr/>
          <p:nvPr/>
        </p:nvSpPr>
        <p:spPr>
          <a:xfrm>
            <a:off x="5687568" y="2450592"/>
            <a:ext cx="274320" cy="365760"/>
          </a:xfrm>
          <a:prstGeom prst="rect">
            <a:avLst/>
          </a:prstGeom>
          <a:noFill/>
          <a:ln/>
        </p:spPr>
        <p:txBody>
          <a:bodyPr wrap="square" lIns="0" tIns="0" rIns="0" bIns="0" rtlCol="0" anchor="ctr"/>
          <a:lstStyle/>
          <a:p>
            <a:pPr marL="0" indent="0" algn="ctr">
              <a:buNone/>
            </a:pPr>
            <a:r>
              <a:rPr lang="en-US" sz="1100" b="1" dirty="0">
                <a:solidFill>
                  <a:srgbClr val="1A7F4B"/>
                </a:solidFill>
                <a:latin typeface="Calibri" pitchFamily="34" charset="0"/>
                <a:ea typeface="Calibri" pitchFamily="34" charset="-122"/>
                <a:cs typeface="Calibri" pitchFamily="34" charset="-120"/>
              </a:rPr>
              <a:t>✓</a:t>
            </a:r>
            <a:endParaRPr lang="en-US" sz="1100" dirty="0"/>
          </a:p>
        </p:txBody>
      </p:sp>
      <p:sp>
        <p:nvSpPr>
          <p:cNvPr id="19" name="Shape 17"/>
          <p:cNvSpPr/>
          <p:nvPr/>
        </p:nvSpPr>
        <p:spPr>
          <a:xfrm>
            <a:off x="566928" y="2889504"/>
            <a:ext cx="5440680" cy="365760"/>
          </a:xfrm>
          <a:prstGeom prst="roundRect">
            <a:avLst>
              <a:gd name="adj" fmla="val 15000"/>
            </a:avLst>
          </a:prstGeom>
          <a:solidFill>
            <a:srgbClr val="FFFFFF"/>
          </a:solidFill>
          <a:ln w="12700">
            <a:solidFill>
              <a:srgbClr val="DDE5EE"/>
            </a:solidFill>
            <a:prstDash val="solid"/>
          </a:ln>
        </p:spPr>
        <p:txBody>
          <a:bodyPr/>
          <a:lstStyle/>
          <a:p>
            <a:endParaRPr lang="de-CH"/>
          </a:p>
        </p:txBody>
      </p:sp>
      <p:sp>
        <p:nvSpPr>
          <p:cNvPr id="20" name="Text 18"/>
          <p:cNvSpPr/>
          <p:nvPr/>
        </p:nvSpPr>
        <p:spPr>
          <a:xfrm>
            <a:off x="713232" y="2889504"/>
            <a:ext cx="548640" cy="365760"/>
          </a:xfrm>
          <a:prstGeom prst="rect">
            <a:avLst/>
          </a:prstGeom>
          <a:noFill/>
          <a:ln/>
        </p:spPr>
        <p:txBody>
          <a:bodyPr wrap="square" lIns="0" tIns="0" rIns="0" bIns="0" rtlCol="0" anchor="ctr"/>
          <a:lstStyle/>
          <a:p>
            <a:pPr marL="0" indent="0">
              <a:buNone/>
            </a:pPr>
            <a:r>
              <a:rPr lang="en-US" sz="1000" b="1" dirty="0">
                <a:solidFill>
                  <a:srgbClr val="12202E"/>
                </a:solidFill>
                <a:latin typeface="Calibri" pitchFamily="34" charset="0"/>
                <a:ea typeface="Calibri" pitchFamily="34" charset="-122"/>
                <a:cs typeface="Calibri" pitchFamily="34" charset="-120"/>
              </a:rPr>
              <a:t>T4</a:t>
            </a:r>
            <a:endParaRPr lang="en-US" sz="1000" dirty="0"/>
          </a:p>
        </p:txBody>
      </p:sp>
      <p:sp>
        <p:nvSpPr>
          <p:cNvPr id="21" name="Text 19"/>
          <p:cNvSpPr/>
          <p:nvPr/>
        </p:nvSpPr>
        <p:spPr>
          <a:xfrm>
            <a:off x="1280160" y="2889504"/>
            <a:ext cx="2743200" cy="365760"/>
          </a:xfrm>
          <a:prstGeom prst="rect">
            <a:avLst/>
          </a:prstGeom>
          <a:noFill/>
          <a:ln/>
        </p:spPr>
        <p:txBody>
          <a:bodyPr wrap="square" lIns="0" tIns="0" rIns="0" bIns="0" rtlCol="0" anchor="ctr"/>
          <a:lstStyle/>
          <a:p>
            <a:pPr marL="0" indent="0">
              <a:buNone/>
            </a:pPr>
            <a:r>
              <a:rPr lang="en-US" sz="950" dirty="0">
                <a:solidFill>
                  <a:srgbClr val="12202E"/>
                </a:solidFill>
                <a:latin typeface="Calibri" pitchFamily="34" charset="0"/>
                <a:ea typeface="Calibri" pitchFamily="34" charset="-122"/>
                <a:cs typeface="Calibri" pitchFamily="34" charset="-120"/>
              </a:rPr>
              <a:t>R5 before R6</a:t>
            </a:r>
            <a:endParaRPr lang="en-US" sz="950" dirty="0"/>
          </a:p>
        </p:txBody>
      </p:sp>
      <p:sp>
        <p:nvSpPr>
          <p:cNvPr id="22" name="Text 20"/>
          <p:cNvSpPr/>
          <p:nvPr/>
        </p:nvSpPr>
        <p:spPr>
          <a:xfrm>
            <a:off x="4059936" y="2889504"/>
            <a:ext cx="1645920" cy="365760"/>
          </a:xfrm>
          <a:prstGeom prst="rect">
            <a:avLst/>
          </a:prstGeom>
          <a:noFill/>
          <a:ln/>
        </p:spPr>
        <p:txBody>
          <a:bodyPr wrap="square" lIns="0" tIns="0" rIns="0" bIns="0" rtlCol="0" anchor="ctr"/>
          <a:lstStyle/>
          <a:p>
            <a:pPr marL="0" indent="0">
              <a:buNone/>
            </a:pPr>
            <a:r>
              <a:rPr lang="en-US" sz="950" dirty="0">
                <a:solidFill>
                  <a:srgbClr val="5D7186"/>
                </a:solidFill>
                <a:latin typeface="Calibri" pitchFamily="34" charset="0"/>
                <a:ea typeface="Calibri" pitchFamily="34" charset="-122"/>
                <a:cs typeface="Calibri" pitchFamily="34" charset="-120"/>
              </a:rPr>
              <a:t>ORANGE (R5)</a:t>
            </a:r>
            <a:endParaRPr lang="en-US" sz="950" dirty="0"/>
          </a:p>
        </p:txBody>
      </p:sp>
      <p:sp>
        <p:nvSpPr>
          <p:cNvPr id="23" name="Text 21"/>
          <p:cNvSpPr/>
          <p:nvPr/>
        </p:nvSpPr>
        <p:spPr>
          <a:xfrm>
            <a:off x="5687568" y="2889504"/>
            <a:ext cx="274320" cy="365760"/>
          </a:xfrm>
          <a:prstGeom prst="rect">
            <a:avLst/>
          </a:prstGeom>
          <a:noFill/>
          <a:ln/>
        </p:spPr>
        <p:txBody>
          <a:bodyPr wrap="square" lIns="0" tIns="0" rIns="0" bIns="0" rtlCol="0" anchor="ctr"/>
          <a:lstStyle/>
          <a:p>
            <a:pPr marL="0" indent="0" algn="ctr">
              <a:buNone/>
            </a:pPr>
            <a:r>
              <a:rPr lang="en-US" sz="1100" b="1" dirty="0">
                <a:solidFill>
                  <a:srgbClr val="1A7F4B"/>
                </a:solidFill>
                <a:latin typeface="Calibri" pitchFamily="34" charset="0"/>
                <a:ea typeface="Calibri" pitchFamily="34" charset="-122"/>
                <a:cs typeface="Calibri" pitchFamily="34" charset="-120"/>
              </a:rPr>
              <a:t>✓</a:t>
            </a:r>
            <a:endParaRPr lang="en-US" sz="1100" dirty="0"/>
          </a:p>
        </p:txBody>
      </p:sp>
      <p:sp>
        <p:nvSpPr>
          <p:cNvPr id="24" name="Shape 22"/>
          <p:cNvSpPr/>
          <p:nvPr/>
        </p:nvSpPr>
        <p:spPr>
          <a:xfrm>
            <a:off x="566928" y="3328416"/>
            <a:ext cx="5440680" cy="365760"/>
          </a:xfrm>
          <a:prstGeom prst="roundRect">
            <a:avLst>
              <a:gd name="adj" fmla="val 15000"/>
            </a:avLst>
          </a:prstGeom>
          <a:solidFill>
            <a:srgbClr val="F5F7FA"/>
          </a:solidFill>
          <a:ln w="12700">
            <a:solidFill>
              <a:srgbClr val="DDE5EE"/>
            </a:solidFill>
            <a:prstDash val="solid"/>
          </a:ln>
        </p:spPr>
        <p:txBody>
          <a:bodyPr/>
          <a:lstStyle/>
          <a:p>
            <a:endParaRPr lang="de-CH"/>
          </a:p>
        </p:txBody>
      </p:sp>
      <p:sp>
        <p:nvSpPr>
          <p:cNvPr id="25" name="Text 23"/>
          <p:cNvSpPr/>
          <p:nvPr/>
        </p:nvSpPr>
        <p:spPr>
          <a:xfrm>
            <a:off x="713232" y="3328416"/>
            <a:ext cx="548640" cy="365760"/>
          </a:xfrm>
          <a:prstGeom prst="rect">
            <a:avLst/>
          </a:prstGeom>
          <a:noFill/>
          <a:ln/>
        </p:spPr>
        <p:txBody>
          <a:bodyPr wrap="square" lIns="0" tIns="0" rIns="0" bIns="0" rtlCol="0" anchor="ctr"/>
          <a:lstStyle/>
          <a:p>
            <a:pPr marL="0" indent="0">
              <a:buNone/>
            </a:pPr>
            <a:r>
              <a:rPr lang="en-US" sz="1000" b="1" dirty="0">
                <a:solidFill>
                  <a:srgbClr val="12202E"/>
                </a:solidFill>
                <a:latin typeface="Calibri" pitchFamily="34" charset="0"/>
                <a:ea typeface="Calibri" pitchFamily="34" charset="-122"/>
                <a:cs typeface="Calibri" pitchFamily="34" charset="-120"/>
              </a:rPr>
              <a:t>T5</a:t>
            </a:r>
            <a:endParaRPr lang="en-US" sz="1000" dirty="0"/>
          </a:p>
        </p:txBody>
      </p:sp>
      <p:sp>
        <p:nvSpPr>
          <p:cNvPr id="26" name="Text 24"/>
          <p:cNvSpPr/>
          <p:nvPr/>
        </p:nvSpPr>
        <p:spPr>
          <a:xfrm>
            <a:off x="1280160" y="3328416"/>
            <a:ext cx="2743200" cy="365760"/>
          </a:xfrm>
          <a:prstGeom prst="rect">
            <a:avLst/>
          </a:prstGeom>
          <a:noFill/>
          <a:ln/>
        </p:spPr>
        <p:txBody>
          <a:bodyPr wrap="square" lIns="0" tIns="0" rIns="0" bIns="0" rtlCol="0" anchor="ctr"/>
          <a:lstStyle/>
          <a:p>
            <a:pPr marL="0" indent="0">
              <a:buNone/>
            </a:pPr>
            <a:r>
              <a:rPr lang="en-US" sz="950" dirty="0">
                <a:solidFill>
                  <a:srgbClr val="12202E"/>
                </a:solidFill>
                <a:latin typeface="Calibri" pitchFamily="34" charset="0"/>
                <a:ea typeface="Calibri" pitchFamily="34" charset="-122"/>
                <a:cs typeface="Calibri" pitchFamily="34" charset="-120"/>
              </a:rPr>
              <a:t>mild signs on day 2</a:t>
            </a:r>
            <a:endParaRPr lang="en-US" sz="950" dirty="0"/>
          </a:p>
        </p:txBody>
      </p:sp>
      <p:sp>
        <p:nvSpPr>
          <p:cNvPr id="27" name="Text 25"/>
          <p:cNvSpPr/>
          <p:nvPr/>
        </p:nvSpPr>
        <p:spPr>
          <a:xfrm>
            <a:off x="4059936" y="3328416"/>
            <a:ext cx="1645920" cy="365760"/>
          </a:xfrm>
          <a:prstGeom prst="rect">
            <a:avLst/>
          </a:prstGeom>
          <a:noFill/>
          <a:ln/>
        </p:spPr>
        <p:txBody>
          <a:bodyPr wrap="square" lIns="0" tIns="0" rIns="0" bIns="0" rtlCol="0" anchor="ctr"/>
          <a:lstStyle/>
          <a:p>
            <a:pPr marL="0" indent="0">
              <a:buNone/>
            </a:pPr>
            <a:r>
              <a:rPr lang="en-US" sz="950" dirty="0">
                <a:solidFill>
                  <a:srgbClr val="5D7186"/>
                </a:solidFill>
                <a:latin typeface="Calibri" pitchFamily="34" charset="0"/>
                <a:ea typeface="Calibri" pitchFamily="34" charset="-122"/>
                <a:cs typeface="Calibri" pitchFamily="34" charset="-120"/>
              </a:rPr>
              <a:t>GREEN</a:t>
            </a:r>
            <a:endParaRPr lang="en-US" sz="950" dirty="0"/>
          </a:p>
        </p:txBody>
      </p:sp>
      <p:sp>
        <p:nvSpPr>
          <p:cNvPr id="28" name="Text 26"/>
          <p:cNvSpPr/>
          <p:nvPr/>
        </p:nvSpPr>
        <p:spPr>
          <a:xfrm>
            <a:off x="5687568" y="3328416"/>
            <a:ext cx="274320" cy="365760"/>
          </a:xfrm>
          <a:prstGeom prst="rect">
            <a:avLst/>
          </a:prstGeom>
          <a:noFill/>
          <a:ln/>
        </p:spPr>
        <p:txBody>
          <a:bodyPr wrap="square" lIns="0" tIns="0" rIns="0" bIns="0" rtlCol="0" anchor="ctr"/>
          <a:lstStyle/>
          <a:p>
            <a:pPr marL="0" indent="0" algn="ctr">
              <a:buNone/>
            </a:pPr>
            <a:r>
              <a:rPr lang="en-US" sz="1100" b="1" dirty="0">
                <a:solidFill>
                  <a:srgbClr val="1A7F4B"/>
                </a:solidFill>
                <a:latin typeface="Calibri" pitchFamily="34" charset="0"/>
                <a:ea typeface="Calibri" pitchFamily="34" charset="-122"/>
                <a:cs typeface="Calibri" pitchFamily="34" charset="-120"/>
              </a:rPr>
              <a:t>✓</a:t>
            </a:r>
            <a:endParaRPr lang="en-US" sz="1100" dirty="0"/>
          </a:p>
        </p:txBody>
      </p:sp>
      <p:sp>
        <p:nvSpPr>
          <p:cNvPr id="29" name="Shape 27"/>
          <p:cNvSpPr/>
          <p:nvPr/>
        </p:nvSpPr>
        <p:spPr>
          <a:xfrm>
            <a:off x="566928" y="3767328"/>
            <a:ext cx="5440680" cy="365760"/>
          </a:xfrm>
          <a:prstGeom prst="roundRect">
            <a:avLst>
              <a:gd name="adj" fmla="val 15000"/>
            </a:avLst>
          </a:prstGeom>
          <a:solidFill>
            <a:srgbClr val="FFFFFF"/>
          </a:solidFill>
          <a:ln w="12700">
            <a:solidFill>
              <a:srgbClr val="DDE5EE"/>
            </a:solidFill>
            <a:prstDash val="solid"/>
          </a:ln>
        </p:spPr>
        <p:txBody>
          <a:bodyPr/>
          <a:lstStyle/>
          <a:p>
            <a:endParaRPr lang="de-CH"/>
          </a:p>
        </p:txBody>
      </p:sp>
      <p:sp>
        <p:nvSpPr>
          <p:cNvPr id="30" name="Text 28"/>
          <p:cNvSpPr/>
          <p:nvPr/>
        </p:nvSpPr>
        <p:spPr>
          <a:xfrm>
            <a:off x="713232" y="3767328"/>
            <a:ext cx="548640" cy="365760"/>
          </a:xfrm>
          <a:prstGeom prst="rect">
            <a:avLst/>
          </a:prstGeom>
          <a:noFill/>
          <a:ln/>
        </p:spPr>
        <p:txBody>
          <a:bodyPr wrap="square" lIns="0" tIns="0" rIns="0" bIns="0" rtlCol="0" anchor="ctr"/>
          <a:lstStyle/>
          <a:p>
            <a:pPr marL="0" indent="0">
              <a:buNone/>
            </a:pPr>
            <a:r>
              <a:rPr lang="en-US" sz="1000" b="1" dirty="0">
                <a:solidFill>
                  <a:srgbClr val="12202E"/>
                </a:solidFill>
                <a:latin typeface="Calibri" pitchFamily="34" charset="0"/>
                <a:ea typeface="Calibri" pitchFamily="34" charset="-122"/>
                <a:cs typeface="Calibri" pitchFamily="34" charset="-120"/>
              </a:rPr>
              <a:t>T6</a:t>
            </a:r>
            <a:endParaRPr lang="en-US" sz="1000" dirty="0"/>
          </a:p>
        </p:txBody>
      </p:sp>
      <p:sp>
        <p:nvSpPr>
          <p:cNvPr id="31" name="Text 29"/>
          <p:cNvSpPr/>
          <p:nvPr/>
        </p:nvSpPr>
        <p:spPr>
          <a:xfrm>
            <a:off x="1280160" y="3767328"/>
            <a:ext cx="2743200" cy="365760"/>
          </a:xfrm>
          <a:prstGeom prst="rect">
            <a:avLst/>
          </a:prstGeom>
          <a:noFill/>
          <a:ln/>
        </p:spPr>
        <p:txBody>
          <a:bodyPr wrap="square" lIns="0" tIns="0" rIns="0" bIns="0" rtlCol="0" anchor="ctr"/>
          <a:lstStyle/>
          <a:p>
            <a:pPr marL="0" indent="0">
              <a:buNone/>
            </a:pPr>
            <a:r>
              <a:rPr lang="en-US" sz="950" dirty="0">
                <a:solidFill>
                  <a:srgbClr val="12202E"/>
                </a:solidFill>
                <a:latin typeface="Calibri" pitchFamily="34" charset="0"/>
                <a:ea typeface="Calibri" pitchFamily="34" charset="-122"/>
                <a:cs typeface="Calibri" pitchFamily="34" charset="-120"/>
              </a:rPr>
              <a:t>conditional logic</a:t>
            </a:r>
            <a:endParaRPr lang="en-US" sz="950" dirty="0"/>
          </a:p>
        </p:txBody>
      </p:sp>
      <p:sp>
        <p:nvSpPr>
          <p:cNvPr id="32" name="Text 30"/>
          <p:cNvSpPr/>
          <p:nvPr/>
        </p:nvSpPr>
        <p:spPr>
          <a:xfrm>
            <a:off x="4059936" y="3767328"/>
            <a:ext cx="1645920" cy="365760"/>
          </a:xfrm>
          <a:prstGeom prst="rect">
            <a:avLst/>
          </a:prstGeom>
          <a:noFill/>
          <a:ln/>
        </p:spPr>
        <p:txBody>
          <a:bodyPr wrap="square" lIns="0" tIns="0" rIns="0" bIns="0" rtlCol="0" anchor="ctr"/>
          <a:lstStyle/>
          <a:p>
            <a:pPr marL="0" indent="0">
              <a:buNone/>
            </a:pPr>
            <a:r>
              <a:rPr lang="en-US" sz="950" dirty="0">
                <a:solidFill>
                  <a:srgbClr val="5D7186"/>
                </a:solidFill>
                <a:latin typeface="Calibri" pitchFamily="34" charset="0"/>
                <a:ea typeface="Calibri" pitchFamily="34" charset="-122"/>
                <a:cs typeface="Calibri" pitchFamily="34" charset="-120"/>
              </a:rPr>
              <a:t>3 follow-ups hidden</a:t>
            </a:r>
            <a:endParaRPr lang="en-US" sz="950" dirty="0"/>
          </a:p>
        </p:txBody>
      </p:sp>
      <p:sp>
        <p:nvSpPr>
          <p:cNvPr id="33" name="Text 31"/>
          <p:cNvSpPr/>
          <p:nvPr/>
        </p:nvSpPr>
        <p:spPr>
          <a:xfrm>
            <a:off x="5687568" y="3767328"/>
            <a:ext cx="274320" cy="365760"/>
          </a:xfrm>
          <a:prstGeom prst="rect">
            <a:avLst/>
          </a:prstGeom>
          <a:noFill/>
          <a:ln/>
        </p:spPr>
        <p:txBody>
          <a:bodyPr wrap="square" lIns="0" tIns="0" rIns="0" bIns="0" rtlCol="0" anchor="ctr"/>
          <a:lstStyle/>
          <a:p>
            <a:pPr marL="0" indent="0" algn="ctr">
              <a:buNone/>
            </a:pPr>
            <a:r>
              <a:rPr lang="en-US" sz="1100" b="1" dirty="0">
                <a:solidFill>
                  <a:srgbClr val="1A7F4B"/>
                </a:solidFill>
                <a:latin typeface="Calibri" pitchFamily="34" charset="0"/>
                <a:ea typeface="Calibri" pitchFamily="34" charset="-122"/>
                <a:cs typeface="Calibri" pitchFamily="34" charset="-120"/>
              </a:rPr>
              <a:t>✓</a:t>
            </a:r>
            <a:endParaRPr lang="en-US" sz="1100" dirty="0"/>
          </a:p>
        </p:txBody>
      </p:sp>
      <p:sp>
        <p:nvSpPr>
          <p:cNvPr id="34" name="Shape 32"/>
          <p:cNvSpPr/>
          <p:nvPr/>
        </p:nvSpPr>
        <p:spPr>
          <a:xfrm>
            <a:off x="566928" y="4206240"/>
            <a:ext cx="5440680" cy="365760"/>
          </a:xfrm>
          <a:prstGeom prst="roundRect">
            <a:avLst>
              <a:gd name="adj" fmla="val 15000"/>
            </a:avLst>
          </a:prstGeom>
          <a:solidFill>
            <a:srgbClr val="F5F7FA"/>
          </a:solidFill>
          <a:ln w="12700">
            <a:solidFill>
              <a:srgbClr val="DDE5EE"/>
            </a:solidFill>
            <a:prstDash val="solid"/>
          </a:ln>
        </p:spPr>
        <p:txBody>
          <a:bodyPr/>
          <a:lstStyle/>
          <a:p>
            <a:endParaRPr lang="de-CH"/>
          </a:p>
        </p:txBody>
      </p:sp>
      <p:sp>
        <p:nvSpPr>
          <p:cNvPr id="35" name="Text 33"/>
          <p:cNvSpPr/>
          <p:nvPr/>
        </p:nvSpPr>
        <p:spPr>
          <a:xfrm>
            <a:off x="713232" y="4206240"/>
            <a:ext cx="548640" cy="365760"/>
          </a:xfrm>
          <a:prstGeom prst="rect">
            <a:avLst/>
          </a:prstGeom>
          <a:noFill/>
          <a:ln/>
        </p:spPr>
        <p:txBody>
          <a:bodyPr wrap="square" lIns="0" tIns="0" rIns="0" bIns="0" rtlCol="0" anchor="ctr"/>
          <a:lstStyle/>
          <a:p>
            <a:pPr marL="0" indent="0">
              <a:buNone/>
            </a:pPr>
            <a:r>
              <a:rPr lang="en-US" sz="1000" b="1" dirty="0">
                <a:solidFill>
                  <a:srgbClr val="12202E"/>
                </a:solidFill>
                <a:latin typeface="Calibri" pitchFamily="34" charset="0"/>
                <a:ea typeface="Calibri" pitchFamily="34" charset="-122"/>
                <a:cs typeface="Calibri" pitchFamily="34" charset="-120"/>
              </a:rPr>
              <a:t>T7</a:t>
            </a:r>
            <a:endParaRPr lang="en-US" sz="1000" dirty="0"/>
          </a:p>
        </p:txBody>
      </p:sp>
      <p:sp>
        <p:nvSpPr>
          <p:cNvPr id="36" name="Text 34"/>
          <p:cNvSpPr/>
          <p:nvPr/>
        </p:nvSpPr>
        <p:spPr>
          <a:xfrm>
            <a:off x="1280160" y="4206240"/>
            <a:ext cx="2743200" cy="365760"/>
          </a:xfrm>
          <a:prstGeom prst="rect">
            <a:avLst/>
          </a:prstGeom>
          <a:noFill/>
          <a:ln/>
        </p:spPr>
        <p:txBody>
          <a:bodyPr wrap="square" lIns="0" tIns="0" rIns="0" bIns="0" rtlCol="0" anchor="ctr"/>
          <a:lstStyle/>
          <a:p>
            <a:pPr marL="0" indent="0">
              <a:buNone/>
            </a:pPr>
            <a:r>
              <a:rPr lang="en-US" sz="950" dirty="0">
                <a:solidFill>
                  <a:srgbClr val="12202E"/>
                </a:solidFill>
                <a:latin typeface="Calibri" pitchFamily="34" charset="0"/>
                <a:ea typeface="Calibri" pitchFamily="34" charset="-122"/>
                <a:cs typeface="Calibri" pitchFamily="34" charset="-120"/>
              </a:rPr>
              <a:t>constraint · temp 45</a:t>
            </a:r>
            <a:endParaRPr lang="en-US" sz="950" dirty="0"/>
          </a:p>
        </p:txBody>
      </p:sp>
      <p:sp>
        <p:nvSpPr>
          <p:cNvPr id="37" name="Text 35"/>
          <p:cNvSpPr/>
          <p:nvPr/>
        </p:nvSpPr>
        <p:spPr>
          <a:xfrm>
            <a:off x="4059936" y="4206240"/>
            <a:ext cx="1645920" cy="365760"/>
          </a:xfrm>
          <a:prstGeom prst="rect">
            <a:avLst/>
          </a:prstGeom>
          <a:noFill/>
          <a:ln/>
        </p:spPr>
        <p:txBody>
          <a:bodyPr wrap="square" lIns="0" tIns="0" rIns="0" bIns="0" rtlCol="0" anchor="ctr"/>
          <a:lstStyle/>
          <a:p>
            <a:pPr marL="0" indent="0">
              <a:buNone/>
            </a:pPr>
            <a:r>
              <a:rPr lang="en-US" sz="950" dirty="0">
                <a:solidFill>
                  <a:srgbClr val="5D7186"/>
                </a:solidFill>
                <a:latin typeface="Calibri" pitchFamily="34" charset="0"/>
                <a:ea typeface="Calibri" pitchFamily="34" charset="-122"/>
                <a:cs typeface="Calibri" pitchFamily="34" charset="-120"/>
              </a:rPr>
              <a:t>input rejected</a:t>
            </a:r>
            <a:endParaRPr lang="en-US" sz="950" dirty="0"/>
          </a:p>
        </p:txBody>
      </p:sp>
      <p:sp>
        <p:nvSpPr>
          <p:cNvPr id="38" name="Text 36"/>
          <p:cNvSpPr/>
          <p:nvPr/>
        </p:nvSpPr>
        <p:spPr>
          <a:xfrm>
            <a:off x="5687568" y="4206240"/>
            <a:ext cx="274320" cy="365760"/>
          </a:xfrm>
          <a:prstGeom prst="rect">
            <a:avLst/>
          </a:prstGeom>
          <a:noFill/>
          <a:ln/>
        </p:spPr>
        <p:txBody>
          <a:bodyPr wrap="square" lIns="0" tIns="0" rIns="0" bIns="0" rtlCol="0" anchor="ctr"/>
          <a:lstStyle/>
          <a:p>
            <a:pPr marL="0" indent="0" algn="ctr">
              <a:buNone/>
            </a:pPr>
            <a:r>
              <a:rPr lang="en-US" sz="1100" b="1" dirty="0">
                <a:solidFill>
                  <a:srgbClr val="1A7F4B"/>
                </a:solidFill>
                <a:latin typeface="Calibri" pitchFamily="34" charset="0"/>
                <a:ea typeface="Calibri" pitchFamily="34" charset="-122"/>
                <a:cs typeface="Calibri" pitchFamily="34" charset="-120"/>
              </a:rPr>
              <a:t>✓</a:t>
            </a:r>
            <a:endParaRPr lang="en-US" sz="1100" dirty="0"/>
          </a:p>
        </p:txBody>
      </p:sp>
      <p:sp>
        <p:nvSpPr>
          <p:cNvPr id="39" name="Shape 37"/>
          <p:cNvSpPr/>
          <p:nvPr/>
        </p:nvSpPr>
        <p:spPr>
          <a:xfrm>
            <a:off x="566928" y="4645152"/>
            <a:ext cx="5440680" cy="365760"/>
          </a:xfrm>
          <a:prstGeom prst="roundRect">
            <a:avLst>
              <a:gd name="adj" fmla="val 15000"/>
            </a:avLst>
          </a:prstGeom>
          <a:solidFill>
            <a:srgbClr val="FFFFFF"/>
          </a:solidFill>
          <a:ln w="12700">
            <a:solidFill>
              <a:srgbClr val="DDE5EE"/>
            </a:solidFill>
            <a:prstDash val="solid"/>
          </a:ln>
        </p:spPr>
        <p:txBody>
          <a:bodyPr/>
          <a:lstStyle/>
          <a:p>
            <a:endParaRPr lang="de-CH"/>
          </a:p>
        </p:txBody>
      </p:sp>
      <p:sp>
        <p:nvSpPr>
          <p:cNvPr id="40" name="Text 38"/>
          <p:cNvSpPr/>
          <p:nvPr/>
        </p:nvSpPr>
        <p:spPr>
          <a:xfrm>
            <a:off x="713232" y="4645152"/>
            <a:ext cx="548640" cy="365760"/>
          </a:xfrm>
          <a:prstGeom prst="rect">
            <a:avLst/>
          </a:prstGeom>
          <a:noFill/>
          <a:ln/>
        </p:spPr>
        <p:txBody>
          <a:bodyPr wrap="square" lIns="0" tIns="0" rIns="0" bIns="0" rtlCol="0" anchor="ctr"/>
          <a:lstStyle/>
          <a:p>
            <a:pPr marL="0" indent="0">
              <a:buNone/>
            </a:pPr>
            <a:r>
              <a:rPr lang="en-US" sz="1000" b="1" dirty="0">
                <a:solidFill>
                  <a:srgbClr val="12202E"/>
                </a:solidFill>
                <a:latin typeface="Calibri" pitchFamily="34" charset="0"/>
                <a:ea typeface="Calibri" pitchFamily="34" charset="-122"/>
                <a:cs typeface="Calibri" pitchFamily="34" charset="-120"/>
              </a:rPr>
              <a:t>T8</a:t>
            </a:r>
            <a:endParaRPr lang="en-US" sz="1000" dirty="0"/>
          </a:p>
        </p:txBody>
      </p:sp>
      <p:sp>
        <p:nvSpPr>
          <p:cNvPr id="41" name="Text 39"/>
          <p:cNvSpPr/>
          <p:nvPr/>
        </p:nvSpPr>
        <p:spPr>
          <a:xfrm>
            <a:off x="1280160" y="4645152"/>
            <a:ext cx="2743200" cy="365760"/>
          </a:xfrm>
          <a:prstGeom prst="rect">
            <a:avLst/>
          </a:prstGeom>
          <a:noFill/>
          <a:ln/>
        </p:spPr>
        <p:txBody>
          <a:bodyPr wrap="square" lIns="0" tIns="0" rIns="0" bIns="0" rtlCol="0" anchor="ctr"/>
          <a:lstStyle/>
          <a:p>
            <a:pPr marL="0" indent="0">
              <a:buNone/>
            </a:pPr>
            <a:r>
              <a:rPr lang="en-US" sz="950" dirty="0">
                <a:solidFill>
                  <a:srgbClr val="12202E"/>
                </a:solidFill>
                <a:latin typeface="Calibri" pitchFamily="34" charset="0"/>
                <a:ea typeface="Calibri" pitchFamily="34" charset="-122"/>
                <a:cs typeface="Calibri" pitchFamily="34" charset="-120"/>
              </a:rPr>
              <a:t>info rules non-exclusive</a:t>
            </a:r>
            <a:endParaRPr lang="en-US" sz="950" dirty="0"/>
          </a:p>
        </p:txBody>
      </p:sp>
      <p:sp>
        <p:nvSpPr>
          <p:cNvPr id="42" name="Text 40"/>
          <p:cNvSpPr/>
          <p:nvPr/>
        </p:nvSpPr>
        <p:spPr>
          <a:xfrm>
            <a:off x="4059936" y="4645152"/>
            <a:ext cx="1645920" cy="365760"/>
          </a:xfrm>
          <a:prstGeom prst="rect">
            <a:avLst/>
          </a:prstGeom>
          <a:noFill/>
          <a:ln/>
        </p:spPr>
        <p:txBody>
          <a:bodyPr wrap="square" lIns="0" tIns="0" rIns="0" bIns="0" rtlCol="0" anchor="ctr"/>
          <a:lstStyle/>
          <a:p>
            <a:pPr marL="0" indent="0">
              <a:buNone/>
            </a:pPr>
            <a:r>
              <a:rPr lang="en-US" sz="950" dirty="0">
                <a:solidFill>
                  <a:srgbClr val="5D7186"/>
                </a:solidFill>
                <a:latin typeface="Calibri" pitchFamily="34" charset="0"/>
                <a:ea typeface="Calibri" pitchFamily="34" charset="-122"/>
                <a:cs typeface="Calibri" pitchFamily="34" charset="-120"/>
              </a:rPr>
              <a:t>GREEN + I1 + I2 + I3</a:t>
            </a:r>
            <a:endParaRPr lang="en-US" sz="950" dirty="0"/>
          </a:p>
        </p:txBody>
      </p:sp>
      <p:sp>
        <p:nvSpPr>
          <p:cNvPr id="43" name="Text 41"/>
          <p:cNvSpPr/>
          <p:nvPr/>
        </p:nvSpPr>
        <p:spPr>
          <a:xfrm>
            <a:off x="5687568" y="4645152"/>
            <a:ext cx="274320" cy="365760"/>
          </a:xfrm>
          <a:prstGeom prst="rect">
            <a:avLst/>
          </a:prstGeom>
          <a:noFill/>
          <a:ln/>
        </p:spPr>
        <p:txBody>
          <a:bodyPr wrap="square" lIns="0" tIns="0" rIns="0" bIns="0" rtlCol="0" anchor="ctr"/>
          <a:lstStyle/>
          <a:p>
            <a:pPr marL="0" indent="0" algn="ctr">
              <a:buNone/>
            </a:pPr>
            <a:r>
              <a:rPr lang="en-US" sz="1100" b="1" dirty="0">
                <a:solidFill>
                  <a:srgbClr val="1A7F4B"/>
                </a:solidFill>
                <a:latin typeface="Calibri" pitchFamily="34" charset="0"/>
                <a:ea typeface="Calibri" pitchFamily="34" charset="-122"/>
                <a:cs typeface="Calibri" pitchFamily="34" charset="-120"/>
              </a:rPr>
              <a:t>✓</a:t>
            </a:r>
            <a:endParaRPr lang="en-US" sz="1100" dirty="0"/>
          </a:p>
        </p:txBody>
      </p:sp>
      <p:sp>
        <p:nvSpPr>
          <p:cNvPr id="44" name="Shape 42"/>
          <p:cNvSpPr/>
          <p:nvPr/>
        </p:nvSpPr>
        <p:spPr>
          <a:xfrm>
            <a:off x="566928" y="5084064"/>
            <a:ext cx="5440680" cy="365760"/>
          </a:xfrm>
          <a:prstGeom prst="roundRect">
            <a:avLst>
              <a:gd name="adj" fmla="val 15000"/>
            </a:avLst>
          </a:prstGeom>
          <a:solidFill>
            <a:srgbClr val="F5F7FA"/>
          </a:solidFill>
          <a:ln w="12700">
            <a:solidFill>
              <a:srgbClr val="DDE5EE"/>
            </a:solidFill>
            <a:prstDash val="solid"/>
          </a:ln>
        </p:spPr>
        <p:txBody>
          <a:bodyPr/>
          <a:lstStyle/>
          <a:p>
            <a:endParaRPr lang="de-CH"/>
          </a:p>
        </p:txBody>
      </p:sp>
      <p:sp>
        <p:nvSpPr>
          <p:cNvPr id="45" name="Text 43"/>
          <p:cNvSpPr/>
          <p:nvPr/>
        </p:nvSpPr>
        <p:spPr>
          <a:xfrm>
            <a:off x="713232" y="5084064"/>
            <a:ext cx="548640" cy="365760"/>
          </a:xfrm>
          <a:prstGeom prst="rect">
            <a:avLst/>
          </a:prstGeom>
          <a:noFill/>
          <a:ln/>
        </p:spPr>
        <p:txBody>
          <a:bodyPr wrap="square" lIns="0" tIns="0" rIns="0" bIns="0" rtlCol="0" anchor="ctr"/>
          <a:lstStyle/>
          <a:p>
            <a:pPr marL="0" indent="0">
              <a:buNone/>
            </a:pPr>
            <a:r>
              <a:rPr lang="en-US" sz="1000" b="1" dirty="0">
                <a:solidFill>
                  <a:srgbClr val="12202E"/>
                </a:solidFill>
                <a:latin typeface="Calibri" pitchFamily="34" charset="0"/>
                <a:ea typeface="Calibri" pitchFamily="34" charset="-122"/>
                <a:cs typeface="Calibri" pitchFamily="34" charset="-120"/>
              </a:rPr>
              <a:t>T9</a:t>
            </a:r>
            <a:endParaRPr lang="en-US" sz="1000" dirty="0"/>
          </a:p>
        </p:txBody>
      </p:sp>
      <p:sp>
        <p:nvSpPr>
          <p:cNvPr id="46" name="Text 44"/>
          <p:cNvSpPr/>
          <p:nvPr/>
        </p:nvSpPr>
        <p:spPr>
          <a:xfrm>
            <a:off x="1280160" y="5084064"/>
            <a:ext cx="2743200" cy="365760"/>
          </a:xfrm>
          <a:prstGeom prst="rect">
            <a:avLst/>
          </a:prstGeom>
          <a:noFill/>
          <a:ln/>
        </p:spPr>
        <p:txBody>
          <a:bodyPr wrap="square" lIns="0" tIns="0" rIns="0" bIns="0" rtlCol="0" anchor="ctr"/>
          <a:lstStyle/>
          <a:p>
            <a:pPr marL="0" indent="0">
              <a:buNone/>
            </a:pPr>
            <a:r>
              <a:rPr lang="en-US" sz="950" dirty="0">
                <a:solidFill>
                  <a:srgbClr val="12202E"/>
                </a:solidFill>
                <a:latin typeface="Calibri" pitchFamily="34" charset="0"/>
                <a:ea typeface="Calibri" pitchFamily="34" charset="-122"/>
                <a:cs typeface="Calibri" pitchFamily="34" charset="-120"/>
              </a:rPr>
              <a:t>scab reassures</a:t>
            </a:r>
            <a:endParaRPr lang="en-US" sz="950" dirty="0"/>
          </a:p>
        </p:txBody>
      </p:sp>
      <p:sp>
        <p:nvSpPr>
          <p:cNvPr id="47" name="Text 45"/>
          <p:cNvSpPr/>
          <p:nvPr/>
        </p:nvSpPr>
        <p:spPr>
          <a:xfrm>
            <a:off x="4059936" y="5084064"/>
            <a:ext cx="1645920" cy="365760"/>
          </a:xfrm>
          <a:prstGeom prst="rect">
            <a:avLst/>
          </a:prstGeom>
          <a:noFill/>
          <a:ln/>
        </p:spPr>
        <p:txBody>
          <a:bodyPr wrap="square" lIns="0" tIns="0" rIns="0" bIns="0" rtlCol="0" anchor="ctr"/>
          <a:lstStyle/>
          <a:p>
            <a:pPr marL="0" indent="0">
              <a:buNone/>
            </a:pPr>
            <a:r>
              <a:rPr lang="en-US" sz="950" dirty="0">
                <a:solidFill>
                  <a:srgbClr val="5D7186"/>
                </a:solidFill>
                <a:latin typeface="Calibri" pitchFamily="34" charset="0"/>
                <a:ea typeface="Calibri" pitchFamily="34" charset="-122"/>
                <a:cs typeface="Calibri" pitchFamily="34" charset="-120"/>
              </a:rPr>
              <a:t>GREEN + I4</a:t>
            </a:r>
            <a:endParaRPr lang="en-US" sz="950" dirty="0"/>
          </a:p>
        </p:txBody>
      </p:sp>
      <p:sp>
        <p:nvSpPr>
          <p:cNvPr id="48" name="Text 46"/>
          <p:cNvSpPr/>
          <p:nvPr/>
        </p:nvSpPr>
        <p:spPr>
          <a:xfrm>
            <a:off x="5687568" y="5084064"/>
            <a:ext cx="274320" cy="365760"/>
          </a:xfrm>
          <a:prstGeom prst="rect">
            <a:avLst/>
          </a:prstGeom>
          <a:noFill/>
          <a:ln/>
        </p:spPr>
        <p:txBody>
          <a:bodyPr wrap="square" lIns="0" tIns="0" rIns="0" bIns="0" rtlCol="0" anchor="ctr"/>
          <a:lstStyle/>
          <a:p>
            <a:pPr marL="0" indent="0" algn="ctr">
              <a:buNone/>
            </a:pPr>
            <a:r>
              <a:rPr lang="en-US" sz="1100" b="1" dirty="0">
                <a:solidFill>
                  <a:srgbClr val="1A7F4B"/>
                </a:solidFill>
                <a:latin typeface="Calibri" pitchFamily="34" charset="0"/>
                <a:ea typeface="Calibri" pitchFamily="34" charset="-122"/>
                <a:cs typeface="Calibri" pitchFamily="34" charset="-120"/>
              </a:rPr>
              <a:t>✓</a:t>
            </a:r>
            <a:endParaRPr lang="en-US" sz="1100" dirty="0"/>
          </a:p>
        </p:txBody>
      </p:sp>
      <p:sp>
        <p:nvSpPr>
          <p:cNvPr id="49" name="Shape 47"/>
          <p:cNvSpPr/>
          <p:nvPr/>
        </p:nvSpPr>
        <p:spPr>
          <a:xfrm>
            <a:off x="566928" y="5522976"/>
            <a:ext cx="5440680" cy="365760"/>
          </a:xfrm>
          <a:prstGeom prst="roundRect">
            <a:avLst>
              <a:gd name="adj" fmla="val 15000"/>
            </a:avLst>
          </a:prstGeom>
          <a:solidFill>
            <a:srgbClr val="FFFFFF"/>
          </a:solidFill>
          <a:ln w="12700">
            <a:solidFill>
              <a:srgbClr val="DDE5EE"/>
            </a:solidFill>
            <a:prstDash val="solid"/>
          </a:ln>
        </p:spPr>
        <p:txBody>
          <a:bodyPr/>
          <a:lstStyle/>
          <a:p>
            <a:endParaRPr lang="de-CH"/>
          </a:p>
        </p:txBody>
      </p:sp>
      <p:sp>
        <p:nvSpPr>
          <p:cNvPr id="50" name="Text 48"/>
          <p:cNvSpPr/>
          <p:nvPr/>
        </p:nvSpPr>
        <p:spPr>
          <a:xfrm>
            <a:off x="713232" y="5522976"/>
            <a:ext cx="548640" cy="365760"/>
          </a:xfrm>
          <a:prstGeom prst="rect">
            <a:avLst/>
          </a:prstGeom>
          <a:noFill/>
          <a:ln/>
        </p:spPr>
        <p:txBody>
          <a:bodyPr wrap="square" lIns="0" tIns="0" rIns="0" bIns="0" rtlCol="0" anchor="ctr"/>
          <a:lstStyle/>
          <a:p>
            <a:pPr marL="0" indent="0">
              <a:buNone/>
            </a:pPr>
            <a:r>
              <a:rPr lang="en-US" sz="1000" b="1" dirty="0">
                <a:solidFill>
                  <a:srgbClr val="12202E"/>
                </a:solidFill>
                <a:latin typeface="Calibri" pitchFamily="34" charset="0"/>
                <a:ea typeface="Calibri" pitchFamily="34" charset="-122"/>
                <a:cs typeface="Calibri" pitchFamily="34" charset="-120"/>
              </a:rPr>
              <a:t>T10</a:t>
            </a:r>
            <a:endParaRPr lang="en-US" sz="1000" dirty="0"/>
          </a:p>
        </p:txBody>
      </p:sp>
      <p:sp>
        <p:nvSpPr>
          <p:cNvPr id="51" name="Text 49"/>
          <p:cNvSpPr/>
          <p:nvPr/>
        </p:nvSpPr>
        <p:spPr>
          <a:xfrm>
            <a:off x="1280160" y="5522976"/>
            <a:ext cx="2743200" cy="365760"/>
          </a:xfrm>
          <a:prstGeom prst="rect">
            <a:avLst/>
          </a:prstGeom>
          <a:noFill/>
          <a:ln/>
        </p:spPr>
        <p:txBody>
          <a:bodyPr wrap="square" lIns="0" tIns="0" rIns="0" bIns="0" rtlCol="0" anchor="ctr"/>
          <a:lstStyle/>
          <a:p>
            <a:pPr marL="0" indent="0">
              <a:buNone/>
            </a:pPr>
            <a:r>
              <a:rPr lang="en-US" sz="950" dirty="0">
                <a:solidFill>
                  <a:srgbClr val="12202E"/>
                </a:solidFill>
                <a:latin typeface="Calibri" pitchFamily="34" charset="0"/>
                <a:ea typeface="Calibri" pitchFamily="34" charset="-122"/>
                <a:cs typeface="Calibri" pitchFamily="34" charset="-120"/>
              </a:rPr>
              <a:t>worst-first vs reassurance</a:t>
            </a:r>
            <a:endParaRPr lang="en-US" sz="950" dirty="0"/>
          </a:p>
        </p:txBody>
      </p:sp>
      <p:sp>
        <p:nvSpPr>
          <p:cNvPr id="52" name="Text 50"/>
          <p:cNvSpPr/>
          <p:nvPr/>
        </p:nvSpPr>
        <p:spPr>
          <a:xfrm>
            <a:off x="4059936" y="5522976"/>
            <a:ext cx="1645920" cy="365760"/>
          </a:xfrm>
          <a:prstGeom prst="rect">
            <a:avLst/>
          </a:prstGeom>
          <a:noFill/>
          <a:ln/>
        </p:spPr>
        <p:txBody>
          <a:bodyPr wrap="square" lIns="0" tIns="0" rIns="0" bIns="0" rtlCol="0" anchor="ctr"/>
          <a:lstStyle/>
          <a:p>
            <a:pPr marL="0" indent="0">
              <a:buNone/>
            </a:pPr>
            <a:r>
              <a:rPr lang="en-US" sz="950" dirty="0">
                <a:solidFill>
                  <a:srgbClr val="5D7186"/>
                </a:solidFill>
                <a:latin typeface="Calibri" pitchFamily="34" charset="0"/>
                <a:ea typeface="Calibri" pitchFamily="34" charset="-122"/>
                <a:cs typeface="Calibri" pitchFamily="34" charset="-120"/>
              </a:rPr>
              <a:t>ORANGE (R4) + I4</a:t>
            </a:r>
            <a:endParaRPr lang="en-US" sz="950" dirty="0"/>
          </a:p>
        </p:txBody>
      </p:sp>
      <p:sp>
        <p:nvSpPr>
          <p:cNvPr id="53" name="Text 51"/>
          <p:cNvSpPr/>
          <p:nvPr/>
        </p:nvSpPr>
        <p:spPr>
          <a:xfrm>
            <a:off x="5687568" y="5522976"/>
            <a:ext cx="274320" cy="365760"/>
          </a:xfrm>
          <a:prstGeom prst="rect">
            <a:avLst/>
          </a:prstGeom>
          <a:noFill/>
          <a:ln/>
        </p:spPr>
        <p:txBody>
          <a:bodyPr wrap="square" lIns="0" tIns="0" rIns="0" bIns="0" rtlCol="0" anchor="ctr"/>
          <a:lstStyle/>
          <a:p>
            <a:pPr marL="0" indent="0" algn="ctr">
              <a:buNone/>
            </a:pPr>
            <a:r>
              <a:rPr lang="en-US" sz="1100" b="1" dirty="0">
                <a:solidFill>
                  <a:srgbClr val="1A7F4B"/>
                </a:solidFill>
                <a:latin typeface="Calibri" pitchFamily="34" charset="0"/>
                <a:ea typeface="Calibri" pitchFamily="34" charset="-122"/>
                <a:cs typeface="Calibri" pitchFamily="34" charset="-120"/>
              </a:rPr>
              <a:t>✓</a:t>
            </a:r>
            <a:endParaRPr lang="en-US" sz="1100" dirty="0"/>
          </a:p>
        </p:txBody>
      </p:sp>
      <p:sp>
        <p:nvSpPr>
          <p:cNvPr id="54" name="Shape 52"/>
          <p:cNvSpPr/>
          <p:nvPr/>
        </p:nvSpPr>
        <p:spPr>
          <a:xfrm>
            <a:off x="6190488" y="1572768"/>
            <a:ext cx="5440680" cy="365760"/>
          </a:xfrm>
          <a:prstGeom prst="roundRect">
            <a:avLst>
              <a:gd name="adj" fmla="val 15000"/>
            </a:avLst>
          </a:prstGeom>
          <a:solidFill>
            <a:srgbClr val="F5F7FA"/>
          </a:solidFill>
          <a:ln w="12700">
            <a:solidFill>
              <a:srgbClr val="DDE5EE"/>
            </a:solidFill>
            <a:prstDash val="solid"/>
          </a:ln>
        </p:spPr>
        <p:txBody>
          <a:bodyPr/>
          <a:lstStyle/>
          <a:p>
            <a:endParaRPr lang="de-CH"/>
          </a:p>
        </p:txBody>
      </p:sp>
      <p:sp>
        <p:nvSpPr>
          <p:cNvPr id="55" name="Text 53"/>
          <p:cNvSpPr/>
          <p:nvPr/>
        </p:nvSpPr>
        <p:spPr>
          <a:xfrm>
            <a:off x="6336792" y="1572768"/>
            <a:ext cx="548640" cy="365760"/>
          </a:xfrm>
          <a:prstGeom prst="rect">
            <a:avLst/>
          </a:prstGeom>
          <a:noFill/>
          <a:ln/>
        </p:spPr>
        <p:txBody>
          <a:bodyPr wrap="square" lIns="0" tIns="0" rIns="0" bIns="0" rtlCol="0" anchor="ctr"/>
          <a:lstStyle/>
          <a:p>
            <a:pPr marL="0" indent="0">
              <a:buNone/>
            </a:pPr>
            <a:r>
              <a:rPr lang="en-US" sz="1000" b="1" dirty="0">
                <a:solidFill>
                  <a:srgbClr val="12202E"/>
                </a:solidFill>
                <a:latin typeface="Calibri" pitchFamily="34" charset="0"/>
                <a:ea typeface="Calibri" pitchFamily="34" charset="-122"/>
                <a:cs typeface="Calibri" pitchFamily="34" charset="-120"/>
              </a:rPr>
              <a:t>T11</a:t>
            </a:r>
            <a:endParaRPr lang="en-US" sz="1000" dirty="0"/>
          </a:p>
        </p:txBody>
      </p:sp>
      <p:sp>
        <p:nvSpPr>
          <p:cNvPr id="56" name="Text 54"/>
          <p:cNvSpPr/>
          <p:nvPr/>
        </p:nvSpPr>
        <p:spPr>
          <a:xfrm>
            <a:off x="6903720" y="1572768"/>
            <a:ext cx="2743200" cy="365760"/>
          </a:xfrm>
          <a:prstGeom prst="rect">
            <a:avLst/>
          </a:prstGeom>
          <a:noFill/>
          <a:ln/>
        </p:spPr>
        <p:txBody>
          <a:bodyPr wrap="square" lIns="0" tIns="0" rIns="0" bIns="0" rtlCol="0" anchor="ctr"/>
          <a:lstStyle/>
          <a:p>
            <a:pPr marL="0" indent="0">
              <a:buNone/>
            </a:pPr>
            <a:r>
              <a:rPr lang="en-US" sz="950" dirty="0">
                <a:solidFill>
                  <a:srgbClr val="12202E"/>
                </a:solidFill>
                <a:latin typeface="Calibri" pitchFamily="34" charset="0"/>
                <a:ea typeface="Calibri" pitchFamily="34" charset="-122"/>
                <a:cs typeface="Calibri" pitchFamily="34" charset="-120"/>
              </a:rPr>
              <a:t>B-02 fixed · feeling unwell</a:t>
            </a:r>
            <a:endParaRPr lang="en-US" sz="950" dirty="0"/>
          </a:p>
        </p:txBody>
      </p:sp>
      <p:sp>
        <p:nvSpPr>
          <p:cNvPr id="57" name="Text 55"/>
          <p:cNvSpPr/>
          <p:nvPr/>
        </p:nvSpPr>
        <p:spPr>
          <a:xfrm>
            <a:off x="9683496" y="1572768"/>
            <a:ext cx="1645920" cy="365760"/>
          </a:xfrm>
          <a:prstGeom prst="rect">
            <a:avLst/>
          </a:prstGeom>
          <a:noFill/>
          <a:ln/>
        </p:spPr>
        <p:txBody>
          <a:bodyPr wrap="square" lIns="0" tIns="0" rIns="0" bIns="0" rtlCol="0" anchor="ctr"/>
          <a:lstStyle/>
          <a:p>
            <a:pPr marL="0" indent="0">
              <a:buNone/>
            </a:pPr>
            <a:r>
              <a:rPr lang="en-US" sz="950" dirty="0">
                <a:solidFill>
                  <a:srgbClr val="5D7186"/>
                </a:solidFill>
                <a:latin typeface="Calibri" pitchFamily="34" charset="0"/>
                <a:ea typeface="Calibri" pitchFamily="34" charset="-122"/>
                <a:cs typeface="Calibri" pitchFamily="34" charset="-120"/>
              </a:rPr>
              <a:t>ORANGE (R9)</a:t>
            </a:r>
            <a:endParaRPr lang="en-US" sz="950" dirty="0"/>
          </a:p>
        </p:txBody>
      </p:sp>
      <p:sp>
        <p:nvSpPr>
          <p:cNvPr id="58" name="Text 56"/>
          <p:cNvSpPr/>
          <p:nvPr/>
        </p:nvSpPr>
        <p:spPr>
          <a:xfrm>
            <a:off x="11311128" y="1572768"/>
            <a:ext cx="274320" cy="365760"/>
          </a:xfrm>
          <a:prstGeom prst="rect">
            <a:avLst/>
          </a:prstGeom>
          <a:noFill/>
          <a:ln/>
        </p:spPr>
        <p:txBody>
          <a:bodyPr wrap="square" lIns="0" tIns="0" rIns="0" bIns="0" rtlCol="0" anchor="ctr"/>
          <a:lstStyle/>
          <a:p>
            <a:pPr marL="0" indent="0" algn="ctr">
              <a:buNone/>
            </a:pPr>
            <a:r>
              <a:rPr lang="en-US" sz="1100" b="1" dirty="0">
                <a:solidFill>
                  <a:srgbClr val="1A7F4B"/>
                </a:solidFill>
                <a:latin typeface="Calibri" pitchFamily="34" charset="0"/>
                <a:ea typeface="Calibri" pitchFamily="34" charset="-122"/>
                <a:cs typeface="Calibri" pitchFamily="34" charset="-120"/>
              </a:rPr>
              <a:t>✓</a:t>
            </a:r>
            <a:endParaRPr lang="en-US" sz="1100" dirty="0"/>
          </a:p>
        </p:txBody>
      </p:sp>
      <p:sp>
        <p:nvSpPr>
          <p:cNvPr id="59" name="Shape 57"/>
          <p:cNvSpPr/>
          <p:nvPr/>
        </p:nvSpPr>
        <p:spPr>
          <a:xfrm>
            <a:off x="6190488" y="2011680"/>
            <a:ext cx="5440680" cy="365760"/>
          </a:xfrm>
          <a:prstGeom prst="roundRect">
            <a:avLst>
              <a:gd name="adj" fmla="val 15000"/>
            </a:avLst>
          </a:prstGeom>
          <a:solidFill>
            <a:srgbClr val="FFFFFF"/>
          </a:solidFill>
          <a:ln w="12700">
            <a:solidFill>
              <a:srgbClr val="DDE5EE"/>
            </a:solidFill>
            <a:prstDash val="solid"/>
          </a:ln>
        </p:spPr>
        <p:txBody>
          <a:bodyPr/>
          <a:lstStyle/>
          <a:p>
            <a:endParaRPr lang="de-CH"/>
          </a:p>
        </p:txBody>
      </p:sp>
      <p:sp>
        <p:nvSpPr>
          <p:cNvPr id="60" name="Text 58"/>
          <p:cNvSpPr/>
          <p:nvPr/>
        </p:nvSpPr>
        <p:spPr>
          <a:xfrm>
            <a:off x="6336792" y="2011680"/>
            <a:ext cx="548640" cy="365760"/>
          </a:xfrm>
          <a:prstGeom prst="rect">
            <a:avLst/>
          </a:prstGeom>
          <a:noFill/>
          <a:ln/>
        </p:spPr>
        <p:txBody>
          <a:bodyPr wrap="square" lIns="0" tIns="0" rIns="0" bIns="0" rtlCol="0" anchor="ctr"/>
          <a:lstStyle/>
          <a:p>
            <a:pPr marL="0" indent="0">
              <a:buNone/>
            </a:pPr>
            <a:r>
              <a:rPr lang="en-US" sz="1000" b="1" dirty="0">
                <a:solidFill>
                  <a:srgbClr val="12202E"/>
                </a:solidFill>
                <a:latin typeface="Calibri" pitchFamily="34" charset="0"/>
                <a:ea typeface="Calibri" pitchFamily="34" charset="-122"/>
                <a:cs typeface="Calibri" pitchFamily="34" charset="-120"/>
              </a:rPr>
              <a:t>T12</a:t>
            </a:r>
            <a:endParaRPr lang="en-US" sz="1000" dirty="0"/>
          </a:p>
        </p:txBody>
      </p:sp>
      <p:sp>
        <p:nvSpPr>
          <p:cNvPr id="61" name="Text 59"/>
          <p:cNvSpPr/>
          <p:nvPr/>
        </p:nvSpPr>
        <p:spPr>
          <a:xfrm>
            <a:off x="6903720" y="2011680"/>
            <a:ext cx="2743200" cy="365760"/>
          </a:xfrm>
          <a:prstGeom prst="rect">
            <a:avLst/>
          </a:prstGeom>
          <a:noFill/>
          <a:ln/>
        </p:spPr>
        <p:txBody>
          <a:bodyPr wrap="square" lIns="0" tIns="0" rIns="0" bIns="0" rtlCol="0" anchor="ctr"/>
          <a:lstStyle/>
          <a:p>
            <a:pPr marL="0" indent="0">
              <a:buNone/>
            </a:pPr>
            <a:r>
              <a:rPr lang="en-US" sz="950" dirty="0">
                <a:solidFill>
                  <a:srgbClr val="12202E"/>
                </a:solidFill>
                <a:latin typeface="Calibri" pitchFamily="34" charset="0"/>
                <a:ea typeface="Calibri" pitchFamily="34" charset="-122"/>
                <a:cs typeface="Calibri" pitchFamily="34" charset="-120"/>
              </a:rPr>
              <a:t>B-03 fixed · red streak</a:t>
            </a:r>
            <a:endParaRPr lang="en-US" sz="950" dirty="0"/>
          </a:p>
        </p:txBody>
      </p:sp>
      <p:sp>
        <p:nvSpPr>
          <p:cNvPr id="62" name="Text 60"/>
          <p:cNvSpPr/>
          <p:nvPr/>
        </p:nvSpPr>
        <p:spPr>
          <a:xfrm>
            <a:off x="9683496" y="2011680"/>
            <a:ext cx="1645920" cy="365760"/>
          </a:xfrm>
          <a:prstGeom prst="rect">
            <a:avLst/>
          </a:prstGeom>
          <a:noFill/>
          <a:ln/>
        </p:spPr>
        <p:txBody>
          <a:bodyPr wrap="square" lIns="0" tIns="0" rIns="0" bIns="0" rtlCol="0" anchor="ctr"/>
          <a:lstStyle/>
          <a:p>
            <a:pPr marL="0" indent="0">
              <a:buNone/>
            </a:pPr>
            <a:r>
              <a:rPr lang="en-US" sz="950" dirty="0">
                <a:solidFill>
                  <a:srgbClr val="5D7186"/>
                </a:solidFill>
                <a:latin typeface="Calibri" pitchFamily="34" charset="0"/>
                <a:ea typeface="Calibri" pitchFamily="34" charset="-122"/>
                <a:cs typeface="Calibri" pitchFamily="34" charset="-120"/>
              </a:rPr>
              <a:t>RED (R2)</a:t>
            </a:r>
            <a:endParaRPr lang="en-US" sz="950" dirty="0"/>
          </a:p>
        </p:txBody>
      </p:sp>
      <p:sp>
        <p:nvSpPr>
          <p:cNvPr id="63" name="Text 61"/>
          <p:cNvSpPr/>
          <p:nvPr/>
        </p:nvSpPr>
        <p:spPr>
          <a:xfrm>
            <a:off x="11311128" y="2011680"/>
            <a:ext cx="274320" cy="365760"/>
          </a:xfrm>
          <a:prstGeom prst="rect">
            <a:avLst/>
          </a:prstGeom>
          <a:noFill/>
          <a:ln/>
        </p:spPr>
        <p:txBody>
          <a:bodyPr wrap="square" lIns="0" tIns="0" rIns="0" bIns="0" rtlCol="0" anchor="ctr"/>
          <a:lstStyle/>
          <a:p>
            <a:pPr marL="0" indent="0" algn="ctr">
              <a:buNone/>
            </a:pPr>
            <a:r>
              <a:rPr lang="en-US" sz="1100" b="1" dirty="0">
                <a:solidFill>
                  <a:srgbClr val="1A7F4B"/>
                </a:solidFill>
                <a:latin typeface="Calibri" pitchFamily="34" charset="0"/>
                <a:ea typeface="Calibri" pitchFamily="34" charset="-122"/>
                <a:cs typeface="Calibri" pitchFamily="34" charset="-120"/>
              </a:rPr>
              <a:t>✓</a:t>
            </a:r>
            <a:endParaRPr lang="en-US" sz="1100" dirty="0"/>
          </a:p>
        </p:txBody>
      </p:sp>
      <p:sp>
        <p:nvSpPr>
          <p:cNvPr id="64" name="Shape 62"/>
          <p:cNvSpPr/>
          <p:nvPr/>
        </p:nvSpPr>
        <p:spPr>
          <a:xfrm>
            <a:off x="6190488" y="2450592"/>
            <a:ext cx="5440680" cy="365760"/>
          </a:xfrm>
          <a:prstGeom prst="roundRect">
            <a:avLst>
              <a:gd name="adj" fmla="val 15000"/>
            </a:avLst>
          </a:prstGeom>
          <a:solidFill>
            <a:srgbClr val="F5F7FA"/>
          </a:solidFill>
          <a:ln w="12700">
            <a:solidFill>
              <a:srgbClr val="DDE5EE"/>
            </a:solidFill>
            <a:prstDash val="solid"/>
          </a:ln>
        </p:spPr>
        <p:txBody>
          <a:bodyPr/>
          <a:lstStyle/>
          <a:p>
            <a:endParaRPr lang="de-CH"/>
          </a:p>
        </p:txBody>
      </p:sp>
      <p:sp>
        <p:nvSpPr>
          <p:cNvPr id="65" name="Text 63"/>
          <p:cNvSpPr/>
          <p:nvPr/>
        </p:nvSpPr>
        <p:spPr>
          <a:xfrm>
            <a:off x="6336792" y="2450592"/>
            <a:ext cx="548640" cy="365760"/>
          </a:xfrm>
          <a:prstGeom prst="rect">
            <a:avLst/>
          </a:prstGeom>
          <a:noFill/>
          <a:ln/>
        </p:spPr>
        <p:txBody>
          <a:bodyPr wrap="square" lIns="0" tIns="0" rIns="0" bIns="0" rtlCol="0" anchor="ctr"/>
          <a:lstStyle/>
          <a:p>
            <a:pPr marL="0" indent="0">
              <a:buNone/>
            </a:pPr>
            <a:r>
              <a:rPr lang="en-US" sz="1000" b="1" dirty="0">
                <a:solidFill>
                  <a:srgbClr val="12202E"/>
                </a:solidFill>
                <a:latin typeface="Calibri" pitchFamily="34" charset="0"/>
                <a:ea typeface="Calibri" pitchFamily="34" charset="-122"/>
                <a:cs typeface="Calibri" pitchFamily="34" charset="-120"/>
              </a:rPr>
              <a:t>T13</a:t>
            </a:r>
            <a:endParaRPr lang="en-US" sz="1000" dirty="0"/>
          </a:p>
        </p:txBody>
      </p:sp>
      <p:sp>
        <p:nvSpPr>
          <p:cNvPr id="66" name="Text 64"/>
          <p:cNvSpPr/>
          <p:nvPr/>
        </p:nvSpPr>
        <p:spPr>
          <a:xfrm>
            <a:off x="6903720" y="2450592"/>
            <a:ext cx="2743200" cy="365760"/>
          </a:xfrm>
          <a:prstGeom prst="rect">
            <a:avLst/>
          </a:prstGeom>
          <a:noFill/>
          <a:ln/>
        </p:spPr>
        <p:txBody>
          <a:bodyPr wrap="square" lIns="0" tIns="0" rIns="0" bIns="0" rtlCol="0" anchor="ctr"/>
          <a:lstStyle/>
          <a:p>
            <a:pPr marL="0" indent="0">
              <a:buNone/>
            </a:pPr>
            <a:r>
              <a:rPr lang="en-US" sz="950" dirty="0">
                <a:solidFill>
                  <a:srgbClr val="12202E"/>
                </a:solidFill>
                <a:latin typeface="Calibri" pitchFamily="34" charset="0"/>
                <a:ea typeface="Calibri" pitchFamily="34" charset="-122"/>
                <a:cs typeface="Calibri" pitchFamily="34" charset="-120"/>
              </a:rPr>
              <a:t>B-01 fixed · grade II on day 2</a:t>
            </a:r>
            <a:endParaRPr lang="en-US" sz="950" dirty="0"/>
          </a:p>
        </p:txBody>
      </p:sp>
      <p:sp>
        <p:nvSpPr>
          <p:cNvPr id="67" name="Text 65"/>
          <p:cNvSpPr/>
          <p:nvPr/>
        </p:nvSpPr>
        <p:spPr>
          <a:xfrm>
            <a:off x="9683496" y="2450592"/>
            <a:ext cx="1645920" cy="365760"/>
          </a:xfrm>
          <a:prstGeom prst="rect">
            <a:avLst/>
          </a:prstGeom>
          <a:noFill/>
          <a:ln/>
        </p:spPr>
        <p:txBody>
          <a:bodyPr wrap="square" lIns="0" tIns="0" rIns="0" bIns="0" rtlCol="0" anchor="ctr"/>
          <a:lstStyle/>
          <a:p>
            <a:pPr marL="0" indent="0">
              <a:buNone/>
            </a:pPr>
            <a:r>
              <a:rPr lang="en-US" sz="950" dirty="0">
                <a:solidFill>
                  <a:srgbClr val="5D7186"/>
                </a:solidFill>
                <a:latin typeface="Calibri" pitchFamily="34" charset="0"/>
                <a:ea typeface="Calibri" pitchFamily="34" charset="-122"/>
                <a:cs typeface="Calibri" pitchFamily="34" charset="-120"/>
              </a:rPr>
              <a:t>YELLOW (R6b)</a:t>
            </a:r>
            <a:endParaRPr lang="en-US" sz="950" dirty="0"/>
          </a:p>
        </p:txBody>
      </p:sp>
      <p:sp>
        <p:nvSpPr>
          <p:cNvPr id="68" name="Text 66"/>
          <p:cNvSpPr/>
          <p:nvPr/>
        </p:nvSpPr>
        <p:spPr>
          <a:xfrm>
            <a:off x="11311128" y="2450592"/>
            <a:ext cx="274320" cy="365760"/>
          </a:xfrm>
          <a:prstGeom prst="rect">
            <a:avLst/>
          </a:prstGeom>
          <a:noFill/>
          <a:ln/>
        </p:spPr>
        <p:txBody>
          <a:bodyPr wrap="square" lIns="0" tIns="0" rIns="0" bIns="0" rtlCol="0" anchor="ctr"/>
          <a:lstStyle/>
          <a:p>
            <a:pPr marL="0" indent="0" algn="ctr">
              <a:buNone/>
            </a:pPr>
            <a:r>
              <a:rPr lang="en-US" sz="1100" b="1" dirty="0">
                <a:solidFill>
                  <a:srgbClr val="1A7F4B"/>
                </a:solidFill>
                <a:latin typeface="Calibri" pitchFamily="34" charset="0"/>
                <a:ea typeface="Calibri" pitchFamily="34" charset="-122"/>
                <a:cs typeface="Calibri" pitchFamily="34" charset="-120"/>
              </a:rPr>
              <a:t>✓</a:t>
            </a:r>
            <a:endParaRPr lang="en-US" sz="1100" dirty="0"/>
          </a:p>
        </p:txBody>
      </p:sp>
      <p:sp>
        <p:nvSpPr>
          <p:cNvPr id="69" name="Shape 67"/>
          <p:cNvSpPr/>
          <p:nvPr/>
        </p:nvSpPr>
        <p:spPr>
          <a:xfrm>
            <a:off x="6190488" y="2889504"/>
            <a:ext cx="5440680" cy="365760"/>
          </a:xfrm>
          <a:prstGeom prst="roundRect">
            <a:avLst>
              <a:gd name="adj" fmla="val 15000"/>
            </a:avLst>
          </a:prstGeom>
          <a:solidFill>
            <a:srgbClr val="FFFFFF"/>
          </a:solidFill>
          <a:ln w="12700">
            <a:solidFill>
              <a:srgbClr val="DDE5EE"/>
            </a:solidFill>
            <a:prstDash val="solid"/>
          </a:ln>
        </p:spPr>
        <p:txBody>
          <a:bodyPr/>
          <a:lstStyle/>
          <a:p>
            <a:endParaRPr lang="de-CH"/>
          </a:p>
        </p:txBody>
      </p:sp>
      <p:sp>
        <p:nvSpPr>
          <p:cNvPr id="70" name="Text 68"/>
          <p:cNvSpPr/>
          <p:nvPr/>
        </p:nvSpPr>
        <p:spPr>
          <a:xfrm>
            <a:off x="6336792" y="2889504"/>
            <a:ext cx="548640" cy="365760"/>
          </a:xfrm>
          <a:prstGeom prst="rect">
            <a:avLst/>
          </a:prstGeom>
          <a:noFill/>
          <a:ln/>
        </p:spPr>
        <p:txBody>
          <a:bodyPr wrap="square" lIns="0" tIns="0" rIns="0" bIns="0" rtlCol="0" anchor="ctr"/>
          <a:lstStyle/>
          <a:p>
            <a:pPr marL="0" indent="0">
              <a:buNone/>
            </a:pPr>
            <a:r>
              <a:rPr lang="en-US" sz="1000" b="1" dirty="0">
                <a:solidFill>
                  <a:srgbClr val="12202E"/>
                </a:solidFill>
                <a:latin typeface="Calibri" pitchFamily="34" charset="0"/>
                <a:ea typeface="Calibri" pitchFamily="34" charset="-122"/>
                <a:cs typeface="Calibri" pitchFamily="34" charset="-120"/>
              </a:rPr>
              <a:t>T14</a:t>
            </a:r>
            <a:endParaRPr lang="en-US" sz="1000" dirty="0"/>
          </a:p>
        </p:txBody>
      </p:sp>
      <p:sp>
        <p:nvSpPr>
          <p:cNvPr id="71" name="Text 69"/>
          <p:cNvSpPr/>
          <p:nvPr/>
        </p:nvSpPr>
        <p:spPr>
          <a:xfrm>
            <a:off x="6903720" y="2889504"/>
            <a:ext cx="2743200" cy="365760"/>
          </a:xfrm>
          <a:prstGeom prst="rect">
            <a:avLst/>
          </a:prstGeom>
          <a:noFill/>
          <a:ln/>
        </p:spPr>
        <p:txBody>
          <a:bodyPr wrap="square" lIns="0" tIns="0" rIns="0" bIns="0" rtlCol="0" anchor="ctr"/>
          <a:lstStyle/>
          <a:p>
            <a:pPr marL="0" indent="0">
              <a:buNone/>
            </a:pPr>
            <a:r>
              <a:rPr lang="en-US" sz="950" dirty="0">
                <a:solidFill>
                  <a:srgbClr val="12202E"/>
                </a:solidFill>
                <a:latin typeface="Calibri" pitchFamily="34" charset="0"/>
                <a:ea typeface="Calibri" pitchFamily="34" charset="-122"/>
                <a:cs typeface="Calibri" pitchFamily="34" charset="-120"/>
              </a:rPr>
              <a:t>B-01 counter-check</a:t>
            </a:r>
            <a:endParaRPr lang="en-US" sz="950" dirty="0"/>
          </a:p>
        </p:txBody>
      </p:sp>
      <p:sp>
        <p:nvSpPr>
          <p:cNvPr id="72" name="Text 70"/>
          <p:cNvSpPr/>
          <p:nvPr/>
        </p:nvSpPr>
        <p:spPr>
          <a:xfrm>
            <a:off x="9683496" y="2889504"/>
            <a:ext cx="1645920" cy="365760"/>
          </a:xfrm>
          <a:prstGeom prst="rect">
            <a:avLst/>
          </a:prstGeom>
          <a:noFill/>
          <a:ln/>
        </p:spPr>
        <p:txBody>
          <a:bodyPr wrap="square" lIns="0" tIns="0" rIns="0" bIns="0" rtlCol="0" anchor="ctr"/>
          <a:lstStyle/>
          <a:p>
            <a:pPr marL="0" indent="0">
              <a:buNone/>
            </a:pPr>
            <a:r>
              <a:rPr lang="en-US" sz="950" dirty="0">
                <a:solidFill>
                  <a:srgbClr val="5D7186"/>
                </a:solidFill>
                <a:latin typeface="Calibri" pitchFamily="34" charset="0"/>
                <a:ea typeface="Calibri" pitchFamily="34" charset="-122"/>
                <a:cs typeface="Calibri" pitchFamily="34" charset="-120"/>
              </a:rPr>
              <a:t>GREEN</a:t>
            </a:r>
            <a:endParaRPr lang="en-US" sz="950" dirty="0"/>
          </a:p>
        </p:txBody>
      </p:sp>
      <p:sp>
        <p:nvSpPr>
          <p:cNvPr id="73" name="Text 71"/>
          <p:cNvSpPr/>
          <p:nvPr/>
        </p:nvSpPr>
        <p:spPr>
          <a:xfrm>
            <a:off x="11311128" y="2889504"/>
            <a:ext cx="274320" cy="365760"/>
          </a:xfrm>
          <a:prstGeom prst="rect">
            <a:avLst/>
          </a:prstGeom>
          <a:noFill/>
          <a:ln/>
        </p:spPr>
        <p:txBody>
          <a:bodyPr wrap="square" lIns="0" tIns="0" rIns="0" bIns="0" rtlCol="0" anchor="ctr"/>
          <a:lstStyle/>
          <a:p>
            <a:pPr marL="0" indent="0" algn="ctr">
              <a:buNone/>
            </a:pPr>
            <a:r>
              <a:rPr lang="en-US" sz="1100" b="1" dirty="0">
                <a:solidFill>
                  <a:srgbClr val="1A7F4B"/>
                </a:solidFill>
                <a:latin typeface="Calibri" pitchFamily="34" charset="0"/>
                <a:ea typeface="Calibri" pitchFamily="34" charset="-122"/>
                <a:cs typeface="Calibri" pitchFamily="34" charset="-120"/>
              </a:rPr>
              <a:t>✓</a:t>
            </a:r>
            <a:endParaRPr lang="en-US" sz="1100" dirty="0"/>
          </a:p>
        </p:txBody>
      </p:sp>
      <p:sp>
        <p:nvSpPr>
          <p:cNvPr id="74" name="Shape 72"/>
          <p:cNvSpPr/>
          <p:nvPr/>
        </p:nvSpPr>
        <p:spPr>
          <a:xfrm>
            <a:off x="6190488" y="3328416"/>
            <a:ext cx="5440680" cy="365760"/>
          </a:xfrm>
          <a:prstGeom prst="roundRect">
            <a:avLst>
              <a:gd name="adj" fmla="val 15000"/>
            </a:avLst>
          </a:prstGeom>
          <a:solidFill>
            <a:srgbClr val="F5F7FA"/>
          </a:solidFill>
          <a:ln w="12700">
            <a:solidFill>
              <a:srgbClr val="DDE5EE"/>
            </a:solidFill>
            <a:prstDash val="solid"/>
          </a:ln>
        </p:spPr>
        <p:txBody>
          <a:bodyPr/>
          <a:lstStyle/>
          <a:p>
            <a:endParaRPr lang="de-CH"/>
          </a:p>
        </p:txBody>
      </p:sp>
      <p:sp>
        <p:nvSpPr>
          <p:cNvPr id="75" name="Text 73"/>
          <p:cNvSpPr/>
          <p:nvPr/>
        </p:nvSpPr>
        <p:spPr>
          <a:xfrm>
            <a:off x="6336792" y="3328416"/>
            <a:ext cx="548640" cy="365760"/>
          </a:xfrm>
          <a:prstGeom prst="rect">
            <a:avLst/>
          </a:prstGeom>
          <a:noFill/>
          <a:ln/>
        </p:spPr>
        <p:txBody>
          <a:bodyPr wrap="square" lIns="0" tIns="0" rIns="0" bIns="0" rtlCol="0" anchor="ctr"/>
          <a:lstStyle/>
          <a:p>
            <a:pPr marL="0" indent="0">
              <a:buNone/>
            </a:pPr>
            <a:r>
              <a:rPr lang="en-US" sz="1000" b="1" dirty="0">
                <a:solidFill>
                  <a:srgbClr val="12202E"/>
                </a:solidFill>
                <a:latin typeface="Calibri" pitchFamily="34" charset="0"/>
                <a:ea typeface="Calibri" pitchFamily="34" charset="-122"/>
                <a:cs typeface="Calibri" pitchFamily="34" charset="-120"/>
              </a:rPr>
              <a:t>T15</a:t>
            </a:r>
            <a:endParaRPr lang="en-US" sz="1000" dirty="0"/>
          </a:p>
        </p:txBody>
      </p:sp>
      <p:sp>
        <p:nvSpPr>
          <p:cNvPr id="76" name="Text 74"/>
          <p:cNvSpPr/>
          <p:nvPr/>
        </p:nvSpPr>
        <p:spPr>
          <a:xfrm>
            <a:off x="6903720" y="3328416"/>
            <a:ext cx="2743200" cy="365760"/>
          </a:xfrm>
          <a:prstGeom prst="rect">
            <a:avLst/>
          </a:prstGeom>
          <a:noFill/>
          <a:ln/>
        </p:spPr>
        <p:txBody>
          <a:bodyPr wrap="square" lIns="0" tIns="0" rIns="0" bIns="0" rtlCol="0" anchor="ctr"/>
          <a:lstStyle/>
          <a:p>
            <a:pPr marL="0" indent="0">
              <a:buNone/>
            </a:pPr>
            <a:r>
              <a:rPr lang="en-US" sz="950" dirty="0">
                <a:solidFill>
                  <a:srgbClr val="12202E"/>
                </a:solidFill>
                <a:latin typeface="Calibri" pitchFamily="34" charset="0"/>
                <a:ea typeface="Calibri" pitchFamily="34" charset="-122"/>
                <a:cs typeface="Calibri" pitchFamily="34" charset="-120"/>
              </a:rPr>
              <a:t>Southampton derivation</a:t>
            </a:r>
            <a:endParaRPr lang="en-US" sz="950" dirty="0"/>
          </a:p>
        </p:txBody>
      </p:sp>
      <p:sp>
        <p:nvSpPr>
          <p:cNvPr id="77" name="Text 75"/>
          <p:cNvSpPr/>
          <p:nvPr/>
        </p:nvSpPr>
        <p:spPr>
          <a:xfrm>
            <a:off x="9683496" y="3328416"/>
            <a:ext cx="1645920" cy="365760"/>
          </a:xfrm>
          <a:prstGeom prst="rect">
            <a:avLst/>
          </a:prstGeom>
          <a:noFill/>
          <a:ln/>
        </p:spPr>
        <p:txBody>
          <a:bodyPr wrap="square" lIns="0" tIns="0" rIns="0" bIns="0" rtlCol="0" anchor="ctr"/>
          <a:lstStyle/>
          <a:p>
            <a:pPr marL="0" indent="0">
              <a:buNone/>
            </a:pPr>
            <a:r>
              <a:rPr lang="en-US" sz="950" dirty="0">
                <a:solidFill>
                  <a:srgbClr val="5D7186"/>
                </a:solidFill>
                <a:latin typeface="Calibri" pitchFamily="34" charset="0"/>
                <a:ea typeface="Calibri" pitchFamily="34" charset="-122"/>
                <a:cs typeface="Calibri" pitchFamily="34" charset="-120"/>
              </a:rPr>
              <a:t>grade IV → ORANGE</a:t>
            </a:r>
            <a:endParaRPr lang="en-US" sz="950" dirty="0"/>
          </a:p>
        </p:txBody>
      </p:sp>
      <p:sp>
        <p:nvSpPr>
          <p:cNvPr id="78" name="Text 76"/>
          <p:cNvSpPr/>
          <p:nvPr/>
        </p:nvSpPr>
        <p:spPr>
          <a:xfrm>
            <a:off x="11311128" y="3328416"/>
            <a:ext cx="274320" cy="365760"/>
          </a:xfrm>
          <a:prstGeom prst="rect">
            <a:avLst/>
          </a:prstGeom>
          <a:noFill/>
          <a:ln/>
        </p:spPr>
        <p:txBody>
          <a:bodyPr wrap="square" lIns="0" tIns="0" rIns="0" bIns="0" rtlCol="0" anchor="ctr"/>
          <a:lstStyle/>
          <a:p>
            <a:pPr marL="0" indent="0" algn="ctr">
              <a:buNone/>
            </a:pPr>
            <a:r>
              <a:rPr lang="en-US" sz="1100" b="1" dirty="0">
                <a:solidFill>
                  <a:srgbClr val="1A7F4B"/>
                </a:solidFill>
                <a:latin typeface="Calibri" pitchFamily="34" charset="0"/>
                <a:ea typeface="Calibri" pitchFamily="34" charset="-122"/>
                <a:cs typeface="Calibri" pitchFamily="34" charset="-120"/>
              </a:rPr>
              <a:t>✓</a:t>
            </a:r>
            <a:endParaRPr lang="en-US" sz="1100" dirty="0"/>
          </a:p>
        </p:txBody>
      </p:sp>
      <p:sp>
        <p:nvSpPr>
          <p:cNvPr id="79" name="Shape 77"/>
          <p:cNvSpPr/>
          <p:nvPr/>
        </p:nvSpPr>
        <p:spPr>
          <a:xfrm>
            <a:off x="6190488" y="3767328"/>
            <a:ext cx="5440680" cy="365760"/>
          </a:xfrm>
          <a:prstGeom prst="roundRect">
            <a:avLst>
              <a:gd name="adj" fmla="val 15000"/>
            </a:avLst>
          </a:prstGeom>
          <a:solidFill>
            <a:srgbClr val="FFFFFF"/>
          </a:solidFill>
          <a:ln w="12700">
            <a:solidFill>
              <a:srgbClr val="DDE5EE"/>
            </a:solidFill>
            <a:prstDash val="solid"/>
          </a:ln>
        </p:spPr>
        <p:txBody>
          <a:bodyPr/>
          <a:lstStyle/>
          <a:p>
            <a:endParaRPr lang="de-CH"/>
          </a:p>
        </p:txBody>
      </p:sp>
      <p:sp>
        <p:nvSpPr>
          <p:cNvPr id="80" name="Text 78"/>
          <p:cNvSpPr/>
          <p:nvPr/>
        </p:nvSpPr>
        <p:spPr>
          <a:xfrm>
            <a:off x="6336792" y="3767328"/>
            <a:ext cx="548640" cy="365760"/>
          </a:xfrm>
          <a:prstGeom prst="rect">
            <a:avLst/>
          </a:prstGeom>
          <a:noFill/>
          <a:ln/>
        </p:spPr>
        <p:txBody>
          <a:bodyPr wrap="square" lIns="0" tIns="0" rIns="0" bIns="0" rtlCol="0" anchor="ctr"/>
          <a:lstStyle/>
          <a:p>
            <a:pPr marL="0" indent="0">
              <a:buNone/>
            </a:pPr>
            <a:r>
              <a:rPr lang="en-US" sz="1000" b="1" dirty="0">
                <a:solidFill>
                  <a:srgbClr val="12202E"/>
                </a:solidFill>
                <a:latin typeface="Calibri" pitchFamily="34" charset="0"/>
                <a:ea typeface="Calibri" pitchFamily="34" charset="-122"/>
                <a:cs typeface="Calibri" pitchFamily="34" charset="-120"/>
              </a:rPr>
              <a:t>T16</a:t>
            </a:r>
            <a:endParaRPr lang="en-US" sz="1000" dirty="0"/>
          </a:p>
        </p:txBody>
      </p:sp>
      <p:sp>
        <p:nvSpPr>
          <p:cNvPr id="81" name="Text 79"/>
          <p:cNvSpPr/>
          <p:nvPr/>
        </p:nvSpPr>
        <p:spPr>
          <a:xfrm>
            <a:off x="6903720" y="3767328"/>
            <a:ext cx="2743200" cy="365760"/>
          </a:xfrm>
          <a:prstGeom prst="rect">
            <a:avLst/>
          </a:prstGeom>
          <a:noFill/>
          <a:ln/>
        </p:spPr>
        <p:txBody>
          <a:bodyPr wrap="square" lIns="0" tIns="0" rIns="0" bIns="0" rtlCol="0" anchor="ctr"/>
          <a:lstStyle/>
          <a:p>
            <a:pPr marL="0" indent="0">
              <a:buNone/>
            </a:pPr>
            <a:r>
              <a:rPr lang="en-US" sz="950" dirty="0">
                <a:solidFill>
                  <a:srgbClr val="12202E"/>
                </a:solidFill>
                <a:latin typeface="Calibri" pitchFamily="34" charset="0"/>
                <a:ea typeface="Calibri" pitchFamily="34" charset="-122"/>
                <a:cs typeface="Calibri" pitchFamily="34" charset="-120"/>
              </a:rPr>
              <a:t>B-05 fixed · bleeding + anticoag</a:t>
            </a:r>
            <a:endParaRPr lang="en-US" sz="950" dirty="0"/>
          </a:p>
        </p:txBody>
      </p:sp>
      <p:sp>
        <p:nvSpPr>
          <p:cNvPr id="82" name="Text 80"/>
          <p:cNvSpPr/>
          <p:nvPr/>
        </p:nvSpPr>
        <p:spPr>
          <a:xfrm>
            <a:off x="9683496" y="3767328"/>
            <a:ext cx="1645920" cy="365760"/>
          </a:xfrm>
          <a:prstGeom prst="rect">
            <a:avLst/>
          </a:prstGeom>
          <a:noFill/>
          <a:ln/>
        </p:spPr>
        <p:txBody>
          <a:bodyPr wrap="square" lIns="0" tIns="0" rIns="0" bIns="0" rtlCol="0" anchor="ctr"/>
          <a:lstStyle/>
          <a:p>
            <a:pPr marL="0" indent="0">
              <a:buNone/>
            </a:pPr>
            <a:r>
              <a:rPr lang="en-US" sz="950" dirty="0">
                <a:solidFill>
                  <a:srgbClr val="5D7186"/>
                </a:solidFill>
                <a:latin typeface="Calibri" pitchFamily="34" charset="0"/>
                <a:ea typeface="Calibri" pitchFamily="34" charset="-122"/>
                <a:cs typeface="Calibri" pitchFamily="34" charset="-120"/>
              </a:rPr>
              <a:t>YELLOW (R10)</a:t>
            </a:r>
            <a:endParaRPr lang="en-US" sz="950" dirty="0"/>
          </a:p>
        </p:txBody>
      </p:sp>
      <p:sp>
        <p:nvSpPr>
          <p:cNvPr id="83" name="Text 81"/>
          <p:cNvSpPr/>
          <p:nvPr/>
        </p:nvSpPr>
        <p:spPr>
          <a:xfrm>
            <a:off x="11311128" y="3767328"/>
            <a:ext cx="274320" cy="365760"/>
          </a:xfrm>
          <a:prstGeom prst="rect">
            <a:avLst/>
          </a:prstGeom>
          <a:noFill/>
          <a:ln/>
        </p:spPr>
        <p:txBody>
          <a:bodyPr wrap="square" lIns="0" tIns="0" rIns="0" bIns="0" rtlCol="0" anchor="ctr"/>
          <a:lstStyle/>
          <a:p>
            <a:pPr marL="0" indent="0" algn="ctr">
              <a:buNone/>
            </a:pPr>
            <a:r>
              <a:rPr lang="en-US" sz="1100" b="1" dirty="0">
                <a:solidFill>
                  <a:srgbClr val="1A7F4B"/>
                </a:solidFill>
                <a:latin typeface="Calibri" pitchFamily="34" charset="0"/>
                <a:ea typeface="Calibri" pitchFamily="34" charset="-122"/>
                <a:cs typeface="Calibri" pitchFamily="34" charset="-120"/>
              </a:rPr>
              <a:t>✓</a:t>
            </a:r>
            <a:endParaRPr lang="en-US" sz="1100" dirty="0"/>
          </a:p>
        </p:txBody>
      </p:sp>
      <p:sp>
        <p:nvSpPr>
          <p:cNvPr id="84" name="Shape 82"/>
          <p:cNvSpPr/>
          <p:nvPr/>
        </p:nvSpPr>
        <p:spPr>
          <a:xfrm>
            <a:off x="6190488" y="4206240"/>
            <a:ext cx="5440680" cy="365760"/>
          </a:xfrm>
          <a:prstGeom prst="roundRect">
            <a:avLst>
              <a:gd name="adj" fmla="val 15000"/>
            </a:avLst>
          </a:prstGeom>
          <a:solidFill>
            <a:srgbClr val="F5F7FA"/>
          </a:solidFill>
          <a:ln w="12700">
            <a:solidFill>
              <a:srgbClr val="DDE5EE"/>
            </a:solidFill>
            <a:prstDash val="solid"/>
          </a:ln>
        </p:spPr>
        <p:txBody>
          <a:bodyPr/>
          <a:lstStyle/>
          <a:p>
            <a:endParaRPr lang="de-CH"/>
          </a:p>
        </p:txBody>
      </p:sp>
      <p:sp>
        <p:nvSpPr>
          <p:cNvPr id="85" name="Text 83"/>
          <p:cNvSpPr/>
          <p:nvPr/>
        </p:nvSpPr>
        <p:spPr>
          <a:xfrm>
            <a:off x="6336792" y="4206240"/>
            <a:ext cx="548640" cy="365760"/>
          </a:xfrm>
          <a:prstGeom prst="rect">
            <a:avLst/>
          </a:prstGeom>
          <a:noFill/>
          <a:ln/>
        </p:spPr>
        <p:txBody>
          <a:bodyPr wrap="square" lIns="0" tIns="0" rIns="0" bIns="0" rtlCol="0" anchor="ctr"/>
          <a:lstStyle/>
          <a:p>
            <a:pPr marL="0" indent="0">
              <a:buNone/>
            </a:pPr>
            <a:r>
              <a:rPr lang="en-US" sz="1000" b="1" dirty="0">
                <a:solidFill>
                  <a:srgbClr val="12202E"/>
                </a:solidFill>
                <a:latin typeface="Calibri" pitchFamily="34" charset="0"/>
                <a:ea typeface="Calibri" pitchFamily="34" charset="-122"/>
                <a:cs typeface="Calibri" pitchFamily="34" charset="-120"/>
              </a:rPr>
              <a:t>T17</a:t>
            </a:r>
            <a:endParaRPr lang="en-US" sz="1000" dirty="0"/>
          </a:p>
        </p:txBody>
      </p:sp>
      <p:sp>
        <p:nvSpPr>
          <p:cNvPr id="86" name="Text 84"/>
          <p:cNvSpPr/>
          <p:nvPr/>
        </p:nvSpPr>
        <p:spPr>
          <a:xfrm>
            <a:off x="6903720" y="4206240"/>
            <a:ext cx="2743200" cy="365760"/>
          </a:xfrm>
          <a:prstGeom prst="rect">
            <a:avLst/>
          </a:prstGeom>
          <a:noFill/>
          <a:ln/>
        </p:spPr>
        <p:txBody>
          <a:bodyPr wrap="square" lIns="0" tIns="0" rIns="0" bIns="0" rtlCol="0" anchor="ctr"/>
          <a:lstStyle/>
          <a:p>
            <a:pPr marL="0" indent="0">
              <a:buNone/>
            </a:pPr>
            <a:r>
              <a:rPr lang="en-US" sz="950" dirty="0">
                <a:solidFill>
                  <a:srgbClr val="12202E"/>
                </a:solidFill>
                <a:latin typeface="Calibri" pitchFamily="34" charset="0"/>
                <a:ea typeface="Calibri" pitchFamily="34" charset="-122"/>
                <a:cs typeface="Calibri" pitchFamily="34" charset="-120"/>
              </a:rPr>
              <a:t>persistence rule</a:t>
            </a:r>
            <a:endParaRPr lang="en-US" sz="950" dirty="0"/>
          </a:p>
        </p:txBody>
      </p:sp>
      <p:sp>
        <p:nvSpPr>
          <p:cNvPr id="87" name="Text 85"/>
          <p:cNvSpPr/>
          <p:nvPr/>
        </p:nvSpPr>
        <p:spPr>
          <a:xfrm>
            <a:off x="9683496" y="4206240"/>
            <a:ext cx="1645920" cy="365760"/>
          </a:xfrm>
          <a:prstGeom prst="rect">
            <a:avLst/>
          </a:prstGeom>
          <a:noFill/>
          <a:ln/>
        </p:spPr>
        <p:txBody>
          <a:bodyPr wrap="square" lIns="0" tIns="0" rIns="0" bIns="0" rtlCol="0" anchor="ctr"/>
          <a:lstStyle/>
          <a:p>
            <a:pPr marL="0" indent="0">
              <a:buNone/>
            </a:pPr>
            <a:r>
              <a:rPr lang="en-US" sz="950" dirty="0">
                <a:solidFill>
                  <a:srgbClr val="5D7186"/>
                </a:solidFill>
                <a:latin typeface="Calibri" pitchFamily="34" charset="0"/>
                <a:ea typeface="Calibri" pitchFamily="34" charset="-122"/>
                <a:cs typeface="Calibri" pitchFamily="34" charset="-120"/>
              </a:rPr>
              <a:t>ORANGE (R12)</a:t>
            </a:r>
            <a:endParaRPr lang="en-US" sz="950" dirty="0"/>
          </a:p>
        </p:txBody>
      </p:sp>
      <p:sp>
        <p:nvSpPr>
          <p:cNvPr id="88" name="Text 86"/>
          <p:cNvSpPr/>
          <p:nvPr/>
        </p:nvSpPr>
        <p:spPr>
          <a:xfrm>
            <a:off x="11311128" y="4206240"/>
            <a:ext cx="274320" cy="365760"/>
          </a:xfrm>
          <a:prstGeom prst="rect">
            <a:avLst/>
          </a:prstGeom>
          <a:noFill/>
          <a:ln/>
        </p:spPr>
        <p:txBody>
          <a:bodyPr wrap="square" lIns="0" tIns="0" rIns="0" bIns="0" rtlCol="0" anchor="ctr"/>
          <a:lstStyle/>
          <a:p>
            <a:pPr marL="0" indent="0" algn="ctr">
              <a:buNone/>
            </a:pPr>
            <a:r>
              <a:rPr lang="en-US" sz="1100" b="1" dirty="0">
                <a:solidFill>
                  <a:srgbClr val="1A7F4B"/>
                </a:solidFill>
                <a:latin typeface="Calibri" pitchFamily="34" charset="0"/>
                <a:ea typeface="Calibri" pitchFamily="34" charset="-122"/>
                <a:cs typeface="Calibri" pitchFamily="34" charset="-120"/>
              </a:rPr>
              <a:t>✓</a:t>
            </a:r>
            <a:endParaRPr lang="en-US" sz="1100" dirty="0"/>
          </a:p>
        </p:txBody>
      </p:sp>
      <p:sp>
        <p:nvSpPr>
          <p:cNvPr id="89" name="Shape 87"/>
          <p:cNvSpPr/>
          <p:nvPr/>
        </p:nvSpPr>
        <p:spPr>
          <a:xfrm>
            <a:off x="6190488" y="4645152"/>
            <a:ext cx="5440680" cy="365760"/>
          </a:xfrm>
          <a:prstGeom prst="roundRect">
            <a:avLst>
              <a:gd name="adj" fmla="val 15000"/>
            </a:avLst>
          </a:prstGeom>
          <a:solidFill>
            <a:srgbClr val="FFFFFF"/>
          </a:solidFill>
          <a:ln w="12700">
            <a:solidFill>
              <a:srgbClr val="DDE5EE"/>
            </a:solidFill>
            <a:prstDash val="solid"/>
          </a:ln>
        </p:spPr>
        <p:txBody>
          <a:bodyPr/>
          <a:lstStyle/>
          <a:p>
            <a:endParaRPr lang="de-CH"/>
          </a:p>
        </p:txBody>
      </p:sp>
      <p:sp>
        <p:nvSpPr>
          <p:cNvPr id="90" name="Text 88"/>
          <p:cNvSpPr/>
          <p:nvPr/>
        </p:nvSpPr>
        <p:spPr>
          <a:xfrm>
            <a:off x="6336792" y="4645152"/>
            <a:ext cx="548640" cy="365760"/>
          </a:xfrm>
          <a:prstGeom prst="rect">
            <a:avLst/>
          </a:prstGeom>
          <a:noFill/>
          <a:ln/>
        </p:spPr>
        <p:txBody>
          <a:bodyPr wrap="square" lIns="0" tIns="0" rIns="0" bIns="0" rtlCol="0" anchor="ctr"/>
          <a:lstStyle/>
          <a:p>
            <a:pPr marL="0" indent="0">
              <a:buNone/>
            </a:pPr>
            <a:r>
              <a:rPr lang="en-US" sz="1000" b="1" dirty="0">
                <a:solidFill>
                  <a:srgbClr val="12202E"/>
                </a:solidFill>
                <a:latin typeface="Calibri" pitchFamily="34" charset="0"/>
                <a:ea typeface="Calibri" pitchFamily="34" charset="-122"/>
                <a:cs typeface="Calibri" pitchFamily="34" charset="-120"/>
              </a:rPr>
              <a:t>T18</a:t>
            </a:r>
            <a:endParaRPr lang="en-US" sz="1000" dirty="0"/>
          </a:p>
        </p:txBody>
      </p:sp>
      <p:sp>
        <p:nvSpPr>
          <p:cNvPr id="91" name="Text 89"/>
          <p:cNvSpPr/>
          <p:nvPr/>
        </p:nvSpPr>
        <p:spPr>
          <a:xfrm>
            <a:off x="6903720" y="4645152"/>
            <a:ext cx="2743200" cy="365760"/>
          </a:xfrm>
          <a:prstGeom prst="rect">
            <a:avLst/>
          </a:prstGeom>
          <a:noFill/>
          <a:ln/>
        </p:spPr>
        <p:txBody>
          <a:bodyPr wrap="square" lIns="0" tIns="0" rIns="0" bIns="0" rtlCol="0" anchor="ctr"/>
          <a:lstStyle/>
          <a:p>
            <a:pPr marL="0" indent="0">
              <a:buNone/>
            </a:pPr>
            <a:r>
              <a:rPr lang="en-US" sz="950" dirty="0">
                <a:solidFill>
                  <a:srgbClr val="12202E"/>
                </a:solidFill>
                <a:latin typeface="Calibri" pitchFamily="34" charset="0"/>
                <a:ea typeface="Calibri" pitchFamily="34" charset="-122"/>
                <a:cs typeface="Calibri" pitchFamily="34" charset="-120"/>
              </a:rPr>
              <a:t>discharge ≥ 3 days</a:t>
            </a:r>
            <a:endParaRPr lang="en-US" sz="950" dirty="0"/>
          </a:p>
        </p:txBody>
      </p:sp>
      <p:sp>
        <p:nvSpPr>
          <p:cNvPr id="92" name="Text 90"/>
          <p:cNvSpPr/>
          <p:nvPr/>
        </p:nvSpPr>
        <p:spPr>
          <a:xfrm>
            <a:off x="9683496" y="4645152"/>
            <a:ext cx="1645920" cy="365760"/>
          </a:xfrm>
          <a:prstGeom prst="rect">
            <a:avLst/>
          </a:prstGeom>
          <a:noFill/>
          <a:ln/>
        </p:spPr>
        <p:txBody>
          <a:bodyPr wrap="square" lIns="0" tIns="0" rIns="0" bIns="0" rtlCol="0" anchor="ctr"/>
          <a:lstStyle/>
          <a:p>
            <a:pPr marL="0" indent="0">
              <a:buNone/>
            </a:pPr>
            <a:r>
              <a:rPr lang="en-US" sz="950" dirty="0">
                <a:solidFill>
                  <a:srgbClr val="5D7186"/>
                </a:solidFill>
                <a:latin typeface="Calibri" pitchFamily="34" charset="0"/>
                <a:ea typeface="Calibri" pitchFamily="34" charset="-122"/>
                <a:cs typeface="Calibri" pitchFamily="34" charset="-120"/>
              </a:rPr>
              <a:t>ORANGE (R11)</a:t>
            </a:r>
            <a:endParaRPr lang="en-US" sz="950" dirty="0"/>
          </a:p>
        </p:txBody>
      </p:sp>
      <p:sp>
        <p:nvSpPr>
          <p:cNvPr id="93" name="Text 91"/>
          <p:cNvSpPr/>
          <p:nvPr/>
        </p:nvSpPr>
        <p:spPr>
          <a:xfrm>
            <a:off x="11311128" y="4645152"/>
            <a:ext cx="274320" cy="365760"/>
          </a:xfrm>
          <a:prstGeom prst="rect">
            <a:avLst/>
          </a:prstGeom>
          <a:noFill/>
          <a:ln/>
        </p:spPr>
        <p:txBody>
          <a:bodyPr wrap="square" lIns="0" tIns="0" rIns="0" bIns="0" rtlCol="0" anchor="ctr"/>
          <a:lstStyle/>
          <a:p>
            <a:pPr marL="0" indent="0" algn="ctr">
              <a:buNone/>
            </a:pPr>
            <a:r>
              <a:rPr lang="en-US" sz="1100" b="1" dirty="0">
                <a:solidFill>
                  <a:srgbClr val="1A7F4B"/>
                </a:solidFill>
                <a:latin typeface="Calibri" pitchFamily="34" charset="0"/>
                <a:ea typeface="Calibri" pitchFamily="34" charset="-122"/>
                <a:cs typeface="Calibri" pitchFamily="34" charset="-120"/>
              </a:rPr>
              <a:t>✓</a:t>
            </a:r>
            <a:endParaRPr lang="en-US" sz="1100" dirty="0"/>
          </a:p>
        </p:txBody>
      </p:sp>
      <p:sp>
        <p:nvSpPr>
          <p:cNvPr id="94" name="Shape 92"/>
          <p:cNvSpPr/>
          <p:nvPr/>
        </p:nvSpPr>
        <p:spPr>
          <a:xfrm>
            <a:off x="6190488" y="5084064"/>
            <a:ext cx="5440680" cy="365760"/>
          </a:xfrm>
          <a:prstGeom prst="roundRect">
            <a:avLst>
              <a:gd name="adj" fmla="val 15000"/>
            </a:avLst>
          </a:prstGeom>
          <a:solidFill>
            <a:srgbClr val="F5F7FA"/>
          </a:solidFill>
          <a:ln w="12700">
            <a:solidFill>
              <a:srgbClr val="DDE5EE"/>
            </a:solidFill>
            <a:prstDash val="solid"/>
          </a:ln>
        </p:spPr>
        <p:txBody>
          <a:bodyPr/>
          <a:lstStyle/>
          <a:p>
            <a:endParaRPr lang="de-CH"/>
          </a:p>
        </p:txBody>
      </p:sp>
      <p:sp>
        <p:nvSpPr>
          <p:cNvPr id="95" name="Text 93"/>
          <p:cNvSpPr/>
          <p:nvPr/>
        </p:nvSpPr>
        <p:spPr>
          <a:xfrm>
            <a:off x="6336792" y="5084064"/>
            <a:ext cx="548640" cy="365760"/>
          </a:xfrm>
          <a:prstGeom prst="rect">
            <a:avLst/>
          </a:prstGeom>
          <a:noFill/>
          <a:ln/>
        </p:spPr>
        <p:txBody>
          <a:bodyPr wrap="square" lIns="0" tIns="0" rIns="0" bIns="0" rtlCol="0" anchor="ctr"/>
          <a:lstStyle/>
          <a:p>
            <a:pPr marL="0" indent="0">
              <a:buNone/>
            </a:pPr>
            <a:r>
              <a:rPr lang="en-US" sz="1000" b="1" dirty="0">
                <a:solidFill>
                  <a:srgbClr val="12202E"/>
                </a:solidFill>
                <a:latin typeface="Calibri" pitchFamily="34" charset="0"/>
                <a:ea typeface="Calibri" pitchFamily="34" charset="-122"/>
                <a:cs typeface="Calibri" pitchFamily="34" charset="-120"/>
              </a:rPr>
              <a:t>T19</a:t>
            </a:r>
            <a:endParaRPr lang="en-US" sz="1000" dirty="0"/>
          </a:p>
        </p:txBody>
      </p:sp>
      <p:sp>
        <p:nvSpPr>
          <p:cNvPr id="96" name="Text 94"/>
          <p:cNvSpPr/>
          <p:nvPr/>
        </p:nvSpPr>
        <p:spPr>
          <a:xfrm>
            <a:off x="6903720" y="5084064"/>
            <a:ext cx="2743200" cy="365760"/>
          </a:xfrm>
          <a:prstGeom prst="rect">
            <a:avLst/>
          </a:prstGeom>
          <a:noFill/>
          <a:ln/>
        </p:spPr>
        <p:txBody>
          <a:bodyPr wrap="square" lIns="0" tIns="0" rIns="0" bIns="0" rtlCol="0" anchor="ctr"/>
          <a:lstStyle/>
          <a:p>
            <a:pPr marL="0" indent="0">
              <a:buNone/>
            </a:pPr>
            <a:r>
              <a:rPr lang="en-US" sz="950" dirty="0">
                <a:solidFill>
                  <a:srgbClr val="12202E"/>
                </a:solidFill>
                <a:latin typeface="Calibri" pitchFamily="34" charset="0"/>
                <a:ea typeface="Calibri" pitchFamily="34" charset="-122"/>
                <a:cs typeface="Calibri" pitchFamily="34" charset="-120"/>
              </a:rPr>
              <a:t>threshold change without rebuild</a:t>
            </a:r>
            <a:endParaRPr lang="en-US" sz="950" dirty="0"/>
          </a:p>
        </p:txBody>
      </p:sp>
      <p:sp>
        <p:nvSpPr>
          <p:cNvPr id="97" name="Text 95"/>
          <p:cNvSpPr/>
          <p:nvPr/>
        </p:nvSpPr>
        <p:spPr>
          <a:xfrm>
            <a:off x="9683496" y="5084064"/>
            <a:ext cx="1645920" cy="365760"/>
          </a:xfrm>
          <a:prstGeom prst="rect">
            <a:avLst/>
          </a:prstGeom>
          <a:noFill/>
          <a:ln/>
        </p:spPr>
        <p:txBody>
          <a:bodyPr wrap="square" lIns="0" tIns="0" rIns="0" bIns="0" rtlCol="0" anchor="ctr"/>
          <a:lstStyle/>
          <a:p>
            <a:pPr marL="0" indent="0">
              <a:buNone/>
            </a:pPr>
            <a:r>
              <a:rPr lang="en-US" sz="950" dirty="0">
                <a:solidFill>
                  <a:srgbClr val="5D7186"/>
                </a:solidFill>
                <a:latin typeface="Calibri" pitchFamily="34" charset="0"/>
                <a:ea typeface="Calibri" pitchFamily="34" charset="-122"/>
                <a:cs typeface="Calibri" pitchFamily="34" charset="-120"/>
              </a:rPr>
              <a:t>GREEN → ORANGE</a:t>
            </a:r>
            <a:endParaRPr lang="en-US" sz="950" dirty="0"/>
          </a:p>
        </p:txBody>
      </p:sp>
      <p:sp>
        <p:nvSpPr>
          <p:cNvPr id="98" name="Text 96"/>
          <p:cNvSpPr/>
          <p:nvPr/>
        </p:nvSpPr>
        <p:spPr>
          <a:xfrm>
            <a:off x="11311128" y="5084064"/>
            <a:ext cx="274320" cy="365760"/>
          </a:xfrm>
          <a:prstGeom prst="rect">
            <a:avLst/>
          </a:prstGeom>
          <a:noFill/>
          <a:ln/>
        </p:spPr>
        <p:txBody>
          <a:bodyPr wrap="square" lIns="0" tIns="0" rIns="0" bIns="0" rtlCol="0" anchor="ctr"/>
          <a:lstStyle/>
          <a:p>
            <a:pPr marL="0" indent="0" algn="ctr">
              <a:buNone/>
            </a:pPr>
            <a:r>
              <a:rPr lang="en-US" sz="1100" b="1" dirty="0">
                <a:solidFill>
                  <a:srgbClr val="1A7F4B"/>
                </a:solidFill>
                <a:latin typeface="Calibri" pitchFamily="34" charset="0"/>
                <a:ea typeface="Calibri" pitchFamily="34" charset="-122"/>
                <a:cs typeface="Calibri" pitchFamily="34" charset="-120"/>
              </a:rPr>
              <a:t>✓</a:t>
            </a:r>
            <a:endParaRPr lang="en-US" sz="1100" dirty="0"/>
          </a:p>
        </p:txBody>
      </p:sp>
      <p:sp>
        <p:nvSpPr>
          <p:cNvPr id="99" name="Text 97"/>
          <p:cNvSpPr/>
          <p:nvPr/>
        </p:nvSpPr>
        <p:spPr>
          <a:xfrm>
            <a:off x="566928" y="6089904"/>
            <a:ext cx="11064240" cy="274320"/>
          </a:xfrm>
          <a:prstGeom prst="rect">
            <a:avLst/>
          </a:prstGeom>
          <a:noFill/>
          <a:ln/>
        </p:spPr>
        <p:txBody>
          <a:bodyPr wrap="square" lIns="0" tIns="0" rIns="0" bIns="0" rtlCol="0" anchor="ctr"/>
          <a:lstStyle/>
          <a:p>
            <a:pPr marL="0" indent="0">
              <a:buNone/>
            </a:pPr>
            <a:r>
              <a:rPr lang="en-US" sz="1050" i="1" dirty="0">
                <a:solidFill>
                  <a:srgbClr val="5D7186"/>
                </a:solidFill>
                <a:latin typeface="Calibri" pitchFamily="34" charset="0"/>
                <a:ea typeface="Calibri" pitchFamily="34" charset="-122"/>
                <a:cs typeface="Calibri" pitchFamily="34" charset="-120"/>
              </a:rPr>
              <a:t>Reproduce: node tools/run-tests.mjs   ·   node tools/check-fhir.mjs   ·   node tools/check-hardcoding.mjs</a:t>
            </a:r>
            <a:endParaRPr lang="en-US" sz="1050" dirty="0"/>
          </a:p>
        </p:txBody>
      </p:sp>
      <p:sp>
        <p:nvSpPr>
          <p:cNvPr id="101" name="Text 11">
            <a:extLst>
              <a:ext uri="{FF2B5EF4-FFF2-40B4-BE49-F238E27FC236}">
                <a16:creationId xmlns:a16="http://schemas.microsoft.com/office/drawing/2014/main" id="{7A232AC8-F99C-50E3-4BB3-C74BD80460B7}"/>
              </a:ext>
            </a:extLst>
          </p:cNvPr>
          <p:cNvSpPr/>
          <p:nvPr/>
        </p:nvSpPr>
        <p:spPr>
          <a:xfrm>
            <a:off x="57709" y="6568124"/>
            <a:ext cx="8229600" cy="274320"/>
          </a:xfrm>
          <a:prstGeom prst="rect">
            <a:avLst/>
          </a:prstGeom>
          <a:noFill/>
          <a:ln/>
        </p:spPr>
        <p:txBody>
          <a:bodyPr wrap="square" lIns="0" tIns="0" rIns="0" bIns="0" rtlCol="0" anchor="ctr"/>
          <a:lstStyle/>
          <a:p>
            <a:pPr marL="0" indent="0">
              <a:buNone/>
            </a:pPr>
            <a:r>
              <a:rPr lang="en-US" sz="900">
                <a:solidFill>
                  <a:srgbClr val="8FA3B8"/>
                </a:solidFill>
                <a:latin typeface="Calibri" pitchFamily="34" charset="0"/>
                <a:ea typeface="Calibri" pitchFamily="34" charset="-122"/>
                <a:cs typeface="Calibri" pitchFamily="34" charset="-120"/>
              </a:rPr>
              <a:t>FHNW  ·  MSc Medical Informatics  ·  Clinical Decision Support Systems 2026</a:t>
            </a:r>
            <a:endParaRPr lang="en-US" sz="900"/>
          </a:p>
        </p:txBody>
      </p:sp>
      <p:pic>
        <p:nvPicPr>
          <p:cNvPr id="103" name="Grafik 102">
            <a:extLst>
              <a:ext uri="{FF2B5EF4-FFF2-40B4-BE49-F238E27FC236}">
                <a16:creationId xmlns:a16="http://schemas.microsoft.com/office/drawing/2014/main" id="{E9465539-116B-86A8-D6DF-7866BF9DEDD0}"/>
              </a:ext>
            </a:extLst>
          </p:cNvPr>
          <p:cNvPicPr>
            <a:picLocks noChangeAspect="1"/>
          </p:cNvPicPr>
          <p:nvPr/>
        </p:nvPicPr>
        <p:blipFill>
          <a:blip r:embed="rId3">
            <a:duotone>
              <a:schemeClr val="accent3">
                <a:shade val="45000"/>
                <a:satMod val="135000"/>
              </a:schemeClr>
              <a:prstClr val="white"/>
            </a:duotone>
          </a:blip>
          <a:stretch>
            <a:fillRect/>
          </a:stretch>
        </p:blipFill>
        <p:spPr>
          <a:xfrm>
            <a:off x="57709" y="47504"/>
            <a:ext cx="1012490" cy="23624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7680960" cy="219456"/>
          </a:xfrm>
          <a:prstGeom prst="rect">
            <a:avLst/>
          </a:prstGeom>
          <a:noFill/>
          <a:ln/>
        </p:spPr>
        <p:txBody>
          <a:bodyPr wrap="square" lIns="0" tIns="0" rIns="0" bIns="0" rtlCol="0" anchor="ctr"/>
          <a:lstStyle/>
          <a:p>
            <a:pPr marL="0" indent="0">
              <a:buNone/>
            </a:pPr>
            <a:r>
              <a:rPr lang="en-US" sz="1050" b="1" kern="0" spc="160" dirty="0">
                <a:solidFill>
                  <a:srgbClr val="5D7186"/>
                </a:solidFill>
                <a:latin typeface="Calibri" pitchFamily="34" charset="0"/>
                <a:ea typeface="Calibri" pitchFamily="34" charset="-122"/>
                <a:cs typeface="Calibri" pitchFamily="34" charset="-120"/>
              </a:rPr>
              <a:t>BACKUP · QA</a:t>
            </a:r>
            <a:endParaRPr lang="en-US" sz="1050" dirty="0"/>
          </a:p>
        </p:txBody>
      </p:sp>
      <p:sp>
        <p:nvSpPr>
          <p:cNvPr id="3" name="Text 1"/>
          <p:cNvSpPr/>
          <p:nvPr/>
        </p:nvSpPr>
        <p:spPr>
          <a:xfrm>
            <a:off x="566928" y="640080"/>
            <a:ext cx="10607040" cy="658368"/>
          </a:xfrm>
          <a:prstGeom prst="rect">
            <a:avLst/>
          </a:prstGeom>
          <a:noFill/>
          <a:ln/>
        </p:spPr>
        <p:txBody>
          <a:bodyPr wrap="square" lIns="0" tIns="0" rIns="0" bIns="0" rtlCol="0" anchor="t"/>
          <a:lstStyle/>
          <a:p>
            <a:pPr marL="0" indent="0">
              <a:buNone/>
            </a:pPr>
            <a:r>
              <a:rPr lang="en-US" sz="2700" b="1" dirty="0">
                <a:solidFill>
                  <a:srgbClr val="12202E"/>
                </a:solidFill>
                <a:latin typeface="Cambria" pitchFamily="34" charset="0"/>
                <a:ea typeface="Cambria" pitchFamily="34" charset="-122"/>
                <a:cs typeface="Cambria" pitchFamily="34" charset="-120"/>
              </a:rPr>
              <a:t>Hazard analysis and risk matrix</a:t>
            </a:r>
            <a:endParaRPr lang="en-US" sz="2700" dirty="0"/>
          </a:p>
        </p:txBody>
      </p:sp>
      <p:sp>
        <p:nvSpPr>
          <p:cNvPr id="4" name="Shape 2"/>
          <p:cNvSpPr/>
          <p:nvPr/>
        </p:nvSpPr>
        <p:spPr>
          <a:xfrm>
            <a:off x="566928" y="1737360"/>
            <a:ext cx="6492240" cy="512064"/>
          </a:xfrm>
          <a:prstGeom prst="roundRect">
            <a:avLst>
              <a:gd name="adj" fmla="val 10714"/>
            </a:avLst>
          </a:prstGeom>
          <a:solidFill>
            <a:srgbClr val="F5F7FA"/>
          </a:solidFill>
          <a:ln w="12700">
            <a:solidFill>
              <a:srgbClr val="DDE5EE"/>
            </a:solidFill>
            <a:prstDash val="solid"/>
          </a:ln>
        </p:spPr>
        <p:txBody>
          <a:bodyPr/>
          <a:lstStyle/>
          <a:p>
            <a:endParaRPr lang="de-CH"/>
          </a:p>
        </p:txBody>
      </p:sp>
      <p:sp>
        <p:nvSpPr>
          <p:cNvPr id="5" name="Text 3"/>
          <p:cNvSpPr/>
          <p:nvPr/>
        </p:nvSpPr>
        <p:spPr>
          <a:xfrm>
            <a:off x="749808" y="1737360"/>
            <a:ext cx="640080" cy="512064"/>
          </a:xfrm>
          <a:prstGeom prst="rect">
            <a:avLst/>
          </a:prstGeom>
          <a:noFill/>
          <a:ln/>
        </p:spPr>
        <p:txBody>
          <a:bodyPr wrap="square" lIns="0" tIns="0" rIns="0" bIns="0" rtlCol="0" anchor="ctr"/>
          <a:lstStyle/>
          <a:p>
            <a:pPr marL="0" indent="0">
              <a:buNone/>
            </a:pPr>
            <a:r>
              <a:rPr lang="en-US" sz="1050" b="1" dirty="0">
                <a:solidFill>
                  <a:srgbClr val="12202E"/>
                </a:solidFill>
                <a:latin typeface="Calibri" pitchFamily="34" charset="0"/>
                <a:ea typeface="Calibri" pitchFamily="34" charset="-122"/>
                <a:cs typeface="Calibri" pitchFamily="34" charset="-120"/>
              </a:rPr>
              <a:t>H-01</a:t>
            </a:r>
            <a:endParaRPr lang="en-US" sz="1050" dirty="0"/>
          </a:p>
        </p:txBody>
      </p:sp>
      <p:sp>
        <p:nvSpPr>
          <p:cNvPr id="6" name="Text 4"/>
          <p:cNvSpPr/>
          <p:nvPr/>
        </p:nvSpPr>
        <p:spPr>
          <a:xfrm>
            <a:off x="1435608" y="1737360"/>
            <a:ext cx="3931920" cy="512064"/>
          </a:xfrm>
          <a:prstGeom prst="rect">
            <a:avLst/>
          </a:prstGeom>
          <a:noFill/>
          <a:ln/>
        </p:spPr>
        <p:txBody>
          <a:bodyPr wrap="square" lIns="0" tIns="0" rIns="0" bIns="0" rtlCol="0" anchor="ctr"/>
          <a:lstStyle/>
          <a:p>
            <a:pPr marL="0" indent="0">
              <a:buNone/>
            </a:pPr>
            <a:r>
              <a:rPr lang="en-US" sz="1100" dirty="0">
                <a:solidFill>
                  <a:srgbClr val="12202E"/>
                </a:solidFill>
                <a:latin typeface="Calibri" pitchFamily="34" charset="0"/>
                <a:ea typeface="Calibri" pitchFamily="34" charset="-122"/>
                <a:cs typeface="Calibri" pitchFamily="34" charset="-120"/>
              </a:rPr>
              <a:t>An infection is classified GREEN</a:t>
            </a:r>
            <a:endParaRPr lang="en-US" sz="1100" dirty="0"/>
          </a:p>
        </p:txBody>
      </p:sp>
      <p:sp>
        <p:nvSpPr>
          <p:cNvPr id="7" name="Text 5"/>
          <p:cNvSpPr/>
          <p:nvPr/>
        </p:nvSpPr>
        <p:spPr>
          <a:xfrm>
            <a:off x="5413248" y="1737360"/>
            <a:ext cx="868680" cy="512064"/>
          </a:xfrm>
          <a:prstGeom prst="rect">
            <a:avLst/>
          </a:prstGeom>
          <a:noFill/>
          <a:ln/>
        </p:spPr>
        <p:txBody>
          <a:bodyPr wrap="square" lIns="0" tIns="0" rIns="0" bIns="0" rtlCol="0" anchor="ctr"/>
          <a:lstStyle/>
          <a:p>
            <a:pPr marL="0" indent="0">
              <a:buNone/>
            </a:pPr>
            <a:r>
              <a:rPr lang="en-US" sz="850" dirty="0">
                <a:solidFill>
                  <a:srgbClr val="5D7186"/>
                </a:solidFill>
                <a:latin typeface="Calibri" pitchFamily="34" charset="0"/>
                <a:ea typeface="Calibri" pitchFamily="34" charset="-122"/>
                <a:cs typeface="Calibri" pitchFamily="34" charset="-120"/>
              </a:rPr>
              <a:t>sev 5 · lik 3</a:t>
            </a:r>
            <a:endParaRPr lang="en-US" sz="850" dirty="0"/>
          </a:p>
        </p:txBody>
      </p:sp>
      <p:sp>
        <p:nvSpPr>
          <p:cNvPr id="8" name="Shape 6"/>
          <p:cNvSpPr/>
          <p:nvPr/>
        </p:nvSpPr>
        <p:spPr>
          <a:xfrm>
            <a:off x="6437376" y="1865376"/>
            <a:ext cx="457200" cy="256032"/>
          </a:xfrm>
          <a:prstGeom prst="roundRect">
            <a:avLst>
              <a:gd name="adj" fmla="val 50000"/>
            </a:avLst>
          </a:prstGeom>
          <a:solidFill>
            <a:srgbClr val="C0281C"/>
          </a:solidFill>
          <a:ln w="12700">
            <a:solidFill>
              <a:srgbClr val="C0281C"/>
            </a:solidFill>
            <a:prstDash val="solid"/>
          </a:ln>
        </p:spPr>
        <p:txBody>
          <a:bodyPr/>
          <a:lstStyle/>
          <a:p>
            <a:endParaRPr lang="de-CH"/>
          </a:p>
        </p:txBody>
      </p:sp>
      <p:sp>
        <p:nvSpPr>
          <p:cNvPr id="9" name="Text 7"/>
          <p:cNvSpPr/>
          <p:nvPr/>
        </p:nvSpPr>
        <p:spPr>
          <a:xfrm>
            <a:off x="6437376" y="1865376"/>
            <a:ext cx="457200"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15</a:t>
            </a:r>
            <a:endParaRPr lang="en-US" sz="950" dirty="0"/>
          </a:p>
        </p:txBody>
      </p:sp>
      <p:sp>
        <p:nvSpPr>
          <p:cNvPr id="10" name="Shape 8"/>
          <p:cNvSpPr/>
          <p:nvPr/>
        </p:nvSpPr>
        <p:spPr>
          <a:xfrm>
            <a:off x="566928" y="2340864"/>
            <a:ext cx="6492240" cy="512064"/>
          </a:xfrm>
          <a:prstGeom prst="roundRect">
            <a:avLst>
              <a:gd name="adj" fmla="val 10714"/>
            </a:avLst>
          </a:prstGeom>
          <a:solidFill>
            <a:srgbClr val="FFFFFF"/>
          </a:solidFill>
          <a:ln w="12700">
            <a:solidFill>
              <a:srgbClr val="DDE5EE"/>
            </a:solidFill>
            <a:prstDash val="solid"/>
          </a:ln>
        </p:spPr>
        <p:txBody>
          <a:bodyPr/>
          <a:lstStyle/>
          <a:p>
            <a:endParaRPr lang="de-CH"/>
          </a:p>
        </p:txBody>
      </p:sp>
      <p:sp>
        <p:nvSpPr>
          <p:cNvPr id="11" name="Text 9"/>
          <p:cNvSpPr/>
          <p:nvPr/>
        </p:nvSpPr>
        <p:spPr>
          <a:xfrm>
            <a:off x="749808" y="2340864"/>
            <a:ext cx="640080" cy="512064"/>
          </a:xfrm>
          <a:prstGeom prst="rect">
            <a:avLst/>
          </a:prstGeom>
          <a:noFill/>
          <a:ln/>
        </p:spPr>
        <p:txBody>
          <a:bodyPr wrap="square" lIns="0" tIns="0" rIns="0" bIns="0" rtlCol="0" anchor="ctr"/>
          <a:lstStyle/>
          <a:p>
            <a:pPr marL="0" indent="0">
              <a:buNone/>
            </a:pPr>
            <a:r>
              <a:rPr lang="en-US" sz="1050" b="1" dirty="0">
                <a:solidFill>
                  <a:srgbClr val="12202E"/>
                </a:solidFill>
                <a:latin typeface="Calibri" pitchFamily="34" charset="0"/>
                <a:ea typeface="Calibri" pitchFamily="34" charset="-122"/>
                <a:cs typeface="Calibri" pitchFamily="34" charset="-120"/>
              </a:rPr>
              <a:t>H-02</a:t>
            </a:r>
            <a:endParaRPr lang="en-US" sz="1050" dirty="0"/>
          </a:p>
        </p:txBody>
      </p:sp>
      <p:sp>
        <p:nvSpPr>
          <p:cNvPr id="12" name="Text 10"/>
          <p:cNvSpPr/>
          <p:nvPr/>
        </p:nvSpPr>
        <p:spPr>
          <a:xfrm>
            <a:off x="1435608" y="2340864"/>
            <a:ext cx="3931920" cy="512064"/>
          </a:xfrm>
          <a:prstGeom prst="rect">
            <a:avLst/>
          </a:prstGeom>
          <a:noFill/>
          <a:ln/>
        </p:spPr>
        <p:txBody>
          <a:bodyPr wrap="square" lIns="0" tIns="0" rIns="0" bIns="0" rtlCol="0" anchor="ctr"/>
          <a:lstStyle/>
          <a:p>
            <a:pPr marL="0" indent="0">
              <a:buNone/>
            </a:pPr>
            <a:r>
              <a:rPr lang="en-US" sz="1100" dirty="0">
                <a:solidFill>
                  <a:srgbClr val="12202E"/>
                </a:solidFill>
                <a:latin typeface="Calibri" pitchFamily="34" charset="0"/>
                <a:ea typeface="Calibri" pitchFamily="34" charset="-122"/>
                <a:cs typeface="Calibri" pitchFamily="34" charset="-120"/>
              </a:rPr>
              <a:t>An emergency is classified ORANGE</a:t>
            </a:r>
            <a:endParaRPr lang="en-US" sz="1100" dirty="0"/>
          </a:p>
        </p:txBody>
      </p:sp>
      <p:sp>
        <p:nvSpPr>
          <p:cNvPr id="13" name="Text 11"/>
          <p:cNvSpPr/>
          <p:nvPr/>
        </p:nvSpPr>
        <p:spPr>
          <a:xfrm>
            <a:off x="5413248" y="2340864"/>
            <a:ext cx="868680" cy="512064"/>
          </a:xfrm>
          <a:prstGeom prst="rect">
            <a:avLst/>
          </a:prstGeom>
          <a:noFill/>
          <a:ln/>
        </p:spPr>
        <p:txBody>
          <a:bodyPr wrap="square" lIns="0" tIns="0" rIns="0" bIns="0" rtlCol="0" anchor="ctr"/>
          <a:lstStyle/>
          <a:p>
            <a:pPr marL="0" indent="0">
              <a:buNone/>
            </a:pPr>
            <a:r>
              <a:rPr lang="en-US" sz="850" dirty="0">
                <a:solidFill>
                  <a:srgbClr val="5D7186"/>
                </a:solidFill>
                <a:latin typeface="Calibri" pitchFamily="34" charset="0"/>
                <a:ea typeface="Calibri" pitchFamily="34" charset="-122"/>
                <a:cs typeface="Calibri" pitchFamily="34" charset="-120"/>
              </a:rPr>
              <a:t>sev 5 · lik 2</a:t>
            </a:r>
            <a:endParaRPr lang="en-US" sz="850" dirty="0"/>
          </a:p>
        </p:txBody>
      </p:sp>
      <p:sp>
        <p:nvSpPr>
          <p:cNvPr id="14" name="Shape 12"/>
          <p:cNvSpPr/>
          <p:nvPr/>
        </p:nvSpPr>
        <p:spPr>
          <a:xfrm>
            <a:off x="6437376" y="2468880"/>
            <a:ext cx="457200" cy="256032"/>
          </a:xfrm>
          <a:prstGeom prst="roundRect">
            <a:avLst>
              <a:gd name="adj" fmla="val 50000"/>
            </a:avLst>
          </a:prstGeom>
          <a:solidFill>
            <a:srgbClr val="C25C07"/>
          </a:solidFill>
          <a:ln w="12700">
            <a:solidFill>
              <a:srgbClr val="C25C07"/>
            </a:solidFill>
            <a:prstDash val="solid"/>
          </a:ln>
        </p:spPr>
        <p:txBody>
          <a:bodyPr/>
          <a:lstStyle/>
          <a:p>
            <a:endParaRPr lang="de-CH"/>
          </a:p>
        </p:txBody>
      </p:sp>
      <p:sp>
        <p:nvSpPr>
          <p:cNvPr id="15" name="Text 13"/>
          <p:cNvSpPr/>
          <p:nvPr/>
        </p:nvSpPr>
        <p:spPr>
          <a:xfrm>
            <a:off x="6437376" y="2468880"/>
            <a:ext cx="457200"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10</a:t>
            </a:r>
            <a:endParaRPr lang="en-US" sz="950" dirty="0"/>
          </a:p>
        </p:txBody>
      </p:sp>
      <p:sp>
        <p:nvSpPr>
          <p:cNvPr id="16" name="Shape 14"/>
          <p:cNvSpPr/>
          <p:nvPr/>
        </p:nvSpPr>
        <p:spPr>
          <a:xfrm>
            <a:off x="566928" y="2944368"/>
            <a:ext cx="6492240" cy="512064"/>
          </a:xfrm>
          <a:prstGeom prst="roundRect">
            <a:avLst>
              <a:gd name="adj" fmla="val 10714"/>
            </a:avLst>
          </a:prstGeom>
          <a:solidFill>
            <a:srgbClr val="F5F7FA"/>
          </a:solidFill>
          <a:ln w="12700">
            <a:solidFill>
              <a:srgbClr val="DDE5EE"/>
            </a:solidFill>
            <a:prstDash val="solid"/>
          </a:ln>
        </p:spPr>
        <p:txBody>
          <a:bodyPr/>
          <a:lstStyle/>
          <a:p>
            <a:endParaRPr lang="de-CH"/>
          </a:p>
        </p:txBody>
      </p:sp>
      <p:sp>
        <p:nvSpPr>
          <p:cNvPr id="17" name="Text 15"/>
          <p:cNvSpPr/>
          <p:nvPr/>
        </p:nvSpPr>
        <p:spPr>
          <a:xfrm>
            <a:off x="749808" y="2944368"/>
            <a:ext cx="640080" cy="512064"/>
          </a:xfrm>
          <a:prstGeom prst="rect">
            <a:avLst/>
          </a:prstGeom>
          <a:noFill/>
          <a:ln/>
        </p:spPr>
        <p:txBody>
          <a:bodyPr wrap="square" lIns="0" tIns="0" rIns="0" bIns="0" rtlCol="0" anchor="ctr"/>
          <a:lstStyle/>
          <a:p>
            <a:pPr marL="0" indent="0">
              <a:buNone/>
            </a:pPr>
            <a:r>
              <a:rPr lang="en-US" sz="1050" b="1" dirty="0">
                <a:solidFill>
                  <a:srgbClr val="12202E"/>
                </a:solidFill>
                <a:latin typeface="Calibri" pitchFamily="34" charset="0"/>
                <a:ea typeface="Calibri" pitchFamily="34" charset="-122"/>
                <a:cs typeface="Calibri" pitchFamily="34" charset="-120"/>
              </a:rPr>
              <a:t>H-03</a:t>
            </a:r>
            <a:endParaRPr lang="en-US" sz="1050" dirty="0"/>
          </a:p>
        </p:txBody>
      </p:sp>
      <p:sp>
        <p:nvSpPr>
          <p:cNvPr id="18" name="Text 16"/>
          <p:cNvSpPr/>
          <p:nvPr/>
        </p:nvSpPr>
        <p:spPr>
          <a:xfrm>
            <a:off x="1435608" y="2944368"/>
            <a:ext cx="3931920" cy="512064"/>
          </a:xfrm>
          <a:prstGeom prst="rect">
            <a:avLst/>
          </a:prstGeom>
          <a:noFill/>
          <a:ln/>
        </p:spPr>
        <p:txBody>
          <a:bodyPr wrap="square" lIns="0" tIns="0" rIns="0" bIns="0" rtlCol="0" anchor="ctr"/>
          <a:lstStyle/>
          <a:p>
            <a:pPr marL="0" indent="0">
              <a:buNone/>
            </a:pPr>
            <a:r>
              <a:rPr lang="en-US" sz="1100" dirty="0">
                <a:solidFill>
                  <a:srgbClr val="12202E"/>
                </a:solidFill>
                <a:latin typeface="Calibri" pitchFamily="34" charset="0"/>
                <a:ea typeface="Calibri" pitchFamily="34" charset="-122"/>
                <a:cs typeface="Calibri" pitchFamily="34" charset="-120"/>
              </a:rPr>
              <a:t>The patient abandons the check</a:t>
            </a:r>
            <a:endParaRPr lang="en-US" sz="1100" dirty="0"/>
          </a:p>
        </p:txBody>
      </p:sp>
      <p:sp>
        <p:nvSpPr>
          <p:cNvPr id="19" name="Text 17"/>
          <p:cNvSpPr/>
          <p:nvPr/>
        </p:nvSpPr>
        <p:spPr>
          <a:xfrm>
            <a:off x="5413248" y="2944368"/>
            <a:ext cx="868680" cy="512064"/>
          </a:xfrm>
          <a:prstGeom prst="rect">
            <a:avLst/>
          </a:prstGeom>
          <a:noFill/>
          <a:ln/>
        </p:spPr>
        <p:txBody>
          <a:bodyPr wrap="square" lIns="0" tIns="0" rIns="0" bIns="0" rtlCol="0" anchor="ctr"/>
          <a:lstStyle/>
          <a:p>
            <a:pPr marL="0" indent="0">
              <a:buNone/>
            </a:pPr>
            <a:r>
              <a:rPr lang="en-US" sz="850" dirty="0">
                <a:solidFill>
                  <a:srgbClr val="5D7186"/>
                </a:solidFill>
                <a:latin typeface="Calibri" pitchFamily="34" charset="0"/>
                <a:ea typeface="Calibri" pitchFamily="34" charset="-122"/>
                <a:cs typeface="Calibri" pitchFamily="34" charset="-120"/>
              </a:rPr>
              <a:t>sev 3 · lik 3</a:t>
            </a:r>
            <a:endParaRPr lang="en-US" sz="850" dirty="0"/>
          </a:p>
        </p:txBody>
      </p:sp>
      <p:sp>
        <p:nvSpPr>
          <p:cNvPr id="20" name="Shape 18"/>
          <p:cNvSpPr/>
          <p:nvPr/>
        </p:nvSpPr>
        <p:spPr>
          <a:xfrm>
            <a:off x="6437376" y="3072384"/>
            <a:ext cx="457200" cy="256032"/>
          </a:xfrm>
          <a:prstGeom prst="roundRect">
            <a:avLst>
              <a:gd name="adj" fmla="val 50000"/>
            </a:avLst>
          </a:prstGeom>
          <a:solidFill>
            <a:srgbClr val="9C6D00"/>
          </a:solidFill>
          <a:ln w="12700">
            <a:solidFill>
              <a:srgbClr val="9C6D00"/>
            </a:solidFill>
            <a:prstDash val="solid"/>
          </a:ln>
        </p:spPr>
        <p:txBody>
          <a:bodyPr/>
          <a:lstStyle/>
          <a:p>
            <a:endParaRPr lang="de-CH"/>
          </a:p>
        </p:txBody>
      </p:sp>
      <p:sp>
        <p:nvSpPr>
          <p:cNvPr id="21" name="Text 19"/>
          <p:cNvSpPr/>
          <p:nvPr/>
        </p:nvSpPr>
        <p:spPr>
          <a:xfrm>
            <a:off x="6437376" y="3072384"/>
            <a:ext cx="457200"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9</a:t>
            </a:r>
            <a:endParaRPr lang="en-US" sz="950" dirty="0"/>
          </a:p>
        </p:txBody>
      </p:sp>
      <p:sp>
        <p:nvSpPr>
          <p:cNvPr id="22" name="Shape 20"/>
          <p:cNvSpPr/>
          <p:nvPr/>
        </p:nvSpPr>
        <p:spPr>
          <a:xfrm>
            <a:off x="566928" y="3547872"/>
            <a:ext cx="6492240" cy="512064"/>
          </a:xfrm>
          <a:prstGeom prst="roundRect">
            <a:avLst>
              <a:gd name="adj" fmla="val 10714"/>
            </a:avLst>
          </a:prstGeom>
          <a:solidFill>
            <a:srgbClr val="FFFFFF"/>
          </a:solidFill>
          <a:ln w="12700">
            <a:solidFill>
              <a:srgbClr val="DDE5EE"/>
            </a:solidFill>
            <a:prstDash val="solid"/>
          </a:ln>
        </p:spPr>
        <p:txBody>
          <a:bodyPr/>
          <a:lstStyle/>
          <a:p>
            <a:endParaRPr lang="de-CH"/>
          </a:p>
        </p:txBody>
      </p:sp>
      <p:sp>
        <p:nvSpPr>
          <p:cNvPr id="23" name="Text 21"/>
          <p:cNvSpPr/>
          <p:nvPr/>
        </p:nvSpPr>
        <p:spPr>
          <a:xfrm>
            <a:off x="749808" y="3547872"/>
            <a:ext cx="640080" cy="512064"/>
          </a:xfrm>
          <a:prstGeom prst="rect">
            <a:avLst/>
          </a:prstGeom>
          <a:noFill/>
          <a:ln/>
        </p:spPr>
        <p:txBody>
          <a:bodyPr wrap="square" lIns="0" tIns="0" rIns="0" bIns="0" rtlCol="0" anchor="ctr"/>
          <a:lstStyle/>
          <a:p>
            <a:pPr marL="0" indent="0">
              <a:buNone/>
            </a:pPr>
            <a:r>
              <a:rPr lang="en-US" sz="1050" b="1" dirty="0">
                <a:solidFill>
                  <a:srgbClr val="12202E"/>
                </a:solidFill>
                <a:latin typeface="Calibri" pitchFamily="34" charset="0"/>
                <a:ea typeface="Calibri" pitchFamily="34" charset="-122"/>
                <a:cs typeface="Calibri" pitchFamily="34" charset="-120"/>
              </a:rPr>
              <a:t>H-04</a:t>
            </a:r>
            <a:endParaRPr lang="en-US" sz="1050" dirty="0"/>
          </a:p>
        </p:txBody>
      </p:sp>
      <p:sp>
        <p:nvSpPr>
          <p:cNvPr id="24" name="Text 22"/>
          <p:cNvSpPr/>
          <p:nvPr/>
        </p:nvSpPr>
        <p:spPr>
          <a:xfrm>
            <a:off x="1435608" y="3547872"/>
            <a:ext cx="3931920" cy="512064"/>
          </a:xfrm>
          <a:prstGeom prst="rect">
            <a:avLst/>
          </a:prstGeom>
          <a:noFill/>
          <a:ln/>
        </p:spPr>
        <p:txBody>
          <a:bodyPr wrap="square" lIns="0" tIns="0" rIns="0" bIns="0" rtlCol="0" anchor="ctr"/>
          <a:lstStyle/>
          <a:p>
            <a:pPr marL="0" indent="0">
              <a:buNone/>
            </a:pPr>
            <a:r>
              <a:rPr lang="en-US" sz="1100" dirty="0">
                <a:solidFill>
                  <a:srgbClr val="12202E"/>
                </a:solidFill>
                <a:latin typeface="Calibri" pitchFamily="34" charset="0"/>
                <a:ea typeface="Calibri" pitchFamily="34" charset="-122"/>
                <a:cs typeface="Calibri" pitchFamily="34" charset="-120"/>
              </a:rPr>
              <a:t>False alarm during normal healing</a:t>
            </a:r>
            <a:endParaRPr lang="en-US" sz="1100" dirty="0"/>
          </a:p>
        </p:txBody>
      </p:sp>
      <p:sp>
        <p:nvSpPr>
          <p:cNvPr id="25" name="Text 23"/>
          <p:cNvSpPr/>
          <p:nvPr/>
        </p:nvSpPr>
        <p:spPr>
          <a:xfrm>
            <a:off x="5413248" y="3547872"/>
            <a:ext cx="868680" cy="512064"/>
          </a:xfrm>
          <a:prstGeom prst="rect">
            <a:avLst/>
          </a:prstGeom>
          <a:noFill/>
          <a:ln/>
        </p:spPr>
        <p:txBody>
          <a:bodyPr wrap="square" lIns="0" tIns="0" rIns="0" bIns="0" rtlCol="0" anchor="ctr"/>
          <a:lstStyle/>
          <a:p>
            <a:pPr marL="0" indent="0">
              <a:buNone/>
            </a:pPr>
            <a:r>
              <a:rPr lang="en-US" sz="850" dirty="0">
                <a:solidFill>
                  <a:srgbClr val="5D7186"/>
                </a:solidFill>
                <a:latin typeface="Calibri" pitchFamily="34" charset="0"/>
                <a:ea typeface="Calibri" pitchFamily="34" charset="-122"/>
                <a:cs typeface="Calibri" pitchFamily="34" charset="-120"/>
              </a:rPr>
              <a:t>sev 2 · lik 4</a:t>
            </a:r>
            <a:endParaRPr lang="en-US" sz="850" dirty="0"/>
          </a:p>
        </p:txBody>
      </p:sp>
      <p:sp>
        <p:nvSpPr>
          <p:cNvPr id="26" name="Shape 24"/>
          <p:cNvSpPr/>
          <p:nvPr/>
        </p:nvSpPr>
        <p:spPr>
          <a:xfrm>
            <a:off x="6437376" y="3675888"/>
            <a:ext cx="457200" cy="256032"/>
          </a:xfrm>
          <a:prstGeom prst="roundRect">
            <a:avLst>
              <a:gd name="adj" fmla="val 50000"/>
            </a:avLst>
          </a:prstGeom>
          <a:solidFill>
            <a:srgbClr val="9C6D00"/>
          </a:solidFill>
          <a:ln w="12700">
            <a:solidFill>
              <a:srgbClr val="9C6D00"/>
            </a:solidFill>
            <a:prstDash val="solid"/>
          </a:ln>
        </p:spPr>
        <p:txBody>
          <a:bodyPr/>
          <a:lstStyle/>
          <a:p>
            <a:endParaRPr lang="de-CH"/>
          </a:p>
        </p:txBody>
      </p:sp>
      <p:sp>
        <p:nvSpPr>
          <p:cNvPr id="27" name="Text 25"/>
          <p:cNvSpPr/>
          <p:nvPr/>
        </p:nvSpPr>
        <p:spPr>
          <a:xfrm>
            <a:off x="6437376" y="3675888"/>
            <a:ext cx="457200"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8</a:t>
            </a:r>
            <a:endParaRPr lang="en-US" sz="950" dirty="0"/>
          </a:p>
        </p:txBody>
      </p:sp>
      <p:sp>
        <p:nvSpPr>
          <p:cNvPr id="28" name="Shape 26"/>
          <p:cNvSpPr/>
          <p:nvPr/>
        </p:nvSpPr>
        <p:spPr>
          <a:xfrm>
            <a:off x="566928" y="4151376"/>
            <a:ext cx="6492240" cy="512064"/>
          </a:xfrm>
          <a:prstGeom prst="roundRect">
            <a:avLst>
              <a:gd name="adj" fmla="val 10714"/>
            </a:avLst>
          </a:prstGeom>
          <a:solidFill>
            <a:srgbClr val="F5F7FA"/>
          </a:solidFill>
          <a:ln w="12700">
            <a:solidFill>
              <a:srgbClr val="DDE5EE"/>
            </a:solidFill>
            <a:prstDash val="solid"/>
          </a:ln>
        </p:spPr>
        <p:txBody>
          <a:bodyPr/>
          <a:lstStyle/>
          <a:p>
            <a:endParaRPr lang="de-CH"/>
          </a:p>
        </p:txBody>
      </p:sp>
      <p:sp>
        <p:nvSpPr>
          <p:cNvPr id="29" name="Text 27"/>
          <p:cNvSpPr/>
          <p:nvPr/>
        </p:nvSpPr>
        <p:spPr>
          <a:xfrm>
            <a:off x="749808" y="4151376"/>
            <a:ext cx="640080" cy="512064"/>
          </a:xfrm>
          <a:prstGeom prst="rect">
            <a:avLst/>
          </a:prstGeom>
          <a:noFill/>
          <a:ln/>
        </p:spPr>
        <p:txBody>
          <a:bodyPr wrap="square" lIns="0" tIns="0" rIns="0" bIns="0" rtlCol="0" anchor="ctr"/>
          <a:lstStyle/>
          <a:p>
            <a:pPr marL="0" indent="0">
              <a:buNone/>
            </a:pPr>
            <a:r>
              <a:rPr lang="en-US" sz="1050" b="1" dirty="0">
                <a:solidFill>
                  <a:srgbClr val="12202E"/>
                </a:solidFill>
                <a:latin typeface="Calibri" pitchFamily="34" charset="0"/>
                <a:ea typeface="Calibri" pitchFamily="34" charset="-122"/>
                <a:cs typeface="Calibri" pitchFamily="34" charset="-120"/>
              </a:rPr>
              <a:t>H-06</a:t>
            </a:r>
            <a:endParaRPr lang="en-US" sz="1050" dirty="0"/>
          </a:p>
        </p:txBody>
      </p:sp>
      <p:sp>
        <p:nvSpPr>
          <p:cNvPr id="30" name="Text 28"/>
          <p:cNvSpPr/>
          <p:nvPr/>
        </p:nvSpPr>
        <p:spPr>
          <a:xfrm>
            <a:off x="1435608" y="4151376"/>
            <a:ext cx="3931920" cy="512064"/>
          </a:xfrm>
          <a:prstGeom prst="rect">
            <a:avLst/>
          </a:prstGeom>
          <a:noFill/>
          <a:ln/>
        </p:spPr>
        <p:txBody>
          <a:bodyPr wrap="square" lIns="0" tIns="0" rIns="0" bIns="0" rtlCol="0" anchor="ctr"/>
          <a:lstStyle/>
          <a:p>
            <a:pPr marL="0" indent="0">
              <a:buNone/>
            </a:pPr>
            <a:r>
              <a:rPr lang="en-US" sz="1100" dirty="0">
                <a:solidFill>
                  <a:srgbClr val="12202E"/>
                </a:solidFill>
                <a:latin typeface="Calibri" pitchFamily="34" charset="0"/>
                <a:ea typeface="Calibri" pitchFamily="34" charset="-122"/>
                <a:cs typeface="Calibri" pitchFamily="34" charset="-120"/>
              </a:rPr>
              <a:t>The practice overlooks an alert</a:t>
            </a:r>
            <a:endParaRPr lang="en-US" sz="1100" dirty="0"/>
          </a:p>
        </p:txBody>
      </p:sp>
      <p:sp>
        <p:nvSpPr>
          <p:cNvPr id="31" name="Text 29"/>
          <p:cNvSpPr/>
          <p:nvPr/>
        </p:nvSpPr>
        <p:spPr>
          <a:xfrm>
            <a:off x="5413248" y="4151376"/>
            <a:ext cx="868680" cy="512064"/>
          </a:xfrm>
          <a:prstGeom prst="rect">
            <a:avLst/>
          </a:prstGeom>
          <a:noFill/>
          <a:ln/>
        </p:spPr>
        <p:txBody>
          <a:bodyPr wrap="square" lIns="0" tIns="0" rIns="0" bIns="0" rtlCol="0" anchor="ctr"/>
          <a:lstStyle/>
          <a:p>
            <a:pPr marL="0" indent="0">
              <a:buNone/>
            </a:pPr>
            <a:r>
              <a:rPr lang="en-US" sz="850" dirty="0">
                <a:solidFill>
                  <a:srgbClr val="5D7186"/>
                </a:solidFill>
                <a:latin typeface="Calibri" pitchFamily="34" charset="0"/>
                <a:ea typeface="Calibri" pitchFamily="34" charset="-122"/>
                <a:cs typeface="Calibri" pitchFamily="34" charset="-120"/>
              </a:rPr>
              <a:t>sev 4 · lik 2</a:t>
            </a:r>
            <a:endParaRPr lang="en-US" sz="850" dirty="0"/>
          </a:p>
        </p:txBody>
      </p:sp>
      <p:sp>
        <p:nvSpPr>
          <p:cNvPr id="32" name="Shape 30"/>
          <p:cNvSpPr/>
          <p:nvPr/>
        </p:nvSpPr>
        <p:spPr>
          <a:xfrm>
            <a:off x="6437376" y="4279392"/>
            <a:ext cx="457200" cy="256032"/>
          </a:xfrm>
          <a:prstGeom prst="roundRect">
            <a:avLst>
              <a:gd name="adj" fmla="val 50000"/>
            </a:avLst>
          </a:prstGeom>
          <a:solidFill>
            <a:srgbClr val="9C6D00"/>
          </a:solidFill>
          <a:ln w="12700">
            <a:solidFill>
              <a:srgbClr val="9C6D00"/>
            </a:solidFill>
            <a:prstDash val="solid"/>
          </a:ln>
        </p:spPr>
        <p:txBody>
          <a:bodyPr/>
          <a:lstStyle/>
          <a:p>
            <a:endParaRPr lang="de-CH"/>
          </a:p>
        </p:txBody>
      </p:sp>
      <p:sp>
        <p:nvSpPr>
          <p:cNvPr id="33" name="Text 31"/>
          <p:cNvSpPr/>
          <p:nvPr/>
        </p:nvSpPr>
        <p:spPr>
          <a:xfrm>
            <a:off x="6437376" y="4279392"/>
            <a:ext cx="457200"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8</a:t>
            </a:r>
            <a:endParaRPr lang="en-US" sz="950" dirty="0"/>
          </a:p>
        </p:txBody>
      </p:sp>
      <p:sp>
        <p:nvSpPr>
          <p:cNvPr id="34" name="Shape 32"/>
          <p:cNvSpPr/>
          <p:nvPr/>
        </p:nvSpPr>
        <p:spPr>
          <a:xfrm>
            <a:off x="566928" y="4754880"/>
            <a:ext cx="6492240" cy="512064"/>
          </a:xfrm>
          <a:prstGeom prst="roundRect">
            <a:avLst>
              <a:gd name="adj" fmla="val 10714"/>
            </a:avLst>
          </a:prstGeom>
          <a:solidFill>
            <a:srgbClr val="FFFFFF"/>
          </a:solidFill>
          <a:ln w="12700">
            <a:solidFill>
              <a:srgbClr val="DDE5EE"/>
            </a:solidFill>
            <a:prstDash val="solid"/>
          </a:ln>
        </p:spPr>
        <p:txBody>
          <a:bodyPr/>
          <a:lstStyle/>
          <a:p>
            <a:endParaRPr lang="de-CH"/>
          </a:p>
        </p:txBody>
      </p:sp>
      <p:sp>
        <p:nvSpPr>
          <p:cNvPr id="35" name="Text 33"/>
          <p:cNvSpPr/>
          <p:nvPr/>
        </p:nvSpPr>
        <p:spPr>
          <a:xfrm>
            <a:off x="749808" y="4754880"/>
            <a:ext cx="640080" cy="512064"/>
          </a:xfrm>
          <a:prstGeom prst="rect">
            <a:avLst/>
          </a:prstGeom>
          <a:noFill/>
          <a:ln/>
        </p:spPr>
        <p:txBody>
          <a:bodyPr wrap="square" lIns="0" tIns="0" rIns="0" bIns="0" rtlCol="0" anchor="ctr"/>
          <a:lstStyle/>
          <a:p>
            <a:pPr marL="0" indent="0">
              <a:buNone/>
            </a:pPr>
            <a:r>
              <a:rPr lang="en-US" sz="1050" b="1" dirty="0">
                <a:solidFill>
                  <a:srgbClr val="12202E"/>
                </a:solidFill>
                <a:latin typeface="Calibri" pitchFamily="34" charset="0"/>
                <a:ea typeface="Calibri" pitchFamily="34" charset="-122"/>
                <a:cs typeface="Calibri" pitchFamily="34" charset="-120"/>
              </a:rPr>
              <a:t>H-05</a:t>
            </a:r>
            <a:endParaRPr lang="en-US" sz="1050" dirty="0"/>
          </a:p>
        </p:txBody>
      </p:sp>
      <p:sp>
        <p:nvSpPr>
          <p:cNvPr id="36" name="Text 34"/>
          <p:cNvSpPr/>
          <p:nvPr/>
        </p:nvSpPr>
        <p:spPr>
          <a:xfrm>
            <a:off x="1435608" y="4754880"/>
            <a:ext cx="3931920" cy="512064"/>
          </a:xfrm>
          <a:prstGeom prst="rect">
            <a:avLst/>
          </a:prstGeom>
          <a:noFill/>
          <a:ln/>
        </p:spPr>
        <p:txBody>
          <a:bodyPr wrap="square" lIns="0" tIns="0" rIns="0" bIns="0" rtlCol="0" anchor="ctr"/>
          <a:lstStyle/>
          <a:p>
            <a:pPr marL="0" indent="0">
              <a:buNone/>
            </a:pPr>
            <a:r>
              <a:rPr lang="en-US" sz="1100" dirty="0">
                <a:solidFill>
                  <a:srgbClr val="12202E"/>
                </a:solidFill>
                <a:latin typeface="Calibri" pitchFamily="34" charset="0"/>
                <a:ea typeface="Calibri" pitchFamily="34" charset="-122"/>
                <a:cs typeface="Calibri" pitchFamily="34" charset="-120"/>
              </a:rPr>
              <a:t>An implausible input is processed</a:t>
            </a:r>
            <a:endParaRPr lang="en-US" sz="1100" dirty="0"/>
          </a:p>
        </p:txBody>
      </p:sp>
      <p:sp>
        <p:nvSpPr>
          <p:cNvPr id="37" name="Text 35"/>
          <p:cNvSpPr/>
          <p:nvPr/>
        </p:nvSpPr>
        <p:spPr>
          <a:xfrm>
            <a:off x="5413248" y="4754880"/>
            <a:ext cx="868680" cy="512064"/>
          </a:xfrm>
          <a:prstGeom prst="rect">
            <a:avLst/>
          </a:prstGeom>
          <a:noFill/>
          <a:ln/>
        </p:spPr>
        <p:txBody>
          <a:bodyPr wrap="square" lIns="0" tIns="0" rIns="0" bIns="0" rtlCol="0" anchor="ctr"/>
          <a:lstStyle/>
          <a:p>
            <a:pPr marL="0" indent="0">
              <a:buNone/>
            </a:pPr>
            <a:r>
              <a:rPr lang="en-US" sz="850" dirty="0">
                <a:solidFill>
                  <a:srgbClr val="5D7186"/>
                </a:solidFill>
                <a:latin typeface="Calibri" pitchFamily="34" charset="0"/>
                <a:ea typeface="Calibri" pitchFamily="34" charset="-122"/>
                <a:cs typeface="Calibri" pitchFamily="34" charset="-120"/>
              </a:rPr>
              <a:t>sev 3 · lik 2</a:t>
            </a:r>
            <a:endParaRPr lang="en-US" sz="850" dirty="0"/>
          </a:p>
        </p:txBody>
      </p:sp>
      <p:sp>
        <p:nvSpPr>
          <p:cNvPr id="38" name="Shape 36"/>
          <p:cNvSpPr/>
          <p:nvPr/>
        </p:nvSpPr>
        <p:spPr>
          <a:xfrm>
            <a:off x="6437376" y="4882896"/>
            <a:ext cx="457200" cy="256032"/>
          </a:xfrm>
          <a:prstGeom prst="roundRect">
            <a:avLst>
              <a:gd name="adj" fmla="val 50000"/>
            </a:avLst>
          </a:prstGeom>
          <a:solidFill>
            <a:srgbClr val="1A7F4B"/>
          </a:solidFill>
          <a:ln w="12700">
            <a:solidFill>
              <a:srgbClr val="1A7F4B"/>
            </a:solidFill>
            <a:prstDash val="solid"/>
          </a:ln>
        </p:spPr>
        <p:txBody>
          <a:bodyPr/>
          <a:lstStyle/>
          <a:p>
            <a:endParaRPr lang="de-CH"/>
          </a:p>
        </p:txBody>
      </p:sp>
      <p:sp>
        <p:nvSpPr>
          <p:cNvPr id="39" name="Text 37"/>
          <p:cNvSpPr/>
          <p:nvPr/>
        </p:nvSpPr>
        <p:spPr>
          <a:xfrm>
            <a:off x="6437376" y="4882896"/>
            <a:ext cx="457200"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6</a:t>
            </a:r>
            <a:endParaRPr lang="en-US" sz="950" dirty="0"/>
          </a:p>
        </p:txBody>
      </p:sp>
      <p:sp>
        <p:nvSpPr>
          <p:cNvPr id="40" name="Text 38"/>
          <p:cNvSpPr/>
          <p:nvPr/>
        </p:nvSpPr>
        <p:spPr>
          <a:xfrm rot="16200000">
            <a:off x="6903720" y="2834640"/>
            <a:ext cx="1097280" cy="274320"/>
          </a:xfrm>
          <a:prstGeom prst="rect">
            <a:avLst/>
          </a:prstGeom>
          <a:noFill/>
          <a:ln/>
        </p:spPr>
        <p:txBody>
          <a:bodyPr wrap="square" lIns="0" tIns="0" rIns="0" bIns="0" rtlCol="0" anchor="ctr"/>
          <a:lstStyle/>
          <a:p>
            <a:pPr marL="0" indent="0" algn="r">
              <a:buNone/>
            </a:pPr>
            <a:r>
              <a:rPr lang="en-US" sz="1000" b="1" dirty="0">
                <a:solidFill>
                  <a:srgbClr val="5D7186"/>
                </a:solidFill>
                <a:latin typeface="Calibri" pitchFamily="34" charset="0"/>
                <a:ea typeface="Calibri" pitchFamily="34" charset="-122"/>
                <a:cs typeface="Calibri" pitchFamily="34" charset="-120"/>
              </a:rPr>
              <a:t>Severity</a:t>
            </a:r>
            <a:endParaRPr lang="en-US" sz="1000" dirty="0"/>
          </a:p>
        </p:txBody>
      </p:sp>
      <p:sp>
        <p:nvSpPr>
          <p:cNvPr id="41" name="Text 39"/>
          <p:cNvSpPr/>
          <p:nvPr/>
        </p:nvSpPr>
        <p:spPr>
          <a:xfrm>
            <a:off x="7818120" y="1737360"/>
            <a:ext cx="292608" cy="566928"/>
          </a:xfrm>
          <a:prstGeom prst="rect">
            <a:avLst/>
          </a:prstGeom>
          <a:noFill/>
          <a:ln/>
        </p:spPr>
        <p:txBody>
          <a:bodyPr wrap="square" lIns="0" tIns="0" rIns="0" bIns="0" rtlCol="0" anchor="ctr"/>
          <a:lstStyle/>
          <a:p>
            <a:pPr marL="0" indent="0" algn="r">
              <a:buNone/>
            </a:pPr>
            <a:r>
              <a:rPr lang="en-US" sz="950" b="1" dirty="0">
                <a:solidFill>
                  <a:srgbClr val="5D7186"/>
                </a:solidFill>
                <a:latin typeface="Calibri" pitchFamily="34" charset="0"/>
                <a:ea typeface="Calibri" pitchFamily="34" charset="-122"/>
                <a:cs typeface="Calibri" pitchFamily="34" charset="-120"/>
              </a:rPr>
              <a:t>5</a:t>
            </a:r>
            <a:endParaRPr lang="en-US" sz="950" dirty="0"/>
          </a:p>
        </p:txBody>
      </p:sp>
      <p:sp>
        <p:nvSpPr>
          <p:cNvPr id="42" name="Shape 40"/>
          <p:cNvSpPr/>
          <p:nvPr/>
        </p:nvSpPr>
        <p:spPr>
          <a:xfrm>
            <a:off x="8202168" y="1737360"/>
            <a:ext cx="566928" cy="530352"/>
          </a:xfrm>
          <a:prstGeom prst="rect">
            <a:avLst/>
          </a:prstGeom>
          <a:solidFill>
            <a:srgbClr val="FBF2DC"/>
          </a:solidFill>
          <a:ln w="25400">
            <a:solidFill>
              <a:srgbClr val="FFFFFF"/>
            </a:solidFill>
            <a:prstDash val="solid"/>
          </a:ln>
        </p:spPr>
        <p:txBody>
          <a:bodyPr/>
          <a:lstStyle/>
          <a:p>
            <a:endParaRPr lang="de-CH"/>
          </a:p>
        </p:txBody>
      </p:sp>
      <p:sp>
        <p:nvSpPr>
          <p:cNvPr id="43" name="Text 41"/>
          <p:cNvSpPr/>
          <p:nvPr/>
        </p:nvSpPr>
        <p:spPr>
          <a:xfrm>
            <a:off x="8202168" y="1737360"/>
            <a:ext cx="566928" cy="530352"/>
          </a:xfrm>
          <a:prstGeom prst="rect">
            <a:avLst/>
          </a:prstGeom>
          <a:noFill/>
          <a:ln/>
        </p:spPr>
        <p:txBody>
          <a:bodyPr wrap="square" lIns="0" tIns="0" rIns="0" bIns="0" rtlCol="0" anchor="ctr"/>
          <a:lstStyle/>
          <a:p>
            <a:pPr marL="0" indent="0" algn="ctr">
              <a:buNone/>
            </a:pPr>
            <a:r>
              <a:rPr lang="en-US" sz="850" dirty="0">
                <a:solidFill>
                  <a:srgbClr val="667788"/>
                </a:solidFill>
                <a:latin typeface="Calibri" pitchFamily="34" charset="0"/>
                <a:ea typeface="Calibri" pitchFamily="34" charset="-122"/>
                <a:cs typeface="Calibri" pitchFamily="34" charset="-120"/>
              </a:rPr>
              <a:t>5</a:t>
            </a:r>
            <a:endParaRPr lang="en-US" sz="850" dirty="0"/>
          </a:p>
        </p:txBody>
      </p:sp>
      <p:sp>
        <p:nvSpPr>
          <p:cNvPr id="44" name="Shape 42"/>
          <p:cNvSpPr/>
          <p:nvPr/>
        </p:nvSpPr>
        <p:spPr>
          <a:xfrm>
            <a:off x="8805672" y="1737360"/>
            <a:ext cx="566928" cy="530352"/>
          </a:xfrm>
          <a:prstGeom prst="rect">
            <a:avLst/>
          </a:prstGeom>
          <a:solidFill>
            <a:srgbClr val="FCEADB"/>
          </a:solidFill>
          <a:ln w="25400">
            <a:solidFill>
              <a:srgbClr val="FFFFFF"/>
            </a:solidFill>
            <a:prstDash val="solid"/>
          </a:ln>
        </p:spPr>
        <p:txBody>
          <a:bodyPr/>
          <a:lstStyle/>
          <a:p>
            <a:endParaRPr lang="de-CH"/>
          </a:p>
        </p:txBody>
      </p:sp>
      <p:sp>
        <p:nvSpPr>
          <p:cNvPr id="45" name="Text 43"/>
          <p:cNvSpPr/>
          <p:nvPr/>
        </p:nvSpPr>
        <p:spPr>
          <a:xfrm>
            <a:off x="8805672" y="1737360"/>
            <a:ext cx="566928" cy="530352"/>
          </a:xfrm>
          <a:prstGeom prst="rect">
            <a:avLst/>
          </a:prstGeom>
          <a:noFill/>
          <a:ln/>
        </p:spPr>
        <p:txBody>
          <a:bodyPr wrap="square" lIns="0" tIns="0" rIns="0" bIns="0" rtlCol="0" anchor="ctr"/>
          <a:lstStyle/>
          <a:p>
            <a:pPr marL="0" indent="0" algn="ctr">
              <a:buNone/>
            </a:pPr>
            <a:r>
              <a:rPr lang="en-US" sz="900" b="1" dirty="0">
                <a:solidFill>
                  <a:srgbClr val="12202E"/>
                </a:solidFill>
                <a:latin typeface="Calibri" pitchFamily="34" charset="0"/>
                <a:ea typeface="Calibri" pitchFamily="34" charset="-122"/>
                <a:cs typeface="Calibri" pitchFamily="34" charset="-120"/>
              </a:rPr>
              <a:t>H-02</a:t>
            </a:r>
            <a:endParaRPr lang="en-US" sz="900" dirty="0"/>
          </a:p>
        </p:txBody>
      </p:sp>
      <p:sp>
        <p:nvSpPr>
          <p:cNvPr id="46" name="Shape 44"/>
          <p:cNvSpPr/>
          <p:nvPr/>
        </p:nvSpPr>
        <p:spPr>
          <a:xfrm>
            <a:off x="9409176" y="1737360"/>
            <a:ext cx="566928" cy="530352"/>
          </a:xfrm>
          <a:prstGeom prst="rect">
            <a:avLst/>
          </a:prstGeom>
          <a:solidFill>
            <a:srgbClr val="FBE7E5"/>
          </a:solidFill>
          <a:ln w="25400">
            <a:solidFill>
              <a:srgbClr val="FFFFFF"/>
            </a:solidFill>
            <a:prstDash val="solid"/>
          </a:ln>
        </p:spPr>
        <p:txBody>
          <a:bodyPr/>
          <a:lstStyle/>
          <a:p>
            <a:endParaRPr lang="de-CH"/>
          </a:p>
        </p:txBody>
      </p:sp>
      <p:sp>
        <p:nvSpPr>
          <p:cNvPr id="47" name="Text 45"/>
          <p:cNvSpPr/>
          <p:nvPr/>
        </p:nvSpPr>
        <p:spPr>
          <a:xfrm>
            <a:off x="9409176" y="1737360"/>
            <a:ext cx="566928" cy="530352"/>
          </a:xfrm>
          <a:prstGeom prst="rect">
            <a:avLst/>
          </a:prstGeom>
          <a:noFill/>
          <a:ln/>
        </p:spPr>
        <p:txBody>
          <a:bodyPr wrap="square" lIns="0" tIns="0" rIns="0" bIns="0" rtlCol="0" anchor="ctr"/>
          <a:lstStyle/>
          <a:p>
            <a:pPr marL="0" indent="0" algn="ctr">
              <a:buNone/>
            </a:pPr>
            <a:r>
              <a:rPr lang="en-US" sz="900" b="1" dirty="0">
                <a:solidFill>
                  <a:srgbClr val="12202E"/>
                </a:solidFill>
                <a:latin typeface="Calibri" pitchFamily="34" charset="0"/>
                <a:ea typeface="Calibri" pitchFamily="34" charset="-122"/>
                <a:cs typeface="Calibri" pitchFamily="34" charset="-120"/>
              </a:rPr>
              <a:t>H-01</a:t>
            </a:r>
            <a:endParaRPr lang="en-US" sz="900" dirty="0"/>
          </a:p>
        </p:txBody>
      </p:sp>
      <p:sp>
        <p:nvSpPr>
          <p:cNvPr id="48" name="Shape 46"/>
          <p:cNvSpPr/>
          <p:nvPr/>
        </p:nvSpPr>
        <p:spPr>
          <a:xfrm>
            <a:off x="10012680" y="1737360"/>
            <a:ext cx="566928" cy="530352"/>
          </a:xfrm>
          <a:prstGeom prst="rect">
            <a:avLst/>
          </a:prstGeom>
          <a:solidFill>
            <a:srgbClr val="FBE7E5"/>
          </a:solidFill>
          <a:ln w="25400">
            <a:solidFill>
              <a:srgbClr val="FFFFFF"/>
            </a:solidFill>
            <a:prstDash val="solid"/>
          </a:ln>
        </p:spPr>
        <p:txBody>
          <a:bodyPr/>
          <a:lstStyle/>
          <a:p>
            <a:endParaRPr lang="de-CH"/>
          </a:p>
        </p:txBody>
      </p:sp>
      <p:sp>
        <p:nvSpPr>
          <p:cNvPr id="49" name="Text 47"/>
          <p:cNvSpPr/>
          <p:nvPr/>
        </p:nvSpPr>
        <p:spPr>
          <a:xfrm>
            <a:off x="10012680" y="1737360"/>
            <a:ext cx="566928" cy="530352"/>
          </a:xfrm>
          <a:prstGeom prst="rect">
            <a:avLst/>
          </a:prstGeom>
          <a:noFill/>
          <a:ln/>
        </p:spPr>
        <p:txBody>
          <a:bodyPr wrap="square" lIns="0" tIns="0" rIns="0" bIns="0" rtlCol="0" anchor="ctr"/>
          <a:lstStyle/>
          <a:p>
            <a:pPr marL="0" indent="0" algn="ctr">
              <a:buNone/>
            </a:pPr>
            <a:r>
              <a:rPr lang="en-US" sz="850" dirty="0">
                <a:solidFill>
                  <a:srgbClr val="667788"/>
                </a:solidFill>
                <a:latin typeface="Calibri" pitchFamily="34" charset="0"/>
                <a:ea typeface="Calibri" pitchFamily="34" charset="-122"/>
                <a:cs typeface="Calibri" pitchFamily="34" charset="-120"/>
              </a:rPr>
              <a:t>20</a:t>
            </a:r>
            <a:endParaRPr lang="en-US" sz="850" dirty="0"/>
          </a:p>
        </p:txBody>
      </p:sp>
      <p:sp>
        <p:nvSpPr>
          <p:cNvPr id="50" name="Shape 48"/>
          <p:cNvSpPr/>
          <p:nvPr/>
        </p:nvSpPr>
        <p:spPr>
          <a:xfrm>
            <a:off x="10616184" y="1737360"/>
            <a:ext cx="566928" cy="530352"/>
          </a:xfrm>
          <a:prstGeom prst="rect">
            <a:avLst/>
          </a:prstGeom>
          <a:solidFill>
            <a:srgbClr val="FBE7E5"/>
          </a:solidFill>
          <a:ln w="25400">
            <a:solidFill>
              <a:srgbClr val="FFFFFF"/>
            </a:solidFill>
            <a:prstDash val="solid"/>
          </a:ln>
        </p:spPr>
        <p:txBody>
          <a:bodyPr/>
          <a:lstStyle/>
          <a:p>
            <a:endParaRPr lang="de-CH"/>
          </a:p>
        </p:txBody>
      </p:sp>
      <p:sp>
        <p:nvSpPr>
          <p:cNvPr id="51" name="Text 49"/>
          <p:cNvSpPr/>
          <p:nvPr/>
        </p:nvSpPr>
        <p:spPr>
          <a:xfrm>
            <a:off x="10616184" y="1737360"/>
            <a:ext cx="566928" cy="530352"/>
          </a:xfrm>
          <a:prstGeom prst="rect">
            <a:avLst/>
          </a:prstGeom>
          <a:noFill/>
          <a:ln/>
        </p:spPr>
        <p:txBody>
          <a:bodyPr wrap="square" lIns="0" tIns="0" rIns="0" bIns="0" rtlCol="0" anchor="ctr"/>
          <a:lstStyle/>
          <a:p>
            <a:pPr marL="0" indent="0" algn="ctr">
              <a:buNone/>
            </a:pPr>
            <a:r>
              <a:rPr lang="en-US" sz="850" dirty="0">
                <a:solidFill>
                  <a:srgbClr val="667788"/>
                </a:solidFill>
                <a:latin typeface="Calibri" pitchFamily="34" charset="0"/>
                <a:ea typeface="Calibri" pitchFamily="34" charset="-122"/>
                <a:cs typeface="Calibri" pitchFamily="34" charset="-120"/>
              </a:rPr>
              <a:t>25</a:t>
            </a:r>
            <a:endParaRPr lang="en-US" sz="850" dirty="0"/>
          </a:p>
        </p:txBody>
      </p:sp>
      <p:sp>
        <p:nvSpPr>
          <p:cNvPr id="52" name="Text 50"/>
          <p:cNvSpPr/>
          <p:nvPr/>
        </p:nvSpPr>
        <p:spPr>
          <a:xfrm>
            <a:off x="7818120" y="2304288"/>
            <a:ext cx="292608" cy="566928"/>
          </a:xfrm>
          <a:prstGeom prst="rect">
            <a:avLst/>
          </a:prstGeom>
          <a:noFill/>
          <a:ln/>
        </p:spPr>
        <p:txBody>
          <a:bodyPr wrap="square" lIns="0" tIns="0" rIns="0" bIns="0" rtlCol="0" anchor="ctr"/>
          <a:lstStyle/>
          <a:p>
            <a:pPr marL="0" indent="0" algn="r">
              <a:buNone/>
            </a:pPr>
            <a:r>
              <a:rPr lang="en-US" sz="950" b="1" dirty="0">
                <a:solidFill>
                  <a:srgbClr val="5D7186"/>
                </a:solidFill>
                <a:latin typeface="Calibri" pitchFamily="34" charset="0"/>
                <a:ea typeface="Calibri" pitchFamily="34" charset="-122"/>
                <a:cs typeface="Calibri" pitchFamily="34" charset="-120"/>
              </a:rPr>
              <a:t>4</a:t>
            </a:r>
            <a:endParaRPr lang="en-US" sz="950" dirty="0"/>
          </a:p>
        </p:txBody>
      </p:sp>
      <p:sp>
        <p:nvSpPr>
          <p:cNvPr id="53" name="Shape 51"/>
          <p:cNvSpPr/>
          <p:nvPr/>
        </p:nvSpPr>
        <p:spPr>
          <a:xfrm>
            <a:off x="8202168" y="2304288"/>
            <a:ext cx="566928" cy="530352"/>
          </a:xfrm>
          <a:prstGeom prst="rect">
            <a:avLst/>
          </a:prstGeom>
          <a:solidFill>
            <a:srgbClr val="E8F6EE"/>
          </a:solidFill>
          <a:ln w="25400">
            <a:solidFill>
              <a:srgbClr val="FFFFFF"/>
            </a:solidFill>
            <a:prstDash val="solid"/>
          </a:ln>
        </p:spPr>
        <p:txBody>
          <a:bodyPr/>
          <a:lstStyle/>
          <a:p>
            <a:endParaRPr lang="de-CH"/>
          </a:p>
        </p:txBody>
      </p:sp>
      <p:sp>
        <p:nvSpPr>
          <p:cNvPr id="54" name="Text 52"/>
          <p:cNvSpPr/>
          <p:nvPr/>
        </p:nvSpPr>
        <p:spPr>
          <a:xfrm>
            <a:off x="8202168" y="2304288"/>
            <a:ext cx="566928" cy="530352"/>
          </a:xfrm>
          <a:prstGeom prst="rect">
            <a:avLst/>
          </a:prstGeom>
          <a:noFill/>
          <a:ln/>
        </p:spPr>
        <p:txBody>
          <a:bodyPr wrap="square" lIns="0" tIns="0" rIns="0" bIns="0" rtlCol="0" anchor="ctr"/>
          <a:lstStyle/>
          <a:p>
            <a:pPr marL="0" indent="0" algn="ctr">
              <a:buNone/>
            </a:pPr>
            <a:r>
              <a:rPr lang="en-US" sz="850" dirty="0">
                <a:solidFill>
                  <a:srgbClr val="667788"/>
                </a:solidFill>
                <a:latin typeface="Calibri" pitchFamily="34" charset="0"/>
                <a:ea typeface="Calibri" pitchFamily="34" charset="-122"/>
                <a:cs typeface="Calibri" pitchFamily="34" charset="-120"/>
              </a:rPr>
              <a:t>4</a:t>
            </a:r>
            <a:endParaRPr lang="en-US" sz="850" dirty="0"/>
          </a:p>
        </p:txBody>
      </p:sp>
      <p:sp>
        <p:nvSpPr>
          <p:cNvPr id="55" name="Shape 53"/>
          <p:cNvSpPr/>
          <p:nvPr/>
        </p:nvSpPr>
        <p:spPr>
          <a:xfrm>
            <a:off x="8805672" y="2304288"/>
            <a:ext cx="566928" cy="530352"/>
          </a:xfrm>
          <a:prstGeom prst="rect">
            <a:avLst/>
          </a:prstGeom>
          <a:solidFill>
            <a:srgbClr val="FBF2DC"/>
          </a:solidFill>
          <a:ln w="25400">
            <a:solidFill>
              <a:srgbClr val="FFFFFF"/>
            </a:solidFill>
            <a:prstDash val="solid"/>
          </a:ln>
        </p:spPr>
        <p:txBody>
          <a:bodyPr/>
          <a:lstStyle/>
          <a:p>
            <a:endParaRPr lang="de-CH"/>
          </a:p>
        </p:txBody>
      </p:sp>
      <p:sp>
        <p:nvSpPr>
          <p:cNvPr id="56" name="Text 54"/>
          <p:cNvSpPr/>
          <p:nvPr/>
        </p:nvSpPr>
        <p:spPr>
          <a:xfrm>
            <a:off x="8805672" y="2304288"/>
            <a:ext cx="566928" cy="530352"/>
          </a:xfrm>
          <a:prstGeom prst="rect">
            <a:avLst/>
          </a:prstGeom>
          <a:noFill/>
          <a:ln/>
        </p:spPr>
        <p:txBody>
          <a:bodyPr wrap="square" lIns="0" tIns="0" rIns="0" bIns="0" rtlCol="0" anchor="ctr"/>
          <a:lstStyle/>
          <a:p>
            <a:pPr marL="0" indent="0" algn="ctr">
              <a:buNone/>
            </a:pPr>
            <a:r>
              <a:rPr lang="en-US" sz="900" b="1" dirty="0">
                <a:solidFill>
                  <a:srgbClr val="12202E"/>
                </a:solidFill>
                <a:latin typeface="Calibri" pitchFamily="34" charset="0"/>
                <a:ea typeface="Calibri" pitchFamily="34" charset="-122"/>
                <a:cs typeface="Calibri" pitchFamily="34" charset="-120"/>
              </a:rPr>
              <a:t>H-06</a:t>
            </a:r>
            <a:endParaRPr lang="en-US" sz="900" dirty="0"/>
          </a:p>
        </p:txBody>
      </p:sp>
      <p:sp>
        <p:nvSpPr>
          <p:cNvPr id="57" name="Shape 55"/>
          <p:cNvSpPr/>
          <p:nvPr/>
        </p:nvSpPr>
        <p:spPr>
          <a:xfrm>
            <a:off x="9409176" y="2304288"/>
            <a:ext cx="566928" cy="530352"/>
          </a:xfrm>
          <a:prstGeom prst="rect">
            <a:avLst/>
          </a:prstGeom>
          <a:solidFill>
            <a:srgbClr val="FCEADB"/>
          </a:solidFill>
          <a:ln w="25400">
            <a:solidFill>
              <a:srgbClr val="FFFFFF"/>
            </a:solidFill>
            <a:prstDash val="solid"/>
          </a:ln>
        </p:spPr>
        <p:txBody>
          <a:bodyPr/>
          <a:lstStyle/>
          <a:p>
            <a:endParaRPr lang="de-CH"/>
          </a:p>
        </p:txBody>
      </p:sp>
      <p:sp>
        <p:nvSpPr>
          <p:cNvPr id="58" name="Text 56"/>
          <p:cNvSpPr/>
          <p:nvPr/>
        </p:nvSpPr>
        <p:spPr>
          <a:xfrm>
            <a:off x="9409176" y="2304288"/>
            <a:ext cx="566928" cy="530352"/>
          </a:xfrm>
          <a:prstGeom prst="rect">
            <a:avLst/>
          </a:prstGeom>
          <a:noFill/>
          <a:ln/>
        </p:spPr>
        <p:txBody>
          <a:bodyPr wrap="square" lIns="0" tIns="0" rIns="0" bIns="0" rtlCol="0" anchor="ctr"/>
          <a:lstStyle/>
          <a:p>
            <a:pPr marL="0" indent="0" algn="ctr">
              <a:buNone/>
            </a:pPr>
            <a:r>
              <a:rPr lang="en-US" sz="850" dirty="0">
                <a:solidFill>
                  <a:srgbClr val="667788"/>
                </a:solidFill>
                <a:latin typeface="Calibri" pitchFamily="34" charset="0"/>
                <a:ea typeface="Calibri" pitchFamily="34" charset="-122"/>
                <a:cs typeface="Calibri" pitchFamily="34" charset="-120"/>
              </a:rPr>
              <a:t>12</a:t>
            </a:r>
            <a:endParaRPr lang="en-US" sz="850" dirty="0"/>
          </a:p>
        </p:txBody>
      </p:sp>
      <p:sp>
        <p:nvSpPr>
          <p:cNvPr id="59" name="Shape 57"/>
          <p:cNvSpPr/>
          <p:nvPr/>
        </p:nvSpPr>
        <p:spPr>
          <a:xfrm>
            <a:off x="10012680" y="2304288"/>
            <a:ext cx="566928" cy="530352"/>
          </a:xfrm>
          <a:prstGeom prst="rect">
            <a:avLst/>
          </a:prstGeom>
          <a:solidFill>
            <a:srgbClr val="FBE7E5"/>
          </a:solidFill>
          <a:ln w="25400">
            <a:solidFill>
              <a:srgbClr val="FFFFFF"/>
            </a:solidFill>
            <a:prstDash val="solid"/>
          </a:ln>
        </p:spPr>
        <p:txBody>
          <a:bodyPr/>
          <a:lstStyle/>
          <a:p>
            <a:endParaRPr lang="de-CH"/>
          </a:p>
        </p:txBody>
      </p:sp>
      <p:sp>
        <p:nvSpPr>
          <p:cNvPr id="60" name="Text 58"/>
          <p:cNvSpPr/>
          <p:nvPr/>
        </p:nvSpPr>
        <p:spPr>
          <a:xfrm>
            <a:off x="10012680" y="2304288"/>
            <a:ext cx="566928" cy="530352"/>
          </a:xfrm>
          <a:prstGeom prst="rect">
            <a:avLst/>
          </a:prstGeom>
          <a:noFill/>
          <a:ln/>
        </p:spPr>
        <p:txBody>
          <a:bodyPr wrap="square" lIns="0" tIns="0" rIns="0" bIns="0" rtlCol="0" anchor="ctr"/>
          <a:lstStyle/>
          <a:p>
            <a:pPr marL="0" indent="0" algn="ctr">
              <a:buNone/>
            </a:pPr>
            <a:r>
              <a:rPr lang="en-US" sz="850" dirty="0">
                <a:solidFill>
                  <a:srgbClr val="667788"/>
                </a:solidFill>
                <a:latin typeface="Calibri" pitchFamily="34" charset="0"/>
                <a:ea typeface="Calibri" pitchFamily="34" charset="-122"/>
                <a:cs typeface="Calibri" pitchFamily="34" charset="-120"/>
              </a:rPr>
              <a:t>16</a:t>
            </a:r>
            <a:endParaRPr lang="en-US" sz="850" dirty="0"/>
          </a:p>
        </p:txBody>
      </p:sp>
      <p:sp>
        <p:nvSpPr>
          <p:cNvPr id="61" name="Shape 59"/>
          <p:cNvSpPr/>
          <p:nvPr/>
        </p:nvSpPr>
        <p:spPr>
          <a:xfrm>
            <a:off x="10616184" y="2304288"/>
            <a:ext cx="566928" cy="530352"/>
          </a:xfrm>
          <a:prstGeom prst="rect">
            <a:avLst/>
          </a:prstGeom>
          <a:solidFill>
            <a:srgbClr val="FBE7E5"/>
          </a:solidFill>
          <a:ln w="25400">
            <a:solidFill>
              <a:srgbClr val="FFFFFF"/>
            </a:solidFill>
            <a:prstDash val="solid"/>
          </a:ln>
        </p:spPr>
        <p:txBody>
          <a:bodyPr/>
          <a:lstStyle/>
          <a:p>
            <a:endParaRPr lang="de-CH"/>
          </a:p>
        </p:txBody>
      </p:sp>
      <p:sp>
        <p:nvSpPr>
          <p:cNvPr id="62" name="Text 60"/>
          <p:cNvSpPr/>
          <p:nvPr/>
        </p:nvSpPr>
        <p:spPr>
          <a:xfrm>
            <a:off x="10616184" y="2304288"/>
            <a:ext cx="566928" cy="530352"/>
          </a:xfrm>
          <a:prstGeom prst="rect">
            <a:avLst/>
          </a:prstGeom>
          <a:noFill/>
          <a:ln/>
        </p:spPr>
        <p:txBody>
          <a:bodyPr wrap="square" lIns="0" tIns="0" rIns="0" bIns="0" rtlCol="0" anchor="ctr"/>
          <a:lstStyle/>
          <a:p>
            <a:pPr marL="0" indent="0" algn="ctr">
              <a:buNone/>
            </a:pPr>
            <a:r>
              <a:rPr lang="en-US" sz="850" dirty="0">
                <a:solidFill>
                  <a:srgbClr val="667788"/>
                </a:solidFill>
                <a:latin typeface="Calibri" pitchFamily="34" charset="0"/>
                <a:ea typeface="Calibri" pitchFamily="34" charset="-122"/>
                <a:cs typeface="Calibri" pitchFamily="34" charset="-120"/>
              </a:rPr>
              <a:t>20</a:t>
            </a:r>
            <a:endParaRPr lang="en-US" sz="850" dirty="0"/>
          </a:p>
        </p:txBody>
      </p:sp>
      <p:sp>
        <p:nvSpPr>
          <p:cNvPr id="63" name="Text 61"/>
          <p:cNvSpPr/>
          <p:nvPr/>
        </p:nvSpPr>
        <p:spPr>
          <a:xfrm>
            <a:off x="7818120" y="2871216"/>
            <a:ext cx="292608" cy="566928"/>
          </a:xfrm>
          <a:prstGeom prst="rect">
            <a:avLst/>
          </a:prstGeom>
          <a:noFill/>
          <a:ln/>
        </p:spPr>
        <p:txBody>
          <a:bodyPr wrap="square" lIns="0" tIns="0" rIns="0" bIns="0" rtlCol="0" anchor="ctr"/>
          <a:lstStyle/>
          <a:p>
            <a:pPr marL="0" indent="0" algn="r">
              <a:buNone/>
            </a:pPr>
            <a:r>
              <a:rPr lang="en-US" sz="950" b="1" dirty="0">
                <a:solidFill>
                  <a:srgbClr val="5D7186"/>
                </a:solidFill>
                <a:latin typeface="Calibri" pitchFamily="34" charset="0"/>
                <a:ea typeface="Calibri" pitchFamily="34" charset="-122"/>
                <a:cs typeface="Calibri" pitchFamily="34" charset="-120"/>
              </a:rPr>
              <a:t>3</a:t>
            </a:r>
            <a:endParaRPr lang="en-US" sz="950" dirty="0"/>
          </a:p>
        </p:txBody>
      </p:sp>
      <p:sp>
        <p:nvSpPr>
          <p:cNvPr id="64" name="Shape 62"/>
          <p:cNvSpPr/>
          <p:nvPr/>
        </p:nvSpPr>
        <p:spPr>
          <a:xfrm>
            <a:off x="8202168" y="2871216"/>
            <a:ext cx="566928" cy="530352"/>
          </a:xfrm>
          <a:prstGeom prst="rect">
            <a:avLst/>
          </a:prstGeom>
          <a:solidFill>
            <a:srgbClr val="E8F6EE"/>
          </a:solidFill>
          <a:ln w="25400">
            <a:solidFill>
              <a:srgbClr val="FFFFFF"/>
            </a:solidFill>
            <a:prstDash val="solid"/>
          </a:ln>
        </p:spPr>
        <p:txBody>
          <a:bodyPr/>
          <a:lstStyle/>
          <a:p>
            <a:endParaRPr lang="de-CH"/>
          </a:p>
        </p:txBody>
      </p:sp>
      <p:sp>
        <p:nvSpPr>
          <p:cNvPr id="65" name="Text 63"/>
          <p:cNvSpPr/>
          <p:nvPr/>
        </p:nvSpPr>
        <p:spPr>
          <a:xfrm>
            <a:off x="8202168" y="2871216"/>
            <a:ext cx="566928" cy="530352"/>
          </a:xfrm>
          <a:prstGeom prst="rect">
            <a:avLst/>
          </a:prstGeom>
          <a:noFill/>
          <a:ln/>
        </p:spPr>
        <p:txBody>
          <a:bodyPr wrap="square" lIns="0" tIns="0" rIns="0" bIns="0" rtlCol="0" anchor="ctr"/>
          <a:lstStyle/>
          <a:p>
            <a:pPr marL="0" indent="0" algn="ctr">
              <a:buNone/>
            </a:pPr>
            <a:r>
              <a:rPr lang="en-US" sz="850" dirty="0">
                <a:solidFill>
                  <a:srgbClr val="667788"/>
                </a:solidFill>
                <a:latin typeface="Calibri" pitchFamily="34" charset="0"/>
                <a:ea typeface="Calibri" pitchFamily="34" charset="-122"/>
                <a:cs typeface="Calibri" pitchFamily="34" charset="-120"/>
              </a:rPr>
              <a:t>3</a:t>
            </a:r>
            <a:endParaRPr lang="en-US" sz="850" dirty="0"/>
          </a:p>
        </p:txBody>
      </p:sp>
      <p:sp>
        <p:nvSpPr>
          <p:cNvPr id="66" name="Shape 64"/>
          <p:cNvSpPr/>
          <p:nvPr/>
        </p:nvSpPr>
        <p:spPr>
          <a:xfrm>
            <a:off x="8805672" y="2871216"/>
            <a:ext cx="566928" cy="530352"/>
          </a:xfrm>
          <a:prstGeom prst="rect">
            <a:avLst/>
          </a:prstGeom>
          <a:solidFill>
            <a:srgbClr val="FBF2DC"/>
          </a:solidFill>
          <a:ln w="25400">
            <a:solidFill>
              <a:srgbClr val="FFFFFF"/>
            </a:solidFill>
            <a:prstDash val="solid"/>
          </a:ln>
        </p:spPr>
        <p:txBody>
          <a:bodyPr/>
          <a:lstStyle/>
          <a:p>
            <a:endParaRPr lang="de-CH"/>
          </a:p>
        </p:txBody>
      </p:sp>
      <p:sp>
        <p:nvSpPr>
          <p:cNvPr id="67" name="Text 65"/>
          <p:cNvSpPr/>
          <p:nvPr/>
        </p:nvSpPr>
        <p:spPr>
          <a:xfrm>
            <a:off x="8805672" y="2871216"/>
            <a:ext cx="566928" cy="530352"/>
          </a:xfrm>
          <a:prstGeom prst="rect">
            <a:avLst/>
          </a:prstGeom>
          <a:noFill/>
          <a:ln/>
        </p:spPr>
        <p:txBody>
          <a:bodyPr wrap="square" lIns="0" tIns="0" rIns="0" bIns="0" rtlCol="0" anchor="ctr"/>
          <a:lstStyle/>
          <a:p>
            <a:pPr marL="0" indent="0" algn="ctr">
              <a:buNone/>
            </a:pPr>
            <a:r>
              <a:rPr lang="en-US" sz="900" b="1" dirty="0">
                <a:solidFill>
                  <a:srgbClr val="12202E"/>
                </a:solidFill>
                <a:latin typeface="Calibri" pitchFamily="34" charset="0"/>
                <a:ea typeface="Calibri" pitchFamily="34" charset="-122"/>
                <a:cs typeface="Calibri" pitchFamily="34" charset="-120"/>
              </a:rPr>
              <a:t>H-05</a:t>
            </a:r>
            <a:endParaRPr lang="en-US" sz="900" dirty="0"/>
          </a:p>
        </p:txBody>
      </p:sp>
      <p:sp>
        <p:nvSpPr>
          <p:cNvPr id="68" name="Shape 66"/>
          <p:cNvSpPr/>
          <p:nvPr/>
        </p:nvSpPr>
        <p:spPr>
          <a:xfrm>
            <a:off x="9409176" y="2871216"/>
            <a:ext cx="566928" cy="530352"/>
          </a:xfrm>
          <a:prstGeom prst="rect">
            <a:avLst/>
          </a:prstGeom>
          <a:solidFill>
            <a:srgbClr val="FCEADB"/>
          </a:solidFill>
          <a:ln w="25400">
            <a:solidFill>
              <a:srgbClr val="FFFFFF"/>
            </a:solidFill>
            <a:prstDash val="solid"/>
          </a:ln>
        </p:spPr>
        <p:txBody>
          <a:bodyPr/>
          <a:lstStyle/>
          <a:p>
            <a:endParaRPr lang="de-CH"/>
          </a:p>
        </p:txBody>
      </p:sp>
      <p:sp>
        <p:nvSpPr>
          <p:cNvPr id="69" name="Text 67"/>
          <p:cNvSpPr/>
          <p:nvPr/>
        </p:nvSpPr>
        <p:spPr>
          <a:xfrm>
            <a:off x="9409176" y="2871216"/>
            <a:ext cx="566928" cy="530352"/>
          </a:xfrm>
          <a:prstGeom prst="rect">
            <a:avLst/>
          </a:prstGeom>
          <a:noFill/>
          <a:ln/>
        </p:spPr>
        <p:txBody>
          <a:bodyPr wrap="square" lIns="0" tIns="0" rIns="0" bIns="0" rtlCol="0" anchor="ctr"/>
          <a:lstStyle/>
          <a:p>
            <a:pPr marL="0" indent="0" algn="ctr">
              <a:buNone/>
            </a:pPr>
            <a:r>
              <a:rPr lang="en-US" sz="900" b="1" dirty="0">
                <a:solidFill>
                  <a:srgbClr val="12202E"/>
                </a:solidFill>
                <a:latin typeface="Calibri" pitchFamily="34" charset="0"/>
                <a:ea typeface="Calibri" pitchFamily="34" charset="-122"/>
                <a:cs typeface="Calibri" pitchFamily="34" charset="-120"/>
              </a:rPr>
              <a:t>H-03</a:t>
            </a:r>
            <a:endParaRPr lang="en-US" sz="900" dirty="0"/>
          </a:p>
        </p:txBody>
      </p:sp>
      <p:sp>
        <p:nvSpPr>
          <p:cNvPr id="70" name="Shape 68"/>
          <p:cNvSpPr/>
          <p:nvPr/>
        </p:nvSpPr>
        <p:spPr>
          <a:xfrm>
            <a:off x="10012680" y="2871216"/>
            <a:ext cx="566928" cy="530352"/>
          </a:xfrm>
          <a:prstGeom prst="rect">
            <a:avLst/>
          </a:prstGeom>
          <a:solidFill>
            <a:srgbClr val="FCEADB"/>
          </a:solidFill>
          <a:ln w="25400">
            <a:solidFill>
              <a:srgbClr val="FFFFFF"/>
            </a:solidFill>
            <a:prstDash val="solid"/>
          </a:ln>
        </p:spPr>
        <p:txBody>
          <a:bodyPr/>
          <a:lstStyle/>
          <a:p>
            <a:endParaRPr lang="de-CH"/>
          </a:p>
        </p:txBody>
      </p:sp>
      <p:sp>
        <p:nvSpPr>
          <p:cNvPr id="71" name="Text 69"/>
          <p:cNvSpPr/>
          <p:nvPr/>
        </p:nvSpPr>
        <p:spPr>
          <a:xfrm>
            <a:off x="10012680" y="2871216"/>
            <a:ext cx="566928" cy="530352"/>
          </a:xfrm>
          <a:prstGeom prst="rect">
            <a:avLst/>
          </a:prstGeom>
          <a:noFill/>
          <a:ln/>
        </p:spPr>
        <p:txBody>
          <a:bodyPr wrap="square" lIns="0" tIns="0" rIns="0" bIns="0" rtlCol="0" anchor="ctr"/>
          <a:lstStyle/>
          <a:p>
            <a:pPr marL="0" indent="0" algn="ctr">
              <a:buNone/>
            </a:pPr>
            <a:r>
              <a:rPr lang="en-US" sz="850" dirty="0">
                <a:solidFill>
                  <a:srgbClr val="667788"/>
                </a:solidFill>
                <a:latin typeface="Calibri" pitchFamily="34" charset="0"/>
                <a:ea typeface="Calibri" pitchFamily="34" charset="-122"/>
                <a:cs typeface="Calibri" pitchFamily="34" charset="-120"/>
              </a:rPr>
              <a:t>12</a:t>
            </a:r>
            <a:endParaRPr lang="en-US" sz="850" dirty="0"/>
          </a:p>
        </p:txBody>
      </p:sp>
      <p:sp>
        <p:nvSpPr>
          <p:cNvPr id="72" name="Shape 70"/>
          <p:cNvSpPr/>
          <p:nvPr/>
        </p:nvSpPr>
        <p:spPr>
          <a:xfrm>
            <a:off x="10616184" y="2871216"/>
            <a:ext cx="566928" cy="530352"/>
          </a:xfrm>
          <a:prstGeom prst="rect">
            <a:avLst/>
          </a:prstGeom>
          <a:solidFill>
            <a:srgbClr val="FBE7E5"/>
          </a:solidFill>
          <a:ln w="25400">
            <a:solidFill>
              <a:srgbClr val="FFFFFF"/>
            </a:solidFill>
            <a:prstDash val="solid"/>
          </a:ln>
        </p:spPr>
        <p:txBody>
          <a:bodyPr/>
          <a:lstStyle/>
          <a:p>
            <a:endParaRPr lang="de-CH"/>
          </a:p>
        </p:txBody>
      </p:sp>
      <p:sp>
        <p:nvSpPr>
          <p:cNvPr id="73" name="Text 71"/>
          <p:cNvSpPr/>
          <p:nvPr/>
        </p:nvSpPr>
        <p:spPr>
          <a:xfrm>
            <a:off x="10616184" y="2871216"/>
            <a:ext cx="566928" cy="530352"/>
          </a:xfrm>
          <a:prstGeom prst="rect">
            <a:avLst/>
          </a:prstGeom>
          <a:noFill/>
          <a:ln/>
        </p:spPr>
        <p:txBody>
          <a:bodyPr wrap="square" lIns="0" tIns="0" rIns="0" bIns="0" rtlCol="0" anchor="ctr"/>
          <a:lstStyle/>
          <a:p>
            <a:pPr marL="0" indent="0" algn="ctr">
              <a:buNone/>
            </a:pPr>
            <a:r>
              <a:rPr lang="en-US" sz="850" dirty="0">
                <a:solidFill>
                  <a:srgbClr val="667788"/>
                </a:solidFill>
                <a:latin typeface="Calibri" pitchFamily="34" charset="0"/>
                <a:ea typeface="Calibri" pitchFamily="34" charset="-122"/>
                <a:cs typeface="Calibri" pitchFamily="34" charset="-120"/>
              </a:rPr>
              <a:t>15</a:t>
            </a:r>
            <a:endParaRPr lang="en-US" sz="850" dirty="0"/>
          </a:p>
        </p:txBody>
      </p:sp>
      <p:sp>
        <p:nvSpPr>
          <p:cNvPr id="74" name="Text 72"/>
          <p:cNvSpPr/>
          <p:nvPr/>
        </p:nvSpPr>
        <p:spPr>
          <a:xfrm>
            <a:off x="7818120" y="3438144"/>
            <a:ext cx="292608" cy="566928"/>
          </a:xfrm>
          <a:prstGeom prst="rect">
            <a:avLst/>
          </a:prstGeom>
          <a:noFill/>
          <a:ln/>
        </p:spPr>
        <p:txBody>
          <a:bodyPr wrap="square" lIns="0" tIns="0" rIns="0" bIns="0" rtlCol="0" anchor="ctr"/>
          <a:lstStyle/>
          <a:p>
            <a:pPr marL="0" indent="0" algn="r">
              <a:buNone/>
            </a:pPr>
            <a:r>
              <a:rPr lang="en-US" sz="950" b="1" dirty="0">
                <a:solidFill>
                  <a:srgbClr val="5D7186"/>
                </a:solidFill>
                <a:latin typeface="Calibri" pitchFamily="34" charset="0"/>
                <a:ea typeface="Calibri" pitchFamily="34" charset="-122"/>
                <a:cs typeface="Calibri" pitchFamily="34" charset="-120"/>
              </a:rPr>
              <a:t>2</a:t>
            </a:r>
            <a:endParaRPr lang="en-US" sz="950" dirty="0"/>
          </a:p>
        </p:txBody>
      </p:sp>
      <p:sp>
        <p:nvSpPr>
          <p:cNvPr id="75" name="Shape 73"/>
          <p:cNvSpPr/>
          <p:nvPr/>
        </p:nvSpPr>
        <p:spPr>
          <a:xfrm>
            <a:off x="8202168" y="3438144"/>
            <a:ext cx="566928" cy="530352"/>
          </a:xfrm>
          <a:prstGeom prst="rect">
            <a:avLst/>
          </a:prstGeom>
          <a:solidFill>
            <a:srgbClr val="E8F6EE"/>
          </a:solidFill>
          <a:ln w="25400">
            <a:solidFill>
              <a:srgbClr val="FFFFFF"/>
            </a:solidFill>
            <a:prstDash val="solid"/>
          </a:ln>
        </p:spPr>
        <p:txBody>
          <a:bodyPr/>
          <a:lstStyle/>
          <a:p>
            <a:endParaRPr lang="de-CH"/>
          </a:p>
        </p:txBody>
      </p:sp>
      <p:sp>
        <p:nvSpPr>
          <p:cNvPr id="76" name="Text 74"/>
          <p:cNvSpPr/>
          <p:nvPr/>
        </p:nvSpPr>
        <p:spPr>
          <a:xfrm>
            <a:off x="8202168" y="3438144"/>
            <a:ext cx="566928" cy="530352"/>
          </a:xfrm>
          <a:prstGeom prst="rect">
            <a:avLst/>
          </a:prstGeom>
          <a:noFill/>
          <a:ln/>
        </p:spPr>
        <p:txBody>
          <a:bodyPr wrap="square" lIns="0" tIns="0" rIns="0" bIns="0" rtlCol="0" anchor="ctr"/>
          <a:lstStyle/>
          <a:p>
            <a:pPr marL="0" indent="0" algn="ctr">
              <a:buNone/>
            </a:pPr>
            <a:r>
              <a:rPr lang="en-US" sz="850" dirty="0">
                <a:solidFill>
                  <a:srgbClr val="667788"/>
                </a:solidFill>
                <a:latin typeface="Calibri" pitchFamily="34" charset="0"/>
                <a:ea typeface="Calibri" pitchFamily="34" charset="-122"/>
                <a:cs typeface="Calibri" pitchFamily="34" charset="-120"/>
              </a:rPr>
              <a:t>2</a:t>
            </a:r>
            <a:endParaRPr lang="en-US" sz="850" dirty="0"/>
          </a:p>
        </p:txBody>
      </p:sp>
      <p:sp>
        <p:nvSpPr>
          <p:cNvPr id="77" name="Shape 75"/>
          <p:cNvSpPr/>
          <p:nvPr/>
        </p:nvSpPr>
        <p:spPr>
          <a:xfrm>
            <a:off x="8805672" y="3438144"/>
            <a:ext cx="566928" cy="530352"/>
          </a:xfrm>
          <a:prstGeom prst="rect">
            <a:avLst/>
          </a:prstGeom>
          <a:solidFill>
            <a:srgbClr val="E8F6EE"/>
          </a:solidFill>
          <a:ln w="25400">
            <a:solidFill>
              <a:srgbClr val="FFFFFF"/>
            </a:solidFill>
            <a:prstDash val="solid"/>
          </a:ln>
        </p:spPr>
        <p:txBody>
          <a:bodyPr/>
          <a:lstStyle/>
          <a:p>
            <a:endParaRPr lang="de-CH"/>
          </a:p>
        </p:txBody>
      </p:sp>
      <p:sp>
        <p:nvSpPr>
          <p:cNvPr id="78" name="Text 76"/>
          <p:cNvSpPr/>
          <p:nvPr/>
        </p:nvSpPr>
        <p:spPr>
          <a:xfrm>
            <a:off x="8805672" y="3438144"/>
            <a:ext cx="566928" cy="530352"/>
          </a:xfrm>
          <a:prstGeom prst="rect">
            <a:avLst/>
          </a:prstGeom>
          <a:noFill/>
          <a:ln/>
        </p:spPr>
        <p:txBody>
          <a:bodyPr wrap="square" lIns="0" tIns="0" rIns="0" bIns="0" rtlCol="0" anchor="ctr"/>
          <a:lstStyle/>
          <a:p>
            <a:pPr marL="0" indent="0" algn="ctr">
              <a:buNone/>
            </a:pPr>
            <a:r>
              <a:rPr lang="en-US" sz="850" dirty="0">
                <a:solidFill>
                  <a:srgbClr val="667788"/>
                </a:solidFill>
                <a:latin typeface="Calibri" pitchFamily="34" charset="0"/>
                <a:ea typeface="Calibri" pitchFamily="34" charset="-122"/>
                <a:cs typeface="Calibri" pitchFamily="34" charset="-120"/>
              </a:rPr>
              <a:t>4</a:t>
            </a:r>
            <a:endParaRPr lang="en-US" sz="850" dirty="0"/>
          </a:p>
        </p:txBody>
      </p:sp>
      <p:sp>
        <p:nvSpPr>
          <p:cNvPr id="79" name="Shape 77"/>
          <p:cNvSpPr/>
          <p:nvPr/>
        </p:nvSpPr>
        <p:spPr>
          <a:xfrm>
            <a:off x="9409176" y="3438144"/>
            <a:ext cx="566928" cy="530352"/>
          </a:xfrm>
          <a:prstGeom prst="rect">
            <a:avLst/>
          </a:prstGeom>
          <a:solidFill>
            <a:srgbClr val="FBF2DC"/>
          </a:solidFill>
          <a:ln w="25400">
            <a:solidFill>
              <a:srgbClr val="FFFFFF"/>
            </a:solidFill>
            <a:prstDash val="solid"/>
          </a:ln>
        </p:spPr>
        <p:txBody>
          <a:bodyPr/>
          <a:lstStyle/>
          <a:p>
            <a:endParaRPr lang="de-CH"/>
          </a:p>
        </p:txBody>
      </p:sp>
      <p:sp>
        <p:nvSpPr>
          <p:cNvPr id="80" name="Text 78"/>
          <p:cNvSpPr/>
          <p:nvPr/>
        </p:nvSpPr>
        <p:spPr>
          <a:xfrm>
            <a:off x="9409176" y="3438144"/>
            <a:ext cx="566928" cy="530352"/>
          </a:xfrm>
          <a:prstGeom prst="rect">
            <a:avLst/>
          </a:prstGeom>
          <a:noFill/>
          <a:ln/>
        </p:spPr>
        <p:txBody>
          <a:bodyPr wrap="square" lIns="0" tIns="0" rIns="0" bIns="0" rtlCol="0" anchor="ctr"/>
          <a:lstStyle/>
          <a:p>
            <a:pPr marL="0" indent="0" algn="ctr">
              <a:buNone/>
            </a:pPr>
            <a:r>
              <a:rPr lang="en-US" sz="850" dirty="0">
                <a:solidFill>
                  <a:srgbClr val="667788"/>
                </a:solidFill>
                <a:latin typeface="Calibri" pitchFamily="34" charset="0"/>
                <a:ea typeface="Calibri" pitchFamily="34" charset="-122"/>
                <a:cs typeface="Calibri" pitchFamily="34" charset="-120"/>
              </a:rPr>
              <a:t>6</a:t>
            </a:r>
            <a:endParaRPr lang="en-US" sz="850" dirty="0"/>
          </a:p>
        </p:txBody>
      </p:sp>
      <p:sp>
        <p:nvSpPr>
          <p:cNvPr id="81" name="Shape 79"/>
          <p:cNvSpPr/>
          <p:nvPr/>
        </p:nvSpPr>
        <p:spPr>
          <a:xfrm>
            <a:off x="10012680" y="3438144"/>
            <a:ext cx="566928" cy="530352"/>
          </a:xfrm>
          <a:prstGeom prst="rect">
            <a:avLst/>
          </a:prstGeom>
          <a:solidFill>
            <a:srgbClr val="FBF2DC"/>
          </a:solidFill>
          <a:ln w="25400">
            <a:solidFill>
              <a:srgbClr val="FFFFFF"/>
            </a:solidFill>
            <a:prstDash val="solid"/>
          </a:ln>
        </p:spPr>
        <p:txBody>
          <a:bodyPr/>
          <a:lstStyle/>
          <a:p>
            <a:endParaRPr lang="de-CH"/>
          </a:p>
        </p:txBody>
      </p:sp>
      <p:sp>
        <p:nvSpPr>
          <p:cNvPr id="82" name="Text 80"/>
          <p:cNvSpPr/>
          <p:nvPr/>
        </p:nvSpPr>
        <p:spPr>
          <a:xfrm>
            <a:off x="10012680" y="3438144"/>
            <a:ext cx="566928" cy="530352"/>
          </a:xfrm>
          <a:prstGeom prst="rect">
            <a:avLst/>
          </a:prstGeom>
          <a:noFill/>
          <a:ln/>
        </p:spPr>
        <p:txBody>
          <a:bodyPr wrap="square" lIns="0" tIns="0" rIns="0" bIns="0" rtlCol="0" anchor="ctr"/>
          <a:lstStyle/>
          <a:p>
            <a:pPr marL="0" indent="0" algn="ctr">
              <a:buNone/>
            </a:pPr>
            <a:r>
              <a:rPr lang="en-US" sz="900" b="1" dirty="0">
                <a:solidFill>
                  <a:srgbClr val="12202E"/>
                </a:solidFill>
                <a:latin typeface="Calibri" pitchFamily="34" charset="0"/>
                <a:ea typeface="Calibri" pitchFamily="34" charset="-122"/>
                <a:cs typeface="Calibri" pitchFamily="34" charset="-120"/>
              </a:rPr>
              <a:t>H-04</a:t>
            </a:r>
            <a:endParaRPr lang="en-US" sz="900" dirty="0"/>
          </a:p>
        </p:txBody>
      </p:sp>
      <p:sp>
        <p:nvSpPr>
          <p:cNvPr id="83" name="Shape 81"/>
          <p:cNvSpPr/>
          <p:nvPr/>
        </p:nvSpPr>
        <p:spPr>
          <a:xfrm>
            <a:off x="10616184" y="3438144"/>
            <a:ext cx="566928" cy="530352"/>
          </a:xfrm>
          <a:prstGeom prst="rect">
            <a:avLst/>
          </a:prstGeom>
          <a:solidFill>
            <a:srgbClr val="FCEADB"/>
          </a:solidFill>
          <a:ln w="25400">
            <a:solidFill>
              <a:srgbClr val="FFFFFF"/>
            </a:solidFill>
            <a:prstDash val="solid"/>
          </a:ln>
        </p:spPr>
        <p:txBody>
          <a:bodyPr/>
          <a:lstStyle/>
          <a:p>
            <a:endParaRPr lang="de-CH"/>
          </a:p>
        </p:txBody>
      </p:sp>
      <p:sp>
        <p:nvSpPr>
          <p:cNvPr id="84" name="Text 82"/>
          <p:cNvSpPr/>
          <p:nvPr/>
        </p:nvSpPr>
        <p:spPr>
          <a:xfrm>
            <a:off x="10616184" y="3438144"/>
            <a:ext cx="566928" cy="530352"/>
          </a:xfrm>
          <a:prstGeom prst="rect">
            <a:avLst/>
          </a:prstGeom>
          <a:noFill/>
          <a:ln/>
        </p:spPr>
        <p:txBody>
          <a:bodyPr wrap="square" lIns="0" tIns="0" rIns="0" bIns="0" rtlCol="0" anchor="ctr"/>
          <a:lstStyle/>
          <a:p>
            <a:pPr marL="0" indent="0" algn="ctr">
              <a:buNone/>
            </a:pPr>
            <a:r>
              <a:rPr lang="en-US" sz="850" dirty="0">
                <a:solidFill>
                  <a:srgbClr val="667788"/>
                </a:solidFill>
                <a:latin typeface="Calibri" pitchFamily="34" charset="0"/>
                <a:ea typeface="Calibri" pitchFamily="34" charset="-122"/>
                <a:cs typeface="Calibri" pitchFamily="34" charset="-120"/>
              </a:rPr>
              <a:t>10</a:t>
            </a:r>
            <a:endParaRPr lang="en-US" sz="850" dirty="0"/>
          </a:p>
        </p:txBody>
      </p:sp>
      <p:sp>
        <p:nvSpPr>
          <p:cNvPr id="85" name="Text 83"/>
          <p:cNvSpPr/>
          <p:nvPr/>
        </p:nvSpPr>
        <p:spPr>
          <a:xfrm>
            <a:off x="7818120" y="4005072"/>
            <a:ext cx="292608" cy="566928"/>
          </a:xfrm>
          <a:prstGeom prst="rect">
            <a:avLst/>
          </a:prstGeom>
          <a:noFill/>
          <a:ln/>
        </p:spPr>
        <p:txBody>
          <a:bodyPr wrap="square" lIns="0" tIns="0" rIns="0" bIns="0" rtlCol="0" anchor="ctr"/>
          <a:lstStyle/>
          <a:p>
            <a:pPr marL="0" indent="0" algn="r">
              <a:buNone/>
            </a:pPr>
            <a:r>
              <a:rPr lang="en-US" sz="950" b="1" dirty="0">
                <a:solidFill>
                  <a:srgbClr val="5D7186"/>
                </a:solidFill>
                <a:latin typeface="Calibri" pitchFamily="34" charset="0"/>
                <a:ea typeface="Calibri" pitchFamily="34" charset="-122"/>
                <a:cs typeface="Calibri" pitchFamily="34" charset="-120"/>
              </a:rPr>
              <a:t>1</a:t>
            </a:r>
            <a:endParaRPr lang="en-US" sz="950" dirty="0"/>
          </a:p>
        </p:txBody>
      </p:sp>
      <p:sp>
        <p:nvSpPr>
          <p:cNvPr id="86" name="Shape 84"/>
          <p:cNvSpPr/>
          <p:nvPr/>
        </p:nvSpPr>
        <p:spPr>
          <a:xfrm>
            <a:off x="8202168" y="4005072"/>
            <a:ext cx="566928" cy="530352"/>
          </a:xfrm>
          <a:prstGeom prst="rect">
            <a:avLst/>
          </a:prstGeom>
          <a:solidFill>
            <a:srgbClr val="E8F6EE"/>
          </a:solidFill>
          <a:ln w="25400">
            <a:solidFill>
              <a:srgbClr val="FFFFFF"/>
            </a:solidFill>
            <a:prstDash val="solid"/>
          </a:ln>
        </p:spPr>
        <p:txBody>
          <a:bodyPr/>
          <a:lstStyle/>
          <a:p>
            <a:endParaRPr lang="de-CH"/>
          </a:p>
        </p:txBody>
      </p:sp>
      <p:sp>
        <p:nvSpPr>
          <p:cNvPr id="87" name="Text 85"/>
          <p:cNvSpPr/>
          <p:nvPr/>
        </p:nvSpPr>
        <p:spPr>
          <a:xfrm>
            <a:off x="8202168" y="4005072"/>
            <a:ext cx="566928" cy="530352"/>
          </a:xfrm>
          <a:prstGeom prst="rect">
            <a:avLst/>
          </a:prstGeom>
          <a:noFill/>
          <a:ln/>
        </p:spPr>
        <p:txBody>
          <a:bodyPr wrap="square" lIns="0" tIns="0" rIns="0" bIns="0" rtlCol="0" anchor="ctr"/>
          <a:lstStyle/>
          <a:p>
            <a:pPr marL="0" indent="0" algn="ctr">
              <a:buNone/>
            </a:pPr>
            <a:r>
              <a:rPr lang="en-US" sz="850" dirty="0">
                <a:solidFill>
                  <a:srgbClr val="667788"/>
                </a:solidFill>
                <a:latin typeface="Calibri" pitchFamily="34" charset="0"/>
                <a:ea typeface="Calibri" pitchFamily="34" charset="-122"/>
                <a:cs typeface="Calibri" pitchFamily="34" charset="-120"/>
              </a:rPr>
              <a:t>1</a:t>
            </a:r>
            <a:endParaRPr lang="en-US" sz="850" dirty="0"/>
          </a:p>
        </p:txBody>
      </p:sp>
      <p:sp>
        <p:nvSpPr>
          <p:cNvPr id="88" name="Shape 86"/>
          <p:cNvSpPr/>
          <p:nvPr/>
        </p:nvSpPr>
        <p:spPr>
          <a:xfrm>
            <a:off x="8805672" y="4005072"/>
            <a:ext cx="566928" cy="530352"/>
          </a:xfrm>
          <a:prstGeom prst="rect">
            <a:avLst/>
          </a:prstGeom>
          <a:solidFill>
            <a:srgbClr val="E8F6EE"/>
          </a:solidFill>
          <a:ln w="25400">
            <a:solidFill>
              <a:srgbClr val="FFFFFF"/>
            </a:solidFill>
            <a:prstDash val="solid"/>
          </a:ln>
        </p:spPr>
        <p:txBody>
          <a:bodyPr/>
          <a:lstStyle/>
          <a:p>
            <a:endParaRPr lang="de-CH"/>
          </a:p>
        </p:txBody>
      </p:sp>
      <p:sp>
        <p:nvSpPr>
          <p:cNvPr id="89" name="Text 87"/>
          <p:cNvSpPr/>
          <p:nvPr/>
        </p:nvSpPr>
        <p:spPr>
          <a:xfrm>
            <a:off x="8805672" y="4005072"/>
            <a:ext cx="566928" cy="530352"/>
          </a:xfrm>
          <a:prstGeom prst="rect">
            <a:avLst/>
          </a:prstGeom>
          <a:noFill/>
          <a:ln/>
        </p:spPr>
        <p:txBody>
          <a:bodyPr wrap="square" lIns="0" tIns="0" rIns="0" bIns="0" rtlCol="0" anchor="ctr"/>
          <a:lstStyle/>
          <a:p>
            <a:pPr marL="0" indent="0" algn="ctr">
              <a:buNone/>
            </a:pPr>
            <a:r>
              <a:rPr lang="en-US" sz="850" dirty="0">
                <a:solidFill>
                  <a:srgbClr val="667788"/>
                </a:solidFill>
                <a:latin typeface="Calibri" pitchFamily="34" charset="0"/>
                <a:ea typeface="Calibri" pitchFamily="34" charset="-122"/>
                <a:cs typeface="Calibri" pitchFamily="34" charset="-120"/>
              </a:rPr>
              <a:t>2</a:t>
            </a:r>
            <a:endParaRPr lang="en-US" sz="850" dirty="0"/>
          </a:p>
        </p:txBody>
      </p:sp>
      <p:sp>
        <p:nvSpPr>
          <p:cNvPr id="90" name="Shape 88"/>
          <p:cNvSpPr/>
          <p:nvPr/>
        </p:nvSpPr>
        <p:spPr>
          <a:xfrm>
            <a:off x="9409176" y="4005072"/>
            <a:ext cx="566928" cy="530352"/>
          </a:xfrm>
          <a:prstGeom prst="rect">
            <a:avLst/>
          </a:prstGeom>
          <a:solidFill>
            <a:srgbClr val="E8F6EE"/>
          </a:solidFill>
          <a:ln w="25400">
            <a:solidFill>
              <a:srgbClr val="FFFFFF"/>
            </a:solidFill>
            <a:prstDash val="solid"/>
          </a:ln>
        </p:spPr>
        <p:txBody>
          <a:bodyPr/>
          <a:lstStyle/>
          <a:p>
            <a:endParaRPr lang="de-CH"/>
          </a:p>
        </p:txBody>
      </p:sp>
      <p:sp>
        <p:nvSpPr>
          <p:cNvPr id="91" name="Text 89"/>
          <p:cNvSpPr/>
          <p:nvPr/>
        </p:nvSpPr>
        <p:spPr>
          <a:xfrm>
            <a:off x="9409176" y="4005072"/>
            <a:ext cx="566928" cy="530352"/>
          </a:xfrm>
          <a:prstGeom prst="rect">
            <a:avLst/>
          </a:prstGeom>
          <a:noFill/>
          <a:ln/>
        </p:spPr>
        <p:txBody>
          <a:bodyPr wrap="square" lIns="0" tIns="0" rIns="0" bIns="0" rtlCol="0" anchor="ctr"/>
          <a:lstStyle/>
          <a:p>
            <a:pPr marL="0" indent="0" algn="ctr">
              <a:buNone/>
            </a:pPr>
            <a:r>
              <a:rPr lang="en-US" sz="850" dirty="0">
                <a:solidFill>
                  <a:srgbClr val="667788"/>
                </a:solidFill>
                <a:latin typeface="Calibri" pitchFamily="34" charset="0"/>
                <a:ea typeface="Calibri" pitchFamily="34" charset="-122"/>
                <a:cs typeface="Calibri" pitchFamily="34" charset="-120"/>
              </a:rPr>
              <a:t>3</a:t>
            </a:r>
            <a:endParaRPr lang="en-US" sz="850" dirty="0"/>
          </a:p>
        </p:txBody>
      </p:sp>
      <p:sp>
        <p:nvSpPr>
          <p:cNvPr id="92" name="Shape 90"/>
          <p:cNvSpPr/>
          <p:nvPr/>
        </p:nvSpPr>
        <p:spPr>
          <a:xfrm>
            <a:off x="10012680" y="4005072"/>
            <a:ext cx="566928" cy="530352"/>
          </a:xfrm>
          <a:prstGeom prst="rect">
            <a:avLst/>
          </a:prstGeom>
          <a:solidFill>
            <a:srgbClr val="E8F6EE"/>
          </a:solidFill>
          <a:ln w="25400">
            <a:solidFill>
              <a:srgbClr val="FFFFFF"/>
            </a:solidFill>
            <a:prstDash val="solid"/>
          </a:ln>
        </p:spPr>
        <p:txBody>
          <a:bodyPr/>
          <a:lstStyle/>
          <a:p>
            <a:endParaRPr lang="de-CH"/>
          </a:p>
        </p:txBody>
      </p:sp>
      <p:sp>
        <p:nvSpPr>
          <p:cNvPr id="93" name="Text 91"/>
          <p:cNvSpPr/>
          <p:nvPr/>
        </p:nvSpPr>
        <p:spPr>
          <a:xfrm>
            <a:off x="10012680" y="4005072"/>
            <a:ext cx="566928" cy="530352"/>
          </a:xfrm>
          <a:prstGeom prst="rect">
            <a:avLst/>
          </a:prstGeom>
          <a:noFill/>
          <a:ln/>
        </p:spPr>
        <p:txBody>
          <a:bodyPr wrap="square" lIns="0" tIns="0" rIns="0" bIns="0" rtlCol="0" anchor="ctr"/>
          <a:lstStyle/>
          <a:p>
            <a:pPr marL="0" indent="0" algn="ctr">
              <a:buNone/>
            </a:pPr>
            <a:r>
              <a:rPr lang="en-US" sz="850" dirty="0">
                <a:solidFill>
                  <a:srgbClr val="667788"/>
                </a:solidFill>
                <a:latin typeface="Calibri" pitchFamily="34" charset="0"/>
                <a:ea typeface="Calibri" pitchFamily="34" charset="-122"/>
                <a:cs typeface="Calibri" pitchFamily="34" charset="-120"/>
              </a:rPr>
              <a:t>4</a:t>
            </a:r>
            <a:endParaRPr lang="en-US" sz="850" dirty="0"/>
          </a:p>
        </p:txBody>
      </p:sp>
      <p:sp>
        <p:nvSpPr>
          <p:cNvPr id="94" name="Shape 92"/>
          <p:cNvSpPr/>
          <p:nvPr/>
        </p:nvSpPr>
        <p:spPr>
          <a:xfrm>
            <a:off x="10616184" y="4005072"/>
            <a:ext cx="566928" cy="530352"/>
          </a:xfrm>
          <a:prstGeom prst="rect">
            <a:avLst/>
          </a:prstGeom>
          <a:solidFill>
            <a:srgbClr val="FBF2DC"/>
          </a:solidFill>
          <a:ln w="25400">
            <a:solidFill>
              <a:srgbClr val="FFFFFF"/>
            </a:solidFill>
            <a:prstDash val="solid"/>
          </a:ln>
        </p:spPr>
        <p:txBody>
          <a:bodyPr/>
          <a:lstStyle/>
          <a:p>
            <a:endParaRPr lang="de-CH"/>
          </a:p>
        </p:txBody>
      </p:sp>
      <p:sp>
        <p:nvSpPr>
          <p:cNvPr id="95" name="Text 93"/>
          <p:cNvSpPr/>
          <p:nvPr/>
        </p:nvSpPr>
        <p:spPr>
          <a:xfrm>
            <a:off x="10616184" y="4005072"/>
            <a:ext cx="566928" cy="530352"/>
          </a:xfrm>
          <a:prstGeom prst="rect">
            <a:avLst/>
          </a:prstGeom>
          <a:noFill/>
          <a:ln/>
        </p:spPr>
        <p:txBody>
          <a:bodyPr wrap="square" lIns="0" tIns="0" rIns="0" bIns="0" rtlCol="0" anchor="ctr"/>
          <a:lstStyle/>
          <a:p>
            <a:pPr marL="0" indent="0" algn="ctr">
              <a:buNone/>
            </a:pPr>
            <a:r>
              <a:rPr lang="en-US" sz="850" dirty="0">
                <a:solidFill>
                  <a:srgbClr val="667788"/>
                </a:solidFill>
                <a:latin typeface="Calibri" pitchFamily="34" charset="0"/>
                <a:ea typeface="Calibri" pitchFamily="34" charset="-122"/>
                <a:cs typeface="Calibri" pitchFamily="34" charset="-120"/>
              </a:rPr>
              <a:t>5</a:t>
            </a:r>
            <a:endParaRPr lang="en-US" sz="850" dirty="0"/>
          </a:p>
        </p:txBody>
      </p:sp>
      <p:sp>
        <p:nvSpPr>
          <p:cNvPr id="96" name="Text 94"/>
          <p:cNvSpPr/>
          <p:nvPr/>
        </p:nvSpPr>
        <p:spPr>
          <a:xfrm>
            <a:off x="8202168" y="4572000"/>
            <a:ext cx="566928" cy="237744"/>
          </a:xfrm>
          <a:prstGeom prst="rect">
            <a:avLst/>
          </a:prstGeom>
          <a:noFill/>
          <a:ln/>
        </p:spPr>
        <p:txBody>
          <a:bodyPr wrap="square" lIns="0" tIns="0" rIns="0" bIns="0" rtlCol="0" anchor="ctr"/>
          <a:lstStyle/>
          <a:p>
            <a:pPr marL="0" indent="0" algn="ctr">
              <a:buNone/>
            </a:pPr>
            <a:r>
              <a:rPr lang="en-US" sz="950" b="1" dirty="0">
                <a:solidFill>
                  <a:srgbClr val="5D7186"/>
                </a:solidFill>
                <a:latin typeface="Calibri" pitchFamily="34" charset="0"/>
                <a:ea typeface="Calibri" pitchFamily="34" charset="-122"/>
                <a:cs typeface="Calibri" pitchFamily="34" charset="-120"/>
              </a:rPr>
              <a:t>1</a:t>
            </a:r>
            <a:endParaRPr lang="en-US" sz="950" dirty="0"/>
          </a:p>
        </p:txBody>
      </p:sp>
      <p:sp>
        <p:nvSpPr>
          <p:cNvPr id="97" name="Text 95"/>
          <p:cNvSpPr/>
          <p:nvPr/>
        </p:nvSpPr>
        <p:spPr>
          <a:xfrm>
            <a:off x="8805672" y="4572000"/>
            <a:ext cx="566928" cy="237744"/>
          </a:xfrm>
          <a:prstGeom prst="rect">
            <a:avLst/>
          </a:prstGeom>
          <a:noFill/>
          <a:ln/>
        </p:spPr>
        <p:txBody>
          <a:bodyPr wrap="square" lIns="0" tIns="0" rIns="0" bIns="0" rtlCol="0" anchor="ctr"/>
          <a:lstStyle/>
          <a:p>
            <a:pPr marL="0" indent="0" algn="ctr">
              <a:buNone/>
            </a:pPr>
            <a:r>
              <a:rPr lang="en-US" sz="950" b="1" dirty="0">
                <a:solidFill>
                  <a:srgbClr val="5D7186"/>
                </a:solidFill>
                <a:latin typeface="Calibri" pitchFamily="34" charset="0"/>
                <a:ea typeface="Calibri" pitchFamily="34" charset="-122"/>
                <a:cs typeface="Calibri" pitchFamily="34" charset="-120"/>
              </a:rPr>
              <a:t>2</a:t>
            </a:r>
            <a:endParaRPr lang="en-US" sz="950" dirty="0"/>
          </a:p>
        </p:txBody>
      </p:sp>
      <p:sp>
        <p:nvSpPr>
          <p:cNvPr id="98" name="Text 96"/>
          <p:cNvSpPr/>
          <p:nvPr/>
        </p:nvSpPr>
        <p:spPr>
          <a:xfrm>
            <a:off x="9409176" y="4572000"/>
            <a:ext cx="566928" cy="237744"/>
          </a:xfrm>
          <a:prstGeom prst="rect">
            <a:avLst/>
          </a:prstGeom>
          <a:noFill/>
          <a:ln/>
        </p:spPr>
        <p:txBody>
          <a:bodyPr wrap="square" lIns="0" tIns="0" rIns="0" bIns="0" rtlCol="0" anchor="ctr"/>
          <a:lstStyle/>
          <a:p>
            <a:pPr marL="0" indent="0" algn="ctr">
              <a:buNone/>
            </a:pPr>
            <a:r>
              <a:rPr lang="en-US" sz="950" b="1" dirty="0">
                <a:solidFill>
                  <a:srgbClr val="5D7186"/>
                </a:solidFill>
                <a:latin typeface="Calibri" pitchFamily="34" charset="0"/>
                <a:ea typeface="Calibri" pitchFamily="34" charset="-122"/>
                <a:cs typeface="Calibri" pitchFamily="34" charset="-120"/>
              </a:rPr>
              <a:t>3</a:t>
            </a:r>
            <a:endParaRPr lang="en-US" sz="950" dirty="0"/>
          </a:p>
        </p:txBody>
      </p:sp>
      <p:sp>
        <p:nvSpPr>
          <p:cNvPr id="99" name="Text 97"/>
          <p:cNvSpPr/>
          <p:nvPr/>
        </p:nvSpPr>
        <p:spPr>
          <a:xfrm>
            <a:off x="10012680" y="4572000"/>
            <a:ext cx="566928" cy="237744"/>
          </a:xfrm>
          <a:prstGeom prst="rect">
            <a:avLst/>
          </a:prstGeom>
          <a:noFill/>
          <a:ln/>
        </p:spPr>
        <p:txBody>
          <a:bodyPr wrap="square" lIns="0" tIns="0" rIns="0" bIns="0" rtlCol="0" anchor="ctr"/>
          <a:lstStyle/>
          <a:p>
            <a:pPr marL="0" indent="0" algn="ctr">
              <a:buNone/>
            </a:pPr>
            <a:r>
              <a:rPr lang="en-US" sz="950" b="1" dirty="0">
                <a:solidFill>
                  <a:srgbClr val="5D7186"/>
                </a:solidFill>
                <a:latin typeface="Calibri" pitchFamily="34" charset="0"/>
                <a:ea typeface="Calibri" pitchFamily="34" charset="-122"/>
                <a:cs typeface="Calibri" pitchFamily="34" charset="-120"/>
              </a:rPr>
              <a:t>4</a:t>
            </a:r>
            <a:endParaRPr lang="en-US" sz="950" dirty="0"/>
          </a:p>
        </p:txBody>
      </p:sp>
      <p:sp>
        <p:nvSpPr>
          <p:cNvPr id="100" name="Text 98"/>
          <p:cNvSpPr/>
          <p:nvPr/>
        </p:nvSpPr>
        <p:spPr>
          <a:xfrm>
            <a:off x="10616184" y="4572000"/>
            <a:ext cx="566928" cy="237744"/>
          </a:xfrm>
          <a:prstGeom prst="rect">
            <a:avLst/>
          </a:prstGeom>
          <a:noFill/>
          <a:ln/>
        </p:spPr>
        <p:txBody>
          <a:bodyPr wrap="square" lIns="0" tIns="0" rIns="0" bIns="0" rtlCol="0" anchor="ctr"/>
          <a:lstStyle/>
          <a:p>
            <a:pPr marL="0" indent="0" algn="ctr">
              <a:buNone/>
            </a:pPr>
            <a:r>
              <a:rPr lang="en-US" sz="950" b="1" dirty="0">
                <a:solidFill>
                  <a:srgbClr val="5D7186"/>
                </a:solidFill>
                <a:latin typeface="Calibri" pitchFamily="34" charset="0"/>
                <a:ea typeface="Calibri" pitchFamily="34" charset="-122"/>
                <a:cs typeface="Calibri" pitchFamily="34" charset="-120"/>
              </a:rPr>
              <a:t>5</a:t>
            </a:r>
            <a:endParaRPr lang="en-US" sz="950" dirty="0"/>
          </a:p>
        </p:txBody>
      </p:sp>
      <p:sp>
        <p:nvSpPr>
          <p:cNvPr id="101" name="Text 99"/>
          <p:cNvSpPr/>
          <p:nvPr/>
        </p:nvSpPr>
        <p:spPr>
          <a:xfrm>
            <a:off x="8202168" y="4828032"/>
            <a:ext cx="3017520" cy="256032"/>
          </a:xfrm>
          <a:prstGeom prst="rect">
            <a:avLst/>
          </a:prstGeom>
          <a:noFill/>
          <a:ln/>
        </p:spPr>
        <p:txBody>
          <a:bodyPr wrap="square" lIns="0" tIns="0" rIns="0" bIns="0" rtlCol="0" anchor="ctr"/>
          <a:lstStyle/>
          <a:p>
            <a:pPr marL="0" indent="0" algn="ctr">
              <a:buNone/>
            </a:pPr>
            <a:r>
              <a:rPr lang="en-US" sz="1000" b="1" dirty="0">
                <a:solidFill>
                  <a:srgbClr val="5D7186"/>
                </a:solidFill>
                <a:latin typeface="Calibri" pitchFamily="34" charset="0"/>
                <a:ea typeface="Calibri" pitchFamily="34" charset="-122"/>
                <a:cs typeface="Calibri" pitchFamily="34" charset="-120"/>
              </a:rPr>
              <a:t>Likelihood</a:t>
            </a:r>
            <a:endParaRPr lang="en-US" sz="1000" dirty="0"/>
          </a:p>
        </p:txBody>
      </p:sp>
      <p:sp>
        <p:nvSpPr>
          <p:cNvPr id="102" name="Text 100"/>
          <p:cNvSpPr/>
          <p:nvPr/>
        </p:nvSpPr>
        <p:spPr>
          <a:xfrm>
            <a:off x="566928" y="5797296"/>
            <a:ext cx="11064240" cy="274320"/>
          </a:xfrm>
          <a:prstGeom prst="rect">
            <a:avLst/>
          </a:prstGeom>
          <a:noFill/>
          <a:ln/>
        </p:spPr>
        <p:txBody>
          <a:bodyPr wrap="square" lIns="0" tIns="0" rIns="0" bIns="0" rtlCol="0" anchor="ctr"/>
          <a:lstStyle/>
          <a:p>
            <a:pPr marL="0" indent="0">
              <a:buNone/>
            </a:pPr>
            <a:r>
              <a:rPr lang="en-US" sz="1100" i="1" dirty="0">
                <a:solidFill>
                  <a:srgbClr val="5D7186"/>
                </a:solidFill>
                <a:latin typeface="Calibri" pitchFamily="34" charset="0"/>
                <a:ea typeface="Calibri" pitchFamily="34" charset="-122"/>
                <a:cs typeface="Calibri" pitchFamily="34" charset="-120"/>
              </a:rPr>
              <a:t>Score ≥ 10 → full test coverage.  Score 6–9 → sample-based coverage.</a:t>
            </a:r>
            <a:endParaRPr lang="en-US" sz="1100" dirty="0"/>
          </a:p>
        </p:txBody>
      </p:sp>
      <p:sp>
        <p:nvSpPr>
          <p:cNvPr id="104" name="Text 11">
            <a:extLst>
              <a:ext uri="{FF2B5EF4-FFF2-40B4-BE49-F238E27FC236}">
                <a16:creationId xmlns:a16="http://schemas.microsoft.com/office/drawing/2014/main" id="{B5443541-0DBC-270F-112A-4ABA492B8E59}"/>
              </a:ext>
            </a:extLst>
          </p:cNvPr>
          <p:cNvSpPr/>
          <p:nvPr/>
        </p:nvSpPr>
        <p:spPr>
          <a:xfrm>
            <a:off x="57709" y="6568124"/>
            <a:ext cx="8229600" cy="274320"/>
          </a:xfrm>
          <a:prstGeom prst="rect">
            <a:avLst/>
          </a:prstGeom>
          <a:noFill/>
          <a:ln/>
        </p:spPr>
        <p:txBody>
          <a:bodyPr wrap="square" lIns="0" tIns="0" rIns="0" bIns="0" rtlCol="0" anchor="ctr"/>
          <a:lstStyle/>
          <a:p>
            <a:pPr marL="0" indent="0">
              <a:buNone/>
            </a:pPr>
            <a:r>
              <a:rPr lang="en-US" sz="900">
                <a:solidFill>
                  <a:srgbClr val="8FA3B8"/>
                </a:solidFill>
                <a:latin typeface="Calibri" pitchFamily="34" charset="0"/>
                <a:ea typeface="Calibri" pitchFamily="34" charset="-122"/>
                <a:cs typeface="Calibri" pitchFamily="34" charset="-120"/>
              </a:rPr>
              <a:t>FHNW  ·  MSc Medical Informatics  ·  Clinical Decision Support Systems 2026</a:t>
            </a:r>
            <a:endParaRPr lang="en-US" sz="900"/>
          </a:p>
        </p:txBody>
      </p:sp>
      <p:pic>
        <p:nvPicPr>
          <p:cNvPr id="106" name="Grafik 105">
            <a:extLst>
              <a:ext uri="{FF2B5EF4-FFF2-40B4-BE49-F238E27FC236}">
                <a16:creationId xmlns:a16="http://schemas.microsoft.com/office/drawing/2014/main" id="{65563E78-2D69-B4DB-1DB4-DEAE97033192}"/>
              </a:ext>
            </a:extLst>
          </p:cNvPr>
          <p:cNvPicPr>
            <a:picLocks noChangeAspect="1"/>
          </p:cNvPicPr>
          <p:nvPr/>
        </p:nvPicPr>
        <p:blipFill>
          <a:blip r:embed="rId3">
            <a:duotone>
              <a:schemeClr val="accent3">
                <a:shade val="45000"/>
                <a:satMod val="135000"/>
              </a:schemeClr>
              <a:prstClr val="white"/>
            </a:duotone>
          </a:blip>
          <a:stretch>
            <a:fillRect/>
          </a:stretch>
        </p:blipFill>
        <p:spPr>
          <a:xfrm>
            <a:off x="57709" y="47504"/>
            <a:ext cx="1012490" cy="23624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7680960" cy="219456"/>
          </a:xfrm>
          <a:prstGeom prst="rect">
            <a:avLst/>
          </a:prstGeom>
          <a:noFill/>
          <a:ln/>
        </p:spPr>
        <p:txBody>
          <a:bodyPr wrap="square" lIns="0" tIns="0" rIns="0" bIns="0" rtlCol="0" anchor="ctr"/>
          <a:lstStyle/>
          <a:p>
            <a:pPr marL="0" indent="0">
              <a:buNone/>
            </a:pPr>
            <a:r>
              <a:rPr lang="en-US" sz="1050" b="1" kern="0" spc="160" dirty="0">
                <a:solidFill>
                  <a:srgbClr val="5D7186"/>
                </a:solidFill>
                <a:latin typeface="Calibri" pitchFamily="34" charset="0"/>
                <a:ea typeface="Calibri" pitchFamily="34" charset="-122"/>
                <a:cs typeface="Calibri" pitchFamily="34" charset="-120"/>
              </a:rPr>
              <a:t>BACKUP · L2 · VALIDATION LOOP AND WORST-FIRST CASCADE</a:t>
            </a:r>
            <a:endParaRPr lang="en-US" sz="1050" dirty="0"/>
          </a:p>
        </p:txBody>
      </p:sp>
      <p:sp>
        <p:nvSpPr>
          <p:cNvPr id="3" name="Text 1"/>
          <p:cNvSpPr/>
          <p:nvPr/>
        </p:nvSpPr>
        <p:spPr>
          <a:xfrm>
            <a:off x="566928" y="640080"/>
            <a:ext cx="10607040" cy="658368"/>
          </a:xfrm>
          <a:prstGeom prst="rect">
            <a:avLst/>
          </a:prstGeom>
          <a:noFill/>
          <a:ln/>
        </p:spPr>
        <p:txBody>
          <a:bodyPr wrap="square" lIns="0" tIns="0" rIns="0" bIns="0" rtlCol="0" anchor="t"/>
          <a:lstStyle/>
          <a:p>
            <a:pPr marL="0" indent="0">
              <a:buNone/>
            </a:pPr>
            <a:r>
              <a:rPr lang="en-US" sz="2700" b="1" dirty="0">
                <a:solidFill>
                  <a:srgbClr val="12202E"/>
                </a:solidFill>
                <a:latin typeface="Cambria" pitchFamily="34" charset="0"/>
                <a:ea typeface="Cambria" pitchFamily="34" charset="-122"/>
                <a:cs typeface="Cambria" pitchFamily="34" charset="-120"/>
              </a:rPr>
              <a:t>Detailed process inside the app</a:t>
            </a:r>
            <a:endParaRPr lang="en-US" sz="2700" dirty="0"/>
          </a:p>
        </p:txBody>
      </p:sp>
      <p:pic>
        <p:nvPicPr>
          <p:cNvPr id="4" name="Image 0" descr="workflow-app-detail.png"/>
          <p:cNvPicPr>
            <a:picLocks noChangeAspect="1"/>
          </p:cNvPicPr>
          <p:nvPr/>
        </p:nvPicPr>
        <p:blipFill>
          <a:blip r:embed="rId3"/>
          <a:stretch>
            <a:fillRect/>
          </a:stretch>
        </p:blipFill>
        <p:spPr>
          <a:xfrm>
            <a:off x="836676" y="1536192"/>
            <a:ext cx="10515600" cy="4875104"/>
          </a:xfrm>
          <a:prstGeom prst="rect">
            <a:avLst/>
          </a:prstGeom>
        </p:spPr>
      </p:pic>
      <p:sp>
        <p:nvSpPr>
          <p:cNvPr id="6" name="Text 11">
            <a:extLst>
              <a:ext uri="{FF2B5EF4-FFF2-40B4-BE49-F238E27FC236}">
                <a16:creationId xmlns:a16="http://schemas.microsoft.com/office/drawing/2014/main" id="{4D47F548-21A5-CC78-6AFF-FE3657B40872}"/>
              </a:ext>
            </a:extLst>
          </p:cNvPr>
          <p:cNvSpPr/>
          <p:nvPr/>
        </p:nvSpPr>
        <p:spPr>
          <a:xfrm>
            <a:off x="57709" y="6568124"/>
            <a:ext cx="8229600" cy="274320"/>
          </a:xfrm>
          <a:prstGeom prst="rect">
            <a:avLst/>
          </a:prstGeom>
          <a:noFill/>
          <a:ln/>
        </p:spPr>
        <p:txBody>
          <a:bodyPr wrap="square" lIns="0" tIns="0" rIns="0" bIns="0" rtlCol="0" anchor="ctr"/>
          <a:lstStyle/>
          <a:p>
            <a:pPr marL="0" indent="0">
              <a:buNone/>
            </a:pPr>
            <a:r>
              <a:rPr lang="en-US" sz="900">
                <a:solidFill>
                  <a:srgbClr val="8FA3B8"/>
                </a:solidFill>
                <a:latin typeface="Calibri" pitchFamily="34" charset="0"/>
                <a:ea typeface="Calibri" pitchFamily="34" charset="-122"/>
                <a:cs typeface="Calibri" pitchFamily="34" charset="-120"/>
              </a:rPr>
              <a:t>FHNW  ·  MSc Medical Informatics  ·  Clinical Decision Support Systems 2026</a:t>
            </a:r>
            <a:endParaRPr lang="en-US" sz="900"/>
          </a:p>
        </p:txBody>
      </p:sp>
      <p:pic>
        <p:nvPicPr>
          <p:cNvPr id="8" name="Grafik 7">
            <a:extLst>
              <a:ext uri="{FF2B5EF4-FFF2-40B4-BE49-F238E27FC236}">
                <a16:creationId xmlns:a16="http://schemas.microsoft.com/office/drawing/2014/main" id="{A4AFBA4A-253E-968F-521C-6698F0BABAF7}"/>
              </a:ext>
            </a:extLst>
          </p:cNvPr>
          <p:cNvPicPr>
            <a:picLocks noChangeAspect="1"/>
          </p:cNvPicPr>
          <p:nvPr/>
        </p:nvPicPr>
        <p:blipFill>
          <a:blip r:embed="rId4">
            <a:duotone>
              <a:schemeClr val="accent3">
                <a:shade val="45000"/>
                <a:satMod val="135000"/>
              </a:schemeClr>
              <a:prstClr val="white"/>
            </a:duotone>
          </a:blip>
          <a:stretch>
            <a:fillRect/>
          </a:stretch>
        </p:blipFill>
        <p:spPr>
          <a:xfrm>
            <a:off x="57709" y="47504"/>
            <a:ext cx="1012490" cy="23624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7680960" cy="219456"/>
          </a:xfrm>
          <a:prstGeom prst="rect">
            <a:avLst/>
          </a:prstGeom>
          <a:noFill/>
          <a:ln/>
        </p:spPr>
        <p:txBody>
          <a:bodyPr wrap="square" lIns="0" tIns="0" rIns="0" bIns="0" rtlCol="0" anchor="ctr"/>
          <a:lstStyle/>
          <a:p>
            <a:pPr marL="0" indent="0">
              <a:buNone/>
            </a:pPr>
            <a:r>
              <a:rPr lang="en-US" sz="1050" b="1" kern="0" spc="160" dirty="0">
                <a:solidFill>
                  <a:srgbClr val="5D7186"/>
                </a:solidFill>
                <a:latin typeface="Calibri" pitchFamily="34" charset="0"/>
                <a:ea typeface="Calibri" pitchFamily="34" charset="-122"/>
                <a:cs typeface="Calibri" pitchFamily="34" charset="-120"/>
              </a:rPr>
              <a:t>BACKUP · L3 / L4</a:t>
            </a:r>
            <a:endParaRPr lang="en-US" sz="1050" dirty="0"/>
          </a:p>
        </p:txBody>
      </p:sp>
      <p:sp>
        <p:nvSpPr>
          <p:cNvPr id="3" name="Text 1"/>
          <p:cNvSpPr/>
          <p:nvPr/>
        </p:nvSpPr>
        <p:spPr>
          <a:xfrm>
            <a:off x="566928" y="640080"/>
            <a:ext cx="10607040" cy="658368"/>
          </a:xfrm>
          <a:prstGeom prst="rect">
            <a:avLst/>
          </a:prstGeom>
          <a:noFill/>
          <a:ln/>
        </p:spPr>
        <p:txBody>
          <a:bodyPr wrap="square" lIns="0" tIns="0" rIns="0" bIns="0" rtlCol="0" anchor="t"/>
          <a:lstStyle/>
          <a:p>
            <a:pPr marL="0" indent="0">
              <a:buNone/>
            </a:pPr>
            <a:r>
              <a:rPr lang="en-US" sz="2700" b="1" dirty="0">
                <a:solidFill>
                  <a:srgbClr val="12202E"/>
                </a:solidFill>
                <a:latin typeface="Cambria" pitchFamily="34" charset="0"/>
                <a:ea typeface="Cambria" pitchFamily="34" charset="-122"/>
                <a:cs typeface="Cambria" pitchFamily="34" charset="-120"/>
              </a:rPr>
              <a:t>The FHIR interface — a real transaction bundle, not a download</a:t>
            </a:r>
            <a:endParaRPr lang="en-US" sz="2700" dirty="0"/>
          </a:p>
        </p:txBody>
      </p:sp>
      <p:sp>
        <p:nvSpPr>
          <p:cNvPr id="4" name="Shape 2"/>
          <p:cNvSpPr/>
          <p:nvPr/>
        </p:nvSpPr>
        <p:spPr>
          <a:xfrm>
            <a:off x="566928" y="1627632"/>
            <a:ext cx="11064240" cy="749808"/>
          </a:xfrm>
          <a:prstGeom prst="roundRect">
            <a:avLst>
              <a:gd name="adj" fmla="val 10976"/>
            </a:avLst>
          </a:prstGeom>
          <a:solidFill>
            <a:srgbClr val="FFFFFF"/>
          </a:solidFill>
          <a:ln w="12700">
            <a:solidFill>
              <a:srgbClr val="DDE5EE"/>
            </a:solidFill>
            <a:prstDash val="solid"/>
          </a:ln>
        </p:spPr>
        <p:txBody>
          <a:bodyPr/>
          <a:lstStyle/>
          <a:p>
            <a:endParaRPr lang="de-CH"/>
          </a:p>
        </p:txBody>
      </p:sp>
      <p:sp>
        <p:nvSpPr>
          <p:cNvPr id="5" name="Text 3"/>
          <p:cNvSpPr/>
          <p:nvPr/>
        </p:nvSpPr>
        <p:spPr>
          <a:xfrm>
            <a:off x="822960" y="1627632"/>
            <a:ext cx="2834640" cy="749808"/>
          </a:xfrm>
          <a:prstGeom prst="rect">
            <a:avLst/>
          </a:prstGeom>
          <a:noFill/>
          <a:ln/>
        </p:spPr>
        <p:txBody>
          <a:bodyPr wrap="square" lIns="0" tIns="0" rIns="0" bIns="0" rtlCol="0" anchor="ctr"/>
          <a:lstStyle/>
          <a:p>
            <a:pPr marL="0" indent="0">
              <a:buNone/>
            </a:pPr>
            <a:r>
              <a:rPr lang="en-US" sz="1250" b="1" dirty="0">
                <a:solidFill>
                  <a:srgbClr val="12202E"/>
                </a:solidFill>
                <a:latin typeface="Calibri" pitchFamily="34" charset="0"/>
                <a:ea typeface="Calibri" pitchFamily="34" charset="-122"/>
                <a:cs typeface="Calibri" pitchFamily="34" charset="-120"/>
              </a:rPr>
              <a:t>QuestionnaireResponse</a:t>
            </a:r>
            <a:endParaRPr lang="en-US" sz="1250" dirty="0"/>
          </a:p>
        </p:txBody>
      </p:sp>
      <p:sp>
        <p:nvSpPr>
          <p:cNvPr id="6" name="Text 4"/>
          <p:cNvSpPr/>
          <p:nvPr/>
        </p:nvSpPr>
        <p:spPr>
          <a:xfrm>
            <a:off x="3767328" y="1627632"/>
            <a:ext cx="5943600" cy="749808"/>
          </a:xfrm>
          <a:prstGeom prst="rect">
            <a:avLst/>
          </a:prstGeom>
          <a:noFill/>
          <a:ln/>
        </p:spPr>
        <p:txBody>
          <a:bodyPr wrap="square" lIns="0" tIns="0" rIns="0" bIns="0" rtlCol="0" anchor="ctr"/>
          <a:lstStyle/>
          <a:p>
            <a:pPr marL="0" indent="0">
              <a:buNone/>
            </a:pPr>
            <a:r>
              <a:rPr lang="en-US" sz="1100" dirty="0">
                <a:solidFill>
                  <a:srgbClr val="5D7186"/>
                </a:solidFill>
                <a:latin typeface="Calibri" pitchFamily="34" charset="0"/>
                <a:ea typeface="Calibri" pitchFamily="34" charset="-122"/>
                <a:cs typeface="Calibri" pitchFamily="34" charset="-120"/>
              </a:rPr>
              <a:t>every answer, typed and terminology-coded; canonical carries the L3 version</a:t>
            </a:r>
            <a:endParaRPr lang="en-US" sz="1100" dirty="0"/>
          </a:p>
        </p:txBody>
      </p:sp>
      <p:sp>
        <p:nvSpPr>
          <p:cNvPr id="7" name="Text 5"/>
          <p:cNvSpPr/>
          <p:nvPr/>
        </p:nvSpPr>
        <p:spPr>
          <a:xfrm>
            <a:off x="9665208" y="1627632"/>
            <a:ext cx="1691640" cy="749808"/>
          </a:xfrm>
          <a:prstGeom prst="rect">
            <a:avLst/>
          </a:prstGeom>
          <a:noFill/>
          <a:ln/>
        </p:spPr>
        <p:txBody>
          <a:bodyPr wrap="square" lIns="0" tIns="0" rIns="0" bIns="0" rtlCol="0" anchor="ctr"/>
          <a:lstStyle/>
          <a:p>
            <a:pPr marL="0" indent="0" algn="r">
              <a:buNone/>
            </a:pPr>
            <a:r>
              <a:rPr lang="en-US" sz="1000" i="1" dirty="0">
                <a:solidFill>
                  <a:srgbClr val="5D7186"/>
                </a:solidFill>
                <a:latin typeface="Calibri" pitchFamily="34" charset="0"/>
                <a:ea typeface="Calibri" pitchFamily="34" charset="-122"/>
                <a:cs typeface="Calibri" pitchFamily="34" charset="-120"/>
              </a:rPr>
              <a:t>every run</a:t>
            </a:r>
            <a:endParaRPr lang="en-US" sz="1000" dirty="0"/>
          </a:p>
        </p:txBody>
      </p:sp>
      <p:sp>
        <p:nvSpPr>
          <p:cNvPr id="8" name="Shape 6"/>
          <p:cNvSpPr/>
          <p:nvPr/>
        </p:nvSpPr>
        <p:spPr>
          <a:xfrm>
            <a:off x="566928" y="2487168"/>
            <a:ext cx="11064240" cy="749808"/>
          </a:xfrm>
          <a:prstGeom prst="roundRect">
            <a:avLst>
              <a:gd name="adj" fmla="val 10976"/>
            </a:avLst>
          </a:prstGeom>
          <a:solidFill>
            <a:srgbClr val="FFFFFF"/>
          </a:solidFill>
          <a:ln w="12700">
            <a:solidFill>
              <a:srgbClr val="DDE5EE"/>
            </a:solidFill>
            <a:prstDash val="solid"/>
          </a:ln>
        </p:spPr>
        <p:txBody>
          <a:bodyPr/>
          <a:lstStyle/>
          <a:p>
            <a:endParaRPr lang="de-CH"/>
          </a:p>
        </p:txBody>
      </p:sp>
      <p:sp>
        <p:nvSpPr>
          <p:cNvPr id="9" name="Text 7"/>
          <p:cNvSpPr/>
          <p:nvPr/>
        </p:nvSpPr>
        <p:spPr>
          <a:xfrm>
            <a:off x="822960" y="2487168"/>
            <a:ext cx="2834640" cy="749808"/>
          </a:xfrm>
          <a:prstGeom prst="rect">
            <a:avLst/>
          </a:prstGeom>
          <a:noFill/>
          <a:ln/>
        </p:spPr>
        <p:txBody>
          <a:bodyPr wrap="square" lIns="0" tIns="0" rIns="0" bIns="0" rtlCol="0" anchor="ctr"/>
          <a:lstStyle/>
          <a:p>
            <a:pPr marL="0" indent="0">
              <a:buNone/>
            </a:pPr>
            <a:r>
              <a:rPr lang="en-US" sz="1250" b="1" dirty="0">
                <a:solidFill>
                  <a:srgbClr val="12202E"/>
                </a:solidFill>
                <a:latin typeface="Calibri" pitchFamily="34" charset="0"/>
                <a:ea typeface="Calibri" pitchFamily="34" charset="-122"/>
                <a:cs typeface="Calibri" pitchFamily="34" charset="-120"/>
              </a:rPr>
              <a:t>Observation</a:t>
            </a:r>
            <a:endParaRPr lang="en-US" sz="1250" dirty="0"/>
          </a:p>
        </p:txBody>
      </p:sp>
      <p:sp>
        <p:nvSpPr>
          <p:cNvPr id="10" name="Text 8"/>
          <p:cNvSpPr/>
          <p:nvPr/>
        </p:nvSpPr>
        <p:spPr>
          <a:xfrm>
            <a:off x="3767328" y="2487168"/>
            <a:ext cx="5943600" cy="749808"/>
          </a:xfrm>
          <a:prstGeom prst="rect">
            <a:avLst/>
          </a:prstGeom>
          <a:noFill/>
          <a:ln/>
        </p:spPr>
        <p:txBody>
          <a:bodyPr wrap="square" lIns="0" tIns="0" rIns="0" bIns="0" rtlCol="0" anchor="ctr"/>
          <a:lstStyle/>
          <a:p>
            <a:pPr marL="0" indent="0">
              <a:buNone/>
            </a:pPr>
            <a:r>
              <a:rPr lang="en-US" sz="1100" dirty="0">
                <a:solidFill>
                  <a:srgbClr val="5D7186"/>
                </a:solidFill>
                <a:latin typeface="Calibri" pitchFamily="34" charset="0"/>
                <a:ea typeface="Calibri" pitchFamily="34" charset="-122"/>
                <a:cs typeface="Calibri" pitchFamily="34" charset="-120"/>
              </a:rPr>
              <a:t>traffic light, Southampton grade, triggering rule, L3 version, days post-op</a:t>
            </a:r>
            <a:endParaRPr lang="en-US" sz="1100" dirty="0"/>
          </a:p>
        </p:txBody>
      </p:sp>
      <p:sp>
        <p:nvSpPr>
          <p:cNvPr id="11" name="Text 9"/>
          <p:cNvSpPr/>
          <p:nvPr/>
        </p:nvSpPr>
        <p:spPr>
          <a:xfrm>
            <a:off x="9665208" y="2487168"/>
            <a:ext cx="1691640" cy="749808"/>
          </a:xfrm>
          <a:prstGeom prst="rect">
            <a:avLst/>
          </a:prstGeom>
          <a:noFill/>
          <a:ln/>
        </p:spPr>
        <p:txBody>
          <a:bodyPr wrap="square" lIns="0" tIns="0" rIns="0" bIns="0" rtlCol="0" anchor="ctr"/>
          <a:lstStyle/>
          <a:p>
            <a:pPr marL="0" indent="0" algn="r">
              <a:buNone/>
            </a:pPr>
            <a:r>
              <a:rPr lang="en-US" sz="1000" i="1" dirty="0">
                <a:solidFill>
                  <a:srgbClr val="5D7186"/>
                </a:solidFill>
                <a:latin typeface="Calibri" pitchFamily="34" charset="0"/>
                <a:ea typeface="Calibri" pitchFamily="34" charset="-122"/>
                <a:cs typeface="Calibri" pitchFamily="34" charset="-120"/>
              </a:rPr>
              <a:t>every run</a:t>
            </a:r>
            <a:endParaRPr lang="en-US" sz="1000" dirty="0"/>
          </a:p>
        </p:txBody>
      </p:sp>
      <p:sp>
        <p:nvSpPr>
          <p:cNvPr id="12" name="Shape 10"/>
          <p:cNvSpPr/>
          <p:nvPr/>
        </p:nvSpPr>
        <p:spPr>
          <a:xfrm>
            <a:off x="566928" y="3346704"/>
            <a:ext cx="11064240" cy="749808"/>
          </a:xfrm>
          <a:prstGeom prst="roundRect">
            <a:avLst>
              <a:gd name="adj" fmla="val 10976"/>
            </a:avLst>
          </a:prstGeom>
          <a:solidFill>
            <a:srgbClr val="FCEADB"/>
          </a:solidFill>
          <a:ln w="12700">
            <a:solidFill>
              <a:srgbClr val="F0C19A"/>
            </a:solidFill>
            <a:prstDash val="solid"/>
          </a:ln>
        </p:spPr>
        <p:txBody>
          <a:bodyPr/>
          <a:lstStyle/>
          <a:p>
            <a:endParaRPr lang="de-CH"/>
          </a:p>
        </p:txBody>
      </p:sp>
      <p:sp>
        <p:nvSpPr>
          <p:cNvPr id="13" name="Text 11"/>
          <p:cNvSpPr/>
          <p:nvPr/>
        </p:nvSpPr>
        <p:spPr>
          <a:xfrm>
            <a:off x="822960" y="3346704"/>
            <a:ext cx="2834640" cy="749808"/>
          </a:xfrm>
          <a:prstGeom prst="rect">
            <a:avLst/>
          </a:prstGeom>
          <a:noFill/>
          <a:ln/>
        </p:spPr>
        <p:txBody>
          <a:bodyPr wrap="square" lIns="0" tIns="0" rIns="0" bIns="0" rtlCol="0" anchor="ctr"/>
          <a:lstStyle/>
          <a:p>
            <a:pPr marL="0" indent="0">
              <a:buNone/>
            </a:pPr>
            <a:r>
              <a:rPr lang="en-US" sz="1250" b="1" dirty="0">
                <a:solidFill>
                  <a:srgbClr val="C25C07"/>
                </a:solidFill>
                <a:latin typeface="Calibri" pitchFamily="34" charset="0"/>
                <a:ea typeface="Calibri" pitchFamily="34" charset="-122"/>
                <a:cs typeface="Calibri" pitchFamily="34" charset="-120"/>
              </a:rPr>
              <a:t>Communication</a:t>
            </a:r>
            <a:endParaRPr lang="en-US" sz="1250" dirty="0"/>
          </a:p>
        </p:txBody>
      </p:sp>
      <p:sp>
        <p:nvSpPr>
          <p:cNvPr id="14" name="Text 12"/>
          <p:cNvSpPr/>
          <p:nvPr/>
        </p:nvSpPr>
        <p:spPr>
          <a:xfrm>
            <a:off x="3767328" y="3346704"/>
            <a:ext cx="5943600" cy="749808"/>
          </a:xfrm>
          <a:prstGeom prst="rect">
            <a:avLst/>
          </a:prstGeom>
          <a:noFill/>
          <a:ln/>
        </p:spPr>
        <p:txBody>
          <a:bodyPr wrap="square" lIns="0" tIns="0" rIns="0" bIns="0" rtlCol="0" anchor="ctr"/>
          <a:lstStyle/>
          <a:p>
            <a:pPr marL="0" indent="0">
              <a:buNone/>
            </a:pPr>
            <a:r>
              <a:rPr lang="en-US" sz="1100" dirty="0">
                <a:solidFill>
                  <a:srgbClr val="5D7186"/>
                </a:solidFill>
                <a:latin typeface="Calibri" pitchFamily="34" charset="0"/>
                <a:ea typeface="Calibri" pitchFamily="34" charset="-122"/>
                <a:cs typeface="Calibri" pitchFamily="34" charset="-120"/>
              </a:rPr>
              <a:t>structured alert, priority urgent (ORANGE) or stat (RED)</a:t>
            </a:r>
            <a:endParaRPr lang="en-US" sz="1100" dirty="0"/>
          </a:p>
        </p:txBody>
      </p:sp>
      <p:sp>
        <p:nvSpPr>
          <p:cNvPr id="15" name="Text 13"/>
          <p:cNvSpPr/>
          <p:nvPr/>
        </p:nvSpPr>
        <p:spPr>
          <a:xfrm>
            <a:off x="9665208" y="3346704"/>
            <a:ext cx="1691640" cy="749808"/>
          </a:xfrm>
          <a:prstGeom prst="rect">
            <a:avLst/>
          </a:prstGeom>
          <a:noFill/>
          <a:ln/>
        </p:spPr>
        <p:txBody>
          <a:bodyPr wrap="square" lIns="0" tIns="0" rIns="0" bIns="0" rtlCol="0" anchor="ctr"/>
          <a:lstStyle/>
          <a:p>
            <a:pPr marL="0" indent="0" algn="r">
              <a:buNone/>
            </a:pPr>
            <a:r>
              <a:rPr lang="en-US" sz="1000" i="1" dirty="0">
                <a:solidFill>
                  <a:srgbClr val="5D7186"/>
                </a:solidFill>
                <a:latin typeface="Calibri" pitchFamily="34" charset="0"/>
                <a:ea typeface="Calibri" pitchFamily="34" charset="-122"/>
                <a:cs typeface="Calibri" pitchFamily="34" charset="-120"/>
              </a:rPr>
              <a:t>ORANGE / RED only</a:t>
            </a:r>
            <a:endParaRPr lang="en-US" sz="1000" dirty="0"/>
          </a:p>
        </p:txBody>
      </p:sp>
      <p:sp>
        <p:nvSpPr>
          <p:cNvPr id="16" name="Shape 14"/>
          <p:cNvSpPr/>
          <p:nvPr/>
        </p:nvSpPr>
        <p:spPr>
          <a:xfrm>
            <a:off x="566928" y="4279392"/>
            <a:ext cx="11064240" cy="1737360"/>
          </a:xfrm>
          <a:prstGeom prst="roundRect">
            <a:avLst>
              <a:gd name="adj" fmla="val 4737"/>
            </a:avLst>
          </a:prstGeom>
          <a:solidFill>
            <a:srgbClr val="12202E"/>
          </a:solidFill>
          <a:ln w="12700">
            <a:solidFill>
              <a:srgbClr val="12202E"/>
            </a:solidFill>
            <a:prstDash val="solid"/>
          </a:ln>
        </p:spPr>
        <p:txBody>
          <a:bodyPr/>
          <a:lstStyle/>
          <a:p>
            <a:endParaRPr lang="de-CH"/>
          </a:p>
        </p:txBody>
      </p:sp>
      <p:sp>
        <p:nvSpPr>
          <p:cNvPr id="17" name="Text 15"/>
          <p:cNvSpPr/>
          <p:nvPr/>
        </p:nvSpPr>
        <p:spPr>
          <a:xfrm>
            <a:off x="859536" y="4462272"/>
            <a:ext cx="1042416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The endpoint is configuration, not code</a:t>
            </a:r>
            <a:endParaRPr lang="en-US" sz="1300" dirty="0"/>
          </a:p>
        </p:txBody>
      </p:sp>
      <p:sp>
        <p:nvSpPr>
          <p:cNvPr id="18" name="Text 16"/>
          <p:cNvSpPr/>
          <p:nvPr/>
        </p:nvSpPr>
        <p:spPr>
          <a:xfrm>
            <a:off x="859536" y="4791456"/>
            <a:ext cx="10424160" cy="640080"/>
          </a:xfrm>
          <a:prstGeom prst="rect">
            <a:avLst/>
          </a:prstGeom>
          <a:noFill/>
          <a:ln/>
        </p:spPr>
        <p:txBody>
          <a:bodyPr wrap="square" lIns="0" tIns="0" rIns="0" bIns="0" rtlCol="0" anchor="ctr"/>
          <a:lstStyle/>
          <a:p>
            <a:pPr marL="0" indent="0">
              <a:lnSpc>
                <a:spcPts val="1600"/>
              </a:lnSpc>
              <a:buNone/>
            </a:pPr>
            <a:r>
              <a:rPr lang="en-US" sz="1100" dirty="0">
                <a:solidFill>
                  <a:srgbClr val="C9D6E4"/>
                </a:solidFill>
                <a:latin typeface="Courier New" pitchFamily="34" charset="0"/>
                <a:ea typeface="Courier New" pitchFamily="34" charset="-122"/>
                <a:cs typeface="Courier New" pitchFamily="34" charset="-120"/>
              </a:rPr>
              <a:t>"fhir": { "endpoint": "https://…/baseR4", "patient_reference": "Patient/example",</a:t>
            </a:r>
            <a:endParaRPr lang="en-US" sz="1100" dirty="0"/>
          </a:p>
          <a:p>
            <a:pPr marL="0" indent="0">
              <a:lnSpc>
                <a:spcPts val="1600"/>
              </a:lnSpc>
              <a:buNone/>
            </a:pPr>
            <a:r>
              <a:rPr lang="en-US" sz="1100" dirty="0">
                <a:solidFill>
                  <a:srgbClr val="C9D6E4"/>
                </a:solidFill>
                <a:latin typeface="Courier New" pitchFamily="34" charset="0"/>
                <a:ea typeface="Courier New" pitchFamily="34" charset="-122"/>
                <a:cs typeface="Courier New" pitchFamily="34" charset="-120"/>
              </a:rPr>
              <a:t>          "alert_recipient": "Organization/practice", "send_mode": "transaction" }</a:t>
            </a:r>
            <a:endParaRPr lang="en-US" sz="1100" dirty="0"/>
          </a:p>
        </p:txBody>
      </p:sp>
      <p:sp>
        <p:nvSpPr>
          <p:cNvPr id="19" name="Text 17"/>
          <p:cNvSpPr/>
          <p:nvPr/>
        </p:nvSpPr>
        <p:spPr>
          <a:xfrm>
            <a:off x="859536" y="5486400"/>
            <a:ext cx="10424160" cy="411480"/>
          </a:xfrm>
          <a:prstGeom prst="rect">
            <a:avLst/>
          </a:prstGeom>
          <a:noFill/>
          <a:ln/>
        </p:spPr>
        <p:txBody>
          <a:bodyPr wrap="square" lIns="0" tIns="0" rIns="0" bIns="0" rtlCol="0" anchor="ctr"/>
          <a:lstStyle/>
          <a:p>
            <a:pPr marL="0" indent="0">
              <a:lnSpc>
                <a:spcPts val="1500"/>
              </a:lnSpc>
              <a:buNone/>
            </a:pPr>
            <a:r>
              <a:rPr lang="en-US" sz="1100" dirty="0">
                <a:solidFill>
                  <a:srgbClr val="8FA3B8"/>
                </a:solidFill>
                <a:latin typeface="Calibri" pitchFamily="34" charset="0"/>
                <a:ea typeface="Calibri" pitchFamily="34" charset="-122"/>
                <a:cs typeface="Calibri" pitchFamily="34" charset="-120"/>
              </a:rPr>
              <a:t>Redirecting to a hospital FHIR server or the Swiss EPD gateway is one line of JSON. If the endpoint is unreachable the bundle queues — the patient still gets the recommendation.</a:t>
            </a:r>
            <a:endParaRPr lang="en-US" sz="1100" dirty="0"/>
          </a:p>
        </p:txBody>
      </p:sp>
      <p:sp>
        <p:nvSpPr>
          <p:cNvPr id="21" name="Text 11">
            <a:extLst>
              <a:ext uri="{FF2B5EF4-FFF2-40B4-BE49-F238E27FC236}">
                <a16:creationId xmlns:a16="http://schemas.microsoft.com/office/drawing/2014/main" id="{1DDB4E37-F847-BCF4-E87A-08281DB1463C}"/>
              </a:ext>
            </a:extLst>
          </p:cNvPr>
          <p:cNvSpPr/>
          <p:nvPr/>
        </p:nvSpPr>
        <p:spPr>
          <a:xfrm>
            <a:off x="57709" y="6568124"/>
            <a:ext cx="8229600" cy="274320"/>
          </a:xfrm>
          <a:prstGeom prst="rect">
            <a:avLst/>
          </a:prstGeom>
          <a:noFill/>
          <a:ln/>
        </p:spPr>
        <p:txBody>
          <a:bodyPr wrap="square" lIns="0" tIns="0" rIns="0" bIns="0" rtlCol="0" anchor="ctr"/>
          <a:lstStyle/>
          <a:p>
            <a:pPr marL="0" indent="0">
              <a:buNone/>
            </a:pPr>
            <a:r>
              <a:rPr lang="en-US" sz="900">
                <a:solidFill>
                  <a:srgbClr val="8FA3B8"/>
                </a:solidFill>
                <a:latin typeface="Calibri" pitchFamily="34" charset="0"/>
                <a:ea typeface="Calibri" pitchFamily="34" charset="-122"/>
                <a:cs typeface="Calibri" pitchFamily="34" charset="-120"/>
              </a:rPr>
              <a:t>FHNW  ·  MSc Medical Informatics  ·  Clinical Decision Support Systems 2026</a:t>
            </a:r>
            <a:endParaRPr lang="en-US" sz="900"/>
          </a:p>
        </p:txBody>
      </p:sp>
      <p:pic>
        <p:nvPicPr>
          <p:cNvPr id="23" name="Grafik 22">
            <a:extLst>
              <a:ext uri="{FF2B5EF4-FFF2-40B4-BE49-F238E27FC236}">
                <a16:creationId xmlns:a16="http://schemas.microsoft.com/office/drawing/2014/main" id="{76B78D80-3762-F550-0C8D-371B24C8EC96}"/>
              </a:ext>
            </a:extLst>
          </p:cNvPr>
          <p:cNvPicPr>
            <a:picLocks noChangeAspect="1"/>
          </p:cNvPicPr>
          <p:nvPr/>
        </p:nvPicPr>
        <p:blipFill>
          <a:blip r:embed="rId3">
            <a:duotone>
              <a:schemeClr val="accent3">
                <a:shade val="45000"/>
                <a:satMod val="135000"/>
              </a:schemeClr>
              <a:prstClr val="white"/>
            </a:duotone>
          </a:blip>
          <a:stretch>
            <a:fillRect/>
          </a:stretch>
        </p:blipFill>
        <p:spPr>
          <a:xfrm>
            <a:off x="57709" y="47504"/>
            <a:ext cx="1012490" cy="23624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7680960" cy="219456"/>
          </a:xfrm>
          <a:prstGeom prst="rect">
            <a:avLst/>
          </a:prstGeom>
          <a:noFill/>
          <a:ln/>
        </p:spPr>
        <p:txBody>
          <a:bodyPr wrap="square" lIns="0" tIns="0" rIns="0" bIns="0" rtlCol="0" anchor="ctr"/>
          <a:lstStyle/>
          <a:p>
            <a:pPr marL="0" indent="0">
              <a:buNone/>
            </a:pPr>
            <a:r>
              <a:rPr lang="en-US" sz="1050" b="1" kern="0" spc="160" dirty="0">
                <a:solidFill>
                  <a:srgbClr val="5D7186"/>
                </a:solidFill>
                <a:latin typeface="Calibri" pitchFamily="34" charset="0"/>
                <a:ea typeface="Calibri" pitchFamily="34" charset="-122"/>
                <a:cs typeface="Calibri" pitchFamily="34" charset="-120"/>
              </a:rPr>
              <a:t>BACKUP · METHOD</a:t>
            </a:r>
            <a:endParaRPr lang="en-US" sz="1050" dirty="0"/>
          </a:p>
        </p:txBody>
      </p:sp>
      <p:sp>
        <p:nvSpPr>
          <p:cNvPr id="3" name="Text 1"/>
          <p:cNvSpPr/>
          <p:nvPr/>
        </p:nvSpPr>
        <p:spPr>
          <a:xfrm>
            <a:off x="566928" y="640080"/>
            <a:ext cx="10607040" cy="658368"/>
          </a:xfrm>
          <a:prstGeom prst="rect">
            <a:avLst/>
          </a:prstGeom>
          <a:noFill/>
          <a:ln/>
        </p:spPr>
        <p:txBody>
          <a:bodyPr wrap="square" lIns="0" tIns="0" rIns="0" bIns="0" rtlCol="0" anchor="t"/>
          <a:lstStyle/>
          <a:p>
            <a:pPr marL="0" indent="0">
              <a:buNone/>
            </a:pPr>
            <a:r>
              <a:rPr lang="en-US" sz="2700" b="1" dirty="0">
                <a:solidFill>
                  <a:srgbClr val="12202E"/>
                </a:solidFill>
                <a:latin typeface="Cambria" pitchFamily="34" charset="0"/>
                <a:ea typeface="Cambria" pitchFamily="34" charset="-122"/>
                <a:cs typeface="Cambria" pitchFamily="34" charset="-120"/>
              </a:rPr>
              <a:t>Traceability — one finding, all the way through</a:t>
            </a:r>
            <a:endParaRPr lang="en-US" sz="2700" dirty="0"/>
          </a:p>
        </p:txBody>
      </p:sp>
      <p:sp>
        <p:nvSpPr>
          <p:cNvPr id="4" name="Shape 2"/>
          <p:cNvSpPr/>
          <p:nvPr/>
        </p:nvSpPr>
        <p:spPr>
          <a:xfrm>
            <a:off x="566928" y="1645920"/>
            <a:ext cx="822960" cy="548640"/>
          </a:xfrm>
          <a:prstGeom prst="roundRect">
            <a:avLst>
              <a:gd name="adj" fmla="val 13333"/>
            </a:avLst>
          </a:prstGeom>
          <a:solidFill>
            <a:srgbClr val="F5F7FA"/>
          </a:solidFill>
          <a:ln w="12700">
            <a:solidFill>
              <a:srgbClr val="DDE5EE"/>
            </a:solidFill>
            <a:prstDash val="solid"/>
          </a:ln>
        </p:spPr>
        <p:txBody>
          <a:bodyPr/>
          <a:lstStyle/>
          <a:p>
            <a:endParaRPr lang="de-CH"/>
          </a:p>
        </p:txBody>
      </p:sp>
      <p:sp>
        <p:nvSpPr>
          <p:cNvPr id="5" name="Text 3"/>
          <p:cNvSpPr/>
          <p:nvPr/>
        </p:nvSpPr>
        <p:spPr>
          <a:xfrm>
            <a:off x="566928" y="1645920"/>
            <a:ext cx="822960" cy="548640"/>
          </a:xfrm>
          <a:prstGeom prst="rect">
            <a:avLst/>
          </a:prstGeom>
          <a:noFill/>
          <a:ln/>
        </p:spPr>
        <p:txBody>
          <a:bodyPr wrap="square" lIns="0" tIns="0" rIns="0" bIns="0" rtlCol="0" anchor="ctr"/>
          <a:lstStyle/>
          <a:p>
            <a:pPr marL="0" indent="0" algn="ctr">
              <a:buNone/>
            </a:pPr>
            <a:r>
              <a:rPr lang="en-US" sz="1200" b="1" dirty="0">
                <a:solidFill>
                  <a:srgbClr val="5D7186"/>
                </a:solidFill>
                <a:latin typeface="Calibri" pitchFamily="34" charset="0"/>
                <a:ea typeface="Calibri" pitchFamily="34" charset="-122"/>
                <a:cs typeface="Calibri" pitchFamily="34" charset="-120"/>
              </a:rPr>
              <a:t>L1</a:t>
            </a:r>
            <a:endParaRPr lang="en-US" sz="1200" dirty="0"/>
          </a:p>
        </p:txBody>
      </p:sp>
      <p:sp>
        <p:nvSpPr>
          <p:cNvPr id="6" name="Text 4"/>
          <p:cNvSpPr/>
          <p:nvPr/>
        </p:nvSpPr>
        <p:spPr>
          <a:xfrm>
            <a:off x="1618488" y="1645920"/>
            <a:ext cx="9966960" cy="548640"/>
          </a:xfrm>
          <a:prstGeom prst="rect">
            <a:avLst/>
          </a:prstGeom>
          <a:noFill/>
          <a:ln/>
        </p:spPr>
        <p:txBody>
          <a:bodyPr wrap="square" lIns="0" tIns="0" rIns="0" bIns="0" rtlCol="0" anchor="ctr"/>
          <a:lstStyle/>
          <a:p>
            <a:pPr marL="0" indent="0">
              <a:buNone/>
            </a:pPr>
            <a:r>
              <a:rPr lang="en-US" sz="1350" dirty="0">
                <a:solidFill>
                  <a:srgbClr val="12202E"/>
                </a:solidFill>
                <a:latin typeface="Calibri" pitchFamily="34" charset="0"/>
                <a:ea typeface="Calibri" pitchFamily="34" charset="-122"/>
                <a:cs typeface="Calibri" pitchFamily="34" charset="-120"/>
              </a:rPr>
              <a:t>CDC/NHSN — “purulent drainage from the superficial incision”</a:t>
            </a:r>
            <a:endParaRPr lang="en-US" sz="1350" dirty="0"/>
          </a:p>
        </p:txBody>
      </p:sp>
      <p:sp>
        <p:nvSpPr>
          <p:cNvPr id="7" name="Text 5"/>
          <p:cNvSpPr/>
          <p:nvPr/>
        </p:nvSpPr>
        <p:spPr>
          <a:xfrm>
            <a:off x="886968" y="2194560"/>
            <a:ext cx="182880" cy="164592"/>
          </a:xfrm>
          <a:prstGeom prst="rect">
            <a:avLst/>
          </a:prstGeom>
          <a:noFill/>
          <a:ln/>
        </p:spPr>
        <p:txBody>
          <a:bodyPr wrap="square" lIns="0" tIns="0" rIns="0" bIns="0" rtlCol="0" anchor="ctr"/>
          <a:lstStyle/>
          <a:p>
            <a:pPr marL="0" indent="0" algn="ctr">
              <a:buNone/>
            </a:pPr>
            <a:r>
              <a:rPr lang="en-US" sz="800" dirty="0">
                <a:solidFill>
                  <a:srgbClr val="5D7186"/>
                </a:solidFill>
                <a:latin typeface="Calibri" pitchFamily="34" charset="0"/>
                <a:ea typeface="Calibri" pitchFamily="34" charset="-122"/>
                <a:cs typeface="Calibri" pitchFamily="34" charset="-120"/>
              </a:rPr>
              <a:t>▼</a:t>
            </a:r>
            <a:endParaRPr lang="en-US" sz="800" dirty="0"/>
          </a:p>
        </p:txBody>
      </p:sp>
      <p:sp>
        <p:nvSpPr>
          <p:cNvPr id="8" name="Shape 6"/>
          <p:cNvSpPr/>
          <p:nvPr/>
        </p:nvSpPr>
        <p:spPr>
          <a:xfrm>
            <a:off x="566928" y="2359152"/>
            <a:ext cx="822960" cy="548640"/>
          </a:xfrm>
          <a:prstGeom prst="roundRect">
            <a:avLst>
              <a:gd name="adj" fmla="val 13333"/>
            </a:avLst>
          </a:prstGeom>
          <a:solidFill>
            <a:srgbClr val="F5F7FA"/>
          </a:solidFill>
          <a:ln w="12700">
            <a:solidFill>
              <a:srgbClr val="DDE5EE"/>
            </a:solidFill>
            <a:prstDash val="solid"/>
          </a:ln>
        </p:spPr>
        <p:txBody>
          <a:bodyPr/>
          <a:lstStyle/>
          <a:p>
            <a:endParaRPr lang="de-CH"/>
          </a:p>
        </p:txBody>
      </p:sp>
      <p:sp>
        <p:nvSpPr>
          <p:cNvPr id="9" name="Text 7"/>
          <p:cNvSpPr/>
          <p:nvPr/>
        </p:nvSpPr>
        <p:spPr>
          <a:xfrm>
            <a:off x="566928" y="2359152"/>
            <a:ext cx="822960" cy="548640"/>
          </a:xfrm>
          <a:prstGeom prst="rect">
            <a:avLst/>
          </a:prstGeom>
          <a:noFill/>
          <a:ln/>
        </p:spPr>
        <p:txBody>
          <a:bodyPr wrap="square" lIns="0" tIns="0" rIns="0" bIns="0" rtlCol="0" anchor="ctr"/>
          <a:lstStyle/>
          <a:p>
            <a:pPr marL="0" indent="0" algn="ctr">
              <a:buNone/>
            </a:pPr>
            <a:r>
              <a:rPr lang="en-US" sz="1200" b="1" dirty="0">
                <a:solidFill>
                  <a:srgbClr val="5D7186"/>
                </a:solidFill>
                <a:latin typeface="Calibri" pitchFamily="34" charset="0"/>
                <a:ea typeface="Calibri" pitchFamily="34" charset="-122"/>
                <a:cs typeface="Calibri" pitchFamily="34" charset="-120"/>
              </a:rPr>
              <a:t>L2</a:t>
            </a:r>
            <a:endParaRPr lang="en-US" sz="1200" dirty="0"/>
          </a:p>
        </p:txBody>
      </p:sp>
      <p:sp>
        <p:nvSpPr>
          <p:cNvPr id="10" name="Text 8"/>
          <p:cNvSpPr/>
          <p:nvPr/>
        </p:nvSpPr>
        <p:spPr>
          <a:xfrm>
            <a:off x="1618488" y="2359152"/>
            <a:ext cx="9966960" cy="548640"/>
          </a:xfrm>
          <a:prstGeom prst="rect">
            <a:avLst/>
          </a:prstGeom>
          <a:noFill/>
          <a:ln/>
        </p:spPr>
        <p:txBody>
          <a:bodyPr wrap="square" lIns="0" tIns="0" rIns="0" bIns="0" rtlCol="0" anchor="ctr"/>
          <a:lstStyle/>
          <a:p>
            <a:pPr marL="0" indent="0">
              <a:buNone/>
            </a:pPr>
            <a:r>
              <a:rPr lang="en-US" sz="1350" dirty="0">
                <a:solidFill>
                  <a:srgbClr val="12202E"/>
                </a:solidFill>
                <a:latin typeface="Calibri" pitchFamily="34" charset="0"/>
                <a:ea typeface="Calibri" pitchFamily="34" charset="-122"/>
                <a:cs typeface="Calibri" pitchFamily="34" charset="-120"/>
              </a:rPr>
              <a:t>DE-035 discharge · SNOMED 449736006 · rule R4 → ORANGE</a:t>
            </a:r>
            <a:endParaRPr lang="en-US" sz="1350" dirty="0"/>
          </a:p>
        </p:txBody>
      </p:sp>
      <p:sp>
        <p:nvSpPr>
          <p:cNvPr id="11" name="Text 9"/>
          <p:cNvSpPr/>
          <p:nvPr/>
        </p:nvSpPr>
        <p:spPr>
          <a:xfrm>
            <a:off x="886968" y="2907792"/>
            <a:ext cx="182880" cy="164592"/>
          </a:xfrm>
          <a:prstGeom prst="rect">
            <a:avLst/>
          </a:prstGeom>
          <a:noFill/>
          <a:ln/>
        </p:spPr>
        <p:txBody>
          <a:bodyPr wrap="square" lIns="0" tIns="0" rIns="0" bIns="0" rtlCol="0" anchor="ctr"/>
          <a:lstStyle/>
          <a:p>
            <a:pPr marL="0" indent="0" algn="ctr">
              <a:buNone/>
            </a:pPr>
            <a:r>
              <a:rPr lang="en-US" sz="800" dirty="0">
                <a:solidFill>
                  <a:srgbClr val="5D7186"/>
                </a:solidFill>
                <a:latin typeface="Calibri" pitchFamily="34" charset="0"/>
                <a:ea typeface="Calibri" pitchFamily="34" charset="-122"/>
                <a:cs typeface="Calibri" pitchFamily="34" charset="-120"/>
              </a:rPr>
              <a:t>▼</a:t>
            </a:r>
            <a:endParaRPr lang="en-US" sz="800" dirty="0"/>
          </a:p>
        </p:txBody>
      </p:sp>
      <p:sp>
        <p:nvSpPr>
          <p:cNvPr id="12" name="Shape 10"/>
          <p:cNvSpPr/>
          <p:nvPr/>
        </p:nvSpPr>
        <p:spPr>
          <a:xfrm>
            <a:off x="566928" y="3072384"/>
            <a:ext cx="822960" cy="548640"/>
          </a:xfrm>
          <a:prstGeom prst="roundRect">
            <a:avLst>
              <a:gd name="adj" fmla="val 13333"/>
            </a:avLst>
          </a:prstGeom>
          <a:solidFill>
            <a:srgbClr val="F5F7FA"/>
          </a:solidFill>
          <a:ln w="12700">
            <a:solidFill>
              <a:srgbClr val="DDE5EE"/>
            </a:solidFill>
            <a:prstDash val="solid"/>
          </a:ln>
        </p:spPr>
        <p:txBody>
          <a:bodyPr/>
          <a:lstStyle/>
          <a:p>
            <a:endParaRPr lang="de-CH"/>
          </a:p>
        </p:txBody>
      </p:sp>
      <p:sp>
        <p:nvSpPr>
          <p:cNvPr id="13" name="Text 11"/>
          <p:cNvSpPr/>
          <p:nvPr/>
        </p:nvSpPr>
        <p:spPr>
          <a:xfrm>
            <a:off x="566928" y="3072384"/>
            <a:ext cx="822960" cy="548640"/>
          </a:xfrm>
          <a:prstGeom prst="rect">
            <a:avLst/>
          </a:prstGeom>
          <a:noFill/>
          <a:ln/>
        </p:spPr>
        <p:txBody>
          <a:bodyPr wrap="square" lIns="0" tIns="0" rIns="0" bIns="0" rtlCol="0" anchor="ctr"/>
          <a:lstStyle/>
          <a:p>
            <a:pPr marL="0" indent="0" algn="ctr">
              <a:buNone/>
            </a:pPr>
            <a:r>
              <a:rPr lang="en-US" sz="1200" b="1" dirty="0">
                <a:solidFill>
                  <a:srgbClr val="5D7186"/>
                </a:solidFill>
                <a:latin typeface="Calibri" pitchFamily="34" charset="0"/>
                <a:ea typeface="Calibri" pitchFamily="34" charset="-122"/>
                <a:cs typeface="Calibri" pitchFamily="34" charset="-120"/>
              </a:rPr>
              <a:t>L3</a:t>
            </a:r>
            <a:endParaRPr lang="en-US" sz="1200" dirty="0"/>
          </a:p>
        </p:txBody>
      </p:sp>
      <p:sp>
        <p:nvSpPr>
          <p:cNvPr id="14" name="Text 12"/>
          <p:cNvSpPr/>
          <p:nvPr/>
        </p:nvSpPr>
        <p:spPr>
          <a:xfrm>
            <a:off x="1618488" y="3072384"/>
            <a:ext cx="9966960" cy="548640"/>
          </a:xfrm>
          <a:prstGeom prst="rect">
            <a:avLst/>
          </a:prstGeom>
          <a:noFill/>
          <a:ln/>
        </p:spPr>
        <p:txBody>
          <a:bodyPr wrap="square" lIns="0" tIns="0" rIns="0" bIns="0" rtlCol="0" anchor="ctr"/>
          <a:lstStyle/>
          <a:p>
            <a:pPr marL="0" indent="0">
              <a:buNone/>
            </a:pPr>
            <a:r>
              <a:rPr lang="en-US" sz="1350" dirty="0">
                <a:solidFill>
                  <a:srgbClr val="12202E"/>
                </a:solidFill>
                <a:latin typeface="Calibri" pitchFamily="34" charset="0"/>
                <a:ea typeface="Calibri" pitchFamily="34" charset="-122"/>
                <a:cs typeface="Calibri" pitchFamily="34" charset="-120"/>
              </a:rPr>
              <a:t>"when": "secretion = 3 or secretion_smell = 1"</a:t>
            </a:r>
            <a:endParaRPr lang="en-US" sz="1350" dirty="0"/>
          </a:p>
        </p:txBody>
      </p:sp>
      <p:sp>
        <p:nvSpPr>
          <p:cNvPr id="15" name="Text 13"/>
          <p:cNvSpPr/>
          <p:nvPr/>
        </p:nvSpPr>
        <p:spPr>
          <a:xfrm>
            <a:off x="886968" y="3621024"/>
            <a:ext cx="182880" cy="164592"/>
          </a:xfrm>
          <a:prstGeom prst="rect">
            <a:avLst/>
          </a:prstGeom>
          <a:noFill/>
          <a:ln/>
        </p:spPr>
        <p:txBody>
          <a:bodyPr wrap="square" lIns="0" tIns="0" rIns="0" bIns="0" rtlCol="0" anchor="ctr"/>
          <a:lstStyle/>
          <a:p>
            <a:pPr marL="0" indent="0" algn="ctr">
              <a:buNone/>
            </a:pPr>
            <a:r>
              <a:rPr lang="en-US" sz="800" dirty="0">
                <a:solidFill>
                  <a:srgbClr val="5D7186"/>
                </a:solidFill>
                <a:latin typeface="Calibri" pitchFamily="34" charset="0"/>
                <a:ea typeface="Calibri" pitchFamily="34" charset="-122"/>
                <a:cs typeface="Calibri" pitchFamily="34" charset="-120"/>
              </a:rPr>
              <a:t>▼</a:t>
            </a:r>
            <a:endParaRPr lang="en-US" sz="800" dirty="0"/>
          </a:p>
        </p:txBody>
      </p:sp>
      <p:sp>
        <p:nvSpPr>
          <p:cNvPr id="16" name="Shape 14"/>
          <p:cNvSpPr/>
          <p:nvPr/>
        </p:nvSpPr>
        <p:spPr>
          <a:xfrm>
            <a:off x="566928" y="3785616"/>
            <a:ext cx="822960" cy="548640"/>
          </a:xfrm>
          <a:prstGeom prst="roundRect">
            <a:avLst>
              <a:gd name="adj" fmla="val 13333"/>
            </a:avLst>
          </a:prstGeom>
          <a:solidFill>
            <a:srgbClr val="C25C07"/>
          </a:solidFill>
          <a:ln w="12700">
            <a:solidFill>
              <a:srgbClr val="C25C07"/>
            </a:solidFill>
            <a:prstDash val="solid"/>
          </a:ln>
        </p:spPr>
        <p:txBody>
          <a:bodyPr/>
          <a:lstStyle/>
          <a:p>
            <a:endParaRPr lang="de-CH"/>
          </a:p>
        </p:txBody>
      </p:sp>
      <p:sp>
        <p:nvSpPr>
          <p:cNvPr id="17" name="Text 15"/>
          <p:cNvSpPr/>
          <p:nvPr/>
        </p:nvSpPr>
        <p:spPr>
          <a:xfrm>
            <a:off x="566928" y="3785616"/>
            <a:ext cx="822960" cy="5486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L4</a:t>
            </a:r>
            <a:endParaRPr lang="en-US" sz="1200" dirty="0"/>
          </a:p>
        </p:txBody>
      </p:sp>
      <p:sp>
        <p:nvSpPr>
          <p:cNvPr id="18" name="Text 16"/>
          <p:cNvSpPr/>
          <p:nvPr/>
        </p:nvSpPr>
        <p:spPr>
          <a:xfrm>
            <a:off x="1618488" y="3785616"/>
            <a:ext cx="9966960" cy="548640"/>
          </a:xfrm>
          <a:prstGeom prst="rect">
            <a:avLst/>
          </a:prstGeom>
          <a:noFill/>
          <a:ln/>
        </p:spPr>
        <p:txBody>
          <a:bodyPr wrap="square" lIns="0" tIns="0" rIns="0" bIns="0" rtlCol="0" anchor="ctr"/>
          <a:lstStyle/>
          <a:p>
            <a:pPr marL="0" indent="0">
              <a:buNone/>
            </a:pPr>
            <a:r>
              <a:rPr lang="en-US" sz="1350" dirty="0">
                <a:solidFill>
                  <a:srgbClr val="12202E"/>
                </a:solidFill>
                <a:latin typeface="Calibri" pitchFamily="34" charset="0"/>
                <a:ea typeface="Calibri" pitchFamily="34" charset="-122"/>
                <a:cs typeface="Calibri" pitchFamily="34" charset="-120"/>
              </a:rPr>
              <a:t>image selection “cloudy / purulent” → SUSPECTED INFECTION</a:t>
            </a:r>
            <a:endParaRPr lang="en-US" sz="1350" dirty="0"/>
          </a:p>
        </p:txBody>
      </p:sp>
      <p:sp>
        <p:nvSpPr>
          <p:cNvPr id="19" name="Text 17"/>
          <p:cNvSpPr/>
          <p:nvPr/>
        </p:nvSpPr>
        <p:spPr>
          <a:xfrm>
            <a:off x="886968" y="4334256"/>
            <a:ext cx="182880" cy="164592"/>
          </a:xfrm>
          <a:prstGeom prst="rect">
            <a:avLst/>
          </a:prstGeom>
          <a:noFill/>
          <a:ln/>
        </p:spPr>
        <p:txBody>
          <a:bodyPr wrap="square" lIns="0" tIns="0" rIns="0" bIns="0" rtlCol="0" anchor="ctr"/>
          <a:lstStyle/>
          <a:p>
            <a:pPr marL="0" indent="0" algn="ctr">
              <a:buNone/>
            </a:pPr>
            <a:r>
              <a:rPr lang="en-US" sz="800" dirty="0">
                <a:solidFill>
                  <a:srgbClr val="5D7186"/>
                </a:solidFill>
                <a:latin typeface="Calibri" pitchFamily="34" charset="0"/>
                <a:ea typeface="Calibri" pitchFamily="34" charset="-122"/>
                <a:cs typeface="Calibri" pitchFamily="34" charset="-120"/>
              </a:rPr>
              <a:t>▼</a:t>
            </a:r>
            <a:endParaRPr lang="en-US" sz="800" dirty="0"/>
          </a:p>
        </p:txBody>
      </p:sp>
      <p:sp>
        <p:nvSpPr>
          <p:cNvPr id="20" name="Shape 18"/>
          <p:cNvSpPr/>
          <p:nvPr/>
        </p:nvSpPr>
        <p:spPr>
          <a:xfrm>
            <a:off x="566928" y="4498848"/>
            <a:ext cx="822960" cy="548640"/>
          </a:xfrm>
          <a:prstGeom prst="roundRect">
            <a:avLst>
              <a:gd name="adj" fmla="val 13333"/>
            </a:avLst>
          </a:prstGeom>
          <a:solidFill>
            <a:srgbClr val="1A7F4B"/>
          </a:solidFill>
          <a:ln w="12700">
            <a:solidFill>
              <a:srgbClr val="1A7F4B"/>
            </a:solidFill>
            <a:prstDash val="solid"/>
          </a:ln>
        </p:spPr>
        <p:txBody>
          <a:bodyPr/>
          <a:lstStyle/>
          <a:p>
            <a:endParaRPr lang="de-CH"/>
          </a:p>
        </p:txBody>
      </p:sp>
      <p:sp>
        <p:nvSpPr>
          <p:cNvPr id="21" name="Text 19"/>
          <p:cNvSpPr/>
          <p:nvPr/>
        </p:nvSpPr>
        <p:spPr>
          <a:xfrm>
            <a:off x="566928" y="4498848"/>
            <a:ext cx="822960" cy="5486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QA</a:t>
            </a:r>
            <a:endParaRPr lang="en-US" sz="1200" dirty="0"/>
          </a:p>
        </p:txBody>
      </p:sp>
      <p:sp>
        <p:nvSpPr>
          <p:cNvPr id="22" name="Text 20"/>
          <p:cNvSpPr/>
          <p:nvPr/>
        </p:nvSpPr>
        <p:spPr>
          <a:xfrm>
            <a:off x="1618488" y="4498848"/>
            <a:ext cx="9966960" cy="548640"/>
          </a:xfrm>
          <a:prstGeom prst="rect">
            <a:avLst/>
          </a:prstGeom>
          <a:noFill/>
          <a:ln/>
        </p:spPr>
        <p:txBody>
          <a:bodyPr wrap="square" lIns="0" tIns="0" rIns="0" bIns="0" rtlCol="0" anchor="ctr"/>
          <a:lstStyle/>
          <a:p>
            <a:pPr marL="0" indent="0">
              <a:buNone/>
            </a:pPr>
            <a:r>
              <a:rPr lang="en-US" sz="1350" dirty="0">
                <a:solidFill>
                  <a:srgbClr val="12202E"/>
                </a:solidFill>
                <a:latin typeface="Calibri" pitchFamily="34" charset="0"/>
                <a:ea typeface="Calibri" pitchFamily="34" charset="-122"/>
                <a:cs typeface="Calibri" pitchFamily="34" charset="-120"/>
              </a:rPr>
              <a:t>T10, T15 — passed · challenge C-09 documents the severity/urgency split</a:t>
            </a:r>
            <a:endParaRPr lang="en-US" sz="1350" dirty="0"/>
          </a:p>
        </p:txBody>
      </p:sp>
      <p:sp>
        <p:nvSpPr>
          <p:cNvPr id="23" name="Text 21"/>
          <p:cNvSpPr/>
          <p:nvPr/>
        </p:nvSpPr>
        <p:spPr>
          <a:xfrm>
            <a:off x="886968" y="5047488"/>
            <a:ext cx="182880" cy="164592"/>
          </a:xfrm>
          <a:prstGeom prst="rect">
            <a:avLst/>
          </a:prstGeom>
          <a:noFill/>
          <a:ln/>
        </p:spPr>
        <p:txBody>
          <a:bodyPr wrap="square" lIns="0" tIns="0" rIns="0" bIns="0" rtlCol="0" anchor="ctr"/>
          <a:lstStyle/>
          <a:p>
            <a:pPr marL="0" indent="0" algn="ctr">
              <a:buNone/>
            </a:pPr>
            <a:r>
              <a:rPr lang="en-US" sz="800" dirty="0">
                <a:solidFill>
                  <a:srgbClr val="5D7186"/>
                </a:solidFill>
                <a:latin typeface="Calibri" pitchFamily="34" charset="0"/>
                <a:ea typeface="Calibri" pitchFamily="34" charset="-122"/>
                <a:cs typeface="Calibri" pitchFamily="34" charset="-120"/>
              </a:rPr>
              <a:t>▼</a:t>
            </a:r>
            <a:endParaRPr lang="en-US" sz="800" dirty="0"/>
          </a:p>
        </p:txBody>
      </p:sp>
      <p:sp>
        <p:nvSpPr>
          <p:cNvPr id="24" name="Shape 22"/>
          <p:cNvSpPr/>
          <p:nvPr/>
        </p:nvSpPr>
        <p:spPr>
          <a:xfrm>
            <a:off x="566928" y="5212080"/>
            <a:ext cx="822960" cy="548640"/>
          </a:xfrm>
          <a:prstGeom prst="roundRect">
            <a:avLst>
              <a:gd name="adj" fmla="val 13333"/>
            </a:avLst>
          </a:prstGeom>
          <a:solidFill>
            <a:srgbClr val="F5F7FA"/>
          </a:solidFill>
          <a:ln w="12700">
            <a:solidFill>
              <a:srgbClr val="DDE5EE"/>
            </a:solidFill>
            <a:prstDash val="solid"/>
          </a:ln>
        </p:spPr>
        <p:txBody>
          <a:bodyPr/>
          <a:lstStyle/>
          <a:p>
            <a:endParaRPr lang="de-CH"/>
          </a:p>
        </p:txBody>
      </p:sp>
      <p:sp>
        <p:nvSpPr>
          <p:cNvPr id="25" name="Text 23"/>
          <p:cNvSpPr/>
          <p:nvPr/>
        </p:nvSpPr>
        <p:spPr>
          <a:xfrm>
            <a:off x="566928" y="5212080"/>
            <a:ext cx="822960" cy="548640"/>
          </a:xfrm>
          <a:prstGeom prst="rect">
            <a:avLst/>
          </a:prstGeom>
          <a:noFill/>
          <a:ln/>
        </p:spPr>
        <p:txBody>
          <a:bodyPr wrap="square" lIns="0" tIns="0" rIns="0" bIns="0" rtlCol="0" anchor="ctr"/>
          <a:lstStyle/>
          <a:p>
            <a:pPr marL="0" indent="0" algn="ctr">
              <a:buNone/>
            </a:pPr>
            <a:r>
              <a:rPr lang="en-US" sz="1200" b="1" dirty="0">
                <a:solidFill>
                  <a:srgbClr val="5D7186"/>
                </a:solidFill>
                <a:latin typeface="Calibri" pitchFamily="34" charset="0"/>
                <a:ea typeface="Calibri" pitchFamily="34" charset="-122"/>
                <a:cs typeface="Calibri" pitchFamily="34" charset="-120"/>
              </a:rPr>
              <a:t>FHIR</a:t>
            </a:r>
            <a:endParaRPr lang="en-US" sz="1200" dirty="0"/>
          </a:p>
        </p:txBody>
      </p:sp>
      <p:sp>
        <p:nvSpPr>
          <p:cNvPr id="26" name="Text 24"/>
          <p:cNvSpPr/>
          <p:nvPr/>
        </p:nvSpPr>
        <p:spPr>
          <a:xfrm>
            <a:off x="1618488" y="5212080"/>
            <a:ext cx="9966960" cy="548640"/>
          </a:xfrm>
          <a:prstGeom prst="rect">
            <a:avLst/>
          </a:prstGeom>
          <a:noFill/>
          <a:ln/>
        </p:spPr>
        <p:txBody>
          <a:bodyPr wrap="square" lIns="0" tIns="0" rIns="0" bIns="0" rtlCol="0" anchor="ctr"/>
          <a:lstStyle/>
          <a:p>
            <a:pPr marL="0" indent="0">
              <a:buNone/>
            </a:pPr>
            <a:r>
              <a:rPr lang="en-US" sz="1350" dirty="0">
                <a:solidFill>
                  <a:srgbClr val="12202E"/>
                </a:solidFill>
                <a:latin typeface="Calibri" pitchFamily="34" charset="0"/>
                <a:ea typeface="Calibri" pitchFamily="34" charset="-122"/>
                <a:cs typeface="Calibri" pitchFamily="34" charset="-120"/>
              </a:rPr>
              <a:t>QuestionnaireResponse.item[secretion] + Observation.component</a:t>
            </a:r>
            <a:endParaRPr lang="en-US" sz="1350" dirty="0"/>
          </a:p>
        </p:txBody>
      </p:sp>
      <p:sp>
        <p:nvSpPr>
          <p:cNvPr id="27" name="Text 25"/>
          <p:cNvSpPr/>
          <p:nvPr/>
        </p:nvSpPr>
        <p:spPr>
          <a:xfrm>
            <a:off x="566928" y="5943600"/>
            <a:ext cx="11064240" cy="274320"/>
          </a:xfrm>
          <a:prstGeom prst="rect">
            <a:avLst/>
          </a:prstGeom>
          <a:noFill/>
          <a:ln/>
        </p:spPr>
        <p:txBody>
          <a:bodyPr wrap="square" lIns="0" tIns="0" rIns="0" bIns="0" rtlCol="0" anchor="ctr"/>
          <a:lstStyle/>
          <a:p>
            <a:pPr marL="0" indent="0">
              <a:buNone/>
            </a:pPr>
            <a:r>
              <a:rPr lang="en-US" sz="1150" i="1" dirty="0">
                <a:solidFill>
                  <a:srgbClr val="5D7186"/>
                </a:solidFill>
                <a:latin typeface="Calibri" pitchFamily="34" charset="0"/>
                <a:ea typeface="Calibri" pitchFamily="34" charset="-122"/>
                <a:cs typeface="Calibri" pitchFamily="34" charset="-120"/>
              </a:rPr>
              <a:t>Every element, rule, challenge, hazard, test and defect carries an ID that is identical in all artefacts.</a:t>
            </a:r>
            <a:endParaRPr lang="en-US" sz="1150" dirty="0"/>
          </a:p>
        </p:txBody>
      </p:sp>
      <p:sp>
        <p:nvSpPr>
          <p:cNvPr id="29" name="Text 11">
            <a:extLst>
              <a:ext uri="{FF2B5EF4-FFF2-40B4-BE49-F238E27FC236}">
                <a16:creationId xmlns:a16="http://schemas.microsoft.com/office/drawing/2014/main" id="{73931C9F-4935-C296-B2BA-1C909F8869FE}"/>
              </a:ext>
            </a:extLst>
          </p:cNvPr>
          <p:cNvSpPr/>
          <p:nvPr/>
        </p:nvSpPr>
        <p:spPr>
          <a:xfrm>
            <a:off x="57709" y="6568124"/>
            <a:ext cx="8229600" cy="274320"/>
          </a:xfrm>
          <a:prstGeom prst="rect">
            <a:avLst/>
          </a:prstGeom>
          <a:noFill/>
          <a:ln/>
        </p:spPr>
        <p:txBody>
          <a:bodyPr wrap="square" lIns="0" tIns="0" rIns="0" bIns="0" rtlCol="0" anchor="ctr"/>
          <a:lstStyle/>
          <a:p>
            <a:pPr marL="0" indent="0">
              <a:buNone/>
            </a:pPr>
            <a:r>
              <a:rPr lang="en-US" sz="900">
                <a:solidFill>
                  <a:srgbClr val="8FA3B8"/>
                </a:solidFill>
                <a:latin typeface="Calibri" pitchFamily="34" charset="0"/>
                <a:ea typeface="Calibri" pitchFamily="34" charset="-122"/>
                <a:cs typeface="Calibri" pitchFamily="34" charset="-120"/>
              </a:rPr>
              <a:t>FHNW  ·  MSc Medical Informatics  ·  Clinical Decision Support Systems 2026</a:t>
            </a:r>
            <a:endParaRPr lang="en-US" sz="900"/>
          </a:p>
        </p:txBody>
      </p:sp>
      <p:pic>
        <p:nvPicPr>
          <p:cNvPr id="31" name="Grafik 30">
            <a:extLst>
              <a:ext uri="{FF2B5EF4-FFF2-40B4-BE49-F238E27FC236}">
                <a16:creationId xmlns:a16="http://schemas.microsoft.com/office/drawing/2014/main" id="{63972509-6DF6-A572-A42D-A5AB90DEFFE5}"/>
              </a:ext>
            </a:extLst>
          </p:cNvPr>
          <p:cNvPicPr>
            <a:picLocks noChangeAspect="1"/>
          </p:cNvPicPr>
          <p:nvPr/>
        </p:nvPicPr>
        <p:blipFill>
          <a:blip r:embed="rId3">
            <a:duotone>
              <a:schemeClr val="accent3">
                <a:shade val="45000"/>
                <a:satMod val="135000"/>
              </a:schemeClr>
              <a:prstClr val="white"/>
            </a:duotone>
          </a:blip>
          <a:stretch>
            <a:fillRect/>
          </a:stretch>
        </p:blipFill>
        <p:spPr>
          <a:xfrm>
            <a:off x="57709" y="47504"/>
            <a:ext cx="1012490" cy="23624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7680960" cy="219456"/>
          </a:xfrm>
          <a:prstGeom prst="rect">
            <a:avLst/>
          </a:prstGeom>
          <a:noFill/>
          <a:ln/>
        </p:spPr>
        <p:txBody>
          <a:bodyPr wrap="square" lIns="0" tIns="0" rIns="0" bIns="0" rtlCol="0" anchor="ctr"/>
          <a:lstStyle/>
          <a:p>
            <a:pPr marL="0" indent="0">
              <a:buNone/>
            </a:pPr>
            <a:r>
              <a:rPr lang="en-US" sz="1050" b="1" kern="0" spc="160" dirty="0">
                <a:solidFill>
                  <a:srgbClr val="5D7186"/>
                </a:solidFill>
                <a:latin typeface="Calibri" pitchFamily="34" charset="0"/>
                <a:ea typeface="Calibri" pitchFamily="34" charset="-122"/>
                <a:cs typeface="Calibri" pitchFamily="34" charset="-120"/>
              </a:rPr>
              <a:t>BACKUP · L3 · WUNDCHECK-L3.JSON </a:t>
            </a:r>
            <a:r>
              <a:rPr lang="en-US" sz="1050" b="1" kern="0" spc="160">
                <a:solidFill>
                  <a:srgbClr val="5D7186"/>
                </a:solidFill>
                <a:latin typeface="Calibri" pitchFamily="34" charset="0"/>
                <a:ea typeface="Calibri" pitchFamily="34" charset="-122"/>
                <a:cs typeface="Calibri" pitchFamily="34" charset="-120"/>
              </a:rPr>
              <a:t>V0.3.7</a:t>
            </a:r>
            <a:endParaRPr lang="en-US" sz="1050" dirty="0"/>
          </a:p>
        </p:txBody>
      </p:sp>
      <p:sp>
        <p:nvSpPr>
          <p:cNvPr id="3" name="Text 1"/>
          <p:cNvSpPr/>
          <p:nvPr/>
        </p:nvSpPr>
        <p:spPr>
          <a:xfrm>
            <a:off x="566928" y="640080"/>
            <a:ext cx="10607040" cy="658368"/>
          </a:xfrm>
          <a:prstGeom prst="rect">
            <a:avLst/>
          </a:prstGeom>
          <a:noFill/>
          <a:ln/>
        </p:spPr>
        <p:txBody>
          <a:bodyPr wrap="square" lIns="0" tIns="0" rIns="0" bIns="0" rtlCol="0" anchor="t"/>
          <a:lstStyle/>
          <a:p>
            <a:pPr marL="0" indent="0">
              <a:buNone/>
            </a:pPr>
            <a:r>
              <a:rPr lang="en-US" sz="2700" b="1" dirty="0">
                <a:solidFill>
                  <a:srgbClr val="12202E"/>
                </a:solidFill>
                <a:latin typeface="Cambria" pitchFamily="34" charset="0"/>
                <a:ea typeface="Cambria" pitchFamily="34" charset="-122"/>
                <a:cs typeface="Cambria" pitchFamily="34" charset="-120"/>
              </a:rPr>
              <a:t>The L3 in one screen — this file is the CDSS</a:t>
            </a:r>
            <a:endParaRPr lang="en-US" sz="2700" dirty="0"/>
          </a:p>
        </p:txBody>
      </p:sp>
      <p:sp>
        <p:nvSpPr>
          <p:cNvPr id="4" name="Shape 2"/>
          <p:cNvSpPr/>
          <p:nvPr/>
        </p:nvSpPr>
        <p:spPr>
          <a:xfrm>
            <a:off x="566928" y="1554480"/>
            <a:ext cx="7818120" cy="4617720"/>
          </a:xfrm>
          <a:prstGeom prst="roundRect">
            <a:avLst>
              <a:gd name="adj" fmla="val 1782"/>
            </a:avLst>
          </a:prstGeom>
          <a:solidFill>
            <a:srgbClr val="F5F7FA"/>
          </a:solidFill>
          <a:ln w="12700">
            <a:solidFill>
              <a:srgbClr val="DDE5EE"/>
            </a:solidFill>
            <a:prstDash val="solid"/>
          </a:ln>
        </p:spPr>
        <p:txBody>
          <a:bodyPr/>
          <a:lstStyle/>
          <a:p>
            <a:endParaRPr lang="de-CH"/>
          </a:p>
        </p:txBody>
      </p:sp>
      <p:sp>
        <p:nvSpPr>
          <p:cNvPr id="5" name="Text 3"/>
          <p:cNvSpPr/>
          <p:nvPr/>
        </p:nvSpPr>
        <p:spPr>
          <a:xfrm>
            <a:off x="804672" y="1682496"/>
            <a:ext cx="7406640" cy="182880"/>
          </a:xfrm>
          <a:prstGeom prst="rect">
            <a:avLst/>
          </a:prstGeom>
          <a:noFill/>
          <a:ln/>
        </p:spPr>
        <p:txBody>
          <a:bodyPr wrap="square" lIns="0" tIns="0" rIns="0" bIns="0" rtlCol="0" anchor="ctr"/>
          <a:lstStyle/>
          <a:p>
            <a:pPr marL="0" indent="0">
              <a:buNone/>
            </a:pPr>
            <a:r>
              <a:rPr lang="en-US" sz="900" dirty="0">
                <a:solidFill>
                  <a:srgbClr val="5D7186"/>
                </a:solidFill>
                <a:latin typeface="Consolas" pitchFamily="34" charset="0"/>
                <a:ea typeface="Consolas" pitchFamily="34" charset="-122"/>
                <a:cs typeface="Consolas" pitchFamily="34" charset="-120"/>
              </a:rPr>
              <a:t>{ "meta": {</a:t>
            </a:r>
            <a:endParaRPr lang="en-US" sz="900" dirty="0"/>
          </a:p>
        </p:txBody>
      </p:sp>
      <p:sp>
        <p:nvSpPr>
          <p:cNvPr id="6" name="Text 4"/>
          <p:cNvSpPr/>
          <p:nvPr/>
        </p:nvSpPr>
        <p:spPr>
          <a:xfrm>
            <a:off x="804672" y="1872691"/>
            <a:ext cx="7406640" cy="182880"/>
          </a:xfrm>
          <a:prstGeom prst="rect">
            <a:avLst/>
          </a:prstGeom>
          <a:noFill/>
          <a:ln/>
        </p:spPr>
        <p:txBody>
          <a:bodyPr wrap="square" lIns="0" tIns="0" rIns="0" bIns="0" rtlCol="0" anchor="ctr"/>
          <a:lstStyle/>
          <a:p>
            <a:pPr marL="0" indent="0">
              <a:buNone/>
            </a:pPr>
            <a:r>
              <a:rPr lang="en-US" sz="900" dirty="0">
                <a:solidFill>
                  <a:srgbClr val="12202E"/>
                </a:solidFill>
                <a:latin typeface="Consolas" pitchFamily="34" charset="0"/>
                <a:ea typeface="Consolas" pitchFamily="34" charset="-122"/>
                <a:cs typeface="Consolas" pitchFamily="34" charset="-120"/>
              </a:rPr>
              <a:t>    "version": "0.3.3",  "languages": ["en","de"],  "default_language": "en",</a:t>
            </a:r>
            <a:endParaRPr lang="en-US" sz="900" dirty="0"/>
          </a:p>
        </p:txBody>
      </p:sp>
      <p:sp>
        <p:nvSpPr>
          <p:cNvPr id="7" name="Text 5"/>
          <p:cNvSpPr/>
          <p:nvPr/>
        </p:nvSpPr>
        <p:spPr>
          <a:xfrm>
            <a:off x="804672" y="2062886"/>
            <a:ext cx="7406640" cy="182880"/>
          </a:xfrm>
          <a:prstGeom prst="rect">
            <a:avLst/>
          </a:prstGeom>
          <a:noFill/>
          <a:ln/>
        </p:spPr>
        <p:txBody>
          <a:bodyPr wrap="square" lIns="0" tIns="0" rIns="0" bIns="0" rtlCol="0" anchor="ctr"/>
          <a:lstStyle/>
          <a:p>
            <a:pPr marL="0" indent="0">
              <a:buNone/>
            </a:pPr>
            <a:r>
              <a:rPr lang="en-US" sz="900" dirty="0">
                <a:solidFill>
                  <a:srgbClr val="12202E"/>
                </a:solidFill>
                <a:latin typeface="Consolas" pitchFamily="34" charset="0"/>
                <a:ea typeface="Consolas" pitchFamily="34" charset="-122"/>
                <a:cs typeface="Consolas" pitchFamily="34" charset="-120"/>
              </a:rPr>
              <a:t>    "l1_sources": [ CDC/NHSN · NICE NG125 · Southampton · Campwala 2019 ],</a:t>
            </a:r>
            <a:endParaRPr lang="en-US" sz="900" dirty="0"/>
          </a:p>
        </p:txBody>
      </p:sp>
      <p:sp>
        <p:nvSpPr>
          <p:cNvPr id="8" name="Text 6"/>
          <p:cNvSpPr/>
          <p:nvPr/>
        </p:nvSpPr>
        <p:spPr>
          <a:xfrm>
            <a:off x="804672" y="2253082"/>
            <a:ext cx="7406640" cy="182880"/>
          </a:xfrm>
          <a:prstGeom prst="rect">
            <a:avLst/>
          </a:prstGeom>
          <a:noFill/>
          <a:ln/>
        </p:spPr>
        <p:txBody>
          <a:bodyPr wrap="square" lIns="0" tIns="0" rIns="0" bIns="0" rtlCol="0" anchor="ctr"/>
          <a:lstStyle/>
          <a:p>
            <a:pPr marL="0" indent="0">
              <a:buNone/>
            </a:pPr>
            <a:r>
              <a:rPr lang="en-US" sz="900" dirty="0">
                <a:solidFill>
                  <a:srgbClr val="1A7F4B"/>
                </a:solidFill>
                <a:latin typeface="Consolas" pitchFamily="34" charset="0"/>
                <a:ea typeface="Consolas" pitchFamily="34" charset="-122"/>
                <a:cs typeface="Consolas" pitchFamily="34" charset="-120"/>
              </a:rPr>
              <a:t>    "thresholds": { "fever_orange": 38.0,   // CDC — deep incisional SSI</a:t>
            </a:r>
            <a:endParaRPr lang="en-US" sz="900" dirty="0"/>
          </a:p>
        </p:txBody>
      </p:sp>
      <p:sp>
        <p:nvSpPr>
          <p:cNvPr id="9" name="Text 7"/>
          <p:cNvSpPr/>
          <p:nvPr/>
        </p:nvSpPr>
        <p:spPr>
          <a:xfrm>
            <a:off x="804672" y="2443277"/>
            <a:ext cx="7406640" cy="182880"/>
          </a:xfrm>
          <a:prstGeom prst="rect">
            <a:avLst/>
          </a:prstGeom>
          <a:noFill/>
          <a:ln/>
        </p:spPr>
        <p:txBody>
          <a:bodyPr wrap="square" lIns="0" tIns="0" rIns="0" bIns="0" rtlCol="0" anchor="ctr"/>
          <a:lstStyle/>
          <a:p>
            <a:pPr marL="0" indent="0">
              <a:buNone/>
            </a:pPr>
            <a:r>
              <a:rPr lang="en-US" sz="900" dirty="0">
                <a:solidFill>
                  <a:srgbClr val="1A7F4B"/>
                </a:solidFill>
                <a:latin typeface="Consolas" pitchFamily="34" charset="0"/>
                <a:ea typeface="Consolas" pitchFamily="34" charset="-122"/>
                <a:cs typeface="Consolas" pitchFamily="34" charset="-120"/>
              </a:rPr>
              <a:t>                    "fever_red":    39.0,   // group decision — challenge C-07</a:t>
            </a:r>
            <a:endParaRPr lang="en-US" sz="900" dirty="0"/>
          </a:p>
        </p:txBody>
      </p:sp>
      <p:sp>
        <p:nvSpPr>
          <p:cNvPr id="10" name="Text 8"/>
          <p:cNvSpPr/>
          <p:nvPr/>
        </p:nvSpPr>
        <p:spPr>
          <a:xfrm>
            <a:off x="804672" y="2633472"/>
            <a:ext cx="7406640" cy="182880"/>
          </a:xfrm>
          <a:prstGeom prst="rect">
            <a:avLst/>
          </a:prstGeom>
          <a:noFill/>
          <a:ln/>
        </p:spPr>
        <p:txBody>
          <a:bodyPr wrap="square" lIns="0" tIns="0" rIns="0" bIns="0" rtlCol="0" anchor="ctr"/>
          <a:lstStyle/>
          <a:p>
            <a:pPr marL="0" indent="0">
              <a:buNone/>
            </a:pPr>
            <a:r>
              <a:rPr lang="en-US" sz="900" dirty="0">
                <a:solidFill>
                  <a:srgbClr val="1A7F4B"/>
                </a:solidFill>
                <a:latin typeface="Consolas" pitchFamily="34" charset="0"/>
                <a:ea typeface="Consolas" pitchFamily="34" charset="-122"/>
                <a:cs typeface="Consolas" pitchFamily="34" charset="-120"/>
              </a:rPr>
              <a:t>                    "normal_healing_days": 3 },  // group decision — C-03</a:t>
            </a:r>
            <a:endParaRPr lang="en-US" sz="900" dirty="0"/>
          </a:p>
        </p:txBody>
      </p:sp>
      <p:sp>
        <p:nvSpPr>
          <p:cNvPr id="11" name="Text 9"/>
          <p:cNvSpPr/>
          <p:nvPr/>
        </p:nvSpPr>
        <p:spPr>
          <a:xfrm>
            <a:off x="804672" y="2823667"/>
            <a:ext cx="7406640" cy="182880"/>
          </a:xfrm>
          <a:prstGeom prst="rect">
            <a:avLst/>
          </a:prstGeom>
          <a:noFill/>
          <a:ln/>
        </p:spPr>
        <p:txBody>
          <a:bodyPr wrap="square" lIns="0" tIns="0" rIns="0" bIns="0" rtlCol="0" anchor="ctr"/>
          <a:lstStyle/>
          <a:p>
            <a:pPr marL="0" indent="0">
              <a:buNone/>
            </a:pPr>
            <a:r>
              <a:rPr lang="en-US" sz="900" dirty="0">
                <a:solidFill>
                  <a:srgbClr val="C25C07"/>
                </a:solidFill>
                <a:latin typeface="Consolas" pitchFamily="34" charset="0"/>
                <a:ea typeface="Consolas" pitchFamily="34" charset="-122"/>
                <a:cs typeface="Consolas" pitchFamily="34" charset="-120"/>
              </a:rPr>
              <a:t>    "fhir": { "endpoint": "…/baseR4", "send_mode": "transaction" } },</a:t>
            </a:r>
            <a:endParaRPr lang="en-US" sz="900" dirty="0"/>
          </a:p>
        </p:txBody>
      </p:sp>
      <p:sp>
        <p:nvSpPr>
          <p:cNvPr id="12" name="Text 10"/>
          <p:cNvSpPr/>
          <p:nvPr/>
        </p:nvSpPr>
        <p:spPr>
          <a:xfrm>
            <a:off x="804672" y="3013862"/>
            <a:ext cx="7406640" cy="182880"/>
          </a:xfrm>
          <a:prstGeom prst="rect">
            <a:avLst/>
          </a:prstGeom>
          <a:noFill/>
          <a:ln/>
        </p:spPr>
        <p:txBody>
          <a:bodyPr wrap="square" lIns="0" tIns="0" rIns="0" bIns="0" rtlCol="0" anchor="ctr"/>
          <a:lstStyle/>
          <a:p>
            <a:pPr marL="0" indent="0">
              <a:buNone/>
            </a:pPr>
            <a:endParaRPr lang="en-US" sz="900" dirty="0"/>
          </a:p>
        </p:txBody>
      </p:sp>
      <p:sp>
        <p:nvSpPr>
          <p:cNvPr id="13" name="Text 11"/>
          <p:cNvSpPr/>
          <p:nvPr/>
        </p:nvSpPr>
        <p:spPr>
          <a:xfrm>
            <a:off x="804672" y="3204058"/>
            <a:ext cx="7406640" cy="182880"/>
          </a:xfrm>
          <a:prstGeom prst="rect">
            <a:avLst/>
          </a:prstGeom>
          <a:noFill/>
          <a:ln/>
        </p:spPr>
        <p:txBody>
          <a:bodyPr wrap="square" lIns="0" tIns="0" rIns="0" bIns="0" rtlCol="0" anchor="ctr"/>
          <a:lstStyle/>
          <a:p>
            <a:pPr marL="0" indent="0">
              <a:buNone/>
            </a:pPr>
            <a:r>
              <a:rPr lang="en-US" sz="900" dirty="0">
                <a:solidFill>
                  <a:srgbClr val="5D7186"/>
                </a:solidFill>
                <a:latin typeface="Consolas" pitchFamily="34" charset="0"/>
                <a:ea typeface="Consolas" pitchFamily="34" charset="-122"/>
                <a:cs typeface="Consolas" pitchFamily="34" charset="-120"/>
              </a:rPr>
              <a:t>  "elements": [ {</a:t>
            </a:r>
            <a:endParaRPr lang="en-US" sz="900" dirty="0"/>
          </a:p>
        </p:txBody>
      </p:sp>
      <p:sp>
        <p:nvSpPr>
          <p:cNvPr id="14" name="Text 12"/>
          <p:cNvSpPr/>
          <p:nvPr/>
        </p:nvSpPr>
        <p:spPr>
          <a:xfrm>
            <a:off x="804672" y="3394253"/>
            <a:ext cx="7406640" cy="182880"/>
          </a:xfrm>
          <a:prstGeom prst="rect">
            <a:avLst/>
          </a:prstGeom>
          <a:noFill/>
          <a:ln/>
        </p:spPr>
        <p:txBody>
          <a:bodyPr wrap="square" lIns="0" tIns="0" rIns="0" bIns="0" rtlCol="0" anchor="ctr"/>
          <a:lstStyle/>
          <a:p>
            <a:pPr marL="0" indent="0">
              <a:buNone/>
            </a:pPr>
            <a:r>
              <a:rPr lang="en-US" sz="900" dirty="0">
                <a:solidFill>
                  <a:srgbClr val="12202E"/>
                </a:solidFill>
                <a:latin typeface="Consolas" pitchFamily="34" charset="0"/>
                <a:ea typeface="Consolas" pitchFamily="34" charset="-122"/>
                <a:cs typeface="Consolas" pitchFamily="34" charset="-120"/>
              </a:rPr>
              <a:t>      "id": "secretion",  "de_id": "DE-035",  "type": "select_one",</a:t>
            </a:r>
            <a:endParaRPr lang="en-US" sz="900" dirty="0"/>
          </a:p>
        </p:txBody>
      </p:sp>
      <p:sp>
        <p:nvSpPr>
          <p:cNvPr id="15" name="Text 13"/>
          <p:cNvSpPr/>
          <p:nvPr/>
        </p:nvSpPr>
        <p:spPr>
          <a:xfrm>
            <a:off x="804672" y="3584448"/>
            <a:ext cx="7406640" cy="182880"/>
          </a:xfrm>
          <a:prstGeom prst="rect">
            <a:avLst/>
          </a:prstGeom>
          <a:noFill/>
          <a:ln/>
        </p:spPr>
        <p:txBody>
          <a:bodyPr wrap="square" lIns="0" tIns="0" rIns="0" bIns="0" rtlCol="0" anchor="ctr"/>
          <a:lstStyle/>
          <a:p>
            <a:pPr marL="0" indent="0">
              <a:buNone/>
            </a:pPr>
            <a:r>
              <a:rPr lang="en-US" sz="900" dirty="0">
                <a:solidFill>
                  <a:srgbClr val="12202E"/>
                </a:solidFill>
                <a:latin typeface="Consolas" pitchFamily="34" charset="0"/>
                <a:ea typeface="Consolas" pitchFamily="34" charset="-122"/>
                <a:cs typeface="Consolas" pitchFamily="34" charset="-120"/>
              </a:rPr>
              <a:t>      "label":   { "en": "Is fluid coming out of the wound?",</a:t>
            </a:r>
            <a:endParaRPr lang="en-US" sz="900" dirty="0"/>
          </a:p>
        </p:txBody>
      </p:sp>
      <p:sp>
        <p:nvSpPr>
          <p:cNvPr id="16" name="Text 14"/>
          <p:cNvSpPr/>
          <p:nvPr/>
        </p:nvSpPr>
        <p:spPr>
          <a:xfrm>
            <a:off x="804672" y="3774643"/>
            <a:ext cx="7406640" cy="182880"/>
          </a:xfrm>
          <a:prstGeom prst="rect">
            <a:avLst/>
          </a:prstGeom>
          <a:noFill/>
          <a:ln/>
        </p:spPr>
        <p:txBody>
          <a:bodyPr wrap="square" lIns="0" tIns="0" rIns="0" bIns="0" rtlCol="0" anchor="ctr"/>
          <a:lstStyle/>
          <a:p>
            <a:pPr marL="0" indent="0">
              <a:buNone/>
            </a:pPr>
            <a:r>
              <a:rPr lang="en-US" sz="900" dirty="0">
                <a:solidFill>
                  <a:srgbClr val="12202E"/>
                </a:solidFill>
                <a:latin typeface="Consolas" pitchFamily="34" charset="0"/>
                <a:ea typeface="Consolas" pitchFamily="34" charset="-122"/>
                <a:cs typeface="Consolas" pitchFamily="34" charset="-120"/>
              </a:rPr>
              <a:t>                   "de": "Kommt Flüssigkeit aus der Wunde?" },</a:t>
            </a:r>
            <a:endParaRPr lang="en-US" sz="900" dirty="0"/>
          </a:p>
        </p:txBody>
      </p:sp>
      <p:sp>
        <p:nvSpPr>
          <p:cNvPr id="17" name="Text 15"/>
          <p:cNvSpPr/>
          <p:nvPr/>
        </p:nvSpPr>
        <p:spPr>
          <a:xfrm>
            <a:off x="804672" y="3964838"/>
            <a:ext cx="7406640" cy="182880"/>
          </a:xfrm>
          <a:prstGeom prst="rect">
            <a:avLst/>
          </a:prstGeom>
          <a:noFill/>
          <a:ln/>
        </p:spPr>
        <p:txBody>
          <a:bodyPr wrap="square" lIns="0" tIns="0" rIns="0" bIns="0" rtlCol="0" anchor="ctr"/>
          <a:lstStyle/>
          <a:p>
            <a:pPr marL="0" indent="0">
              <a:buNone/>
            </a:pPr>
            <a:r>
              <a:rPr lang="en-US" sz="900" dirty="0">
                <a:solidFill>
                  <a:srgbClr val="12202E"/>
                </a:solidFill>
                <a:latin typeface="Consolas" pitchFamily="34" charset="0"/>
                <a:ea typeface="Consolas" pitchFamily="34" charset="-122"/>
                <a:cs typeface="Consolas" pitchFamily="34" charset="-120"/>
              </a:rPr>
              <a:t>      "options": [ 0 = none · 1 = clear · 2 = bloody · 3 = purulent, each with an image ],</a:t>
            </a:r>
            <a:endParaRPr lang="en-US" sz="900" dirty="0"/>
          </a:p>
        </p:txBody>
      </p:sp>
      <p:sp>
        <p:nvSpPr>
          <p:cNvPr id="18" name="Text 16"/>
          <p:cNvSpPr/>
          <p:nvPr/>
        </p:nvSpPr>
        <p:spPr>
          <a:xfrm>
            <a:off x="804672" y="4155034"/>
            <a:ext cx="7406640" cy="182880"/>
          </a:xfrm>
          <a:prstGeom prst="rect">
            <a:avLst/>
          </a:prstGeom>
          <a:noFill/>
          <a:ln/>
        </p:spPr>
        <p:txBody>
          <a:bodyPr wrap="square" lIns="0" tIns="0" rIns="0" bIns="0" rtlCol="0" anchor="ctr"/>
          <a:lstStyle/>
          <a:p>
            <a:pPr marL="0" indent="0">
              <a:buNone/>
            </a:pPr>
            <a:r>
              <a:rPr lang="en-US" sz="900" dirty="0">
                <a:solidFill>
                  <a:srgbClr val="12202E"/>
                </a:solidFill>
                <a:latin typeface="Consolas" pitchFamily="34" charset="0"/>
                <a:ea typeface="Consolas" pitchFamily="34" charset="-122"/>
                <a:cs typeface="Consolas" pitchFamily="34" charset="-120"/>
              </a:rPr>
              <a:t>      "terminology": { "snomed": "449736006" },</a:t>
            </a:r>
            <a:endParaRPr lang="en-US" sz="900" dirty="0"/>
          </a:p>
        </p:txBody>
      </p:sp>
      <p:sp>
        <p:nvSpPr>
          <p:cNvPr id="19" name="Text 17"/>
          <p:cNvSpPr/>
          <p:nvPr/>
        </p:nvSpPr>
        <p:spPr>
          <a:xfrm>
            <a:off x="804672" y="4345229"/>
            <a:ext cx="7406640" cy="182880"/>
          </a:xfrm>
          <a:prstGeom prst="rect">
            <a:avLst/>
          </a:prstGeom>
          <a:noFill/>
          <a:ln/>
        </p:spPr>
        <p:txBody>
          <a:bodyPr wrap="square" lIns="0" tIns="0" rIns="0" bIns="0" rtlCol="0" anchor="ctr"/>
          <a:lstStyle/>
          <a:p>
            <a:pPr marL="0" indent="0">
              <a:buNone/>
            </a:pPr>
            <a:r>
              <a:rPr lang="en-US" sz="900" dirty="0">
                <a:solidFill>
                  <a:srgbClr val="12202E"/>
                </a:solidFill>
                <a:latin typeface="Consolas" pitchFamily="34" charset="0"/>
                <a:ea typeface="Consolas" pitchFamily="34" charset="-122"/>
                <a:cs typeface="Consolas" pitchFamily="34" charset="-120"/>
              </a:rPr>
              <a:t>      "fhir": "Observation.valueCodeableConcept",</a:t>
            </a:r>
            <a:endParaRPr lang="en-US" sz="900" dirty="0"/>
          </a:p>
        </p:txBody>
      </p:sp>
      <p:sp>
        <p:nvSpPr>
          <p:cNvPr id="20" name="Text 18"/>
          <p:cNvSpPr/>
          <p:nvPr/>
        </p:nvSpPr>
        <p:spPr>
          <a:xfrm>
            <a:off x="804672" y="4535424"/>
            <a:ext cx="7406640" cy="182880"/>
          </a:xfrm>
          <a:prstGeom prst="rect">
            <a:avLst/>
          </a:prstGeom>
          <a:noFill/>
          <a:ln/>
        </p:spPr>
        <p:txBody>
          <a:bodyPr wrap="square" lIns="0" tIns="0" rIns="0" bIns="0" rtlCol="0" anchor="ctr"/>
          <a:lstStyle/>
          <a:p>
            <a:pPr marL="0" indent="0">
              <a:buNone/>
            </a:pPr>
            <a:r>
              <a:rPr lang="en-US" sz="900" dirty="0">
                <a:solidFill>
                  <a:srgbClr val="12202E"/>
                </a:solidFill>
                <a:latin typeface="Consolas" pitchFamily="34" charset="0"/>
                <a:ea typeface="Consolas" pitchFamily="34" charset="-122"/>
                <a:cs typeface="Consolas" pitchFamily="34" charset="-120"/>
              </a:rPr>
              <a:t>      "l1_source": "CDC/NHSN — purulent drainage · Southampton III–IV" } ],</a:t>
            </a:r>
            <a:endParaRPr lang="en-US" sz="900" dirty="0"/>
          </a:p>
        </p:txBody>
      </p:sp>
      <p:sp>
        <p:nvSpPr>
          <p:cNvPr id="21" name="Text 19"/>
          <p:cNvSpPr/>
          <p:nvPr/>
        </p:nvSpPr>
        <p:spPr>
          <a:xfrm>
            <a:off x="804672" y="4725619"/>
            <a:ext cx="7406640" cy="182880"/>
          </a:xfrm>
          <a:prstGeom prst="rect">
            <a:avLst/>
          </a:prstGeom>
          <a:noFill/>
          <a:ln/>
        </p:spPr>
        <p:txBody>
          <a:bodyPr wrap="square" lIns="0" tIns="0" rIns="0" bIns="0" rtlCol="0" anchor="ctr"/>
          <a:lstStyle/>
          <a:p>
            <a:pPr marL="0" indent="0">
              <a:buNone/>
            </a:pPr>
            <a:endParaRPr lang="en-US" sz="900" dirty="0"/>
          </a:p>
        </p:txBody>
      </p:sp>
      <p:sp>
        <p:nvSpPr>
          <p:cNvPr id="22" name="Text 20"/>
          <p:cNvSpPr/>
          <p:nvPr/>
        </p:nvSpPr>
        <p:spPr>
          <a:xfrm>
            <a:off x="804672" y="4915814"/>
            <a:ext cx="7406640" cy="182880"/>
          </a:xfrm>
          <a:prstGeom prst="rect">
            <a:avLst/>
          </a:prstGeom>
          <a:noFill/>
          <a:ln/>
        </p:spPr>
        <p:txBody>
          <a:bodyPr wrap="square" lIns="0" tIns="0" rIns="0" bIns="0" rtlCol="0" anchor="ctr"/>
          <a:lstStyle/>
          <a:p>
            <a:pPr marL="0" indent="0">
              <a:buNone/>
            </a:pPr>
            <a:r>
              <a:rPr lang="en-US" sz="900" dirty="0">
                <a:solidFill>
                  <a:srgbClr val="5D7186"/>
                </a:solidFill>
                <a:latin typeface="Consolas" pitchFamily="34" charset="0"/>
                <a:ea typeface="Consolas" pitchFamily="34" charset="-122"/>
                <a:cs typeface="Consolas" pitchFamily="34" charset="-120"/>
              </a:rPr>
              <a:t>  "decision_rules": [ {</a:t>
            </a:r>
            <a:endParaRPr lang="en-US" sz="900" dirty="0"/>
          </a:p>
        </p:txBody>
      </p:sp>
      <p:sp>
        <p:nvSpPr>
          <p:cNvPr id="23" name="Text 21"/>
          <p:cNvSpPr/>
          <p:nvPr/>
        </p:nvSpPr>
        <p:spPr>
          <a:xfrm>
            <a:off x="804672" y="5106010"/>
            <a:ext cx="7406640" cy="182880"/>
          </a:xfrm>
          <a:prstGeom prst="rect">
            <a:avLst/>
          </a:prstGeom>
          <a:noFill/>
          <a:ln/>
        </p:spPr>
        <p:txBody>
          <a:bodyPr wrap="square" lIns="0" tIns="0" rIns="0" bIns="0" rtlCol="0" anchor="ctr"/>
          <a:lstStyle/>
          <a:p>
            <a:pPr marL="0" indent="0">
              <a:buNone/>
            </a:pPr>
            <a:r>
              <a:rPr lang="en-US" sz="900" dirty="0">
                <a:solidFill>
                  <a:srgbClr val="12202E"/>
                </a:solidFill>
                <a:latin typeface="Consolas" pitchFamily="34" charset="0"/>
                <a:ea typeface="Consolas" pitchFamily="34" charset="-122"/>
                <a:cs typeface="Consolas" pitchFamily="34" charset="-120"/>
              </a:rPr>
              <a:t>      "id": "R4",  "priority": "orange",  "exclusive": true,</a:t>
            </a:r>
            <a:endParaRPr lang="en-US" sz="900" dirty="0"/>
          </a:p>
        </p:txBody>
      </p:sp>
      <p:sp>
        <p:nvSpPr>
          <p:cNvPr id="24" name="Text 22"/>
          <p:cNvSpPr/>
          <p:nvPr/>
        </p:nvSpPr>
        <p:spPr>
          <a:xfrm>
            <a:off x="804672" y="5296205"/>
            <a:ext cx="7406640" cy="182880"/>
          </a:xfrm>
          <a:prstGeom prst="rect">
            <a:avLst/>
          </a:prstGeom>
          <a:noFill/>
          <a:ln/>
        </p:spPr>
        <p:txBody>
          <a:bodyPr wrap="square" lIns="0" tIns="0" rIns="0" bIns="0" rtlCol="0" anchor="ctr"/>
          <a:lstStyle/>
          <a:p>
            <a:pPr marL="0" indent="0">
              <a:buNone/>
            </a:pPr>
            <a:r>
              <a:rPr lang="en-US" sz="900" dirty="0">
                <a:solidFill>
                  <a:srgbClr val="C0281C"/>
                </a:solidFill>
                <a:latin typeface="Consolas" pitchFamily="34" charset="0"/>
                <a:ea typeface="Consolas" pitchFamily="34" charset="-122"/>
                <a:cs typeface="Consolas" pitchFamily="34" charset="-120"/>
              </a:rPr>
              <a:t>      "when":   "secretion = 3 or secretion_smell = 1",</a:t>
            </a:r>
            <a:endParaRPr lang="en-US" sz="900" dirty="0"/>
          </a:p>
        </p:txBody>
      </p:sp>
      <p:sp>
        <p:nvSpPr>
          <p:cNvPr id="25" name="Text 23"/>
          <p:cNvSpPr/>
          <p:nvPr/>
        </p:nvSpPr>
        <p:spPr>
          <a:xfrm>
            <a:off x="804672" y="5486400"/>
            <a:ext cx="7406640" cy="182880"/>
          </a:xfrm>
          <a:prstGeom prst="rect">
            <a:avLst/>
          </a:prstGeom>
          <a:noFill/>
          <a:ln/>
        </p:spPr>
        <p:txBody>
          <a:bodyPr wrap="square" lIns="0" tIns="0" rIns="0" bIns="0" rtlCol="0" anchor="ctr"/>
          <a:lstStyle/>
          <a:p>
            <a:pPr marL="0" indent="0">
              <a:buNone/>
            </a:pPr>
            <a:r>
              <a:rPr lang="en-US" sz="900" dirty="0">
                <a:solidFill>
                  <a:srgbClr val="12202E"/>
                </a:solidFill>
                <a:latin typeface="Consolas" pitchFamily="34" charset="0"/>
                <a:ea typeface="Consolas" pitchFamily="34" charset="-122"/>
                <a:cs typeface="Consolas" pitchFamily="34" charset="-120"/>
              </a:rPr>
              <a:t>      "output": { "en": "SUSPECTED INFECTION — contact your practice today…" },</a:t>
            </a:r>
            <a:endParaRPr lang="en-US" sz="900" dirty="0"/>
          </a:p>
        </p:txBody>
      </p:sp>
      <p:sp>
        <p:nvSpPr>
          <p:cNvPr id="26" name="Text 24"/>
          <p:cNvSpPr/>
          <p:nvPr/>
        </p:nvSpPr>
        <p:spPr>
          <a:xfrm>
            <a:off x="804672" y="5676595"/>
            <a:ext cx="7406640" cy="182880"/>
          </a:xfrm>
          <a:prstGeom prst="rect">
            <a:avLst/>
          </a:prstGeom>
          <a:noFill/>
          <a:ln/>
        </p:spPr>
        <p:txBody>
          <a:bodyPr wrap="square" lIns="0" tIns="0" rIns="0" bIns="0" rtlCol="0" anchor="ctr"/>
          <a:lstStyle/>
          <a:p>
            <a:pPr marL="0" indent="0">
              <a:buNone/>
            </a:pPr>
            <a:r>
              <a:rPr lang="en-US" sz="900" dirty="0">
                <a:solidFill>
                  <a:srgbClr val="12202E"/>
                </a:solidFill>
                <a:latin typeface="Consolas" pitchFamily="34" charset="0"/>
                <a:ea typeface="Consolas" pitchFamily="34" charset="-122"/>
                <a:cs typeface="Consolas" pitchFamily="34" charset="-120"/>
              </a:rPr>
              <a:t>      "annotation": "Purulent drainage is a primary criterion of superficial SSI.",</a:t>
            </a:r>
            <a:endParaRPr lang="en-US" sz="900" dirty="0"/>
          </a:p>
        </p:txBody>
      </p:sp>
      <p:sp>
        <p:nvSpPr>
          <p:cNvPr id="27" name="Text 25"/>
          <p:cNvSpPr/>
          <p:nvPr/>
        </p:nvSpPr>
        <p:spPr>
          <a:xfrm>
            <a:off x="804672" y="5866790"/>
            <a:ext cx="7406640" cy="182880"/>
          </a:xfrm>
          <a:prstGeom prst="rect">
            <a:avLst/>
          </a:prstGeom>
          <a:noFill/>
          <a:ln/>
        </p:spPr>
        <p:txBody>
          <a:bodyPr wrap="square" lIns="0" tIns="0" rIns="0" bIns="0" rtlCol="0" anchor="ctr"/>
          <a:lstStyle/>
          <a:p>
            <a:pPr marL="0" indent="0">
              <a:buNone/>
            </a:pPr>
            <a:r>
              <a:rPr lang="en-US" sz="900" dirty="0">
                <a:solidFill>
                  <a:srgbClr val="12202E"/>
                </a:solidFill>
                <a:latin typeface="Consolas" pitchFamily="34" charset="0"/>
                <a:ea typeface="Consolas" pitchFamily="34" charset="-122"/>
                <a:cs typeface="Consolas" pitchFamily="34" charset="-120"/>
              </a:rPr>
              <a:t>      "reference":  "CDC/NHSN superficial incisional SSI · Southampton IV" } ] }</a:t>
            </a:r>
            <a:endParaRPr lang="en-US" sz="900" dirty="0"/>
          </a:p>
        </p:txBody>
      </p:sp>
      <p:sp>
        <p:nvSpPr>
          <p:cNvPr id="28" name="Shape 26"/>
          <p:cNvSpPr/>
          <p:nvPr/>
        </p:nvSpPr>
        <p:spPr>
          <a:xfrm>
            <a:off x="8659368" y="1554480"/>
            <a:ext cx="2971800" cy="1060704"/>
          </a:xfrm>
          <a:prstGeom prst="roundRect">
            <a:avLst>
              <a:gd name="adj" fmla="val 7759"/>
            </a:avLst>
          </a:prstGeom>
          <a:solidFill>
            <a:srgbClr val="FFFFFF"/>
          </a:solidFill>
          <a:ln w="12700">
            <a:solidFill>
              <a:srgbClr val="DDE5EE"/>
            </a:solidFill>
            <a:prstDash val="solid"/>
          </a:ln>
        </p:spPr>
        <p:txBody>
          <a:bodyPr/>
          <a:lstStyle/>
          <a:p>
            <a:endParaRPr lang="de-CH"/>
          </a:p>
        </p:txBody>
      </p:sp>
      <p:sp>
        <p:nvSpPr>
          <p:cNvPr id="29" name="Text 27"/>
          <p:cNvSpPr/>
          <p:nvPr/>
        </p:nvSpPr>
        <p:spPr>
          <a:xfrm>
            <a:off x="8869680" y="1664208"/>
            <a:ext cx="2560320" cy="237744"/>
          </a:xfrm>
          <a:prstGeom prst="rect">
            <a:avLst/>
          </a:prstGeom>
          <a:noFill/>
          <a:ln/>
        </p:spPr>
        <p:txBody>
          <a:bodyPr wrap="square" lIns="0" tIns="0" rIns="0" bIns="0" rtlCol="0" anchor="ctr"/>
          <a:lstStyle/>
          <a:p>
            <a:pPr marL="0" indent="0">
              <a:buNone/>
            </a:pPr>
            <a:r>
              <a:rPr lang="en-US" sz="1050" b="1" dirty="0">
                <a:solidFill>
                  <a:srgbClr val="12202E"/>
                </a:solidFill>
                <a:latin typeface="Calibri" pitchFamily="34" charset="0"/>
                <a:ea typeface="Calibri" pitchFamily="34" charset="-122"/>
                <a:cs typeface="Calibri" pitchFamily="34" charset="-120"/>
              </a:rPr>
              <a:t>Bilingual by construction</a:t>
            </a:r>
            <a:endParaRPr lang="en-US" sz="1050" dirty="0"/>
          </a:p>
        </p:txBody>
      </p:sp>
      <p:sp>
        <p:nvSpPr>
          <p:cNvPr id="30" name="Text 28"/>
          <p:cNvSpPr/>
          <p:nvPr/>
        </p:nvSpPr>
        <p:spPr>
          <a:xfrm>
            <a:off x="8869680" y="1920240"/>
            <a:ext cx="2560320" cy="621792"/>
          </a:xfrm>
          <a:prstGeom prst="rect">
            <a:avLst/>
          </a:prstGeom>
          <a:noFill/>
          <a:ln/>
        </p:spPr>
        <p:txBody>
          <a:bodyPr wrap="square" lIns="0" tIns="0" rIns="0" bIns="0" rtlCol="0" anchor="ctr"/>
          <a:lstStyle/>
          <a:p>
            <a:pPr marL="0" indent="0">
              <a:lnSpc>
                <a:spcPts val="1100"/>
              </a:lnSpc>
              <a:buNone/>
            </a:pPr>
            <a:r>
              <a:rPr lang="en-US" sz="900" dirty="0">
                <a:solidFill>
                  <a:srgbClr val="5D7186"/>
                </a:solidFill>
                <a:latin typeface="Calibri" pitchFamily="34" charset="0"/>
                <a:ea typeface="Calibri" pitchFamily="34" charset="-122"/>
                <a:cs typeface="Calibri" pitchFamily="34" charset="-120"/>
              </a:rPr>
              <a:t>Every user-facing string is a language-keyed object. A further language is a content change, not a code change.</a:t>
            </a:r>
            <a:endParaRPr lang="en-US" sz="900" dirty="0"/>
          </a:p>
        </p:txBody>
      </p:sp>
      <p:sp>
        <p:nvSpPr>
          <p:cNvPr id="31" name="Shape 29"/>
          <p:cNvSpPr/>
          <p:nvPr/>
        </p:nvSpPr>
        <p:spPr>
          <a:xfrm>
            <a:off x="8659368" y="2734056"/>
            <a:ext cx="2971800" cy="1060704"/>
          </a:xfrm>
          <a:prstGeom prst="roundRect">
            <a:avLst>
              <a:gd name="adj" fmla="val 7759"/>
            </a:avLst>
          </a:prstGeom>
          <a:solidFill>
            <a:srgbClr val="FFFFFF"/>
          </a:solidFill>
          <a:ln w="12700">
            <a:solidFill>
              <a:srgbClr val="DDE5EE"/>
            </a:solidFill>
            <a:prstDash val="solid"/>
          </a:ln>
        </p:spPr>
        <p:txBody>
          <a:bodyPr/>
          <a:lstStyle/>
          <a:p>
            <a:endParaRPr lang="de-CH"/>
          </a:p>
        </p:txBody>
      </p:sp>
      <p:sp>
        <p:nvSpPr>
          <p:cNvPr id="32" name="Text 30"/>
          <p:cNvSpPr/>
          <p:nvPr/>
        </p:nvSpPr>
        <p:spPr>
          <a:xfrm>
            <a:off x="8869680" y="2843784"/>
            <a:ext cx="2560320" cy="237744"/>
          </a:xfrm>
          <a:prstGeom prst="rect">
            <a:avLst/>
          </a:prstGeom>
          <a:noFill/>
          <a:ln/>
        </p:spPr>
        <p:txBody>
          <a:bodyPr wrap="square" lIns="0" tIns="0" rIns="0" bIns="0" rtlCol="0" anchor="ctr"/>
          <a:lstStyle/>
          <a:p>
            <a:pPr marL="0" indent="0">
              <a:buNone/>
            </a:pPr>
            <a:r>
              <a:rPr lang="en-US" sz="1050" b="1" dirty="0">
                <a:solidFill>
                  <a:srgbClr val="12202E"/>
                </a:solidFill>
                <a:latin typeface="Calibri" pitchFamily="34" charset="0"/>
                <a:ea typeface="Calibri" pitchFamily="34" charset="-122"/>
                <a:cs typeface="Calibri" pitchFamily="34" charset="-120"/>
              </a:rPr>
              <a:t>Thresholds carry their source</a:t>
            </a:r>
            <a:endParaRPr lang="en-US" sz="1050" dirty="0"/>
          </a:p>
        </p:txBody>
      </p:sp>
      <p:sp>
        <p:nvSpPr>
          <p:cNvPr id="33" name="Text 31"/>
          <p:cNvSpPr/>
          <p:nvPr/>
        </p:nvSpPr>
        <p:spPr>
          <a:xfrm>
            <a:off x="8869680" y="3099816"/>
            <a:ext cx="2560320" cy="621792"/>
          </a:xfrm>
          <a:prstGeom prst="rect">
            <a:avLst/>
          </a:prstGeom>
          <a:noFill/>
          <a:ln/>
        </p:spPr>
        <p:txBody>
          <a:bodyPr wrap="square" lIns="0" tIns="0" rIns="0" bIns="0" rtlCol="0" anchor="ctr"/>
          <a:lstStyle/>
          <a:p>
            <a:pPr marL="0" indent="0">
              <a:lnSpc>
                <a:spcPts val="1100"/>
              </a:lnSpc>
              <a:buNone/>
            </a:pPr>
            <a:r>
              <a:rPr lang="en-US" sz="900" dirty="0">
                <a:solidFill>
                  <a:srgbClr val="5D7186"/>
                </a:solidFill>
                <a:latin typeface="Calibri" pitchFamily="34" charset="0"/>
                <a:ea typeface="Calibri" pitchFamily="34" charset="-122"/>
                <a:cs typeface="Calibri" pitchFamily="34" charset="-120"/>
              </a:rPr>
              <a:t>Each constant names where it comes from — a guideline value or a documented group decision.</a:t>
            </a:r>
            <a:endParaRPr lang="en-US" sz="900" dirty="0"/>
          </a:p>
        </p:txBody>
      </p:sp>
      <p:sp>
        <p:nvSpPr>
          <p:cNvPr id="34" name="Shape 32"/>
          <p:cNvSpPr/>
          <p:nvPr/>
        </p:nvSpPr>
        <p:spPr>
          <a:xfrm>
            <a:off x="8659368" y="3913632"/>
            <a:ext cx="2971800" cy="1060704"/>
          </a:xfrm>
          <a:prstGeom prst="roundRect">
            <a:avLst>
              <a:gd name="adj" fmla="val 7759"/>
            </a:avLst>
          </a:prstGeom>
          <a:solidFill>
            <a:srgbClr val="FFFFFF"/>
          </a:solidFill>
          <a:ln w="12700">
            <a:solidFill>
              <a:srgbClr val="DDE5EE"/>
            </a:solidFill>
            <a:prstDash val="solid"/>
          </a:ln>
        </p:spPr>
        <p:txBody>
          <a:bodyPr/>
          <a:lstStyle/>
          <a:p>
            <a:endParaRPr lang="de-CH"/>
          </a:p>
        </p:txBody>
      </p:sp>
      <p:sp>
        <p:nvSpPr>
          <p:cNvPr id="35" name="Text 33"/>
          <p:cNvSpPr/>
          <p:nvPr/>
        </p:nvSpPr>
        <p:spPr>
          <a:xfrm>
            <a:off x="8869680" y="4023360"/>
            <a:ext cx="2560320" cy="237744"/>
          </a:xfrm>
          <a:prstGeom prst="rect">
            <a:avLst/>
          </a:prstGeom>
          <a:noFill/>
          <a:ln/>
        </p:spPr>
        <p:txBody>
          <a:bodyPr wrap="square" lIns="0" tIns="0" rIns="0" bIns="0" rtlCol="0" anchor="ctr"/>
          <a:lstStyle/>
          <a:p>
            <a:pPr marL="0" indent="0">
              <a:buNone/>
            </a:pPr>
            <a:r>
              <a:rPr lang="en-US" sz="1050" b="1" dirty="0">
                <a:solidFill>
                  <a:srgbClr val="12202E"/>
                </a:solidFill>
                <a:latin typeface="Calibri" pitchFamily="34" charset="0"/>
                <a:ea typeface="Calibri" pitchFamily="34" charset="-122"/>
                <a:cs typeface="Calibri" pitchFamily="34" charset="-120"/>
              </a:rPr>
              <a:t>Rules carry their reference</a:t>
            </a:r>
            <a:endParaRPr lang="en-US" sz="1050" dirty="0"/>
          </a:p>
        </p:txBody>
      </p:sp>
      <p:sp>
        <p:nvSpPr>
          <p:cNvPr id="36" name="Text 34"/>
          <p:cNvSpPr/>
          <p:nvPr/>
        </p:nvSpPr>
        <p:spPr>
          <a:xfrm>
            <a:off x="8869680" y="4279392"/>
            <a:ext cx="2560320" cy="621792"/>
          </a:xfrm>
          <a:prstGeom prst="rect">
            <a:avLst/>
          </a:prstGeom>
          <a:noFill/>
          <a:ln/>
        </p:spPr>
        <p:txBody>
          <a:bodyPr wrap="square" lIns="0" tIns="0" rIns="0" bIns="0" rtlCol="0" anchor="ctr"/>
          <a:lstStyle/>
          <a:p>
            <a:pPr marL="0" indent="0">
              <a:lnSpc>
                <a:spcPts val="1100"/>
              </a:lnSpc>
              <a:buNone/>
            </a:pPr>
            <a:r>
              <a:rPr lang="en-US" sz="900" dirty="0">
                <a:solidFill>
                  <a:srgbClr val="5D7186"/>
                </a:solidFill>
                <a:latin typeface="Calibri" pitchFamily="34" charset="0"/>
                <a:ea typeface="Calibri" pitchFamily="34" charset="-122"/>
                <a:cs typeface="Calibri" pitchFamily="34" charset="-120"/>
              </a:rPr>
              <a:t>Every rule states its L1 source and an annotation, so a clinician can review it without reading code.</a:t>
            </a:r>
            <a:endParaRPr lang="en-US" sz="900" dirty="0"/>
          </a:p>
        </p:txBody>
      </p:sp>
      <p:sp>
        <p:nvSpPr>
          <p:cNvPr id="37" name="Shape 35"/>
          <p:cNvSpPr/>
          <p:nvPr/>
        </p:nvSpPr>
        <p:spPr>
          <a:xfrm>
            <a:off x="8659368" y="5093208"/>
            <a:ext cx="2971800" cy="1060704"/>
          </a:xfrm>
          <a:prstGeom prst="roundRect">
            <a:avLst>
              <a:gd name="adj" fmla="val 7759"/>
            </a:avLst>
          </a:prstGeom>
          <a:solidFill>
            <a:srgbClr val="FFFFFF"/>
          </a:solidFill>
          <a:ln w="12700">
            <a:solidFill>
              <a:srgbClr val="DDE5EE"/>
            </a:solidFill>
            <a:prstDash val="solid"/>
          </a:ln>
        </p:spPr>
        <p:txBody>
          <a:bodyPr/>
          <a:lstStyle/>
          <a:p>
            <a:endParaRPr lang="de-CH"/>
          </a:p>
        </p:txBody>
      </p:sp>
      <p:sp>
        <p:nvSpPr>
          <p:cNvPr id="38" name="Text 36"/>
          <p:cNvSpPr/>
          <p:nvPr/>
        </p:nvSpPr>
        <p:spPr>
          <a:xfrm>
            <a:off x="8869680" y="5202936"/>
            <a:ext cx="2560320" cy="237744"/>
          </a:xfrm>
          <a:prstGeom prst="rect">
            <a:avLst/>
          </a:prstGeom>
          <a:noFill/>
          <a:ln/>
        </p:spPr>
        <p:txBody>
          <a:bodyPr wrap="square" lIns="0" tIns="0" rIns="0" bIns="0" rtlCol="0" anchor="ctr"/>
          <a:lstStyle/>
          <a:p>
            <a:pPr marL="0" indent="0">
              <a:buNone/>
            </a:pPr>
            <a:r>
              <a:rPr lang="en-US" sz="1050" b="1" dirty="0">
                <a:solidFill>
                  <a:srgbClr val="12202E"/>
                </a:solidFill>
                <a:latin typeface="Calibri" pitchFamily="34" charset="0"/>
                <a:ea typeface="Calibri" pitchFamily="34" charset="-122"/>
                <a:cs typeface="Calibri" pitchFamily="34" charset="-120"/>
              </a:rPr>
              <a:t>The endpoint is configuration</a:t>
            </a:r>
            <a:endParaRPr lang="en-US" sz="1050" dirty="0"/>
          </a:p>
        </p:txBody>
      </p:sp>
      <p:sp>
        <p:nvSpPr>
          <p:cNvPr id="39" name="Text 37"/>
          <p:cNvSpPr/>
          <p:nvPr/>
        </p:nvSpPr>
        <p:spPr>
          <a:xfrm>
            <a:off x="8869680" y="5458968"/>
            <a:ext cx="2560320" cy="621792"/>
          </a:xfrm>
          <a:prstGeom prst="rect">
            <a:avLst/>
          </a:prstGeom>
          <a:noFill/>
          <a:ln/>
        </p:spPr>
        <p:txBody>
          <a:bodyPr wrap="square" lIns="0" tIns="0" rIns="0" bIns="0" rtlCol="0" anchor="ctr"/>
          <a:lstStyle/>
          <a:p>
            <a:pPr marL="0" indent="0">
              <a:lnSpc>
                <a:spcPts val="1100"/>
              </a:lnSpc>
              <a:buNone/>
            </a:pPr>
            <a:r>
              <a:rPr lang="en-US" sz="900" dirty="0">
                <a:solidFill>
                  <a:srgbClr val="5D7186"/>
                </a:solidFill>
                <a:latin typeface="Calibri" pitchFamily="34" charset="0"/>
                <a:ea typeface="Calibri" pitchFamily="34" charset="-122"/>
                <a:cs typeface="Calibri" pitchFamily="34" charset="-120"/>
              </a:rPr>
              <a:t>Redirecting to a hospital FHIR server is one line — no code change, no rebuild.</a:t>
            </a:r>
            <a:endParaRPr lang="en-US" sz="900" dirty="0"/>
          </a:p>
        </p:txBody>
      </p:sp>
      <p:sp>
        <p:nvSpPr>
          <p:cNvPr id="40" name="Text 38"/>
          <p:cNvSpPr/>
          <p:nvPr/>
        </p:nvSpPr>
        <p:spPr>
          <a:xfrm>
            <a:off x="566928" y="6309360"/>
            <a:ext cx="11064240" cy="274320"/>
          </a:xfrm>
          <a:prstGeom prst="rect">
            <a:avLst/>
          </a:prstGeom>
          <a:noFill/>
          <a:ln/>
        </p:spPr>
        <p:txBody>
          <a:bodyPr wrap="square" lIns="0" tIns="0" rIns="0" bIns="0" rtlCol="0" anchor="ctr"/>
          <a:lstStyle/>
          <a:p>
            <a:pPr marL="0" indent="0">
              <a:buNone/>
            </a:pPr>
            <a:r>
              <a:rPr lang="en-US" sz="1000" i="1">
                <a:solidFill>
                  <a:srgbClr val="5D7186"/>
                </a:solidFill>
                <a:latin typeface="Calibri" pitchFamily="34" charset="0"/>
                <a:ea typeface="Calibri" pitchFamily="34" charset="-122"/>
                <a:cs typeface="Calibri" pitchFamily="34" charset="-120"/>
              </a:rPr>
              <a:t>49</a:t>
            </a:r>
            <a:r>
              <a:rPr lang="en-US" sz="1000" i="1" dirty="0">
                <a:solidFill>
                  <a:srgbClr val="5D7186"/>
                </a:solidFill>
                <a:latin typeface="Calibri" pitchFamily="34" charset="0"/>
                <a:ea typeface="Calibri" pitchFamily="34" charset="-122"/>
                <a:cs typeface="Calibri" pitchFamily="34" charset="-120"/>
              </a:rPr>
              <a:t> elements · 18 rules · </a:t>
            </a:r>
            <a:r>
              <a:rPr lang="en-US" sz="1000" i="1">
                <a:solidFill>
                  <a:srgbClr val="5D7186"/>
                </a:solidFill>
                <a:latin typeface="Calibri" pitchFamily="34" charset="0"/>
                <a:ea typeface="Calibri" pitchFamily="34" charset="-122"/>
                <a:cs typeface="Calibri" pitchFamily="34" charset="-120"/>
              </a:rPr>
              <a:t>74</a:t>
            </a:r>
            <a:r>
              <a:rPr lang="en-US" sz="1000" i="1" dirty="0">
                <a:solidFill>
                  <a:srgbClr val="5D7186"/>
                </a:solidFill>
                <a:latin typeface="Calibri" pitchFamily="34" charset="0"/>
                <a:ea typeface="Calibri" pitchFamily="34" charset="-122"/>
                <a:cs typeface="Calibri" pitchFamily="34" charset="-120"/>
              </a:rPr>
              <a:t> KB · read by the L4 at runtime — swap this file and the app becomes a different CDSS.</a:t>
            </a:r>
            <a:endParaRPr lang="en-US" sz="1000" dirty="0"/>
          </a:p>
        </p:txBody>
      </p:sp>
      <p:sp>
        <p:nvSpPr>
          <p:cNvPr id="42" name="Text 11">
            <a:extLst>
              <a:ext uri="{FF2B5EF4-FFF2-40B4-BE49-F238E27FC236}">
                <a16:creationId xmlns:a16="http://schemas.microsoft.com/office/drawing/2014/main" id="{CD503755-C8DC-B659-26A6-56D9BD4D745A}"/>
              </a:ext>
            </a:extLst>
          </p:cNvPr>
          <p:cNvSpPr/>
          <p:nvPr/>
        </p:nvSpPr>
        <p:spPr>
          <a:xfrm>
            <a:off x="57709" y="6568124"/>
            <a:ext cx="8229600" cy="274320"/>
          </a:xfrm>
          <a:prstGeom prst="rect">
            <a:avLst/>
          </a:prstGeom>
          <a:noFill/>
          <a:ln/>
        </p:spPr>
        <p:txBody>
          <a:bodyPr wrap="square" lIns="0" tIns="0" rIns="0" bIns="0" rtlCol="0" anchor="ctr"/>
          <a:lstStyle/>
          <a:p>
            <a:pPr marL="0" indent="0">
              <a:buNone/>
            </a:pPr>
            <a:r>
              <a:rPr lang="en-US" sz="900">
                <a:solidFill>
                  <a:srgbClr val="8FA3B8"/>
                </a:solidFill>
                <a:latin typeface="Calibri" pitchFamily="34" charset="0"/>
                <a:ea typeface="Calibri" pitchFamily="34" charset="-122"/>
                <a:cs typeface="Calibri" pitchFamily="34" charset="-120"/>
              </a:rPr>
              <a:t>FHNW  ·  MSc Medical Informatics  ·  Clinical Decision Support Systems 2026</a:t>
            </a:r>
            <a:endParaRPr lang="en-US" sz="900"/>
          </a:p>
        </p:txBody>
      </p:sp>
      <p:pic>
        <p:nvPicPr>
          <p:cNvPr id="44" name="Grafik 43">
            <a:extLst>
              <a:ext uri="{FF2B5EF4-FFF2-40B4-BE49-F238E27FC236}">
                <a16:creationId xmlns:a16="http://schemas.microsoft.com/office/drawing/2014/main" id="{414C3D53-CED3-570F-652D-05A627A94937}"/>
              </a:ext>
            </a:extLst>
          </p:cNvPr>
          <p:cNvPicPr>
            <a:picLocks noChangeAspect="1"/>
          </p:cNvPicPr>
          <p:nvPr/>
        </p:nvPicPr>
        <p:blipFill>
          <a:blip r:embed="rId3">
            <a:duotone>
              <a:schemeClr val="accent3">
                <a:shade val="45000"/>
                <a:satMod val="135000"/>
              </a:schemeClr>
              <a:prstClr val="white"/>
            </a:duotone>
          </a:blip>
          <a:stretch>
            <a:fillRect/>
          </a:stretch>
        </p:blipFill>
        <p:spPr>
          <a:xfrm>
            <a:off x="57709" y="47504"/>
            <a:ext cx="1012490" cy="23624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7680960" cy="219456"/>
          </a:xfrm>
          <a:prstGeom prst="rect">
            <a:avLst/>
          </a:prstGeom>
          <a:noFill/>
          <a:ln/>
        </p:spPr>
        <p:txBody>
          <a:bodyPr wrap="square" lIns="0" tIns="0" rIns="0" bIns="0" rtlCol="0" anchor="ctr"/>
          <a:lstStyle/>
          <a:p>
            <a:pPr marL="0" indent="0">
              <a:buNone/>
            </a:pPr>
            <a:r>
              <a:rPr lang="en-US" sz="1050" b="1" kern="0" spc="160" dirty="0">
                <a:solidFill>
                  <a:srgbClr val="5D7186"/>
                </a:solidFill>
                <a:latin typeface="Calibri" pitchFamily="34" charset="0"/>
                <a:ea typeface="Calibri" pitchFamily="34" charset="-122"/>
                <a:cs typeface="Calibri" pitchFamily="34" charset="-120"/>
              </a:rPr>
              <a:t>BACKUP · L2 · EXCERPT OF </a:t>
            </a:r>
            <a:r>
              <a:rPr lang="en-US" sz="1050" b="1" kern="0" spc="160">
                <a:solidFill>
                  <a:srgbClr val="5D7186"/>
                </a:solidFill>
                <a:latin typeface="Calibri" pitchFamily="34" charset="0"/>
                <a:ea typeface="Calibri" pitchFamily="34" charset="-122"/>
                <a:cs typeface="Calibri" pitchFamily="34" charset="-120"/>
              </a:rPr>
              <a:t>49</a:t>
            </a:r>
            <a:r>
              <a:rPr lang="en-US" sz="1050" b="1" kern="0" spc="160" dirty="0">
                <a:solidFill>
                  <a:srgbClr val="5D7186"/>
                </a:solidFill>
                <a:latin typeface="Calibri" pitchFamily="34" charset="0"/>
                <a:ea typeface="Calibri" pitchFamily="34" charset="-122"/>
                <a:cs typeface="Calibri" pitchFamily="34" charset="-120"/>
              </a:rPr>
              <a:t> ELEMENTS</a:t>
            </a:r>
            <a:endParaRPr lang="en-US" sz="1050" dirty="0"/>
          </a:p>
        </p:txBody>
      </p:sp>
      <p:sp>
        <p:nvSpPr>
          <p:cNvPr id="3" name="Text 1"/>
          <p:cNvSpPr/>
          <p:nvPr/>
        </p:nvSpPr>
        <p:spPr>
          <a:xfrm>
            <a:off x="566928" y="640080"/>
            <a:ext cx="10607040" cy="658368"/>
          </a:xfrm>
          <a:prstGeom prst="rect">
            <a:avLst/>
          </a:prstGeom>
          <a:noFill/>
          <a:ln/>
        </p:spPr>
        <p:txBody>
          <a:bodyPr wrap="square" lIns="0" tIns="0" rIns="0" bIns="0" rtlCol="0" anchor="t"/>
          <a:lstStyle/>
          <a:p>
            <a:pPr marL="0" indent="0">
              <a:buNone/>
            </a:pPr>
            <a:r>
              <a:rPr lang="en-US" sz="2700" b="1" dirty="0">
                <a:solidFill>
                  <a:srgbClr val="12202E"/>
                </a:solidFill>
                <a:latin typeface="Cambria" pitchFamily="34" charset="0"/>
                <a:ea typeface="Cambria" pitchFamily="34" charset="-122"/>
                <a:cs typeface="Cambria" pitchFamily="34" charset="-120"/>
              </a:rPr>
              <a:t>Data dictionary — the four required columns</a:t>
            </a:r>
            <a:endParaRPr lang="en-US" sz="2700" dirty="0"/>
          </a:p>
        </p:txBody>
      </p:sp>
      <p:sp>
        <p:nvSpPr>
          <p:cNvPr id="4" name="Text 2"/>
          <p:cNvSpPr/>
          <p:nvPr/>
        </p:nvSpPr>
        <p:spPr>
          <a:xfrm>
            <a:off x="566928" y="1572768"/>
            <a:ext cx="713232" cy="219456"/>
          </a:xfrm>
          <a:prstGeom prst="rect">
            <a:avLst/>
          </a:prstGeom>
          <a:noFill/>
          <a:ln/>
        </p:spPr>
        <p:txBody>
          <a:bodyPr wrap="square" lIns="0" tIns="0" rIns="0" bIns="0" rtlCol="0" anchor="ctr"/>
          <a:lstStyle/>
          <a:p>
            <a:pPr marL="0" indent="0">
              <a:buNone/>
            </a:pPr>
            <a:r>
              <a:rPr lang="en-US" sz="850" b="1" kern="0" spc="80" dirty="0">
                <a:solidFill>
                  <a:srgbClr val="5D7186"/>
                </a:solidFill>
                <a:latin typeface="Calibri" pitchFamily="34" charset="0"/>
                <a:ea typeface="Calibri" pitchFamily="34" charset="-122"/>
                <a:cs typeface="Calibri" pitchFamily="34" charset="-120"/>
              </a:rPr>
              <a:t>ID</a:t>
            </a:r>
            <a:endParaRPr lang="en-US" sz="850" dirty="0"/>
          </a:p>
        </p:txBody>
      </p:sp>
      <p:sp>
        <p:nvSpPr>
          <p:cNvPr id="5" name="Text 3"/>
          <p:cNvSpPr/>
          <p:nvPr/>
        </p:nvSpPr>
        <p:spPr>
          <a:xfrm>
            <a:off x="1325880" y="1572768"/>
            <a:ext cx="2148840" cy="219456"/>
          </a:xfrm>
          <a:prstGeom prst="rect">
            <a:avLst/>
          </a:prstGeom>
          <a:noFill/>
          <a:ln/>
        </p:spPr>
        <p:txBody>
          <a:bodyPr wrap="square" lIns="0" tIns="0" rIns="0" bIns="0" rtlCol="0" anchor="ctr"/>
          <a:lstStyle/>
          <a:p>
            <a:pPr marL="0" indent="0">
              <a:buNone/>
            </a:pPr>
            <a:r>
              <a:rPr lang="en-US" sz="850" b="1" kern="0" spc="80" dirty="0">
                <a:solidFill>
                  <a:srgbClr val="5D7186"/>
                </a:solidFill>
                <a:latin typeface="Calibri" pitchFamily="34" charset="0"/>
                <a:ea typeface="Calibri" pitchFamily="34" charset="-122"/>
                <a:cs typeface="Calibri" pitchFamily="34" charset="-120"/>
              </a:rPr>
              <a:t>LABEL</a:t>
            </a:r>
            <a:endParaRPr lang="en-US" sz="850" dirty="0"/>
          </a:p>
        </p:txBody>
      </p:sp>
      <p:sp>
        <p:nvSpPr>
          <p:cNvPr id="6" name="Text 4"/>
          <p:cNvSpPr/>
          <p:nvPr/>
        </p:nvSpPr>
        <p:spPr>
          <a:xfrm>
            <a:off x="3520440" y="1572768"/>
            <a:ext cx="960120" cy="219456"/>
          </a:xfrm>
          <a:prstGeom prst="rect">
            <a:avLst/>
          </a:prstGeom>
          <a:noFill/>
          <a:ln/>
        </p:spPr>
        <p:txBody>
          <a:bodyPr wrap="square" lIns="0" tIns="0" rIns="0" bIns="0" rtlCol="0" anchor="ctr"/>
          <a:lstStyle/>
          <a:p>
            <a:pPr marL="0" indent="0">
              <a:buNone/>
            </a:pPr>
            <a:r>
              <a:rPr lang="en-US" sz="850" b="1" kern="0" spc="80" dirty="0">
                <a:solidFill>
                  <a:srgbClr val="5D7186"/>
                </a:solidFill>
                <a:latin typeface="Calibri" pitchFamily="34" charset="0"/>
                <a:ea typeface="Calibri" pitchFamily="34" charset="-122"/>
                <a:cs typeface="Calibri" pitchFamily="34" charset="-120"/>
              </a:rPr>
              <a:t>TYPE</a:t>
            </a:r>
            <a:endParaRPr lang="en-US" sz="850" dirty="0"/>
          </a:p>
        </p:txBody>
      </p:sp>
      <p:sp>
        <p:nvSpPr>
          <p:cNvPr id="7" name="Text 5"/>
          <p:cNvSpPr/>
          <p:nvPr/>
        </p:nvSpPr>
        <p:spPr>
          <a:xfrm>
            <a:off x="4526280" y="1572768"/>
            <a:ext cx="2880360" cy="219456"/>
          </a:xfrm>
          <a:prstGeom prst="rect">
            <a:avLst/>
          </a:prstGeom>
          <a:noFill/>
          <a:ln/>
        </p:spPr>
        <p:txBody>
          <a:bodyPr wrap="square" lIns="0" tIns="0" rIns="0" bIns="0" rtlCol="0" anchor="ctr"/>
          <a:lstStyle/>
          <a:p>
            <a:pPr marL="0" indent="0">
              <a:buNone/>
            </a:pPr>
            <a:r>
              <a:rPr lang="en-US" sz="850" b="1" kern="0" spc="80" dirty="0">
                <a:solidFill>
                  <a:srgbClr val="5D7186"/>
                </a:solidFill>
                <a:latin typeface="Calibri" pitchFamily="34" charset="0"/>
                <a:ea typeface="Calibri" pitchFamily="34" charset="-122"/>
                <a:cs typeface="Calibri" pitchFamily="34" charset="-120"/>
              </a:rPr>
              <a:t>RESPONSE OPTIONS</a:t>
            </a:r>
            <a:endParaRPr lang="en-US" sz="850" dirty="0"/>
          </a:p>
        </p:txBody>
      </p:sp>
      <p:sp>
        <p:nvSpPr>
          <p:cNvPr id="8" name="Text 6"/>
          <p:cNvSpPr/>
          <p:nvPr/>
        </p:nvSpPr>
        <p:spPr>
          <a:xfrm>
            <a:off x="7452360" y="1572768"/>
            <a:ext cx="1600200" cy="219456"/>
          </a:xfrm>
          <a:prstGeom prst="rect">
            <a:avLst/>
          </a:prstGeom>
          <a:noFill/>
          <a:ln/>
        </p:spPr>
        <p:txBody>
          <a:bodyPr wrap="square" lIns="0" tIns="0" rIns="0" bIns="0" rtlCol="0" anchor="ctr"/>
          <a:lstStyle/>
          <a:p>
            <a:pPr marL="0" indent="0">
              <a:buNone/>
            </a:pPr>
            <a:r>
              <a:rPr lang="en-US" sz="850" b="1" kern="0" spc="80" dirty="0">
                <a:solidFill>
                  <a:srgbClr val="5D7186"/>
                </a:solidFill>
                <a:latin typeface="Calibri" pitchFamily="34" charset="0"/>
                <a:ea typeface="Calibri" pitchFamily="34" charset="-122"/>
                <a:cs typeface="Calibri" pitchFamily="34" charset="-120"/>
              </a:rPr>
              <a:t>CONDITIONAL LOGIC</a:t>
            </a:r>
            <a:endParaRPr lang="en-US" sz="850" dirty="0"/>
          </a:p>
        </p:txBody>
      </p:sp>
      <p:sp>
        <p:nvSpPr>
          <p:cNvPr id="9" name="Text 7"/>
          <p:cNvSpPr/>
          <p:nvPr/>
        </p:nvSpPr>
        <p:spPr>
          <a:xfrm>
            <a:off x="9098280" y="1572768"/>
            <a:ext cx="1417320" cy="219456"/>
          </a:xfrm>
          <a:prstGeom prst="rect">
            <a:avLst/>
          </a:prstGeom>
          <a:noFill/>
          <a:ln/>
        </p:spPr>
        <p:txBody>
          <a:bodyPr wrap="square" lIns="0" tIns="0" rIns="0" bIns="0" rtlCol="0" anchor="ctr"/>
          <a:lstStyle/>
          <a:p>
            <a:pPr marL="0" indent="0">
              <a:buNone/>
            </a:pPr>
            <a:r>
              <a:rPr lang="en-US" sz="850" b="1" kern="0" spc="80" dirty="0">
                <a:solidFill>
                  <a:srgbClr val="5D7186"/>
                </a:solidFill>
                <a:latin typeface="Calibri" pitchFamily="34" charset="0"/>
                <a:ea typeface="Calibri" pitchFamily="34" charset="-122"/>
                <a:cs typeface="Calibri" pitchFamily="34" charset="-120"/>
              </a:rPr>
              <a:t>CONSTRAINT</a:t>
            </a:r>
            <a:endParaRPr lang="en-US" sz="850" dirty="0"/>
          </a:p>
        </p:txBody>
      </p:sp>
      <p:sp>
        <p:nvSpPr>
          <p:cNvPr id="10" name="Text 8"/>
          <p:cNvSpPr/>
          <p:nvPr/>
        </p:nvSpPr>
        <p:spPr>
          <a:xfrm>
            <a:off x="10561320" y="1572768"/>
            <a:ext cx="1344168" cy="219456"/>
          </a:xfrm>
          <a:prstGeom prst="rect">
            <a:avLst/>
          </a:prstGeom>
          <a:noFill/>
          <a:ln/>
        </p:spPr>
        <p:txBody>
          <a:bodyPr wrap="square" lIns="0" tIns="0" rIns="0" bIns="0" rtlCol="0" anchor="ctr"/>
          <a:lstStyle/>
          <a:p>
            <a:pPr marL="0" indent="0">
              <a:buNone/>
            </a:pPr>
            <a:r>
              <a:rPr lang="en-US" sz="850" b="1" kern="0" spc="80" dirty="0">
                <a:solidFill>
                  <a:srgbClr val="5D7186"/>
                </a:solidFill>
                <a:latin typeface="Calibri" pitchFamily="34" charset="0"/>
                <a:ea typeface="Calibri" pitchFamily="34" charset="-122"/>
                <a:cs typeface="Calibri" pitchFamily="34" charset="-120"/>
              </a:rPr>
              <a:t>TERMINOLOGY</a:t>
            </a:r>
            <a:endParaRPr lang="en-US" sz="850" dirty="0"/>
          </a:p>
        </p:txBody>
      </p:sp>
      <p:sp>
        <p:nvSpPr>
          <p:cNvPr id="11" name="Shape 9"/>
          <p:cNvSpPr/>
          <p:nvPr/>
        </p:nvSpPr>
        <p:spPr>
          <a:xfrm>
            <a:off x="566928" y="1847088"/>
            <a:ext cx="11064240" cy="347472"/>
          </a:xfrm>
          <a:prstGeom prst="roundRect">
            <a:avLst>
              <a:gd name="adj" fmla="val 23684"/>
            </a:avLst>
          </a:prstGeom>
          <a:solidFill>
            <a:srgbClr val="F5F7FA"/>
          </a:solidFill>
          <a:ln w="12700">
            <a:solidFill>
              <a:srgbClr val="DDE5EE"/>
            </a:solidFill>
            <a:prstDash val="solid"/>
          </a:ln>
        </p:spPr>
        <p:txBody>
          <a:bodyPr/>
          <a:lstStyle/>
          <a:p>
            <a:endParaRPr lang="de-CH"/>
          </a:p>
        </p:txBody>
      </p:sp>
      <p:sp>
        <p:nvSpPr>
          <p:cNvPr id="12" name="Text 10"/>
          <p:cNvSpPr/>
          <p:nvPr/>
        </p:nvSpPr>
        <p:spPr>
          <a:xfrm>
            <a:off x="585216" y="1847088"/>
            <a:ext cx="713232" cy="347472"/>
          </a:xfrm>
          <a:prstGeom prst="rect">
            <a:avLst/>
          </a:prstGeom>
          <a:noFill/>
          <a:ln/>
        </p:spPr>
        <p:txBody>
          <a:bodyPr wrap="square" lIns="0" tIns="0" rIns="0" bIns="0" rtlCol="0" anchor="ctr"/>
          <a:lstStyle/>
          <a:p>
            <a:pPr marL="0" indent="0">
              <a:buNone/>
            </a:pPr>
            <a:r>
              <a:rPr lang="en-US" sz="800" b="1" dirty="0">
                <a:solidFill>
                  <a:srgbClr val="12202E"/>
                </a:solidFill>
                <a:latin typeface="Calibri" pitchFamily="34" charset="0"/>
                <a:ea typeface="Calibri" pitchFamily="34" charset="-122"/>
                <a:cs typeface="Calibri" pitchFamily="34" charset="-120"/>
              </a:rPr>
              <a:t>DE-020</a:t>
            </a:r>
            <a:endParaRPr lang="en-US" sz="800" dirty="0"/>
          </a:p>
        </p:txBody>
      </p:sp>
      <p:sp>
        <p:nvSpPr>
          <p:cNvPr id="13" name="Text 11"/>
          <p:cNvSpPr/>
          <p:nvPr/>
        </p:nvSpPr>
        <p:spPr>
          <a:xfrm>
            <a:off x="1344168" y="1847088"/>
            <a:ext cx="2148840" cy="347472"/>
          </a:xfrm>
          <a:prstGeom prst="rect">
            <a:avLst/>
          </a:prstGeom>
          <a:noFill/>
          <a:ln/>
        </p:spPr>
        <p:txBody>
          <a:bodyPr wrap="square" lIns="0" tIns="0" rIns="0" bIns="0" rtlCol="0" anchor="ctr"/>
          <a:lstStyle/>
          <a:p>
            <a:pPr marL="0" indent="0">
              <a:buNone/>
            </a:pPr>
            <a:r>
              <a:rPr lang="en-US" sz="800" dirty="0">
                <a:solidFill>
                  <a:srgbClr val="12202E"/>
                </a:solidFill>
                <a:latin typeface="Calibri" pitchFamily="34" charset="0"/>
                <a:ea typeface="Calibri" pitchFamily="34" charset="-122"/>
                <a:cs typeface="Calibri" pitchFamily="34" charset="-120"/>
              </a:rPr>
              <a:t>Body temperature today</a:t>
            </a:r>
            <a:endParaRPr lang="en-US" sz="800" dirty="0"/>
          </a:p>
        </p:txBody>
      </p:sp>
      <p:sp>
        <p:nvSpPr>
          <p:cNvPr id="14" name="Text 12"/>
          <p:cNvSpPr/>
          <p:nvPr/>
        </p:nvSpPr>
        <p:spPr>
          <a:xfrm>
            <a:off x="3538728" y="1847088"/>
            <a:ext cx="960120" cy="347472"/>
          </a:xfrm>
          <a:prstGeom prst="rect">
            <a:avLst/>
          </a:prstGeom>
          <a:noFill/>
          <a:ln/>
        </p:spPr>
        <p:txBody>
          <a:bodyPr wrap="square" lIns="0" tIns="0" rIns="0" bIns="0" rtlCol="0" anchor="ctr"/>
          <a:lstStyle/>
          <a:p>
            <a:pPr marL="0" indent="0">
              <a:buNone/>
            </a:pPr>
            <a:r>
              <a:rPr lang="en-US" sz="800" dirty="0">
                <a:solidFill>
                  <a:srgbClr val="12202E"/>
                </a:solidFill>
                <a:latin typeface="Calibri" pitchFamily="34" charset="0"/>
                <a:ea typeface="Calibri" pitchFamily="34" charset="-122"/>
                <a:cs typeface="Calibri" pitchFamily="34" charset="-120"/>
              </a:rPr>
              <a:t>decimal</a:t>
            </a:r>
            <a:endParaRPr lang="en-US" sz="800" dirty="0"/>
          </a:p>
        </p:txBody>
      </p:sp>
      <p:sp>
        <p:nvSpPr>
          <p:cNvPr id="15" name="Text 13"/>
          <p:cNvSpPr/>
          <p:nvPr/>
        </p:nvSpPr>
        <p:spPr>
          <a:xfrm>
            <a:off x="4544568" y="1847088"/>
            <a:ext cx="2880360" cy="347472"/>
          </a:xfrm>
          <a:prstGeom prst="rect">
            <a:avLst/>
          </a:prstGeom>
          <a:noFill/>
          <a:ln/>
        </p:spPr>
        <p:txBody>
          <a:bodyPr wrap="square" lIns="0" tIns="0" rIns="0" bIns="0" rtlCol="0" anchor="ctr"/>
          <a:lstStyle/>
          <a:p>
            <a:pPr marL="0" indent="0">
              <a:buNone/>
            </a:pPr>
            <a:r>
              <a:rPr lang="en-US" sz="800" dirty="0">
                <a:solidFill>
                  <a:srgbClr val="12202E"/>
                </a:solidFill>
                <a:latin typeface="Calibri" pitchFamily="34" charset="0"/>
                <a:ea typeface="Calibri" pitchFamily="34" charset="-122"/>
                <a:cs typeface="Calibri" pitchFamily="34" charset="-120"/>
              </a:rPr>
              <a:t>free numeric input, °C</a:t>
            </a:r>
            <a:endParaRPr lang="en-US" sz="800" dirty="0"/>
          </a:p>
        </p:txBody>
      </p:sp>
      <p:sp>
        <p:nvSpPr>
          <p:cNvPr id="16" name="Text 14"/>
          <p:cNvSpPr/>
          <p:nvPr/>
        </p:nvSpPr>
        <p:spPr>
          <a:xfrm>
            <a:off x="7470648" y="1847088"/>
            <a:ext cx="1600200" cy="347472"/>
          </a:xfrm>
          <a:prstGeom prst="rect">
            <a:avLst/>
          </a:prstGeom>
          <a:noFill/>
          <a:ln/>
        </p:spPr>
        <p:txBody>
          <a:bodyPr wrap="square" lIns="0" tIns="0" rIns="0" bIns="0" rtlCol="0" anchor="ctr"/>
          <a:lstStyle/>
          <a:p>
            <a:pPr marL="0" indent="0">
              <a:buNone/>
            </a:pPr>
            <a:r>
              <a:rPr lang="en-US" sz="800" dirty="0">
                <a:solidFill>
                  <a:srgbClr val="12202E"/>
                </a:solidFill>
                <a:latin typeface="Calibri" pitchFamily="34" charset="0"/>
                <a:ea typeface="Calibri" pitchFamily="34" charset="-122"/>
                <a:cs typeface="Calibri" pitchFamily="34" charset="-120"/>
              </a:rPr>
              <a:t>—</a:t>
            </a:r>
            <a:endParaRPr lang="en-US" sz="800" dirty="0"/>
          </a:p>
        </p:txBody>
      </p:sp>
      <p:sp>
        <p:nvSpPr>
          <p:cNvPr id="17" name="Text 15"/>
          <p:cNvSpPr/>
          <p:nvPr/>
        </p:nvSpPr>
        <p:spPr>
          <a:xfrm>
            <a:off x="9116568" y="1847088"/>
            <a:ext cx="1417320" cy="347472"/>
          </a:xfrm>
          <a:prstGeom prst="rect">
            <a:avLst/>
          </a:prstGeom>
          <a:noFill/>
          <a:ln/>
        </p:spPr>
        <p:txBody>
          <a:bodyPr wrap="square" lIns="0" tIns="0" rIns="0" bIns="0" rtlCol="0" anchor="ctr"/>
          <a:lstStyle/>
          <a:p>
            <a:pPr marL="0" indent="0">
              <a:buNone/>
            </a:pPr>
            <a:r>
              <a:rPr lang="en-US" sz="800" dirty="0">
                <a:solidFill>
                  <a:srgbClr val="5D7186"/>
                </a:solidFill>
                <a:latin typeface="Calibri" pitchFamily="34" charset="0"/>
                <a:ea typeface="Calibri" pitchFamily="34" charset="-122"/>
                <a:cs typeface="Calibri" pitchFamily="34" charset="-120"/>
              </a:rPr>
              <a:t>34–43 °C</a:t>
            </a:r>
            <a:endParaRPr lang="en-US" sz="800" dirty="0"/>
          </a:p>
        </p:txBody>
      </p:sp>
      <p:sp>
        <p:nvSpPr>
          <p:cNvPr id="18" name="Text 16"/>
          <p:cNvSpPr/>
          <p:nvPr/>
        </p:nvSpPr>
        <p:spPr>
          <a:xfrm>
            <a:off x="10579608" y="1847088"/>
            <a:ext cx="1344168" cy="347472"/>
          </a:xfrm>
          <a:prstGeom prst="rect">
            <a:avLst/>
          </a:prstGeom>
          <a:noFill/>
          <a:ln/>
        </p:spPr>
        <p:txBody>
          <a:bodyPr wrap="square" lIns="0" tIns="0" rIns="0" bIns="0" rtlCol="0" anchor="ctr"/>
          <a:lstStyle/>
          <a:p>
            <a:pPr marL="0" indent="0">
              <a:buNone/>
            </a:pPr>
            <a:r>
              <a:rPr lang="en-US" sz="800" dirty="0">
                <a:solidFill>
                  <a:srgbClr val="5D7186"/>
                </a:solidFill>
                <a:latin typeface="Calibri" pitchFamily="34" charset="0"/>
                <a:ea typeface="Calibri" pitchFamily="34" charset="-122"/>
                <a:cs typeface="Calibri" pitchFamily="34" charset="-120"/>
              </a:rPr>
              <a:t>LOINC 8310-5</a:t>
            </a:r>
            <a:endParaRPr lang="en-US" sz="800" dirty="0"/>
          </a:p>
        </p:txBody>
      </p:sp>
      <p:sp>
        <p:nvSpPr>
          <p:cNvPr id="19" name="Shape 17"/>
          <p:cNvSpPr/>
          <p:nvPr/>
        </p:nvSpPr>
        <p:spPr>
          <a:xfrm>
            <a:off x="566928" y="2249424"/>
            <a:ext cx="11064240" cy="347472"/>
          </a:xfrm>
          <a:prstGeom prst="roundRect">
            <a:avLst>
              <a:gd name="adj" fmla="val 23684"/>
            </a:avLst>
          </a:prstGeom>
          <a:solidFill>
            <a:srgbClr val="FFFFFF"/>
          </a:solidFill>
          <a:ln w="12700">
            <a:solidFill>
              <a:srgbClr val="FFFFFF"/>
            </a:solidFill>
            <a:prstDash val="solid"/>
          </a:ln>
        </p:spPr>
        <p:txBody>
          <a:bodyPr/>
          <a:lstStyle/>
          <a:p>
            <a:endParaRPr lang="de-CH"/>
          </a:p>
        </p:txBody>
      </p:sp>
      <p:sp>
        <p:nvSpPr>
          <p:cNvPr id="20" name="Text 18"/>
          <p:cNvSpPr/>
          <p:nvPr/>
        </p:nvSpPr>
        <p:spPr>
          <a:xfrm>
            <a:off x="585216" y="2249424"/>
            <a:ext cx="713232" cy="347472"/>
          </a:xfrm>
          <a:prstGeom prst="rect">
            <a:avLst/>
          </a:prstGeom>
          <a:noFill/>
          <a:ln/>
        </p:spPr>
        <p:txBody>
          <a:bodyPr wrap="square" lIns="0" tIns="0" rIns="0" bIns="0" rtlCol="0" anchor="ctr"/>
          <a:lstStyle/>
          <a:p>
            <a:pPr marL="0" indent="0">
              <a:buNone/>
            </a:pPr>
            <a:r>
              <a:rPr lang="en-US" sz="800" b="1" dirty="0">
                <a:solidFill>
                  <a:srgbClr val="12202E"/>
                </a:solidFill>
                <a:latin typeface="Calibri" pitchFamily="34" charset="0"/>
                <a:ea typeface="Calibri" pitchFamily="34" charset="-122"/>
                <a:cs typeface="Calibri" pitchFamily="34" charset="-120"/>
              </a:rPr>
              <a:t>DE-023</a:t>
            </a:r>
            <a:endParaRPr lang="en-US" sz="800" dirty="0"/>
          </a:p>
        </p:txBody>
      </p:sp>
      <p:sp>
        <p:nvSpPr>
          <p:cNvPr id="21" name="Text 19"/>
          <p:cNvSpPr/>
          <p:nvPr/>
        </p:nvSpPr>
        <p:spPr>
          <a:xfrm>
            <a:off x="1344168" y="2249424"/>
            <a:ext cx="2148840" cy="347472"/>
          </a:xfrm>
          <a:prstGeom prst="rect">
            <a:avLst/>
          </a:prstGeom>
          <a:noFill/>
          <a:ln/>
        </p:spPr>
        <p:txBody>
          <a:bodyPr wrap="square" lIns="0" tIns="0" rIns="0" bIns="0" rtlCol="0" anchor="ctr"/>
          <a:lstStyle/>
          <a:p>
            <a:pPr marL="0" indent="0">
              <a:buNone/>
            </a:pPr>
            <a:r>
              <a:rPr lang="en-US" sz="800" dirty="0">
                <a:solidFill>
                  <a:srgbClr val="12202E"/>
                </a:solidFill>
                <a:latin typeface="Calibri" pitchFamily="34" charset="0"/>
                <a:ea typeface="Calibri" pitchFamily="34" charset="-122"/>
                <a:cs typeface="Calibri" pitchFamily="34" charset="-120"/>
              </a:rPr>
              <a:t>Pain 0–10</a:t>
            </a:r>
            <a:endParaRPr lang="en-US" sz="800" dirty="0"/>
          </a:p>
        </p:txBody>
      </p:sp>
      <p:sp>
        <p:nvSpPr>
          <p:cNvPr id="22" name="Text 20"/>
          <p:cNvSpPr/>
          <p:nvPr/>
        </p:nvSpPr>
        <p:spPr>
          <a:xfrm>
            <a:off x="3538728" y="2249424"/>
            <a:ext cx="960120" cy="347472"/>
          </a:xfrm>
          <a:prstGeom prst="rect">
            <a:avLst/>
          </a:prstGeom>
          <a:noFill/>
          <a:ln/>
        </p:spPr>
        <p:txBody>
          <a:bodyPr wrap="square" lIns="0" tIns="0" rIns="0" bIns="0" rtlCol="0" anchor="ctr"/>
          <a:lstStyle/>
          <a:p>
            <a:pPr marL="0" indent="0">
              <a:buNone/>
            </a:pPr>
            <a:r>
              <a:rPr lang="en-US" sz="800" dirty="0">
                <a:solidFill>
                  <a:srgbClr val="12202E"/>
                </a:solidFill>
                <a:latin typeface="Calibri" pitchFamily="34" charset="0"/>
                <a:ea typeface="Calibri" pitchFamily="34" charset="-122"/>
                <a:cs typeface="Calibri" pitchFamily="34" charset="-120"/>
              </a:rPr>
              <a:t>integer</a:t>
            </a:r>
            <a:endParaRPr lang="en-US" sz="800" dirty="0"/>
          </a:p>
        </p:txBody>
      </p:sp>
      <p:sp>
        <p:nvSpPr>
          <p:cNvPr id="23" name="Text 21"/>
          <p:cNvSpPr/>
          <p:nvPr/>
        </p:nvSpPr>
        <p:spPr>
          <a:xfrm>
            <a:off x="4544568" y="2249424"/>
            <a:ext cx="2880360" cy="347472"/>
          </a:xfrm>
          <a:prstGeom prst="rect">
            <a:avLst/>
          </a:prstGeom>
          <a:noFill/>
          <a:ln/>
        </p:spPr>
        <p:txBody>
          <a:bodyPr wrap="square" lIns="0" tIns="0" rIns="0" bIns="0" rtlCol="0" anchor="ctr"/>
          <a:lstStyle/>
          <a:p>
            <a:pPr marL="0" indent="0">
              <a:buNone/>
            </a:pPr>
            <a:r>
              <a:rPr lang="en-US" sz="800" dirty="0">
                <a:solidFill>
                  <a:srgbClr val="12202E"/>
                </a:solidFill>
                <a:latin typeface="Calibri" pitchFamily="34" charset="0"/>
                <a:ea typeface="Calibri" pitchFamily="34" charset="-122"/>
                <a:cs typeface="Calibri" pitchFamily="34" charset="-120"/>
              </a:rPr>
              <a:t>NRS 0–10</a:t>
            </a:r>
            <a:endParaRPr lang="en-US" sz="800" dirty="0"/>
          </a:p>
        </p:txBody>
      </p:sp>
      <p:sp>
        <p:nvSpPr>
          <p:cNvPr id="24" name="Text 22"/>
          <p:cNvSpPr/>
          <p:nvPr/>
        </p:nvSpPr>
        <p:spPr>
          <a:xfrm>
            <a:off x="7470648" y="2249424"/>
            <a:ext cx="1600200" cy="347472"/>
          </a:xfrm>
          <a:prstGeom prst="rect">
            <a:avLst/>
          </a:prstGeom>
          <a:noFill/>
          <a:ln/>
        </p:spPr>
        <p:txBody>
          <a:bodyPr wrap="square" lIns="0" tIns="0" rIns="0" bIns="0" rtlCol="0" anchor="ctr"/>
          <a:lstStyle/>
          <a:p>
            <a:pPr marL="0" indent="0">
              <a:buNone/>
            </a:pPr>
            <a:r>
              <a:rPr lang="en-US" sz="800" dirty="0">
                <a:solidFill>
                  <a:srgbClr val="12202E"/>
                </a:solidFill>
                <a:latin typeface="Calibri" pitchFamily="34" charset="0"/>
                <a:ea typeface="Calibri" pitchFamily="34" charset="-122"/>
                <a:cs typeface="Calibri" pitchFamily="34" charset="-120"/>
              </a:rPr>
              <a:t>—</a:t>
            </a:r>
            <a:endParaRPr lang="en-US" sz="800" dirty="0"/>
          </a:p>
        </p:txBody>
      </p:sp>
      <p:sp>
        <p:nvSpPr>
          <p:cNvPr id="25" name="Text 23"/>
          <p:cNvSpPr/>
          <p:nvPr/>
        </p:nvSpPr>
        <p:spPr>
          <a:xfrm>
            <a:off x="9116568" y="2249424"/>
            <a:ext cx="1417320" cy="347472"/>
          </a:xfrm>
          <a:prstGeom prst="rect">
            <a:avLst/>
          </a:prstGeom>
          <a:noFill/>
          <a:ln/>
        </p:spPr>
        <p:txBody>
          <a:bodyPr wrap="square" lIns="0" tIns="0" rIns="0" bIns="0" rtlCol="0" anchor="ctr"/>
          <a:lstStyle/>
          <a:p>
            <a:pPr marL="0" indent="0">
              <a:buNone/>
            </a:pPr>
            <a:r>
              <a:rPr lang="en-US" sz="800" dirty="0">
                <a:solidFill>
                  <a:srgbClr val="5D7186"/>
                </a:solidFill>
                <a:latin typeface="Calibri" pitchFamily="34" charset="0"/>
                <a:ea typeface="Calibri" pitchFamily="34" charset="-122"/>
                <a:cs typeface="Calibri" pitchFamily="34" charset="-120"/>
              </a:rPr>
              <a:t>0–10</a:t>
            </a:r>
            <a:endParaRPr lang="en-US" sz="800" dirty="0"/>
          </a:p>
        </p:txBody>
      </p:sp>
      <p:sp>
        <p:nvSpPr>
          <p:cNvPr id="26" name="Text 24"/>
          <p:cNvSpPr/>
          <p:nvPr/>
        </p:nvSpPr>
        <p:spPr>
          <a:xfrm>
            <a:off x="10579608" y="2249424"/>
            <a:ext cx="1344168" cy="347472"/>
          </a:xfrm>
          <a:prstGeom prst="rect">
            <a:avLst/>
          </a:prstGeom>
          <a:noFill/>
          <a:ln/>
        </p:spPr>
        <p:txBody>
          <a:bodyPr wrap="square" lIns="0" tIns="0" rIns="0" bIns="0" rtlCol="0" anchor="ctr"/>
          <a:lstStyle/>
          <a:p>
            <a:pPr marL="0" indent="0">
              <a:buNone/>
            </a:pPr>
            <a:r>
              <a:rPr lang="en-US" sz="800" dirty="0">
                <a:solidFill>
                  <a:srgbClr val="5D7186"/>
                </a:solidFill>
                <a:latin typeface="Calibri" pitchFamily="34" charset="0"/>
                <a:ea typeface="Calibri" pitchFamily="34" charset="-122"/>
                <a:cs typeface="Calibri" pitchFamily="34" charset="-120"/>
              </a:rPr>
              <a:t>LOINC 72514-3</a:t>
            </a:r>
            <a:endParaRPr lang="en-US" sz="800" dirty="0"/>
          </a:p>
        </p:txBody>
      </p:sp>
      <p:sp>
        <p:nvSpPr>
          <p:cNvPr id="27" name="Shape 25"/>
          <p:cNvSpPr/>
          <p:nvPr/>
        </p:nvSpPr>
        <p:spPr>
          <a:xfrm>
            <a:off x="566928" y="2651760"/>
            <a:ext cx="11064240" cy="347472"/>
          </a:xfrm>
          <a:prstGeom prst="roundRect">
            <a:avLst>
              <a:gd name="adj" fmla="val 23684"/>
            </a:avLst>
          </a:prstGeom>
          <a:solidFill>
            <a:srgbClr val="F5F7FA"/>
          </a:solidFill>
          <a:ln w="12700">
            <a:solidFill>
              <a:srgbClr val="DDE5EE"/>
            </a:solidFill>
            <a:prstDash val="solid"/>
          </a:ln>
        </p:spPr>
        <p:txBody>
          <a:bodyPr/>
          <a:lstStyle/>
          <a:p>
            <a:endParaRPr lang="de-CH"/>
          </a:p>
        </p:txBody>
      </p:sp>
      <p:sp>
        <p:nvSpPr>
          <p:cNvPr id="28" name="Text 26"/>
          <p:cNvSpPr/>
          <p:nvPr/>
        </p:nvSpPr>
        <p:spPr>
          <a:xfrm>
            <a:off x="585216" y="2651760"/>
            <a:ext cx="713232" cy="347472"/>
          </a:xfrm>
          <a:prstGeom prst="rect">
            <a:avLst/>
          </a:prstGeom>
          <a:noFill/>
          <a:ln/>
        </p:spPr>
        <p:txBody>
          <a:bodyPr wrap="square" lIns="0" tIns="0" rIns="0" bIns="0" rtlCol="0" anchor="ctr"/>
          <a:lstStyle/>
          <a:p>
            <a:pPr marL="0" indent="0">
              <a:buNone/>
            </a:pPr>
            <a:r>
              <a:rPr lang="en-US" sz="800" b="1" dirty="0">
                <a:solidFill>
                  <a:srgbClr val="12202E"/>
                </a:solidFill>
                <a:latin typeface="Calibri" pitchFamily="34" charset="0"/>
                <a:ea typeface="Calibri" pitchFamily="34" charset="-122"/>
                <a:cs typeface="Calibri" pitchFamily="34" charset="-120"/>
              </a:rPr>
              <a:t>DE-026</a:t>
            </a:r>
            <a:endParaRPr lang="en-US" sz="800" dirty="0"/>
          </a:p>
        </p:txBody>
      </p:sp>
      <p:sp>
        <p:nvSpPr>
          <p:cNvPr id="29" name="Text 27"/>
          <p:cNvSpPr/>
          <p:nvPr/>
        </p:nvSpPr>
        <p:spPr>
          <a:xfrm>
            <a:off x="1344168" y="2651760"/>
            <a:ext cx="2148840" cy="347472"/>
          </a:xfrm>
          <a:prstGeom prst="rect">
            <a:avLst/>
          </a:prstGeom>
          <a:noFill/>
          <a:ln/>
        </p:spPr>
        <p:txBody>
          <a:bodyPr wrap="square" lIns="0" tIns="0" rIns="0" bIns="0" rtlCol="0" anchor="ctr"/>
          <a:lstStyle/>
          <a:p>
            <a:pPr marL="0" indent="0">
              <a:buNone/>
            </a:pPr>
            <a:r>
              <a:rPr lang="en-US" sz="800" dirty="0">
                <a:solidFill>
                  <a:srgbClr val="12202E"/>
                </a:solidFill>
                <a:latin typeface="Calibri" pitchFamily="34" charset="0"/>
                <a:ea typeface="Calibri" pitchFamily="34" charset="-122"/>
                <a:cs typeface="Calibri" pitchFamily="34" charset="-120"/>
              </a:rPr>
              <a:t>How do you feel overall?</a:t>
            </a:r>
            <a:endParaRPr lang="en-US" sz="800" dirty="0"/>
          </a:p>
        </p:txBody>
      </p:sp>
      <p:sp>
        <p:nvSpPr>
          <p:cNvPr id="30" name="Text 28"/>
          <p:cNvSpPr/>
          <p:nvPr/>
        </p:nvSpPr>
        <p:spPr>
          <a:xfrm>
            <a:off x="3538728" y="2651760"/>
            <a:ext cx="960120" cy="347472"/>
          </a:xfrm>
          <a:prstGeom prst="rect">
            <a:avLst/>
          </a:prstGeom>
          <a:noFill/>
          <a:ln/>
        </p:spPr>
        <p:txBody>
          <a:bodyPr wrap="square" lIns="0" tIns="0" rIns="0" bIns="0" rtlCol="0" anchor="ctr"/>
          <a:lstStyle/>
          <a:p>
            <a:pPr marL="0" indent="0">
              <a:buNone/>
            </a:pPr>
            <a:r>
              <a:rPr lang="en-US" sz="800" dirty="0">
                <a:solidFill>
                  <a:srgbClr val="12202E"/>
                </a:solidFill>
                <a:latin typeface="Calibri" pitchFamily="34" charset="0"/>
                <a:ea typeface="Calibri" pitchFamily="34" charset="-122"/>
                <a:cs typeface="Calibri" pitchFamily="34" charset="-120"/>
              </a:rPr>
              <a:t>select_one</a:t>
            </a:r>
            <a:endParaRPr lang="en-US" sz="800" dirty="0"/>
          </a:p>
        </p:txBody>
      </p:sp>
      <p:sp>
        <p:nvSpPr>
          <p:cNvPr id="31" name="Text 29"/>
          <p:cNvSpPr/>
          <p:nvPr/>
        </p:nvSpPr>
        <p:spPr>
          <a:xfrm>
            <a:off x="4544568" y="2651760"/>
            <a:ext cx="2880360" cy="347472"/>
          </a:xfrm>
          <a:prstGeom prst="rect">
            <a:avLst/>
          </a:prstGeom>
          <a:noFill/>
          <a:ln/>
        </p:spPr>
        <p:txBody>
          <a:bodyPr wrap="square" lIns="0" tIns="0" rIns="0" bIns="0" rtlCol="0" anchor="ctr"/>
          <a:lstStyle/>
          <a:p>
            <a:pPr marL="0" indent="0">
              <a:buNone/>
            </a:pPr>
            <a:r>
              <a:rPr lang="en-US" sz="800" dirty="0">
                <a:solidFill>
                  <a:srgbClr val="12202E"/>
                </a:solidFill>
                <a:latin typeface="Calibri" pitchFamily="34" charset="0"/>
                <a:ea typeface="Calibri" pitchFamily="34" charset="-122"/>
                <a:cs typeface="Calibri" pitchFamily="34" charset="-120"/>
              </a:rPr>
              <a:t>0 = well · 1 = tired · 2 = really unwell</a:t>
            </a:r>
            <a:endParaRPr lang="en-US" sz="800" dirty="0"/>
          </a:p>
        </p:txBody>
      </p:sp>
      <p:sp>
        <p:nvSpPr>
          <p:cNvPr id="32" name="Text 30"/>
          <p:cNvSpPr/>
          <p:nvPr/>
        </p:nvSpPr>
        <p:spPr>
          <a:xfrm>
            <a:off x="7470648" y="2651760"/>
            <a:ext cx="1600200" cy="347472"/>
          </a:xfrm>
          <a:prstGeom prst="rect">
            <a:avLst/>
          </a:prstGeom>
          <a:noFill/>
          <a:ln/>
        </p:spPr>
        <p:txBody>
          <a:bodyPr wrap="square" lIns="0" tIns="0" rIns="0" bIns="0" rtlCol="0" anchor="ctr"/>
          <a:lstStyle/>
          <a:p>
            <a:pPr marL="0" indent="0">
              <a:buNone/>
            </a:pPr>
            <a:r>
              <a:rPr lang="en-US" sz="800" dirty="0">
                <a:solidFill>
                  <a:srgbClr val="12202E"/>
                </a:solidFill>
                <a:latin typeface="Calibri" pitchFamily="34" charset="0"/>
                <a:ea typeface="Calibri" pitchFamily="34" charset="-122"/>
                <a:cs typeface="Calibri" pitchFamily="34" charset="-120"/>
              </a:rPr>
              <a:t>—</a:t>
            </a:r>
            <a:endParaRPr lang="en-US" sz="800" dirty="0"/>
          </a:p>
        </p:txBody>
      </p:sp>
      <p:sp>
        <p:nvSpPr>
          <p:cNvPr id="33" name="Text 31"/>
          <p:cNvSpPr/>
          <p:nvPr/>
        </p:nvSpPr>
        <p:spPr>
          <a:xfrm>
            <a:off x="9116568" y="2651760"/>
            <a:ext cx="1417320" cy="347472"/>
          </a:xfrm>
          <a:prstGeom prst="rect">
            <a:avLst/>
          </a:prstGeom>
          <a:noFill/>
          <a:ln/>
        </p:spPr>
        <p:txBody>
          <a:bodyPr wrap="square" lIns="0" tIns="0" rIns="0" bIns="0" rtlCol="0" anchor="ctr"/>
          <a:lstStyle/>
          <a:p>
            <a:pPr marL="0" indent="0">
              <a:buNone/>
            </a:pPr>
            <a:r>
              <a:rPr lang="en-US" sz="800" dirty="0">
                <a:solidFill>
                  <a:srgbClr val="5D7186"/>
                </a:solidFill>
                <a:latin typeface="Calibri" pitchFamily="34" charset="0"/>
                <a:ea typeface="Calibri" pitchFamily="34" charset="-122"/>
                <a:cs typeface="Calibri" pitchFamily="34" charset="-120"/>
              </a:rPr>
              <a:t>—</a:t>
            </a:r>
            <a:endParaRPr lang="en-US" sz="800" dirty="0"/>
          </a:p>
        </p:txBody>
      </p:sp>
      <p:sp>
        <p:nvSpPr>
          <p:cNvPr id="34" name="Text 32"/>
          <p:cNvSpPr/>
          <p:nvPr/>
        </p:nvSpPr>
        <p:spPr>
          <a:xfrm>
            <a:off x="10579608" y="2651760"/>
            <a:ext cx="1344168" cy="347472"/>
          </a:xfrm>
          <a:prstGeom prst="rect">
            <a:avLst/>
          </a:prstGeom>
          <a:noFill/>
          <a:ln/>
        </p:spPr>
        <p:txBody>
          <a:bodyPr wrap="square" lIns="0" tIns="0" rIns="0" bIns="0" rtlCol="0" anchor="ctr"/>
          <a:lstStyle/>
          <a:p>
            <a:pPr marL="0" indent="0">
              <a:buNone/>
            </a:pPr>
            <a:r>
              <a:rPr lang="en-US" sz="800" dirty="0">
                <a:solidFill>
                  <a:srgbClr val="5D7186"/>
                </a:solidFill>
                <a:latin typeface="Calibri" pitchFamily="34" charset="0"/>
                <a:ea typeface="Calibri" pitchFamily="34" charset="-122"/>
                <a:cs typeface="Calibri" pitchFamily="34" charset="-120"/>
              </a:rPr>
              <a:t>SNOMED 386661006</a:t>
            </a:r>
            <a:endParaRPr lang="en-US" sz="800" dirty="0"/>
          </a:p>
        </p:txBody>
      </p:sp>
      <p:sp>
        <p:nvSpPr>
          <p:cNvPr id="35" name="Shape 33"/>
          <p:cNvSpPr/>
          <p:nvPr/>
        </p:nvSpPr>
        <p:spPr>
          <a:xfrm>
            <a:off x="566928" y="3054096"/>
            <a:ext cx="11064240" cy="347472"/>
          </a:xfrm>
          <a:prstGeom prst="roundRect">
            <a:avLst>
              <a:gd name="adj" fmla="val 23684"/>
            </a:avLst>
          </a:prstGeom>
          <a:solidFill>
            <a:srgbClr val="FFFFFF"/>
          </a:solidFill>
          <a:ln w="12700">
            <a:solidFill>
              <a:srgbClr val="FFFFFF"/>
            </a:solidFill>
            <a:prstDash val="solid"/>
          </a:ln>
        </p:spPr>
        <p:txBody>
          <a:bodyPr/>
          <a:lstStyle/>
          <a:p>
            <a:endParaRPr lang="de-CH"/>
          </a:p>
        </p:txBody>
      </p:sp>
      <p:sp>
        <p:nvSpPr>
          <p:cNvPr id="36" name="Text 34"/>
          <p:cNvSpPr/>
          <p:nvPr/>
        </p:nvSpPr>
        <p:spPr>
          <a:xfrm>
            <a:off x="585216" y="3054096"/>
            <a:ext cx="713232" cy="347472"/>
          </a:xfrm>
          <a:prstGeom prst="rect">
            <a:avLst/>
          </a:prstGeom>
          <a:noFill/>
          <a:ln/>
        </p:spPr>
        <p:txBody>
          <a:bodyPr wrap="square" lIns="0" tIns="0" rIns="0" bIns="0" rtlCol="0" anchor="ctr"/>
          <a:lstStyle/>
          <a:p>
            <a:pPr marL="0" indent="0">
              <a:buNone/>
            </a:pPr>
            <a:r>
              <a:rPr lang="en-US" sz="800" b="1" dirty="0">
                <a:solidFill>
                  <a:srgbClr val="12202E"/>
                </a:solidFill>
                <a:latin typeface="Calibri" pitchFamily="34" charset="0"/>
                <a:ea typeface="Calibri" pitchFamily="34" charset="-122"/>
                <a:cs typeface="Calibri" pitchFamily="34" charset="-120"/>
              </a:rPr>
              <a:t>DE-030</a:t>
            </a:r>
            <a:endParaRPr lang="en-US" sz="800" dirty="0"/>
          </a:p>
        </p:txBody>
      </p:sp>
      <p:sp>
        <p:nvSpPr>
          <p:cNvPr id="37" name="Text 35"/>
          <p:cNvSpPr/>
          <p:nvPr/>
        </p:nvSpPr>
        <p:spPr>
          <a:xfrm>
            <a:off x="1344168" y="3054096"/>
            <a:ext cx="2148840" cy="347472"/>
          </a:xfrm>
          <a:prstGeom prst="rect">
            <a:avLst/>
          </a:prstGeom>
          <a:noFill/>
          <a:ln/>
        </p:spPr>
        <p:txBody>
          <a:bodyPr wrap="square" lIns="0" tIns="0" rIns="0" bIns="0" rtlCol="0" anchor="ctr"/>
          <a:lstStyle/>
          <a:p>
            <a:pPr marL="0" indent="0">
              <a:buNone/>
            </a:pPr>
            <a:r>
              <a:rPr lang="en-US" sz="800" dirty="0">
                <a:solidFill>
                  <a:srgbClr val="12202E"/>
                </a:solidFill>
                <a:latin typeface="Calibri" pitchFamily="34" charset="0"/>
                <a:ea typeface="Calibri" pitchFamily="34" charset="-122"/>
                <a:cs typeface="Calibri" pitchFamily="34" charset="-120"/>
              </a:rPr>
              <a:t>Which picture matches your wound?</a:t>
            </a:r>
            <a:endParaRPr lang="en-US" sz="800" dirty="0"/>
          </a:p>
        </p:txBody>
      </p:sp>
      <p:sp>
        <p:nvSpPr>
          <p:cNvPr id="38" name="Text 36"/>
          <p:cNvSpPr/>
          <p:nvPr/>
        </p:nvSpPr>
        <p:spPr>
          <a:xfrm>
            <a:off x="3538728" y="3054096"/>
            <a:ext cx="960120" cy="347472"/>
          </a:xfrm>
          <a:prstGeom prst="rect">
            <a:avLst/>
          </a:prstGeom>
          <a:noFill/>
          <a:ln/>
        </p:spPr>
        <p:txBody>
          <a:bodyPr wrap="square" lIns="0" tIns="0" rIns="0" bIns="0" rtlCol="0" anchor="ctr"/>
          <a:lstStyle/>
          <a:p>
            <a:pPr marL="0" indent="0">
              <a:buNone/>
            </a:pPr>
            <a:r>
              <a:rPr lang="en-US" sz="800" dirty="0">
                <a:solidFill>
                  <a:srgbClr val="12202E"/>
                </a:solidFill>
                <a:latin typeface="Calibri" pitchFamily="34" charset="0"/>
                <a:ea typeface="Calibri" pitchFamily="34" charset="-122"/>
                <a:cs typeface="Calibri" pitchFamily="34" charset="-120"/>
              </a:rPr>
              <a:t>select_one</a:t>
            </a:r>
            <a:endParaRPr lang="en-US" sz="800" dirty="0"/>
          </a:p>
        </p:txBody>
      </p:sp>
      <p:sp>
        <p:nvSpPr>
          <p:cNvPr id="39" name="Text 37"/>
          <p:cNvSpPr/>
          <p:nvPr/>
        </p:nvSpPr>
        <p:spPr>
          <a:xfrm>
            <a:off x="4544568" y="3054096"/>
            <a:ext cx="2880360" cy="347472"/>
          </a:xfrm>
          <a:prstGeom prst="rect">
            <a:avLst/>
          </a:prstGeom>
          <a:noFill/>
          <a:ln/>
        </p:spPr>
        <p:txBody>
          <a:bodyPr wrap="square" lIns="0" tIns="0" rIns="0" bIns="0" rtlCol="0" anchor="ctr"/>
          <a:lstStyle/>
          <a:p>
            <a:pPr marL="0" indent="0">
              <a:buNone/>
            </a:pPr>
            <a:r>
              <a:rPr lang="en-US" sz="800" dirty="0">
                <a:solidFill>
                  <a:srgbClr val="12202E"/>
                </a:solidFill>
                <a:latin typeface="Calibri" pitchFamily="34" charset="0"/>
                <a:ea typeface="Calibri" pitchFamily="34" charset="-122"/>
                <a:cs typeface="Calibri" pitchFamily="34" charset="-120"/>
              </a:rPr>
              <a:t>1 = calm &amp; dry · 2 = slightly red · 3 = markedly red &amp; swollen · 4 = open / pus</a:t>
            </a:r>
            <a:endParaRPr lang="en-US" sz="800" dirty="0"/>
          </a:p>
        </p:txBody>
      </p:sp>
      <p:sp>
        <p:nvSpPr>
          <p:cNvPr id="40" name="Text 38"/>
          <p:cNvSpPr/>
          <p:nvPr/>
        </p:nvSpPr>
        <p:spPr>
          <a:xfrm>
            <a:off x="7470648" y="3054096"/>
            <a:ext cx="1600200" cy="347472"/>
          </a:xfrm>
          <a:prstGeom prst="rect">
            <a:avLst/>
          </a:prstGeom>
          <a:noFill/>
          <a:ln/>
        </p:spPr>
        <p:txBody>
          <a:bodyPr wrap="square" lIns="0" tIns="0" rIns="0" bIns="0" rtlCol="0" anchor="ctr"/>
          <a:lstStyle/>
          <a:p>
            <a:pPr marL="0" indent="0">
              <a:buNone/>
            </a:pPr>
            <a:r>
              <a:rPr lang="en-US" sz="800" dirty="0">
                <a:solidFill>
                  <a:srgbClr val="12202E"/>
                </a:solidFill>
                <a:latin typeface="Calibri" pitchFamily="34" charset="0"/>
                <a:ea typeface="Calibri" pitchFamily="34" charset="-122"/>
                <a:cs typeface="Calibri" pitchFamily="34" charset="-120"/>
              </a:rPr>
              <a:t>—</a:t>
            </a:r>
            <a:endParaRPr lang="en-US" sz="800" dirty="0"/>
          </a:p>
        </p:txBody>
      </p:sp>
      <p:sp>
        <p:nvSpPr>
          <p:cNvPr id="41" name="Text 39"/>
          <p:cNvSpPr/>
          <p:nvPr/>
        </p:nvSpPr>
        <p:spPr>
          <a:xfrm>
            <a:off x="9116568" y="3054096"/>
            <a:ext cx="1417320" cy="347472"/>
          </a:xfrm>
          <a:prstGeom prst="rect">
            <a:avLst/>
          </a:prstGeom>
          <a:noFill/>
          <a:ln/>
        </p:spPr>
        <p:txBody>
          <a:bodyPr wrap="square" lIns="0" tIns="0" rIns="0" bIns="0" rtlCol="0" anchor="ctr"/>
          <a:lstStyle/>
          <a:p>
            <a:pPr marL="0" indent="0">
              <a:buNone/>
            </a:pPr>
            <a:r>
              <a:rPr lang="en-US" sz="800" dirty="0">
                <a:solidFill>
                  <a:srgbClr val="5D7186"/>
                </a:solidFill>
                <a:latin typeface="Calibri" pitchFamily="34" charset="0"/>
                <a:ea typeface="Calibri" pitchFamily="34" charset="-122"/>
                <a:cs typeface="Calibri" pitchFamily="34" charset="-120"/>
              </a:rPr>
              <a:t>—</a:t>
            </a:r>
            <a:endParaRPr lang="en-US" sz="800" dirty="0"/>
          </a:p>
        </p:txBody>
      </p:sp>
      <p:sp>
        <p:nvSpPr>
          <p:cNvPr id="42" name="Text 40"/>
          <p:cNvSpPr/>
          <p:nvPr/>
        </p:nvSpPr>
        <p:spPr>
          <a:xfrm>
            <a:off x="10579608" y="3054096"/>
            <a:ext cx="1344168" cy="347472"/>
          </a:xfrm>
          <a:prstGeom prst="rect">
            <a:avLst/>
          </a:prstGeom>
          <a:noFill/>
          <a:ln/>
        </p:spPr>
        <p:txBody>
          <a:bodyPr wrap="square" lIns="0" tIns="0" rIns="0" bIns="0" rtlCol="0" anchor="ctr"/>
          <a:lstStyle/>
          <a:p>
            <a:pPr marL="0" indent="0">
              <a:buNone/>
            </a:pPr>
            <a:r>
              <a:rPr lang="en-US" sz="800" dirty="0">
                <a:solidFill>
                  <a:srgbClr val="5D7186"/>
                </a:solidFill>
                <a:latin typeface="Calibri" pitchFamily="34" charset="0"/>
                <a:ea typeface="Calibri" pitchFamily="34" charset="-122"/>
                <a:cs typeface="Calibri" pitchFamily="34" charset="-120"/>
              </a:rPr>
              <a:t>SNOMED 225552003</a:t>
            </a:r>
            <a:endParaRPr lang="en-US" sz="800" dirty="0"/>
          </a:p>
        </p:txBody>
      </p:sp>
      <p:sp>
        <p:nvSpPr>
          <p:cNvPr id="43" name="Shape 41"/>
          <p:cNvSpPr/>
          <p:nvPr/>
        </p:nvSpPr>
        <p:spPr>
          <a:xfrm>
            <a:off x="566928" y="3456432"/>
            <a:ext cx="11064240" cy="347472"/>
          </a:xfrm>
          <a:prstGeom prst="roundRect">
            <a:avLst>
              <a:gd name="adj" fmla="val 23684"/>
            </a:avLst>
          </a:prstGeom>
          <a:solidFill>
            <a:srgbClr val="F5F7FA"/>
          </a:solidFill>
          <a:ln w="12700">
            <a:solidFill>
              <a:srgbClr val="DDE5EE"/>
            </a:solidFill>
            <a:prstDash val="solid"/>
          </a:ln>
        </p:spPr>
        <p:txBody>
          <a:bodyPr/>
          <a:lstStyle/>
          <a:p>
            <a:endParaRPr lang="de-CH"/>
          </a:p>
        </p:txBody>
      </p:sp>
      <p:sp>
        <p:nvSpPr>
          <p:cNvPr id="44" name="Text 42"/>
          <p:cNvSpPr/>
          <p:nvPr/>
        </p:nvSpPr>
        <p:spPr>
          <a:xfrm>
            <a:off x="585216" y="3456432"/>
            <a:ext cx="713232" cy="347472"/>
          </a:xfrm>
          <a:prstGeom prst="rect">
            <a:avLst/>
          </a:prstGeom>
          <a:noFill/>
          <a:ln/>
        </p:spPr>
        <p:txBody>
          <a:bodyPr wrap="square" lIns="0" tIns="0" rIns="0" bIns="0" rtlCol="0" anchor="ctr"/>
          <a:lstStyle/>
          <a:p>
            <a:pPr marL="0" indent="0">
              <a:buNone/>
            </a:pPr>
            <a:r>
              <a:rPr lang="en-US" sz="800" b="1" dirty="0">
                <a:solidFill>
                  <a:srgbClr val="12202E"/>
                </a:solidFill>
                <a:latin typeface="Calibri" pitchFamily="34" charset="0"/>
                <a:ea typeface="Calibri" pitchFamily="34" charset="-122"/>
                <a:cs typeface="Calibri" pitchFamily="34" charset="-120"/>
              </a:rPr>
              <a:t>DE-032</a:t>
            </a:r>
            <a:endParaRPr lang="en-US" sz="800" dirty="0"/>
          </a:p>
        </p:txBody>
      </p:sp>
      <p:sp>
        <p:nvSpPr>
          <p:cNvPr id="45" name="Text 43"/>
          <p:cNvSpPr/>
          <p:nvPr/>
        </p:nvSpPr>
        <p:spPr>
          <a:xfrm>
            <a:off x="1344168" y="3456432"/>
            <a:ext cx="2148840" cy="347472"/>
          </a:xfrm>
          <a:prstGeom prst="rect">
            <a:avLst/>
          </a:prstGeom>
          <a:noFill/>
          <a:ln/>
        </p:spPr>
        <p:txBody>
          <a:bodyPr wrap="square" lIns="0" tIns="0" rIns="0" bIns="0" rtlCol="0" anchor="ctr"/>
          <a:lstStyle/>
          <a:p>
            <a:pPr marL="0" indent="0">
              <a:buNone/>
            </a:pPr>
            <a:r>
              <a:rPr lang="en-US" sz="800" dirty="0">
                <a:solidFill>
                  <a:srgbClr val="12202E"/>
                </a:solidFill>
                <a:latin typeface="Calibri" pitchFamily="34" charset="0"/>
                <a:ea typeface="Calibri" pitchFamily="34" charset="-122"/>
                <a:cs typeface="Calibri" pitchFamily="34" charset="-120"/>
              </a:rPr>
              <a:t>Does a red streak run away?</a:t>
            </a:r>
            <a:endParaRPr lang="en-US" sz="800" dirty="0"/>
          </a:p>
        </p:txBody>
      </p:sp>
      <p:sp>
        <p:nvSpPr>
          <p:cNvPr id="46" name="Text 44"/>
          <p:cNvSpPr/>
          <p:nvPr/>
        </p:nvSpPr>
        <p:spPr>
          <a:xfrm>
            <a:off x="3538728" y="3456432"/>
            <a:ext cx="960120" cy="347472"/>
          </a:xfrm>
          <a:prstGeom prst="rect">
            <a:avLst/>
          </a:prstGeom>
          <a:noFill/>
          <a:ln/>
        </p:spPr>
        <p:txBody>
          <a:bodyPr wrap="square" lIns="0" tIns="0" rIns="0" bIns="0" rtlCol="0" anchor="ctr"/>
          <a:lstStyle/>
          <a:p>
            <a:pPr marL="0" indent="0">
              <a:buNone/>
            </a:pPr>
            <a:r>
              <a:rPr lang="en-US" sz="800" dirty="0">
                <a:solidFill>
                  <a:srgbClr val="12202E"/>
                </a:solidFill>
                <a:latin typeface="Calibri" pitchFamily="34" charset="0"/>
                <a:ea typeface="Calibri" pitchFamily="34" charset="-122"/>
                <a:cs typeface="Calibri" pitchFamily="34" charset="-120"/>
              </a:rPr>
              <a:t>select_one</a:t>
            </a:r>
            <a:endParaRPr lang="en-US" sz="800" dirty="0"/>
          </a:p>
        </p:txBody>
      </p:sp>
      <p:sp>
        <p:nvSpPr>
          <p:cNvPr id="47" name="Text 45"/>
          <p:cNvSpPr/>
          <p:nvPr/>
        </p:nvSpPr>
        <p:spPr>
          <a:xfrm>
            <a:off x="4544568" y="3456432"/>
            <a:ext cx="2880360" cy="347472"/>
          </a:xfrm>
          <a:prstGeom prst="rect">
            <a:avLst/>
          </a:prstGeom>
          <a:noFill/>
          <a:ln/>
        </p:spPr>
        <p:txBody>
          <a:bodyPr wrap="square" lIns="0" tIns="0" rIns="0" bIns="0" rtlCol="0" anchor="ctr"/>
          <a:lstStyle/>
          <a:p>
            <a:pPr marL="0" indent="0">
              <a:buNone/>
            </a:pPr>
            <a:r>
              <a:rPr lang="en-US" sz="800" dirty="0">
                <a:solidFill>
                  <a:srgbClr val="12202E"/>
                </a:solidFill>
                <a:latin typeface="Calibri" pitchFamily="34" charset="0"/>
                <a:ea typeface="Calibri" pitchFamily="34" charset="-122"/>
                <a:cs typeface="Calibri" pitchFamily="34" charset="-120"/>
              </a:rPr>
              <a:t>1 = yes · 0 = no</a:t>
            </a:r>
            <a:endParaRPr lang="en-US" sz="800" dirty="0"/>
          </a:p>
        </p:txBody>
      </p:sp>
      <p:sp>
        <p:nvSpPr>
          <p:cNvPr id="48" name="Text 46"/>
          <p:cNvSpPr/>
          <p:nvPr/>
        </p:nvSpPr>
        <p:spPr>
          <a:xfrm>
            <a:off x="7470648" y="3456432"/>
            <a:ext cx="1600200" cy="347472"/>
          </a:xfrm>
          <a:prstGeom prst="rect">
            <a:avLst/>
          </a:prstGeom>
          <a:noFill/>
          <a:ln/>
        </p:spPr>
        <p:txBody>
          <a:bodyPr wrap="square" lIns="0" tIns="0" rIns="0" bIns="0" rtlCol="0" anchor="ctr"/>
          <a:lstStyle/>
          <a:p>
            <a:pPr marL="0" indent="0">
              <a:buNone/>
            </a:pPr>
            <a:r>
              <a:rPr lang="en-US" sz="800" dirty="0">
                <a:solidFill>
                  <a:srgbClr val="12202E"/>
                </a:solidFill>
                <a:latin typeface="Calibri" pitchFamily="34" charset="0"/>
                <a:ea typeface="Calibri" pitchFamily="34" charset="-122"/>
                <a:cs typeface="Calibri" pitchFamily="34" charset="-120"/>
              </a:rPr>
              <a:t>none — deliberately ungated (B-03)</a:t>
            </a:r>
            <a:endParaRPr lang="en-US" sz="800" dirty="0"/>
          </a:p>
        </p:txBody>
      </p:sp>
      <p:sp>
        <p:nvSpPr>
          <p:cNvPr id="49" name="Text 47"/>
          <p:cNvSpPr/>
          <p:nvPr/>
        </p:nvSpPr>
        <p:spPr>
          <a:xfrm>
            <a:off x="9116568" y="3456432"/>
            <a:ext cx="1417320" cy="347472"/>
          </a:xfrm>
          <a:prstGeom prst="rect">
            <a:avLst/>
          </a:prstGeom>
          <a:noFill/>
          <a:ln/>
        </p:spPr>
        <p:txBody>
          <a:bodyPr wrap="square" lIns="0" tIns="0" rIns="0" bIns="0" rtlCol="0" anchor="ctr"/>
          <a:lstStyle/>
          <a:p>
            <a:pPr marL="0" indent="0">
              <a:buNone/>
            </a:pPr>
            <a:r>
              <a:rPr lang="en-US" sz="800" dirty="0">
                <a:solidFill>
                  <a:srgbClr val="5D7186"/>
                </a:solidFill>
                <a:latin typeface="Calibri" pitchFamily="34" charset="0"/>
                <a:ea typeface="Calibri" pitchFamily="34" charset="-122"/>
                <a:cs typeface="Calibri" pitchFamily="34" charset="-120"/>
              </a:rPr>
              <a:t>—</a:t>
            </a:r>
            <a:endParaRPr lang="en-US" sz="800" dirty="0"/>
          </a:p>
        </p:txBody>
      </p:sp>
      <p:sp>
        <p:nvSpPr>
          <p:cNvPr id="50" name="Text 48"/>
          <p:cNvSpPr/>
          <p:nvPr/>
        </p:nvSpPr>
        <p:spPr>
          <a:xfrm>
            <a:off x="10579608" y="3456432"/>
            <a:ext cx="1344168" cy="347472"/>
          </a:xfrm>
          <a:prstGeom prst="rect">
            <a:avLst/>
          </a:prstGeom>
          <a:noFill/>
          <a:ln/>
        </p:spPr>
        <p:txBody>
          <a:bodyPr wrap="square" lIns="0" tIns="0" rIns="0" bIns="0" rtlCol="0" anchor="ctr"/>
          <a:lstStyle/>
          <a:p>
            <a:pPr marL="0" indent="0">
              <a:buNone/>
            </a:pPr>
            <a:r>
              <a:rPr lang="en-US" sz="800" dirty="0">
                <a:solidFill>
                  <a:srgbClr val="5D7186"/>
                </a:solidFill>
                <a:latin typeface="Calibri" pitchFamily="34" charset="0"/>
                <a:ea typeface="Calibri" pitchFamily="34" charset="-122"/>
                <a:cs typeface="Calibri" pitchFamily="34" charset="-120"/>
              </a:rPr>
              <a:t>SNOMED 46117009</a:t>
            </a:r>
            <a:endParaRPr lang="en-US" sz="800" dirty="0"/>
          </a:p>
        </p:txBody>
      </p:sp>
      <p:sp>
        <p:nvSpPr>
          <p:cNvPr id="51" name="Shape 49"/>
          <p:cNvSpPr/>
          <p:nvPr/>
        </p:nvSpPr>
        <p:spPr>
          <a:xfrm>
            <a:off x="566928" y="3858768"/>
            <a:ext cx="11064240" cy="347472"/>
          </a:xfrm>
          <a:prstGeom prst="roundRect">
            <a:avLst>
              <a:gd name="adj" fmla="val 23684"/>
            </a:avLst>
          </a:prstGeom>
          <a:solidFill>
            <a:srgbClr val="FFFFFF"/>
          </a:solidFill>
          <a:ln w="12700">
            <a:solidFill>
              <a:srgbClr val="FFFFFF"/>
            </a:solidFill>
            <a:prstDash val="solid"/>
          </a:ln>
        </p:spPr>
        <p:txBody>
          <a:bodyPr/>
          <a:lstStyle/>
          <a:p>
            <a:endParaRPr lang="de-CH"/>
          </a:p>
        </p:txBody>
      </p:sp>
      <p:sp>
        <p:nvSpPr>
          <p:cNvPr id="52" name="Text 50"/>
          <p:cNvSpPr/>
          <p:nvPr/>
        </p:nvSpPr>
        <p:spPr>
          <a:xfrm>
            <a:off x="585216" y="3858768"/>
            <a:ext cx="713232" cy="347472"/>
          </a:xfrm>
          <a:prstGeom prst="rect">
            <a:avLst/>
          </a:prstGeom>
          <a:noFill/>
          <a:ln/>
        </p:spPr>
        <p:txBody>
          <a:bodyPr wrap="square" lIns="0" tIns="0" rIns="0" bIns="0" rtlCol="0" anchor="ctr"/>
          <a:lstStyle/>
          <a:p>
            <a:pPr marL="0" indent="0">
              <a:buNone/>
            </a:pPr>
            <a:r>
              <a:rPr lang="en-US" sz="800" b="1" dirty="0">
                <a:solidFill>
                  <a:srgbClr val="12202E"/>
                </a:solidFill>
                <a:latin typeface="Calibri" pitchFamily="34" charset="0"/>
                <a:ea typeface="Calibri" pitchFamily="34" charset="-122"/>
                <a:cs typeface="Calibri" pitchFamily="34" charset="-120"/>
              </a:rPr>
              <a:t>DE-035</a:t>
            </a:r>
            <a:endParaRPr lang="en-US" sz="800" dirty="0"/>
          </a:p>
        </p:txBody>
      </p:sp>
      <p:sp>
        <p:nvSpPr>
          <p:cNvPr id="53" name="Text 51"/>
          <p:cNvSpPr/>
          <p:nvPr/>
        </p:nvSpPr>
        <p:spPr>
          <a:xfrm>
            <a:off x="1344168" y="3858768"/>
            <a:ext cx="2148840" cy="347472"/>
          </a:xfrm>
          <a:prstGeom prst="rect">
            <a:avLst/>
          </a:prstGeom>
          <a:noFill/>
          <a:ln/>
        </p:spPr>
        <p:txBody>
          <a:bodyPr wrap="square" lIns="0" tIns="0" rIns="0" bIns="0" rtlCol="0" anchor="ctr"/>
          <a:lstStyle/>
          <a:p>
            <a:pPr marL="0" indent="0">
              <a:buNone/>
            </a:pPr>
            <a:r>
              <a:rPr lang="en-US" sz="800" dirty="0">
                <a:solidFill>
                  <a:srgbClr val="12202E"/>
                </a:solidFill>
                <a:latin typeface="Calibri" pitchFamily="34" charset="0"/>
                <a:ea typeface="Calibri" pitchFamily="34" charset="-122"/>
                <a:cs typeface="Calibri" pitchFamily="34" charset="-120"/>
              </a:rPr>
              <a:t>Is fluid coming out?</a:t>
            </a:r>
            <a:endParaRPr lang="en-US" sz="800" dirty="0"/>
          </a:p>
        </p:txBody>
      </p:sp>
      <p:sp>
        <p:nvSpPr>
          <p:cNvPr id="54" name="Text 52"/>
          <p:cNvSpPr/>
          <p:nvPr/>
        </p:nvSpPr>
        <p:spPr>
          <a:xfrm>
            <a:off x="3538728" y="3858768"/>
            <a:ext cx="960120" cy="347472"/>
          </a:xfrm>
          <a:prstGeom prst="rect">
            <a:avLst/>
          </a:prstGeom>
          <a:noFill/>
          <a:ln/>
        </p:spPr>
        <p:txBody>
          <a:bodyPr wrap="square" lIns="0" tIns="0" rIns="0" bIns="0" rtlCol="0" anchor="ctr"/>
          <a:lstStyle/>
          <a:p>
            <a:pPr marL="0" indent="0">
              <a:buNone/>
            </a:pPr>
            <a:r>
              <a:rPr lang="en-US" sz="800" dirty="0">
                <a:solidFill>
                  <a:srgbClr val="12202E"/>
                </a:solidFill>
                <a:latin typeface="Calibri" pitchFamily="34" charset="0"/>
                <a:ea typeface="Calibri" pitchFamily="34" charset="-122"/>
                <a:cs typeface="Calibri" pitchFamily="34" charset="-120"/>
              </a:rPr>
              <a:t>select_one</a:t>
            </a:r>
            <a:endParaRPr lang="en-US" sz="800" dirty="0"/>
          </a:p>
        </p:txBody>
      </p:sp>
      <p:sp>
        <p:nvSpPr>
          <p:cNvPr id="55" name="Text 53"/>
          <p:cNvSpPr/>
          <p:nvPr/>
        </p:nvSpPr>
        <p:spPr>
          <a:xfrm>
            <a:off x="4544568" y="3858768"/>
            <a:ext cx="2880360" cy="347472"/>
          </a:xfrm>
          <a:prstGeom prst="rect">
            <a:avLst/>
          </a:prstGeom>
          <a:noFill/>
          <a:ln/>
        </p:spPr>
        <p:txBody>
          <a:bodyPr wrap="square" lIns="0" tIns="0" rIns="0" bIns="0" rtlCol="0" anchor="ctr"/>
          <a:lstStyle/>
          <a:p>
            <a:pPr marL="0" indent="0">
              <a:buNone/>
            </a:pPr>
            <a:r>
              <a:rPr lang="en-US" sz="800" dirty="0">
                <a:solidFill>
                  <a:srgbClr val="12202E"/>
                </a:solidFill>
                <a:latin typeface="Calibri" pitchFamily="34" charset="0"/>
                <a:ea typeface="Calibri" pitchFamily="34" charset="-122"/>
                <a:cs typeface="Calibri" pitchFamily="34" charset="-120"/>
              </a:rPr>
              <a:t>0 = none · 1 = clear · 2 = bloody · 3 = cloudy / purulent</a:t>
            </a:r>
            <a:endParaRPr lang="en-US" sz="800" dirty="0"/>
          </a:p>
        </p:txBody>
      </p:sp>
      <p:sp>
        <p:nvSpPr>
          <p:cNvPr id="56" name="Text 54"/>
          <p:cNvSpPr/>
          <p:nvPr/>
        </p:nvSpPr>
        <p:spPr>
          <a:xfrm>
            <a:off x="7470648" y="3858768"/>
            <a:ext cx="1600200" cy="347472"/>
          </a:xfrm>
          <a:prstGeom prst="rect">
            <a:avLst/>
          </a:prstGeom>
          <a:noFill/>
          <a:ln/>
        </p:spPr>
        <p:txBody>
          <a:bodyPr wrap="square" lIns="0" tIns="0" rIns="0" bIns="0" rtlCol="0" anchor="ctr"/>
          <a:lstStyle/>
          <a:p>
            <a:pPr marL="0" indent="0">
              <a:buNone/>
            </a:pPr>
            <a:r>
              <a:rPr lang="en-US" sz="800" dirty="0">
                <a:solidFill>
                  <a:srgbClr val="12202E"/>
                </a:solidFill>
                <a:latin typeface="Calibri" pitchFamily="34" charset="0"/>
                <a:ea typeface="Calibri" pitchFamily="34" charset="-122"/>
                <a:cs typeface="Calibri" pitchFamily="34" charset="-120"/>
              </a:rPr>
              <a:t>—</a:t>
            </a:r>
            <a:endParaRPr lang="en-US" sz="800" dirty="0"/>
          </a:p>
        </p:txBody>
      </p:sp>
      <p:sp>
        <p:nvSpPr>
          <p:cNvPr id="57" name="Text 55"/>
          <p:cNvSpPr/>
          <p:nvPr/>
        </p:nvSpPr>
        <p:spPr>
          <a:xfrm>
            <a:off x="9116568" y="3858768"/>
            <a:ext cx="1417320" cy="347472"/>
          </a:xfrm>
          <a:prstGeom prst="rect">
            <a:avLst/>
          </a:prstGeom>
          <a:noFill/>
          <a:ln/>
        </p:spPr>
        <p:txBody>
          <a:bodyPr wrap="square" lIns="0" tIns="0" rIns="0" bIns="0" rtlCol="0" anchor="ctr"/>
          <a:lstStyle/>
          <a:p>
            <a:pPr marL="0" indent="0">
              <a:buNone/>
            </a:pPr>
            <a:r>
              <a:rPr lang="en-US" sz="800" dirty="0">
                <a:solidFill>
                  <a:srgbClr val="5D7186"/>
                </a:solidFill>
                <a:latin typeface="Calibri" pitchFamily="34" charset="0"/>
                <a:ea typeface="Calibri" pitchFamily="34" charset="-122"/>
                <a:cs typeface="Calibri" pitchFamily="34" charset="-120"/>
              </a:rPr>
              <a:t>—</a:t>
            </a:r>
            <a:endParaRPr lang="en-US" sz="800" dirty="0"/>
          </a:p>
        </p:txBody>
      </p:sp>
      <p:sp>
        <p:nvSpPr>
          <p:cNvPr id="58" name="Text 56"/>
          <p:cNvSpPr/>
          <p:nvPr/>
        </p:nvSpPr>
        <p:spPr>
          <a:xfrm>
            <a:off x="10579608" y="3858768"/>
            <a:ext cx="1344168" cy="347472"/>
          </a:xfrm>
          <a:prstGeom prst="rect">
            <a:avLst/>
          </a:prstGeom>
          <a:noFill/>
          <a:ln/>
        </p:spPr>
        <p:txBody>
          <a:bodyPr wrap="square" lIns="0" tIns="0" rIns="0" bIns="0" rtlCol="0" anchor="ctr"/>
          <a:lstStyle/>
          <a:p>
            <a:pPr marL="0" indent="0">
              <a:buNone/>
            </a:pPr>
            <a:r>
              <a:rPr lang="en-US" sz="800" dirty="0">
                <a:solidFill>
                  <a:srgbClr val="5D7186"/>
                </a:solidFill>
                <a:latin typeface="Calibri" pitchFamily="34" charset="0"/>
                <a:ea typeface="Calibri" pitchFamily="34" charset="-122"/>
                <a:cs typeface="Calibri" pitchFamily="34" charset="-120"/>
              </a:rPr>
              <a:t>SNOMED 449736006</a:t>
            </a:r>
            <a:endParaRPr lang="en-US" sz="800" dirty="0"/>
          </a:p>
        </p:txBody>
      </p:sp>
      <p:sp>
        <p:nvSpPr>
          <p:cNvPr id="59" name="Shape 57"/>
          <p:cNvSpPr/>
          <p:nvPr/>
        </p:nvSpPr>
        <p:spPr>
          <a:xfrm>
            <a:off x="566928" y="4261104"/>
            <a:ext cx="11064240" cy="347472"/>
          </a:xfrm>
          <a:prstGeom prst="roundRect">
            <a:avLst>
              <a:gd name="adj" fmla="val 23684"/>
            </a:avLst>
          </a:prstGeom>
          <a:solidFill>
            <a:srgbClr val="F5F7FA"/>
          </a:solidFill>
          <a:ln w="12700">
            <a:solidFill>
              <a:srgbClr val="DDE5EE"/>
            </a:solidFill>
            <a:prstDash val="solid"/>
          </a:ln>
        </p:spPr>
        <p:txBody>
          <a:bodyPr/>
          <a:lstStyle/>
          <a:p>
            <a:endParaRPr lang="de-CH"/>
          </a:p>
        </p:txBody>
      </p:sp>
      <p:sp>
        <p:nvSpPr>
          <p:cNvPr id="60" name="Text 58"/>
          <p:cNvSpPr/>
          <p:nvPr/>
        </p:nvSpPr>
        <p:spPr>
          <a:xfrm>
            <a:off x="585216" y="4261104"/>
            <a:ext cx="713232" cy="347472"/>
          </a:xfrm>
          <a:prstGeom prst="rect">
            <a:avLst/>
          </a:prstGeom>
          <a:noFill/>
          <a:ln/>
        </p:spPr>
        <p:txBody>
          <a:bodyPr wrap="square" lIns="0" tIns="0" rIns="0" bIns="0" rtlCol="0" anchor="ctr"/>
          <a:lstStyle/>
          <a:p>
            <a:pPr marL="0" indent="0">
              <a:buNone/>
            </a:pPr>
            <a:r>
              <a:rPr lang="en-US" sz="800" b="1" dirty="0">
                <a:solidFill>
                  <a:srgbClr val="12202E"/>
                </a:solidFill>
                <a:latin typeface="Calibri" pitchFamily="34" charset="0"/>
                <a:ea typeface="Calibri" pitchFamily="34" charset="-122"/>
                <a:cs typeface="Calibri" pitchFamily="34" charset="-120"/>
              </a:rPr>
              <a:t>DE-036</a:t>
            </a:r>
            <a:endParaRPr lang="en-US" sz="800" dirty="0"/>
          </a:p>
        </p:txBody>
      </p:sp>
      <p:sp>
        <p:nvSpPr>
          <p:cNvPr id="61" name="Text 59"/>
          <p:cNvSpPr/>
          <p:nvPr/>
        </p:nvSpPr>
        <p:spPr>
          <a:xfrm>
            <a:off x="1344168" y="4261104"/>
            <a:ext cx="2148840" cy="347472"/>
          </a:xfrm>
          <a:prstGeom prst="rect">
            <a:avLst/>
          </a:prstGeom>
          <a:noFill/>
          <a:ln/>
        </p:spPr>
        <p:txBody>
          <a:bodyPr wrap="square" lIns="0" tIns="0" rIns="0" bIns="0" rtlCol="0" anchor="ctr"/>
          <a:lstStyle/>
          <a:p>
            <a:pPr marL="0" indent="0">
              <a:buNone/>
            </a:pPr>
            <a:r>
              <a:rPr lang="en-US" sz="800" dirty="0">
                <a:solidFill>
                  <a:srgbClr val="12202E"/>
                </a:solidFill>
                <a:latin typeface="Calibri" pitchFamily="34" charset="0"/>
                <a:ea typeface="Calibri" pitchFamily="34" charset="-122"/>
                <a:cs typeface="Calibri" pitchFamily="34" charset="-120"/>
              </a:rPr>
              <a:t>Does the discharge smell?</a:t>
            </a:r>
            <a:endParaRPr lang="en-US" sz="800" dirty="0"/>
          </a:p>
        </p:txBody>
      </p:sp>
      <p:sp>
        <p:nvSpPr>
          <p:cNvPr id="62" name="Text 60"/>
          <p:cNvSpPr/>
          <p:nvPr/>
        </p:nvSpPr>
        <p:spPr>
          <a:xfrm>
            <a:off x="3538728" y="4261104"/>
            <a:ext cx="960120" cy="347472"/>
          </a:xfrm>
          <a:prstGeom prst="rect">
            <a:avLst/>
          </a:prstGeom>
          <a:noFill/>
          <a:ln/>
        </p:spPr>
        <p:txBody>
          <a:bodyPr wrap="square" lIns="0" tIns="0" rIns="0" bIns="0" rtlCol="0" anchor="ctr"/>
          <a:lstStyle/>
          <a:p>
            <a:pPr marL="0" indent="0">
              <a:buNone/>
            </a:pPr>
            <a:r>
              <a:rPr lang="en-US" sz="800" dirty="0">
                <a:solidFill>
                  <a:srgbClr val="12202E"/>
                </a:solidFill>
                <a:latin typeface="Calibri" pitchFamily="34" charset="0"/>
                <a:ea typeface="Calibri" pitchFamily="34" charset="-122"/>
                <a:cs typeface="Calibri" pitchFamily="34" charset="-120"/>
              </a:rPr>
              <a:t>select_one</a:t>
            </a:r>
            <a:endParaRPr lang="en-US" sz="800" dirty="0"/>
          </a:p>
        </p:txBody>
      </p:sp>
      <p:sp>
        <p:nvSpPr>
          <p:cNvPr id="63" name="Text 61"/>
          <p:cNvSpPr/>
          <p:nvPr/>
        </p:nvSpPr>
        <p:spPr>
          <a:xfrm>
            <a:off x="4544568" y="4261104"/>
            <a:ext cx="2880360" cy="347472"/>
          </a:xfrm>
          <a:prstGeom prst="rect">
            <a:avLst/>
          </a:prstGeom>
          <a:noFill/>
          <a:ln/>
        </p:spPr>
        <p:txBody>
          <a:bodyPr wrap="square" lIns="0" tIns="0" rIns="0" bIns="0" rtlCol="0" anchor="ctr"/>
          <a:lstStyle/>
          <a:p>
            <a:pPr marL="0" indent="0">
              <a:buNone/>
            </a:pPr>
            <a:r>
              <a:rPr lang="en-US" sz="800" dirty="0">
                <a:solidFill>
                  <a:srgbClr val="12202E"/>
                </a:solidFill>
                <a:latin typeface="Calibri" pitchFamily="34" charset="0"/>
                <a:ea typeface="Calibri" pitchFamily="34" charset="-122"/>
                <a:cs typeface="Calibri" pitchFamily="34" charset="-120"/>
              </a:rPr>
              <a:t>1 = yes · 0 = no</a:t>
            </a:r>
            <a:endParaRPr lang="en-US" sz="800" dirty="0"/>
          </a:p>
        </p:txBody>
      </p:sp>
      <p:sp>
        <p:nvSpPr>
          <p:cNvPr id="64" name="Text 62"/>
          <p:cNvSpPr/>
          <p:nvPr/>
        </p:nvSpPr>
        <p:spPr>
          <a:xfrm>
            <a:off x="7470648" y="4261104"/>
            <a:ext cx="1600200" cy="347472"/>
          </a:xfrm>
          <a:prstGeom prst="rect">
            <a:avLst/>
          </a:prstGeom>
          <a:noFill/>
          <a:ln/>
        </p:spPr>
        <p:txBody>
          <a:bodyPr wrap="square" lIns="0" tIns="0" rIns="0" bIns="0" rtlCol="0" anchor="ctr"/>
          <a:lstStyle/>
          <a:p>
            <a:pPr marL="0" indent="0">
              <a:buNone/>
            </a:pPr>
            <a:r>
              <a:rPr lang="en-US" sz="800" dirty="0">
                <a:solidFill>
                  <a:srgbClr val="12202E"/>
                </a:solidFill>
                <a:latin typeface="Calibri" pitchFamily="34" charset="0"/>
                <a:ea typeface="Calibri" pitchFamily="34" charset="-122"/>
                <a:cs typeface="Calibri" pitchFamily="34" charset="-120"/>
              </a:rPr>
              <a:t>secretion ≥ 1</a:t>
            </a:r>
            <a:endParaRPr lang="en-US" sz="800" dirty="0"/>
          </a:p>
        </p:txBody>
      </p:sp>
      <p:sp>
        <p:nvSpPr>
          <p:cNvPr id="65" name="Text 63"/>
          <p:cNvSpPr/>
          <p:nvPr/>
        </p:nvSpPr>
        <p:spPr>
          <a:xfrm>
            <a:off x="9116568" y="4261104"/>
            <a:ext cx="1417320" cy="347472"/>
          </a:xfrm>
          <a:prstGeom prst="rect">
            <a:avLst/>
          </a:prstGeom>
          <a:noFill/>
          <a:ln/>
        </p:spPr>
        <p:txBody>
          <a:bodyPr wrap="square" lIns="0" tIns="0" rIns="0" bIns="0" rtlCol="0" anchor="ctr"/>
          <a:lstStyle/>
          <a:p>
            <a:pPr marL="0" indent="0">
              <a:buNone/>
            </a:pPr>
            <a:r>
              <a:rPr lang="en-US" sz="800" dirty="0">
                <a:solidFill>
                  <a:srgbClr val="5D7186"/>
                </a:solidFill>
                <a:latin typeface="Calibri" pitchFamily="34" charset="0"/>
                <a:ea typeface="Calibri" pitchFamily="34" charset="-122"/>
                <a:cs typeface="Calibri" pitchFamily="34" charset="-120"/>
              </a:rPr>
              <a:t>—</a:t>
            </a:r>
            <a:endParaRPr lang="en-US" sz="800" dirty="0"/>
          </a:p>
        </p:txBody>
      </p:sp>
      <p:sp>
        <p:nvSpPr>
          <p:cNvPr id="66" name="Text 64"/>
          <p:cNvSpPr/>
          <p:nvPr/>
        </p:nvSpPr>
        <p:spPr>
          <a:xfrm>
            <a:off x="10579608" y="4261104"/>
            <a:ext cx="1344168" cy="347472"/>
          </a:xfrm>
          <a:prstGeom prst="rect">
            <a:avLst/>
          </a:prstGeom>
          <a:noFill/>
          <a:ln/>
        </p:spPr>
        <p:txBody>
          <a:bodyPr wrap="square" lIns="0" tIns="0" rIns="0" bIns="0" rtlCol="0" anchor="ctr"/>
          <a:lstStyle/>
          <a:p>
            <a:pPr marL="0" indent="0">
              <a:buNone/>
            </a:pPr>
            <a:r>
              <a:rPr lang="en-US" sz="800" dirty="0">
                <a:solidFill>
                  <a:srgbClr val="5D7186"/>
                </a:solidFill>
                <a:latin typeface="Calibri" pitchFamily="34" charset="0"/>
                <a:ea typeface="Calibri" pitchFamily="34" charset="-122"/>
                <a:cs typeface="Calibri" pitchFamily="34" charset="-120"/>
              </a:rPr>
              <a:t>SNOMED 288227007</a:t>
            </a:r>
            <a:endParaRPr lang="en-US" sz="800" dirty="0"/>
          </a:p>
        </p:txBody>
      </p:sp>
      <p:sp>
        <p:nvSpPr>
          <p:cNvPr id="67" name="Shape 65"/>
          <p:cNvSpPr/>
          <p:nvPr/>
        </p:nvSpPr>
        <p:spPr>
          <a:xfrm>
            <a:off x="566928" y="4663440"/>
            <a:ext cx="11064240" cy="347472"/>
          </a:xfrm>
          <a:prstGeom prst="roundRect">
            <a:avLst>
              <a:gd name="adj" fmla="val 23684"/>
            </a:avLst>
          </a:prstGeom>
          <a:solidFill>
            <a:srgbClr val="FFFFFF"/>
          </a:solidFill>
          <a:ln w="12700">
            <a:solidFill>
              <a:srgbClr val="FFFFFF"/>
            </a:solidFill>
            <a:prstDash val="solid"/>
          </a:ln>
        </p:spPr>
        <p:txBody>
          <a:bodyPr/>
          <a:lstStyle/>
          <a:p>
            <a:endParaRPr lang="de-CH"/>
          </a:p>
        </p:txBody>
      </p:sp>
      <p:sp>
        <p:nvSpPr>
          <p:cNvPr id="68" name="Text 66"/>
          <p:cNvSpPr/>
          <p:nvPr/>
        </p:nvSpPr>
        <p:spPr>
          <a:xfrm>
            <a:off x="585216" y="4663440"/>
            <a:ext cx="713232" cy="347472"/>
          </a:xfrm>
          <a:prstGeom prst="rect">
            <a:avLst/>
          </a:prstGeom>
          <a:noFill/>
          <a:ln/>
        </p:spPr>
        <p:txBody>
          <a:bodyPr wrap="square" lIns="0" tIns="0" rIns="0" bIns="0" rtlCol="0" anchor="ctr"/>
          <a:lstStyle/>
          <a:p>
            <a:pPr marL="0" indent="0">
              <a:buNone/>
            </a:pPr>
            <a:r>
              <a:rPr lang="en-US" sz="800" b="1" dirty="0">
                <a:solidFill>
                  <a:srgbClr val="12202E"/>
                </a:solidFill>
                <a:latin typeface="Calibri" pitchFamily="34" charset="0"/>
                <a:ea typeface="Calibri" pitchFamily="34" charset="-122"/>
                <a:cs typeface="Calibri" pitchFamily="34" charset="-120"/>
              </a:rPr>
              <a:t>DE-037</a:t>
            </a:r>
            <a:endParaRPr lang="en-US" sz="800" dirty="0"/>
          </a:p>
        </p:txBody>
      </p:sp>
      <p:sp>
        <p:nvSpPr>
          <p:cNvPr id="69" name="Text 67"/>
          <p:cNvSpPr/>
          <p:nvPr/>
        </p:nvSpPr>
        <p:spPr>
          <a:xfrm>
            <a:off x="1344168" y="4663440"/>
            <a:ext cx="2148840" cy="347472"/>
          </a:xfrm>
          <a:prstGeom prst="rect">
            <a:avLst/>
          </a:prstGeom>
          <a:noFill/>
          <a:ln/>
        </p:spPr>
        <p:txBody>
          <a:bodyPr wrap="square" lIns="0" tIns="0" rIns="0" bIns="0" rtlCol="0" anchor="ctr"/>
          <a:lstStyle/>
          <a:p>
            <a:pPr marL="0" indent="0">
              <a:buNone/>
            </a:pPr>
            <a:r>
              <a:rPr lang="en-US" sz="800" dirty="0">
                <a:solidFill>
                  <a:srgbClr val="12202E"/>
                </a:solidFill>
                <a:latin typeface="Calibri" pitchFamily="34" charset="0"/>
                <a:ea typeface="Calibri" pitchFamily="34" charset="-122"/>
                <a:cs typeface="Calibri" pitchFamily="34" charset="-120"/>
              </a:rPr>
              <a:t>One spot or the whole wound?</a:t>
            </a:r>
            <a:endParaRPr lang="en-US" sz="800" dirty="0"/>
          </a:p>
        </p:txBody>
      </p:sp>
      <p:sp>
        <p:nvSpPr>
          <p:cNvPr id="70" name="Text 68"/>
          <p:cNvSpPr/>
          <p:nvPr/>
        </p:nvSpPr>
        <p:spPr>
          <a:xfrm>
            <a:off x="3538728" y="4663440"/>
            <a:ext cx="960120" cy="347472"/>
          </a:xfrm>
          <a:prstGeom prst="rect">
            <a:avLst/>
          </a:prstGeom>
          <a:noFill/>
          <a:ln/>
        </p:spPr>
        <p:txBody>
          <a:bodyPr wrap="square" lIns="0" tIns="0" rIns="0" bIns="0" rtlCol="0" anchor="ctr"/>
          <a:lstStyle/>
          <a:p>
            <a:pPr marL="0" indent="0">
              <a:buNone/>
            </a:pPr>
            <a:r>
              <a:rPr lang="en-US" sz="800" dirty="0">
                <a:solidFill>
                  <a:srgbClr val="12202E"/>
                </a:solidFill>
                <a:latin typeface="Calibri" pitchFamily="34" charset="0"/>
                <a:ea typeface="Calibri" pitchFamily="34" charset="-122"/>
                <a:cs typeface="Calibri" pitchFamily="34" charset="-120"/>
              </a:rPr>
              <a:t>select_one</a:t>
            </a:r>
            <a:endParaRPr lang="en-US" sz="800" dirty="0"/>
          </a:p>
        </p:txBody>
      </p:sp>
      <p:sp>
        <p:nvSpPr>
          <p:cNvPr id="71" name="Text 69"/>
          <p:cNvSpPr/>
          <p:nvPr/>
        </p:nvSpPr>
        <p:spPr>
          <a:xfrm>
            <a:off x="4544568" y="4663440"/>
            <a:ext cx="2880360" cy="347472"/>
          </a:xfrm>
          <a:prstGeom prst="rect">
            <a:avLst/>
          </a:prstGeom>
          <a:noFill/>
          <a:ln/>
        </p:spPr>
        <p:txBody>
          <a:bodyPr wrap="square" lIns="0" tIns="0" rIns="0" bIns="0" rtlCol="0" anchor="ctr"/>
          <a:lstStyle/>
          <a:p>
            <a:pPr marL="0" indent="0">
              <a:buNone/>
            </a:pPr>
            <a:r>
              <a:rPr lang="en-US" sz="800" dirty="0">
                <a:solidFill>
                  <a:srgbClr val="12202E"/>
                </a:solidFill>
                <a:latin typeface="Calibri" pitchFamily="34" charset="0"/>
                <a:ea typeface="Calibri" pitchFamily="34" charset="-122"/>
                <a:cs typeface="Calibri" pitchFamily="34" charset="-120"/>
              </a:rPr>
              <a:t>1 = small spot · 2 = along the wound</a:t>
            </a:r>
            <a:endParaRPr lang="en-US" sz="800" dirty="0"/>
          </a:p>
        </p:txBody>
      </p:sp>
      <p:sp>
        <p:nvSpPr>
          <p:cNvPr id="72" name="Text 70"/>
          <p:cNvSpPr/>
          <p:nvPr/>
        </p:nvSpPr>
        <p:spPr>
          <a:xfrm>
            <a:off x="7470648" y="4663440"/>
            <a:ext cx="1600200" cy="347472"/>
          </a:xfrm>
          <a:prstGeom prst="rect">
            <a:avLst/>
          </a:prstGeom>
          <a:noFill/>
          <a:ln/>
        </p:spPr>
        <p:txBody>
          <a:bodyPr wrap="square" lIns="0" tIns="0" rIns="0" bIns="0" rtlCol="0" anchor="ctr"/>
          <a:lstStyle/>
          <a:p>
            <a:pPr marL="0" indent="0">
              <a:buNone/>
            </a:pPr>
            <a:r>
              <a:rPr lang="en-US" sz="800" dirty="0">
                <a:solidFill>
                  <a:srgbClr val="12202E"/>
                </a:solidFill>
                <a:latin typeface="Calibri" pitchFamily="34" charset="0"/>
                <a:ea typeface="Calibri" pitchFamily="34" charset="-122"/>
                <a:cs typeface="Calibri" pitchFamily="34" charset="-120"/>
              </a:rPr>
              <a:t>secretion ≥ 1</a:t>
            </a:r>
            <a:endParaRPr lang="en-US" sz="800" dirty="0"/>
          </a:p>
        </p:txBody>
      </p:sp>
      <p:sp>
        <p:nvSpPr>
          <p:cNvPr id="73" name="Text 71"/>
          <p:cNvSpPr/>
          <p:nvPr/>
        </p:nvSpPr>
        <p:spPr>
          <a:xfrm>
            <a:off x="9116568" y="4663440"/>
            <a:ext cx="1417320" cy="347472"/>
          </a:xfrm>
          <a:prstGeom prst="rect">
            <a:avLst/>
          </a:prstGeom>
          <a:noFill/>
          <a:ln/>
        </p:spPr>
        <p:txBody>
          <a:bodyPr wrap="square" lIns="0" tIns="0" rIns="0" bIns="0" rtlCol="0" anchor="ctr"/>
          <a:lstStyle/>
          <a:p>
            <a:pPr marL="0" indent="0">
              <a:buNone/>
            </a:pPr>
            <a:r>
              <a:rPr lang="en-US" sz="800" dirty="0">
                <a:solidFill>
                  <a:srgbClr val="5D7186"/>
                </a:solidFill>
                <a:latin typeface="Calibri" pitchFamily="34" charset="0"/>
                <a:ea typeface="Calibri" pitchFamily="34" charset="-122"/>
                <a:cs typeface="Calibri" pitchFamily="34" charset="-120"/>
              </a:rPr>
              <a:t>—</a:t>
            </a:r>
            <a:endParaRPr lang="en-US" sz="800" dirty="0"/>
          </a:p>
        </p:txBody>
      </p:sp>
      <p:sp>
        <p:nvSpPr>
          <p:cNvPr id="74" name="Text 72"/>
          <p:cNvSpPr/>
          <p:nvPr/>
        </p:nvSpPr>
        <p:spPr>
          <a:xfrm>
            <a:off x="10579608" y="4663440"/>
            <a:ext cx="1344168" cy="347472"/>
          </a:xfrm>
          <a:prstGeom prst="rect">
            <a:avLst/>
          </a:prstGeom>
          <a:noFill/>
          <a:ln/>
        </p:spPr>
        <p:txBody>
          <a:bodyPr wrap="square" lIns="0" tIns="0" rIns="0" bIns="0" rtlCol="0" anchor="ctr"/>
          <a:lstStyle/>
          <a:p>
            <a:pPr marL="0" indent="0">
              <a:buNone/>
            </a:pPr>
            <a:r>
              <a:rPr lang="en-US" sz="800" dirty="0">
                <a:solidFill>
                  <a:srgbClr val="5D7186"/>
                </a:solidFill>
                <a:latin typeface="Calibri" pitchFamily="34" charset="0"/>
                <a:ea typeface="Calibri" pitchFamily="34" charset="-122"/>
                <a:cs typeface="Calibri" pitchFamily="34" charset="-120"/>
              </a:rPr>
              <a:t>—</a:t>
            </a:r>
            <a:endParaRPr lang="en-US" sz="800" dirty="0"/>
          </a:p>
        </p:txBody>
      </p:sp>
      <p:sp>
        <p:nvSpPr>
          <p:cNvPr id="75" name="Shape 73"/>
          <p:cNvSpPr/>
          <p:nvPr/>
        </p:nvSpPr>
        <p:spPr>
          <a:xfrm>
            <a:off x="566928" y="5065776"/>
            <a:ext cx="11064240" cy="347472"/>
          </a:xfrm>
          <a:prstGeom prst="roundRect">
            <a:avLst>
              <a:gd name="adj" fmla="val 23684"/>
            </a:avLst>
          </a:prstGeom>
          <a:solidFill>
            <a:srgbClr val="F5F7FA"/>
          </a:solidFill>
          <a:ln w="12700">
            <a:solidFill>
              <a:srgbClr val="DDE5EE"/>
            </a:solidFill>
            <a:prstDash val="solid"/>
          </a:ln>
        </p:spPr>
        <p:txBody>
          <a:bodyPr/>
          <a:lstStyle/>
          <a:p>
            <a:endParaRPr lang="de-CH"/>
          </a:p>
        </p:txBody>
      </p:sp>
      <p:sp>
        <p:nvSpPr>
          <p:cNvPr id="76" name="Text 74"/>
          <p:cNvSpPr/>
          <p:nvPr/>
        </p:nvSpPr>
        <p:spPr>
          <a:xfrm>
            <a:off x="585216" y="5065776"/>
            <a:ext cx="713232" cy="347472"/>
          </a:xfrm>
          <a:prstGeom prst="rect">
            <a:avLst/>
          </a:prstGeom>
          <a:noFill/>
          <a:ln/>
        </p:spPr>
        <p:txBody>
          <a:bodyPr wrap="square" lIns="0" tIns="0" rIns="0" bIns="0" rtlCol="0" anchor="ctr"/>
          <a:lstStyle/>
          <a:p>
            <a:pPr marL="0" indent="0">
              <a:buNone/>
            </a:pPr>
            <a:r>
              <a:rPr lang="en-US" sz="800" b="1" dirty="0">
                <a:solidFill>
                  <a:srgbClr val="12202E"/>
                </a:solidFill>
                <a:latin typeface="Calibri" pitchFamily="34" charset="0"/>
                <a:ea typeface="Calibri" pitchFamily="34" charset="-122"/>
                <a:cs typeface="Calibri" pitchFamily="34" charset="-120"/>
              </a:rPr>
              <a:t>DE-038</a:t>
            </a:r>
            <a:endParaRPr lang="en-US" sz="800" dirty="0"/>
          </a:p>
        </p:txBody>
      </p:sp>
      <p:sp>
        <p:nvSpPr>
          <p:cNvPr id="77" name="Text 75"/>
          <p:cNvSpPr/>
          <p:nvPr/>
        </p:nvSpPr>
        <p:spPr>
          <a:xfrm>
            <a:off x="1344168" y="5065776"/>
            <a:ext cx="2148840" cy="347472"/>
          </a:xfrm>
          <a:prstGeom prst="rect">
            <a:avLst/>
          </a:prstGeom>
          <a:noFill/>
          <a:ln/>
        </p:spPr>
        <p:txBody>
          <a:bodyPr wrap="square" lIns="0" tIns="0" rIns="0" bIns="0" rtlCol="0" anchor="ctr"/>
          <a:lstStyle/>
          <a:p>
            <a:pPr marL="0" indent="0">
              <a:buNone/>
            </a:pPr>
            <a:r>
              <a:rPr lang="en-US" sz="800" dirty="0">
                <a:solidFill>
                  <a:srgbClr val="12202E"/>
                </a:solidFill>
                <a:latin typeface="Calibri" pitchFamily="34" charset="0"/>
                <a:ea typeface="Calibri" pitchFamily="34" charset="-122"/>
                <a:cs typeface="Calibri" pitchFamily="34" charset="-120"/>
              </a:rPr>
              <a:t>For how many days?</a:t>
            </a:r>
            <a:endParaRPr lang="en-US" sz="800" dirty="0"/>
          </a:p>
        </p:txBody>
      </p:sp>
      <p:sp>
        <p:nvSpPr>
          <p:cNvPr id="78" name="Text 76"/>
          <p:cNvSpPr/>
          <p:nvPr/>
        </p:nvSpPr>
        <p:spPr>
          <a:xfrm>
            <a:off x="3538728" y="5065776"/>
            <a:ext cx="960120" cy="347472"/>
          </a:xfrm>
          <a:prstGeom prst="rect">
            <a:avLst/>
          </a:prstGeom>
          <a:noFill/>
          <a:ln/>
        </p:spPr>
        <p:txBody>
          <a:bodyPr wrap="square" lIns="0" tIns="0" rIns="0" bIns="0" rtlCol="0" anchor="ctr"/>
          <a:lstStyle/>
          <a:p>
            <a:pPr marL="0" indent="0">
              <a:buNone/>
            </a:pPr>
            <a:r>
              <a:rPr lang="en-US" sz="800" dirty="0">
                <a:solidFill>
                  <a:srgbClr val="12202E"/>
                </a:solidFill>
                <a:latin typeface="Calibri" pitchFamily="34" charset="0"/>
                <a:ea typeface="Calibri" pitchFamily="34" charset="-122"/>
                <a:cs typeface="Calibri" pitchFamily="34" charset="-120"/>
              </a:rPr>
              <a:t>integer</a:t>
            </a:r>
            <a:endParaRPr lang="en-US" sz="800" dirty="0"/>
          </a:p>
        </p:txBody>
      </p:sp>
      <p:sp>
        <p:nvSpPr>
          <p:cNvPr id="79" name="Text 77"/>
          <p:cNvSpPr/>
          <p:nvPr/>
        </p:nvSpPr>
        <p:spPr>
          <a:xfrm>
            <a:off x="4544568" y="5065776"/>
            <a:ext cx="2880360" cy="347472"/>
          </a:xfrm>
          <a:prstGeom prst="rect">
            <a:avLst/>
          </a:prstGeom>
          <a:noFill/>
          <a:ln/>
        </p:spPr>
        <p:txBody>
          <a:bodyPr wrap="square" lIns="0" tIns="0" rIns="0" bIns="0" rtlCol="0" anchor="ctr"/>
          <a:lstStyle/>
          <a:p>
            <a:pPr marL="0" indent="0">
              <a:buNone/>
            </a:pPr>
            <a:r>
              <a:rPr lang="en-US" sz="800" dirty="0">
                <a:solidFill>
                  <a:srgbClr val="12202E"/>
                </a:solidFill>
                <a:latin typeface="Calibri" pitchFamily="34" charset="0"/>
                <a:ea typeface="Calibri" pitchFamily="34" charset="-122"/>
                <a:cs typeface="Calibri" pitchFamily="34" charset="-120"/>
              </a:rPr>
              <a:t>free numeric input, days</a:t>
            </a:r>
            <a:endParaRPr lang="en-US" sz="800" dirty="0"/>
          </a:p>
        </p:txBody>
      </p:sp>
      <p:sp>
        <p:nvSpPr>
          <p:cNvPr id="80" name="Text 78"/>
          <p:cNvSpPr/>
          <p:nvPr/>
        </p:nvSpPr>
        <p:spPr>
          <a:xfrm>
            <a:off x="7470648" y="5065776"/>
            <a:ext cx="1600200" cy="347472"/>
          </a:xfrm>
          <a:prstGeom prst="rect">
            <a:avLst/>
          </a:prstGeom>
          <a:noFill/>
          <a:ln/>
        </p:spPr>
        <p:txBody>
          <a:bodyPr wrap="square" lIns="0" tIns="0" rIns="0" bIns="0" rtlCol="0" anchor="ctr"/>
          <a:lstStyle/>
          <a:p>
            <a:pPr marL="0" indent="0">
              <a:buNone/>
            </a:pPr>
            <a:r>
              <a:rPr lang="en-US" sz="800" dirty="0">
                <a:solidFill>
                  <a:srgbClr val="12202E"/>
                </a:solidFill>
                <a:latin typeface="Calibri" pitchFamily="34" charset="0"/>
                <a:ea typeface="Calibri" pitchFamily="34" charset="-122"/>
                <a:cs typeface="Calibri" pitchFamily="34" charset="-120"/>
              </a:rPr>
              <a:t>secretion ≥ 1</a:t>
            </a:r>
            <a:endParaRPr lang="en-US" sz="800" dirty="0"/>
          </a:p>
        </p:txBody>
      </p:sp>
      <p:sp>
        <p:nvSpPr>
          <p:cNvPr id="81" name="Text 79"/>
          <p:cNvSpPr/>
          <p:nvPr/>
        </p:nvSpPr>
        <p:spPr>
          <a:xfrm>
            <a:off x="9116568" y="5065776"/>
            <a:ext cx="1417320" cy="347472"/>
          </a:xfrm>
          <a:prstGeom prst="rect">
            <a:avLst/>
          </a:prstGeom>
          <a:noFill/>
          <a:ln/>
        </p:spPr>
        <p:txBody>
          <a:bodyPr wrap="square" lIns="0" tIns="0" rIns="0" bIns="0" rtlCol="0" anchor="ctr"/>
          <a:lstStyle/>
          <a:p>
            <a:pPr marL="0" indent="0">
              <a:buNone/>
            </a:pPr>
            <a:r>
              <a:rPr lang="en-US" sz="800" dirty="0">
                <a:solidFill>
                  <a:srgbClr val="5D7186"/>
                </a:solidFill>
                <a:latin typeface="Calibri" pitchFamily="34" charset="0"/>
                <a:ea typeface="Calibri" pitchFamily="34" charset="-122"/>
                <a:cs typeface="Calibri" pitchFamily="34" charset="-120"/>
              </a:rPr>
              <a:t>0–60</a:t>
            </a:r>
            <a:endParaRPr lang="en-US" sz="800" dirty="0"/>
          </a:p>
        </p:txBody>
      </p:sp>
      <p:sp>
        <p:nvSpPr>
          <p:cNvPr id="82" name="Text 80"/>
          <p:cNvSpPr/>
          <p:nvPr/>
        </p:nvSpPr>
        <p:spPr>
          <a:xfrm>
            <a:off x="10579608" y="5065776"/>
            <a:ext cx="1344168" cy="347472"/>
          </a:xfrm>
          <a:prstGeom prst="rect">
            <a:avLst/>
          </a:prstGeom>
          <a:noFill/>
          <a:ln/>
        </p:spPr>
        <p:txBody>
          <a:bodyPr wrap="square" lIns="0" tIns="0" rIns="0" bIns="0" rtlCol="0" anchor="ctr"/>
          <a:lstStyle/>
          <a:p>
            <a:pPr marL="0" indent="0">
              <a:buNone/>
            </a:pPr>
            <a:r>
              <a:rPr lang="en-US" sz="800" dirty="0">
                <a:solidFill>
                  <a:srgbClr val="5D7186"/>
                </a:solidFill>
                <a:latin typeface="Calibri" pitchFamily="34" charset="0"/>
                <a:ea typeface="Calibri" pitchFamily="34" charset="-122"/>
                <a:cs typeface="Calibri" pitchFamily="34" charset="-120"/>
              </a:rPr>
              <a:t>—</a:t>
            </a:r>
            <a:endParaRPr lang="en-US" sz="800" dirty="0"/>
          </a:p>
        </p:txBody>
      </p:sp>
      <p:sp>
        <p:nvSpPr>
          <p:cNvPr id="83" name="Shape 81"/>
          <p:cNvSpPr/>
          <p:nvPr/>
        </p:nvSpPr>
        <p:spPr>
          <a:xfrm>
            <a:off x="566928" y="5468112"/>
            <a:ext cx="11064240" cy="347472"/>
          </a:xfrm>
          <a:prstGeom prst="roundRect">
            <a:avLst>
              <a:gd name="adj" fmla="val 23684"/>
            </a:avLst>
          </a:prstGeom>
          <a:solidFill>
            <a:srgbClr val="FFFFFF"/>
          </a:solidFill>
          <a:ln w="12700">
            <a:solidFill>
              <a:srgbClr val="FFFFFF"/>
            </a:solidFill>
            <a:prstDash val="solid"/>
          </a:ln>
        </p:spPr>
        <p:txBody>
          <a:bodyPr/>
          <a:lstStyle/>
          <a:p>
            <a:endParaRPr lang="de-CH"/>
          </a:p>
        </p:txBody>
      </p:sp>
      <p:sp>
        <p:nvSpPr>
          <p:cNvPr id="84" name="Text 82"/>
          <p:cNvSpPr/>
          <p:nvPr/>
        </p:nvSpPr>
        <p:spPr>
          <a:xfrm>
            <a:off x="585216" y="5468112"/>
            <a:ext cx="713232" cy="347472"/>
          </a:xfrm>
          <a:prstGeom prst="rect">
            <a:avLst/>
          </a:prstGeom>
          <a:noFill/>
          <a:ln/>
        </p:spPr>
        <p:txBody>
          <a:bodyPr wrap="square" lIns="0" tIns="0" rIns="0" bIns="0" rtlCol="0" anchor="ctr"/>
          <a:lstStyle/>
          <a:p>
            <a:pPr marL="0" indent="0">
              <a:buNone/>
            </a:pPr>
            <a:r>
              <a:rPr lang="en-US" sz="800" b="1" dirty="0">
                <a:solidFill>
                  <a:srgbClr val="12202E"/>
                </a:solidFill>
                <a:latin typeface="Calibri" pitchFamily="34" charset="0"/>
                <a:ea typeface="Calibri" pitchFamily="34" charset="-122"/>
                <a:cs typeface="Calibri" pitchFamily="34" charset="-120"/>
              </a:rPr>
              <a:t>DE-025</a:t>
            </a:r>
            <a:endParaRPr lang="en-US" sz="800" dirty="0"/>
          </a:p>
        </p:txBody>
      </p:sp>
      <p:sp>
        <p:nvSpPr>
          <p:cNvPr id="85" name="Text 83"/>
          <p:cNvSpPr/>
          <p:nvPr/>
        </p:nvSpPr>
        <p:spPr>
          <a:xfrm>
            <a:off x="1344168" y="5468112"/>
            <a:ext cx="2148840" cy="347472"/>
          </a:xfrm>
          <a:prstGeom prst="rect">
            <a:avLst/>
          </a:prstGeom>
          <a:noFill/>
          <a:ln/>
        </p:spPr>
        <p:txBody>
          <a:bodyPr wrap="square" lIns="0" tIns="0" rIns="0" bIns="0" rtlCol="0" anchor="ctr"/>
          <a:lstStyle/>
          <a:p>
            <a:pPr marL="0" indent="0">
              <a:buNone/>
            </a:pPr>
            <a:r>
              <a:rPr lang="en-US" sz="800" dirty="0">
                <a:solidFill>
                  <a:srgbClr val="12202E"/>
                </a:solidFill>
                <a:latin typeface="Calibri" pitchFamily="34" charset="0"/>
                <a:ea typeface="Calibri" pitchFamily="34" charset="-122"/>
                <a:cs typeface="Calibri" pitchFamily="34" charset="-120"/>
              </a:rPr>
              <a:t>Did pain disturb your sleep?</a:t>
            </a:r>
            <a:endParaRPr lang="en-US" sz="800" dirty="0"/>
          </a:p>
        </p:txBody>
      </p:sp>
      <p:sp>
        <p:nvSpPr>
          <p:cNvPr id="86" name="Text 84"/>
          <p:cNvSpPr/>
          <p:nvPr/>
        </p:nvSpPr>
        <p:spPr>
          <a:xfrm>
            <a:off x="3538728" y="5468112"/>
            <a:ext cx="960120" cy="347472"/>
          </a:xfrm>
          <a:prstGeom prst="rect">
            <a:avLst/>
          </a:prstGeom>
          <a:noFill/>
          <a:ln/>
        </p:spPr>
        <p:txBody>
          <a:bodyPr wrap="square" lIns="0" tIns="0" rIns="0" bIns="0" rtlCol="0" anchor="ctr"/>
          <a:lstStyle/>
          <a:p>
            <a:pPr marL="0" indent="0">
              <a:buNone/>
            </a:pPr>
            <a:r>
              <a:rPr lang="en-US" sz="800" dirty="0">
                <a:solidFill>
                  <a:srgbClr val="12202E"/>
                </a:solidFill>
                <a:latin typeface="Calibri" pitchFamily="34" charset="0"/>
                <a:ea typeface="Calibri" pitchFamily="34" charset="-122"/>
                <a:cs typeface="Calibri" pitchFamily="34" charset="-120"/>
              </a:rPr>
              <a:t>select_one</a:t>
            </a:r>
            <a:endParaRPr lang="en-US" sz="800" dirty="0"/>
          </a:p>
        </p:txBody>
      </p:sp>
      <p:sp>
        <p:nvSpPr>
          <p:cNvPr id="87" name="Text 85"/>
          <p:cNvSpPr/>
          <p:nvPr/>
        </p:nvSpPr>
        <p:spPr>
          <a:xfrm>
            <a:off x="4544568" y="5468112"/>
            <a:ext cx="2880360" cy="347472"/>
          </a:xfrm>
          <a:prstGeom prst="rect">
            <a:avLst/>
          </a:prstGeom>
          <a:noFill/>
          <a:ln/>
        </p:spPr>
        <p:txBody>
          <a:bodyPr wrap="square" lIns="0" tIns="0" rIns="0" bIns="0" rtlCol="0" anchor="ctr"/>
          <a:lstStyle/>
          <a:p>
            <a:pPr marL="0" indent="0">
              <a:buNone/>
            </a:pPr>
            <a:r>
              <a:rPr lang="en-US" sz="800" dirty="0">
                <a:solidFill>
                  <a:srgbClr val="12202E"/>
                </a:solidFill>
                <a:latin typeface="Calibri" pitchFamily="34" charset="0"/>
                <a:ea typeface="Calibri" pitchFamily="34" charset="-122"/>
                <a:cs typeface="Calibri" pitchFamily="34" charset="-120"/>
              </a:rPr>
              <a:t>1 = yes · 0 = no</a:t>
            </a:r>
            <a:endParaRPr lang="en-US" sz="800" dirty="0"/>
          </a:p>
        </p:txBody>
      </p:sp>
      <p:sp>
        <p:nvSpPr>
          <p:cNvPr id="88" name="Text 86"/>
          <p:cNvSpPr/>
          <p:nvPr/>
        </p:nvSpPr>
        <p:spPr>
          <a:xfrm>
            <a:off x="7470648" y="5468112"/>
            <a:ext cx="1600200" cy="347472"/>
          </a:xfrm>
          <a:prstGeom prst="rect">
            <a:avLst/>
          </a:prstGeom>
          <a:noFill/>
          <a:ln/>
        </p:spPr>
        <p:txBody>
          <a:bodyPr wrap="square" lIns="0" tIns="0" rIns="0" bIns="0" rtlCol="0" anchor="ctr"/>
          <a:lstStyle/>
          <a:p>
            <a:pPr marL="0" indent="0">
              <a:buNone/>
            </a:pPr>
            <a:r>
              <a:rPr lang="en-US" sz="800" dirty="0">
                <a:solidFill>
                  <a:srgbClr val="12202E"/>
                </a:solidFill>
                <a:latin typeface="Calibri" pitchFamily="34" charset="0"/>
                <a:ea typeface="Calibri" pitchFamily="34" charset="-122"/>
                <a:cs typeface="Calibri" pitchFamily="34" charset="-120"/>
              </a:rPr>
              <a:t>pain ≥ 4</a:t>
            </a:r>
            <a:endParaRPr lang="en-US" sz="800" dirty="0"/>
          </a:p>
        </p:txBody>
      </p:sp>
      <p:sp>
        <p:nvSpPr>
          <p:cNvPr id="89" name="Text 87"/>
          <p:cNvSpPr/>
          <p:nvPr/>
        </p:nvSpPr>
        <p:spPr>
          <a:xfrm>
            <a:off x="9116568" y="5468112"/>
            <a:ext cx="1417320" cy="347472"/>
          </a:xfrm>
          <a:prstGeom prst="rect">
            <a:avLst/>
          </a:prstGeom>
          <a:noFill/>
          <a:ln/>
        </p:spPr>
        <p:txBody>
          <a:bodyPr wrap="square" lIns="0" tIns="0" rIns="0" bIns="0" rtlCol="0" anchor="ctr"/>
          <a:lstStyle/>
          <a:p>
            <a:pPr marL="0" indent="0">
              <a:buNone/>
            </a:pPr>
            <a:r>
              <a:rPr lang="en-US" sz="800" dirty="0">
                <a:solidFill>
                  <a:srgbClr val="5D7186"/>
                </a:solidFill>
                <a:latin typeface="Calibri" pitchFamily="34" charset="0"/>
                <a:ea typeface="Calibri" pitchFamily="34" charset="-122"/>
                <a:cs typeface="Calibri" pitchFamily="34" charset="-120"/>
              </a:rPr>
              <a:t>—</a:t>
            </a:r>
            <a:endParaRPr lang="en-US" sz="800" dirty="0"/>
          </a:p>
        </p:txBody>
      </p:sp>
      <p:sp>
        <p:nvSpPr>
          <p:cNvPr id="90" name="Text 88"/>
          <p:cNvSpPr/>
          <p:nvPr/>
        </p:nvSpPr>
        <p:spPr>
          <a:xfrm>
            <a:off x="10579608" y="5468112"/>
            <a:ext cx="1344168" cy="347472"/>
          </a:xfrm>
          <a:prstGeom prst="rect">
            <a:avLst/>
          </a:prstGeom>
          <a:noFill/>
          <a:ln/>
        </p:spPr>
        <p:txBody>
          <a:bodyPr wrap="square" lIns="0" tIns="0" rIns="0" bIns="0" rtlCol="0" anchor="ctr"/>
          <a:lstStyle/>
          <a:p>
            <a:pPr marL="0" indent="0">
              <a:buNone/>
            </a:pPr>
            <a:r>
              <a:rPr lang="en-US" sz="800" dirty="0">
                <a:solidFill>
                  <a:srgbClr val="5D7186"/>
                </a:solidFill>
                <a:latin typeface="Calibri" pitchFamily="34" charset="0"/>
                <a:ea typeface="Calibri" pitchFamily="34" charset="-122"/>
                <a:cs typeface="Calibri" pitchFamily="34" charset="-120"/>
              </a:rPr>
              <a:t>SNOMED 301345002</a:t>
            </a:r>
            <a:endParaRPr lang="en-US" sz="800" dirty="0"/>
          </a:p>
        </p:txBody>
      </p:sp>
      <p:sp>
        <p:nvSpPr>
          <p:cNvPr id="91" name="Shape 89"/>
          <p:cNvSpPr/>
          <p:nvPr/>
        </p:nvSpPr>
        <p:spPr>
          <a:xfrm>
            <a:off x="566928" y="5870448"/>
            <a:ext cx="11064240" cy="347472"/>
          </a:xfrm>
          <a:prstGeom prst="roundRect">
            <a:avLst>
              <a:gd name="adj" fmla="val 23684"/>
            </a:avLst>
          </a:prstGeom>
          <a:solidFill>
            <a:srgbClr val="F5F7FA"/>
          </a:solidFill>
          <a:ln w="12700">
            <a:solidFill>
              <a:srgbClr val="DDE5EE"/>
            </a:solidFill>
            <a:prstDash val="solid"/>
          </a:ln>
        </p:spPr>
        <p:txBody>
          <a:bodyPr/>
          <a:lstStyle/>
          <a:p>
            <a:endParaRPr lang="de-CH"/>
          </a:p>
        </p:txBody>
      </p:sp>
      <p:sp>
        <p:nvSpPr>
          <p:cNvPr id="92" name="Text 90"/>
          <p:cNvSpPr/>
          <p:nvPr/>
        </p:nvSpPr>
        <p:spPr>
          <a:xfrm>
            <a:off x="585216" y="5870448"/>
            <a:ext cx="713232" cy="347472"/>
          </a:xfrm>
          <a:prstGeom prst="rect">
            <a:avLst/>
          </a:prstGeom>
          <a:noFill/>
          <a:ln/>
        </p:spPr>
        <p:txBody>
          <a:bodyPr wrap="square" lIns="0" tIns="0" rIns="0" bIns="0" rtlCol="0" anchor="ctr"/>
          <a:lstStyle/>
          <a:p>
            <a:pPr marL="0" indent="0">
              <a:buNone/>
            </a:pPr>
            <a:r>
              <a:rPr lang="en-US" sz="800" b="1" dirty="0">
                <a:solidFill>
                  <a:srgbClr val="12202E"/>
                </a:solidFill>
                <a:latin typeface="Calibri" pitchFamily="34" charset="0"/>
                <a:ea typeface="Calibri" pitchFamily="34" charset="-122"/>
                <a:cs typeface="Calibri" pitchFamily="34" charset="-120"/>
              </a:rPr>
              <a:t>DE-045</a:t>
            </a:r>
            <a:endParaRPr lang="en-US" sz="800" dirty="0"/>
          </a:p>
        </p:txBody>
      </p:sp>
      <p:sp>
        <p:nvSpPr>
          <p:cNvPr id="93" name="Text 91"/>
          <p:cNvSpPr/>
          <p:nvPr/>
        </p:nvSpPr>
        <p:spPr>
          <a:xfrm>
            <a:off x="1344168" y="5870448"/>
            <a:ext cx="2148840" cy="347472"/>
          </a:xfrm>
          <a:prstGeom prst="rect">
            <a:avLst/>
          </a:prstGeom>
          <a:noFill/>
          <a:ln/>
        </p:spPr>
        <p:txBody>
          <a:bodyPr wrap="square" lIns="0" tIns="0" rIns="0" bIns="0" rtlCol="0" anchor="ctr"/>
          <a:lstStyle/>
          <a:p>
            <a:pPr marL="0" indent="0">
              <a:buNone/>
            </a:pPr>
            <a:r>
              <a:rPr lang="en-US" sz="800" dirty="0">
                <a:solidFill>
                  <a:srgbClr val="12202E"/>
                </a:solidFill>
                <a:latin typeface="Calibri" pitchFamily="34" charset="0"/>
                <a:ea typeface="Calibri" pitchFamily="34" charset="-122"/>
                <a:cs typeface="Calibri" pitchFamily="34" charset="-120"/>
              </a:rPr>
              <a:t>Southampton grade</a:t>
            </a:r>
            <a:endParaRPr lang="en-US" sz="800" dirty="0"/>
          </a:p>
        </p:txBody>
      </p:sp>
      <p:sp>
        <p:nvSpPr>
          <p:cNvPr id="94" name="Text 92"/>
          <p:cNvSpPr/>
          <p:nvPr/>
        </p:nvSpPr>
        <p:spPr>
          <a:xfrm>
            <a:off x="3538728" y="5870448"/>
            <a:ext cx="960120" cy="347472"/>
          </a:xfrm>
          <a:prstGeom prst="rect">
            <a:avLst/>
          </a:prstGeom>
          <a:noFill/>
          <a:ln/>
        </p:spPr>
        <p:txBody>
          <a:bodyPr wrap="square" lIns="0" tIns="0" rIns="0" bIns="0" rtlCol="0" anchor="ctr"/>
          <a:lstStyle/>
          <a:p>
            <a:pPr marL="0" indent="0">
              <a:buNone/>
            </a:pPr>
            <a:r>
              <a:rPr lang="en-US" sz="800" dirty="0">
                <a:solidFill>
                  <a:srgbClr val="12202E"/>
                </a:solidFill>
                <a:latin typeface="Calibri" pitchFamily="34" charset="0"/>
                <a:ea typeface="Calibri" pitchFamily="34" charset="-122"/>
                <a:cs typeface="Calibri" pitchFamily="34" charset="-120"/>
              </a:rPr>
              <a:t>calculated</a:t>
            </a:r>
            <a:endParaRPr lang="en-US" sz="800" dirty="0"/>
          </a:p>
        </p:txBody>
      </p:sp>
      <p:sp>
        <p:nvSpPr>
          <p:cNvPr id="95" name="Text 93"/>
          <p:cNvSpPr/>
          <p:nvPr/>
        </p:nvSpPr>
        <p:spPr>
          <a:xfrm>
            <a:off x="4544568" y="5870448"/>
            <a:ext cx="2880360" cy="347472"/>
          </a:xfrm>
          <a:prstGeom prst="rect">
            <a:avLst/>
          </a:prstGeom>
          <a:noFill/>
          <a:ln/>
        </p:spPr>
        <p:txBody>
          <a:bodyPr wrap="square" lIns="0" tIns="0" rIns="0" bIns="0" rtlCol="0" anchor="ctr"/>
          <a:lstStyle/>
          <a:p>
            <a:pPr marL="0" indent="0">
              <a:buNone/>
            </a:pPr>
            <a:r>
              <a:rPr lang="en-US" sz="800" dirty="0">
                <a:solidFill>
                  <a:srgbClr val="12202E"/>
                </a:solidFill>
                <a:latin typeface="Calibri" pitchFamily="34" charset="0"/>
                <a:ea typeface="Calibri" pitchFamily="34" charset="-122"/>
                <a:cs typeface="Calibri" pitchFamily="34" charset="-120"/>
              </a:rPr>
              <a:t>0 · I · II · III · IV · V</a:t>
            </a:r>
            <a:endParaRPr lang="en-US" sz="800" dirty="0"/>
          </a:p>
        </p:txBody>
      </p:sp>
      <p:sp>
        <p:nvSpPr>
          <p:cNvPr id="96" name="Text 94"/>
          <p:cNvSpPr/>
          <p:nvPr/>
        </p:nvSpPr>
        <p:spPr>
          <a:xfrm>
            <a:off x="7470648" y="5870448"/>
            <a:ext cx="1600200" cy="347472"/>
          </a:xfrm>
          <a:prstGeom prst="rect">
            <a:avLst/>
          </a:prstGeom>
          <a:noFill/>
          <a:ln/>
        </p:spPr>
        <p:txBody>
          <a:bodyPr wrap="square" lIns="0" tIns="0" rIns="0" bIns="0" rtlCol="0" anchor="ctr"/>
          <a:lstStyle/>
          <a:p>
            <a:pPr marL="0" indent="0">
              <a:buNone/>
            </a:pPr>
            <a:r>
              <a:rPr lang="en-US" sz="800" dirty="0">
                <a:solidFill>
                  <a:srgbClr val="12202E"/>
                </a:solidFill>
                <a:latin typeface="Calibri" pitchFamily="34" charset="0"/>
                <a:ea typeface="Calibri" pitchFamily="34" charset="-122"/>
                <a:cs typeface="Calibri" pitchFamily="34" charset="-120"/>
              </a:rPr>
              <a:t>derived from 5 elements</a:t>
            </a:r>
            <a:endParaRPr lang="en-US" sz="800" dirty="0"/>
          </a:p>
        </p:txBody>
      </p:sp>
      <p:sp>
        <p:nvSpPr>
          <p:cNvPr id="97" name="Text 95"/>
          <p:cNvSpPr/>
          <p:nvPr/>
        </p:nvSpPr>
        <p:spPr>
          <a:xfrm>
            <a:off x="9116568" y="5870448"/>
            <a:ext cx="1417320" cy="347472"/>
          </a:xfrm>
          <a:prstGeom prst="rect">
            <a:avLst/>
          </a:prstGeom>
          <a:noFill/>
          <a:ln/>
        </p:spPr>
        <p:txBody>
          <a:bodyPr wrap="square" lIns="0" tIns="0" rIns="0" bIns="0" rtlCol="0" anchor="ctr"/>
          <a:lstStyle/>
          <a:p>
            <a:pPr marL="0" indent="0">
              <a:buNone/>
            </a:pPr>
            <a:r>
              <a:rPr lang="en-US" sz="800" dirty="0">
                <a:solidFill>
                  <a:srgbClr val="5D7186"/>
                </a:solidFill>
                <a:latin typeface="Calibri" pitchFamily="34" charset="0"/>
                <a:ea typeface="Calibri" pitchFamily="34" charset="-122"/>
                <a:cs typeface="Calibri" pitchFamily="34" charset="-120"/>
              </a:rPr>
              <a:t>—</a:t>
            </a:r>
            <a:endParaRPr lang="en-US" sz="800" dirty="0"/>
          </a:p>
        </p:txBody>
      </p:sp>
      <p:sp>
        <p:nvSpPr>
          <p:cNvPr id="98" name="Text 96"/>
          <p:cNvSpPr/>
          <p:nvPr/>
        </p:nvSpPr>
        <p:spPr>
          <a:xfrm>
            <a:off x="10579608" y="5870448"/>
            <a:ext cx="1344168" cy="347472"/>
          </a:xfrm>
          <a:prstGeom prst="rect">
            <a:avLst/>
          </a:prstGeom>
          <a:noFill/>
          <a:ln/>
        </p:spPr>
        <p:txBody>
          <a:bodyPr wrap="square" lIns="0" tIns="0" rIns="0" bIns="0" rtlCol="0" anchor="ctr"/>
          <a:lstStyle/>
          <a:p>
            <a:pPr marL="0" indent="0">
              <a:buNone/>
            </a:pPr>
            <a:r>
              <a:rPr lang="en-US" sz="800" dirty="0">
                <a:solidFill>
                  <a:srgbClr val="5D7186"/>
                </a:solidFill>
                <a:latin typeface="Calibri" pitchFamily="34" charset="0"/>
                <a:ea typeface="Calibri" pitchFamily="34" charset="-122"/>
                <a:cs typeface="Calibri" pitchFamily="34" charset="-120"/>
              </a:rPr>
              <a:t>SNOMED 225552003</a:t>
            </a:r>
            <a:endParaRPr lang="en-US" sz="800" dirty="0"/>
          </a:p>
        </p:txBody>
      </p:sp>
      <p:sp>
        <p:nvSpPr>
          <p:cNvPr id="99" name="Text 97"/>
          <p:cNvSpPr/>
          <p:nvPr/>
        </p:nvSpPr>
        <p:spPr>
          <a:xfrm>
            <a:off x="566928" y="6345936"/>
            <a:ext cx="11064240" cy="274320"/>
          </a:xfrm>
          <a:prstGeom prst="rect">
            <a:avLst/>
          </a:prstGeom>
          <a:noFill/>
          <a:ln/>
        </p:spPr>
        <p:txBody>
          <a:bodyPr wrap="square" lIns="0" tIns="0" rIns="0" bIns="0" rtlCol="0" anchor="ctr"/>
          <a:lstStyle/>
          <a:p>
            <a:pPr marL="0" indent="0">
              <a:buNone/>
            </a:pPr>
            <a:r>
              <a:rPr lang="en-US" sz="1000" i="1">
                <a:solidFill>
                  <a:srgbClr val="5D7186"/>
                </a:solidFill>
                <a:latin typeface="Calibri" pitchFamily="34" charset="0"/>
                <a:ea typeface="Calibri" pitchFamily="34" charset="-122"/>
                <a:cs typeface="Calibri" pitchFamily="34" charset="-120"/>
              </a:rPr>
              <a:t>49 </a:t>
            </a:r>
            <a:r>
              <a:rPr lang="en-US" sz="1000" i="1" dirty="0">
                <a:solidFill>
                  <a:srgbClr val="5D7186"/>
                </a:solidFill>
                <a:latin typeface="Calibri" pitchFamily="34" charset="0"/>
                <a:ea typeface="Calibri" pitchFamily="34" charset="-122"/>
                <a:cs typeface="Calibri" pitchFamily="34" charset="-120"/>
              </a:rPr>
              <a:t>elements in total · </a:t>
            </a:r>
            <a:r>
              <a:rPr lang="en-US" sz="1000" i="1">
                <a:solidFill>
                  <a:srgbClr val="5D7186"/>
                </a:solidFill>
                <a:latin typeface="Calibri" pitchFamily="34" charset="0"/>
                <a:ea typeface="Calibri" pitchFamily="34" charset="-122"/>
                <a:cs typeface="Calibri" pitchFamily="34" charset="-120"/>
              </a:rPr>
              <a:t>10</a:t>
            </a:r>
            <a:r>
              <a:rPr lang="en-US" sz="1000" i="1" dirty="0">
                <a:solidFill>
                  <a:srgbClr val="5D7186"/>
                </a:solidFill>
                <a:latin typeface="Calibri" pitchFamily="34" charset="0"/>
                <a:ea typeface="Calibri" pitchFamily="34" charset="-122"/>
                <a:cs typeface="Calibri" pitchFamily="34" charset="-120"/>
              </a:rPr>
              <a:t> derived · 4 with conditional logic · 8 with constraints · 38 with a terminology binding · </a:t>
            </a:r>
            <a:r>
              <a:rPr lang="en-US" sz="1000" i="1">
                <a:solidFill>
                  <a:srgbClr val="5D7186"/>
                </a:solidFill>
                <a:latin typeface="Calibri" pitchFamily="34" charset="0"/>
                <a:ea typeface="Calibri" pitchFamily="34" charset="-122"/>
                <a:cs typeface="Calibri" pitchFamily="34" charset="-120"/>
              </a:rPr>
              <a:t>48</a:t>
            </a:r>
            <a:r>
              <a:rPr lang="en-US" sz="1000" i="1" dirty="0">
                <a:solidFill>
                  <a:srgbClr val="5D7186"/>
                </a:solidFill>
                <a:latin typeface="Calibri" pitchFamily="34" charset="0"/>
                <a:ea typeface="Calibri" pitchFamily="34" charset="-122"/>
                <a:cs typeface="Calibri" pitchFamily="34" charset="-120"/>
              </a:rPr>
              <a:t> with a FHIR mapping.  Full table: docs/05.</a:t>
            </a:r>
            <a:endParaRPr lang="en-US" sz="1000" dirty="0"/>
          </a:p>
        </p:txBody>
      </p:sp>
      <p:sp>
        <p:nvSpPr>
          <p:cNvPr id="101" name="Text 11">
            <a:extLst>
              <a:ext uri="{FF2B5EF4-FFF2-40B4-BE49-F238E27FC236}">
                <a16:creationId xmlns:a16="http://schemas.microsoft.com/office/drawing/2014/main" id="{2645B061-6312-1C34-C4EE-2C57745004C7}"/>
              </a:ext>
            </a:extLst>
          </p:cNvPr>
          <p:cNvSpPr/>
          <p:nvPr/>
        </p:nvSpPr>
        <p:spPr>
          <a:xfrm>
            <a:off x="57709" y="6568124"/>
            <a:ext cx="8229600" cy="274320"/>
          </a:xfrm>
          <a:prstGeom prst="rect">
            <a:avLst/>
          </a:prstGeom>
          <a:noFill/>
          <a:ln/>
        </p:spPr>
        <p:txBody>
          <a:bodyPr wrap="square" lIns="0" tIns="0" rIns="0" bIns="0" rtlCol="0" anchor="ctr"/>
          <a:lstStyle/>
          <a:p>
            <a:pPr marL="0" indent="0">
              <a:buNone/>
            </a:pPr>
            <a:r>
              <a:rPr lang="en-US" sz="900">
                <a:solidFill>
                  <a:srgbClr val="8FA3B8"/>
                </a:solidFill>
                <a:latin typeface="Calibri" pitchFamily="34" charset="0"/>
                <a:ea typeface="Calibri" pitchFamily="34" charset="-122"/>
                <a:cs typeface="Calibri" pitchFamily="34" charset="-120"/>
              </a:rPr>
              <a:t>FHNW  ·  MSc Medical Informatics  ·  Clinical Decision Support Systems 2026</a:t>
            </a:r>
            <a:endParaRPr lang="en-US" sz="900"/>
          </a:p>
        </p:txBody>
      </p:sp>
      <p:pic>
        <p:nvPicPr>
          <p:cNvPr id="103" name="Grafik 102">
            <a:extLst>
              <a:ext uri="{FF2B5EF4-FFF2-40B4-BE49-F238E27FC236}">
                <a16:creationId xmlns:a16="http://schemas.microsoft.com/office/drawing/2014/main" id="{0C98F551-D66B-90D8-F9BA-BF88E0432AC5}"/>
              </a:ext>
            </a:extLst>
          </p:cNvPr>
          <p:cNvPicPr>
            <a:picLocks noChangeAspect="1"/>
          </p:cNvPicPr>
          <p:nvPr/>
        </p:nvPicPr>
        <p:blipFill>
          <a:blip r:embed="rId3">
            <a:duotone>
              <a:schemeClr val="accent3">
                <a:shade val="45000"/>
                <a:satMod val="135000"/>
              </a:schemeClr>
              <a:prstClr val="white"/>
            </a:duotone>
          </a:blip>
          <a:stretch>
            <a:fillRect/>
          </a:stretch>
        </p:blipFill>
        <p:spPr>
          <a:xfrm>
            <a:off x="57709" y="47504"/>
            <a:ext cx="1012490" cy="23624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7680960" cy="219456"/>
          </a:xfrm>
          <a:prstGeom prst="rect">
            <a:avLst/>
          </a:prstGeom>
          <a:noFill/>
          <a:ln/>
        </p:spPr>
        <p:txBody>
          <a:bodyPr wrap="square" lIns="0" tIns="0" rIns="0" bIns="0" rtlCol="0" anchor="ctr"/>
          <a:lstStyle/>
          <a:p>
            <a:pPr marL="0" indent="0">
              <a:buNone/>
            </a:pPr>
            <a:r>
              <a:rPr lang="en-US" sz="1050" b="1" kern="0" spc="160" dirty="0">
                <a:solidFill>
                  <a:srgbClr val="5D7186"/>
                </a:solidFill>
                <a:latin typeface="Calibri" pitchFamily="34" charset="0"/>
                <a:ea typeface="Calibri" pitchFamily="34" charset="-122"/>
                <a:cs typeface="Calibri" pitchFamily="34" charset="-120"/>
              </a:rPr>
              <a:t>BACKUP · DOCUMENTATION</a:t>
            </a:r>
            <a:endParaRPr lang="en-US" sz="1050" dirty="0"/>
          </a:p>
        </p:txBody>
      </p:sp>
      <p:sp>
        <p:nvSpPr>
          <p:cNvPr id="3" name="Text 1"/>
          <p:cNvSpPr/>
          <p:nvPr/>
        </p:nvSpPr>
        <p:spPr>
          <a:xfrm>
            <a:off x="566928" y="640080"/>
            <a:ext cx="10607040" cy="658368"/>
          </a:xfrm>
          <a:prstGeom prst="rect">
            <a:avLst/>
          </a:prstGeom>
          <a:noFill/>
          <a:ln/>
        </p:spPr>
        <p:txBody>
          <a:bodyPr wrap="square" lIns="0" tIns="0" rIns="0" bIns="0" rtlCol="0" anchor="t"/>
          <a:lstStyle/>
          <a:p>
            <a:pPr marL="0" indent="0">
              <a:buNone/>
            </a:pPr>
            <a:r>
              <a:rPr lang="en-US" sz="2700" b="1" dirty="0">
                <a:solidFill>
                  <a:srgbClr val="12202E"/>
                </a:solidFill>
                <a:latin typeface="Cambria" pitchFamily="34" charset="0"/>
                <a:ea typeface="Cambria" pitchFamily="34" charset="-122"/>
                <a:cs typeface="Cambria" pitchFamily="34" charset="-120"/>
              </a:rPr>
              <a:t>Depth that did not fit into ten minutes</a:t>
            </a:r>
            <a:endParaRPr lang="en-US" sz="2700" dirty="0"/>
          </a:p>
        </p:txBody>
      </p:sp>
      <p:sp>
        <p:nvSpPr>
          <p:cNvPr id="4" name="Shape 2"/>
          <p:cNvSpPr/>
          <p:nvPr/>
        </p:nvSpPr>
        <p:spPr>
          <a:xfrm>
            <a:off x="566928" y="1591056"/>
            <a:ext cx="5440680" cy="2139696"/>
          </a:xfrm>
          <a:prstGeom prst="roundRect">
            <a:avLst>
              <a:gd name="adj" fmla="val 3846"/>
            </a:avLst>
          </a:prstGeom>
          <a:solidFill>
            <a:srgbClr val="F5F7FA"/>
          </a:solidFill>
          <a:ln w="12700">
            <a:solidFill>
              <a:srgbClr val="DDE5EE"/>
            </a:solidFill>
            <a:prstDash val="solid"/>
          </a:ln>
        </p:spPr>
        <p:txBody>
          <a:bodyPr/>
          <a:lstStyle/>
          <a:p>
            <a:endParaRPr lang="de-CH"/>
          </a:p>
        </p:txBody>
      </p:sp>
      <p:sp>
        <p:nvSpPr>
          <p:cNvPr id="5" name="Text 3"/>
          <p:cNvSpPr/>
          <p:nvPr/>
        </p:nvSpPr>
        <p:spPr>
          <a:xfrm>
            <a:off x="804672" y="1737360"/>
            <a:ext cx="4937760" cy="274320"/>
          </a:xfrm>
          <a:prstGeom prst="rect">
            <a:avLst/>
          </a:prstGeom>
          <a:noFill/>
          <a:ln/>
        </p:spPr>
        <p:txBody>
          <a:bodyPr wrap="square" lIns="0" tIns="0" rIns="0" bIns="0" rtlCol="0" anchor="ctr"/>
          <a:lstStyle/>
          <a:p>
            <a:pPr marL="0" indent="0">
              <a:buNone/>
            </a:pPr>
            <a:r>
              <a:rPr lang="en-US" sz="1250" b="1" dirty="0">
                <a:solidFill>
                  <a:srgbClr val="12202E"/>
                </a:solidFill>
                <a:latin typeface="Calibri" pitchFamily="34" charset="0"/>
                <a:ea typeface="Calibri" pitchFamily="34" charset="-122"/>
                <a:cs typeface="Calibri" pitchFamily="34" charset="-120"/>
              </a:rPr>
              <a:t>Testing types applied (Day 5 vocabulary)</a:t>
            </a:r>
            <a:endParaRPr lang="en-US" sz="1250" dirty="0"/>
          </a:p>
        </p:txBody>
      </p:sp>
      <p:sp>
        <p:nvSpPr>
          <p:cNvPr id="6" name="Text 4"/>
          <p:cNvSpPr/>
          <p:nvPr/>
        </p:nvSpPr>
        <p:spPr>
          <a:xfrm>
            <a:off x="804672" y="2066544"/>
            <a:ext cx="4937760" cy="1554480"/>
          </a:xfrm>
          <a:prstGeom prst="rect">
            <a:avLst/>
          </a:prstGeom>
          <a:noFill/>
          <a:ln/>
        </p:spPr>
        <p:txBody>
          <a:bodyPr wrap="square" lIns="0" tIns="0" rIns="0" bIns="0" rtlCol="0" anchor="ctr"/>
          <a:lstStyle/>
          <a:p>
            <a:pPr marL="177800" indent="-177800">
              <a:lnSpc>
                <a:spcPts val="1300"/>
              </a:lnSpc>
              <a:spcAft>
                <a:spcPts val="500"/>
              </a:spcAft>
              <a:buSzPct val="100000"/>
              <a:buChar char="•"/>
            </a:pPr>
            <a:r>
              <a:rPr lang="en-US" sz="1000" dirty="0">
                <a:solidFill>
                  <a:srgbClr val="5D7186"/>
                </a:solidFill>
                <a:latin typeface="Calibri" pitchFamily="34" charset="0"/>
                <a:ea typeface="Calibri" pitchFamily="34" charset="-122"/>
                <a:cs typeface="Calibri" pitchFamily="34" charset="-120"/>
              </a:rPr>
              <a:t>L2 verification — decision table ↔ BPMN cascade ↔ L3 rules reconciled</a:t>
            </a:r>
            <a:endParaRPr lang="en-US" sz="1000" dirty="0"/>
          </a:p>
          <a:p>
            <a:pPr marL="177800" indent="-177800">
              <a:lnSpc>
                <a:spcPts val="1300"/>
              </a:lnSpc>
              <a:spcAft>
                <a:spcPts val="500"/>
              </a:spcAft>
              <a:buSzPct val="100000"/>
              <a:buChar char="•"/>
            </a:pPr>
            <a:r>
              <a:rPr lang="en-US" sz="1000" dirty="0">
                <a:solidFill>
                  <a:srgbClr val="5D7186"/>
                </a:solidFill>
                <a:latin typeface="Calibri" pitchFamily="34" charset="0"/>
                <a:ea typeface="Calibri" pitchFamily="34" charset="-122"/>
                <a:cs typeface="Calibri" pitchFamily="34" charset="-120"/>
              </a:rPr>
              <a:t>Functional testing — individual rules, exclusions, severity order, boundary values</a:t>
            </a:r>
            <a:endParaRPr lang="en-US" sz="1000" dirty="0"/>
          </a:p>
          <a:p>
            <a:pPr marL="177800" indent="-177800">
              <a:lnSpc>
                <a:spcPts val="1300"/>
              </a:lnSpc>
              <a:spcAft>
                <a:spcPts val="500"/>
              </a:spcAft>
              <a:buSzPct val="100000"/>
              <a:buChar char="•"/>
            </a:pPr>
            <a:r>
              <a:rPr lang="en-US" sz="1000" dirty="0">
                <a:solidFill>
                  <a:srgbClr val="5D7186"/>
                </a:solidFill>
                <a:latin typeface="Calibri" pitchFamily="34" charset="0"/>
                <a:ea typeface="Calibri" pitchFamily="34" charset="-122"/>
                <a:cs typeface="Calibri" pitchFamily="34" charset="-120"/>
              </a:rPr>
              <a:t>Integration testing — derived elements → rules → output; conditional logic → rule reachability</a:t>
            </a:r>
            <a:endParaRPr lang="en-US" sz="1000" dirty="0"/>
          </a:p>
          <a:p>
            <a:pPr marL="177800" indent="-177800">
              <a:lnSpc>
                <a:spcPts val="1300"/>
              </a:lnSpc>
              <a:spcAft>
                <a:spcPts val="500"/>
              </a:spcAft>
              <a:buSzPct val="100000"/>
              <a:buChar char="•"/>
            </a:pPr>
            <a:r>
              <a:rPr lang="en-US" sz="1000" dirty="0">
                <a:solidFill>
                  <a:srgbClr val="5D7186"/>
                </a:solidFill>
                <a:latin typeface="Calibri" pitchFamily="34" charset="0"/>
                <a:ea typeface="Calibri" pitchFamily="34" charset="-122"/>
                <a:cs typeface="Calibri" pitchFamily="34" charset="-120"/>
              </a:rPr>
              <a:t>Usability testing — image assignment by lay people: NOT carried out, our largest residual risk</a:t>
            </a:r>
            <a:endParaRPr lang="en-US" sz="1000" dirty="0"/>
          </a:p>
        </p:txBody>
      </p:sp>
      <p:sp>
        <p:nvSpPr>
          <p:cNvPr id="7" name="Shape 5"/>
          <p:cNvSpPr/>
          <p:nvPr/>
        </p:nvSpPr>
        <p:spPr>
          <a:xfrm>
            <a:off x="6190488" y="1591056"/>
            <a:ext cx="5440680" cy="2139696"/>
          </a:xfrm>
          <a:prstGeom prst="roundRect">
            <a:avLst>
              <a:gd name="adj" fmla="val 3846"/>
            </a:avLst>
          </a:prstGeom>
          <a:solidFill>
            <a:srgbClr val="FFFFFF"/>
          </a:solidFill>
          <a:ln w="12700">
            <a:solidFill>
              <a:srgbClr val="DDE5EE"/>
            </a:solidFill>
            <a:prstDash val="solid"/>
          </a:ln>
        </p:spPr>
        <p:txBody>
          <a:bodyPr/>
          <a:lstStyle/>
          <a:p>
            <a:endParaRPr lang="de-CH"/>
          </a:p>
        </p:txBody>
      </p:sp>
      <p:sp>
        <p:nvSpPr>
          <p:cNvPr id="8" name="Text 6"/>
          <p:cNvSpPr/>
          <p:nvPr/>
        </p:nvSpPr>
        <p:spPr>
          <a:xfrm>
            <a:off x="6428232" y="1737360"/>
            <a:ext cx="4937760" cy="274320"/>
          </a:xfrm>
          <a:prstGeom prst="rect">
            <a:avLst/>
          </a:prstGeom>
          <a:noFill/>
          <a:ln/>
        </p:spPr>
        <p:txBody>
          <a:bodyPr wrap="square" lIns="0" tIns="0" rIns="0" bIns="0" rtlCol="0" anchor="ctr"/>
          <a:lstStyle/>
          <a:p>
            <a:pPr marL="0" indent="0">
              <a:buNone/>
            </a:pPr>
            <a:r>
              <a:rPr lang="en-US" sz="1250" b="1" dirty="0">
                <a:solidFill>
                  <a:srgbClr val="12202E"/>
                </a:solidFill>
                <a:latin typeface="Calibri" pitchFamily="34" charset="0"/>
                <a:ea typeface="Calibri" pitchFamily="34" charset="-122"/>
                <a:cs typeface="Calibri" pitchFamily="34" charset="-120"/>
              </a:rPr>
              <a:t>The L3 implementation package (Day 3)</a:t>
            </a:r>
            <a:endParaRPr lang="en-US" sz="1250" dirty="0"/>
          </a:p>
        </p:txBody>
      </p:sp>
      <p:sp>
        <p:nvSpPr>
          <p:cNvPr id="9" name="Text 7"/>
          <p:cNvSpPr/>
          <p:nvPr/>
        </p:nvSpPr>
        <p:spPr>
          <a:xfrm>
            <a:off x="6428232" y="2066544"/>
            <a:ext cx="4937760" cy="1554480"/>
          </a:xfrm>
          <a:prstGeom prst="rect">
            <a:avLst/>
          </a:prstGeom>
          <a:noFill/>
          <a:ln/>
        </p:spPr>
        <p:txBody>
          <a:bodyPr wrap="square" lIns="0" tIns="0" rIns="0" bIns="0" rtlCol="0" anchor="ctr"/>
          <a:lstStyle/>
          <a:p>
            <a:pPr marL="177800" indent="-177800">
              <a:lnSpc>
                <a:spcPts val="1300"/>
              </a:lnSpc>
              <a:spcAft>
                <a:spcPts val="500"/>
              </a:spcAft>
              <a:buSzPct val="100000"/>
              <a:buChar char="•"/>
            </a:pPr>
            <a:r>
              <a:rPr lang="en-US" sz="1000" dirty="0">
                <a:solidFill>
                  <a:srgbClr val="5D7186"/>
                </a:solidFill>
                <a:latin typeface="Calibri" pitchFamily="34" charset="0"/>
                <a:ea typeface="Calibri" pitchFamily="34" charset="-122"/>
                <a:cs typeface="Calibri" pitchFamily="34" charset="-120"/>
              </a:rPr>
              <a:t>Documentation — health need, personas, BPMN</a:t>
            </a:r>
            <a:endParaRPr lang="en-US" sz="1000" dirty="0"/>
          </a:p>
          <a:p>
            <a:pPr marL="177800" indent="-177800">
              <a:lnSpc>
                <a:spcPts val="1300"/>
              </a:lnSpc>
              <a:spcAft>
                <a:spcPts val="500"/>
              </a:spcAft>
              <a:buSzPct val="100000"/>
              <a:buChar char="•"/>
            </a:pPr>
            <a:r>
              <a:rPr lang="en-US" sz="1000" dirty="0">
                <a:solidFill>
                  <a:srgbClr val="5D7186"/>
                </a:solidFill>
                <a:latin typeface="Calibri" pitchFamily="34" charset="0"/>
                <a:ea typeface="Calibri" pitchFamily="34" charset="-122"/>
                <a:cs typeface="Calibri" pitchFamily="34" charset="-120"/>
              </a:rPr>
              <a:t>Content / workflow — sections, relevant, decision rules</a:t>
            </a:r>
            <a:endParaRPr lang="en-US" sz="1000" dirty="0"/>
          </a:p>
          <a:p>
            <a:pPr marL="177800" indent="-177800">
              <a:lnSpc>
                <a:spcPts val="1300"/>
              </a:lnSpc>
              <a:spcAft>
                <a:spcPts val="500"/>
              </a:spcAft>
              <a:buSzPct val="100000"/>
              <a:buChar char="•"/>
            </a:pPr>
            <a:r>
              <a:rPr lang="en-US" sz="1000" dirty="0">
                <a:solidFill>
                  <a:srgbClr val="5D7186"/>
                </a:solidFill>
                <a:latin typeface="Calibri" pitchFamily="34" charset="0"/>
                <a:ea typeface="Calibri" pitchFamily="34" charset="-122"/>
                <a:cs typeface="Calibri" pitchFamily="34" charset="-120"/>
              </a:rPr>
              <a:t>Terminology — SNOMED CT / LOINC / ICD-10 bindings</a:t>
            </a:r>
            <a:endParaRPr lang="en-US" sz="1000" dirty="0"/>
          </a:p>
          <a:p>
            <a:pPr marL="177800" indent="-177800">
              <a:lnSpc>
                <a:spcPts val="1300"/>
              </a:lnSpc>
              <a:spcAft>
                <a:spcPts val="500"/>
              </a:spcAft>
              <a:buSzPct val="100000"/>
              <a:buChar char="•"/>
            </a:pPr>
            <a:r>
              <a:rPr lang="en-US" sz="1000" dirty="0">
                <a:solidFill>
                  <a:srgbClr val="5D7186"/>
                </a:solidFill>
                <a:latin typeface="Calibri" pitchFamily="34" charset="0"/>
                <a:ea typeface="Calibri" pitchFamily="34" charset="-122"/>
                <a:cs typeface="Calibri" pitchFamily="34" charset="-120"/>
              </a:rPr>
              <a:t>Validation — 19 test cases, test data, conformance checks</a:t>
            </a:r>
            <a:endParaRPr lang="en-US" sz="1000" dirty="0"/>
          </a:p>
          <a:p>
            <a:pPr marL="177800" indent="-177800">
              <a:lnSpc>
                <a:spcPts val="1300"/>
              </a:lnSpc>
              <a:spcAft>
                <a:spcPts val="500"/>
              </a:spcAft>
              <a:buSzPct val="100000"/>
              <a:buChar char="•"/>
            </a:pPr>
            <a:r>
              <a:rPr lang="en-US" sz="1000" dirty="0">
                <a:solidFill>
                  <a:srgbClr val="5D7186"/>
                </a:solidFill>
                <a:latin typeface="Calibri" pitchFamily="34" charset="0"/>
                <a:ea typeface="Calibri" pitchFamily="34" charset="-122"/>
                <a:cs typeface="Calibri" pitchFamily="34" charset="-120"/>
              </a:rPr>
              <a:t>Interfaces — FHIR export · UI/UX — image options, traffic light</a:t>
            </a:r>
            <a:endParaRPr lang="en-US" sz="1000" dirty="0"/>
          </a:p>
        </p:txBody>
      </p:sp>
      <p:sp>
        <p:nvSpPr>
          <p:cNvPr id="10" name="Shape 8"/>
          <p:cNvSpPr/>
          <p:nvPr/>
        </p:nvSpPr>
        <p:spPr>
          <a:xfrm>
            <a:off x="566928" y="3931920"/>
            <a:ext cx="5440680" cy="2139696"/>
          </a:xfrm>
          <a:prstGeom prst="roundRect">
            <a:avLst>
              <a:gd name="adj" fmla="val 3846"/>
            </a:avLst>
          </a:prstGeom>
          <a:solidFill>
            <a:srgbClr val="FFFFFF"/>
          </a:solidFill>
          <a:ln w="12700">
            <a:solidFill>
              <a:srgbClr val="DDE5EE"/>
            </a:solidFill>
            <a:prstDash val="solid"/>
          </a:ln>
        </p:spPr>
        <p:txBody>
          <a:bodyPr/>
          <a:lstStyle/>
          <a:p>
            <a:endParaRPr lang="de-CH"/>
          </a:p>
        </p:txBody>
      </p:sp>
      <p:sp>
        <p:nvSpPr>
          <p:cNvPr id="11" name="Text 9"/>
          <p:cNvSpPr/>
          <p:nvPr/>
        </p:nvSpPr>
        <p:spPr>
          <a:xfrm>
            <a:off x="804672" y="4078224"/>
            <a:ext cx="4937760" cy="274320"/>
          </a:xfrm>
          <a:prstGeom prst="rect">
            <a:avLst/>
          </a:prstGeom>
          <a:noFill/>
          <a:ln/>
        </p:spPr>
        <p:txBody>
          <a:bodyPr wrap="square" lIns="0" tIns="0" rIns="0" bIns="0" rtlCol="0" anchor="ctr"/>
          <a:lstStyle/>
          <a:p>
            <a:pPr marL="0" indent="0">
              <a:buNone/>
            </a:pPr>
            <a:r>
              <a:rPr lang="en-US" sz="1250" b="1" dirty="0">
                <a:solidFill>
                  <a:srgbClr val="12202E"/>
                </a:solidFill>
                <a:latin typeface="Calibri" pitchFamily="34" charset="0"/>
                <a:ea typeface="Calibri" pitchFamily="34" charset="-122"/>
                <a:cs typeface="Calibri" pitchFamily="34" charset="-120"/>
              </a:rPr>
              <a:t>Stakeholders and where it could fail</a:t>
            </a:r>
            <a:endParaRPr lang="en-US" sz="1250" dirty="0"/>
          </a:p>
        </p:txBody>
      </p:sp>
      <p:sp>
        <p:nvSpPr>
          <p:cNvPr id="12" name="Text 10"/>
          <p:cNvSpPr/>
          <p:nvPr/>
        </p:nvSpPr>
        <p:spPr>
          <a:xfrm>
            <a:off x="804672" y="4407408"/>
            <a:ext cx="4937760" cy="1554480"/>
          </a:xfrm>
          <a:prstGeom prst="rect">
            <a:avLst/>
          </a:prstGeom>
          <a:noFill/>
          <a:ln/>
        </p:spPr>
        <p:txBody>
          <a:bodyPr wrap="square" lIns="0" tIns="0" rIns="0" bIns="0" rtlCol="0" anchor="ctr"/>
          <a:lstStyle/>
          <a:p>
            <a:pPr marL="177800" indent="-177800">
              <a:lnSpc>
                <a:spcPts val="1300"/>
              </a:lnSpc>
              <a:spcAft>
                <a:spcPts val="500"/>
              </a:spcAft>
              <a:buSzPct val="100000"/>
              <a:buChar char="•"/>
            </a:pPr>
            <a:r>
              <a:rPr lang="en-US" sz="1000" dirty="0">
                <a:solidFill>
                  <a:srgbClr val="5D7186"/>
                </a:solidFill>
                <a:latin typeface="Calibri" pitchFamily="34" charset="0"/>
                <a:ea typeface="Calibri" pitchFamily="34" charset="-122"/>
                <a:cs typeface="Calibri" pitchFamily="34" charset="-120"/>
              </a:rPr>
              <a:t>The critical group is the practice, not the patient</a:t>
            </a:r>
            <a:endParaRPr lang="en-US" sz="1000" dirty="0"/>
          </a:p>
          <a:p>
            <a:pPr marL="177800" indent="-177800">
              <a:lnSpc>
                <a:spcPts val="1300"/>
              </a:lnSpc>
              <a:spcAft>
                <a:spcPts val="500"/>
              </a:spcAft>
              <a:buSzPct val="100000"/>
              <a:buChar char="•"/>
            </a:pPr>
            <a:r>
              <a:rPr lang="en-US" sz="1000" dirty="0">
                <a:solidFill>
                  <a:srgbClr val="5D7186"/>
                </a:solidFill>
                <a:latin typeface="Calibri" pitchFamily="34" charset="0"/>
                <a:ea typeface="Calibri" pitchFamily="34" charset="-122"/>
                <a:cs typeface="Calibri" pitchFamily="34" charset="-120"/>
              </a:rPr>
              <a:t>If Sandra experiences the alerts as a burden, the rollout fails — however good the classification is</a:t>
            </a:r>
            <a:endParaRPr lang="en-US" sz="1000" dirty="0"/>
          </a:p>
          <a:p>
            <a:pPr marL="177800" indent="-177800">
              <a:lnSpc>
                <a:spcPts val="1300"/>
              </a:lnSpc>
              <a:spcAft>
                <a:spcPts val="500"/>
              </a:spcAft>
              <a:buSzPct val="100000"/>
              <a:buChar char="•"/>
            </a:pPr>
            <a:r>
              <a:rPr lang="en-US" sz="1000" dirty="0">
                <a:solidFill>
                  <a:srgbClr val="5D7186"/>
                </a:solidFill>
                <a:latin typeface="Calibri" pitchFamily="34" charset="0"/>
                <a:ea typeface="Calibri" pitchFamily="34" charset="-122"/>
                <a:cs typeface="Calibri" pitchFamily="34" charset="-120"/>
              </a:rPr>
              <a:t>Hence: alerts only from ORANGE upwards, structured instead of free text, alert load measured explicitly</a:t>
            </a:r>
            <a:endParaRPr lang="en-US" sz="1000" dirty="0"/>
          </a:p>
        </p:txBody>
      </p:sp>
      <p:sp>
        <p:nvSpPr>
          <p:cNvPr id="13" name="Shape 11"/>
          <p:cNvSpPr/>
          <p:nvPr/>
        </p:nvSpPr>
        <p:spPr>
          <a:xfrm>
            <a:off x="6190488" y="3931920"/>
            <a:ext cx="5440680" cy="2139696"/>
          </a:xfrm>
          <a:prstGeom prst="roundRect">
            <a:avLst>
              <a:gd name="adj" fmla="val 3846"/>
            </a:avLst>
          </a:prstGeom>
          <a:solidFill>
            <a:srgbClr val="F5F7FA"/>
          </a:solidFill>
          <a:ln w="12700">
            <a:solidFill>
              <a:srgbClr val="DDE5EE"/>
            </a:solidFill>
            <a:prstDash val="solid"/>
          </a:ln>
        </p:spPr>
        <p:txBody>
          <a:bodyPr/>
          <a:lstStyle/>
          <a:p>
            <a:endParaRPr lang="de-CH"/>
          </a:p>
        </p:txBody>
      </p:sp>
      <p:sp>
        <p:nvSpPr>
          <p:cNvPr id="14" name="Text 12"/>
          <p:cNvSpPr/>
          <p:nvPr/>
        </p:nvSpPr>
        <p:spPr>
          <a:xfrm>
            <a:off x="6428232" y="4078224"/>
            <a:ext cx="4937760" cy="274320"/>
          </a:xfrm>
          <a:prstGeom prst="rect">
            <a:avLst/>
          </a:prstGeom>
          <a:noFill/>
          <a:ln/>
        </p:spPr>
        <p:txBody>
          <a:bodyPr wrap="square" lIns="0" tIns="0" rIns="0" bIns="0" rtlCol="0" anchor="ctr"/>
          <a:lstStyle/>
          <a:p>
            <a:pPr marL="0" indent="0">
              <a:buNone/>
            </a:pPr>
            <a:r>
              <a:rPr lang="en-US" sz="1250" b="1" dirty="0">
                <a:solidFill>
                  <a:srgbClr val="12202E"/>
                </a:solidFill>
                <a:latin typeface="Calibri" pitchFamily="34" charset="0"/>
                <a:ea typeface="Calibri" pitchFamily="34" charset="-122"/>
                <a:cs typeface="Calibri" pitchFamily="34" charset="-120"/>
              </a:rPr>
              <a:t>What we would do with three more months</a:t>
            </a:r>
            <a:endParaRPr lang="en-US" sz="1250" dirty="0"/>
          </a:p>
        </p:txBody>
      </p:sp>
      <p:sp>
        <p:nvSpPr>
          <p:cNvPr id="15" name="Text 13"/>
          <p:cNvSpPr/>
          <p:nvPr/>
        </p:nvSpPr>
        <p:spPr>
          <a:xfrm>
            <a:off x="6428232" y="4407408"/>
            <a:ext cx="4937760" cy="1554480"/>
          </a:xfrm>
          <a:prstGeom prst="rect">
            <a:avLst/>
          </a:prstGeom>
          <a:noFill/>
          <a:ln/>
        </p:spPr>
        <p:txBody>
          <a:bodyPr wrap="square" lIns="0" tIns="0" rIns="0" bIns="0" rtlCol="0" anchor="ctr"/>
          <a:lstStyle/>
          <a:p>
            <a:pPr marL="177800" indent="-177800">
              <a:lnSpc>
                <a:spcPts val="1300"/>
              </a:lnSpc>
              <a:spcAft>
                <a:spcPts val="500"/>
              </a:spcAft>
              <a:buSzPct val="100000"/>
              <a:buChar char="•"/>
            </a:pPr>
            <a:r>
              <a:rPr lang="en-US" sz="1000" dirty="0">
                <a:solidFill>
                  <a:srgbClr val="5D7186"/>
                </a:solidFill>
                <a:latin typeface="Calibri" pitchFamily="34" charset="0"/>
                <a:ea typeface="Calibri" pitchFamily="34" charset="-122"/>
                <a:cs typeface="Calibri" pitchFamily="34" charset="-120"/>
              </a:rPr>
              <a:t>1 · Clinical sign-off on every threshold and rule — it settles all nine L1→L2 decisions at once</a:t>
            </a:r>
            <a:endParaRPr lang="en-US" sz="1000" dirty="0"/>
          </a:p>
          <a:p>
            <a:pPr marL="177800" indent="-177800">
              <a:lnSpc>
                <a:spcPts val="1300"/>
              </a:lnSpc>
              <a:spcAft>
                <a:spcPts val="500"/>
              </a:spcAft>
              <a:buSzPct val="100000"/>
              <a:buChar char="•"/>
            </a:pPr>
            <a:r>
              <a:rPr lang="en-US" sz="1000" dirty="0">
                <a:solidFill>
                  <a:srgbClr val="5D7186"/>
                </a:solidFill>
                <a:latin typeface="Calibri" pitchFamily="34" charset="0"/>
                <a:ea typeface="Calibri" pitchFamily="34" charset="-122"/>
                <a:cs typeface="Calibri" pitchFamily="34" charset="-120"/>
              </a:rPr>
              <a:t>2 · Usability study on the image assignment — validates the central design idea</a:t>
            </a:r>
            <a:endParaRPr lang="en-US" sz="1000" dirty="0"/>
          </a:p>
          <a:p>
            <a:pPr marL="177800" indent="-177800">
              <a:lnSpc>
                <a:spcPts val="1300"/>
              </a:lnSpc>
              <a:spcAft>
                <a:spcPts val="500"/>
              </a:spcAft>
              <a:buSzPct val="100000"/>
              <a:buChar char="•"/>
            </a:pPr>
            <a:r>
              <a:rPr lang="en-US" sz="1000" dirty="0">
                <a:solidFill>
                  <a:srgbClr val="5D7186"/>
                </a:solidFill>
                <a:latin typeface="Calibri" pitchFamily="34" charset="0"/>
                <a:ea typeface="Calibri" pitchFamily="34" charset="-122"/>
                <a:cs typeface="Calibri" pitchFamily="34" charset="-120"/>
              </a:rPr>
              <a:t>3 · Graphics for several skin tones and body regions</a:t>
            </a:r>
            <a:endParaRPr lang="en-US" sz="1000" dirty="0"/>
          </a:p>
          <a:p>
            <a:pPr marL="177800" indent="-177800">
              <a:lnSpc>
                <a:spcPts val="1300"/>
              </a:lnSpc>
              <a:spcAft>
                <a:spcPts val="500"/>
              </a:spcAft>
              <a:buSzPct val="100000"/>
              <a:buChar char="•"/>
            </a:pPr>
            <a:r>
              <a:rPr lang="en-US" sz="1000" dirty="0">
                <a:solidFill>
                  <a:srgbClr val="5D7186"/>
                </a:solidFill>
                <a:latin typeface="Calibri" pitchFamily="34" charset="0"/>
                <a:ea typeface="Calibri" pitchFamily="34" charset="-122"/>
                <a:cs typeface="Calibri" pitchFamily="34" charset="-120"/>
              </a:rPr>
              <a:t>4 · Convert the L3 to a FHIR Questionnaire — the software neutrality we consciously gave up</a:t>
            </a:r>
            <a:endParaRPr lang="en-US" sz="1000" dirty="0"/>
          </a:p>
        </p:txBody>
      </p:sp>
      <p:sp>
        <p:nvSpPr>
          <p:cNvPr id="17" name="Text 11">
            <a:extLst>
              <a:ext uri="{FF2B5EF4-FFF2-40B4-BE49-F238E27FC236}">
                <a16:creationId xmlns:a16="http://schemas.microsoft.com/office/drawing/2014/main" id="{237A3519-195E-5B6F-FA4D-D33B628CDB09}"/>
              </a:ext>
            </a:extLst>
          </p:cNvPr>
          <p:cNvSpPr/>
          <p:nvPr/>
        </p:nvSpPr>
        <p:spPr>
          <a:xfrm>
            <a:off x="57709" y="6568124"/>
            <a:ext cx="8229600" cy="274320"/>
          </a:xfrm>
          <a:prstGeom prst="rect">
            <a:avLst/>
          </a:prstGeom>
          <a:noFill/>
          <a:ln/>
        </p:spPr>
        <p:txBody>
          <a:bodyPr wrap="square" lIns="0" tIns="0" rIns="0" bIns="0" rtlCol="0" anchor="ctr"/>
          <a:lstStyle/>
          <a:p>
            <a:pPr marL="0" indent="0">
              <a:buNone/>
            </a:pPr>
            <a:r>
              <a:rPr lang="en-US" sz="900">
                <a:solidFill>
                  <a:srgbClr val="8FA3B8"/>
                </a:solidFill>
                <a:latin typeface="Calibri" pitchFamily="34" charset="0"/>
                <a:ea typeface="Calibri" pitchFamily="34" charset="-122"/>
                <a:cs typeface="Calibri" pitchFamily="34" charset="-120"/>
              </a:rPr>
              <a:t>FHNW  ·  MSc Medical Informatics  ·  Clinical Decision Support Systems 2026</a:t>
            </a:r>
            <a:endParaRPr lang="en-US" sz="900"/>
          </a:p>
        </p:txBody>
      </p:sp>
      <p:pic>
        <p:nvPicPr>
          <p:cNvPr id="19" name="Grafik 18">
            <a:extLst>
              <a:ext uri="{FF2B5EF4-FFF2-40B4-BE49-F238E27FC236}">
                <a16:creationId xmlns:a16="http://schemas.microsoft.com/office/drawing/2014/main" id="{8FC58595-D5D9-26B2-ECB9-E25314B64558}"/>
              </a:ext>
            </a:extLst>
          </p:cNvPr>
          <p:cNvPicPr>
            <a:picLocks noChangeAspect="1"/>
          </p:cNvPicPr>
          <p:nvPr/>
        </p:nvPicPr>
        <p:blipFill>
          <a:blip r:embed="rId3">
            <a:duotone>
              <a:schemeClr val="accent3">
                <a:shade val="45000"/>
                <a:satMod val="135000"/>
              </a:schemeClr>
              <a:prstClr val="white"/>
            </a:duotone>
          </a:blip>
          <a:stretch>
            <a:fillRect/>
          </a:stretch>
        </p:blipFill>
        <p:spPr>
          <a:xfrm>
            <a:off x="57709" y="47504"/>
            <a:ext cx="1012490" cy="23624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7369</Words>
  <Application>Microsoft Office PowerPoint</Application>
  <PresentationFormat>Breitbild</PresentationFormat>
  <Paragraphs>966</Paragraphs>
  <Slides>26</Slides>
  <Notes>26</Notes>
  <HiddenSlides>0</HiddenSlides>
  <MMClips>0</MMClips>
  <ScaleCrop>false</ScaleCrop>
  <HeadingPairs>
    <vt:vector size="6" baseType="variant">
      <vt:variant>
        <vt:lpstr>Verwendete Schriftarten</vt:lpstr>
      </vt:variant>
      <vt:variant>
        <vt:i4>6</vt:i4>
      </vt:variant>
      <vt:variant>
        <vt:lpstr>Design</vt:lpstr>
      </vt:variant>
      <vt:variant>
        <vt:i4>1</vt:i4>
      </vt:variant>
      <vt:variant>
        <vt:lpstr>Folientitel</vt:lpstr>
      </vt:variant>
      <vt:variant>
        <vt:i4>26</vt:i4>
      </vt:variant>
    </vt:vector>
  </HeadingPairs>
  <TitlesOfParts>
    <vt:vector size="33" baseType="lpstr">
      <vt:lpstr>Aptos</vt:lpstr>
      <vt:lpstr>Arial</vt:lpstr>
      <vt:lpstr>Calibri</vt:lpstr>
      <vt:lpstr>Cambria</vt:lpstr>
      <vt:lpstr>Consolas</vt:lpstr>
      <vt:lpstr>Courier New</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WundCheck — a mini CDSS for post-operative wound self-checks</dc:title>
  <dc:subject>PptxGenJS Presentation</dc:subject>
  <dc:creator>FHNW MSc Medical Informatics</dc:creator>
  <cp:lastModifiedBy>Feline Weger (s)</cp:lastModifiedBy>
  <cp:revision>2</cp:revision>
  <dcterms:created xsi:type="dcterms:W3CDTF">2026-08-03T20:31:21Z</dcterms:created>
  <dcterms:modified xsi:type="dcterms:W3CDTF">2026-08-04T14:07:55Z</dcterms:modified>
</cp:coreProperties>
</file>